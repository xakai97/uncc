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52"/>
  </p:notesMasterIdLst>
  <p:handoutMasterIdLst>
    <p:handoutMasterId r:id="rId53"/>
  </p:handoutMasterIdLst>
  <p:sldIdLst>
    <p:sldId id="444" r:id="rId2"/>
    <p:sldId id="445" r:id="rId3"/>
    <p:sldId id="446" r:id="rId4"/>
    <p:sldId id="394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38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23" r:id="rId25"/>
    <p:sldId id="414" r:id="rId26"/>
    <p:sldId id="439" r:id="rId27"/>
    <p:sldId id="415" r:id="rId28"/>
    <p:sldId id="440" r:id="rId29"/>
    <p:sldId id="416" r:id="rId30"/>
    <p:sldId id="441" r:id="rId31"/>
    <p:sldId id="417" r:id="rId32"/>
    <p:sldId id="442" r:id="rId33"/>
    <p:sldId id="419" r:id="rId34"/>
    <p:sldId id="443" r:id="rId35"/>
    <p:sldId id="420" r:id="rId36"/>
    <p:sldId id="421" r:id="rId37"/>
    <p:sldId id="422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ditorial Integra" initials="RRIII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9" autoAdjust="0"/>
    <p:restoredTop sz="93371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-1716" y="-90"/>
      </p:cViewPr>
      <p:guideLst>
        <p:guide orient="horz" pos="288"/>
        <p:guide orient="horz" pos="991"/>
        <p:guide orient="horz" pos="1210"/>
        <p:guide orient="horz" pos="1539"/>
        <p:guide orient="horz" pos="2161"/>
        <p:guide pos="2880"/>
        <p:guide pos="5023"/>
        <p:guide pos="288"/>
        <p:guide pos="484"/>
      </p:guideLst>
    </p:cSldViewPr>
  </p:slideViewPr>
  <p:outlineViewPr>
    <p:cViewPr>
      <p:scale>
        <a:sx n="33" d="100"/>
        <a:sy n="33" d="100"/>
      </p:scale>
      <p:origin x="0" y="187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926"/>
    </p:cViewPr>
  </p:sorterViewPr>
  <p:notesViewPr>
    <p:cSldViewPr snapToGrid="0" snapToObjects="1" showGuides="1">
      <p:cViewPr varScale="1">
        <p:scale>
          <a:sx n="43" d="100"/>
          <a:sy n="43" d="100"/>
        </p:scale>
        <p:origin x="-147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4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4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6D77B67C-A8D7-44B6-9525-C21D574EE7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703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6547" name="Rectangle 2051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8372" name="Rectangle 205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236549" name="Rectangle 205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236550" name="Rectangle 205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6551" name="Rectangle 205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D50BB0BA-F9E2-44CE-B139-F3E6D668B8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23104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B1E43EDF-D51F-431F-8B63-384A0CEDB664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02F22F6F-9EF6-4332-8F9B-ADECE087A80B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1EDFCAB5-3486-4E2C-94F8-5EC7D76137D7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6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9D5C3EA1-5E2F-4623-9B6D-567D14F07E19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4355D7D2-EF0C-46BF-B8C8-BE20BC342079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8848E8AC-64AA-4F01-8D56-1EDA7E3E203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8CD09810-01E0-4954-A9E2-0FAACCBA384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7EF178F1-B2D2-4DBD-9AAC-15923A055D0D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C037CD52-FE9B-4561-B39B-8903D4AA1DE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12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8B91E7E4-5780-4307-913A-4ABB33465F3B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D5040374-9DB3-48CD-A4DF-1ECF994C50D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878DA099-05D5-4B97-B8AD-CEC83D2B4455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0BB0BA-F9E2-44CE-B139-F3E6D668B87A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1828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B589CFFC-1DAC-4572-93D5-EFD8441B49D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7728B957-3EB2-44DF-BE80-89020C38B18D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AC3662A4-483B-4CA5-8BDE-D156BB35C864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19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75E90C81-FFFC-4D29-981F-1324B37A853A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2D8CBC78-6ED0-4BF6-B508-F0DFCAEEB278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70DC252F-F781-4BD5-96EC-A638CAE218F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22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F9A76A76-DC2C-430B-9870-9B470C25D7B9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3CCB099B-9644-48AF-9614-F67A824E92A5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522F512F-B2D2-41CE-9DD4-D55D82FF36DC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0BB0BA-F9E2-44CE-B139-F3E6D668B87A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2123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10A95253-E426-4D42-B1F6-1F42A99A5C1A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0BB0BA-F9E2-44CE-B139-F3E6D668B87A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80326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1910D4B9-B68F-44DD-9F1C-6BA1CBBE2E82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29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0BB0BA-F9E2-44CE-B139-F3E6D668B87A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0106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06A3933E-0B7C-41E8-9F34-61B060F4575C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31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0BB0BA-F9E2-44CE-B139-F3E6D668B87A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6886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5B1D9C51-ADD2-4CE5-AEF4-57048B5EA0E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33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0BB0BA-F9E2-44CE-B139-F3E6D668B87A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8517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3526AC65-7329-420E-9DB4-8189E09A2DFE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35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B746C4CE-9DC4-4356-A82E-362D8F8E7C45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36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869E2896-835F-40EE-B92D-A4EA32BD004A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37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51FF7EFA-7125-4C1C-8688-194BF0332872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38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6779678E-2647-40CA-BCBD-7A4FCF47744E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39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4C85B0EF-75DA-4FF9-8973-7B90E5A48B3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DF74A7B5-2182-4F77-B464-68AB6AE7078C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4A8833D6-55DF-48DE-837E-733D5440BF95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42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097963E1-C830-4D26-80FB-1D16ED933CB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D9629F56-9692-4D70-B5EE-9A57EC5C4C9B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879CBD28-D72A-4D60-A420-55AD4FD025AB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67FA93DB-7EF3-475E-8FEA-B25B11CC779E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46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AB2B7F7E-C8FD-4297-8CD3-F4C9B7AB1F5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47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dirty="0" smtClean="0">
              <a:latin typeface="Calibri" pitchFamily="34" charset="0"/>
            </a:endParaRPr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D7E6A489-ECEF-4D71-A87F-E5024D46D7E2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48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081837CC-2727-4DE0-BA20-F76C44732476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49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altLang="en-US" smtClean="0">
              <a:latin typeface="Calibri" pitchFamily="34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fld id="{32CAE353-0768-4C0E-B3F6-BB3E078EDDD4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>
                <a:defRPr/>
              </a:pPr>
              <a:t>50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 userDrawn="1"/>
        </p:nvSpPr>
        <p:spPr bwMode="auto">
          <a:xfrm>
            <a:off x="457200" y="2675919"/>
            <a:ext cx="3536950" cy="156966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algn="l" rtl="0" fontAlgn="base">
              <a:spcBef>
                <a:spcPct val="20000"/>
              </a:spcBef>
              <a:spcAft>
                <a:spcPct val="0"/>
              </a:spcAft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4572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9144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13716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18288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Metamorphism &amp;</a:t>
            </a:r>
            <a:b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Metamorphic</a:t>
            </a:r>
            <a:b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Rocks</a:t>
            </a:r>
            <a:endParaRPr lang="en-US" sz="3200" b="1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rgbClr val="00000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 userDrawn="1"/>
        </p:nvSpPr>
        <p:spPr bwMode="auto">
          <a:xfrm>
            <a:off x="503238" y="1104900"/>
            <a:ext cx="8259762" cy="8890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000000"/>
                </a:solidFill>
                <a:latin typeface="ArialMT" charset="0"/>
                <a:ea typeface="+mn-ea"/>
              </a:rPr>
              <a:t>Essentials of Geology</a:t>
            </a:r>
          </a:p>
          <a:p>
            <a:pPr algn="r" defTabSz="914400"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r>
              <a:rPr lang="en-US" sz="1800" dirty="0" smtClean="0">
                <a:solidFill>
                  <a:srgbClr val="000000"/>
                </a:solidFill>
                <a:ea typeface="+mn-ea"/>
              </a:rPr>
              <a:t>Thirteenth Edition</a:t>
            </a:r>
          </a:p>
        </p:txBody>
      </p:sp>
      <p:pic>
        <p:nvPicPr>
          <p:cNvPr id="17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7113" y="2006805"/>
            <a:ext cx="3879850" cy="438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6"/>
          <p:cNvSpPr txBox="1">
            <a:spLocks noChangeArrowheads="1"/>
          </p:cNvSpPr>
          <p:nvPr userDrawn="1"/>
        </p:nvSpPr>
        <p:spPr bwMode="auto">
          <a:xfrm>
            <a:off x="345174" y="61913"/>
            <a:ext cx="80010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rgbClr val="FFFFFF"/>
                </a:solidFill>
                <a:cs typeface="Arial" pitchFamily="34" charset="0"/>
              </a:rPr>
              <a:t>Lecture 8 Outline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457200" y="5183981"/>
            <a:ext cx="3536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Merry Wilson</a:t>
            </a:r>
            <a:endParaRPr lang="en-IN" sz="1800" kern="1200" dirty="0" smtClean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Scottsdale Community College</a:t>
            </a:r>
            <a:endParaRPr lang="en-IN" sz="180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04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126748" cy="57943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751" y="1184543"/>
            <a:ext cx="8229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05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364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005979" cy="6009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1003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125" y="1193169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8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57162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5125" y="2055769"/>
            <a:ext cx="8229600" cy="439679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569660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28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06997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499" y="1529583"/>
            <a:ext cx="8229600" cy="46900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07721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77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990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778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21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248400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22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50CE9A5-7247-449D-A653-7EFFB53D543B}" type="datetime1">
              <a:rPr lang="en-US" altLang="en-US"/>
              <a:pPr>
                <a:defRPr/>
              </a:pPr>
              <a:t>6/30/2017</a:t>
            </a:fld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E0B7C6CE-BEA1-47FF-9FBE-215690911C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6488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ED6B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533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 userDrawn="1"/>
        </p:nvSpPr>
        <p:spPr bwMode="auto">
          <a:xfrm>
            <a:off x="76200" y="2771775"/>
            <a:ext cx="4495800" cy="16605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>
            <a:lvl1pPr algn="l" rtl="0" fontAlgn="base">
              <a:spcBef>
                <a:spcPct val="20000"/>
              </a:spcBef>
              <a:spcAft>
                <a:spcPct val="0"/>
              </a:spcAft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4572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9144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13716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18288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US" dirty="0" smtClean="0">
                <a:solidFill>
                  <a:srgbClr val="000000"/>
                </a:solidFill>
                <a:ea typeface="ＭＳ Ｐゴシック" charset="-128"/>
                <a:cs typeface="Calibri" pitchFamily="34" charset="0"/>
              </a:rPr>
              <a:t>Metamorphism </a:t>
            </a:r>
          </a:p>
          <a:p>
            <a:pPr algn="ctr" eaLnBrk="1" hangingPunct="1">
              <a:spcBef>
                <a:spcPct val="0"/>
              </a:spcBef>
              <a:defRPr/>
            </a:pPr>
            <a:r>
              <a:rPr lang="en-US" dirty="0" smtClean="0">
                <a:solidFill>
                  <a:srgbClr val="000000"/>
                </a:solidFill>
                <a:ea typeface="ＭＳ Ｐゴシック" charset="-128"/>
                <a:cs typeface="Calibri" pitchFamily="34" charset="0"/>
              </a:rPr>
              <a:t>and Metamorphic Rocks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 userDrawn="1"/>
        </p:nvSpPr>
        <p:spPr bwMode="auto">
          <a:xfrm>
            <a:off x="365125" y="44450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smtClean="0">
                <a:solidFill>
                  <a:srgbClr val="FFFFFF"/>
                </a:solidFill>
                <a:ea typeface="ＭＳ Ｐゴシック" pitchFamily="34" charset="-128"/>
              </a:rPr>
              <a:t>Chapter 8 Lecture</a:t>
            </a:r>
          </a:p>
        </p:txBody>
      </p:sp>
      <p:sp>
        <p:nvSpPr>
          <p:cNvPr id="5" name="Rectangle 13"/>
          <p:cNvSpPr>
            <a:spLocks noChangeArrowheads="1"/>
          </p:cNvSpPr>
          <p:nvPr userDrawn="1"/>
        </p:nvSpPr>
        <p:spPr bwMode="auto">
          <a:xfrm>
            <a:off x="457200" y="5245100"/>
            <a:ext cx="441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en-US" smtClean="0">
                <a:solidFill>
                  <a:srgbClr val="000000"/>
                </a:solidFill>
              </a:rPr>
              <a:t>Tarbuck and Lutgens</a:t>
            </a:r>
          </a:p>
        </p:txBody>
      </p:sp>
      <p:sp>
        <p:nvSpPr>
          <p:cNvPr id="6" name="Text Box 12"/>
          <p:cNvSpPr txBox="1">
            <a:spLocks noChangeArrowheads="1"/>
          </p:cNvSpPr>
          <p:nvPr userDrawn="1"/>
        </p:nvSpPr>
        <p:spPr bwMode="auto">
          <a:xfrm>
            <a:off x="503238" y="533400"/>
            <a:ext cx="8259762" cy="13811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3200" b="1" smtClean="0">
                <a:solidFill>
                  <a:srgbClr val="000000"/>
                </a:solidFill>
                <a:latin typeface="ArialMT"/>
              </a:rPr>
              <a:t>Earth: An Introduction </a:t>
            </a:r>
            <a:br>
              <a:rPr lang="en-US" altLang="en-US" sz="3200" b="1" smtClean="0">
                <a:solidFill>
                  <a:srgbClr val="000000"/>
                </a:solidFill>
                <a:latin typeface="ArialMT"/>
              </a:rPr>
            </a:br>
            <a:r>
              <a:rPr lang="en-US" altLang="en-US" sz="3200" b="1" smtClean="0">
                <a:solidFill>
                  <a:srgbClr val="000000"/>
                </a:solidFill>
                <a:latin typeface="ArialMT"/>
              </a:rPr>
              <a:t>to Physical Geology</a:t>
            </a:r>
            <a:endParaRPr lang="en-US" altLang="en-US" sz="3200" b="1" smtClean="0">
              <a:solidFill>
                <a:srgbClr val="000000"/>
              </a:solidFill>
            </a:endParaRPr>
          </a:p>
          <a:p>
            <a:pPr algn="r" eaLnBrk="1" hangingPunct="1">
              <a:spcBef>
                <a:spcPct val="10000"/>
              </a:spcBef>
              <a:defRPr/>
            </a:pPr>
            <a:r>
              <a:rPr lang="en-US" altLang="en-US" smtClean="0">
                <a:solidFill>
                  <a:srgbClr val="000000"/>
                </a:solidFill>
              </a:rPr>
              <a:t>Eleventh Edition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13" y="1862138"/>
            <a:ext cx="3879850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215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125" y="1141413"/>
            <a:ext cx="8229600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Rectangle 15"/>
          <p:cNvSpPr txBox="1">
            <a:spLocks noChangeArrowheads="1"/>
          </p:cNvSpPr>
          <p:nvPr userDrawn="1"/>
        </p:nvSpPr>
        <p:spPr bwMode="gray">
          <a:xfrm>
            <a:off x="76200" y="6602413"/>
            <a:ext cx="5399088" cy="1793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© 2018 Pearson Education, Inc.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04" r:id="rId3"/>
    <p:sldLayoutId id="2147484113" r:id="rId4"/>
    <p:sldLayoutId id="2147484105" r:id="rId5"/>
    <p:sldLayoutId id="2147484106" r:id="rId6"/>
    <p:sldLayoutId id="2147484114" r:id="rId7"/>
    <p:sldLayoutId id="2147484115" r:id="rId8"/>
    <p:sldLayoutId id="2147484107" r:id="rId9"/>
    <p:sldLayoutId id="2147484108" r:id="rId10"/>
    <p:sldLayoutId id="2147484109" r:id="rId11"/>
    <p:sldLayoutId id="2147484110" r:id="rId12"/>
    <p:sldLayoutId id="2147484116" r:id="rId13"/>
    <p:sldLayoutId id="2147484117" r:id="rId14"/>
    <p:sldLayoutId id="2147484118" r:id="rId15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+mj-lt"/>
          <a:ea typeface="Arial" charset="0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5pPr>
      <a:lvl6pPr marL="4572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nBMksQ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CIsjD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LVq0C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BbHSb8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jOoyZW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18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87928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8.1 </a:t>
            </a:r>
            <a:r>
              <a:rPr lang="en-IN" altLang="en-US" sz="2600" dirty="0">
                <a:latin typeface="+mn-lt"/>
                <a:cs typeface="+mn-cs"/>
              </a:rPr>
              <a:t>Compare and contrast the environments that produce metamorphic, sedimentary, and igneous rocks.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8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.2 </a:t>
            </a:r>
            <a:r>
              <a:rPr lang="en-IN" altLang="en-US" sz="2600" dirty="0">
                <a:latin typeface="+mn-lt"/>
                <a:cs typeface="+mn-cs"/>
              </a:rPr>
              <a:t>List and distinguish among the four agents that drive metamorphism.</a:t>
            </a:r>
            <a:endParaRPr lang="en-US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8.3 </a:t>
            </a:r>
            <a:r>
              <a:rPr lang="en-IN" altLang="en-US" sz="2600" dirty="0">
                <a:latin typeface="+mn-lt"/>
                <a:cs typeface="+mn-cs"/>
              </a:rPr>
              <a:t>Explain how foliated and </a:t>
            </a:r>
            <a:r>
              <a:rPr lang="en-IN" altLang="en-US" sz="2600" dirty="0" err="1">
                <a:latin typeface="+mn-lt"/>
                <a:cs typeface="+mn-cs"/>
              </a:rPr>
              <a:t>nonfoliated</a:t>
            </a:r>
            <a:r>
              <a:rPr lang="en-IN" altLang="en-US" sz="2600" dirty="0">
                <a:latin typeface="+mn-lt"/>
                <a:cs typeface="+mn-cs"/>
              </a:rPr>
              <a:t> textures develop. </a:t>
            </a:r>
            <a:endParaRPr lang="en-US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8.4 </a:t>
            </a:r>
            <a:r>
              <a:rPr lang="en-IN" altLang="en-US" sz="2600" dirty="0">
                <a:latin typeface="+mn-lt"/>
                <a:cs typeface="+mn-cs"/>
              </a:rPr>
              <a:t>List and describe the most common metamorphic rocks. </a:t>
            </a:r>
          </a:p>
        </p:txBody>
      </p:sp>
    </p:spTree>
    <p:extLst>
      <p:ext uri="{BB962C8B-B14F-4D97-AF65-F5344CB8AC3E}">
        <p14:creationId xmlns:p14="http://schemas.microsoft.com/office/powerpoint/2010/main" val="353548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 (cont.)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61802" cy="2573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8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.5 </a:t>
            </a:r>
            <a:r>
              <a:rPr lang="en-US" altLang="en-US" sz="2600" dirty="0">
                <a:latin typeface="+mn-lt"/>
                <a:cs typeface="+mn-cs"/>
              </a:rPr>
              <a:t>Write a description for each of these metamorphic environments</a:t>
            </a:r>
            <a:r>
              <a:rPr lang="en-US" altLang="en-US" sz="2600" dirty="0" smtClean="0">
                <a:latin typeface="+mn-lt"/>
                <a:cs typeface="+mn-cs"/>
              </a:rPr>
              <a:t>: contact </a:t>
            </a:r>
            <a:r>
              <a:rPr lang="en-US" altLang="en-US" sz="2600" dirty="0">
                <a:latin typeface="+mn-lt"/>
                <a:cs typeface="+mn-cs"/>
              </a:rPr>
              <a:t>metamorphism, hydrothermal metamorphism, </a:t>
            </a:r>
            <a:r>
              <a:rPr lang="en-US" altLang="en-US" sz="2600" dirty="0" err="1">
                <a:latin typeface="+mn-lt"/>
                <a:cs typeface="+mn-cs"/>
              </a:rPr>
              <a:t>subduction</a:t>
            </a:r>
            <a:r>
              <a:rPr lang="en-US" altLang="en-US" sz="2600" dirty="0">
                <a:latin typeface="+mn-lt"/>
                <a:cs typeface="+mn-cs"/>
              </a:rPr>
              <a:t> zone metamorphism, and regional metamorphism.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8.6 </a:t>
            </a:r>
            <a:r>
              <a:rPr lang="en-IN" altLang="en-US" sz="2600" dirty="0">
                <a:latin typeface="+mn-lt"/>
                <a:cs typeface="+mn-cs"/>
              </a:rPr>
              <a:t>Explain how index minerals are used to establish the metamorphic grade of a rock body</a:t>
            </a:r>
            <a:r>
              <a:rPr lang="en-IN" altLang="en-US" sz="2600" dirty="0" smtClean="0">
                <a:latin typeface="+mn-lt"/>
                <a:cs typeface="+mn-cs"/>
              </a:rPr>
              <a:t>.</a:t>
            </a:r>
            <a:endParaRPr lang="en-US" altLang="en-US" sz="26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56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8.1</a:t>
            </a:r>
            <a:r>
              <a:rPr lang="en-IN" altLang="en-US" dirty="0" smtClean="0"/>
              <a:t> </a:t>
            </a:r>
            <a:r>
              <a:rPr altLang="en-US" dirty="0" smtClean="0"/>
              <a:t>What Is Metamorphism?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6"/>
            <a:ext cx="8229600" cy="51069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Metamorphism means to “change form”</a:t>
            </a:r>
          </a:p>
          <a:p>
            <a:pPr lvl="1"/>
            <a:r>
              <a:rPr lang="en-US" altLang="en-US" dirty="0" smtClean="0"/>
              <a:t>The transition of one rock into another by temperatures or pressures unlike those in which it formed</a:t>
            </a:r>
          </a:p>
          <a:p>
            <a:pPr lvl="1"/>
            <a:r>
              <a:rPr lang="en-US" altLang="en-US" dirty="0" smtClean="0"/>
              <a:t>Changes in mineralogy and sometimes chemical composition</a:t>
            </a:r>
          </a:p>
          <a:p>
            <a:pPr eaLnBrk="1" hangingPunct="1"/>
            <a:r>
              <a:rPr lang="en-US" altLang="en-US" dirty="0" smtClean="0"/>
              <a:t>Every metamorphic rock has a parent rock (the rock from which it formed</a:t>
            </a:r>
            <a:r>
              <a:rPr lang="en-US" altLang="en-US" dirty="0" smtClean="0"/>
              <a:t>).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Parent rocks can be igneous, sedimentary, or other metamorphic </a:t>
            </a:r>
            <a:r>
              <a:rPr lang="en-US" altLang="en-US" dirty="0" smtClean="0"/>
              <a:t>rocks.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202937"/>
            <a:ext cx="8229600" cy="51069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Metamorphic grade is the degree to which the parent rock changes during </a:t>
            </a:r>
            <a:r>
              <a:rPr lang="en-US" altLang="en-US" dirty="0" smtClean="0"/>
              <a:t>metamorphism.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Progresses from low grade (low temperatures and pressures) to high grade (high temperatures and pressures)</a:t>
            </a:r>
          </a:p>
          <a:p>
            <a:pPr lvl="1" eaLnBrk="1" hangingPunct="1">
              <a:buFont typeface="Arial" pitchFamily="34" charset="0"/>
              <a:buChar char="•"/>
            </a:pPr>
            <a:r>
              <a:rPr lang="en-US" altLang="en-US" sz="2600" dirty="0" smtClean="0"/>
              <a:t>During metamorphism, the rock must remain essentially </a:t>
            </a:r>
            <a:r>
              <a:rPr lang="en-US" altLang="en-US" sz="2600" dirty="0" smtClean="0"/>
              <a:t>solid.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8.1</a:t>
            </a:r>
            <a:r>
              <a:rPr lang="en-IN" altLang="en-US" dirty="0" smtClean="0"/>
              <a:t> </a:t>
            </a:r>
            <a:r>
              <a:rPr altLang="en-US" dirty="0" smtClean="0"/>
              <a:t>What Is Metamorphism?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9525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Metamorphic Grade</a:t>
            </a:r>
          </a:p>
        </p:txBody>
      </p:sp>
      <p:pic>
        <p:nvPicPr>
          <p:cNvPr id="12292" name="Picture 4" descr="\\integrafs5\DeLS_Pondy\71_Pearson_US_IRDVD\08. Working_Folder\Copyright Removed Jpegs\Lutgens_EOG_13e\Chapter08\Jpegs_Labeled\EOG_13e_Figure_08_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746" y="910203"/>
            <a:ext cx="5170921" cy="538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8.2</a:t>
            </a:r>
            <a:r>
              <a:rPr lang="en-IN" altLang="en-US" dirty="0" smtClean="0"/>
              <a:t> </a:t>
            </a:r>
            <a:r>
              <a:rPr altLang="en-US" dirty="0" smtClean="0"/>
              <a:t>What Drives Metamorphism?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6"/>
            <a:ext cx="8229600" cy="5106987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Heat</a:t>
            </a:r>
          </a:p>
          <a:p>
            <a:pPr lvl="1">
              <a:defRPr/>
            </a:pPr>
            <a:r>
              <a:rPr lang="en-US" altLang="en-US" dirty="0"/>
              <a:t>Most important agent </a:t>
            </a:r>
          </a:p>
          <a:p>
            <a:pPr lvl="2">
              <a:defRPr/>
            </a:pPr>
            <a:r>
              <a:rPr lang="en-US" altLang="en-US" dirty="0"/>
              <a:t>Recrystallization is the process of forming new, stable minerals larger than the </a:t>
            </a:r>
            <a:r>
              <a:rPr lang="en-US" altLang="en-US" dirty="0" smtClean="0"/>
              <a:t>original.</a:t>
            </a:r>
            <a:endParaRPr lang="en-US" altLang="en-US" dirty="0"/>
          </a:p>
          <a:p>
            <a:pPr marL="1009650" lvl="1" indent="-609600" eaLnBrk="1" hangingPunct="1">
              <a:defRPr/>
            </a:pPr>
            <a:r>
              <a:rPr lang="en-US" altLang="en-US" dirty="0"/>
              <a:t>Two sources of heat:</a:t>
            </a:r>
          </a:p>
          <a:p>
            <a:pPr lvl="2">
              <a:defRPr/>
            </a:pPr>
            <a:r>
              <a:rPr lang="en-US" altLang="en-US" dirty="0"/>
              <a:t>Geothermal gradient: </a:t>
            </a:r>
            <a:r>
              <a:rPr lang="en-US" altLang="en-US" dirty="0" smtClean="0"/>
              <a:t>An </a:t>
            </a:r>
            <a:r>
              <a:rPr lang="en-US" altLang="en-US" dirty="0"/>
              <a:t>increase in temperature with depth (about </a:t>
            </a:r>
            <a:r>
              <a:rPr lang="en-US" altLang="en-US" dirty="0" smtClean="0"/>
              <a:t>25ºC </a:t>
            </a:r>
            <a:r>
              <a:rPr lang="en-US" altLang="en-US" dirty="0"/>
              <a:t>per kilometer)</a:t>
            </a:r>
          </a:p>
          <a:p>
            <a:pPr lvl="2">
              <a:defRPr/>
            </a:pPr>
            <a:r>
              <a:rPr lang="en-US" altLang="en-US" dirty="0"/>
              <a:t>Contact metamorphism: </a:t>
            </a:r>
            <a:r>
              <a:rPr lang="en-US" altLang="en-US" dirty="0" smtClean="0"/>
              <a:t>Rising </a:t>
            </a:r>
            <a:r>
              <a:rPr lang="en-US" altLang="en-US" dirty="0"/>
              <a:t>mantle plumes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7"/>
          <p:cNvSpPr>
            <a:spLocks noGrp="1" noChangeArrowheads="1"/>
          </p:cNvSpPr>
          <p:nvPr>
            <p:ph idx="1"/>
          </p:nvPr>
        </p:nvSpPr>
        <p:spPr>
          <a:xfrm>
            <a:off x="381772" y="1204186"/>
            <a:ext cx="8229600" cy="51069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Confining pressure </a:t>
            </a:r>
          </a:p>
          <a:p>
            <a:pPr lvl="1" eaLnBrk="1" hangingPunct="1"/>
            <a:r>
              <a:rPr lang="en-US" altLang="en-US" dirty="0" smtClean="0"/>
              <a:t>Forces are applied equally in all directions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Analogous to water pressure</a:t>
            </a:r>
          </a:p>
          <a:p>
            <a:pPr lvl="1" eaLnBrk="1" hangingPunct="1"/>
            <a:r>
              <a:rPr lang="en-US" altLang="en-US" dirty="0" smtClean="0"/>
              <a:t>Causes the spaces between mineral grains to </a:t>
            </a:r>
            <a:r>
              <a:rPr lang="en-US" altLang="en-US" dirty="0" smtClean="0"/>
              <a:t>close</a:t>
            </a:r>
            <a:endParaRPr lang="en-US" altLang="en-US" sz="3200" dirty="0" smtClean="0">
              <a:ea typeface="ＭＳ Ｐゴシック" pitchFamily="34" charset="-128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8.2</a:t>
            </a:r>
            <a:r>
              <a:rPr lang="en-IN" altLang="en-US" dirty="0" smtClean="0"/>
              <a:t> </a:t>
            </a:r>
            <a:r>
              <a:rPr altLang="en-US" dirty="0" smtClean="0"/>
              <a:t>What Drives Metamorphism?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7"/>
          <p:cNvSpPr>
            <a:spLocks noGrp="1" noChangeArrowheads="1"/>
          </p:cNvSpPr>
          <p:nvPr>
            <p:ph idx="1"/>
          </p:nvPr>
        </p:nvSpPr>
        <p:spPr>
          <a:xfrm>
            <a:off x="376238" y="1202937"/>
            <a:ext cx="8229600" cy="51069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Differential stress</a:t>
            </a:r>
          </a:p>
          <a:p>
            <a:pPr lvl="1" eaLnBrk="1" hangingPunct="1"/>
            <a:r>
              <a:rPr lang="en-US" altLang="en-US" dirty="0" smtClean="0"/>
              <a:t>Forces are unequal in different </a:t>
            </a:r>
            <a:r>
              <a:rPr lang="en-US" altLang="en-US" dirty="0" smtClean="0"/>
              <a:t>directions.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Stresses are greater in one direction</a:t>
            </a:r>
          </a:p>
          <a:p>
            <a:pPr eaLnBrk="1" hangingPunct="1"/>
            <a:r>
              <a:rPr lang="en-US" altLang="en-US" dirty="0" smtClean="0"/>
              <a:t>Compressional stress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</a:rPr>
              <a:t>Rocks are squeezed as if in a </a:t>
            </a:r>
            <a:r>
              <a:rPr lang="en-US" altLang="en-US" dirty="0" smtClean="0">
                <a:ea typeface="ＭＳ Ｐゴシック" pitchFamily="34" charset="-128"/>
              </a:rPr>
              <a:t>vice.</a:t>
            </a:r>
            <a:endParaRPr lang="en-US" altLang="en-US" dirty="0" smtClean="0">
              <a:ea typeface="ＭＳ Ｐゴシック" pitchFamily="34" charset="-128"/>
            </a:endParaRP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</a:rPr>
              <a:t>Shortened in one direction and elongated in the other direction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8.2 What Drives Metamorphism?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Confining Pressure and Differential Stress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7753350" y="632640"/>
            <a:ext cx="946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Tutorial</a:t>
            </a:r>
            <a:endParaRPr lang="en-US" altLang="en-US" sz="1800" dirty="0"/>
          </a:p>
        </p:txBody>
      </p:sp>
      <p:pic>
        <p:nvPicPr>
          <p:cNvPr id="16389" name="Picture 5" descr="\\integrafs5\DeLS_Pondy\71_Pearson_US_IRDVD\08. Working_Folder\Copyright Removed Jpegs\Lutgens_EOG_13e\Chapter08\Jpegs_Labeled\EOG_13e_Figure_08_0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944711"/>
            <a:ext cx="4516437" cy="547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7"/>
          <p:cNvSpPr>
            <a:spLocks noGrp="1" noChangeArrowheads="1"/>
          </p:cNvSpPr>
          <p:nvPr>
            <p:ph idx="1"/>
          </p:nvPr>
        </p:nvSpPr>
        <p:spPr>
          <a:xfrm>
            <a:off x="377825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Chemically active fluids</a:t>
            </a:r>
          </a:p>
          <a:p>
            <a:pPr lvl="1" eaLnBrk="1" hangingPunct="1"/>
            <a:r>
              <a:rPr lang="en-US" altLang="en-US" dirty="0" smtClean="0"/>
              <a:t>Enhances migration of ions</a:t>
            </a:r>
          </a:p>
          <a:p>
            <a:pPr lvl="1" eaLnBrk="1" hangingPunct="1"/>
            <a:r>
              <a:rPr lang="en-US" altLang="en-US" dirty="0" smtClean="0"/>
              <a:t>Aids in recrystallization of existing minerals</a:t>
            </a:r>
          </a:p>
          <a:p>
            <a:pPr lvl="1" eaLnBrk="1" hangingPunct="1"/>
            <a:r>
              <a:rPr lang="en-US" altLang="en-US" dirty="0" smtClean="0"/>
              <a:t>In some environments, fluids can transport mineral matter over considerable </a:t>
            </a:r>
            <a:r>
              <a:rPr lang="en-US" altLang="en-US" dirty="0" smtClean="0"/>
              <a:t>distances.</a:t>
            </a:r>
            <a:endParaRPr lang="en-US" altLang="en-US" dirty="0" smtClean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8.2</a:t>
            </a:r>
            <a:r>
              <a:rPr lang="en-IN" altLang="en-US" dirty="0" smtClean="0"/>
              <a:t> </a:t>
            </a:r>
            <a:r>
              <a:rPr altLang="en-US" dirty="0" smtClean="0"/>
              <a:t>What Drives Metamorphism?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7"/>
          <p:cNvSpPr>
            <a:spLocks noGrp="1" noChangeArrowheads="1"/>
          </p:cNvSpPr>
          <p:nvPr>
            <p:ph idx="1"/>
          </p:nvPr>
        </p:nvSpPr>
        <p:spPr>
          <a:xfrm>
            <a:off x="377825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importance of parent rock</a:t>
            </a:r>
          </a:p>
          <a:p>
            <a:pPr lvl="1" eaLnBrk="1" hangingPunct="1"/>
            <a:r>
              <a:rPr lang="en-US" altLang="en-US" dirty="0" smtClean="0"/>
              <a:t>Most metamorphic rocks have the same overall chemical composition as the original parent </a:t>
            </a:r>
            <a:r>
              <a:rPr lang="en-US" altLang="en-US" dirty="0" smtClean="0"/>
              <a:t>rock.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Mineral makeup determines the degree to which each metamorphic agent will cause </a:t>
            </a:r>
            <a:r>
              <a:rPr lang="en-US" altLang="en-US" dirty="0" smtClean="0"/>
              <a:t>change.</a:t>
            </a:r>
            <a:endParaRPr lang="en-US" altLang="en-US" sz="3200" dirty="0" smtClean="0"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8.2</a:t>
            </a:r>
            <a:r>
              <a:rPr lang="en-IN" altLang="en-US" dirty="0" smtClean="0"/>
              <a:t> </a:t>
            </a:r>
            <a:r>
              <a:rPr altLang="en-US" dirty="0" smtClean="0"/>
              <a:t>What Drives Metamorphism?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-41275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8.3</a:t>
            </a:r>
            <a:r>
              <a:rPr lang="en-IN" altLang="en-US" dirty="0" smtClean="0"/>
              <a:t> </a:t>
            </a:r>
            <a:r>
              <a:rPr altLang="en-US" dirty="0" smtClean="0"/>
              <a:t>Metamorphic Textures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77825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Texture describes the size, shape, and arrangement of mineral </a:t>
            </a:r>
            <a:r>
              <a:rPr lang="en-US" altLang="en-US" dirty="0" smtClean="0"/>
              <a:t>grains.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Metamorphic rocks can display preferred orientation of minerals, in which the platy mineral grains exhibit parallel to subparallel </a:t>
            </a:r>
            <a:r>
              <a:rPr lang="en-US" altLang="en-US" dirty="0" smtClean="0"/>
              <a:t>alignment.</a:t>
            </a:r>
            <a:endParaRPr lang="en-US" altLang="en-US" sz="3200" dirty="0" smtClean="0">
              <a:ea typeface="ＭＳ Ｐゴシック" pitchFamily="34" charset="-128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377825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Foliation describes any planar arrangement of mineral grains or structural features within a </a:t>
            </a:r>
            <a:r>
              <a:rPr lang="en-US" altLang="en-US" dirty="0" smtClean="0"/>
              <a:t>rock.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Examples of foliation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Parallel alignment of platy or elongated minerals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Parallel alignment of flattened mineral grains or pebbles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Compositional banding of dark and light minerals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Cleavage where rocks can be easily split into </a:t>
            </a:r>
            <a:r>
              <a:rPr lang="en-US" altLang="en-US" dirty="0" smtClean="0">
                <a:ea typeface="ＭＳ Ｐゴシック" pitchFamily="34" charset="-128"/>
              </a:rPr>
              <a:t>slabs</a:t>
            </a:r>
            <a:endParaRPr lang="en-US" altLang="en-US" sz="3200" dirty="0" smtClean="0">
              <a:ea typeface="ＭＳ Ｐゴシック" pitchFamily="34" charset="-128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-41275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8.3</a:t>
            </a:r>
            <a:r>
              <a:rPr lang="en-IN" altLang="en-US" dirty="0" smtClean="0"/>
              <a:t> </a:t>
            </a:r>
            <a:r>
              <a:rPr altLang="en-US" dirty="0" smtClean="0"/>
              <a:t>Metamorphic Textures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7"/>
          <p:cNvSpPr>
            <a:spLocks noGrp="1" noChangeArrowheads="1"/>
          </p:cNvSpPr>
          <p:nvPr>
            <p:ph idx="1"/>
          </p:nvPr>
        </p:nvSpPr>
        <p:spPr>
          <a:xfrm>
            <a:off x="377825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Foliation</a:t>
            </a:r>
          </a:p>
          <a:p>
            <a:pPr lvl="1" eaLnBrk="1" hangingPunct="1"/>
            <a:r>
              <a:rPr lang="en-US" altLang="en-US" dirty="0" smtClean="0"/>
              <a:t>Foliation can form in various ways, including: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Rotation of platy minerals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Recrystallization that produces new minerals </a:t>
            </a:r>
            <a:r>
              <a:rPr lang="en-US" altLang="en-US" dirty="0" smtClean="0">
                <a:ea typeface="ＭＳ Ｐゴシック" pitchFamily="34" charset="-128"/>
              </a:rPr>
              <a:t>perpendicular to the direction of maximum stress 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Flattening spherically shaped </a:t>
            </a:r>
            <a:r>
              <a:rPr lang="en-US" altLang="en-US" dirty="0" smtClean="0">
                <a:ea typeface="ＭＳ Ｐゴシック" pitchFamily="34" charset="-128"/>
              </a:rPr>
              <a:t>grains</a:t>
            </a:r>
            <a:endParaRPr lang="en-US" altLang="en-US" sz="3200" dirty="0" smtClean="0">
              <a:ea typeface="ＭＳ Ｐゴシック" pitchFamily="34" charset="-128"/>
            </a:endParaRP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-41275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8.3</a:t>
            </a:r>
            <a:r>
              <a:rPr lang="en-IN" altLang="en-US" dirty="0" smtClean="0"/>
              <a:t> </a:t>
            </a:r>
            <a:r>
              <a:rPr altLang="en-US" dirty="0" smtClean="0"/>
              <a:t>Metamorphic Textures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6988" y="9525"/>
            <a:ext cx="9144001" cy="1077913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chemeClr val="bg1"/>
                </a:solidFill>
              </a:rPr>
              <a:t>Development of Foliation as a Result of Differential Stress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7567613" y="1087438"/>
            <a:ext cx="1211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Animation</a:t>
            </a:r>
            <a:endParaRPr lang="en-US" altLang="en-US" sz="1800" dirty="0"/>
          </a:p>
        </p:txBody>
      </p:sp>
      <p:pic>
        <p:nvPicPr>
          <p:cNvPr id="22533" name="Picture 5" descr="\\integrafs5\DeLS_Pondy\71_Pearson_US_IRDVD\08. Working_Folder\Copyright Removed Jpegs\Lutgens_EOG_13e\Chapter08\Jpegs_Labeled\EOG_13e_Figure_08_0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489" y="1327563"/>
            <a:ext cx="3657023" cy="517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-206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Solid-State </a:t>
            </a:r>
            <a:r>
              <a:rPr altLang="en-US" dirty="0" smtClean="0"/>
              <a:t>Flow </a:t>
            </a:r>
            <a:r>
              <a:rPr lang="en-IN" altLang="en-US" dirty="0"/>
              <a:t>of Mineral Grains</a:t>
            </a:r>
            <a:endParaRPr altLang="en-US" dirty="0" smtClean="0"/>
          </a:p>
        </p:txBody>
      </p:sp>
      <p:pic>
        <p:nvPicPr>
          <p:cNvPr id="23556" name="Picture 4" descr="\\integrafs5\DeLS_Pondy\71_Pearson_US_IRDVD\08. Working_Folder\Copyright Removed Jpegs\Lutgens_EOG_13e\Chapter08\Jpegs_Labeled\EOG_13e_Figure_08_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8" y="921166"/>
            <a:ext cx="3462337" cy="531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-41275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8.3</a:t>
            </a:r>
            <a:r>
              <a:rPr lang="en-IN" altLang="en-US" dirty="0" smtClean="0"/>
              <a:t> </a:t>
            </a:r>
            <a:r>
              <a:rPr altLang="en-US" dirty="0" smtClean="0"/>
              <a:t>Metamorphic Textures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77825" y="1198990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Foliated textures</a:t>
            </a:r>
          </a:p>
          <a:p>
            <a:pPr lvl="1"/>
            <a:r>
              <a:rPr lang="en-US" altLang="en-US" dirty="0" smtClean="0"/>
              <a:t>Rock or </a:t>
            </a:r>
            <a:r>
              <a:rPr lang="en-US" altLang="en-US" dirty="0" err="1" smtClean="0"/>
              <a:t>slaty</a:t>
            </a:r>
            <a:r>
              <a:rPr lang="en-US" altLang="en-US" dirty="0" smtClean="0"/>
              <a:t> cleavage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Rocks split into thin slabs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Develops in beds of shale with low-grade </a:t>
            </a: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metamorphism</a:t>
            </a:r>
            <a:endParaRPr lang="en-US" altLang="en-US" sz="3200" dirty="0" smtClean="0">
              <a:ea typeface="ＭＳ Ｐゴシック" pitchFamily="34" charset="-128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-25400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Excellent Slaty Cleavage</a:t>
            </a:r>
          </a:p>
        </p:txBody>
      </p:sp>
      <p:pic>
        <p:nvPicPr>
          <p:cNvPr id="25604" name="Picture 4" descr="\\integrafs5\DeLS_Pondy\71_Pearson_US_IRDVD\08. Working_Folder\Copyright Removed Jpegs\Lutgens_EOG_13e\Chapter08\Jpegs_Labeled\EOG_13e_Figure_08_0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812444"/>
            <a:ext cx="7864475" cy="551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206456"/>
            <a:ext cx="8229600" cy="51069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Foliated textures</a:t>
            </a:r>
          </a:p>
          <a:p>
            <a:pPr lvl="1" eaLnBrk="1" hangingPunct="1"/>
            <a:r>
              <a:rPr lang="en-US" altLang="en-US" dirty="0" err="1" smtClean="0"/>
              <a:t>Schistosity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Platy minerals are discernible with the unaided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eye.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Mica and chlorite flakes begin to recrystallize into large muscovite and biotite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crystals.</a:t>
            </a:r>
            <a:endParaRPr lang="en-US" altLang="en-US" sz="2400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Exhibit a planar or layered structure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Rocks having this texture are referred to as </a:t>
            </a:r>
            <a:r>
              <a:rPr lang="en-US" altLang="en-US" i="1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schist.</a:t>
            </a:r>
            <a:endParaRPr lang="en-US" altLang="en-US" sz="3200" dirty="0" smtClean="0"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-41275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8.3</a:t>
            </a:r>
            <a:r>
              <a:rPr lang="en-IN" altLang="en-US" dirty="0" smtClean="0"/>
              <a:t> </a:t>
            </a:r>
            <a:r>
              <a:rPr altLang="en-US" dirty="0" smtClean="0"/>
              <a:t>Metamorphic Textures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-41275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8.3</a:t>
            </a:r>
            <a:r>
              <a:rPr lang="en-IN" altLang="en-US" dirty="0" smtClean="0"/>
              <a:t> </a:t>
            </a:r>
            <a:r>
              <a:rPr altLang="en-US" dirty="0" smtClean="0"/>
              <a:t>Metamorphic Textures (cont</a:t>
            </a:r>
            <a:r>
              <a:rPr altLang="en-US" dirty="0"/>
              <a:t>.</a:t>
            </a:r>
            <a:r>
              <a:rPr altLang="en-US" dirty="0" smtClean="0"/>
              <a:t>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206456"/>
            <a:ext cx="8229600" cy="51069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Foliated textures</a:t>
            </a:r>
          </a:p>
          <a:p>
            <a:pPr lvl="1" eaLnBrk="1" hangingPunct="1"/>
            <a:r>
              <a:rPr lang="en-US" altLang="en-US" dirty="0" smtClean="0"/>
              <a:t>Gneissic texture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During high-grade metamorphism, ion migration results in the segregation of minerals into light and dark </a:t>
            </a:r>
            <a:r>
              <a:rPr lang="en-US" altLang="en-US" dirty="0" smtClean="0">
                <a:ea typeface="ＭＳ Ｐゴシック" pitchFamily="34" charset="-128"/>
              </a:rPr>
              <a:t>bands.</a:t>
            </a:r>
            <a:endParaRPr lang="en-US" altLang="en-US" dirty="0" smtClean="0">
              <a:ea typeface="ＭＳ Ｐゴシック" pitchFamily="34" charset="-128"/>
            </a:endParaRP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Metamorphic rocks with this texture are called </a:t>
            </a:r>
            <a:r>
              <a:rPr lang="en-US" altLang="en-US" i="1" dirty="0" smtClean="0">
                <a:ea typeface="ＭＳ Ｐゴシック" pitchFamily="34" charset="-128"/>
              </a:rPr>
              <a:t>gneiss.</a:t>
            </a:r>
            <a:endParaRPr lang="en-US" altLang="en-US" i="1" dirty="0" smtClean="0">
              <a:ea typeface="ＭＳ Ｐゴシック" pitchFamily="34" charset="-128"/>
            </a:endParaRP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Although foliated, gneiss do not usually split as easily as slates and </a:t>
            </a:r>
            <a:r>
              <a:rPr lang="en-US" altLang="en-US" dirty="0" smtClean="0">
                <a:ea typeface="ＭＳ Ｐゴシック" pitchFamily="34" charset="-128"/>
              </a:rPr>
              <a:t>schists.</a:t>
            </a:r>
            <a:endParaRPr lang="en-US" altLang="en-US" sz="3200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-41275" y="9525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8.3</a:t>
            </a:r>
            <a:r>
              <a:rPr lang="en-IN" altLang="en-US" dirty="0" smtClean="0"/>
              <a:t> </a:t>
            </a:r>
            <a:r>
              <a:rPr altLang="en-US" dirty="0" smtClean="0"/>
              <a:t>Metamorphic Textures (cont.)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76238" y="1239449"/>
            <a:ext cx="8229600" cy="5106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Other metamorphic textures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err="1" smtClean="0"/>
              <a:t>Nonfoliated</a:t>
            </a:r>
            <a:r>
              <a:rPr lang="en-US" altLang="en-US" dirty="0" smtClean="0"/>
              <a:t> metamorphic rocks are composed of minerals that exhibit equidimensional crystals and lack </a:t>
            </a:r>
            <a:r>
              <a:rPr lang="en-US" altLang="en-US" dirty="0" smtClean="0"/>
              <a:t>foliation.</a:t>
            </a:r>
            <a:endParaRPr lang="en-US" alt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Develop in environments in which deformation is minimal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err="1" smtClean="0"/>
              <a:t>Porphyroblastic</a:t>
            </a:r>
            <a:r>
              <a:rPr lang="en-US" altLang="en-US" dirty="0" smtClean="0"/>
              <a:t> textures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Unusually large grains, called </a:t>
            </a:r>
            <a:r>
              <a:rPr lang="en-US" altLang="en-US" dirty="0" err="1" smtClean="0">
                <a:ea typeface="ＭＳ Ｐゴシック" pitchFamily="34" charset="-128"/>
              </a:rPr>
              <a:t>porphyroblasts</a:t>
            </a:r>
            <a:r>
              <a:rPr lang="en-US" altLang="en-US" dirty="0" smtClean="0">
                <a:ea typeface="ＭＳ Ｐゴシック" pitchFamily="34" charset="-128"/>
              </a:rPr>
              <a:t>, are surrounded by a fine-grained matrix of other </a:t>
            </a:r>
            <a:r>
              <a:rPr lang="en-US" altLang="en-US" dirty="0" smtClean="0">
                <a:ea typeface="ＭＳ Ｐゴシック" pitchFamily="34" charset="-128"/>
              </a:rPr>
              <a:t>minerals.</a:t>
            </a:r>
            <a:endParaRPr lang="en-US" alt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-22225" y="0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Garnet-Mica Schist</a:t>
            </a:r>
          </a:p>
        </p:txBody>
      </p:sp>
      <p:pic>
        <p:nvPicPr>
          <p:cNvPr id="29700" name="Picture 4" descr="\\integrafs5\DeLS_Pondy\71_Pearson_US_IRDVD\08. Working_Folder\Copyright Removed Jpegs\Lutgens_EOG_13e\Chapter08\Jpegs_Labeled\EOG_13e_Figure_08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031" y="921639"/>
            <a:ext cx="4079939" cy="536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Rocks</a:t>
            </a:r>
          </a:p>
        </p:txBody>
      </p:sp>
      <p:pic>
        <p:nvPicPr>
          <p:cNvPr id="30724" name="Picture 4" descr="\\integrafs5\DeLS_Pondy\71_Pearson_US_IRDVD\08. Working_Folder\Copyright Removed Jpegs\Lutgens_EOG_13e\Chapter08\Jpegs_Labeled\EOG_13e_Figure_08_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121" y="750137"/>
            <a:ext cx="3996170" cy="577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Foliated rocks</a:t>
            </a:r>
          </a:p>
          <a:p>
            <a:pPr lvl="1" eaLnBrk="1" hangingPunct="1"/>
            <a:r>
              <a:rPr lang="en-US" altLang="en-US" dirty="0" smtClean="0"/>
              <a:t>Slate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Very fine-grained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Excellent rock cleavage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Most often generated from low-grade metamorphism of shale, mudstone, or siltstone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</a:t>
            </a: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Rocks (cont.)</a:t>
            </a:r>
            <a:endParaRPr lang="en-US" altLang="en-US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Slate</a:t>
            </a:r>
          </a:p>
        </p:txBody>
      </p:sp>
      <p:pic>
        <p:nvPicPr>
          <p:cNvPr id="3277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3655" y="940522"/>
            <a:ext cx="6995103" cy="5380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377825" y="1198990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Foliated rocks</a:t>
            </a:r>
          </a:p>
          <a:p>
            <a:pPr lvl="1" eaLnBrk="1" hangingPunct="1"/>
            <a:r>
              <a:rPr lang="en-US" altLang="en-US" dirty="0" err="1" smtClean="0"/>
              <a:t>Phyllite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Degree of metamorphism between slate and schist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Platy minerals are larger than slate but not large enough to see with the unaided </a:t>
            </a: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eye.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Glossy sheen and wavy surfaces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Exhibits rock cleavage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Rocks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-23813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Phyllite</a:t>
            </a:r>
          </a:p>
        </p:txBody>
      </p:sp>
      <p:pic>
        <p:nvPicPr>
          <p:cNvPr id="3481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1293" y="1041112"/>
            <a:ext cx="6442364" cy="516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Foliated rocks</a:t>
            </a:r>
          </a:p>
          <a:p>
            <a:pPr lvl="1" eaLnBrk="1" hangingPunct="1"/>
            <a:r>
              <a:rPr lang="en-US" altLang="en-US" dirty="0" smtClean="0"/>
              <a:t>Schist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Medium- to coarse-grained 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Parent rock is shale that has undergone medium- to </a:t>
            </a:r>
            <a:b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</a:b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high-grade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metamorphism.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The term </a:t>
            </a:r>
            <a:r>
              <a:rPr lang="en-US" altLang="en-US" i="1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schist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describes the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texture.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Platy minerals (mainly micas) predominate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Can also contain </a:t>
            </a:r>
            <a:r>
              <a:rPr lang="en-US" altLang="en-US" dirty="0" err="1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porphyroblasts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Rocks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Schist</a:t>
            </a:r>
            <a:endParaRPr altLang="en-US" dirty="0" smtClean="0"/>
          </a:p>
        </p:txBody>
      </p:sp>
      <p:pic>
        <p:nvPicPr>
          <p:cNvPr id="3686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3788" y="895350"/>
            <a:ext cx="6937375" cy="550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Foliated rocks</a:t>
            </a:r>
          </a:p>
          <a:p>
            <a:pPr lvl="1" eaLnBrk="1" hangingPunct="1"/>
            <a:r>
              <a:rPr lang="en-US" altLang="en-US" dirty="0" smtClean="0"/>
              <a:t>Gneiss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Medium- to coarse-grained metamorphic rock with a banded appearance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The result of high-grade metamorphism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Composed of light-colored, feldspar-rich layers with bands of dark ferromagnesian minerals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Rocks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-22225" y="0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Gneiss</a:t>
            </a:r>
          </a:p>
        </p:txBody>
      </p:sp>
      <p:pic>
        <p:nvPicPr>
          <p:cNvPr id="3891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28" y="969386"/>
            <a:ext cx="6856557" cy="5322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err="1" smtClean="0"/>
              <a:t>Nonfoliated</a:t>
            </a:r>
            <a:r>
              <a:rPr lang="en-US" altLang="en-US" dirty="0" smtClean="0"/>
              <a:t> rocks</a:t>
            </a:r>
          </a:p>
          <a:p>
            <a:pPr lvl="1" eaLnBrk="1" hangingPunct="1"/>
            <a:r>
              <a:rPr lang="en-US" altLang="en-US" dirty="0" smtClean="0"/>
              <a:t>Marble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Crystalline rock from limestone or </a:t>
            </a:r>
            <a:r>
              <a:rPr lang="en-US" altLang="en-US" dirty="0" err="1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dolostone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 parent rock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Main mineral is calcite</a:t>
            </a: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Calcite is relatively soft (3 on the </a:t>
            </a:r>
            <a:r>
              <a:rPr lang="en-US" altLang="en-US" dirty="0" err="1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Mohs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 scale)</a:t>
            </a: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Used as a decorative and monument stone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Impurities in the parent rocks provide a variety of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colors.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  <a:p>
            <a:pPr lvl="3" eaLnBrk="1" hangingPunct="1"/>
            <a:endParaRPr lang="en-US" altLang="en-US" sz="3200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Rocks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Marble </a:t>
            </a:r>
          </a:p>
        </p:txBody>
      </p:sp>
      <p:pic>
        <p:nvPicPr>
          <p:cNvPr id="4096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4155" y="993487"/>
            <a:ext cx="6614103" cy="5232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err="1" smtClean="0"/>
              <a:t>Nonfoliated</a:t>
            </a:r>
            <a:r>
              <a:rPr lang="en-US" altLang="en-US" dirty="0" smtClean="0"/>
              <a:t> rocks</a:t>
            </a:r>
          </a:p>
          <a:p>
            <a:pPr lvl="1" eaLnBrk="1" hangingPunct="1"/>
            <a:r>
              <a:rPr lang="en-US" altLang="en-US" dirty="0" smtClean="0"/>
              <a:t>Quartzite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Formed from a parent rock of quartz-rich sandstone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Quartz grains are fused together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Pure quartzite is white</a:t>
            </a: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Iron oxide may produce reddish or pink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stains.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  <a:p>
            <a:pPr lvl="3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Dark minerals may produce green or gray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stains.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Rocks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6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Quartzite</a:t>
            </a:r>
          </a:p>
        </p:txBody>
      </p:sp>
      <p:pic>
        <p:nvPicPr>
          <p:cNvPr id="43012" name="Picture 4" descr="\\integrafs5\DeLS_Pondy\71_Pearson_US_IRDVD\08. Working_Folder\Copyright Removed Jpegs\Lutgens_EOG_13e\Chapter08\Jpegs_Labeled\EOG_13e_Figure_08_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73" y="1379754"/>
            <a:ext cx="7524067" cy="465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err="1" smtClean="0"/>
              <a:t>Nonfoliated</a:t>
            </a:r>
            <a:r>
              <a:rPr lang="en-US" altLang="en-US" dirty="0" smtClean="0"/>
              <a:t> rocks</a:t>
            </a:r>
          </a:p>
          <a:p>
            <a:pPr lvl="1" eaLnBrk="1" hangingPunct="1"/>
            <a:r>
              <a:rPr lang="en-US" altLang="en-US" dirty="0" err="1" smtClean="0"/>
              <a:t>Hornfels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Parent rock is shale or clay-rich </a:t>
            </a:r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rocks.</a:t>
            </a:r>
            <a:endParaRPr lang="en-US" altLang="en-US" dirty="0" smtClean="0">
              <a:solidFill>
                <a:srgbClr val="000000"/>
              </a:solidFill>
              <a:ea typeface="ＭＳ Ｐゴシック" pitchFamily="34" charset="-128"/>
              <a:cs typeface="Calibri" pitchFamily="34" charset="0"/>
            </a:endParaRP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ea typeface="ＭＳ Ｐゴシック" pitchFamily="34" charset="-128"/>
                <a:cs typeface="Calibri" pitchFamily="34" charset="0"/>
              </a:rPr>
              <a:t>“Baked” by an intruding magma body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22225" y="1588"/>
            <a:ext cx="8745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Common </a:t>
            </a:r>
            <a:r>
              <a:rPr lang="en-US" alt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Metamorphic Rocks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9525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8.5</a:t>
            </a:r>
            <a:r>
              <a:rPr lang="en-IN" altLang="en-US" dirty="0" smtClean="0"/>
              <a:t> </a:t>
            </a:r>
            <a:r>
              <a:rPr altLang="en-US" dirty="0" smtClean="0"/>
              <a:t>Metamorphic Environments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2966"/>
            <a:ext cx="8229600" cy="25152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Contact or thermal metamorphism</a:t>
            </a:r>
          </a:p>
          <a:p>
            <a:pPr lvl="1" eaLnBrk="1" hangingPunct="1"/>
            <a:r>
              <a:rPr lang="en-US" altLang="en-US" dirty="0" smtClean="0"/>
              <a:t>Results from a rise in temperature when magma invades a host rock</a:t>
            </a:r>
          </a:p>
          <a:p>
            <a:pPr lvl="1" eaLnBrk="1" hangingPunct="1"/>
            <a:r>
              <a:rPr lang="en-US" altLang="en-US" dirty="0" smtClean="0"/>
              <a:t>Occurs in the upper crust (low pressure, high temperature)</a:t>
            </a:r>
          </a:p>
          <a:p>
            <a:pPr lvl="1" eaLnBrk="1" hangingPunct="1"/>
            <a:r>
              <a:rPr lang="en-US" altLang="en-US" dirty="0" smtClean="0"/>
              <a:t>The zone of alteration (aureole) forms in the rock surrounding the </a:t>
            </a:r>
            <a:r>
              <a:rPr lang="en-US" altLang="en-US" dirty="0" smtClean="0"/>
              <a:t>magma.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xfrm>
            <a:off x="-22225" y="0"/>
            <a:ext cx="9144000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Contact Metamorphism</a:t>
            </a: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7662863" y="579438"/>
            <a:ext cx="94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Tutorial</a:t>
            </a:r>
            <a:endParaRPr lang="en-US" altLang="en-US" sz="1800" dirty="0"/>
          </a:p>
        </p:txBody>
      </p:sp>
      <p:pic>
        <p:nvPicPr>
          <p:cNvPr id="46085" name="Picture 5" descr="\\integrafs5\DeLS_Pondy\71_Pearson_US_IRDVD\08. Working_Folder\Copyright Removed Jpegs\Lutgens_EOG_13e\Chapter08\Jpegs_Labeled\EOG_13e_Figure_08_1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178" y="871686"/>
            <a:ext cx="3364057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Hydrothermal metamorphism</a:t>
            </a:r>
          </a:p>
          <a:p>
            <a:pPr lvl="1" eaLnBrk="1" hangingPunct="1"/>
            <a:r>
              <a:rPr lang="en-US" altLang="en-US" dirty="0" smtClean="0"/>
              <a:t>Chemical alteration caused by hot, ion-rich fluids circulating through pore spaces and rock </a:t>
            </a:r>
            <a:r>
              <a:rPr lang="en-US" altLang="en-US" dirty="0" smtClean="0"/>
              <a:t>fractures.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Typically occurs along the axes of mid-ocean </a:t>
            </a:r>
            <a:r>
              <a:rPr lang="en-US" altLang="en-US" dirty="0" smtClean="0"/>
              <a:t>ridges.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Black smokers are the result of the fluids gushing from the </a:t>
            </a: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seafloor.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8.5</a:t>
            </a:r>
            <a:r>
              <a:rPr lang="en-IN" altLang="en-US" dirty="0" smtClean="0"/>
              <a:t> </a:t>
            </a:r>
            <a:r>
              <a:rPr altLang="en-US" dirty="0" smtClean="0"/>
              <a:t>Metamorphic Environments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6988" y="0"/>
            <a:ext cx="9144001" cy="1077913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chemeClr val="bg1"/>
                </a:solidFill>
              </a:rPr>
              <a:t>Hydrothermal Metamorphism along </a:t>
            </a:r>
            <a:br>
              <a:rPr lang="en-US" altLang="en-US" smtClean="0">
                <a:solidFill>
                  <a:schemeClr val="bg1"/>
                </a:solidFill>
              </a:rPr>
            </a:br>
            <a:r>
              <a:rPr lang="en-US" altLang="en-US" smtClean="0">
                <a:solidFill>
                  <a:schemeClr val="bg1"/>
                </a:solidFill>
              </a:rPr>
              <a:t>a Mid-Ocean Ridge</a:t>
            </a:r>
          </a:p>
        </p:txBody>
      </p:sp>
      <p:pic>
        <p:nvPicPr>
          <p:cNvPr id="48132" name="Picture 4" descr="\\integrafs5\DeLS_Pondy\71_Pearson_US_IRDVD\08. Working_Folder\Copyright Removed Jpegs\Lutgens_EOG_13e\Chapter08\Jpegs_Labeled\EOG_13e_Figure_08_2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832" y="1465014"/>
            <a:ext cx="6752749" cy="486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Burial metamorphism</a:t>
            </a:r>
          </a:p>
          <a:p>
            <a:pPr lvl="1" eaLnBrk="1" hangingPunct="1"/>
            <a:r>
              <a:rPr lang="en-US" altLang="en-US" dirty="0" smtClean="0"/>
              <a:t>Associated with very thick sedimentary strata in a subsiding basin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Gulf of Mexico is an </a:t>
            </a: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example.</a:t>
            </a:r>
          </a:p>
          <a:p>
            <a:pPr eaLnBrk="1" hangingPunct="1"/>
            <a:r>
              <a:rPr lang="en-US" altLang="en-US" dirty="0" smtClean="0"/>
              <a:t>Subduction zone metamorphism</a:t>
            </a:r>
          </a:p>
          <a:p>
            <a:pPr lvl="1" eaLnBrk="1" hangingPunct="1"/>
            <a:r>
              <a:rPr lang="en-US" altLang="en-US" dirty="0" smtClean="0"/>
              <a:t>Sediments </a:t>
            </a:r>
            <a:r>
              <a:rPr lang="en-US" altLang="en-US" dirty="0" smtClean="0"/>
              <a:t>and oceanic crust are </a:t>
            </a:r>
            <a:r>
              <a:rPr lang="en-US" altLang="en-US" dirty="0" err="1" smtClean="0"/>
              <a:t>subducted</a:t>
            </a:r>
            <a:r>
              <a:rPr lang="en-US" altLang="en-US" dirty="0" smtClean="0"/>
              <a:t> fast enough that pressure increases before </a:t>
            </a:r>
            <a:r>
              <a:rPr lang="en-US" altLang="en-US" dirty="0" smtClean="0"/>
              <a:t>temperature.</a:t>
            </a:r>
            <a:endParaRPr lang="en-US" altLang="en-US" dirty="0" smtClean="0"/>
          </a:p>
        </p:txBody>
      </p:sp>
      <p:sp>
        <p:nvSpPr>
          <p:cNvPr id="55299" name="Rectangle 2"/>
          <p:cNvSpPr txBox="1">
            <a:spLocks noChangeArrowheads="1"/>
          </p:cNvSpPr>
          <p:nvPr/>
        </p:nvSpPr>
        <p:spPr bwMode="auto">
          <a:xfrm>
            <a:off x="-33338" y="-3175"/>
            <a:ext cx="84407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32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Metamorphic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Environments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smtClean="0"/>
              <a:t>Regional metamorphism</a:t>
            </a:r>
          </a:p>
          <a:p>
            <a:pPr lvl="1" eaLnBrk="1" hangingPunct="1"/>
            <a:r>
              <a:rPr lang="en-US" altLang="en-US" smtClean="0"/>
              <a:t>Produces the greatest quantity of metamorphic rock</a:t>
            </a:r>
          </a:p>
          <a:p>
            <a:pPr lvl="1" eaLnBrk="1" hangingPunct="1"/>
            <a:r>
              <a:rPr lang="en-US" altLang="en-US" smtClean="0"/>
              <a:t>Associated with mountain building and the collision of continental blocks</a:t>
            </a:r>
          </a:p>
          <a:p>
            <a:pPr lvl="2" eaLnBrk="1" hangingPunct="1"/>
            <a:endParaRPr lang="en-US" altLang="en-US" sz="3200" smtClean="0">
              <a:solidFill>
                <a:schemeClr val="tx2"/>
              </a:solidFill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33338" y="-3175"/>
            <a:ext cx="84407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32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Metamorphic Environments (cont.)</a:t>
            </a:r>
            <a:endParaRPr lang="en-US" altLang="en-US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>
          <a:xfrm>
            <a:off x="-23813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Regional Metamorphism</a:t>
            </a:r>
          </a:p>
        </p:txBody>
      </p:sp>
      <p:pic>
        <p:nvPicPr>
          <p:cNvPr id="51204" name="Picture 4" descr="\\integrafs5\DeLS_Pondy\71_Pearson_US_IRDVD\08. Working_Folder\Copyright Removed Jpegs\Lutgens_EOG_13e\Chapter08\Jpegs_Labeled\EOG_13e_Figure_08_2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824966"/>
            <a:ext cx="6864350" cy="562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Metamorphism along fault zones</a:t>
            </a:r>
          </a:p>
          <a:p>
            <a:pPr lvl="1" eaLnBrk="1" hangingPunct="1"/>
            <a:r>
              <a:rPr lang="en-US" altLang="en-US" dirty="0" smtClean="0"/>
              <a:t>Occurs at depth and high temperatures</a:t>
            </a:r>
          </a:p>
          <a:p>
            <a:pPr lvl="1" eaLnBrk="1" hangingPunct="1"/>
            <a:r>
              <a:rPr lang="en-US" altLang="en-US" dirty="0" smtClean="0"/>
              <a:t>Preexisting minerals deform by ductile flow</a:t>
            </a:r>
          </a:p>
          <a:p>
            <a:pPr lvl="2" eaLnBrk="1" hangingPunct="1"/>
            <a:r>
              <a:rPr lang="en-US" altLang="en-US" dirty="0" err="1" smtClean="0"/>
              <a:t>Mylonites</a:t>
            </a:r>
            <a:r>
              <a:rPr lang="en-US" altLang="en-US" dirty="0" smtClean="0"/>
              <a:t> form in these regions of ductile </a:t>
            </a:r>
            <a:r>
              <a:rPr lang="en-US" altLang="en-US" dirty="0" smtClean="0"/>
              <a:t>deformation.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Impact metamorphism</a:t>
            </a:r>
          </a:p>
          <a:p>
            <a:pPr lvl="1" eaLnBrk="1" hangingPunct="1"/>
            <a:r>
              <a:rPr lang="en-US" altLang="en-US" dirty="0" smtClean="0"/>
              <a:t>Occurs when meteorites strike Earth’s surface</a:t>
            </a:r>
          </a:p>
          <a:p>
            <a:pPr lvl="2" eaLnBrk="1" hangingPunct="1"/>
            <a:r>
              <a:rPr lang="en-US" altLang="en-US" dirty="0" smtClean="0"/>
              <a:t>Products </a:t>
            </a:r>
            <a:r>
              <a:rPr lang="en-US" altLang="en-US" dirty="0" smtClean="0"/>
              <a:t>of these impacts are fused fragmented rock </a:t>
            </a:r>
            <a:r>
              <a:rPr lang="en-US" altLang="en-US" dirty="0" smtClean="0"/>
              <a:t>and  </a:t>
            </a:r>
            <a:r>
              <a:rPr lang="en-US" altLang="en-US" dirty="0" smtClean="0"/>
              <a:t>glass-rich ejecta that resemble volcanic bombs, called </a:t>
            </a:r>
            <a:r>
              <a:rPr lang="en-US" altLang="en-US" dirty="0" err="1" smtClean="0"/>
              <a:t>impactiles</a:t>
            </a:r>
            <a:r>
              <a:rPr lang="en-US" altLang="en-US" dirty="0" smtClean="0"/>
              <a:t>.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33338" y="-3175"/>
            <a:ext cx="84407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 anchor="ctr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32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Metamorphic Environments</a:t>
            </a:r>
            <a:endParaRPr lang="en-US" altLang="en-US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Metamorphism along a Fault Zone</a:t>
            </a:r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7716838" y="579438"/>
            <a:ext cx="94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Tutorial</a:t>
            </a:r>
            <a:endParaRPr lang="en-US" altLang="en-US" sz="1800" dirty="0"/>
          </a:p>
        </p:txBody>
      </p:sp>
      <p:pic>
        <p:nvPicPr>
          <p:cNvPr id="53253" name="Picture 5" descr="\\integrafs5\DeLS_Pondy\71_Pearson_US_IRDVD\08. Working_Folder\Copyright Removed Jpegs\Lutgens_EOG_13e\Chapter08\Jpegs_Labeled\EOG_13e_Figure_08_2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1249229"/>
            <a:ext cx="8242300" cy="446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8.6</a:t>
            </a:r>
            <a:r>
              <a:rPr lang="en-IN" altLang="en-US" dirty="0" smtClean="0"/>
              <a:t> </a:t>
            </a:r>
            <a:r>
              <a:rPr altLang="en-US" dirty="0" smtClean="0"/>
              <a:t>Metamorphic Zones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4186"/>
            <a:ext cx="8229600" cy="51069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Textural variations</a:t>
            </a:r>
          </a:p>
          <a:p>
            <a:pPr lvl="1" eaLnBrk="1" hangingPunct="1"/>
            <a:r>
              <a:rPr lang="en-US" altLang="en-US" dirty="0" smtClean="0"/>
              <a:t>Slate is associated with low-grade </a:t>
            </a:r>
            <a:r>
              <a:rPr lang="en-US" altLang="en-US" dirty="0" smtClean="0"/>
              <a:t>metamorphism.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Gneiss is associated with high-grade </a:t>
            </a:r>
            <a:r>
              <a:rPr lang="en-US" altLang="en-US" dirty="0" smtClean="0"/>
              <a:t>metamorphism.</a:t>
            </a:r>
            <a:endParaRPr lang="en-US" altLang="en-US" dirty="0" smtClean="0"/>
          </a:p>
          <a:p>
            <a:pPr lvl="1" eaLnBrk="1" hangingPunct="1"/>
            <a:r>
              <a:rPr lang="en-US" altLang="en-US" dirty="0" err="1" smtClean="0">
                <a:ea typeface="ＭＳ Ｐゴシック" pitchFamily="34" charset="-128"/>
                <a:cs typeface="Calibri" pitchFamily="34" charset="0"/>
              </a:rPr>
              <a:t>Phyillte</a:t>
            </a: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 and schist are </a:t>
            </a: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intermediate.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Textural Variations Caused by Regional Metamorphism</a:t>
            </a: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7635875" y="1077913"/>
            <a:ext cx="946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3"/>
              </a:rPr>
              <a:t>Tutorial</a:t>
            </a:r>
            <a:endParaRPr lang="en-US" altLang="en-US" sz="1800" dirty="0"/>
          </a:p>
        </p:txBody>
      </p:sp>
      <p:pic>
        <p:nvPicPr>
          <p:cNvPr id="55301" name="Picture 5" descr="\\integrafs5\DeLS_Pondy\71_Pearson_US_IRDVD\08. Working_Folder\Copyright Removed Jpegs\Lutgens_EOG_13e\Chapter08\Jpegs_Labeled\EOG_13e_Figure_08_2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405" y="1558522"/>
            <a:ext cx="5153603" cy="473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8.6</a:t>
            </a:r>
            <a:r>
              <a:rPr lang="en-IN" altLang="en-US" dirty="0" smtClean="0"/>
              <a:t> </a:t>
            </a:r>
            <a:r>
              <a:rPr altLang="en-US" dirty="0" smtClean="0"/>
              <a:t>Metamorphic Zones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3222261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Index minerals and metamorphic grade</a:t>
            </a:r>
          </a:p>
          <a:p>
            <a:pPr lvl="1" eaLnBrk="1" hangingPunct="1"/>
            <a:r>
              <a:rPr lang="en-US" altLang="en-US" dirty="0" smtClean="0"/>
              <a:t>Changes in mineralogy occur from regions of low-grade metamorphism to regions of high-grade </a:t>
            </a:r>
            <a:r>
              <a:rPr lang="en-US" altLang="en-US" dirty="0" smtClean="0"/>
              <a:t>metamorphism.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Index minerals are good indicators of metamorphic environments </a:t>
            </a:r>
          </a:p>
          <a:p>
            <a:pPr lvl="1" eaLnBrk="1" hangingPunct="1"/>
            <a:r>
              <a:rPr lang="en-US" altLang="en-US" dirty="0" err="1" smtClean="0"/>
              <a:t>Migmatites</a:t>
            </a:r>
            <a:r>
              <a:rPr lang="en-US" altLang="en-US" dirty="0" smtClean="0"/>
              <a:t> are rocks that </a:t>
            </a:r>
            <a:r>
              <a:rPr lang="en-US" altLang="en-US" dirty="0" smtClean="0"/>
              <a:t>are </a:t>
            </a:r>
            <a:r>
              <a:rPr lang="en-US" altLang="en-US" dirty="0" smtClean="0"/>
              <a:t>partially </a:t>
            </a:r>
            <a:r>
              <a:rPr lang="en-US" altLang="en-US" dirty="0" smtClean="0"/>
              <a:t>melted.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Represent the highest grades of metamorphism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Transitional to igneous rocks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9144001" cy="57943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Metamorphic Zones and Index Minerals</a:t>
            </a:r>
          </a:p>
        </p:txBody>
      </p:sp>
      <p:pic>
        <p:nvPicPr>
          <p:cNvPr id="57348" name="Picture 4" descr="\\integrafs5\DeLS_Pondy\71_Pearson_US_IRDVD\08. Working_Folder\Copyright Removed Jpegs\Lutgens_EOG_13e\Chapter08\Jpegs_Labeled\EOG_13e_Figure_08_2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94" y="1465543"/>
            <a:ext cx="7841012" cy="430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9d8d74b26429241a1a251974b190ef16488f7939"/>
  <p:tag name="ARTICULATE_PROJECT_OPEN" val="0"/>
</p:tagLst>
</file>

<file path=ppt/theme/theme1.xml><?xml version="1.0" encoding="utf-8"?>
<a:theme xmlns:a="http://schemas.openxmlformats.org/drawingml/2006/main" name="1_HA5Lect_template">
  <a:themeElements>
    <a:clrScheme name="HA5Lec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A5Lect_templat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A5Lec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7519</TotalTime>
  <Words>1336</Words>
  <Application>Microsoft Office PowerPoint</Application>
  <PresentationFormat>On-screen Show (4:3)</PresentationFormat>
  <Paragraphs>245</Paragraphs>
  <Slides>50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1_HA5Lect_template</vt:lpstr>
      <vt:lpstr>PowerPoint Presentation</vt:lpstr>
      <vt:lpstr>Learning Objectives</vt:lpstr>
      <vt:lpstr>Learning Objectives (cont.)</vt:lpstr>
      <vt:lpstr>8.1 What Is Metamorphism?</vt:lpstr>
      <vt:lpstr>8.1 What Is Metamorphism? (cont.)</vt:lpstr>
      <vt:lpstr>Metamorphic Grade</vt:lpstr>
      <vt:lpstr>8.2 What Drives Metamorphism?</vt:lpstr>
      <vt:lpstr>8.2 What Drives Metamorphism? (cont.)</vt:lpstr>
      <vt:lpstr>8.2 What Drives Metamorphism? (cont.)</vt:lpstr>
      <vt:lpstr>Confining Pressure and Differential Stress</vt:lpstr>
      <vt:lpstr>8.2 What Drives Metamorphism?</vt:lpstr>
      <vt:lpstr>8.2 What Drives Metamorphism? (cont.)</vt:lpstr>
      <vt:lpstr>8.3 Metamorphic Textures</vt:lpstr>
      <vt:lpstr>8.3 Metamorphic Textures (cont.)</vt:lpstr>
      <vt:lpstr>8.3 Metamorphic Textures (cont.)</vt:lpstr>
      <vt:lpstr>Development of Foliation as a Result of Differential Stress</vt:lpstr>
      <vt:lpstr>Solid-State Flow of Mineral Grains</vt:lpstr>
      <vt:lpstr>8.3 Metamorphic Textures</vt:lpstr>
      <vt:lpstr>Excellent Slaty Cleavage</vt:lpstr>
      <vt:lpstr>8.3 Metamorphic Textures</vt:lpstr>
      <vt:lpstr>8.3 Metamorphic Textures (cont.)</vt:lpstr>
      <vt:lpstr>8.3 Metamorphic Textures (cont.)</vt:lpstr>
      <vt:lpstr>Garnet-Mica Schist</vt:lpstr>
      <vt:lpstr>PowerPoint Presentation</vt:lpstr>
      <vt:lpstr>PowerPoint Presentation</vt:lpstr>
      <vt:lpstr>Slate</vt:lpstr>
      <vt:lpstr>PowerPoint Presentation</vt:lpstr>
      <vt:lpstr>Phyllite</vt:lpstr>
      <vt:lpstr>PowerPoint Presentation</vt:lpstr>
      <vt:lpstr>Schist</vt:lpstr>
      <vt:lpstr>PowerPoint Presentation</vt:lpstr>
      <vt:lpstr>Gneiss</vt:lpstr>
      <vt:lpstr>PowerPoint Presentation</vt:lpstr>
      <vt:lpstr>Marble </vt:lpstr>
      <vt:lpstr>PowerPoint Presentation</vt:lpstr>
      <vt:lpstr>Quartzite</vt:lpstr>
      <vt:lpstr>PowerPoint Presentation</vt:lpstr>
      <vt:lpstr>8.5 Metamorphic Environments</vt:lpstr>
      <vt:lpstr>Contact Metamorphism</vt:lpstr>
      <vt:lpstr>8.5 Metamorphic Environments</vt:lpstr>
      <vt:lpstr>Hydrothermal Metamorphism along  a Mid-Ocean Ridge</vt:lpstr>
      <vt:lpstr>PowerPoint Presentation</vt:lpstr>
      <vt:lpstr>PowerPoint Presentation</vt:lpstr>
      <vt:lpstr>Regional Metamorphism</vt:lpstr>
      <vt:lpstr>PowerPoint Presentation</vt:lpstr>
      <vt:lpstr>Metamorphism along a Fault Zone</vt:lpstr>
      <vt:lpstr>8.6 Metamorphic Zones</vt:lpstr>
      <vt:lpstr>Textural Variations Caused by Regional Metamorphism</vt:lpstr>
      <vt:lpstr>8.6 Metamorphic Zones</vt:lpstr>
      <vt:lpstr>Metamorphic Zones and Index Minerals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Geology, 12e</dc:title>
  <dc:creator>Bill D. Richards</dc:creator>
  <cp:lastModifiedBy>Coumoudha Sundararajan, Integra-PDY, IN</cp:lastModifiedBy>
  <cp:revision>379</cp:revision>
  <cp:lastPrinted>1601-01-01T00:00:00Z</cp:lastPrinted>
  <dcterms:created xsi:type="dcterms:W3CDTF">2000-12-18T00:31:17Z</dcterms:created>
  <dcterms:modified xsi:type="dcterms:W3CDTF">2017-06-30T08:55:10Z</dcterms:modified>
</cp:coreProperties>
</file>