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38"/>
  </p:notesMasterIdLst>
  <p:sldIdLst>
    <p:sldId id="334" r:id="rId2"/>
    <p:sldId id="332" r:id="rId3"/>
    <p:sldId id="333" r:id="rId4"/>
    <p:sldId id="257" r:id="rId5"/>
    <p:sldId id="285" r:id="rId6"/>
    <p:sldId id="260" r:id="rId7"/>
    <p:sldId id="320" r:id="rId8"/>
    <p:sldId id="261" r:id="rId9"/>
    <p:sldId id="262" r:id="rId10"/>
    <p:sldId id="299" r:id="rId11"/>
    <p:sldId id="308" r:id="rId12"/>
    <p:sldId id="263" r:id="rId13"/>
    <p:sldId id="264" r:id="rId14"/>
    <p:sldId id="300" r:id="rId15"/>
    <p:sldId id="311" r:id="rId16"/>
    <p:sldId id="266" r:id="rId17"/>
    <p:sldId id="312" r:id="rId18"/>
    <p:sldId id="267" r:id="rId19"/>
    <p:sldId id="301" r:id="rId20"/>
    <p:sldId id="302" r:id="rId21"/>
    <p:sldId id="313" r:id="rId22"/>
    <p:sldId id="268" r:id="rId23"/>
    <p:sldId id="269" r:id="rId24"/>
    <p:sldId id="303" r:id="rId25"/>
    <p:sldId id="314" r:id="rId26"/>
    <p:sldId id="315" r:id="rId27"/>
    <p:sldId id="270" r:id="rId28"/>
    <p:sldId id="322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1" r:id="rId37"/>
  </p:sldIdLst>
  <p:sldSz cx="9144000" cy="6858000" type="screen4x3"/>
  <p:notesSz cx="6858000" cy="9144000"/>
  <p:custDataLst>
    <p:tags r:id="rId3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ditorial Integra" initials="RRIII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9" autoAdjust="0"/>
    <p:restoredTop sz="93371" autoAdjust="0"/>
  </p:normalViewPr>
  <p:slideViewPr>
    <p:cSldViewPr snapToGrid="0" showGuides="1">
      <p:cViewPr varScale="1">
        <p:scale>
          <a:sx n="105" d="100"/>
          <a:sy n="105" d="100"/>
        </p:scale>
        <p:origin x="-1716" y="-90"/>
      </p:cViewPr>
      <p:guideLst>
        <p:guide orient="horz" pos="288"/>
        <p:guide orient="horz" pos="2162"/>
        <p:guide orient="horz" pos="989"/>
        <p:guide orient="horz" pos="1196"/>
        <p:guide orient="horz" pos="1539"/>
        <p:guide pos="2880"/>
        <p:guide pos="288"/>
        <p:guide pos="532"/>
      </p:guideLst>
    </p:cSldViewPr>
  </p:slideViewPr>
  <p:outlineViewPr>
    <p:cViewPr>
      <p:scale>
        <a:sx n="33" d="100"/>
        <a:sy n="33" d="100"/>
      </p:scale>
      <p:origin x="0" y="124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3DD11FA-54FA-4183-9246-81E774ECE01C}" type="datetimeFigureOut">
              <a:rPr lang="en-US" altLang="en-US"/>
              <a:pPr>
                <a:defRPr/>
              </a:pPr>
              <a:t>6/30/2017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CD5C1D9-D131-4135-89CE-530D8E8813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05854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CA3B1C72-C48B-4523-A333-7591D28AAA9F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/>
              <a:t>29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D2246E20-668D-4C4F-86DC-079D46A0A9F2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/>
              <a:t>30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DBAEE8-F5CF-460C-BFB9-2F5DA2F04ABC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/>
              <a:t>31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43DF831F-59A9-4EC3-BC49-3952E47DFADE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/>
              <a:t>32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CB2200D-630A-43CB-A271-341DEE45C401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/>
              <a:t>33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0096F151-907F-4701-A240-02542491276D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/>
              <a:t>34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0A2D3E1-438B-41F3-B1F4-57F7C566FC48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/>
              <a:t>35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C1AB906B-61E8-4FC2-B8E6-81AE1B61BC50}" type="slidenum">
              <a:rPr lang="en-US" altLang="en-US" smtClean="0">
                <a:latin typeface="Verdana" pitchFamily="34" charset="0"/>
                <a:ea typeface="ＭＳ Ｐゴシック" pitchFamily="34" charset="-128"/>
              </a:rPr>
              <a:pPr/>
              <a:t>36</a:t>
            </a:fld>
            <a:endParaRPr lang="en-US" altLang="en-US" smtClean="0">
              <a:latin typeface="Verdana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 userDrawn="1"/>
        </p:nvSpPr>
        <p:spPr bwMode="auto">
          <a:xfrm>
            <a:off x="457199" y="3168362"/>
            <a:ext cx="4252365" cy="5847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algn="l" rtl="0" fontAlgn="base">
              <a:spcBef>
                <a:spcPct val="20000"/>
              </a:spcBef>
              <a:spcAft>
                <a:spcPct val="0"/>
              </a:spcAft>
              <a:defRPr sz="3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4572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9144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13716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18288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defTabSz="914400" rtl="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IN" sz="3200" b="1" kern="1200" dirty="0" smtClean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Weathering &amp; Soils</a:t>
            </a:r>
            <a:endParaRPr lang="en-US" sz="3200" b="1" kern="120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rgbClr val="000000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 userDrawn="1"/>
        </p:nvSpPr>
        <p:spPr bwMode="auto">
          <a:xfrm>
            <a:off x="503238" y="1104900"/>
            <a:ext cx="8259762" cy="8890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defTabSz="9144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000000"/>
                </a:solidFill>
                <a:latin typeface="ArialMT" charset="0"/>
                <a:ea typeface="+mn-ea"/>
              </a:rPr>
              <a:t>Essentials of Geology</a:t>
            </a:r>
          </a:p>
          <a:p>
            <a:pPr algn="r" defTabSz="914400" eaLnBrk="1" fontAlgn="auto" hangingPunct="1">
              <a:spcBef>
                <a:spcPct val="10000"/>
              </a:spcBef>
              <a:spcAft>
                <a:spcPts val="0"/>
              </a:spcAft>
              <a:defRPr/>
            </a:pPr>
            <a:r>
              <a:rPr lang="en-US" sz="1800" dirty="0" smtClean="0">
                <a:solidFill>
                  <a:srgbClr val="000000"/>
                </a:solidFill>
                <a:ea typeface="+mn-ea"/>
              </a:rPr>
              <a:t>Thirteenth Edition</a:t>
            </a:r>
          </a:p>
        </p:txBody>
      </p:sp>
      <p:pic>
        <p:nvPicPr>
          <p:cNvPr id="11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37113" y="2006805"/>
            <a:ext cx="3879850" cy="438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6"/>
          <p:cNvSpPr txBox="1">
            <a:spLocks noChangeArrowheads="1"/>
          </p:cNvSpPr>
          <p:nvPr userDrawn="1"/>
        </p:nvSpPr>
        <p:spPr bwMode="auto">
          <a:xfrm>
            <a:off x="345174" y="61913"/>
            <a:ext cx="8001000" cy="51911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800" dirty="0" smtClean="0">
                <a:solidFill>
                  <a:srgbClr val="FFFFFF"/>
                </a:solidFill>
                <a:cs typeface="Arial" pitchFamily="34" charset="0"/>
              </a:rPr>
              <a:t>Lecture 6 Outline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457200" y="5183981"/>
            <a:ext cx="3536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Merry Wilson</a:t>
            </a:r>
            <a:endParaRPr lang="en-IN" sz="1800" kern="1200" dirty="0" smtClean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Scottsdale Community College</a:t>
            </a:r>
            <a:endParaRPr lang="en-IN" sz="180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2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126748" cy="57943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377" y="1201795"/>
            <a:ext cx="8229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034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034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005979" cy="6009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2377" y="1201795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377" y="1210421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62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05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30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57162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2377" y="2064395"/>
            <a:ext cx="8229600" cy="439679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569660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811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06997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377" y="1538209"/>
            <a:ext cx="8229600" cy="46900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07721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7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81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540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35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248400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248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14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070224FB-F8F7-41C3-9946-331205092662}" type="datetime1">
              <a:rPr lang="en-US" altLang="en-US"/>
              <a:pPr>
                <a:defRPr/>
              </a:pPr>
              <a:t>6/30/2017</a:t>
            </a:fld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91D202B-D5FE-44F5-991F-B068ACF1D2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9625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9538" y="6043613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8519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18DD36C-0ADF-4382-B8F3-E2E93B09E2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79236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DB54D9D-2252-4FA5-BE6A-F3B0696A22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62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5125" y="1141413"/>
            <a:ext cx="8229600" cy="510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Rectangle 15"/>
          <p:cNvSpPr txBox="1">
            <a:spLocks noChangeArrowheads="1"/>
          </p:cNvSpPr>
          <p:nvPr userDrawn="1"/>
        </p:nvSpPr>
        <p:spPr bwMode="gray">
          <a:xfrm>
            <a:off x="76200" y="6602413"/>
            <a:ext cx="5399088" cy="1793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© 2018 Pearson Education, Inc.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34" r:id="rId3"/>
    <p:sldLayoutId id="2147484043" r:id="rId4"/>
    <p:sldLayoutId id="2147484035" r:id="rId5"/>
    <p:sldLayoutId id="2147484036" r:id="rId6"/>
    <p:sldLayoutId id="2147484044" r:id="rId7"/>
    <p:sldLayoutId id="2147484045" r:id="rId8"/>
    <p:sldLayoutId id="2147484037" r:id="rId9"/>
    <p:sldLayoutId id="2147484038" r:id="rId10"/>
    <p:sldLayoutId id="2147484039" r:id="rId11"/>
    <p:sldLayoutId id="2147484040" r:id="rId12"/>
    <p:sldLayoutId id="2147484046" r:id="rId13"/>
    <p:sldLayoutId id="2147484047" r:id="rId14"/>
    <p:sldLayoutId id="2147484048" r:id="rId15"/>
    <p:sldLayoutId id="2147484049" r:id="rId16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+mj-lt"/>
          <a:ea typeface="Arial" charset="0"/>
          <a:cs typeface="+mj-cs"/>
        </a:defRPr>
      </a:lvl1pPr>
      <a:lvl2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2pPr>
      <a:lvl3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3pPr>
      <a:lvl4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4pPr>
      <a:lvl5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5pPr>
      <a:lvl6pPr marL="4572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goo.gl/RZRD5W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goo.gl/UFWTz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goo.gl/l7QdF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goo.gl/BjltR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goo.gl/MHpjx0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goo.gl/ASed3b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19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87928" cy="353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6.1 </a:t>
            </a:r>
            <a:r>
              <a:rPr lang="en-IN" altLang="en-US" sz="2600" dirty="0">
                <a:latin typeface="+mn-lt"/>
                <a:cs typeface="+mn-cs"/>
              </a:rPr>
              <a:t>Define </a:t>
            </a:r>
            <a:r>
              <a:rPr lang="en-IN" altLang="en-US" sz="2600" i="1" dirty="0">
                <a:latin typeface="+mn-lt"/>
                <a:cs typeface="+mn-cs"/>
              </a:rPr>
              <a:t>weathering</a:t>
            </a:r>
            <a:r>
              <a:rPr lang="en-IN" altLang="en-US" sz="2600" dirty="0">
                <a:latin typeface="+mn-lt"/>
                <a:cs typeface="+mn-cs"/>
              </a:rPr>
              <a:t> and distinguish between the two main categories of weathering.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6.2 </a:t>
            </a:r>
            <a:r>
              <a:rPr lang="en-IN" altLang="en-US" sz="2600" dirty="0">
                <a:latin typeface="+mn-lt"/>
                <a:cs typeface="+mn-cs"/>
              </a:rPr>
              <a:t>List and describe four examples of mechanical weathering.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6.3 </a:t>
            </a:r>
            <a:r>
              <a:rPr lang="en-IN" altLang="en-US" sz="2600" dirty="0">
                <a:latin typeface="+mn-lt"/>
                <a:cs typeface="+mn-cs"/>
              </a:rPr>
              <a:t>Discuss the importance of water and carbonic acid in chemical weathering processes.</a:t>
            </a:r>
            <a:endParaRPr lang="en-US" altLang="en-US" sz="2600" dirty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</a:t>
            </a: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6.4 </a:t>
            </a:r>
            <a:r>
              <a:rPr lang="en-IN" altLang="en-US" sz="2600" dirty="0">
                <a:latin typeface="+mn-lt"/>
                <a:cs typeface="+mn-cs"/>
              </a:rPr>
              <a:t>Summarize the factors that influence the type and rate of rock weathering.</a:t>
            </a:r>
            <a:endParaRPr lang="en-US" altLang="en-US" sz="26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424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 (cont.)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61802" cy="393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6.5 </a:t>
            </a:r>
            <a:r>
              <a:rPr lang="en-IN" altLang="en-US" sz="2600" dirty="0">
                <a:latin typeface="+mn-lt"/>
                <a:cs typeface="+mn-cs"/>
              </a:rPr>
              <a:t>Define </a:t>
            </a:r>
            <a:r>
              <a:rPr lang="en-IN" altLang="en-US" sz="2600" i="1" dirty="0">
                <a:latin typeface="+mn-lt"/>
                <a:cs typeface="+mn-cs"/>
              </a:rPr>
              <a:t>soil</a:t>
            </a:r>
            <a:r>
              <a:rPr lang="en-IN" altLang="en-US" sz="2600" dirty="0">
                <a:latin typeface="+mn-lt"/>
                <a:cs typeface="+mn-cs"/>
              </a:rPr>
              <a:t> and explain why soil is referred to as an </a:t>
            </a:r>
            <a:r>
              <a:rPr lang="en-IN" altLang="en-US" sz="2600" i="1" dirty="0">
                <a:latin typeface="+mn-lt"/>
                <a:cs typeface="+mn-cs"/>
              </a:rPr>
              <a:t>interface</a:t>
            </a:r>
            <a:r>
              <a:rPr lang="en-IN" altLang="en-US" sz="2600" dirty="0" smtClean="0">
                <a:latin typeface="+mn-lt"/>
                <a:cs typeface="+mn-cs"/>
              </a:rPr>
              <a:t>. List </a:t>
            </a:r>
            <a:r>
              <a:rPr lang="en-IN" altLang="en-US" sz="2600" dirty="0">
                <a:latin typeface="+mn-lt"/>
                <a:cs typeface="+mn-cs"/>
              </a:rPr>
              <a:t>and briefly discuss five controls of soil formation.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6.6 </a:t>
            </a:r>
            <a:r>
              <a:rPr lang="en-IN" altLang="en-US" sz="2600" dirty="0">
                <a:latin typeface="+mn-lt"/>
                <a:cs typeface="+mn-cs"/>
              </a:rPr>
              <a:t>Sketch, label, and describe an idealized soil profile</a:t>
            </a:r>
            <a:r>
              <a:rPr lang="en-IN" altLang="en-US" sz="2600" dirty="0" smtClean="0">
                <a:latin typeface="+mn-lt"/>
                <a:cs typeface="+mn-cs"/>
              </a:rPr>
              <a:t>. Explain </a:t>
            </a:r>
            <a:r>
              <a:rPr lang="en-IN" altLang="en-US" sz="2600" dirty="0">
                <a:latin typeface="+mn-lt"/>
                <a:cs typeface="+mn-cs"/>
              </a:rPr>
              <a:t>the need for classifying soils.</a:t>
            </a:r>
            <a:endParaRPr lang="en-US" altLang="en-US" sz="2600" dirty="0">
              <a:latin typeface="+mn-lt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6.7 </a:t>
            </a:r>
            <a:r>
              <a:rPr lang="en-IN" altLang="en-US" sz="2600" dirty="0">
                <a:latin typeface="+mn-lt"/>
                <a:cs typeface="+mn-cs"/>
              </a:rPr>
              <a:t>Explain the detrimental impact of human activities on soil.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6.8 </a:t>
            </a:r>
            <a:r>
              <a:rPr lang="en-IN" altLang="en-US" sz="2600" dirty="0">
                <a:latin typeface="+mn-lt"/>
                <a:cs typeface="+mn-cs"/>
              </a:rPr>
              <a:t>Relate weathering to the formation of certain ore deposits</a:t>
            </a:r>
            <a:r>
              <a:rPr lang="en-IN" altLang="en-US" sz="2600" dirty="0" smtClean="0">
                <a:latin typeface="+mn-lt"/>
                <a:cs typeface="+mn-cs"/>
              </a:rPr>
              <a:t>.</a:t>
            </a:r>
            <a:endParaRPr lang="en-IN" altLang="en-US" sz="26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040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199480"/>
            <a:ext cx="8247062" cy="2666781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Weathering: The physical breakdown and chemical alteration of rock at or near Earth’s surface</a:t>
            </a:r>
          </a:p>
          <a:p>
            <a:pPr lvl="1" eaLnBrk="1" hangingPunct="1"/>
            <a:r>
              <a:rPr lang="en-US" altLang="en-US" dirty="0" smtClean="0"/>
              <a:t>Mechanical weathering: Physical forces that break rock into smaller pieces without changing composition</a:t>
            </a:r>
          </a:p>
          <a:p>
            <a:pPr lvl="1" eaLnBrk="1" hangingPunct="1"/>
            <a:r>
              <a:rPr lang="en-US" altLang="en-US" dirty="0" smtClean="0"/>
              <a:t>Chemical weathering: Chemical transformation into new </a:t>
            </a:r>
            <a:r>
              <a:rPr lang="en-US" altLang="en-US" dirty="0" smtClean="0"/>
              <a:t>compounds</a:t>
            </a:r>
            <a:endParaRPr lang="en-US" altLang="en-US" dirty="0" smtClean="0"/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-9570" y="7938"/>
            <a:ext cx="9128126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6.1</a:t>
            </a:r>
            <a:r>
              <a:rPr lang="en-IN" altLang="en-US" dirty="0" smtClean="0"/>
              <a:t> </a:t>
            </a:r>
            <a:r>
              <a:rPr altLang="en-US" dirty="0" smtClean="0"/>
              <a:t>Weathering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1237262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dirty="0" smtClean="0"/>
              <a:t>Types of mechanical weathering</a:t>
            </a:r>
          </a:p>
          <a:p>
            <a:pPr lvl="1" eaLnBrk="1" hangingPunct="1"/>
            <a:r>
              <a:rPr lang="en-US" altLang="en-US" dirty="0" smtClean="0"/>
              <a:t>Frost wedging: Alternate freezing and thawing of water in fractures and cracks promotes the disintegration of rocks.</a:t>
            </a:r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6.2</a:t>
            </a:r>
            <a:r>
              <a:rPr lang="en-IN" altLang="en-US" dirty="0" smtClean="0"/>
              <a:t> </a:t>
            </a:r>
            <a:r>
              <a:rPr altLang="en-US" dirty="0" smtClean="0"/>
              <a:t>Mechanical Weathering</a:t>
            </a: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7378700" y="2443978"/>
            <a:ext cx="944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12295" name="Picture 7" descr="\\integrafs5\DeLS_Pondy\71_Pearson_US_IRDVD\08. Working_Folder\Copyright Removed Jpegs\Lutgens_EOG_13e\Chapter06\Jpegs_Labeled\EOG_13e_Figure_06_0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241" y="2888213"/>
            <a:ext cx="4407928" cy="342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379413" y="1206456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Mechanical weathering </a:t>
            </a:r>
            <a:r>
              <a:rPr lang="en-IN" altLang="en-US" dirty="0" smtClean="0"/>
              <a:t>(</a:t>
            </a:r>
            <a:r>
              <a:rPr lang="en-IN" altLang="en-US" i="1" dirty="0" smtClean="0"/>
              <a:t>continued</a:t>
            </a:r>
            <a:r>
              <a:rPr lang="en-IN" altLang="en-US" dirty="0" smtClean="0"/>
              <a:t>)</a:t>
            </a:r>
            <a:endParaRPr lang="en-US" altLang="en-US" i="1" dirty="0" smtClean="0"/>
          </a:p>
          <a:p>
            <a:pPr lvl="1" eaLnBrk="1" hangingPunct="1"/>
            <a:r>
              <a:rPr lang="en-US" altLang="en-US" dirty="0" smtClean="0"/>
              <a:t>Sheeting: Exfoliation of igneous and metamorphic rocks at the Earth’s surface </a:t>
            </a:r>
            <a:r>
              <a:rPr lang="en-IN" altLang="en-US" dirty="0" smtClean="0"/>
              <a:t>as a result of</a:t>
            </a:r>
            <a:r>
              <a:rPr lang="en-US" altLang="en-US" dirty="0" smtClean="0"/>
              <a:t> a reduction in confining pressure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</a:rPr>
              <a:t>Salt crystal growth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</a:rPr>
              <a:t>Sea spray or salty groundwater penetrates crevices and pore spaces in rocks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</a:rPr>
              <a:t>As the water evaporates, salt crystals form and enlarge the crevices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Biological activity: Disintegration resulting from plants and </a:t>
            </a:r>
            <a:r>
              <a:rPr lang="en-US" altLang="en-US" dirty="0" smtClean="0"/>
              <a:t>animals</a:t>
            </a:r>
            <a:endParaRPr lang="en-US" altLang="en-US" b="1" dirty="0" smtClean="0"/>
          </a:p>
        </p:txBody>
      </p:sp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6.2</a:t>
            </a:r>
            <a:r>
              <a:rPr lang="en-IN" altLang="en-US" dirty="0" smtClean="0"/>
              <a:t> </a:t>
            </a:r>
            <a:r>
              <a:rPr altLang="en-US" dirty="0" smtClean="0"/>
              <a:t>Mechanical Weathering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8578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Exfoliation of Igneous Rocks</a:t>
            </a: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7888288" y="679450"/>
            <a:ext cx="944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14341" name="Picture 5" descr="\\integrafs5\DeLS_Pondy\71_Pearson_US_IRDVD\08. Working_Folder\Copyright Removed Jpegs\Lutgens_EOG_13e\Chapter06\Jpegs_Labeled\EOG_13e_Figure_06_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1410620"/>
            <a:ext cx="8442325" cy="45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Chemical weathering</a:t>
            </a:r>
          </a:p>
          <a:p>
            <a:pPr lvl="1" eaLnBrk="1" hangingPunct="1"/>
            <a:r>
              <a:rPr lang="en-US" altLang="en-US" dirty="0" smtClean="0"/>
              <a:t>Breaks down rock components and the internal structures of minerals</a:t>
            </a:r>
          </a:p>
          <a:p>
            <a:pPr lvl="1" eaLnBrk="1" hangingPunct="1"/>
            <a:r>
              <a:rPr lang="en-US" altLang="en-US" dirty="0" smtClean="0"/>
              <a:t>Most important agent involved in chemical weathering is water (responsible for transport of ions and molecules involved in chemical processes)</a:t>
            </a:r>
          </a:p>
        </p:txBody>
      </p:sp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6.3</a:t>
            </a:r>
            <a:r>
              <a:rPr lang="en-IN" altLang="en-US" dirty="0" smtClean="0"/>
              <a:t> </a:t>
            </a:r>
            <a:r>
              <a:rPr altLang="en-US" dirty="0" smtClean="0"/>
              <a:t>Chemical Weathering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1349"/>
            <a:ext cx="8229600" cy="510698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Major processes of chemical weathering</a:t>
            </a:r>
          </a:p>
          <a:p>
            <a:pPr lvl="1" eaLnBrk="1" hangingPunct="1"/>
            <a:r>
              <a:rPr lang="en-US" altLang="en-US" dirty="0" smtClean="0"/>
              <a:t>Carbonic Acid</a:t>
            </a:r>
          </a:p>
          <a:p>
            <a:pPr lvl="2" eaLnBrk="1" hangingPunct="1"/>
            <a:r>
              <a:rPr lang="en-US" altLang="en-US" dirty="0" smtClean="0"/>
              <a:t>Carbon dioxide is dissolved in water and creates carbonic acid</a:t>
            </a:r>
          </a:p>
          <a:p>
            <a:pPr lvl="2" eaLnBrk="1" hangingPunct="1"/>
            <a:r>
              <a:rPr lang="en-US" altLang="en-US" dirty="0" smtClean="0"/>
              <a:t>Dissolves carbonate rocks</a:t>
            </a:r>
          </a:p>
          <a:p>
            <a:pPr lvl="1" eaLnBrk="1" hangingPunct="1"/>
            <a:r>
              <a:rPr lang="en-US" altLang="en-US" dirty="0" smtClean="0"/>
              <a:t>Oxidation</a:t>
            </a:r>
          </a:p>
          <a:p>
            <a:pPr lvl="2" eaLnBrk="1" hangingPunct="1"/>
            <a:r>
              <a:rPr lang="en-US" altLang="en-US" dirty="0" smtClean="0"/>
              <a:t>Any chemical reaction in which a compound or radical loses electrons</a:t>
            </a:r>
          </a:p>
          <a:p>
            <a:pPr lvl="2" eaLnBrk="1" hangingPunct="1"/>
            <a:r>
              <a:rPr lang="en-US" altLang="en-US" dirty="0" smtClean="0"/>
              <a:t>Important in decomposing ferromagnesian </a:t>
            </a:r>
            <a:r>
              <a:rPr lang="en-US" altLang="en-US" dirty="0" smtClean="0"/>
              <a:t>minerals</a:t>
            </a:r>
            <a:endParaRPr lang="en-US" altLang="en-US" sz="2800" dirty="0" smtClean="0"/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6.3</a:t>
            </a:r>
            <a:r>
              <a:rPr lang="en-IN" altLang="en-US" dirty="0" smtClean="0"/>
              <a:t> </a:t>
            </a:r>
            <a:r>
              <a:rPr altLang="en-US" dirty="0" smtClean="0"/>
              <a:t>Chemical Weathering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379413" y="1206456"/>
            <a:ext cx="8229600" cy="4114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Major processes of chemical weathering</a:t>
            </a:r>
          </a:p>
          <a:p>
            <a:pPr lvl="1" eaLnBrk="1" hangingPunct="1"/>
            <a:r>
              <a:rPr lang="en-US" altLang="en-US" dirty="0" smtClean="0"/>
              <a:t>How granite weathers</a:t>
            </a:r>
          </a:p>
          <a:p>
            <a:pPr lvl="2" eaLnBrk="1" hangingPunct="1"/>
            <a:r>
              <a:rPr lang="en-US" altLang="en-US" dirty="0" smtClean="0"/>
              <a:t>Chemically attacked by carbonic acid</a:t>
            </a:r>
          </a:p>
          <a:p>
            <a:pPr lvl="2" eaLnBrk="1" hangingPunct="1"/>
            <a:r>
              <a:rPr lang="en-US" altLang="en-US" dirty="0" smtClean="0"/>
              <a:t>Hydrogen ion attacks and replaces other positive ions, like potassium</a:t>
            </a:r>
          </a:p>
          <a:p>
            <a:pPr lvl="2" eaLnBrk="1" hangingPunct="1"/>
            <a:r>
              <a:rPr lang="en-US" altLang="en-US" dirty="0" smtClean="0"/>
              <a:t>Most abundant product is clay minerals</a:t>
            </a:r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6.3</a:t>
            </a:r>
            <a:r>
              <a:rPr lang="en-IN" altLang="en-US" dirty="0" smtClean="0"/>
              <a:t> </a:t>
            </a:r>
            <a:r>
              <a:rPr altLang="en-US" dirty="0" smtClean="0"/>
              <a:t>Chemical Weathering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8578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Products of Chemical Weathering</a:t>
            </a:r>
          </a:p>
        </p:txBody>
      </p:sp>
      <p:pic>
        <p:nvPicPr>
          <p:cNvPr id="18436" name="Picture 4" descr="\\integrafs5\DeLS_Pondy\71_Pearson_US_IRDVD\08. Working_Folder\Copyright Removed Jpegs\Lutgens_EOG_13e\Chapter06\Jpegs_Labeled\EOG_13e_Table_06_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2343150"/>
            <a:ext cx="8332787" cy="217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049792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dirty="0" smtClean="0"/>
              <a:t>Alterations caused by chemical weathering</a:t>
            </a:r>
          </a:p>
          <a:p>
            <a:pPr lvl="1" eaLnBrk="1" hangingPunct="1"/>
            <a:r>
              <a:rPr lang="en-US" altLang="en-US" dirty="0" smtClean="0"/>
              <a:t>Decomposition of unstable minerals</a:t>
            </a:r>
          </a:p>
          <a:p>
            <a:pPr lvl="1" eaLnBrk="1" hangingPunct="1"/>
            <a:r>
              <a:rPr lang="en-US" altLang="en-US" dirty="0" smtClean="0"/>
              <a:t>Generation or retention of materials that are stable</a:t>
            </a:r>
          </a:p>
          <a:p>
            <a:pPr lvl="1" eaLnBrk="1" hangingPunct="1"/>
            <a:r>
              <a:rPr lang="en-US" altLang="en-US" dirty="0" smtClean="0"/>
              <a:t>Physical changes such as the rounding of corners or edges (spheroidal weathering)</a:t>
            </a:r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6.3</a:t>
            </a:r>
            <a:r>
              <a:rPr lang="en-IN" altLang="en-US" dirty="0" smtClean="0"/>
              <a:t> </a:t>
            </a:r>
            <a:r>
              <a:rPr altLang="en-US" dirty="0" smtClean="0"/>
              <a:t>Chemical Weathering</a:t>
            </a: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7483475" y="3138316"/>
            <a:ext cx="946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19462" name="Picture 6" descr="\\integrafs5\DeLS_Pondy\71_Pearson_US_IRDVD\08. Working_Folder\Copyright Removed Jpegs\Lutgens_EOG_13e\Chapter06\Jpegs_Labeled\EOG_13e_Figure_06_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113" y="3600318"/>
            <a:ext cx="6255775" cy="289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381771" y="1244256"/>
            <a:ext cx="8413887" cy="2187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Factors affecting weathering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Rock characteristics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Rocks containing calcite (marble and limestone) readily dissolve in weakly acidic solutions.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Silicate minerals weather in the same order as their order of crystallization</a:t>
            </a:r>
            <a:r>
              <a:rPr lang="en-US" altLang="en-US" dirty="0" smtClean="0"/>
              <a:t>.</a:t>
            </a:r>
            <a:endParaRPr lang="en-US" altLang="en-US" dirty="0" smtClean="0"/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6.4</a:t>
            </a:r>
            <a:r>
              <a:rPr lang="en-IN" altLang="en-US" dirty="0" smtClean="0"/>
              <a:t> </a:t>
            </a:r>
            <a:r>
              <a:rPr altLang="en-US" dirty="0" smtClean="0"/>
              <a:t>Rates of Weathering</a:t>
            </a: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7510463" y="3243263"/>
            <a:ext cx="946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20487" name="Picture 7" descr="\\integrafs5\DeLS_Pondy\71_Pearson_US_IRDVD\08. Working_Folder\Copyright Removed Jpegs\Lutgens_EOG_13e\Chapter06\Jpegs_Labeled\EOG_13e_Figure_06_1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377" y="3604306"/>
            <a:ext cx="3791327" cy="2793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3683815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Others factors affecting weathering</a:t>
            </a:r>
          </a:p>
          <a:p>
            <a:pPr lvl="1" eaLnBrk="1" hangingPunct="1"/>
            <a:r>
              <a:rPr lang="en-US" altLang="en-US" dirty="0" smtClean="0"/>
              <a:t>Climate</a:t>
            </a:r>
          </a:p>
          <a:p>
            <a:pPr lvl="2" eaLnBrk="1" hangingPunct="1"/>
            <a:r>
              <a:rPr lang="en-US" altLang="en-US" dirty="0" smtClean="0"/>
              <a:t>Temperature and moisture are the most crucial factors.</a:t>
            </a:r>
          </a:p>
          <a:p>
            <a:pPr lvl="2" eaLnBrk="1" hangingPunct="1"/>
            <a:r>
              <a:rPr lang="en-US" altLang="en-US" dirty="0" smtClean="0"/>
              <a:t>Chemical weathering is most effective in areas of warm, moist climates.</a:t>
            </a:r>
          </a:p>
          <a:p>
            <a:pPr lvl="1" eaLnBrk="1" hangingPunct="1"/>
            <a:r>
              <a:rPr lang="en-US" altLang="en-US" dirty="0" smtClean="0"/>
              <a:t>Differential weathering</a:t>
            </a:r>
          </a:p>
          <a:p>
            <a:pPr lvl="2" eaLnBrk="1" hangingPunct="1"/>
            <a:r>
              <a:rPr lang="en-US" altLang="en-US" dirty="0" smtClean="0"/>
              <a:t>Masses of rock do not weather uniformly because of regional and local factors.</a:t>
            </a:r>
          </a:p>
          <a:p>
            <a:pPr lvl="2" eaLnBrk="1" hangingPunct="1"/>
            <a:r>
              <a:rPr lang="en-US" altLang="en-US" dirty="0" smtClean="0"/>
              <a:t>Results in many unusual and spectacular rock formations and landforms</a:t>
            </a:r>
            <a:r>
              <a:rPr lang="en-US" altLang="en-US" dirty="0" smtClean="0"/>
              <a:t>.</a:t>
            </a:r>
            <a:endParaRPr lang="en-US" altLang="en-US" dirty="0" smtClean="0"/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6.4</a:t>
            </a:r>
            <a:r>
              <a:rPr lang="en-IN" altLang="en-US" dirty="0" smtClean="0"/>
              <a:t> </a:t>
            </a:r>
            <a:r>
              <a:rPr altLang="en-US" dirty="0" smtClean="0"/>
              <a:t>Rates of Weathering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Differential Weathering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7089775" y="681038"/>
            <a:ext cx="1878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Mobile Field Trip</a:t>
            </a:r>
            <a:endParaRPr lang="en-US" altLang="en-US" sz="1800" dirty="0"/>
          </a:p>
        </p:txBody>
      </p:sp>
      <p:pic>
        <p:nvPicPr>
          <p:cNvPr id="22533" name="Picture 5" descr="\\integrafs5\DeLS_Pondy\71_Pearson_US_IRDVD\08. Working_Folder\Copyright Removed Jpegs\Lutgens_EOG_13e\Chapter06\Jpegs_Labeled\EOG_13e_Figure_06_1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963" y="1405157"/>
            <a:ext cx="6796075" cy="460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373063" y="1408113"/>
            <a:ext cx="8229600" cy="1857601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Soil is a combination of mineral and organic matter, water, and air.</a:t>
            </a:r>
          </a:p>
          <a:p>
            <a:pPr lvl="1" eaLnBrk="1" hangingPunct="1"/>
            <a:r>
              <a:rPr lang="en-US" altLang="en-US" dirty="0" smtClean="0"/>
              <a:t>That portion of the regolith (rock and mineral fragments produced by weathering) that supports the growth of plants</a:t>
            </a:r>
            <a:r>
              <a:rPr lang="en-US" altLang="en-US" dirty="0" smtClean="0"/>
              <a:t>.</a:t>
            </a:r>
            <a:endParaRPr lang="en-US" altLang="en-US" dirty="0" smtClean="0"/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6.5</a:t>
            </a:r>
            <a:r>
              <a:rPr lang="en-IN" altLang="en-US" dirty="0" smtClean="0"/>
              <a:t> </a:t>
            </a:r>
            <a:r>
              <a:rPr altLang="en-US" dirty="0" smtClean="0"/>
              <a:t>Soil:</a:t>
            </a:r>
            <a:r>
              <a:rPr lang="en-IN" altLang="en-US" dirty="0" smtClean="0"/>
              <a:t> </a:t>
            </a:r>
            <a:r>
              <a:rPr altLang="en-US" dirty="0" smtClean="0"/>
              <a:t>An Indispensable Resource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1" descr="EOG_12e_Figure_06_14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572" y="1419552"/>
            <a:ext cx="5951682" cy="4886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-17463" y="0"/>
            <a:ext cx="9144001" cy="1077913"/>
          </a:xfrm>
        </p:spPr>
        <p:txBody>
          <a:bodyPr/>
          <a:lstStyle/>
          <a:p>
            <a:pPr>
              <a:defRPr/>
            </a:pPr>
            <a:r>
              <a:rPr altLang="en-US" smtClean="0"/>
              <a:t>Typical Components in a Soil That Yield Good Plant Growth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072729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Factors controlling soil formation</a:t>
            </a:r>
          </a:p>
          <a:p>
            <a:pPr lvl="1" eaLnBrk="1" hangingPunct="1"/>
            <a:r>
              <a:rPr lang="en-US" altLang="en-US" dirty="0" smtClean="0"/>
              <a:t>Parent material</a:t>
            </a:r>
          </a:p>
          <a:p>
            <a:pPr lvl="2" eaLnBrk="1" hangingPunct="1"/>
            <a:r>
              <a:rPr lang="en-US" altLang="en-US" dirty="0" smtClean="0"/>
              <a:t>Residual soil: Parent material is the underlying bedrock</a:t>
            </a:r>
          </a:p>
          <a:p>
            <a:pPr lvl="2" eaLnBrk="1" hangingPunct="1"/>
            <a:r>
              <a:rPr lang="en-US" altLang="en-US" dirty="0" smtClean="0"/>
              <a:t>Transported soil: Forms in place on parent material that has been carried from elsewhere and deposited</a:t>
            </a:r>
          </a:p>
        </p:txBody>
      </p:sp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6.5</a:t>
            </a:r>
            <a:r>
              <a:rPr lang="en-IN" altLang="en-US" dirty="0" smtClean="0"/>
              <a:t> </a:t>
            </a:r>
            <a:r>
              <a:rPr altLang="en-US" dirty="0" smtClean="0"/>
              <a:t>Soil:</a:t>
            </a:r>
            <a:r>
              <a:rPr lang="en-IN" altLang="en-US" dirty="0" smtClean="0"/>
              <a:t> </a:t>
            </a:r>
            <a:r>
              <a:rPr altLang="en-US" dirty="0" smtClean="0"/>
              <a:t>An Indispensable Resource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46572"/>
            <a:ext cx="8229600" cy="295061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Factors controlling soil formation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Time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Important in all geologic processes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Amount of time for soil formation varies for different soils depending on geologic and climatic conditions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Climate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Most influential control of soil formation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Key factors are temperature and precipitation</a:t>
            </a:r>
          </a:p>
        </p:txBody>
      </p:sp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6.5</a:t>
            </a:r>
            <a:r>
              <a:rPr lang="en-IN" altLang="en-US" dirty="0" smtClean="0"/>
              <a:t> </a:t>
            </a:r>
            <a:r>
              <a:rPr altLang="en-US" dirty="0" smtClean="0"/>
              <a:t>Soil:</a:t>
            </a:r>
            <a:r>
              <a:rPr lang="en-IN" altLang="en-US" dirty="0" smtClean="0"/>
              <a:t> </a:t>
            </a:r>
            <a:r>
              <a:rPr altLang="en-US" dirty="0" smtClean="0"/>
              <a:t>An Indispensable Resource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051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762228" cy="318742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Factors controlling soil formation</a:t>
            </a:r>
          </a:p>
          <a:p>
            <a:pPr lvl="1" eaLnBrk="1" hangingPunct="1"/>
            <a:r>
              <a:rPr lang="en-US" altLang="en-US" dirty="0" smtClean="0"/>
              <a:t>Plants and animals</a:t>
            </a:r>
          </a:p>
          <a:p>
            <a:pPr lvl="2" eaLnBrk="1" hangingPunct="1"/>
            <a:r>
              <a:rPr lang="en-US" altLang="en-US" dirty="0" smtClean="0"/>
              <a:t>Organisms influence the soil’s physical and chemical properties</a:t>
            </a:r>
          </a:p>
          <a:p>
            <a:pPr lvl="2" eaLnBrk="1" hangingPunct="1"/>
            <a:r>
              <a:rPr lang="en-US" altLang="en-US" dirty="0" smtClean="0"/>
              <a:t>Also furnish organic matter to the soil</a:t>
            </a:r>
          </a:p>
          <a:p>
            <a:pPr lvl="1" eaLnBrk="1" hangingPunct="1"/>
            <a:r>
              <a:rPr lang="en-US" altLang="en-US" dirty="0" smtClean="0"/>
              <a:t>Topography</a:t>
            </a:r>
          </a:p>
          <a:p>
            <a:pPr lvl="2" eaLnBrk="1" hangingPunct="1"/>
            <a:r>
              <a:rPr lang="en-US" altLang="en-US" dirty="0" smtClean="0"/>
              <a:t>Steep slopes often have poorly developed soils</a:t>
            </a:r>
          </a:p>
          <a:p>
            <a:pPr lvl="2" eaLnBrk="1" hangingPunct="1"/>
            <a:r>
              <a:rPr lang="en-US" altLang="en-US" dirty="0" smtClean="0"/>
              <a:t>Optimum terrain is a flat-to-undulating upland surface</a:t>
            </a:r>
          </a:p>
        </p:txBody>
      </p:sp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6.5</a:t>
            </a:r>
            <a:r>
              <a:rPr lang="en-IN" altLang="en-US" dirty="0" smtClean="0"/>
              <a:t> </a:t>
            </a:r>
            <a:r>
              <a:rPr altLang="en-US" dirty="0" smtClean="0"/>
              <a:t>Soil:</a:t>
            </a:r>
            <a:r>
              <a:rPr lang="en-IN" altLang="en-US" dirty="0" smtClean="0"/>
              <a:t> </a:t>
            </a:r>
            <a:r>
              <a:rPr altLang="en-US" dirty="0" smtClean="0"/>
              <a:t>An Indispensable Resource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Soil Development</a:t>
            </a:r>
          </a:p>
        </p:txBody>
      </p:sp>
      <p:pic>
        <p:nvPicPr>
          <p:cNvPr id="28676" name="Picture 4" descr="\\integrafs5\DeLS_Pondy\71_Pearson_US_IRDVD\08. Working_Folder\Copyright Removed Jpegs\Lutgens_EOG_13e\Chapter06\Jpegs_Labeled\EOG_13e_Figure_06_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904386"/>
            <a:ext cx="7181850" cy="543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91"/>
            <a:ext cx="8229600" cy="202909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soil profile</a:t>
            </a:r>
          </a:p>
          <a:p>
            <a:pPr lvl="1" eaLnBrk="1" hangingPunct="1"/>
            <a:r>
              <a:rPr lang="en-US" altLang="en-US" dirty="0" smtClean="0"/>
              <a:t>Soil forming processes operate from the surface downward.</a:t>
            </a:r>
          </a:p>
          <a:p>
            <a:pPr lvl="1" eaLnBrk="1" hangingPunct="1"/>
            <a:r>
              <a:rPr lang="en-US" altLang="en-US" dirty="0" smtClean="0"/>
              <a:t>Vertical differences are called horizons</a:t>
            </a:r>
            <a:r>
              <a:rPr lang="en-IN" altLang="en-US" dirty="0" smtClean="0"/>
              <a:t>, which are zones</a:t>
            </a:r>
            <a:r>
              <a:rPr lang="en-US" altLang="en-US" dirty="0" smtClean="0"/>
              <a:t> or layers of soil</a:t>
            </a:r>
            <a:r>
              <a:rPr lang="en-US" altLang="en-US" dirty="0" smtClean="0"/>
              <a:t>.</a:t>
            </a:r>
            <a:endParaRPr lang="en-US" altLang="en-US" sz="2800" dirty="0" smtClean="0"/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6.6</a:t>
            </a:r>
            <a:r>
              <a:rPr lang="en-IN" altLang="en-US" dirty="0" smtClean="0"/>
              <a:t> </a:t>
            </a:r>
            <a:r>
              <a:rPr altLang="en-US" dirty="0" smtClean="0"/>
              <a:t>Describing &amp; Classifying Soils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3074215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soil profile</a:t>
            </a:r>
          </a:p>
          <a:p>
            <a:pPr lvl="1" eaLnBrk="1" hangingPunct="1"/>
            <a:r>
              <a:rPr lang="en-US" altLang="en-US" i="1" dirty="0" smtClean="0"/>
              <a:t>O</a:t>
            </a:r>
            <a:r>
              <a:rPr lang="en-US" altLang="en-US" dirty="0" smtClean="0"/>
              <a:t> horizon: Organic matter</a:t>
            </a:r>
          </a:p>
          <a:p>
            <a:pPr lvl="1" eaLnBrk="1" hangingPunct="1"/>
            <a:r>
              <a:rPr lang="en-US" altLang="en-US" i="1" dirty="0" smtClean="0"/>
              <a:t>A</a:t>
            </a:r>
            <a:r>
              <a:rPr lang="en-US" altLang="en-US" dirty="0" smtClean="0"/>
              <a:t> horizon: Organic and mineral matter</a:t>
            </a:r>
          </a:p>
          <a:p>
            <a:pPr lvl="2" eaLnBrk="1" hangingPunct="1"/>
            <a:r>
              <a:rPr lang="en-US" altLang="en-US" dirty="0" smtClean="0"/>
              <a:t>High biological activity</a:t>
            </a:r>
          </a:p>
          <a:p>
            <a:pPr lvl="2" eaLnBrk="1" hangingPunct="1"/>
            <a:r>
              <a:rPr lang="en-US" altLang="en-US" dirty="0" smtClean="0"/>
              <a:t>Together the </a:t>
            </a:r>
            <a:r>
              <a:rPr lang="en-US" altLang="en-US" i="1" dirty="0" smtClean="0"/>
              <a:t>O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 horizons make up the topsoil</a:t>
            </a:r>
          </a:p>
          <a:p>
            <a:pPr lvl="1" eaLnBrk="1" hangingPunct="1"/>
            <a:r>
              <a:rPr lang="en-US" altLang="en-US" i="1" dirty="0" smtClean="0"/>
              <a:t>E</a:t>
            </a:r>
            <a:r>
              <a:rPr lang="en-US" altLang="en-US" dirty="0" smtClean="0"/>
              <a:t> horizon: Little organic matter</a:t>
            </a:r>
          </a:p>
          <a:p>
            <a:pPr lvl="2" eaLnBrk="1" hangingPunct="1"/>
            <a:r>
              <a:rPr lang="en-US" altLang="en-US" dirty="0" smtClean="0"/>
              <a:t>Zone of eluviation and leaching</a:t>
            </a:r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6.6</a:t>
            </a:r>
            <a:r>
              <a:rPr lang="en-IN" altLang="en-US" dirty="0" smtClean="0"/>
              <a:t> </a:t>
            </a:r>
            <a:r>
              <a:rPr altLang="en-US" dirty="0" smtClean="0"/>
              <a:t>Describing &amp; Classifying Soils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7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464615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soil profile</a:t>
            </a:r>
          </a:p>
          <a:p>
            <a:pPr lvl="1" eaLnBrk="1" hangingPunct="1"/>
            <a:r>
              <a:rPr lang="en-US" altLang="en-US" i="1" dirty="0" smtClean="0"/>
              <a:t>B</a:t>
            </a:r>
            <a:r>
              <a:rPr lang="en-US" altLang="en-US" dirty="0" smtClean="0"/>
              <a:t> horizon: Zone of accumulation</a:t>
            </a:r>
          </a:p>
          <a:p>
            <a:pPr lvl="1" eaLnBrk="1" hangingPunct="1"/>
            <a:r>
              <a:rPr lang="en-US" altLang="en-US" i="1" dirty="0" smtClean="0"/>
              <a:t>C</a:t>
            </a:r>
            <a:r>
              <a:rPr lang="en-US" altLang="en-US" dirty="0" smtClean="0"/>
              <a:t> horizon: Partially altered parent material</a:t>
            </a:r>
          </a:p>
          <a:p>
            <a:pPr eaLnBrk="1" hangingPunct="1"/>
            <a:r>
              <a:rPr lang="en-US" altLang="en-US" dirty="0" smtClean="0"/>
              <a:t>The </a:t>
            </a:r>
            <a:r>
              <a:rPr lang="en-US" altLang="en-US" i="1" dirty="0" smtClean="0"/>
              <a:t>O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E</a:t>
            </a:r>
            <a:r>
              <a:rPr lang="en-US" altLang="en-US" dirty="0" smtClean="0"/>
              <a:t>, and </a:t>
            </a:r>
            <a:r>
              <a:rPr lang="en-US" altLang="en-US" i="1" dirty="0" smtClean="0"/>
              <a:t>B</a:t>
            </a:r>
            <a:r>
              <a:rPr lang="en-US" altLang="en-US" dirty="0" smtClean="0"/>
              <a:t> horizons together are called the </a:t>
            </a:r>
            <a:r>
              <a:rPr lang="en-US" altLang="en-US" dirty="0" err="1" smtClean="0"/>
              <a:t>solum</a:t>
            </a:r>
            <a:r>
              <a:rPr lang="en-US" altLang="en-US" dirty="0" smtClean="0"/>
              <a:t>, or “true soil.”</a:t>
            </a:r>
          </a:p>
        </p:txBody>
      </p:sp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6.6</a:t>
            </a:r>
            <a:r>
              <a:rPr lang="en-IN" altLang="en-US" dirty="0" smtClean="0"/>
              <a:t> </a:t>
            </a:r>
            <a:r>
              <a:rPr altLang="en-US" dirty="0" smtClean="0"/>
              <a:t>Describing &amp; Classifying Soils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8578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An Idealized Soil Profile</a:t>
            </a:r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7815263" y="629294"/>
            <a:ext cx="946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hlinkClick r:id="rId2"/>
              </a:rPr>
              <a:t>Tutorial</a:t>
            </a:r>
            <a:endParaRPr lang="en-US" altLang="en-US" sz="1800" dirty="0"/>
          </a:p>
        </p:txBody>
      </p:sp>
      <p:pic>
        <p:nvPicPr>
          <p:cNvPr id="32773" name="Picture 5" descr="\\integrafs5\DeLS_Pondy\71_Pearson_US_IRDVD\08. Working_Folder\Copyright Removed Jpegs\Lutgens_EOG_13e\Chapter06\Jpegs_Labeled\EOG_13e_Figure_06_1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568" y="839714"/>
            <a:ext cx="3584864" cy="562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1" descr="EOG_12e_Figure_06_18b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935" b="15784"/>
          <a:stretch>
            <a:fillRect/>
          </a:stretch>
        </p:blipFill>
        <p:spPr bwMode="auto">
          <a:xfrm>
            <a:off x="3219450" y="925513"/>
            <a:ext cx="2701925" cy="552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8" name="Title 2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85787"/>
          </a:xfrm>
        </p:spPr>
        <p:txBody>
          <a:bodyPr/>
          <a:lstStyle/>
          <a:p>
            <a:pPr>
              <a:defRPr/>
            </a:pPr>
            <a:r>
              <a:rPr altLang="en-US" smtClean="0"/>
              <a:t>A Soil Profile Showing Different Horizons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74548" cy="3013255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Soil types</a:t>
            </a:r>
          </a:p>
          <a:p>
            <a:pPr lvl="1" eaLnBrk="1" hangingPunct="1"/>
            <a:r>
              <a:rPr lang="en-US" altLang="en-US" dirty="0" smtClean="0"/>
              <a:t>Groups consist of items that have certain important characteristics in common</a:t>
            </a:r>
          </a:p>
          <a:p>
            <a:pPr eaLnBrk="1" hangingPunct="1"/>
            <a:r>
              <a:rPr lang="en-US" altLang="en-US" dirty="0" smtClean="0"/>
              <a:t>Soils are classified using a system known as the soil taxonomy.</a:t>
            </a:r>
          </a:p>
          <a:p>
            <a:pPr lvl="1" eaLnBrk="1" hangingPunct="1"/>
            <a:r>
              <a:rPr lang="en-US" altLang="en-US" dirty="0" smtClean="0"/>
              <a:t>Based on physical and chemical properties of the soil </a:t>
            </a:r>
            <a:r>
              <a:rPr lang="en-US" altLang="en-US" dirty="0" smtClean="0"/>
              <a:t>profile</a:t>
            </a:r>
            <a:endParaRPr lang="en-US" altLang="en-US" sz="2800" dirty="0" smtClean="0"/>
          </a:p>
        </p:txBody>
      </p:sp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6.6</a:t>
            </a:r>
            <a:r>
              <a:rPr lang="en-IN" altLang="en-US" dirty="0" smtClean="0"/>
              <a:t> </a:t>
            </a:r>
            <a:r>
              <a:rPr altLang="en-US" dirty="0" smtClean="0"/>
              <a:t>Describing &amp; Classifying Soils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02047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Soil taxonomy</a:t>
            </a:r>
          </a:p>
          <a:p>
            <a:pPr lvl="1" eaLnBrk="1" hangingPunct="1"/>
            <a:r>
              <a:rPr lang="en-US" altLang="en-US" dirty="0" smtClean="0"/>
              <a:t>Includes six hierarchical categories of classification, ranging from order (broadest) to series (most specific)</a:t>
            </a:r>
          </a:p>
          <a:p>
            <a:pPr lvl="1" eaLnBrk="1" hangingPunct="1"/>
            <a:r>
              <a:rPr lang="en-US" altLang="en-US" dirty="0" smtClean="0"/>
              <a:t>Especially useful for agricultural and related land-use </a:t>
            </a:r>
            <a:r>
              <a:rPr lang="en-US" altLang="en-US" dirty="0" smtClean="0"/>
              <a:t>purposes</a:t>
            </a:r>
            <a:endParaRPr lang="en-US" altLang="en-US" sz="2800" dirty="0" smtClean="0"/>
          </a:p>
        </p:txBody>
      </p:sp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6.6</a:t>
            </a:r>
            <a:r>
              <a:rPr lang="en-IN" altLang="en-US" dirty="0" smtClean="0"/>
              <a:t> </a:t>
            </a:r>
            <a:r>
              <a:rPr altLang="en-US" dirty="0" smtClean="0"/>
              <a:t>Describing &amp; Classifying Soils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6.7</a:t>
            </a:r>
            <a:r>
              <a:rPr lang="en-IN" altLang="en-US" dirty="0" smtClean="0"/>
              <a:t> </a:t>
            </a:r>
            <a:r>
              <a:rPr altLang="en-US" dirty="0" smtClean="0"/>
              <a:t>The Impact of Human Activities on Soil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3309347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The agricultural productivity of soils can be improved through fertilization and irrigation.</a:t>
            </a:r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Soils can be damaged or destroyed by careless activities.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Soils are crucial for providing food, fiber, and other basic materials.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Soils are one of the most abused resources.</a:t>
            </a:r>
            <a:endParaRPr lang="en-US" alt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Clearing the tropical </a:t>
            </a:r>
            <a:r>
              <a:rPr lang="en-US" altLang="en-US" dirty="0" smtClean="0"/>
              <a:t>rain forest</a:t>
            </a:r>
            <a:r>
              <a:rPr lang="en-US" altLang="en-US" dirty="0" smtClean="0">
                <a:cs typeface="Times New Roman" pitchFamily="18" charset="0"/>
              </a:rPr>
              <a:t>: A Case Study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Tropical forests are cleared for logging and agricultural use.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Soils in tropical forests are poor in nutrients and unsuitable for agriculture.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Most of the nutrients in tropical rain forests are found in the trees.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Clearing tropical rain forests also promotes soil erosion.</a:t>
            </a:r>
            <a:endParaRPr lang="en-US" altLang="en-US" dirty="0" smtClean="0">
              <a:ea typeface="ＭＳ Ｐゴシック" pitchFamily="34" charset="-128"/>
            </a:endParaRPr>
          </a:p>
        </p:txBody>
      </p:sp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-17252" y="9053"/>
            <a:ext cx="9144000" cy="1077218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6.7</a:t>
            </a:r>
            <a:r>
              <a:rPr lang="en-IN" altLang="en-US" dirty="0" smtClean="0"/>
              <a:t> </a:t>
            </a:r>
            <a:r>
              <a:rPr altLang="en-US" dirty="0" smtClean="0"/>
              <a:t>The Impact of Human Activities on Soil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Tropical Deforestation</a:t>
            </a:r>
          </a:p>
        </p:txBody>
      </p:sp>
      <p:pic>
        <p:nvPicPr>
          <p:cNvPr id="38916" name="Picture 4" descr="\\integrafs5\DeLS_Pondy\71_Pearson_US_IRDVD\08. Working_Folder\Copyright Removed Jpegs\Lutgens_EOG_13e\Chapter06\Jpegs_Labeled\EOG_13e_Figure_06_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1504721"/>
            <a:ext cx="7626350" cy="463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7938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6.7</a:t>
            </a:r>
            <a:r>
              <a:rPr lang="en-IN" altLang="en-US" dirty="0" smtClean="0"/>
              <a:t> </a:t>
            </a:r>
            <a:r>
              <a:rPr altLang="en-US" dirty="0" smtClean="0"/>
              <a:t>The Impact of Human Activities on Soil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421072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Soil erosion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Soil erosion is a natural process in the rock cycle.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Erosion rates are dependent on climate, slope, and type of vegetation.</a:t>
            </a:r>
          </a:p>
          <a:p>
            <a:pPr lvl="2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Human activities such as deforestation and farming practices can enhance soil erosion.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Examples of Soil Conservation </a:t>
            </a:r>
          </a:p>
        </p:txBody>
      </p:sp>
      <p:pic>
        <p:nvPicPr>
          <p:cNvPr id="4096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71713"/>
            <a:ext cx="4386263" cy="289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975" y="2259013"/>
            <a:ext cx="3502025" cy="288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6.8</a:t>
            </a:r>
            <a:r>
              <a:rPr lang="en-IN" altLang="en-US" dirty="0" smtClean="0"/>
              <a:t> </a:t>
            </a:r>
            <a:r>
              <a:rPr altLang="en-US" dirty="0" smtClean="0"/>
              <a:t>Weathering &amp; Ore Deposits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961004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Weathering creates deposits by concentrating metals into economically valuable concentrations (secondary enrichment)</a:t>
            </a:r>
            <a:r>
              <a:rPr lang="en-US" altLang="en-US" dirty="0"/>
              <a:t>.</a:t>
            </a:r>
            <a:endParaRPr lang="en-US" altLang="en-US" dirty="0" smtClean="0"/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Bauxite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Principal ore of aluminum</a:t>
            </a:r>
            <a:r>
              <a:rPr lang="en-US" altLang="en-US" dirty="0" smtClean="0"/>
              <a:t> 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Forms in rainy tropical climates from chemical weathering and the removal of undesirable elements by </a:t>
            </a:r>
            <a:r>
              <a:rPr lang="en-US" altLang="en-US" dirty="0" smtClean="0">
                <a:cs typeface="Times New Roman" pitchFamily="18" charset="0"/>
              </a:rPr>
              <a:t>leaching</a:t>
            </a:r>
            <a:endParaRPr lang="en-US" alt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6350"/>
            <a:ext cx="8440738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Bauxite</a:t>
            </a:r>
          </a:p>
        </p:txBody>
      </p:sp>
      <p:pic>
        <p:nvPicPr>
          <p:cNvPr id="1026" name="Picture 2" descr="\\integrafs5\DeLS_Pondy\71_Pearson_US_IRDVD\08. Working_Folder\Copyright Removed Jpegs\Lutgens_EOG_13e\Chapter06\Jpegs_Labeled\EOG_13e_Figure_06_2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334598"/>
            <a:ext cx="57912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0402"/>
            <a:ext cx="8229600" cy="2221773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Other deposits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Weathering processes concentrate metals that are deposited through low-grade primary ore.</a:t>
            </a:r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Examples: Copper and Silver</a:t>
            </a:r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Typically occurs in deposits containing pyrite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7938"/>
            <a:ext cx="9128126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6.8</a:t>
            </a:r>
            <a:r>
              <a:rPr lang="en-IN" altLang="en-US" dirty="0" smtClean="0"/>
              <a:t> </a:t>
            </a:r>
            <a:r>
              <a:rPr altLang="en-US" dirty="0" smtClean="0"/>
              <a:t>Weathering &amp; Ore Deposits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4629d1acff76b6dbbddfc74ca371a17fef35e076"/>
  <p:tag name="ARTICULATE_PROJECT_OPEN" val="0"/>
</p:tagLst>
</file>

<file path=ppt/theme/theme1.xml><?xml version="1.0" encoding="utf-8"?>
<a:theme xmlns:a="http://schemas.openxmlformats.org/drawingml/2006/main" name="HA5Lect_template">
  <a:themeElements>
    <a:clrScheme name="HA5Lect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HA5Lect_template">
      <a:majorFont>
        <a:latin typeface="Arial"/>
        <a:ea typeface=""/>
        <a:cs typeface="Arial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A5Lec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4026</TotalTime>
  <Words>1179</Words>
  <Application>Microsoft Office PowerPoint</Application>
  <PresentationFormat>On-screen Show (4:3)</PresentationFormat>
  <Paragraphs>160</Paragraphs>
  <Slides>36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HA5Lect_template</vt:lpstr>
      <vt:lpstr>PowerPoint Presentation</vt:lpstr>
      <vt:lpstr>Learning Objectives</vt:lpstr>
      <vt:lpstr>Learning Objectives (cont.)</vt:lpstr>
      <vt:lpstr>6.1 Weathering</vt:lpstr>
      <vt:lpstr>6.2 Mechanical Weathering</vt:lpstr>
      <vt:lpstr>6.2 Mechanical Weathering (cont.)</vt:lpstr>
      <vt:lpstr>Exfoliation of Igneous Rocks</vt:lpstr>
      <vt:lpstr>6.3 Chemical Weathering</vt:lpstr>
      <vt:lpstr>6.3 Chemical Weathering (cont.)</vt:lpstr>
      <vt:lpstr>6.3 Chemical Weathering (cont.)</vt:lpstr>
      <vt:lpstr>Products of Chemical Weathering</vt:lpstr>
      <vt:lpstr>6.3 Chemical Weathering</vt:lpstr>
      <vt:lpstr>6.4 Rates of Weathering</vt:lpstr>
      <vt:lpstr>6.4 Rates of Weathering (cont.)</vt:lpstr>
      <vt:lpstr>Differential Weathering</vt:lpstr>
      <vt:lpstr>6.5 Soil: An Indispensable Resource</vt:lpstr>
      <vt:lpstr>Typical Components in a Soil That Yield Good Plant Growth</vt:lpstr>
      <vt:lpstr>6.5 Soil: An Indispensable Resource</vt:lpstr>
      <vt:lpstr>6.5 Soil: An Indispensable Resource (cont.)</vt:lpstr>
      <vt:lpstr>6.5 Soil: An Indispensable Resource (cont.)</vt:lpstr>
      <vt:lpstr>Soil Development</vt:lpstr>
      <vt:lpstr>6.6 Describing &amp; Classifying Soils</vt:lpstr>
      <vt:lpstr>6.6 Describing &amp; Classifying Soils (cont.)</vt:lpstr>
      <vt:lpstr>6.6 Describing &amp; Classifying Soils (cont.)</vt:lpstr>
      <vt:lpstr>An Idealized Soil Profile</vt:lpstr>
      <vt:lpstr>A Soil Profile Showing Different Horizons</vt:lpstr>
      <vt:lpstr>6.6 Describing &amp; Classifying Soils</vt:lpstr>
      <vt:lpstr>6.6 Describing &amp; Classifying Soils (cont.)</vt:lpstr>
      <vt:lpstr>6.7 The Impact of Human Activities on Soil</vt:lpstr>
      <vt:lpstr>6.7 The Impact of Human Activities on Soil (cont.)</vt:lpstr>
      <vt:lpstr>Tropical Deforestation</vt:lpstr>
      <vt:lpstr>6.7 The Impact of Human Activities on Soil</vt:lpstr>
      <vt:lpstr>Examples of Soil Conservation </vt:lpstr>
      <vt:lpstr>6.8 Weathering &amp; Ore Deposits</vt:lpstr>
      <vt:lpstr>Bauxite</vt:lpstr>
      <vt:lpstr>6.8 Weathering &amp; Ore Deposits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Geology, 12e</dc:title>
  <dc:creator>Bill D. Richards</dc:creator>
  <cp:lastModifiedBy>Coumoudha Sundararajan, Integra-PDY, IN</cp:lastModifiedBy>
  <cp:revision>285</cp:revision>
  <cp:lastPrinted>1601-01-01T00:00:00Z</cp:lastPrinted>
  <dcterms:created xsi:type="dcterms:W3CDTF">2000-12-18T00:31:17Z</dcterms:created>
  <dcterms:modified xsi:type="dcterms:W3CDTF">2017-06-30T06:38:06Z</dcterms:modified>
</cp:coreProperties>
</file>