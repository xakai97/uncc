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omments/comment1.xml" ContentType="application/vnd.openxmlformats-officedocument.presentationml.comment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</p:sldMasterIdLst>
  <p:notesMasterIdLst>
    <p:notesMasterId r:id="rId49"/>
  </p:notesMasterIdLst>
  <p:sldIdLst>
    <p:sldId id="373" r:id="rId2"/>
    <p:sldId id="375" r:id="rId3"/>
    <p:sldId id="376" r:id="rId4"/>
    <p:sldId id="257" r:id="rId5"/>
    <p:sldId id="285" r:id="rId6"/>
    <p:sldId id="299" r:id="rId7"/>
    <p:sldId id="338" r:id="rId8"/>
    <p:sldId id="260" r:id="rId9"/>
    <p:sldId id="301" r:id="rId10"/>
    <p:sldId id="261" r:id="rId11"/>
    <p:sldId id="286" r:id="rId12"/>
    <p:sldId id="262" r:id="rId13"/>
    <p:sldId id="325" r:id="rId14"/>
    <p:sldId id="303" r:id="rId15"/>
    <p:sldId id="304" r:id="rId16"/>
    <p:sldId id="366" r:id="rId17"/>
    <p:sldId id="367" r:id="rId18"/>
    <p:sldId id="306" r:id="rId19"/>
    <p:sldId id="342" r:id="rId20"/>
    <p:sldId id="307" r:id="rId21"/>
    <p:sldId id="308" r:id="rId22"/>
    <p:sldId id="309" r:id="rId23"/>
    <p:sldId id="343" r:id="rId24"/>
    <p:sldId id="310" r:id="rId25"/>
    <p:sldId id="339" r:id="rId26"/>
    <p:sldId id="311" r:id="rId27"/>
    <p:sldId id="368" r:id="rId28"/>
    <p:sldId id="347" r:id="rId29"/>
    <p:sldId id="348" r:id="rId30"/>
    <p:sldId id="370" r:id="rId31"/>
    <p:sldId id="350" r:id="rId32"/>
    <p:sldId id="349" r:id="rId33"/>
    <p:sldId id="353" r:id="rId34"/>
    <p:sldId id="369" r:id="rId35"/>
    <p:sldId id="371" r:id="rId36"/>
    <p:sldId id="355" r:id="rId37"/>
    <p:sldId id="356" r:id="rId38"/>
    <p:sldId id="358" r:id="rId39"/>
    <p:sldId id="359" r:id="rId40"/>
    <p:sldId id="360" r:id="rId41"/>
    <p:sldId id="361" r:id="rId42"/>
    <p:sldId id="362" r:id="rId43"/>
    <p:sldId id="363" r:id="rId44"/>
    <p:sldId id="318" r:id="rId45"/>
    <p:sldId id="364" r:id="rId46"/>
    <p:sldId id="336" r:id="rId47"/>
    <p:sldId id="372" r:id="rId48"/>
  </p:sldIdLst>
  <p:sldSz cx="9144000" cy="6858000" type="screen4x3"/>
  <p:notesSz cx="6858000" cy="9144000"/>
  <p:custDataLst>
    <p:tags r:id="rId50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Editorial Integra" initials="RRIII" lastIdx="1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93371" autoAdjust="0"/>
  </p:normalViewPr>
  <p:slideViewPr>
    <p:cSldViewPr snapToGrid="0" snapToObjects="1" showGuides="1">
      <p:cViewPr varScale="1">
        <p:scale>
          <a:sx n="105" d="100"/>
          <a:sy n="105" d="100"/>
        </p:scale>
        <p:origin x="-1716" y="-90"/>
      </p:cViewPr>
      <p:guideLst>
        <p:guide orient="horz" pos="288"/>
        <p:guide orient="horz" pos="2162"/>
        <p:guide orient="horz" pos="1212"/>
        <p:guide orient="horz" pos="989"/>
        <p:guide orient="horz" pos="1544"/>
        <p:guide pos="2880"/>
        <p:guide pos="286"/>
        <p:guide pos="531"/>
      </p:guideLst>
    </p:cSldViewPr>
  </p:slideViewPr>
  <p:outlineViewPr>
    <p:cViewPr>
      <p:scale>
        <a:sx n="33" d="100"/>
        <a:sy n="33" d="100"/>
      </p:scale>
      <p:origin x="0" y="20748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ags" Target="tags/tag1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commentAuthors" Target="commentAuthors.xml"/><Relationship Id="rId3" Type="http://schemas.openxmlformats.org/officeDocument/2006/relationships/slide" Target="slides/slide2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4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17-06-02T17:13:18.695" idx="1">
    <p:pos x="3629" y="2326"/>
    <p:text>[TS: Please update.]</p:tex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B79B1DBA-CF50-4708-BB2C-E087362CB803}" type="datetimeFigureOut">
              <a:rPr lang="en-US" altLang="en-US"/>
              <a:pPr>
                <a:defRPr/>
              </a:pPr>
              <a:t>6/29/2017</a:t>
            </a:fld>
            <a:endParaRPr lang="en-US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3FEE4D5-E8B6-4F3E-B750-54B27ABAD06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5153502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563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55238F39-089D-49D9-BB37-7B6D5E66BBCB}" type="slidenum">
              <a:rPr lang="en-US" altLang="en-US" smtClean="0">
                <a:latin typeface="Verdana" pitchFamily="34" charset="0"/>
                <a:ea typeface="ＭＳ Ｐゴシック" pitchFamily="34" charset="-128"/>
              </a:rPr>
              <a:pPr eaLnBrk="1" hangingPunct="1"/>
              <a:t>28</a:t>
            </a:fld>
            <a:endParaRPr lang="en-US" altLang="en-US" smtClean="0">
              <a:latin typeface="Verdana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55AA169F-64F6-4B7D-B196-42BAE1A8D253}" type="slidenum">
              <a:rPr lang="en-US" altLang="en-US" smtClean="0">
                <a:latin typeface="Verdana" pitchFamily="34" charset="0"/>
                <a:ea typeface="ＭＳ Ｐゴシック" pitchFamily="34" charset="-128"/>
              </a:rPr>
              <a:pPr eaLnBrk="1" hangingPunct="1"/>
              <a:t>29</a:t>
            </a:fld>
            <a:endParaRPr lang="en-US" altLang="en-US" smtClean="0">
              <a:latin typeface="Verdana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583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50582895-4F7D-41DF-83AE-C889D114A0A4}" type="slidenum">
              <a:rPr lang="en-US" altLang="en-US" smtClean="0">
                <a:latin typeface="Verdana" pitchFamily="34" charset="0"/>
                <a:ea typeface="ＭＳ Ｐゴシック" pitchFamily="34" charset="-128"/>
              </a:rPr>
              <a:pPr eaLnBrk="1" hangingPunct="1"/>
              <a:t>30</a:t>
            </a:fld>
            <a:endParaRPr lang="en-US" altLang="en-US" smtClean="0">
              <a:latin typeface="Verdana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C3CBBD39-31D0-4D39-85BF-F3D88545FB9A}" type="slidenum">
              <a:rPr lang="en-US" altLang="en-US" smtClean="0">
                <a:latin typeface="Verdana" pitchFamily="34" charset="0"/>
                <a:ea typeface="ＭＳ Ｐゴシック" pitchFamily="34" charset="-128"/>
              </a:rPr>
              <a:pPr eaLnBrk="1" hangingPunct="1"/>
              <a:t>31</a:t>
            </a:fld>
            <a:endParaRPr lang="en-US" altLang="en-US" smtClean="0">
              <a:latin typeface="Verdana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BDC30CB8-9BEC-4ADF-B649-5E3D6B7CB0CE}" type="slidenum">
              <a:rPr lang="en-US" altLang="en-US" smtClean="0">
                <a:latin typeface="Verdana" pitchFamily="34" charset="0"/>
                <a:ea typeface="ＭＳ Ｐゴシック" pitchFamily="34" charset="-128"/>
              </a:rPr>
              <a:pPr eaLnBrk="1" hangingPunct="1"/>
              <a:t>32</a:t>
            </a:fld>
            <a:endParaRPr lang="en-US" altLang="en-US" smtClean="0">
              <a:latin typeface="Verdana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60C7FAAD-E0FF-450E-8844-AC91736F685B}" type="slidenum">
              <a:rPr lang="en-US" altLang="en-US" smtClean="0">
                <a:latin typeface="Verdana" pitchFamily="34" charset="0"/>
                <a:ea typeface="ＭＳ Ｐゴシック" pitchFamily="34" charset="-128"/>
              </a:rPr>
              <a:pPr eaLnBrk="1" hangingPunct="1"/>
              <a:t>33</a:t>
            </a:fld>
            <a:endParaRPr lang="en-US" altLang="en-US" smtClean="0">
              <a:latin typeface="Verdana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5AB0FE3D-8BE1-4EDA-AAC7-BABAE0E7B477}" type="slidenum">
              <a:rPr lang="en-US" altLang="en-US" smtClean="0">
                <a:latin typeface="Verdana" pitchFamily="34" charset="0"/>
                <a:ea typeface="ＭＳ Ｐゴシック" pitchFamily="34" charset="-128"/>
              </a:rPr>
              <a:pPr eaLnBrk="1" hangingPunct="1"/>
              <a:t>34</a:t>
            </a:fld>
            <a:endParaRPr lang="en-US" altLang="en-US" smtClean="0">
              <a:latin typeface="Verdana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67DFD7C9-AF18-4FAA-A01D-8FEAE7081AD4}" type="slidenum">
              <a:rPr lang="en-US" altLang="en-US" smtClean="0">
                <a:latin typeface="Verdana" pitchFamily="34" charset="0"/>
                <a:ea typeface="ＭＳ Ｐゴシック" pitchFamily="34" charset="-128"/>
              </a:rPr>
              <a:pPr eaLnBrk="1" hangingPunct="1"/>
              <a:t>35</a:t>
            </a:fld>
            <a:endParaRPr lang="en-US" altLang="en-US" smtClean="0">
              <a:latin typeface="Verdana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CB4BE1EC-9719-44C4-86CE-A90F46CDEA0D}" type="slidenum">
              <a:rPr lang="en-US" altLang="en-US" smtClean="0">
                <a:latin typeface="Verdana" pitchFamily="34" charset="0"/>
                <a:ea typeface="ＭＳ Ｐゴシック" pitchFamily="34" charset="-128"/>
              </a:rPr>
              <a:pPr eaLnBrk="1" hangingPunct="1"/>
              <a:t>36</a:t>
            </a:fld>
            <a:endParaRPr lang="en-US" altLang="en-US" smtClean="0">
              <a:latin typeface="Verdana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671783F1-CC07-4185-8A24-26417A9710F7}" type="slidenum">
              <a:rPr lang="en-US" altLang="en-US" smtClean="0">
                <a:latin typeface="Verdana" pitchFamily="34" charset="0"/>
                <a:ea typeface="ＭＳ Ｐゴシック" pitchFamily="34" charset="-128"/>
              </a:rPr>
              <a:pPr eaLnBrk="1" hangingPunct="1"/>
              <a:t>37</a:t>
            </a:fld>
            <a:endParaRPr lang="en-US" altLang="en-US" smtClean="0">
              <a:latin typeface="Verdana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B490F5A9-5EDB-4D31-8E44-15F394FF57A5}" type="slidenum">
              <a:rPr lang="en-US" altLang="en-US" smtClean="0">
                <a:latin typeface="Verdana" pitchFamily="34" charset="0"/>
                <a:ea typeface="ＭＳ Ｐゴシック" pitchFamily="34" charset="-128"/>
              </a:rPr>
              <a:pPr eaLnBrk="1" hangingPunct="1"/>
              <a:t>38</a:t>
            </a:fld>
            <a:endParaRPr lang="en-US" altLang="en-US" smtClean="0">
              <a:latin typeface="Verdana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5629764D-779E-4729-9B35-B13B72ECED6E}" type="slidenum">
              <a:rPr lang="en-US" altLang="en-US" smtClean="0">
                <a:latin typeface="Verdana" pitchFamily="34" charset="0"/>
                <a:ea typeface="ＭＳ Ｐゴシック" pitchFamily="34" charset="-128"/>
              </a:rPr>
              <a:pPr eaLnBrk="1" hangingPunct="1"/>
              <a:t>39</a:t>
            </a:fld>
            <a:endParaRPr lang="en-US" altLang="en-US" smtClean="0">
              <a:latin typeface="Verdana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6861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ADCA11E7-2D04-4D32-8A04-DA8BBE4E0C63}" type="slidenum">
              <a:rPr lang="en-US" altLang="en-US" smtClean="0">
                <a:latin typeface="Verdana" pitchFamily="34" charset="0"/>
                <a:ea typeface="ＭＳ Ｐゴシック" pitchFamily="34" charset="-128"/>
              </a:rPr>
              <a:pPr eaLnBrk="1" hangingPunct="1"/>
              <a:t>40</a:t>
            </a:fld>
            <a:endParaRPr lang="en-US" altLang="en-US" smtClean="0">
              <a:latin typeface="Verdana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696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26CFBA79-9FE5-4CF2-A7B1-13CC29BD117F}" type="slidenum">
              <a:rPr lang="en-US" altLang="en-US" smtClean="0">
                <a:latin typeface="Verdana" pitchFamily="34" charset="0"/>
                <a:ea typeface="ＭＳ Ｐゴシック" pitchFamily="34" charset="-128"/>
              </a:rPr>
              <a:pPr eaLnBrk="1" hangingPunct="1"/>
              <a:t>41</a:t>
            </a:fld>
            <a:endParaRPr lang="en-US" altLang="en-US" smtClean="0">
              <a:latin typeface="Verdana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46AD69C9-0C62-4EE4-B42D-13C983DE84A6}" type="slidenum">
              <a:rPr lang="en-US" altLang="en-US" smtClean="0">
                <a:latin typeface="Verdana" pitchFamily="34" charset="0"/>
                <a:ea typeface="ＭＳ Ｐゴシック" pitchFamily="34" charset="-128"/>
              </a:rPr>
              <a:pPr eaLnBrk="1" hangingPunct="1"/>
              <a:t>42</a:t>
            </a:fld>
            <a:endParaRPr lang="en-US" altLang="en-US" smtClean="0">
              <a:latin typeface="Verdana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716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DC1FB190-B83F-4AF6-9EE3-C44180558E26}" type="slidenum">
              <a:rPr lang="en-US" altLang="en-US" smtClean="0">
                <a:latin typeface="Verdana" pitchFamily="34" charset="0"/>
                <a:ea typeface="ＭＳ Ｐゴシック" pitchFamily="34" charset="-128"/>
              </a:rPr>
              <a:pPr eaLnBrk="1" hangingPunct="1"/>
              <a:t>43</a:t>
            </a:fld>
            <a:endParaRPr lang="en-US" altLang="en-US" smtClean="0">
              <a:latin typeface="Verdana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 txBox="1">
            <a:spLocks noChangeArrowheads="1"/>
          </p:cNvSpPr>
          <p:nvPr userDrawn="1"/>
        </p:nvSpPr>
        <p:spPr bwMode="auto">
          <a:xfrm>
            <a:off x="457200" y="3168361"/>
            <a:ext cx="3888474" cy="5847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square" anchor="ctr">
            <a:spAutoFit/>
          </a:bodyPr>
          <a:lstStyle>
            <a:lvl1pPr algn="l" rtl="0" fontAlgn="base">
              <a:spcBef>
                <a:spcPct val="20000"/>
              </a:spcBef>
              <a:spcAft>
                <a:spcPct val="0"/>
              </a:spcAft>
              <a:defRPr sz="34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2000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algn="l" rtl="0" fontAlgn="base">
              <a:spcBef>
                <a:spcPct val="2000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algn="l" rtl="0" fontAlgn="base">
              <a:spcBef>
                <a:spcPct val="2000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algn="l" rtl="0" fontAlgn="base">
              <a:spcBef>
                <a:spcPct val="2000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457200" algn="l" rtl="0" fontAlgn="base">
              <a:spcBef>
                <a:spcPct val="2000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914400" algn="l" rtl="0" fontAlgn="base">
              <a:spcBef>
                <a:spcPct val="2000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1371600" algn="l" rtl="0" fontAlgn="base">
              <a:spcBef>
                <a:spcPct val="2000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1828800" algn="l" rtl="0" fontAlgn="base">
              <a:spcBef>
                <a:spcPct val="2000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l" defTabSz="914400" rtl="0" eaLnBrk="0" fontAlgn="base" hangingPunct="0">
              <a:spcBef>
                <a:spcPct val="20000"/>
              </a:spcBef>
              <a:spcAft>
                <a:spcPct val="0"/>
              </a:spcAft>
              <a:defRPr/>
            </a:pPr>
            <a:r>
              <a:rPr lang="en-IN" sz="3200" b="1" kern="1200" dirty="0" smtClean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Matter &amp;</a:t>
            </a:r>
            <a:r>
              <a:rPr lang="en-IN" sz="3200" b="1" kern="1200" baseline="0" dirty="0" smtClean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IN" sz="3200" b="1" kern="1200" dirty="0" smtClean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Minerals</a:t>
            </a:r>
            <a:endParaRPr lang="en-US" sz="3200" b="1" kern="1200" dirty="0">
              <a:solidFill>
                <a:srgbClr val="00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" name="Rectangle 8"/>
          <p:cNvSpPr>
            <a:spLocks noChangeArrowheads="1"/>
          </p:cNvSpPr>
          <p:nvPr userDrawn="1"/>
        </p:nvSpPr>
        <p:spPr bwMode="auto">
          <a:xfrm>
            <a:off x="0" y="0"/>
            <a:ext cx="9144000" cy="609600"/>
          </a:xfrm>
          <a:prstGeom prst="rect">
            <a:avLst/>
          </a:prstGeom>
          <a:solidFill>
            <a:srgbClr val="ED6B0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4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solidFill>
                <a:srgbClr val="000000"/>
              </a:solidFill>
              <a:latin typeface="+mn-lt"/>
              <a:ea typeface="ＭＳ Ｐゴシック" charset="0"/>
            </a:endParaRPr>
          </a:p>
        </p:txBody>
      </p:sp>
      <p:sp>
        <p:nvSpPr>
          <p:cNvPr id="10" name="Text Box 12"/>
          <p:cNvSpPr txBox="1">
            <a:spLocks noChangeArrowheads="1"/>
          </p:cNvSpPr>
          <p:nvPr userDrawn="1"/>
        </p:nvSpPr>
        <p:spPr bwMode="auto">
          <a:xfrm>
            <a:off x="503238" y="1104900"/>
            <a:ext cx="8259762" cy="889000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defTabSz="914400" eaLnBrk="1" fontAlgn="auto" hangingPunct="1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3200" b="1" dirty="0" smtClean="0">
                <a:solidFill>
                  <a:srgbClr val="000000"/>
                </a:solidFill>
                <a:latin typeface="ArialMT" charset="0"/>
                <a:ea typeface="+mn-ea"/>
              </a:rPr>
              <a:t>Essentials of Geology</a:t>
            </a:r>
          </a:p>
          <a:p>
            <a:pPr algn="r" defTabSz="914400" eaLnBrk="1" fontAlgn="auto" hangingPunct="1">
              <a:spcBef>
                <a:spcPct val="10000"/>
              </a:spcBef>
              <a:spcAft>
                <a:spcPts val="0"/>
              </a:spcAft>
              <a:defRPr/>
            </a:pPr>
            <a:r>
              <a:rPr lang="en-US" sz="1800" dirty="0" smtClean="0">
                <a:solidFill>
                  <a:srgbClr val="000000"/>
                </a:solidFill>
                <a:ea typeface="+mn-ea"/>
              </a:rPr>
              <a:t>Thirteenth Edition</a:t>
            </a:r>
          </a:p>
        </p:txBody>
      </p:sp>
      <p:pic>
        <p:nvPicPr>
          <p:cNvPr id="11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37113" y="2006805"/>
            <a:ext cx="3879850" cy="4384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 Box 6"/>
          <p:cNvSpPr txBox="1">
            <a:spLocks noChangeArrowheads="1"/>
          </p:cNvSpPr>
          <p:nvPr userDrawn="1"/>
        </p:nvSpPr>
        <p:spPr bwMode="auto">
          <a:xfrm>
            <a:off x="345174" y="61913"/>
            <a:ext cx="8001000" cy="519112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2800" dirty="0" smtClean="0">
                <a:solidFill>
                  <a:srgbClr val="FFFFFF"/>
                </a:solidFill>
                <a:cs typeface="Arial" pitchFamily="34" charset="0"/>
              </a:rPr>
              <a:t>Lecture 3 Outline</a:t>
            </a:r>
          </a:p>
        </p:txBody>
      </p:sp>
      <p:sp>
        <p:nvSpPr>
          <p:cNvPr id="13" name="Rectangle 12"/>
          <p:cNvSpPr/>
          <p:nvPr userDrawn="1"/>
        </p:nvSpPr>
        <p:spPr>
          <a:xfrm>
            <a:off x="457200" y="5183981"/>
            <a:ext cx="35369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kern="1200" dirty="0" smtClean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Merry Wilson</a:t>
            </a:r>
            <a:endParaRPr lang="en-IN" sz="1800" kern="1200" dirty="0" smtClean="0">
              <a:solidFill>
                <a:schemeClr val="tx1"/>
              </a:solidFill>
              <a:effectLst/>
              <a:latin typeface="Arial" pitchFamily="34" charset="0"/>
              <a:ea typeface="+mn-ea"/>
              <a:cs typeface="Arial" pitchFamily="34" charset="0"/>
            </a:endParaRPr>
          </a:p>
          <a:p>
            <a:r>
              <a:rPr lang="en-US" sz="1800" kern="1200" dirty="0" smtClean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Scottsdale Community College</a:t>
            </a:r>
            <a:endParaRPr lang="en-IN" sz="1800" kern="1200" dirty="0">
              <a:solidFill>
                <a:schemeClr val="tx1"/>
              </a:solidFill>
              <a:effectLst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3041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ChangeArrowheads="1"/>
          </p:cNvSpPr>
          <p:nvPr userDrawn="1"/>
        </p:nvSpPr>
        <p:spPr bwMode="auto">
          <a:xfrm>
            <a:off x="0" y="0"/>
            <a:ext cx="9144000" cy="609600"/>
          </a:xfrm>
          <a:prstGeom prst="rect">
            <a:avLst/>
          </a:prstGeom>
          <a:solidFill>
            <a:srgbClr val="ED6B0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>
              <a:defRPr/>
            </a:pPr>
            <a:endParaRPr lang="en-US" altLang="en-US" sz="2400" smtClean="0">
              <a:solidFill>
                <a:srgbClr val="000000"/>
              </a:solidFill>
              <a:ea typeface="ＭＳ Ｐゴシック" pitchFamily="34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7252" y="8626"/>
            <a:ext cx="9126748" cy="579438"/>
          </a:xfrm>
        </p:spPr>
        <p:txBody>
          <a:bodyPr/>
          <a:lstStyle>
            <a:lvl1pPr algn="l" rtl="0" eaLnBrk="0" fontAlgn="base" hangingPunct="0">
              <a:spcBef>
                <a:spcPct val="50000"/>
              </a:spcBef>
              <a:spcAft>
                <a:spcPct val="0"/>
              </a:spcAft>
              <a:defRPr lang="en-US" sz="3200" b="1" i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751" y="1184543"/>
            <a:ext cx="8229600" cy="510698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5391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07440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ChangeArrowheads="1"/>
          </p:cNvSpPr>
          <p:nvPr userDrawn="1"/>
        </p:nvSpPr>
        <p:spPr bwMode="auto">
          <a:xfrm>
            <a:off x="0" y="0"/>
            <a:ext cx="9144000" cy="609600"/>
          </a:xfrm>
          <a:prstGeom prst="rect">
            <a:avLst/>
          </a:prstGeom>
          <a:solidFill>
            <a:srgbClr val="ED6B0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>
              <a:defRPr/>
            </a:pPr>
            <a:endParaRPr lang="en-US" altLang="en-US" sz="2400" smtClean="0">
              <a:solidFill>
                <a:srgbClr val="000000"/>
              </a:solidFill>
              <a:ea typeface="ＭＳ Ｐゴシック" pitchFamily="34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7252" y="8626"/>
            <a:ext cx="9005979" cy="60097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1003" y="1193169"/>
            <a:ext cx="4038600" cy="510698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56125" y="1193169"/>
            <a:ext cx="4038600" cy="510698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5758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670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392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ChangeArrowheads="1"/>
          </p:cNvSpPr>
          <p:nvPr userDrawn="1"/>
        </p:nvSpPr>
        <p:spPr bwMode="auto">
          <a:xfrm>
            <a:off x="0" y="0"/>
            <a:ext cx="9144000" cy="1571625"/>
          </a:xfrm>
          <a:prstGeom prst="rect">
            <a:avLst/>
          </a:prstGeom>
          <a:solidFill>
            <a:srgbClr val="ED6B0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>
              <a:defRPr/>
            </a:pPr>
            <a:endParaRPr lang="en-US" altLang="en-US" sz="2400" smtClean="0">
              <a:solidFill>
                <a:srgbClr val="000000"/>
              </a:solidFill>
              <a:ea typeface="ＭＳ Ｐゴシック" pitchFamily="34" charset="-128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365125" y="2055769"/>
            <a:ext cx="8229600" cy="439679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-17252" y="0"/>
            <a:ext cx="9144000" cy="1569660"/>
          </a:xfrm>
        </p:spPr>
        <p:txBody>
          <a:bodyPr/>
          <a:lstStyle>
            <a:lvl1pPr algn="l" rtl="0" eaLnBrk="0" fontAlgn="base" hangingPunct="0">
              <a:spcBef>
                <a:spcPct val="50000"/>
              </a:spcBef>
              <a:spcAft>
                <a:spcPct val="0"/>
              </a:spcAft>
              <a:defRPr lang="en-US" sz="3200" b="1" i="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4555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ChangeArrowheads="1"/>
          </p:cNvSpPr>
          <p:nvPr userDrawn="1"/>
        </p:nvSpPr>
        <p:spPr bwMode="auto">
          <a:xfrm>
            <a:off x="0" y="0"/>
            <a:ext cx="9144000" cy="1069975"/>
          </a:xfrm>
          <a:prstGeom prst="rect">
            <a:avLst/>
          </a:prstGeom>
          <a:solidFill>
            <a:srgbClr val="ED6B0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>
              <a:defRPr/>
            </a:pPr>
            <a:endParaRPr lang="en-US" altLang="en-US" sz="2400" smtClean="0">
              <a:solidFill>
                <a:srgbClr val="000000"/>
              </a:solidFill>
              <a:ea typeface="ＭＳ Ｐゴシック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6499" y="1529583"/>
            <a:ext cx="8229600" cy="46900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-17252" y="0"/>
            <a:ext cx="9144000" cy="1077218"/>
          </a:xfrm>
        </p:spPr>
        <p:txBody>
          <a:bodyPr/>
          <a:lstStyle>
            <a:lvl1pPr algn="l" rtl="0" eaLnBrk="0" fontAlgn="base" hangingPunct="0">
              <a:spcBef>
                <a:spcPct val="50000"/>
              </a:spcBef>
              <a:spcAft>
                <a:spcPct val="0"/>
              </a:spcAft>
              <a:defRPr lang="en-US" sz="3200" b="1" i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0286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59970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14106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5758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0"/>
            <a:ext cx="2286000" cy="6248400"/>
          </a:xfrm>
        </p:spPr>
        <p:txBody>
          <a:bodyPr vert="eaVert"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705600" cy="6248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024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FADE3AF1-6947-45F9-B98B-68EABF758D18}" type="datetime1">
              <a:rPr lang="en-US" altLang="en-US"/>
              <a:pPr>
                <a:defRPr/>
              </a:pPr>
              <a:t>6/29/2017</a:t>
            </a:fld>
            <a:endParaRPr lang="en-US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C3A0D593-8B70-4112-A2D0-5965AD8B847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28152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Online Image Placeholder 2"/>
          <p:cNvSpPr>
            <a:spLocks noGrp="1"/>
          </p:cNvSpPr>
          <p:nvPr>
            <p:ph type="clipArt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F779F9C5-1C0C-41E3-AA85-99B296BABE2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19279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Date Placeholder 2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Footer Placeholder 3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D8E737B4-FEF9-423A-B644-E5862EA28E0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964292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485" y="152400"/>
            <a:ext cx="9144000" cy="579438"/>
          </a:xfrm>
        </p:spPr>
        <p:txBody>
          <a:bodyPr/>
          <a:lstStyle>
            <a:lvl1pPr algn="ctr" rtl="0" eaLnBrk="0" fontAlgn="base" hangingPunct="0">
              <a:spcBef>
                <a:spcPct val="50000"/>
              </a:spcBef>
              <a:spcAft>
                <a:spcPct val="0"/>
              </a:spcAft>
              <a:defRPr lang="en-US" sz="3200" b="1" i="1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69860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579438"/>
          </a:xfrm>
        </p:spPr>
        <p:txBody>
          <a:bodyPr/>
          <a:lstStyle>
            <a:lvl1pPr algn="ctr" rtl="0" eaLnBrk="0" fontAlgn="base" hangingPunct="0">
              <a:spcBef>
                <a:spcPct val="50000"/>
              </a:spcBef>
              <a:spcAft>
                <a:spcPct val="0"/>
              </a:spcAft>
              <a:defRPr lang="en-US" sz="3200" b="1" i="1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8563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9144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65125" y="1141413"/>
            <a:ext cx="8229600" cy="5106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" name="Rectangle 15"/>
          <p:cNvSpPr txBox="1">
            <a:spLocks noChangeArrowheads="1"/>
          </p:cNvSpPr>
          <p:nvPr userDrawn="1"/>
        </p:nvSpPr>
        <p:spPr bwMode="gray">
          <a:xfrm>
            <a:off x="76200" y="6602413"/>
            <a:ext cx="5399088" cy="17938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0" tIns="0" rIns="0" bIns="0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dirty="0" smtClean="0">
                <a:solidFill>
                  <a:srgbClr val="000000"/>
                </a:solidFill>
              </a:rPr>
              <a:t>© 2018 Pearson Education, Inc.</a:t>
            </a:r>
            <a:endParaRPr lang="en-US" dirty="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66" r:id="rId1"/>
    <p:sldLayoutId id="2147484067" r:id="rId2"/>
    <p:sldLayoutId id="2147484057" r:id="rId3"/>
    <p:sldLayoutId id="2147484068" r:id="rId4"/>
    <p:sldLayoutId id="2147484058" r:id="rId5"/>
    <p:sldLayoutId id="2147484059" r:id="rId6"/>
    <p:sldLayoutId id="2147484069" r:id="rId7"/>
    <p:sldLayoutId id="2147484070" r:id="rId8"/>
    <p:sldLayoutId id="2147484060" r:id="rId9"/>
    <p:sldLayoutId id="2147484061" r:id="rId10"/>
    <p:sldLayoutId id="2147484062" r:id="rId11"/>
    <p:sldLayoutId id="2147484063" r:id="rId12"/>
    <p:sldLayoutId id="2147484071" r:id="rId13"/>
    <p:sldLayoutId id="2147484072" r:id="rId14"/>
    <p:sldLayoutId id="2147484073" r:id="rId15"/>
    <p:sldLayoutId id="2147484064" r:id="rId16"/>
    <p:sldLayoutId id="2147484065" r:id="rId17"/>
  </p:sldLayoutIdLst>
  <p:timing>
    <p:tnLst>
      <p:par>
        <p:cTn id="1" dur="indefinite" restart="never" nodeType="tmRoot"/>
      </p:par>
    </p:tnLst>
  </p:timing>
  <p:hf sldNum="0" hdr="0" dt="0"/>
  <p:txStyles>
    <p:titleStyle>
      <a:lvl1pPr algn="l" rtl="0" eaLnBrk="0" fontAlgn="base" hangingPunct="0">
        <a:spcBef>
          <a:spcPct val="50000"/>
        </a:spcBef>
        <a:spcAft>
          <a:spcPct val="0"/>
        </a:spcAft>
        <a:defRPr sz="3200" b="1">
          <a:solidFill>
            <a:srgbClr val="ED6B06"/>
          </a:solidFill>
          <a:latin typeface="+mj-lt"/>
          <a:ea typeface="Arial" charset="0"/>
          <a:cs typeface="+mj-cs"/>
        </a:defRPr>
      </a:lvl1pPr>
      <a:lvl2pPr algn="l" rtl="0" eaLnBrk="0" fontAlgn="base" hangingPunct="0">
        <a:spcBef>
          <a:spcPct val="50000"/>
        </a:spcBef>
        <a:spcAft>
          <a:spcPct val="0"/>
        </a:spcAft>
        <a:defRPr sz="3200" b="1">
          <a:solidFill>
            <a:srgbClr val="ED6B06"/>
          </a:solidFill>
          <a:latin typeface="Arial" pitchFamily="34" charset="0"/>
          <a:ea typeface="Arial" charset="0"/>
          <a:cs typeface="Arial" pitchFamily="34" charset="0"/>
        </a:defRPr>
      </a:lvl2pPr>
      <a:lvl3pPr algn="l" rtl="0" eaLnBrk="0" fontAlgn="base" hangingPunct="0">
        <a:spcBef>
          <a:spcPct val="50000"/>
        </a:spcBef>
        <a:spcAft>
          <a:spcPct val="0"/>
        </a:spcAft>
        <a:defRPr sz="3200" b="1">
          <a:solidFill>
            <a:srgbClr val="ED6B06"/>
          </a:solidFill>
          <a:latin typeface="Arial" pitchFamily="34" charset="0"/>
          <a:ea typeface="Arial" charset="0"/>
          <a:cs typeface="Arial" pitchFamily="34" charset="0"/>
        </a:defRPr>
      </a:lvl3pPr>
      <a:lvl4pPr algn="l" rtl="0" eaLnBrk="0" fontAlgn="base" hangingPunct="0">
        <a:spcBef>
          <a:spcPct val="50000"/>
        </a:spcBef>
        <a:spcAft>
          <a:spcPct val="0"/>
        </a:spcAft>
        <a:defRPr sz="3200" b="1">
          <a:solidFill>
            <a:srgbClr val="ED6B06"/>
          </a:solidFill>
          <a:latin typeface="Arial" pitchFamily="34" charset="0"/>
          <a:ea typeface="Arial" charset="0"/>
          <a:cs typeface="Arial" pitchFamily="34" charset="0"/>
        </a:defRPr>
      </a:lvl4pPr>
      <a:lvl5pPr algn="l" rtl="0" eaLnBrk="0" fontAlgn="base" hangingPunct="0">
        <a:spcBef>
          <a:spcPct val="50000"/>
        </a:spcBef>
        <a:spcAft>
          <a:spcPct val="0"/>
        </a:spcAft>
        <a:defRPr sz="3200" b="1">
          <a:solidFill>
            <a:srgbClr val="ED6B06"/>
          </a:solidFill>
          <a:latin typeface="Arial" pitchFamily="34" charset="0"/>
          <a:ea typeface="Arial" charset="0"/>
          <a:cs typeface="Arial" pitchFamily="34" charset="0"/>
        </a:defRPr>
      </a:lvl5pPr>
      <a:lvl6pPr marL="457200" algn="l" rtl="0" fontAlgn="base">
        <a:spcBef>
          <a:spcPct val="50000"/>
        </a:spcBef>
        <a:spcAft>
          <a:spcPct val="0"/>
        </a:spcAft>
        <a:defRPr sz="3200" b="1">
          <a:solidFill>
            <a:srgbClr val="ED6B06"/>
          </a:solidFill>
          <a:latin typeface="Arial" pitchFamily="34" charset="0"/>
          <a:cs typeface="Arial" pitchFamily="34" charset="0"/>
        </a:defRPr>
      </a:lvl6pPr>
      <a:lvl7pPr marL="914400" algn="l" rtl="0" fontAlgn="base">
        <a:spcBef>
          <a:spcPct val="50000"/>
        </a:spcBef>
        <a:spcAft>
          <a:spcPct val="0"/>
        </a:spcAft>
        <a:defRPr sz="3200" b="1">
          <a:solidFill>
            <a:srgbClr val="ED6B06"/>
          </a:solidFill>
          <a:latin typeface="Arial" pitchFamily="34" charset="0"/>
          <a:cs typeface="Arial" pitchFamily="34" charset="0"/>
        </a:defRPr>
      </a:lvl7pPr>
      <a:lvl8pPr marL="1371600" algn="l" rtl="0" fontAlgn="base">
        <a:spcBef>
          <a:spcPct val="50000"/>
        </a:spcBef>
        <a:spcAft>
          <a:spcPct val="0"/>
        </a:spcAft>
        <a:defRPr sz="3200" b="1">
          <a:solidFill>
            <a:srgbClr val="ED6B06"/>
          </a:solidFill>
          <a:latin typeface="Arial" pitchFamily="34" charset="0"/>
          <a:cs typeface="Arial" pitchFamily="34" charset="0"/>
        </a:defRPr>
      </a:lvl8pPr>
      <a:lvl9pPr marL="1828800" algn="l" rtl="0" fontAlgn="base">
        <a:spcBef>
          <a:spcPct val="50000"/>
        </a:spcBef>
        <a:spcAft>
          <a:spcPct val="0"/>
        </a:spcAft>
        <a:defRPr sz="3200" b="1">
          <a:solidFill>
            <a:srgbClr val="ED6B06"/>
          </a:solidFill>
          <a:latin typeface="Arial" pitchFamily="34" charset="0"/>
          <a:cs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hyperlink" Target="https://goo.gl/LWOfho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hyperlink" Target="https://goo.gl/MdH5j9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goo.gl/dvaqIF" TargetMode="Externa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hyperlink" Target="https://goo.gl/MN1wy7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hyperlink" Target="https://goo.gl/5L3gns" TargetMode="Externa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hyperlink" Target="https://goo.gl/ZPuhGA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4712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Grp="1" noChangeArrowheads="1"/>
          </p:cNvSpPr>
          <p:nvPr>
            <p:ph type="title"/>
          </p:nvPr>
        </p:nvSpPr>
        <p:spPr>
          <a:xfrm>
            <a:off x="-25961" y="17335"/>
            <a:ext cx="9144000" cy="579438"/>
          </a:xfrm>
        </p:spPr>
        <p:txBody>
          <a:bodyPr/>
          <a:lstStyle/>
          <a:p>
            <a:r>
              <a:rPr lang="en-US" dirty="0" smtClean="0"/>
              <a:t>Learning </a:t>
            </a:r>
            <a:r>
              <a:rPr lang="en-US" altLang="en-US" dirty="0" smtClean="0"/>
              <a:t>Objectives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77099" y="1207725"/>
            <a:ext cx="8287928" cy="52137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eaLnBrk="1" hangingPunct="1">
              <a:spcBef>
                <a:spcPct val="20000"/>
              </a:spcBef>
              <a:buClr>
                <a:schemeClr val="tx1"/>
              </a:buClr>
              <a:buChar char="•"/>
              <a:defRPr/>
            </a:pPr>
            <a:r>
              <a:rPr lang="en-US" altLang="en-US" sz="2600" b="1" dirty="0" smtClean="0">
                <a:solidFill>
                  <a:srgbClr val="ED6B06"/>
                </a:solidFill>
                <a:latin typeface="+mn-lt"/>
                <a:cs typeface="+mn-cs"/>
              </a:rPr>
              <a:t>LO 3.1 </a:t>
            </a:r>
            <a:r>
              <a:rPr lang="en-IN" altLang="en-US" sz="2600" dirty="0">
                <a:latin typeface="+mn-lt"/>
                <a:cs typeface="+mn-cs"/>
              </a:rPr>
              <a:t>List the main characteristics that an Earth material must possess to be considered a mineral and describe each characteristic.</a:t>
            </a:r>
          </a:p>
          <a:p>
            <a:pPr marL="342900" indent="-342900" eaLnBrk="1" hangingPunct="1">
              <a:spcBef>
                <a:spcPct val="20000"/>
              </a:spcBef>
              <a:buClr>
                <a:schemeClr val="tx1"/>
              </a:buClr>
              <a:buChar char="•"/>
              <a:defRPr/>
            </a:pPr>
            <a:r>
              <a:rPr lang="en-US" altLang="en-US" sz="2600" b="1" dirty="0" smtClean="0">
                <a:solidFill>
                  <a:srgbClr val="ED6B06"/>
                </a:solidFill>
                <a:latin typeface="+mn-lt"/>
                <a:cs typeface="+mn-cs"/>
              </a:rPr>
              <a:t>LO 3.2 </a:t>
            </a:r>
            <a:r>
              <a:rPr lang="en-IN" altLang="en-US" sz="2600" dirty="0">
                <a:latin typeface="+mn-lt"/>
                <a:cs typeface="+mn-cs"/>
              </a:rPr>
              <a:t>Compare and contrast the three primary particles contained in atoms.</a:t>
            </a:r>
            <a:endParaRPr lang="en-US" altLang="en-US" sz="2600" dirty="0">
              <a:latin typeface="+mn-lt"/>
              <a:cs typeface="+mn-cs"/>
            </a:endParaRPr>
          </a:p>
          <a:p>
            <a:pPr marL="342900" indent="-342900" eaLnBrk="1" hangingPunct="1">
              <a:spcBef>
                <a:spcPct val="20000"/>
              </a:spcBef>
              <a:buClr>
                <a:schemeClr val="tx1"/>
              </a:buClr>
              <a:buChar char="•"/>
              <a:defRPr/>
            </a:pPr>
            <a:r>
              <a:rPr lang="en-US" altLang="en-US" sz="2600" b="1" dirty="0">
                <a:solidFill>
                  <a:srgbClr val="ED6B06"/>
                </a:solidFill>
                <a:latin typeface="+mn-lt"/>
                <a:cs typeface="+mn-cs"/>
              </a:rPr>
              <a:t>LO 3</a:t>
            </a:r>
            <a:r>
              <a:rPr lang="en-US" altLang="en-US" sz="2600" b="1" dirty="0" smtClean="0">
                <a:solidFill>
                  <a:srgbClr val="ED6B06"/>
                </a:solidFill>
                <a:latin typeface="+mn-lt"/>
                <a:cs typeface="+mn-cs"/>
              </a:rPr>
              <a:t>.3 </a:t>
            </a:r>
            <a:r>
              <a:rPr lang="en-IN" altLang="en-US" sz="2600" dirty="0">
                <a:latin typeface="+mn-lt"/>
                <a:cs typeface="+mn-cs"/>
              </a:rPr>
              <a:t>Distinguish among ionic bonds, covalent bonds, and metallic bonds.</a:t>
            </a:r>
            <a:endParaRPr lang="en-US" altLang="en-US" sz="2600" dirty="0" smtClean="0">
              <a:latin typeface="+mn-lt"/>
              <a:cs typeface="+mn-cs"/>
            </a:endParaRPr>
          </a:p>
          <a:p>
            <a:pPr marL="342900" indent="-342900" eaLnBrk="1" hangingPunct="1">
              <a:spcBef>
                <a:spcPct val="20000"/>
              </a:spcBef>
              <a:buClr>
                <a:schemeClr val="tx1"/>
              </a:buClr>
              <a:buChar char="•"/>
              <a:defRPr/>
            </a:pPr>
            <a:r>
              <a:rPr lang="en-US" altLang="en-US" sz="2600" b="1" dirty="0" smtClean="0">
                <a:solidFill>
                  <a:srgbClr val="ED6B06"/>
                </a:solidFill>
                <a:latin typeface="+mn-lt"/>
                <a:cs typeface="+mn-cs"/>
              </a:rPr>
              <a:t>LO 3.4 </a:t>
            </a:r>
            <a:r>
              <a:rPr lang="en-IN" altLang="en-US" sz="2600" dirty="0">
                <a:latin typeface="+mn-lt"/>
                <a:cs typeface="+mn-cs"/>
              </a:rPr>
              <a:t>List and describe the properties used in mineral identification</a:t>
            </a:r>
            <a:r>
              <a:rPr lang="en-IN" altLang="en-US" sz="2600" dirty="0" smtClean="0">
                <a:latin typeface="+mn-lt"/>
                <a:cs typeface="+mn-cs"/>
              </a:rPr>
              <a:t>.</a:t>
            </a:r>
          </a:p>
          <a:p>
            <a:pPr marL="342900" indent="-342900" eaLnBrk="1" hangingPunct="1">
              <a:spcBef>
                <a:spcPct val="20000"/>
              </a:spcBef>
              <a:buClr>
                <a:schemeClr val="tx1"/>
              </a:buClr>
              <a:buFontTx/>
              <a:buChar char="•"/>
              <a:defRPr/>
            </a:pPr>
            <a:r>
              <a:rPr lang="en-US" altLang="en-US" sz="2600" b="1" dirty="0">
                <a:solidFill>
                  <a:srgbClr val="ED6B06"/>
                </a:solidFill>
              </a:rPr>
              <a:t>LO 3.5 </a:t>
            </a:r>
            <a:r>
              <a:rPr lang="en-IN" altLang="en-US" sz="2600" dirty="0"/>
              <a:t>Explain how minerals are classified and name the most abundant mineral group in Earth’s </a:t>
            </a:r>
            <a:r>
              <a:rPr lang="en-IN" altLang="en-US" sz="2600" dirty="0" smtClean="0"/>
              <a:t>crust.</a:t>
            </a:r>
            <a:endParaRPr lang="en-US" altLang="en-US" sz="2600" dirty="0"/>
          </a:p>
        </p:txBody>
      </p:sp>
    </p:spTree>
    <p:extLst>
      <p:ext uri="{BB962C8B-B14F-4D97-AF65-F5344CB8AC3E}">
        <p14:creationId xmlns:p14="http://schemas.microsoft.com/office/powerpoint/2010/main" val="2320602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Grp="1" noChangeArrowheads="1"/>
          </p:cNvSpPr>
          <p:nvPr>
            <p:ph type="title"/>
          </p:nvPr>
        </p:nvSpPr>
        <p:spPr>
          <a:xfrm>
            <a:off x="-25961" y="17335"/>
            <a:ext cx="9144000" cy="579438"/>
          </a:xfrm>
        </p:spPr>
        <p:txBody>
          <a:bodyPr/>
          <a:lstStyle/>
          <a:p>
            <a:r>
              <a:rPr lang="en-US" dirty="0" smtClean="0"/>
              <a:t>Learning </a:t>
            </a:r>
            <a:r>
              <a:rPr lang="en-US" altLang="en-US" dirty="0" smtClean="0"/>
              <a:t>Objectives (cont.)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77099" y="1207725"/>
            <a:ext cx="8261802" cy="51337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eaLnBrk="1" hangingPunct="1">
              <a:spcBef>
                <a:spcPct val="20000"/>
              </a:spcBef>
              <a:buClr>
                <a:schemeClr val="tx1"/>
              </a:buClr>
              <a:buChar char="•"/>
              <a:defRPr/>
            </a:pPr>
            <a:r>
              <a:rPr lang="en-US" altLang="en-US" sz="2600" b="1" dirty="0" smtClean="0">
                <a:solidFill>
                  <a:srgbClr val="ED6B06"/>
                </a:solidFill>
                <a:latin typeface="+mn-lt"/>
                <a:cs typeface="+mn-cs"/>
              </a:rPr>
              <a:t>LO 3.6 </a:t>
            </a:r>
            <a:r>
              <a:rPr lang="en-IN" altLang="en-US" sz="2600" dirty="0">
                <a:latin typeface="+mn-lt"/>
                <a:cs typeface="+mn-cs"/>
              </a:rPr>
              <a:t>Sketch the silicon–oxygen tetrahedron and explain how this fundamental building block joins together to form various silicate structures</a:t>
            </a:r>
            <a:r>
              <a:rPr lang="en-IN" altLang="en-US" sz="2600" dirty="0" smtClean="0">
                <a:latin typeface="+mn-lt"/>
                <a:cs typeface="+mn-cs"/>
              </a:rPr>
              <a:t>.</a:t>
            </a:r>
            <a:endParaRPr lang="en-US" altLang="en-US" sz="2600" dirty="0" smtClean="0">
              <a:latin typeface="+mn-lt"/>
              <a:cs typeface="+mn-cs"/>
            </a:endParaRPr>
          </a:p>
          <a:p>
            <a:pPr marL="342900" indent="-342900" eaLnBrk="1" hangingPunct="1">
              <a:spcBef>
                <a:spcPct val="20000"/>
              </a:spcBef>
              <a:buClr>
                <a:schemeClr val="tx1"/>
              </a:buClr>
              <a:buChar char="•"/>
              <a:defRPr/>
            </a:pPr>
            <a:r>
              <a:rPr lang="en-US" altLang="en-US" sz="2600" b="1" dirty="0" smtClean="0">
                <a:solidFill>
                  <a:srgbClr val="ED6B06"/>
                </a:solidFill>
                <a:latin typeface="+mn-lt"/>
                <a:cs typeface="+mn-cs"/>
              </a:rPr>
              <a:t>LO 3.7 </a:t>
            </a:r>
            <a:r>
              <a:rPr lang="en-IN" altLang="en-US" sz="2600" dirty="0">
                <a:latin typeface="+mn-lt"/>
                <a:cs typeface="+mn-cs"/>
              </a:rPr>
              <a:t>Compare and contrast the light (</a:t>
            </a:r>
            <a:r>
              <a:rPr lang="en-IN" altLang="en-US" sz="2600" dirty="0" err="1">
                <a:latin typeface="+mn-lt"/>
                <a:cs typeface="+mn-cs"/>
              </a:rPr>
              <a:t>nonferromagnesian</a:t>
            </a:r>
            <a:r>
              <a:rPr lang="en-IN" altLang="en-US" sz="2600" dirty="0">
                <a:latin typeface="+mn-lt"/>
                <a:cs typeface="+mn-cs"/>
              </a:rPr>
              <a:t>) silicates with the dark (ferromagnesian) silicates and list three common minerals in each group</a:t>
            </a:r>
            <a:r>
              <a:rPr lang="en-IN" altLang="en-US" sz="2600" dirty="0" smtClean="0">
                <a:latin typeface="+mn-lt"/>
                <a:cs typeface="+mn-cs"/>
              </a:rPr>
              <a:t>.</a:t>
            </a:r>
            <a:endParaRPr lang="en-US" altLang="en-US" sz="2600" dirty="0" smtClean="0">
              <a:latin typeface="+mn-lt"/>
              <a:cs typeface="+mn-cs"/>
            </a:endParaRPr>
          </a:p>
          <a:p>
            <a:pPr marL="342900" indent="-342900" eaLnBrk="1" hangingPunct="1">
              <a:spcBef>
                <a:spcPct val="20000"/>
              </a:spcBef>
              <a:buClr>
                <a:schemeClr val="tx1"/>
              </a:buClr>
              <a:buChar char="•"/>
              <a:defRPr/>
            </a:pPr>
            <a:r>
              <a:rPr lang="en-US" altLang="en-US" sz="2600" b="1" dirty="0" smtClean="0">
                <a:solidFill>
                  <a:srgbClr val="ED6B06"/>
                </a:solidFill>
                <a:latin typeface="+mn-lt"/>
                <a:cs typeface="+mn-cs"/>
              </a:rPr>
              <a:t>LO </a:t>
            </a:r>
            <a:r>
              <a:rPr lang="en-US" altLang="en-US" sz="2600" b="1" dirty="0">
                <a:solidFill>
                  <a:srgbClr val="ED6B06"/>
                </a:solidFill>
                <a:latin typeface="+mn-lt"/>
                <a:cs typeface="+mn-cs"/>
              </a:rPr>
              <a:t>3</a:t>
            </a:r>
            <a:r>
              <a:rPr lang="en-US" altLang="en-US" sz="2600" b="1" dirty="0" smtClean="0">
                <a:solidFill>
                  <a:srgbClr val="ED6B06"/>
                </a:solidFill>
                <a:latin typeface="+mn-lt"/>
                <a:cs typeface="+mn-cs"/>
              </a:rPr>
              <a:t>.8 </a:t>
            </a:r>
            <a:r>
              <a:rPr lang="en-IN" altLang="en-US" sz="2600" dirty="0">
                <a:latin typeface="+mn-lt"/>
                <a:cs typeface="+mn-cs"/>
              </a:rPr>
              <a:t>List the common </a:t>
            </a:r>
            <a:r>
              <a:rPr lang="en-IN" altLang="en-US" sz="2600" dirty="0" err="1">
                <a:latin typeface="+mn-lt"/>
                <a:cs typeface="+mn-cs"/>
              </a:rPr>
              <a:t>nonsilicate</a:t>
            </a:r>
            <a:r>
              <a:rPr lang="en-IN" altLang="en-US" sz="2600" dirty="0">
                <a:latin typeface="+mn-lt"/>
                <a:cs typeface="+mn-cs"/>
              </a:rPr>
              <a:t> minerals and explain why each is important</a:t>
            </a:r>
            <a:r>
              <a:rPr lang="en-IN" altLang="en-US" sz="2600" dirty="0" smtClean="0">
                <a:latin typeface="+mn-lt"/>
                <a:cs typeface="+mn-cs"/>
              </a:rPr>
              <a:t>.</a:t>
            </a:r>
          </a:p>
          <a:p>
            <a:pPr marL="342900" indent="-342900" eaLnBrk="1" hangingPunct="1">
              <a:spcBef>
                <a:spcPct val="20000"/>
              </a:spcBef>
              <a:buClr>
                <a:schemeClr val="tx1"/>
              </a:buClr>
              <a:buFontTx/>
              <a:buChar char="•"/>
              <a:defRPr/>
            </a:pPr>
            <a:r>
              <a:rPr lang="en-US" altLang="en-US" sz="2600" b="1" dirty="0">
                <a:solidFill>
                  <a:srgbClr val="ED6B06"/>
                </a:solidFill>
              </a:rPr>
              <a:t>LO </a:t>
            </a:r>
            <a:r>
              <a:rPr lang="en-US" altLang="en-US" sz="2600" b="1" dirty="0" smtClean="0">
                <a:solidFill>
                  <a:srgbClr val="ED6B06"/>
                </a:solidFill>
              </a:rPr>
              <a:t>3.9 </a:t>
            </a:r>
            <a:r>
              <a:rPr lang="en-IN" altLang="en-US" sz="2600" dirty="0"/>
              <a:t>Discuss Earth’s mineral resources in terms of renewability.  Differentiate between mineral resources and ore deposits.</a:t>
            </a:r>
          </a:p>
        </p:txBody>
      </p:sp>
    </p:spTree>
    <p:extLst>
      <p:ext uri="{BB962C8B-B14F-4D97-AF65-F5344CB8AC3E}">
        <p14:creationId xmlns:p14="http://schemas.microsoft.com/office/powerpoint/2010/main" val="4000348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2"/>
          <p:cNvSpPr>
            <a:spLocks noGrp="1" noChangeArrowheads="1"/>
          </p:cNvSpPr>
          <p:nvPr>
            <p:ph type="title"/>
          </p:nvPr>
        </p:nvSpPr>
        <p:spPr>
          <a:xfrm>
            <a:off x="-9354" y="12700"/>
            <a:ext cx="8839201" cy="584200"/>
          </a:xfrm>
        </p:spPr>
        <p:txBody>
          <a:bodyPr/>
          <a:lstStyle/>
          <a:p>
            <a:pPr eaLnBrk="1" hangingPunct="1">
              <a:defRPr/>
            </a:pPr>
            <a:r>
              <a:rPr altLang="en-US" dirty="0" smtClean="0"/>
              <a:t>3.1</a:t>
            </a:r>
            <a:r>
              <a:rPr lang="en-IN" altLang="en-US" dirty="0" smtClean="0"/>
              <a:t> </a:t>
            </a:r>
            <a:r>
              <a:rPr altLang="en-US" dirty="0" smtClean="0"/>
              <a:t>Minerals: Building Blocks of Rocks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381772" y="1204186"/>
            <a:ext cx="8229600" cy="3413081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Definition of a mineral</a:t>
            </a:r>
          </a:p>
          <a:p>
            <a:pPr lvl="1" eaLnBrk="1" hangingPunct="1"/>
            <a:r>
              <a:rPr lang="en-US" altLang="en-US" dirty="0" smtClean="0"/>
              <a:t>Naturally occurring</a:t>
            </a:r>
          </a:p>
          <a:p>
            <a:pPr lvl="1" eaLnBrk="1" hangingPunct="1"/>
            <a:r>
              <a:rPr lang="en-US" altLang="en-US" dirty="0" smtClean="0"/>
              <a:t>Inorganic </a:t>
            </a:r>
          </a:p>
          <a:p>
            <a:pPr lvl="1" eaLnBrk="1" hangingPunct="1"/>
            <a:r>
              <a:rPr lang="en-US" altLang="en-US" dirty="0" smtClean="0"/>
              <a:t>Solid</a:t>
            </a:r>
          </a:p>
          <a:p>
            <a:pPr lvl="1" eaLnBrk="1" hangingPunct="1"/>
            <a:r>
              <a:rPr lang="en-US" altLang="en-US" dirty="0" smtClean="0"/>
              <a:t>Ordered internal molecular structure</a:t>
            </a:r>
          </a:p>
          <a:p>
            <a:pPr lvl="1" eaLnBrk="1" hangingPunct="1"/>
            <a:r>
              <a:rPr lang="en-US" altLang="en-US" dirty="0" smtClean="0"/>
              <a:t>Definite chemical composition</a:t>
            </a:r>
          </a:p>
          <a:p>
            <a:pPr eaLnBrk="1" hangingPunct="1"/>
            <a:r>
              <a:rPr lang="en-US" altLang="en-US" dirty="0" smtClean="0"/>
              <a:t>Definition of a rock</a:t>
            </a:r>
          </a:p>
          <a:p>
            <a:pPr lvl="1" eaLnBrk="1" hangingPunct="1"/>
            <a:r>
              <a:rPr lang="en-US" altLang="en-US" dirty="0" smtClean="0"/>
              <a:t>A solid aggregate or mass of minerals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idx="1"/>
          </p:nvPr>
        </p:nvSpPr>
        <p:spPr>
          <a:xfrm>
            <a:off x="381772" y="1210491"/>
            <a:ext cx="8229600" cy="2709659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Atomic structure</a:t>
            </a:r>
            <a:endParaRPr lang="en-US" altLang="en-US" sz="3600" dirty="0" smtClean="0"/>
          </a:p>
          <a:p>
            <a:pPr lvl="1" eaLnBrk="1" hangingPunct="1"/>
            <a:r>
              <a:rPr lang="en-US" altLang="en-US" dirty="0" smtClean="0"/>
              <a:t>Central region called the nucleus</a:t>
            </a:r>
          </a:p>
          <a:p>
            <a:pPr lvl="2" eaLnBrk="1" hangingPunct="1"/>
            <a:r>
              <a:rPr lang="en-US" altLang="en-US" dirty="0" smtClean="0"/>
              <a:t>Consists of protons (positive charges) and neutrons (neutral charges)</a:t>
            </a:r>
          </a:p>
          <a:p>
            <a:pPr lvl="1" eaLnBrk="1" hangingPunct="1"/>
            <a:r>
              <a:rPr lang="en-US" altLang="en-US" dirty="0" smtClean="0"/>
              <a:t>Electrons</a:t>
            </a:r>
          </a:p>
          <a:p>
            <a:pPr lvl="2" eaLnBrk="1" hangingPunct="1"/>
            <a:r>
              <a:rPr lang="en-US" altLang="en-US" dirty="0" smtClean="0"/>
              <a:t>Negatively charged particles that surround the nucleus</a:t>
            </a:r>
          </a:p>
          <a:p>
            <a:pPr lvl="2" eaLnBrk="1" hangingPunct="1"/>
            <a:r>
              <a:rPr lang="en-US" altLang="en-US" dirty="0" smtClean="0"/>
              <a:t>Located in discrete energy levels called shells</a:t>
            </a:r>
          </a:p>
        </p:txBody>
      </p:sp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-17463" y="7938"/>
            <a:ext cx="9126538" cy="579437"/>
          </a:xfrm>
        </p:spPr>
        <p:txBody>
          <a:bodyPr/>
          <a:lstStyle/>
          <a:p>
            <a:pPr>
              <a:defRPr/>
            </a:pPr>
            <a:r>
              <a:rPr altLang="en-US" dirty="0" smtClean="0"/>
              <a:t>3.2</a:t>
            </a:r>
            <a:r>
              <a:rPr lang="en-IN" altLang="en-US" dirty="0" smtClean="0"/>
              <a:t> </a:t>
            </a:r>
            <a:r>
              <a:rPr altLang="en-US" dirty="0" smtClean="0"/>
              <a:t>Atoms:</a:t>
            </a:r>
            <a:r>
              <a:rPr lang="en-IN" altLang="en-US" dirty="0" smtClean="0"/>
              <a:t> </a:t>
            </a:r>
            <a:r>
              <a:rPr altLang="en-US" dirty="0" smtClean="0"/>
              <a:t>Building Blocks of Minerals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-26988" y="7938"/>
            <a:ext cx="9128126" cy="585787"/>
          </a:xfrm>
        </p:spPr>
        <p:txBody>
          <a:bodyPr/>
          <a:lstStyle/>
          <a:p>
            <a:pPr>
              <a:defRPr/>
            </a:pPr>
            <a:r>
              <a:rPr altLang="en-US" smtClean="0"/>
              <a:t>Idealized Structure of an Atom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75580" y="1018384"/>
            <a:ext cx="5992839" cy="5185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itle 1"/>
          <p:cNvSpPr>
            <a:spLocks noGrp="1"/>
          </p:cNvSpPr>
          <p:nvPr>
            <p:ph type="title"/>
          </p:nvPr>
        </p:nvSpPr>
        <p:spPr>
          <a:xfrm>
            <a:off x="-17463" y="0"/>
            <a:ext cx="9144001" cy="1077913"/>
          </a:xfrm>
        </p:spPr>
        <p:txBody>
          <a:bodyPr/>
          <a:lstStyle/>
          <a:p>
            <a:pPr>
              <a:defRPr/>
            </a:pPr>
            <a:r>
              <a:rPr altLang="en-US" dirty="0" smtClean="0"/>
              <a:t>Elements:</a:t>
            </a:r>
            <a:r>
              <a:rPr lang="en-IN" altLang="en-US" dirty="0" smtClean="0"/>
              <a:t> </a:t>
            </a:r>
            <a:r>
              <a:rPr altLang="en-US" dirty="0" smtClean="0"/>
              <a:t>Defined by Their Number of Protons</a:t>
            </a:r>
          </a:p>
        </p:txBody>
      </p:sp>
      <p:pic>
        <p:nvPicPr>
          <p:cNvPr id="2050" name="Picture 2" descr="\\integrafs5\DeLS_Pondy\71_Pearson_US_IRDVD\08. Working_Folder\Copyright Removed Jpegs\Lutgens_EOG_13e\Chapter03\Jpegs_Labeled\EOG_13e_Figure_03_0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683" y="1339944"/>
            <a:ext cx="7023047" cy="4961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3"/>
          <p:cNvSpPr>
            <a:spLocks noGrp="1" noChangeArrowheads="1"/>
          </p:cNvSpPr>
          <p:nvPr>
            <p:ph idx="1"/>
          </p:nvPr>
        </p:nvSpPr>
        <p:spPr>
          <a:xfrm>
            <a:off x="381772" y="1211264"/>
            <a:ext cx="8229600" cy="3243042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Chemical bonding</a:t>
            </a:r>
          </a:p>
          <a:p>
            <a:pPr lvl="1" eaLnBrk="1" hangingPunct="1"/>
            <a:r>
              <a:rPr lang="en-US" altLang="en-US" dirty="0" smtClean="0"/>
              <a:t>Formation of a compound by combining two or more elements by transferring or sharing electrons</a:t>
            </a:r>
          </a:p>
          <a:p>
            <a:pPr eaLnBrk="1" hangingPunct="1"/>
            <a:r>
              <a:rPr lang="en-US" altLang="en-US" dirty="0" smtClean="0"/>
              <a:t>Ionic bonding</a:t>
            </a:r>
          </a:p>
          <a:p>
            <a:pPr lvl="1" eaLnBrk="1" hangingPunct="1"/>
            <a:r>
              <a:rPr lang="en-US" altLang="en-US" dirty="0" smtClean="0"/>
              <a:t>Atoms gain or lose outermost (valence) electrons to </a:t>
            </a:r>
            <a:br>
              <a:rPr lang="en-US" altLang="en-US" dirty="0" smtClean="0"/>
            </a:br>
            <a:r>
              <a:rPr lang="en-US" altLang="en-US" dirty="0" smtClean="0"/>
              <a:t>form ions</a:t>
            </a:r>
          </a:p>
          <a:p>
            <a:pPr lvl="1" eaLnBrk="1" hangingPunct="1"/>
            <a:r>
              <a:rPr lang="en-US" altLang="en-US" dirty="0" smtClean="0"/>
              <a:t>Ionic compounds consist of an orderly arrangement </a:t>
            </a:r>
            <a:br>
              <a:rPr lang="en-US" altLang="en-US" dirty="0" smtClean="0"/>
            </a:br>
            <a:r>
              <a:rPr lang="en-US" altLang="en-US" dirty="0" smtClean="0"/>
              <a:t>of oppositely charged ions</a:t>
            </a:r>
          </a:p>
        </p:txBody>
      </p:sp>
      <p:sp>
        <p:nvSpPr>
          <p:cNvPr id="15362" name="Title 1"/>
          <p:cNvSpPr>
            <a:spLocks noGrp="1"/>
          </p:cNvSpPr>
          <p:nvPr>
            <p:ph type="title"/>
          </p:nvPr>
        </p:nvSpPr>
        <p:spPr>
          <a:xfrm>
            <a:off x="-17463" y="7938"/>
            <a:ext cx="9126538" cy="579437"/>
          </a:xfrm>
        </p:spPr>
        <p:txBody>
          <a:bodyPr/>
          <a:lstStyle/>
          <a:p>
            <a:pPr>
              <a:defRPr/>
            </a:pPr>
            <a:r>
              <a:rPr altLang="en-US" dirty="0" smtClean="0"/>
              <a:t>3.3</a:t>
            </a:r>
            <a:r>
              <a:rPr lang="en-IN" altLang="en-US" dirty="0" smtClean="0"/>
              <a:t> </a:t>
            </a:r>
            <a:r>
              <a:rPr altLang="en-US" dirty="0" smtClean="0"/>
              <a:t>Why Atoms Bond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itle 1"/>
          <p:cNvSpPr>
            <a:spLocks noGrp="1"/>
          </p:cNvSpPr>
          <p:nvPr>
            <p:ph type="title"/>
          </p:nvPr>
        </p:nvSpPr>
        <p:spPr>
          <a:xfrm>
            <a:off x="-26988" y="7938"/>
            <a:ext cx="9128126" cy="585787"/>
          </a:xfrm>
        </p:spPr>
        <p:txBody>
          <a:bodyPr/>
          <a:lstStyle/>
          <a:p>
            <a:pPr>
              <a:defRPr/>
            </a:pPr>
            <a:r>
              <a:rPr altLang="en-US" smtClean="0"/>
              <a:t>Halite (NaCl): An Example of Ionic Bonding</a:t>
            </a:r>
          </a:p>
        </p:txBody>
      </p:sp>
      <p:pic>
        <p:nvPicPr>
          <p:cNvPr id="3074" name="Picture 2" descr="\\integrafs5\DeLS_Pondy\71_Pearson_US_IRDVD\08. Working_Folder\Copyright Removed Jpegs\Lutgens_EOG_13e\Chapter03\Jpegs_Labeled\EOG_13e_Figure_03_08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988" y="1509134"/>
            <a:ext cx="8326437" cy="4291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/>
          <p:cNvSpPr>
            <a:spLocks noGrp="1" noChangeArrowheads="1"/>
          </p:cNvSpPr>
          <p:nvPr>
            <p:ph idx="1"/>
          </p:nvPr>
        </p:nvSpPr>
        <p:spPr>
          <a:xfrm>
            <a:off x="381772" y="1255624"/>
            <a:ext cx="8229600" cy="2628399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 smtClean="0"/>
              <a:t>Covalent bonding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 smtClean="0"/>
              <a:t>Atoms share electrons to achieve electrical </a:t>
            </a:r>
            <a:r>
              <a:rPr lang="en-US" altLang="en-US" dirty="0" smtClean="0"/>
              <a:t>neutrality.</a:t>
            </a:r>
            <a:endParaRPr lang="en-US" altLang="en-US" dirty="0" smtClean="0"/>
          </a:p>
          <a:p>
            <a:pPr lvl="1" eaLnBrk="1" hangingPunct="1">
              <a:lnSpc>
                <a:spcPct val="90000"/>
              </a:lnSpc>
            </a:pPr>
            <a:r>
              <a:rPr lang="en-US" altLang="en-US" dirty="0" smtClean="0"/>
              <a:t>Covalent compounds are generally stronger than ionic </a:t>
            </a:r>
            <a:r>
              <a:rPr lang="en-US" altLang="en-US" dirty="0" smtClean="0"/>
              <a:t>bonds.</a:t>
            </a:r>
            <a:endParaRPr lang="en-US" altLang="en-US" dirty="0" smtClean="0"/>
          </a:p>
          <a:p>
            <a:pPr lvl="1" eaLnBrk="1" hangingPunct="1">
              <a:lnSpc>
                <a:spcPct val="90000"/>
              </a:lnSpc>
            </a:pPr>
            <a:r>
              <a:rPr lang="en-US" altLang="en-US" dirty="0" smtClean="0"/>
              <a:t>Both ionic and covalent bonds typically occur in the same compound (bonds are seldom 100 percent ionic or covalent in character</a:t>
            </a:r>
            <a:r>
              <a:rPr lang="en-US" altLang="en-US" dirty="0" smtClean="0"/>
              <a:t>).</a:t>
            </a:r>
            <a:endParaRPr lang="en-US" altLang="en-US" sz="2800" b="1" dirty="0" smtClean="0"/>
          </a:p>
        </p:txBody>
      </p:sp>
      <p:sp>
        <p:nvSpPr>
          <p:cNvPr id="17410" name="Title 1"/>
          <p:cNvSpPr>
            <a:spLocks noGrp="1"/>
          </p:cNvSpPr>
          <p:nvPr>
            <p:ph type="title"/>
          </p:nvPr>
        </p:nvSpPr>
        <p:spPr>
          <a:xfrm>
            <a:off x="-17463" y="7938"/>
            <a:ext cx="9126538" cy="579437"/>
          </a:xfrm>
        </p:spPr>
        <p:txBody>
          <a:bodyPr/>
          <a:lstStyle/>
          <a:p>
            <a:pPr>
              <a:defRPr/>
            </a:pPr>
            <a:r>
              <a:rPr altLang="en-US" dirty="0" smtClean="0"/>
              <a:t>3.3</a:t>
            </a:r>
            <a:r>
              <a:rPr lang="en-IN" altLang="en-US" dirty="0" smtClean="0"/>
              <a:t> </a:t>
            </a:r>
            <a:r>
              <a:rPr altLang="en-US" dirty="0" smtClean="0"/>
              <a:t>Why Atoms Bond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2"/>
          <p:cNvSpPr>
            <a:spLocks noGrp="1"/>
          </p:cNvSpPr>
          <p:nvPr>
            <p:ph type="title"/>
          </p:nvPr>
        </p:nvSpPr>
        <p:spPr>
          <a:xfrm>
            <a:off x="-17463" y="0"/>
            <a:ext cx="9144001" cy="1077913"/>
          </a:xfrm>
        </p:spPr>
        <p:txBody>
          <a:bodyPr/>
          <a:lstStyle/>
          <a:p>
            <a:pPr>
              <a:defRPr/>
            </a:pPr>
            <a:r>
              <a:rPr altLang="en-US" smtClean="0"/>
              <a:t>Covalent Bonding: Sharing of Valence Electrons</a:t>
            </a:r>
          </a:p>
        </p:txBody>
      </p:sp>
      <p:pic>
        <p:nvPicPr>
          <p:cNvPr id="4098" name="Picture 2" descr="\\integrafs5\DeLS_Pondy\71_Pearson_US_IRDVD\08. Working_Folder\Copyright Removed Jpegs\Lutgens_EOG_13e\Chapter03\Jpegs_Labeled\EOG_13e_Figure_03_09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6738" y="1523984"/>
            <a:ext cx="4448936" cy="4766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/>
          <p:cNvSpPr>
            <a:spLocks noGrp="1" noChangeArrowheads="1"/>
          </p:cNvSpPr>
          <p:nvPr>
            <p:ph idx="1"/>
          </p:nvPr>
        </p:nvSpPr>
        <p:spPr>
          <a:xfrm>
            <a:off x="381772" y="1210402"/>
            <a:ext cx="8229600" cy="1342675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Metallic bonding</a:t>
            </a:r>
          </a:p>
          <a:p>
            <a:pPr lvl="1" eaLnBrk="1" hangingPunct="1"/>
            <a:r>
              <a:rPr lang="en-US" altLang="en-US" dirty="0" smtClean="0"/>
              <a:t>Valence electrons are free to migrate among atoms</a:t>
            </a:r>
          </a:p>
          <a:p>
            <a:pPr lvl="1" eaLnBrk="1" hangingPunct="1"/>
            <a:r>
              <a:rPr lang="en-US" altLang="en-US" dirty="0" smtClean="0"/>
              <a:t>Weaker and less common than ionic or covalent bonds</a:t>
            </a:r>
          </a:p>
        </p:txBody>
      </p:sp>
      <p:sp>
        <p:nvSpPr>
          <p:cNvPr id="19458" name="Title 1"/>
          <p:cNvSpPr>
            <a:spLocks noGrp="1"/>
          </p:cNvSpPr>
          <p:nvPr>
            <p:ph type="title"/>
          </p:nvPr>
        </p:nvSpPr>
        <p:spPr>
          <a:xfrm>
            <a:off x="-17463" y="-1588"/>
            <a:ext cx="9126538" cy="579438"/>
          </a:xfrm>
        </p:spPr>
        <p:txBody>
          <a:bodyPr/>
          <a:lstStyle/>
          <a:p>
            <a:pPr>
              <a:defRPr/>
            </a:pPr>
            <a:r>
              <a:rPr altLang="en-US" smtClean="0"/>
              <a:t>Composition of Minerals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Grp="1" noChangeArrowheads="1"/>
          </p:cNvSpPr>
          <p:nvPr>
            <p:ph type="title"/>
          </p:nvPr>
        </p:nvSpPr>
        <p:spPr>
          <a:xfrm>
            <a:off x="-17463" y="7938"/>
            <a:ext cx="9126538" cy="585787"/>
          </a:xfrm>
        </p:spPr>
        <p:txBody>
          <a:bodyPr/>
          <a:lstStyle/>
          <a:p>
            <a:pPr eaLnBrk="1" hangingPunct="1">
              <a:defRPr/>
            </a:pPr>
            <a:r>
              <a:rPr altLang="en-US" dirty="0" smtClean="0"/>
              <a:t>Metallic Bonding</a:t>
            </a:r>
          </a:p>
        </p:txBody>
      </p:sp>
      <p:pic>
        <p:nvPicPr>
          <p:cNvPr id="5122" name="Picture 2" descr="\\integrafs5\DeLS_Pondy\71_Pearson_US_IRDVD\08. Working_Folder\Copyright Removed Jpegs\Lutgens_EOG_13e\Chapter03\Jpegs_Labeled\EOG_13e_Figure_03_1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9193" y="1293572"/>
            <a:ext cx="4505614" cy="4965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3"/>
          <p:cNvSpPr>
            <a:spLocks noGrp="1" noChangeArrowheads="1"/>
          </p:cNvSpPr>
          <p:nvPr>
            <p:ph idx="1"/>
          </p:nvPr>
        </p:nvSpPr>
        <p:spPr>
          <a:xfrm>
            <a:off x="381772" y="1210402"/>
            <a:ext cx="8143920" cy="2969714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Optical Properties</a:t>
            </a:r>
          </a:p>
          <a:p>
            <a:pPr lvl="1" eaLnBrk="1" hangingPunct="1"/>
            <a:r>
              <a:rPr lang="en-US" altLang="en-US" dirty="0" smtClean="0"/>
              <a:t>Luster</a:t>
            </a:r>
          </a:p>
          <a:p>
            <a:pPr lvl="2" eaLnBrk="1" hangingPunct="1"/>
            <a:r>
              <a:rPr lang="en-US" altLang="en-US" dirty="0" smtClean="0"/>
              <a:t>Appearance of a mineral in reflected light</a:t>
            </a:r>
          </a:p>
          <a:p>
            <a:pPr lvl="2" eaLnBrk="1" hangingPunct="1"/>
            <a:r>
              <a:rPr lang="en-US" altLang="en-US" dirty="0" smtClean="0"/>
              <a:t>Two basic categories</a:t>
            </a:r>
          </a:p>
          <a:p>
            <a:pPr lvl="3" eaLnBrk="1" hangingPunct="1"/>
            <a:r>
              <a:rPr lang="en-US" altLang="en-US" dirty="0" smtClean="0"/>
              <a:t>Metallic</a:t>
            </a:r>
          </a:p>
          <a:p>
            <a:pPr lvl="3" eaLnBrk="1" hangingPunct="1"/>
            <a:r>
              <a:rPr lang="en-US" altLang="en-US" dirty="0" smtClean="0"/>
              <a:t>Nonmetallic</a:t>
            </a:r>
          </a:p>
          <a:p>
            <a:pPr lvl="2" eaLnBrk="1" hangingPunct="1"/>
            <a:r>
              <a:rPr lang="en-US" altLang="en-US" dirty="0" smtClean="0"/>
              <a:t>Other terms are used to further describe luster such as vitreous, silky, or </a:t>
            </a:r>
            <a:r>
              <a:rPr lang="en-US" altLang="en-US" dirty="0" smtClean="0"/>
              <a:t>earthy.</a:t>
            </a:r>
            <a:endParaRPr lang="en-US" altLang="en-US" dirty="0" smtClean="0"/>
          </a:p>
        </p:txBody>
      </p:sp>
      <p:sp>
        <p:nvSpPr>
          <p:cNvPr id="21506" name="Title 1"/>
          <p:cNvSpPr>
            <a:spLocks noGrp="1"/>
          </p:cNvSpPr>
          <p:nvPr>
            <p:ph type="title"/>
          </p:nvPr>
        </p:nvSpPr>
        <p:spPr>
          <a:xfrm>
            <a:off x="-26988" y="7938"/>
            <a:ext cx="9128126" cy="579437"/>
          </a:xfrm>
        </p:spPr>
        <p:txBody>
          <a:bodyPr/>
          <a:lstStyle/>
          <a:p>
            <a:pPr>
              <a:defRPr/>
            </a:pPr>
            <a:r>
              <a:rPr altLang="en-US" smtClean="0"/>
              <a:t>3.4 Properties of Minerals</a:t>
            </a:r>
          </a:p>
        </p:txBody>
      </p:sp>
      <p:pic>
        <p:nvPicPr>
          <p:cNvPr id="6146" name="Picture 2" descr="\\integrafs5\DeLS_Pondy\71_Pearson_US_IRDVD\08. Working_Folder\Copyright Removed Jpegs\Lutgens_EOG_13e\Chapter03\Jpegs_Labeled\EOG_13e_Figure_03_1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8426" y="4308844"/>
            <a:ext cx="3247149" cy="2158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3"/>
          <p:cNvSpPr>
            <a:spLocks noGrp="1" noChangeArrowheads="1"/>
          </p:cNvSpPr>
          <p:nvPr>
            <p:ph idx="1"/>
          </p:nvPr>
        </p:nvSpPr>
        <p:spPr>
          <a:xfrm>
            <a:off x="381772" y="1213743"/>
            <a:ext cx="8229600" cy="2670194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Optical Properties</a:t>
            </a:r>
          </a:p>
          <a:p>
            <a:pPr lvl="1" eaLnBrk="1" hangingPunct="1"/>
            <a:r>
              <a:rPr lang="en-US" altLang="en-US" dirty="0" smtClean="0"/>
              <a:t>Color</a:t>
            </a:r>
          </a:p>
          <a:p>
            <a:pPr lvl="2" eaLnBrk="1" hangingPunct="1"/>
            <a:r>
              <a:rPr lang="en-US" altLang="en-US" dirty="0" smtClean="0"/>
              <a:t>Generally an unreliable diagnostic property to use for mineral identification</a:t>
            </a:r>
          </a:p>
          <a:p>
            <a:pPr lvl="2" eaLnBrk="1" hangingPunct="1"/>
            <a:r>
              <a:rPr lang="en-US" altLang="en-US" dirty="0" smtClean="0"/>
              <a:t>Often highly variable for a given mineral because of slight changes in mineral chemistry</a:t>
            </a:r>
          </a:p>
          <a:p>
            <a:pPr lvl="2" eaLnBrk="1" hangingPunct="1"/>
            <a:r>
              <a:rPr lang="en-US" altLang="en-US" dirty="0" smtClean="0"/>
              <a:t>Exotic colorations of some minerals produce gemstones</a:t>
            </a:r>
          </a:p>
        </p:txBody>
      </p:sp>
      <p:sp>
        <p:nvSpPr>
          <p:cNvPr id="22530" name="Title 1"/>
          <p:cNvSpPr>
            <a:spLocks noGrp="1"/>
          </p:cNvSpPr>
          <p:nvPr>
            <p:ph type="title"/>
          </p:nvPr>
        </p:nvSpPr>
        <p:spPr>
          <a:xfrm>
            <a:off x="-26988" y="7938"/>
            <a:ext cx="9128126" cy="579437"/>
          </a:xfrm>
        </p:spPr>
        <p:txBody>
          <a:bodyPr/>
          <a:lstStyle/>
          <a:p>
            <a:pPr>
              <a:defRPr/>
            </a:pPr>
            <a:r>
              <a:rPr altLang="en-US" dirty="0" smtClean="0"/>
              <a:t>3.4 Properties of Minerals </a:t>
            </a:r>
            <a:r>
              <a:rPr lang="en-US" altLang="en-US" dirty="0"/>
              <a:t>(cont.)</a:t>
            </a:r>
            <a:endParaRPr altLang="en-US" dirty="0" smtClean="0"/>
          </a:p>
        </p:txBody>
      </p:sp>
      <p:sp>
        <p:nvSpPr>
          <p:cNvPr id="21509" name="Rectangle 5"/>
          <p:cNvSpPr>
            <a:spLocks noChangeArrowheads="1"/>
          </p:cNvSpPr>
          <p:nvPr/>
        </p:nvSpPr>
        <p:spPr bwMode="auto">
          <a:xfrm>
            <a:off x="7656513" y="3778936"/>
            <a:ext cx="946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hlinkClick r:id="rId2"/>
              </a:rPr>
              <a:t>Tutorial</a:t>
            </a:r>
            <a:endParaRPr lang="en-US" altLang="en-US" sz="1800" dirty="0"/>
          </a:p>
        </p:txBody>
      </p:sp>
      <p:pic>
        <p:nvPicPr>
          <p:cNvPr id="7170" name="Picture 2" descr="\\integrafs5\DeLS_Pondy\71_Pearson_US_IRDVD\08. Working_Folder\Copyright Removed Jpegs\Lutgens_EOG_13e\Chapter03\Jpegs_Labeled\EOG_13e_Figure_03_1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496" y="3959748"/>
            <a:ext cx="4001007" cy="2468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3"/>
          <p:cNvSpPr>
            <a:spLocks noGrp="1" noChangeArrowheads="1"/>
          </p:cNvSpPr>
          <p:nvPr>
            <p:ph idx="1"/>
          </p:nvPr>
        </p:nvSpPr>
        <p:spPr>
          <a:xfrm>
            <a:off x="381772" y="1247732"/>
            <a:ext cx="8229600" cy="149388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 smtClean="0"/>
              <a:t>Optical Properties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 smtClean="0"/>
              <a:t>Streak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dirty="0" smtClean="0"/>
              <a:t>Color of a mineral in its powdered form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dirty="0" smtClean="0"/>
              <a:t>Helpful in distinguishing different forms of the same mineral</a:t>
            </a:r>
          </a:p>
        </p:txBody>
      </p:sp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-26988" y="7938"/>
            <a:ext cx="9128126" cy="579437"/>
          </a:xfrm>
        </p:spPr>
        <p:txBody>
          <a:bodyPr/>
          <a:lstStyle/>
          <a:p>
            <a:pPr>
              <a:defRPr/>
            </a:pPr>
            <a:r>
              <a:rPr altLang="en-US" dirty="0" smtClean="0"/>
              <a:t>3.4 Properties of Minerals </a:t>
            </a:r>
            <a:r>
              <a:rPr lang="en-US" altLang="en-US" dirty="0"/>
              <a:t>(cont.)</a:t>
            </a:r>
            <a:endParaRPr altLang="en-US" dirty="0" smtClean="0"/>
          </a:p>
        </p:txBody>
      </p:sp>
      <p:sp>
        <p:nvSpPr>
          <p:cNvPr id="22533" name="Rectangle 5"/>
          <p:cNvSpPr>
            <a:spLocks noChangeArrowheads="1"/>
          </p:cNvSpPr>
          <p:nvPr/>
        </p:nvSpPr>
        <p:spPr bwMode="auto">
          <a:xfrm>
            <a:off x="7612063" y="2741613"/>
            <a:ext cx="7699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hlinkClick r:id="rId2"/>
              </a:rPr>
              <a:t>Video</a:t>
            </a:r>
            <a:endParaRPr lang="en-US" altLang="en-US" sz="1800" dirty="0"/>
          </a:p>
        </p:txBody>
      </p:sp>
      <p:pic>
        <p:nvPicPr>
          <p:cNvPr id="8194" name="Picture 2" descr="\\integrafs5\DeLS_Pondy\71_Pearson_US_IRDVD\08. Working_Folder\Copyright Removed Jpegs\Lutgens_EOG_13e\Chapter03\Jpegs_Labeled\EOG_13e_Figure_03_13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4660" y="2812804"/>
            <a:ext cx="4117243" cy="3686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\\integrafs5\DeLS_Pondy\71_Pearson_US_IRDVD\08. Working_Folder\Copyright Removed Jpegs\Lutgens_EOG_13e\Chapter03\Jpegs_Labeled\EOG_13e_Figure_03_16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0993" y="1247488"/>
            <a:ext cx="2967706" cy="5062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554" name="Rectangle 3"/>
          <p:cNvSpPr>
            <a:spLocks noGrp="1" noChangeArrowheads="1"/>
          </p:cNvSpPr>
          <p:nvPr>
            <p:ph idx="1"/>
          </p:nvPr>
        </p:nvSpPr>
        <p:spPr>
          <a:xfrm>
            <a:off x="381772" y="1211519"/>
            <a:ext cx="4495028" cy="266336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dirty="0"/>
              <a:t>Mineral Strength</a:t>
            </a:r>
          </a:p>
          <a:p>
            <a:pPr lvl="1" eaLnBrk="1" hangingPunct="1"/>
            <a:r>
              <a:rPr lang="en-US" altLang="en-US" dirty="0"/>
              <a:t>Hardness</a:t>
            </a:r>
          </a:p>
          <a:p>
            <a:pPr lvl="2" eaLnBrk="1" hangingPunct="1"/>
            <a:r>
              <a:rPr lang="en-US" altLang="en-US" dirty="0"/>
              <a:t>Resistance of a mineral to abrasion or scratching</a:t>
            </a:r>
          </a:p>
          <a:p>
            <a:pPr lvl="2" eaLnBrk="1" hangingPunct="1"/>
            <a:r>
              <a:rPr lang="en-US" altLang="en-US" dirty="0"/>
              <a:t>All minerals are compared to a standard scale called the </a:t>
            </a:r>
            <a:r>
              <a:rPr lang="en-US" altLang="en-US" dirty="0" err="1"/>
              <a:t>Mohs</a:t>
            </a:r>
            <a:r>
              <a:rPr lang="en-US" altLang="en-US" dirty="0"/>
              <a:t> scale of hardness</a:t>
            </a:r>
          </a:p>
        </p:txBody>
      </p:sp>
      <p:sp>
        <p:nvSpPr>
          <p:cNvPr id="24578" name="Title 1"/>
          <p:cNvSpPr>
            <a:spLocks noGrp="1"/>
          </p:cNvSpPr>
          <p:nvPr>
            <p:ph type="title"/>
          </p:nvPr>
        </p:nvSpPr>
        <p:spPr>
          <a:xfrm>
            <a:off x="-26988" y="7938"/>
            <a:ext cx="9128126" cy="579437"/>
          </a:xfrm>
        </p:spPr>
        <p:txBody>
          <a:bodyPr/>
          <a:lstStyle/>
          <a:p>
            <a:pPr>
              <a:defRPr/>
            </a:pPr>
            <a:r>
              <a:rPr altLang="en-US" dirty="0" smtClean="0"/>
              <a:t>3.4 Properties of Minerals </a:t>
            </a:r>
            <a:r>
              <a:rPr lang="en-US" altLang="en-US" dirty="0"/>
              <a:t>(cont.)</a:t>
            </a:r>
            <a:endParaRPr altLang="en-US" dirty="0" smtClean="0"/>
          </a:p>
        </p:txBody>
      </p:sp>
      <p:sp>
        <p:nvSpPr>
          <p:cNvPr id="23557" name="Rectangle 5"/>
          <p:cNvSpPr>
            <a:spLocks noChangeArrowheads="1"/>
          </p:cNvSpPr>
          <p:nvPr/>
        </p:nvSpPr>
        <p:spPr bwMode="auto">
          <a:xfrm>
            <a:off x="8129588" y="662648"/>
            <a:ext cx="946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hlinkClick r:id="rId3"/>
              </a:rPr>
              <a:t>Tutorial</a:t>
            </a:r>
            <a:endParaRPr lang="en-US" alt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3"/>
          <p:cNvSpPr>
            <a:spLocks noGrp="1" noChangeArrowheads="1"/>
          </p:cNvSpPr>
          <p:nvPr>
            <p:ph idx="1"/>
          </p:nvPr>
        </p:nvSpPr>
        <p:spPr>
          <a:xfrm>
            <a:off x="381772" y="1210402"/>
            <a:ext cx="8229600" cy="2709748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Mineral Strength</a:t>
            </a:r>
          </a:p>
          <a:p>
            <a:pPr lvl="1" eaLnBrk="1" hangingPunct="1"/>
            <a:r>
              <a:rPr lang="en-US" altLang="en-US" dirty="0" smtClean="0"/>
              <a:t>Cleavage</a:t>
            </a:r>
          </a:p>
          <a:p>
            <a:pPr lvl="2" eaLnBrk="1" hangingPunct="1"/>
            <a:r>
              <a:rPr lang="en-US" altLang="en-US" dirty="0" smtClean="0"/>
              <a:t>Tendency to break along planes of weak bonding</a:t>
            </a:r>
          </a:p>
          <a:p>
            <a:pPr lvl="2" eaLnBrk="1" hangingPunct="1"/>
            <a:r>
              <a:rPr lang="en-US" altLang="en-US" dirty="0" smtClean="0"/>
              <a:t>Produces flat, shiny surfaces</a:t>
            </a:r>
          </a:p>
          <a:p>
            <a:pPr lvl="2" eaLnBrk="1" hangingPunct="1"/>
            <a:r>
              <a:rPr lang="en-US" altLang="en-US" dirty="0" smtClean="0"/>
              <a:t>Described by resulting geometric shapes</a:t>
            </a:r>
          </a:p>
          <a:p>
            <a:pPr lvl="3" eaLnBrk="1" hangingPunct="1"/>
            <a:r>
              <a:rPr lang="en-US" altLang="en-US" dirty="0" smtClean="0"/>
              <a:t>Number of planes</a:t>
            </a:r>
          </a:p>
          <a:p>
            <a:pPr lvl="3" eaLnBrk="1" hangingPunct="1"/>
            <a:r>
              <a:rPr lang="en-US" altLang="en-US" dirty="0" smtClean="0"/>
              <a:t>Angles between adjacent planes</a:t>
            </a:r>
          </a:p>
        </p:txBody>
      </p:sp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-26988" y="7938"/>
            <a:ext cx="9128126" cy="579437"/>
          </a:xfrm>
        </p:spPr>
        <p:txBody>
          <a:bodyPr/>
          <a:lstStyle/>
          <a:p>
            <a:pPr>
              <a:defRPr/>
            </a:pPr>
            <a:r>
              <a:rPr altLang="en-US" dirty="0" smtClean="0"/>
              <a:t>3.4 Properties of Minerals </a:t>
            </a:r>
            <a:r>
              <a:rPr lang="en-US" altLang="en-US" dirty="0"/>
              <a:t>(cont.)</a:t>
            </a:r>
            <a:endParaRPr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>
          <a:xfrm>
            <a:off x="-17463" y="7938"/>
            <a:ext cx="9126538" cy="579437"/>
          </a:xfrm>
        </p:spPr>
        <p:txBody>
          <a:bodyPr/>
          <a:lstStyle/>
          <a:p>
            <a:pPr>
              <a:defRPr/>
            </a:pPr>
            <a:r>
              <a:rPr altLang="en-US" smtClean="0"/>
              <a:t>Common Cleavage Directions</a:t>
            </a:r>
          </a:p>
        </p:txBody>
      </p:sp>
      <p:sp>
        <p:nvSpPr>
          <p:cNvPr id="25604" name="Rectangle 4"/>
          <p:cNvSpPr>
            <a:spLocks noChangeArrowheads="1"/>
          </p:cNvSpPr>
          <p:nvPr/>
        </p:nvSpPr>
        <p:spPr bwMode="auto">
          <a:xfrm>
            <a:off x="7869238" y="682024"/>
            <a:ext cx="946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hlinkClick r:id="rId2"/>
              </a:rPr>
              <a:t>Tutorial</a:t>
            </a:r>
            <a:endParaRPr lang="en-US" altLang="en-US" sz="1800" dirty="0"/>
          </a:p>
        </p:txBody>
      </p:sp>
      <p:pic>
        <p:nvPicPr>
          <p:cNvPr id="10242" name="Picture 2" descr="\\integrafs5\DeLS_Pondy\71_Pearson_US_IRDVD\08. Working_Folder\Copyright Removed Jpegs\Lutgens_EOG_13e\Chapter03\Jpegs_Labeled\EOG_13e_Figure_03_18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600" y="1565424"/>
            <a:ext cx="8431213" cy="4230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3"/>
          <p:cNvSpPr>
            <a:spLocks noGrp="1" noChangeArrowheads="1"/>
          </p:cNvSpPr>
          <p:nvPr>
            <p:ph idx="1"/>
          </p:nvPr>
        </p:nvSpPr>
        <p:spPr>
          <a:xfrm>
            <a:off x="381772" y="1210402"/>
            <a:ext cx="8229600" cy="1713867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Specific gravity</a:t>
            </a:r>
          </a:p>
          <a:p>
            <a:pPr lvl="1" eaLnBrk="1" hangingPunct="1"/>
            <a:r>
              <a:rPr lang="en-US" altLang="en-US" dirty="0" smtClean="0"/>
              <a:t>Ratio of the weight of a mineral to the weight of an equal volume of water</a:t>
            </a:r>
          </a:p>
          <a:p>
            <a:pPr lvl="1" eaLnBrk="1" hangingPunct="1"/>
            <a:r>
              <a:rPr lang="en-US" altLang="en-US" dirty="0" smtClean="0"/>
              <a:t>Average value is approximately 2.7</a:t>
            </a:r>
            <a:endParaRPr lang="en-US" altLang="en-US" sz="2800" b="1" dirty="0" smtClean="0"/>
          </a:p>
        </p:txBody>
      </p:sp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-26988" y="7938"/>
            <a:ext cx="9128126" cy="579437"/>
          </a:xfrm>
        </p:spPr>
        <p:txBody>
          <a:bodyPr/>
          <a:lstStyle/>
          <a:p>
            <a:pPr>
              <a:defRPr/>
            </a:pPr>
            <a:r>
              <a:rPr altLang="en-US" dirty="0" smtClean="0"/>
              <a:t>3.4</a:t>
            </a:r>
            <a:r>
              <a:rPr lang="en-IN" altLang="en-US" dirty="0" smtClean="0"/>
              <a:t> </a:t>
            </a:r>
            <a:r>
              <a:rPr altLang="en-US" dirty="0" smtClean="0"/>
              <a:t>Properties of Minerals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-26516" y="7938"/>
            <a:ext cx="9005888" cy="601662"/>
          </a:xfrm>
        </p:spPr>
        <p:txBody>
          <a:bodyPr/>
          <a:lstStyle/>
          <a:p>
            <a:r>
              <a:rPr lang="en-US" altLang="en-US" dirty="0" smtClean="0"/>
              <a:t>3.4 </a:t>
            </a:r>
            <a:r>
              <a:rPr lang="en-US" altLang="en-US" dirty="0" smtClean="0"/>
              <a:t>Properties of </a:t>
            </a:r>
            <a:r>
              <a:rPr lang="en-US" altLang="en-US" dirty="0" smtClean="0"/>
              <a:t>Minerals (cont.)</a:t>
            </a:r>
            <a:endParaRPr lang="en-US" altLang="en-US" dirty="0" smtClean="0"/>
          </a:p>
        </p:txBody>
      </p:sp>
      <p:sp>
        <p:nvSpPr>
          <p:cNvPr id="27651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381816" y="1254763"/>
            <a:ext cx="4038600" cy="3335344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 smtClean="0"/>
              <a:t>Other properties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 smtClean="0"/>
              <a:t>Magnetism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 smtClean="0"/>
              <a:t>Reaction to hydrochloric acid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 smtClean="0"/>
              <a:t>Malleability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 smtClean="0"/>
              <a:t>Double refraction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 smtClean="0"/>
              <a:t>Taste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 smtClean="0"/>
              <a:t>Smell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 smtClean="0"/>
              <a:t>Elasticity</a:t>
            </a:r>
          </a:p>
        </p:txBody>
      </p:sp>
      <p:sp>
        <p:nvSpPr>
          <p:cNvPr id="27653" name="Rectangle 6"/>
          <p:cNvSpPr>
            <a:spLocks noChangeArrowheads="1"/>
          </p:cNvSpPr>
          <p:nvPr/>
        </p:nvSpPr>
        <p:spPr bwMode="auto">
          <a:xfrm>
            <a:off x="7824788" y="1193800"/>
            <a:ext cx="7699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hlinkClick r:id="rId2"/>
              </a:rPr>
              <a:t>Video</a:t>
            </a:r>
            <a:endParaRPr lang="en-US" altLang="en-US" sz="1800" dirty="0"/>
          </a:p>
        </p:txBody>
      </p:sp>
      <p:pic>
        <p:nvPicPr>
          <p:cNvPr id="21506" name="Picture 2" descr="\\integrafs5\DeLS_Pondy\71_Pearson_US_IRDVD\08. Working_Folder\Copyright Removed Jpegs\Lutgens_EOG_13e\Chapter03\Jpegs_Labeled\EOG_13e_Figure_03_2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2025" y="1664811"/>
            <a:ext cx="3694114" cy="4687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3"/>
          <p:cNvSpPr>
            <a:spLocks noGrp="1" noChangeArrowheads="1"/>
          </p:cNvSpPr>
          <p:nvPr>
            <p:ph idx="1"/>
          </p:nvPr>
        </p:nvSpPr>
        <p:spPr>
          <a:xfrm>
            <a:off x="381772" y="1251766"/>
            <a:ext cx="8229600" cy="2849971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 smtClean="0"/>
              <a:t>Nearly 4000 minerals have been identified on Earth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 smtClean="0"/>
              <a:t>Rock-forming minerals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 smtClean="0"/>
              <a:t>Common minerals that make up most of the rocks of Earth’s crust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 smtClean="0"/>
              <a:t>Only a few dozen members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 smtClean="0"/>
              <a:t>Composed mainly of the eight elements that make up more than 98 percent of the continental crust</a:t>
            </a:r>
          </a:p>
        </p:txBody>
      </p:sp>
      <p:sp>
        <p:nvSpPr>
          <p:cNvPr id="29698" name="Title 1"/>
          <p:cNvSpPr>
            <a:spLocks noGrp="1"/>
          </p:cNvSpPr>
          <p:nvPr>
            <p:ph type="title"/>
          </p:nvPr>
        </p:nvSpPr>
        <p:spPr>
          <a:xfrm>
            <a:off x="-34925" y="7938"/>
            <a:ext cx="9126538" cy="579437"/>
          </a:xfrm>
        </p:spPr>
        <p:txBody>
          <a:bodyPr/>
          <a:lstStyle/>
          <a:p>
            <a:pPr>
              <a:defRPr/>
            </a:pPr>
            <a:r>
              <a:rPr altLang="en-US" dirty="0" smtClean="0"/>
              <a:t>3.5</a:t>
            </a:r>
            <a:r>
              <a:rPr lang="en-IN" altLang="en-US" dirty="0" smtClean="0"/>
              <a:t> </a:t>
            </a:r>
            <a:r>
              <a:rPr altLang="en-US" dirty="0" smtClean="0"/>
              <a:t>Mineral Groups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>
          <a:xfrm>
            <a:off x="-26988" y="7938"/>
            <a:ext cx="9128126" cy="585787"/>
          </a:xfrm>
        </p:spPr>
        <p:txBody>
          <a:bodyPr/>
          <a:lstStyle/>
          <a:p>
            <a:pPr>
              <a:defRPr/>
            </a:pPr>
            <a:r>
              <a:rPr altLang="en-US" dirty="0" smtClean="0"/>
              <a:t>Elemental Abundances in Continental Crust</a:t>
            </a:r>
          </a:p>
        </p:txBody>
      </p:sp>
      <p:pic>
        <p:nvPicPr>
          <p:cNvPr id="11266" name="Picture 2" descr="\\integrafs5\DeLS_Pondy\71_Pearson_US_IRDVD\08. Working_Folder\Copyright Removed Jpegs\Lutgens_EOG_13e\Chapter03\Jpegs_Labeled\EOG_13e_Figure_03_2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6199" y="900064"/>
            <a:ext cx="6471603" cy="5404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/>
          <p:cNvSpPr>
            <a:spLocks noGrp="1" noChangeArrowheads="1"/>
          </p:cNvSpPr>
          <p:nvPr>
            <p:ph idx="1"/>
          </p:nvPr>
        </p:nvSpPr>
        <p:spPr>
          <a:xfrm>
            <a:off x="381772" y="1204187"/>
            <a:ext cx="8229600" cy="3123974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Silicates</a:t>
            </a:r>
          </a:p>
          <a:p>
            <a:pPr lvl="1" eaLnBrk="1" hangingPunct="1"/>
            <a:r>
              <a:rPr lang="en-US" altLang="en-US" dirty="0" smtClean="0"/>
              <a:t>Most important mineral group</a:t>
            </a:r>
          </a:p>
          <a:p>
            <a:pPr lvl="2" eaLnBrk="1" hangingPunct="1"/>
            <a:r>
              <a:rPr lang="en-US" altLang="en-US" dirty="0" smtClean="0"/>
              <a:t>Comprise most of the rock-forming minerals</a:t>
            </a:r>
          </a:p>
          <a:p>
            <a:pPr lvl="2" eaLnBrk="1" hangingPunct="1"/>
            <a:r>
              <a:rPr lang="en-US" altLang="en-US" dirty="0" smtClean="0"/>
              <a:t>Very abundant as a result of large amounts of silicon and oxygen in Earth’s crust</a:t>
            </a:r>
          </a:p>
          <a:p>
            <a:pPr lvl="1" eaLnBrk="1" hangingPunct="1"/>
            <a:r>
              <a:rPr lang="en-US" altLang="en-US" dirty="0" smtClean="0"/>
              <a:t>Basic building block is the silicon–oxygen tetrahedron molecule</a:t>
            </a:r>
          </a:p>
          <a:p>
            <a:pPr lvl="2" eaLnBrk="1" hangingPunct="1"/>
            <a:r>
              <a:rPr lang="en-US" altLang="en-US" dirty="0" smtClean="0"/>
              <a:t>Four oxygen ions surrounding a much smaller silicon ion</a:t>
            </a:r>
            <a:endParaRPr lang="en-US" altLang="en-US" sz="2800" dirty="0" smtClean="0"/>
          </a:p>
        </p:txBody>
      </p:sp>
      <p:sp>
        <p:nvSpPr>
          <p:cNvPr id="31746" name="Title 1"/>
          <p:cNvSpPr>
            <a:spLocks noGrp="1"/>
          </p:cNvSpPr>
          <p:nvPr>
            <p:ph type="title"/>
          </p:nvPr>
        </p:nvSpPr>
        <p:spPr>
          <a:xfrm>
            <a:off x="-34925" y="7938"/>
            <a:ext cx="9126538" cy="579437"/>
          </a:xfrm>
        </p:spPr>
        <p:txBody>
          <a:bodyPr/>
          <a:lstStyle/>
          <a:p>
            <a:pPr>
              <a:defRPr/>
            </a:pPr>
            <a:r>
              <a:rPr altLang="en-US" dirty="0" smtClean="0"/>
              <a:t>3.6</a:t>
            </a:r>
            <a:r>
              <a:rPr lang="en-IN" altLang="en-US" dirty="0" smtClean="0"/>
              <a:t> </a:t>
            </a:r>
            <a:r>
              <a:rPr altLang="en-US" dirty="0" smtClean="0"/>
              <a:t>The Silicates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>
          <a:xfrm>
            <a:off x="-17463" y="7938"/>
            <a:ext cx="9126538" cy="585787"/>
          </a:xfrm>
        </p:spPr>
        <p:txBody>
          <a:bodyPr/>
          <a:lstStyle/>
          <a:p>
            <a:pPr>
              <a:defRPr/>
            </a:pPr>
            <a:r>
              <a:rPr altLang="en-US" smtClean="0"/>
              <a:t>Two Illustrations of the Si–O Tetrahedron </a:t>
            </a:r>
          </a:p>
        </p:txBody>
      </p:sp>
      <p:pic>
        <p:nvPicPr>
          <p:cNvPr id="12290" name="Picture 2" descr="\\integrafs5\DeLS_Pondy\71_Pearson_US_IRDVD\08. Working_Folder\Copyright Removed Jpegs\Lutgens_EOG_13e\Chapter03\Jpegs_Labeled\EOG_13e_Figure_03_2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3184" y="985574"/>
            <a:ext cx="6457633" cy="5217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3"/>
          <p:cNvSpPr>
            <a:spLocks noGrp="1" noChangeArrowheads="1"/>
          </p:cNvSpPr>
          <p:nvPr>
            <p:ph idx="1"/>
          </p:nvPr>
        </p:nvSpPr>
        <p:spPr>
          <a:xfrm>
            <a:off x="381772" y="1210402"/>
            <a:ext cx="8229600" cy="3222261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Silicate structures</a:t>
            </a:r>
          </a:p>
          <a:p>
            <a:pPr lvl="1" eaLnBrk="1" hangingPunct="1"/>
            <a:r>
              <a:rPr lang="en-US" altLang="en-US" dirty="0" smtClean="0"/>
              <a:t>Single </a:t>
            </a:r>
            <a:r>
              <a:rPr lang="en-US" altLang="en-US" dirty="0" err="1" smtClean="0"/>
              <a:t>tetrahedra</a:t>
            </a:r>
            <a:r>
              <a:rPr lang="en-US" altLang="en-US" dirty="0" smtClean="0"/>
              <a:t> are linked together to form various structures including</a:t>
            </a:r>
          </a:p>
          <a:p>
            <a:pPr lvl="2" eaLnBrk="1" hangingPunct="1"/>
            <a:r>
              <a:rPr lang="en-US" altLang="en-US" dirty="0" smtClean="0">
                <a:solidFill>
                  <a:schemeClr val="tx2"/>
                </a:solidFill>
              </a:rPr>
              <a:t>Isolated </a:t>
            </a:r>
            <a:r>
              <a:rPr lang="en-US" altLang="en-US" dirty="0" err="1" smtClean="0">
                <a:solidFill>
                  <a:schemeClr val="tx2"/>
                </a:solidFill>
              </a:rPr>
              <a:t>tetrahedra</a:t>
            </a:r>
            <a:endParaRPr lang="en-US" altLang="en-US" dirty="0" smtClean="0">
              <a:solidFill>
                <a:schemeClr val="tx2"/>
              </a:solidFill>
            </a:endParaRPr>
          </a:p>
          <a:p>
            <a:pPr lvl="2" eaLnBrk="1" hangingPunct="1"/>
            <a:r>
              <a:rPr lang="en-US" altLang="en-US" dirty="0" smtClean="0">
                <a:solidFill>
                  <a:schemeClr val="tx2"/>
                </a:solidFill>
              </a:rPr>
              <a:t>Ring structures</a:t>
            </a:r>
          </a:p>
          <a:p>
            <a:pPr lvl="2" eaLnBrk="1" hangingPunct="1"/>
            <a:r>
              <a:rPr lang="en-US" altLang="en-US" dirty="0" smtClean="0">
                <a:solidFill>
                  <a:schemeClr val="tx2"/>
                </a:solidFill>
              </a:rPr>
              <a:t>Single- and double-chain structures</a:t>
            </a:r>
          </a:p>
          <a:p>
            <a:pPr lvl="2" eaLnBrk="1" hangingPunct="1"/>
            <a:r>
              <a:rPr lang="en-US" altLang="en-US" dirty="0" smtClean="0">
                <a:solidFill>
                  <a:schemeClr val="tx2"/>
                </a:solidFill>
              </a:rPr>
              <a:t>Sheet or layered structures</a:t>
            </a:r>
          </a:p>
          <a:p>
            <a:pPr lvl="2" eaLnBrk="1" hangingPunct="1"/>
            <a:r>
              <a:rPr lang="en-US" altLang="en-US" dirty="0" smtClean="0">
                <a:solidFill>
                  <a:schemeClr val="tx2"/>
                </a:solidFill>
              </a:rPr>
              <a:t>Complex three-dimensional structures</a:t>
            </a:r>
          </a:p>
        </p:txBody>
      </p:sp>
      <p:sp>
        <p:nvSpPr>
          <p:cNvPr id="33794" name="Title 1"/>
          <p:cNvSpPr>
            <a:spLocks noGrp="1"/>
          </p:cNvSpPr>
          <p:nvPr>
            <p:ph type="title"/>
          </p:nvPr>
        </p:nvSpPr>
        <p:spPr>
          <a:xfrm>
            <a:off x="-17463" y="7938"/>
            <a:ext cx="9126538" cy="579437"/>
          </a:xfrm>
        </p:spPr>
        <p:txBody>
          <a:bodyPr/>
          <a:lstStyle/>
          <a:p>
            <a:pPr>
              <a:defRPr/>
            </a:pPr>
            <a:r>
              <a:rPr altLang="en-US" dirty="0" smtClean="0"/>
              <a:t>3.6</a:t>
            </a:r>
            <a:r>
              <a:rPr lang="en-IN" altLang="en-US" dirty="0" smtClean="0"/>
              <a:t> </a:t>
            </a:r>
            <a:r>
              <a:rPr altLang="en-US" dirty="0" smtClean="0"/>
              <a:t>The Silicates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Title 1"/>
          <p:cNvSpPr>
            <a:spLocks noGrp="1"/>
          </p:cNvSpPr>
          <p:nvPr>
            <p:ph type="title"/>
          </p:nvPr>
        </p:nvSpPr>
        <p:spPr>
          <a:xfrm>
            <a:off x="-17463" y="7938"/>
            <a:ext cx="9126538" cy="579437"/>
          </a:xfrm>
        </p:spPr>
        <p:txBody>
          <a:bodyPr/>
          <a:lstStyle/>
          <a:p>
            <a:pPr>
              <a:defRPr/>
            </a:pPr>
            <a:r>
              <a:rPr altLang="en-US" smtClean="0"/>
              <a:t>Five Basic Silicate Structures</a:t>
            </a:r>
          </a:p>
        </p:txBody>
      </p:sp>
      <p:sp>
        <p:nvSpPr>
          <p:cNvPr id="33796" name="Rectangle 5"/>
          <p:cNvSpPr>
            <a:spLocks noChangeArrowheads="1"/>
          </p:cNvSpPr>
          <p:nvPr/>
        </p:nvSpPr>
        <p:spPr bwMode="auto">
          <a:xfrm>
            <a:off x="7788275" y="712788"/>
            <a:ext cx="9461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hlinkClick r:id="rId2"/>
              </a:rPr>
              <a:t>Tutorial</a:t>
            </a:r>
            <a:endParaRPr lang="en-US" altLang="en-US" sz="1800" dirty="0"/>
          </a:p>
        </p:txBody>
      </p:sp>
      <p:pic>
        <p:nvPicPr>
          <p:cNvPr id="13314" name="Picture 2" descr="\\integrafs5\DeLS_Pondy\71_Pearson_US_IRDVD\08. Working_Folder\Copyright Removed Jpegs\Lutgens_EOG_13e\Chapter03\Jpegs_Labeled\EOG_13e_Figure_03_24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225" y="1924050"/>
            <a:ext cx="8077200" cy="3786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/>
          <p:cNvSpPr>
            <a:spLocks noGrp="1" noChangeArrowheads="1"/>
          </p:cNvSpPr>
          <p:nvPr>
            <p:ph type="title"/>
          </p:nvPr>
        </p:nvSpPr>
        <p:spPr>
          <a:xfrm>
            <a:off x="-19050" y="0"/>
            <a:ext cx="9144000" cy="584200"/>
          </a:xfrm>
        </p:spPr>
        <p:txBody>
          <a:bodyPr/>
          <a:lstStyle/>
          <a:p>
            <a:pPr eaLnBrk="1" hangingPunct="1">
              <a:defRPr/>
            </a:pPr>
            <a:r>
              <a:rPr altLang="en-US" dirty="0" smtClean="0"/>
              <a:t>3.6</a:t>
            </a:r>
            <a:r>
              <a:rPr lang="en-IN" altLang="en-US" dirty="0" smtClean="0"/>
              <a:t> </a:t>
            </a:r>
            <a:r>
              <a:rPr altLang="en-US" dirty="0" smtClean="0"/>
              <a:t>The Silicates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>
          <a:xfrm>
            <a:off x="374650" y="1209631"/>
            <a:ext cx="8229600" cy="2954963"/>
          </a:xfrm>
        </p:spPr>
        <p:txBody>
          <a:bodyPr/>
          <a:lstStyle/>
          <a:p>
            <a:pPr eaLnBrk="1" hangingPunct="1"/>
            <a:r>
              <a:rPr lang="en-US" altLang="en-US" dirty="0" smtClean="0">
                <a:cs typeface="Times New Roman" pitchFamily="18" charset="0"/>
              </a:rPr>
              <a:t>Joining silicate structures</a:t>
            </a:r>
          </a:p>
          <a:p>
            <a:pPr lvl="1" eaLnBrk="1" hangingPunct="1"/>
            <a:r>
              <a:rPr lang="en-US" altLang="en-US" dirty="0" smtClean="0">
                <a:cs typeface="Times New Roman" pitchFamily="18" charset="0"/>
              </a:rPr>
              <a:t>Most silicate minerals have a net negative charge (except for quartz)</a:t>
            </a:r>
          </a:p>
          <a:p>
            <a:pPr lvl="1" eaLnBrk="1" hangingPunct="1"/>
            <a:r>
              <a:rPr lang="en-US" altLang="en-US" dirty="0" smtClean="0">
                <a:cs typeface="Times New Roman" pitchFamily="18" charset="0"/>
              </a:rPr>
              <a:t>Metal ions are required to balance the charge</a:t>
            </a:r>
          </a:p>
          <a:p>
            <a:pPr lvl="1" eaLnBrk="1" hangingPunct="1"/>
            <a:r>
              <a:rPr lang="en-US" altLang="en-US" dirty="0" smtClean="0">
                <a:cs typeface="Times New Roman" pitchFamily="18" charset="0"/>
              </a:rPr>
              <a:t>These positive ions bond with unshared oxygen ions in the </a:t>
            </a:r>
            <a:r>
              <a:rPr lang="en-US" altLang="en-US" dirty="0" err="1" smtClean="0">
                <a:cs typeface="Times New Roman" pitchFamily="18" charset="0"/>
              </a:rPr>
              <a:t>tetrahedra</a:t>
            </a:r>
            <a:endParaRPr lang="en-US" altLang="en-US" dirty="0" smtClean="0">
              <a:cs typeface="Times New Roman" pitchFamily="18" charset="0"/>
            </a:endParaRPr>
          </a:p>
          <a:p>
            <a:pPr lvl="2" eaLnBrk="1" hangingPunct="1"/>
            <a:r>
              <a:rPr lang="en-US" altLang="en-US" dirty="0" smtClean="0">
                <a:cs typeface="Times New Roman" pitchFamily="18" charset="0"/>
              </a:rPr>
              <a:t>Most common ions are Fe</a:t>
            </a:r>
            <a:r>
              <a:rPr lang="en-US" altLang="en-US" baseline="30000" dirty="0" smtClean="0">
                <a:cs typeface="Times New Roman" pitchFamily="18" charset="0"/>
              </a:rPr>
              <a:t>2+</a:t>
            </a:r>
            <a:r>
              <a:rPr lang="en-US" altLang="en-US" dirty="0" smtClean="0">
                <a:cs typeface="Times New Roman" pitchFamily="18" charset="0"/>
              </a:rPr>
              <a:t>, Mg</a:t>
            </a:r>
            <a:r>
              <a:rPr lang="en-US" altLang="en-US" baseline="30000" dirty="0" smtClean="0">
                <a:cs typeface="Times New Roman" pitchFamily="18" charset="0"/>
              </a:rPr>
              <a:t>2+</a:t>
            </a:r>
            <a:r>
              <a:rPr lang="en-US" altLang="en-US" dirty="0" smtClean="0">
                <a:cs typeface="Times New Roman" pitchFamily="18" charset="0"/>
              </a:rPr>
              <a:t>, K</a:t>
            </a:r>
            <a:r>
              <a:rPr lang="en-US" altLang="en-US" baseline="30000" dirty="0" smtClean="0">
                <a:cs typeface="Times New Roman" pitchFamily="18" charset="0"/>
              </a:rPr>
              <a:t>+</a:t>
            </a:r>
            <a:r>
              <a:rPr lang="en-US" altLang="en-US" dirty="0" smtClean="0">
                <a:cs typeface="Times New Roman" pitchFamily="18" charset="0"/>
              </a:rPr>
              <a:t>, Na</a:t>
            </a:r>
            <a:r>
              <a:rPr lang="en-US" altLang="en-US" baseline="30000" dirty="0" smtClean="0">
                <a:cs typeface="Times New Roman" pitchFamily="18" charset="0"/>
              </a:rPr>
              <a:t>+</a:t>
            </a:r>
            <a:r>
              <a:rPr lang="en-US" altLang="en-US" dirty="0" smtClean="0">
                <a:cs typeface="Times New Roman" pitchFamily="18" charset="0"/>
              </a:rPr>
              <a:t>, Al</a:t>
            </a:r>
            <a:r>
              <a:rPr lang="en-US" altLang="en-US" baseline="30000" dirty="0" smtClean="0">
                <a:cs typeface="Times New Roman" pitchFamily="18" charset="0"/>
              </a:rPr>
              <a:t>3+</a:t>
            </a:r>
            <a:r>
              <a:rPr lang="en-US" altLang="en-US" dirty="0" smtClean="0">
                <a:cs typeface="Times New Roman" pitchFamily="18" charset="0"/>
              </a:rPr>
              <a:t>, Ca</a:t>
            </a:r>
            <a:r>
              <a:rPr lang="en-US" altLang="en-US" baseline="30000" dirty="0" smtClean="0">
                <a:cs typeface="Times New Roman" pitchFamily="18" charset="0"/>
              </a:rPr>
              <a:t>2+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/>
          <p:cNvSpPr>
            <a:spLocks noGrp="1" noChangeArrowheads="1"/>
          </p:cNvSpPr>
          <p:nvPr>
            <p:ph type="title"/>
          </p:nvPr>
        </p:nvSpPr>
        <p:spPr>
          <a:xfrm>
            <a:off x="-19050" y="0"/>
            <a:ext cx="9144000" cy="584200"/>
          </a:xfrm>
        </p:spPr>
        <p:txBody>
          <a:bodyPr/>
          <a:lstStyle/>
          <a:p>
            <a:pPr eaLnBrk="1" hangingPunct="1">
              <a:defRPr/>
            </a:pPr>
            <a:r>
              <a:rPr altLang="en-US" dirty="0" smtClean="0"/>
              <a:t>3.6</a:t>
            </a:r>
            <a:r>
              <a:rPr lang="en-IN" altLang="en-US" dirty="0" smtClean="0"/>
              <a:t> </a:t>
            </a:r>
            <a:r>
              <a:rPr altLang="en-US" dirty="0" smtClean="0"/>
              <a:t>The Silicates </a:t>
            </a:r>
            <a:r>
              <a:rPr lang="en-US" altLang="en-US" dirty="0"/>
              <a:t>(cont.)</a:t>
            </a:r>
            <a:endParaRPr altLang="en-US" dirty="0" smtClean="0"/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>
          <a:xfrm>
            <a:off x="374650" y="1209632"/>
            <a:ext cx="8229600" cy="3244674"/>
          </a:xfrm>
        </p:spPr>
        <p:txBody>
          <a:bodyPr/>
          <a:lstStyle/>
          <a:p>
            <a:pPr eaLnBrk="1" hangingPunct="1"/>
            <a:r>
              <a:rPr lang="en-US" altLang="en-US" dirty="0" smtClean="0">
                <a:cs typeface="Times New Roman" pitchFamily="18" charset="0"/>
              </a:rPr>
              <a:t>Joining silicate structures</a:t>
            </a:r>
          </a:p>
          <a:p>
            <a:pPr lvl="1" eaLnBrk="1" hangingPunct="1"/>
            <a:r>
              <a:rPr lang="en-US" altLang="en-US" dirty="0" smtClean="0">
                <a:cs typeface="Times New Roman" pitchFamily="18" charset="0"/>
              </a:rPr>
              <a:t>Covalent silicon</a:t>
            </a:r>
            <a:r>
              <a:rPr lang="en-US" altLang="en-US" dirty="0" smtClean="0"/>
              <a:t>–</a:t>
            </a:r>
            <a:r>
              <a:rPr lang="en-US" altLang="en-US" dirty="0" smtClean="0">
                <a:cs typeface="Times New Roman" pitchFamily="18" charset="0"/>
              </a:rPr>
              <a:t>oxygen bonds are typically stronger than the ionic bonds of the silicate </a:t>
            </a:r>
            <a:r>
              <a:rPr lang="en-US" altLang="en-US" dirty="0" smtClean="0">
                <a:cs typeface="Times New Roman" pitchFamily="18" charset="0"/>
              </a:rPr>
              <a:t>structure.</a:t>
            </a:r>
            <a:endParaRPr lang="en-US" altLang="en-US" dirty="0" smtClean="0">
              <a:cs typeface="Times New Roman" pitchFamily="18" charset="0"/>
            </a:endParaRPr>
          </a:p>
          <a:p>
            <a:pPr lvl="1" eaLnBrk="1" hangingPunct="1"/>
            <a:r>
              <a:rPr lang="en-US" altLang="en-US" dirty="0" smtClean="0">
                <a:cs typeface="Times New Roman" pitchFamily="18" charset="0"/>
              </a:rPr>
              <a:t>Controls the cleavage and hardness of minerals</a:t>
            </a:r>
          </a:p>
          <a:p>
            <a:pPr lvl="2" eaLnBrk="1" hangingPunct="1"/>
            <a:r>
              <a:rPr lang="en-US" altLang="en-US" dirty="0" smtClean="0">
                <a:cs typeface="Times New Roman" pitchFamily="18" charset="0"/>
              </a:rPr>
              <a:t>Examples:</a:t>
            </a:r>
          </a:p>
          <a:p>
            <a:pPr lvl="3" eaLnBrk="1" hangingPunct="1"/>
            <a:r>
              <a:rPr lang="en-US" altLang="en-US" dirty="0" smtClean="0">
                <a:cs typeface="Times New Roman" pitchFamily="18" charset="0"/>
              </a:rPr>
              <a:t>Quartz has a three-dimensional framework, is very hard, and lacks </a:t>
            </a:r>
            <a:r>
              <a:rPr lang="en-US" altLang="en-US" dirty="0" smtClean="0">
                <a:cs typeface="Times New Roman" pitchFamily="18" charset="0"/>
              </a:rPr>
              <a:t>cleavage.</a:t>
            </a:r>
            <a:endParaRPr lang="en-US" altLang="en-US" dirty="0" smtClean="0">
              <a:cs typeface="Times New Roman" pitchFamily="18" charset="0"/>
            </a:endParaRPr>
          </a:p>
          <a:p>
            <a:pPr lvl="3" eaLnBrk="1" hangingPunct="1"/>
            <a:r>
              <a:rPr lang="en-US" altLang="en-US" dirty="0" smtClean="0">
                <a:cs typeface="Times New Roman" pitchFamily="18" charset="0"/>
              </a:rPr>
              <a:t>Talc has a sheet structure framework bonded with Mg ions and is a very soft </a:t>
            </a:r>
            <a:r>
              <a:rPr lang="en-US" altLang="en-US" dirty="0" smtClean="0">
                <a:cs typeface="Times New Roman" pitchFamily="18" charset="0"/>
              </a:rPr>
              <a:t>mineral.</a:t>
            </a:r>
            <a:endParaRPr lang="en-US" altLang="en-US" dirty="0" smtClean="0"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-26516" y="-1115"/>
            <a:ext cx="9005888" cy="601662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3.7 Common Silicate Minerals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381772" y="1204156"/>
            <a:ext cx="8335508" cy="4191709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The Light Silicates</a:t>
            </a:r>
          </a:p>
          <a:p>
            <a:pPr lvl="1" eaLnBrk="1" hangingPunct="1"/>
            <a:r>
              <a:rPr lang="en-US" altLang="en-US" dirty="0" smtClean="0">
                <a:cs typeface="Times New Roman" pitchFamily="18" charset="0"/>
              </a:rPr>
              <a:t>Generally light in color</a:t>
            </a:r>
          </a:p>
          <a:p>
            <a:pPr lvl="1" eaLnBrk="1" hangingPunct="1"/>
            <a:r>
              <a:rPr lang="en-US" altLang="en-US" dirty="0" smtClean="0">
                <a:cs typeface="Times New Roman" pitchFamily="18" charset="0"/>
              </a:rPr>
              <a:t>Specific gravity of approximately 2.7</a:t>
            </a:r>
          </a:p>
          <a:p>
            <a:pPr lvl="1" eaLnBrk="1" hangingPunct="1"/>
            <a:r>
              <a:rPr lang="en-US" altLang="en-US" dirty="0" smtClean="0">
                <a:cs typeface="Times New Roman" pitchFamily="18" charset="0"/>
              </a:rPr>
              <a:t>Lack iron and magnesium</a:t>
            </a:r>
          </a:p>
          <a:p>
            <a:pPr lvl="1" eaLnBrk="1" hangingPunct="1"/>
            <a:r>
              <a:rPr lang="en-US" altLang="en-US" dirty="0" smtClean="0">
                <a:cs typeface="Times New Roman" pitchFamily="18" charset="0"/>
              </a:rPr>
              <a:t>Contain varying amounts of aluminum, potassium, calcium, and sodium</a:t>
            </a:r>
          </a:p>
          <a:p>
            <a:pPr eaLnBrk="1" hangingPunct="1"/>
            <a:r>
              <a:rPr lang="en-US" altLang="en-US" dirty="0">
                <a:cs typeface="Times New Roman" pitchFamily="18" charset="0"/>
              </a:rPr>
              <a:t>The Dark Silicates</a:t>
            </a:r>
          </a:p>
          <a:p>
            <a:pPr lvl="1" eaLnBrk="1" hangingPunct="1"/>
            <a:r>
              <a:rPr lang="en-US" altLang="en-US" dirty="0">
                <a:cs typeface="Times New Roman" pitchFamily="18" charset="0"/>
              </a:rPr>
              <a:t>Generally dark in color</a:t>
            </a:r>
          </a:p>
          <a:p>
            <a:pPr lvl="1" eaLnBrk="1" hangingPunct="1"/>
            <a:r>
              <a:rPr lang="en-US" altLang="en-US" dirty="0">
                <a:cs typeface="Times New Roman" pitchFamily="18" charset="0"/>
              </a:rPr>
              <a:t>Specific gravity between 3.2 and 3.6</a:t>
            </a:r>
          </a:p>
          <a:p>
            <a:pPr lvl="1" eaLnBrk="1" hangingPunct="1"/>
            <a:r>
              <a:rPr lang="en-US" altLang="en-US" dirty="0">
                <a:cs typeface="Times New Roman" pitchFamily="18" charset="0"/>
              </a:rPr>
              <a:t>Contain iron and/or </a:t>
            </a:r>
            <a:r>
              <a:rPr lang="en-US" altLang="en-US" dirty="0" smtClean="0">
                <a:cs typeface="Times New Roman" pitchFamily="18" charset="0"/>
              </a:rPr>
              <a:t>magnesium</a:t>
            </a:r>
            <a:endParaRPr lang="en-US" altLang="en-US" sz="3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-17463" y="0"/>
            <a:ext cx="9126538" cy="579438"/>
          </a:xfrm>
        </p:spPr>
        <p:txBody>
          <a:bodyPr/>
          <a:lstStyle/>
          <a:p>
            <a:pPr eaLnBrk="1" hangingPunct="1">
              <a:defRPr/>
            </a:pPr>
            <a:r>
              <a:rPr altLang="en-US" smtClean="0"/>
              <a:t>Common Silicate Minerals</a:t>
            </a:r>
          </a:p>
        </p:txBody>
      </p:sp>
      <p:pic>
        <p:nvPicPr>
          <p:cNvPr id="14338" name="Picture 2" descr="\\integrafs5\DeLS_Pondy\71_Pearson_US_IRDVD\08. Working_Folder\Copyright Removed Jpegs\Lutgens_EOG_13e\Chapter03\Jpegs_Labeled\EOG_13e_Figure_03_25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2928" y="708207"/>
            <a:ext cx="4316557" cy="5807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/>
          <p:cNvSpPr>
            <a:spLocks noGrp="1" noChangeArrowheads="1"/>
          </p:cNvSpPr>
          <p:nvPr>
            <p:ph type="title"/>
          </p:nvPr>
        </p:nvSpPr>
        <p:spPr>
          <a:xfrm>
            <a:off x="-19050" y="0"/>
            <a:ext cx="9144000" cy="584200"/>
          </a:xfrm>
        </p:spPr>
        <p:txBody>
          <a:bodyPr/>
          <a:lstStyle/>
          <a:p>
            <a:pPr eaLnBrk="1" hangingPunct="1">
              <a:defRPr/>
            </a:pPr>
            <a:r>
              <a:rPr altLang="en-US" dirty="0" smtClean="0"/>
              <a:t>3.7</a:t>
            </a:r>
            <a:r>
              <a:rPr lang="en-IN" altLang="en-US" dirty="0" smtClean="0"/>
              <a:t> </a:t>
            </a:r>
            <a:r>
              <a:rPr altLang="en-US" dirty="0" smtClean="0"/>
              <a:t>Common Silicate Minerals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>
          <a:xfrm>
            <a:off x="374650" y="1205092"/>
            <a:ext cx="8229600" cy="3412176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The light silicates</a:t>
            </a:r>
          </a:p>
          <a:p>
            <a:pPr lvl="1" eaLnBrk="1" hangingPunct="1"/>
            <a:r>
              <a:rPr lang="en-US" altLang="en-US" dirty="0" smtClean="0"/>
              <a:t>Feldspar Group</a:t>
            </a:r>
          </a:p>
          <a:p>
            <a:pPr lvl="2" eaLnBrk="1" hangingPunct="1"/>
            <a:r>
              <a:rPr lang="en-US" altLang="en-US" dirty="0" smtClean="0"/>
              <a:t>The most common silicate group and </a:t>
            </a:r>
            <a:r>
              <a:rPr lang="en-US" altLang="en-US" dirty="0" smtClean="0"/>
              <a:t>makes </a:t>
            </a:r>
            <a:r>
              <a:rPr lang="en-US" altLang="en-US" dirty="0" smtClean="0"/>
              <a:t>up more than 50% of Earth’s crust</a:t>
            </a:r>
          </a:p>
          <a:p>
            <a:pPr lvl="2" eaLnBrk="1" hangingPunct="1"/>
            <a:r>
              <a:rPr lang="en-US" altLang="en-US" dirty="0" smtClean="0">
                <a:cs typeface="Times New Roman" pitchFamily="18" charset="0"/>
              </a:rPr>
              <a:t>Forms under a wide range of temperatures and pressures</a:t>
            </a:r>
          </a:p>
          <a:p>
            <a:pPr lvl="2" eaLnBrk="1" hangingPunct="1"/>
            <a:r>
              <a:rPr lang="en-US" altLang="en-US" dirty="0" smtClean="0">
                <a:cs typeface="Times New Roman" pitchFamily="18" charset="0"/>
              </a:rPr>
              <a:t>Exhibits </a:t>
            </a:r>
            <a:r>
              <a:rPr lang="en-US" altLang="en-US" dirty="0" smtClean="0">
                <a:cs typeface="Times New Roman" pitchFamily="18" charset="0"/>
              </a:rPr>
              <a:t>two directions of perfect cleavage at 90 degrees</a:t>
            </a:r>
          </a:p>
          <a:p>
            <a:pPr lvl="2" eaLnBrk="1" hangingPunct="1"/>
            <a:r>
              <a:rPr lang="en-US" altLang="en-US" dirty="0" smtClean="0">
                <a:cs typeface="Times New Roman" pitchFamily="18" charset="0"/>
              </a:rPr>
              <a:t>Two most common members:</a:t>
            </a:r>
          </a:p>
          <a:p>
            <a:pPr lvl="3" eaLnBrk="1" hangingPunct="1"/>
            <a:r>
              <a:rPr lang="en-US" altLang="en-US" dirty="0" smtClean="0">
                <a:cs typeface="Times New Roman" pitchFamily="18" charset="0"/>
              </a:rPr>
              <a:t>Orthoclase (potassium feldspar)</a:t>
            </a:r>
          </a:p>
          <a:p>
            <a:pPr lvl="3" eaLnBrk="1" hangingPunct="1"/>
            <a:r>
              <a:rPr lang="en-US" altLang="en-US" dirty="0" smtClean="0">
                <a:cs typeface="Times New Roman" pitchFamily="18" charset="0"/>
              </a:rPr>
              <a:t>Plagioclase (sodium and calcium feldspar)</a:t>
            </a:r>
            <a:endParaRPr lang="en-US" altLang="en-US" sz="3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/>
          <p:cNvSpPr>
            <a:spLocks noGrp="1" noChangeArrowheads="1"/>
          </p:cNvSpPr>
          <p:nvPr>
            <p:ph type="title"/>
          </p:nvPr>
        </p:nvSpPr>
        <p:spPr>
          <a:xfrm>
            <a:off x="-26988" y="7938"/>
            <a:ext cx="9128126" cy="579437"/>
          </a:xfrm>
        </p:spPr>
        <p:txBody>
          <a:bodyPr/>
          <a:lstStyle/>
          <a:p>
            <a:pPr eaLnBrk="1" hangingPunct="1">
              <a:defRPr/>
            </a:pPr>
            <a:r>
              <a:rPr altLang="en-US" smtClean="0"/>
              <a:t>Feldspar Minerals</a:t>
            </a:r>
          </a:p>
        </p:txBody>
      </p:sp>
      <p:pic>
        <p:nvPicPr>
          <p:cNvPr id="15362" name="Picture 2" descr="\\integrafs5\DeLS_Pondy\71_Pearson_US_IRDVD\08. Working_Folder\Copyright Removed Jpegs\Lutgens_EOG_13e\Chapter03\Jpegs_Labeled\EOG_13e_Figure_03_27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8580" y="992736"/>
            <a:ext cx="4626841" cy="5219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/>
          <p:cNvSpPr>
            <a:spLocks noGrp="1" noChangeArrowheads="1"/>
          </p:cNvSpPr>
          <p:nvPr>
            <p:ph type="title"/>
          </p:nvPr>
        </p:nvSpPr>
        <p:spPr>
          <a:xfrm>
            <a:off x="-19050" y="0"/>
            <a:ext cx="9144000" cy="584200"/>
          </a:xfrm>
        </p:spPr>
        <p:txBody>
          <a:bodyPr/>
          <a:lstStyle/>
          <a:p>
            <a:pPr eaLnBrk="1" hangingPunct="1">
              <a:defRPr/>
            </a:pPr>
            <a:r>
              <a:rPr altLang="en-US" dirty="0" smtClean="0"/>
              <a:t>3.7</a:t>
            </a:r>
            <a:r>
              <a:rPr lang="en-IN" altLang="en-US" dirty="0" smtClean="0"/>
              <a:t> </a:t>
            </a:r>
            <a:r>
              <a:rPr altLang="en-US" dirty="0" smtClean="0"/>
              <a:t>Common Silicate Minerals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>
          <a:xfrm>
            <a:off x="377187" y="1211174"/>
            <a:ext cx="8229600" cy="3170703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The light silicates</a:t>
            </a:r>
          </a:p>
          <a:p>
            <a:pPr lvl="1" eaLnBrk="1" hangingPunct="1"/>
            <a:r>
              <a:rPr lang="en-US" altLang="en-US" dirty="0" smtClean="0"/>
              <a:t>Quartz </a:t>
            </a:r>
          </a:p>
          <a:p>
            <a:pPr lvl="2" eaLnBrk="1" hangingPunct="1"/>
            <a:r>
              <a:rPr lang="en-US" altLang="en-US" dirty="0" smtClean="0"/>
              <a:t>The second-most abundant mineral in the continental crust</a:t>
            </a:r>
          </a:p>
          <a:p>
            <a:pPr lvl="2" eaLnBrk="1" hangingPunct="1"/>
            <a:r>
              <a:rPr lang="en-US" altLang="en-US" dirty="0" smtClean="0"/>
              <a:t>Only common mineral made completely of silicon and oxygen</a:t>
            </a:r>
          </a:p>
          <a:p>
            <a:pPr lvl="2" eaLnBrk="1" hangingPunct="1"/>
            <a:r>
              <a:rPr lang="en-US" altLang="en-US" dirty="0" smtClean="0">
                <a:solidFill>
                  <a:srgbClr val="000000"/>
                </a:solidFill>
                <a:cs typeface="Times New Roman" pitchFamily="18" charset="0"/>
              </a:rPr>
              <a:t>Hard and resistant to weathering</a:t>
            </a:r>
          </a:p>
          <a:p>
            <a:pPr lvl="2" eaLnBrk="1" hangingPunct="1"/>
            <a:r>
              <a:rPr lang="en-US" altLang="en-US" dirty="0" err="1" smtClean="0">
                <a:solidFill>
                  <a:srgbClr val="000000"/>
                </a:solidFill>
                <a:cs typeface="Times New Roman" pitchFamily="18" charset="0"/>
              </a:rPr>
              <a:t>Conchoidal</a:t>
            </a:r>
            <a:r>
              <a:rPr lang="en-US" altLang="en-US" dirty="0" smtClean="0">
                <a:solidFill>
                  <a:srgbClr val="000000"/>
                </a:solidFill>
                <a:cs typeface="Times New Roman" pitchFamily="18" charset="0"/>
              </a:rPr>
              <a:t> fracture</a:t>
            </a:r>
          </a:p>
          <a:p>
            <a:pPr lvl="2" eaLnBrk="1" hangingPunct="1"/>
            <a:r>
              <a:rPr lang="en-US" altLang="en-US" dirty="0" smtClean="0">
                <a:solidFill>
                  <a:srgbClr val="000000"/>
                </a:solidFill>
                <a:cs typeface="Times New Roman" pitchFamily="18" charset="0"/>
              </a:rPr>
              <a:t>Often forms hexagonal crystals</a:t>
            </a:r>
          </a:p>
          <a:p>
            <a:pPr lvl="2" eaLnBrk="1" hangingPunct="1"/>
            <a:r>
              <a:rPr lang="en-US" altLang="en-US" dirty="0" smtClean="0">
                <a:solidFill>
                  <a:srgbClr val="000000"/>
                </a:solidFill>
                <a:cs typeface="Times New Roman" pitchFamily="18" charset="0"/>
              </a:rPr>
              <a:t>Colored by impurities (various ions)</a:t>
            </a:r>
            <a:endParaRPr lang="en-US" altLang="en-US" sz="3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/>
          <p:cNvSpPr>
            <a:spLocks noGrp="1" noChangeArrowheads="1"/>
          </p:cNvSpPr>
          <p:nvPr>
            <p:ph type="title"/>
          </p:nvPr>
        </p:nvSpPr>
        <p:spPr>
          <a:xfrm>
            <a:off x="-26988" y="7938"/>
            <a:ext cx="9128126" cy="579437"/>
          </a:xfrm>
        </p:spPr>
        <p:txBody>
          <a:bodyPr/>
          <a:lstStyle/>
          <a:p>
            <a:pPr eaLnBrk="1" hangingPunct="1">
              <a:defRPr/>
            </a:pPr>
            <a:r>
              <a:rPr altLang="en-US" smtClean="0"/>
              <a:t>Quartz</a:t>
            </a:r>
          </a:p>
        </p:txBody>
      </p:sp>
      <p:pic>
        <p:nvPicPr>
          <p:cNvPr id="16386" name="Picture 2" descr="\\integrafs5\DeLS_Pondy\71_Pearson_US_IRDVD\08. Working_Folder\Copyright Removed Jpegs\Lutgens_EOG_13e\Chapter03\Jpegs_Labeled\EOG_13e_Figure_03_28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9659" y="1018541"/>
            <a:ext cx="5824682" cy="5204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ChangeArrowheads="1"/>
          </p:cNvSpPr>
          <p:nvPr>
            <p:ph type="title"/>
          </p:nvPr>
        </p:nvSpPr>
        <p:spPr>
          <a:xfrm>
            <a:off x="-19050" y="0"/>
            <a:ext cx="9144000" cy="584200"/>
          </a:xfrm>
        </p:spPr>
        <p:txBody>
          <a:bodyPr/>
          <a:lstStyle/>
          <a:p>
            <a:pPr eaLnBrk="1" hangingPunct="1">
              <a:defRPr/>
            </a:pPr>
            <a:r>
              <a:rPr altLang="en-US" dirty="0" smtClean="0"/>
              <a:t>3.7</a:t>
            </a:r>
            <a:r>
              <a:rPr lang="en-IN" altLang="en-US" dirty="0" smtClean="0"/>
              <a:t> </a:t>
            </a:r>
            <a:r>
              <a:rPr altLang="en-US" dirty="0" smtClean="0"/>
              <a:t>Common Silicate Minerals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idx="1"/>
          </p:nvPr>
        </p:nvSpPr>
        <p:spPr>
          <a:xfrm>
            <a:off x="374650" y="1209632"/>
            <a:ext cx="8229600" cy="3009284"/>
          </a:xfrm>
        </p:spPr>
        <p:txBody>
          <a:bodyPr/>
          <a:lstStyle/>
          <a:p>
            <a:pPr eaLnBrk="1" hangingPunct="1"/>
            <a:r>
              <a:rPr lang="en-US" altLang="en-US" dirty="0" smtClean="0">
                <a:solidFill>
                  <a:srgbClr val="000000"/>
                </a:solidFill>
              </a:rPr>
              <a:t>The light silicates</a:t>
            </a:r>
          </a:p>
          <a:p>
            <a:pPr lvl="1" eaLnBrk="1" hangingPunct="1"/>
            <a:r>
              <a:rPr lang="en-US" altLang="en-US" dirty="0" smtClean="0">
                <a:solidFill>
                  <a:srgbClr val="000000"/>
                </a:solidFill>
                <a:cs typeface="Times New Roman" pitchFamily="18" charset="0"/>
              </a:rPr>
              <a:t>Muscovite</a:t>
            </a:r>
          </a:p>
          <a:p>
            <a:pPr lvl="2" eaLnBrk="1" hangingPunct="1"/>
            <a:r>
              <a:rPr lang="en-US" altLang="en-US" dirty="0" smtClean="0">
                <a:solidFill>
                  <a:srgbClr val="000000"/>
                </a:solidFill>
                <a:cs typeface="Times New Roman" pitchFamily="18" charset="0"/>
              </a:rPr>
              <a:t>Common member of the mica family</a:t>
            </a:r>
          </a:p>
          <a:p>
            <a:pPr lvl="2" eaLnBrk="1" hangingPunct="1"/>
            <a:r>
              <a:rPr lang="en-US" altLang="en-US" dirty="0" smtClean="0">
                <a:solidFill>
                  <a:srgbClr val="000000"/>
                </a:solidFill>
                <a:cs typeface="Times New Roman" pitchFamily="18" charset="0"/>
              </a:rPr>
              <a:t>Excellent cleavage in one direction</a:t>
            </a:r>
          </a:p>
          <a:p>
            <a:pPr lvl="2" eaLnBrk="1" hangingPunct="1"/>
            <a:r>
              <a:rPr lang="en-US" altLang="en-US" dirty="0" smtClean="0">
                <a:solidFill>
                  <a:srgbClr val="000000"/>
                </a:solidFill>
                <a:cs typeface="Times New Roman" pitchFamily="18" charset="0"/>
              </a:rPr>
              <a:t>Thin sheets are clear</a:t>
            </a:r>
          </a:p>
          <a:p>
            <a:pPr lvl="3" eaLnBrk="1" hangingPunct="1"/>
            <a:r>
              <a:rPr lang="en-US" altLang="en-US" dirty="0" smtClean="0">
                <a:solidFill>
                  <a:srgbClr val="000000"/>
                </a:solidFill>
                <a:cs typeface="Times New Roman" pitchFamily="18" charset="0"/>
              </a:rPr>
              <a:t>Used as glass during the Middle Ages</a:t>
            </a:r>
          </a:p>
          <a:p>
            <a:pPr lvl="2" eaLnBrk="1" hangingPunct="1"/>
            <a:r>
              <a:rPr lang="en-US" altLang="en-US" dirty="0" smtClean="0">
                <a:solidFill>
                  <a:srgbClr val="000000"/>
                </a:solidFill>
                <a:cs typeface="Times New Roman" pitchFamily="18" charset="0"/>
              </a:rPr>
              <a:t>Produces the “glimmering” brilliance often seen in beach sand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/>
          <p:cNvSpPr>
            <a:spLocks noGrp="1" noChangeArrowheads="1"/>
          </p:cNvSpPr>
          <p:nvPr>
            <p:ph type="title"/>
          </p:nvPr>
        </p:nvSpPr>
        <p:spPr>
          <a:xfrm>
            <a:off x="-19050" y="0"/>
            <a:ext cx="9144000" cy="584200"/>
          </a:xfrm>
        </p:spPr>
        <p:txBody>
          <a:bodyPr/>
          <a:lstStyle/>
          <a:p>
            <a:pPr eaLnBrk="1" hangingPunct="1">
              <a:defRPr/>
            </a:pPr>
            <a:r>
              <a:rPr altLang="en-US" dirty="0" smtClean="0"/>
              <a:t>3.7</a:t>
            </a:r>
            <a:r>
              <a:rPr lang="en-IN" altLang="en-US" dirty="0" smtClean="0"/>
              <a:t> </a:t>
            </a:r>
            <a:r>
              <a:rPr altLang="en-US" dirty="0" smtClean="0"/>
              <a:t>Common Silicate Minerals </a:t>
            </a:r>
            <a:r>
              <a:rPr lang="en-US" altLang="en-US" dirty="0"/>
              <a:t>(cont.)</a:t>
            </a:r>
            <a:endParaRPr altLang="en-US" dirty="0" smtClean="0"/>
          </a:p>
        </p:txBody>
      </p:sp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>
          <a:xfrm>
            <a:off x="374650" y="1208043"/>
            <a:ext cx="8229600" cy="3047086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The light silicates</a:t>
            </a:r>
          </a:p>
          <a:p>
            <a:pPr lvl="1" eaLnBrk="1" hangingPunct="1"/>
            <a:r>
              <a:rPr lang="en-US" altLang="en-US" dirty="0" smtClean="0">
                <a:solidFill>
                  <a:srgbClr val="000000"/>
                </a:solidFill>
                <a:cs typeface="Times New Roman" pitchFamily="18" charset="0"/>
              </a:rPr>
              <a:t>Clay minerals</a:t>
            </a:r>
          </a:p>
          <a:p>
            <a:pPr lvl="2" eaLnBrk="1" hangingPunct="1"/>
            <a:r>
              <a:rPr lang="en-US" altLang="en-US" dirty="0" smtClean="0">
                <a:solidFill>
                  <a:srgbClr val="000000"/>
                </a:solidFill>
                <a:cs typeface="Times New Roman" pitchFamily="18" charset="0"/>
              </a:rPr>
              <a:t>“Clay” is a general term used to describe a variety of complex minerals that have sheet structure</a:t>
            </a:r>
          </a:p>
          <a:p>
            <a:pPr lvl="2" eaLnBrk="1" hangingPunct="1"/>
            <a:r>
              <a:rPr lang="en-US" altLang="en-US" dirty="0" smtClean="0">
                <a:solidFill>
                  <a:srgbClr val="000000"/>
                </a:solidFill>
                <a:cs typeface="Times New Roman" pitchFamily="18" charset="0"/>
              </a:rPr>
              <a:t>Clay makes up a large percentage of soil</a:t>
            </a:r>
          </a:p>
          <a:p>
            <a:pPr lvl="2" eaLnBrk="1" hangingPunct="1"/>
            <a:r>
              <a:rPr lang="en-US" altLang="en-US" dirty="0" smtClean="0">
                <a:solidFill>
                  <a:srgbClr val="000000"/>
                </a:solidFill>
                <a:cs typeface="Times New Roman" pitchFamily="18" charset="0"/>
              </a:rPr>
              <a:t>Most originate as products of chemical weathering</a:t>
            </a:r>
          </a:p>
          <a:p>
            <a:pPr lvl="2" eaLnBrk="1" hangingPunct="1"/>
            <a:r>
              <a:rPr lang="en-US" altLang="en-US" dirty="0" smtClean="0"/>
              <a:t>Kaolinite is common clay mineral used to manufacture fine china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ChangeArrowheads="1"/>
          </p:cNvSpPr>
          <p:nvPr>
            <p:ph type="title"/>
          </p:nvPr>
        </p:nvSpPr>
        <p:spPr>
          <a:xfrm>
            <a:off x="-19050" y="0"/>
            <a:ext cx="9144000" cy="584200"/>
          </a:xfrm>
        </p:spPr>
        <p:txBody>
          <a:bodyPr/>
          <a:lstStyle/>
          <a:p>
            <a:pPr eaLnBrk="1" hangingPunct="1">
              <a:defRPr/>
            </a:pPr>
            <a:r>
              <a:rPr altLang="en-US" dirty="0" smtClean="0"/>
              <a:t>3.7</a:t>
            </a:r>
            <a:r>
              <a:rPr lang="en-IN" altLang="en-US" dirty="0" smtClean="0"/>
              <a:t> </a:t>
            </a:r>
            <a:r>
              <a:rPr altLang="en-US" dirty="0" smtClean="0"/>
              <a:t>Common Silicate Minerals </a:t>
            </a:r>
            <a:r>
              <a:rPr lang="en-US" altLang="en-US" dirty="0"/>
              <a:t>(cont.)</a:t>
            </a:r>
            <a:endParaRPr altLang="en-US" dirty="0" smtClean="0"/>
          </a:p>
        </p:txBody>
      </p:sp>
      <p:sp>
        <p:nvSpPr>
          <p:cNvPr id="45059" name="Rectangle 3"/>
          <p:cNvSpPr>
            <a:spLocks noGrp="1" noChangeArrowheads="1"/>
          </p:cNvSpPr>
          <p:nvPr>
            <p:ph idx="1"/>
          </p:nvPr>
        </p:nvSpPr>
        <p:spPr>
          <a:xfrm>
            <a:off x="374650" y="1208043"/>
            <a:ext cx="8229600" cy="2349969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The dark silicates</a:t>
            </a:r>
          </a:p>
          <a:p>
            <a:pPr lvl="1" eaLnBrk="1" hangingPunct="1"/>
            <a:r>
              <a:rPr lang="en-US" altLang="en-US" dirty="0" smtClean="0">
                <a:solidFill>
                  <a:srgbClr val="000000"/>
                </a:solidFill>
                <a:cs typeface="Times New Roman" pitchFamily="18" charset="0"/>
              </a:rPr>
              <a:t>Olivine group</a:t>
            </a:r>
          </a:p>
          <a:p>
            <a:pPr lvl="2" eaLnBrk="1" hangingPunct="1"/>
            <a:r>
              <a:rPr lang="en-US" altLang="en-US" dirty="0" smtClean="0">
                <a:solidFill>
                  <a:srgbClr val="000000"/>
                </a:solidFill>
                <a:cs typeface="Times New Roman" pitchFamily="18" charset="0"/>
              </a:rPr>
              <a:t>High-temperature silicates</a:t>
            </a:r>
          </a:p>
          <a:p>
            <a:pPr lvl="2" eaLnBrk="1" hangingPunct="1"/>
            <a:r>
              <a:rPr lang="en-US" altLang="en-US" dirty="0" smtClean="0">
                <a:solidFill>
                  <a:srgbClr val="000000"/>
                </a:solidFill>
                <a:cs typeface="Times New Roman" pitchFamily="18" charset="0"/>
              </a:rPr>
              <a:t>Black to green in color</a:t>
            </a:r>
          </a:p>
          <a:p>
            <a:pPr lvl="2" eaLnBrk="1" hangingPunct="1"/>
            <a:r>
              <a:rPr lang="en-US" altLang="en-US" dirty="0" smtClean="0">
                <a:solidFill>
                  <a:srgbClr val="000000"/>
                </a:solidFill>
                <a:cs typeface="Times New Roman" pitchFamily="18" charset="0"/>
              </a:rPr>
              <a:t>Glassy luster and </a:t>
            </a:r>
            <a:r>
              <a:rPr lang="en-US" altLang="en-US" dirty="0" err="1" smtClean="0">
                <a:solidFill>
                  <a:srgbClr val="000000"/>
                </a:solidFill>
                <a:cs typeface="Times New Roman" pitchFamily="18" charset="0"/>
              </a:rPr>
              <a:t>conchoidal</a:t>
            </a:r>
            <a:r>
              <a:rPr lang="en-US" altLang="en-US" dirty="0" smtClean="0">
                <a:solidFill>
                  <a:srgbClr val="000000"/>
                </a:solidFill>
                <a:cs typeface="Times New Roman" pitchFamily="18" charset="0"/>
              </a:rPr>
              <a:t> fracture</a:t>
            </a:r>
          </a:p>
          <a:p>
            <a:pPr lvl="2" eaLnBrk="1" hangingPunct="1"/>
            <a:r>
              <a:rPr lang="en-US" altLang="en-US" dirty="0" smtClean="0">
                <a:solidFill>
                  <a:srgbClr val="000000"/>
                </a:solidFill>
                <a:cs typeface="Times New Roman" pitchFamily="18" charset="0"/>
              </a:rPr>
              <a:t>Forms small, rounded crystals</a:t>
            </a:r>
          </a:p>
        </p:txBody>
      </p:sp>
      <p:pic>
        <p:nvPicPr>
          <p:cNvPr id="17410" name="Picture 2" descr="\\integrafs5\DeLS_Pondy\71_Pearson_US_IRDVD\08. Working_Folder\Copyright Removed Jpegs\Lutgens_EOG_13e\Chapter03\Jpegs_Labeled\EOG_13e_Figure_03_30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0359" y="3732598"/>
            <a:ext cx="2797452" cy="2630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3"/>
          <p:cNvSpPr>
            <a:spLocks noGrp="1" noChangeArrowheads="1"/>
          </p:cNvSpPr>
          <p:nvPr>
            <p:ph idx="1"/>
          </p:nvPr>
        </p:nvSpPr>
        <p:spPr>
          <a:xfrm>
            <a:off x="374650" y="1209631"/>
            <a:ext cx="8229600" cy="2656199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The dark silicates</a:t>
            </a:r>
          </a:p>
          <a:p>
            <a:pPr lvl="1" eaLnBrk="1" hangingPunct="1"/>
            <a:r>
              <a:rPr lang="en-US" altLang="en-US" dirty="0" smtClean="0">
                <a:solidFill>
                  <a:srgbClr val="000000"/>
                </a:solidFill>
                <a:cs typeface="Times New Roman" pitchFamily="18" charset="0"/>
              </a:rPr>
              <a:t>Pyroxene group</a:t>
            </a:r>
          </a:p>
          <a:p>
            <a:pPr lvl="2" eaLnBrk="1" hangingPunct="1"/>
            <a:r>
              <a:rPr lang="en-US" altLang="en-US" dirty="0" smtClean="0">
                <a:solidFill>
                  <a:srgbClr val="000000"/>
                </a:solidFill>
                <a:cs typeface="Times New Roman" pitchFamily="18" charset="0"/>
              </a:rPr>
              <a:t>Important components of dark</a:t>
            </a:r>
            <a:r>
              <a:rPr lang="en-US" altLang="en-US" dirty="0" smtClean="0">
                <a:cs typeface="Times New Roman" pitchFamily="18" charset="0"/>
              </a:rPr>
              <a:t>-</a:t>
            </a:r>
            <a:r>
              <a:rPr lang="en-US" altLang="en-US" dirty="0" smtClean="0">
                <a:solidFill>
                  <a:srgbClr val="000000"/>
                </a:solidFill>
                <a:cs typeface="Times New Roman" pitchFamily="18" charset="0"/>
              </a:rPr>
              <a:t>colored igneous rocks</a:t>
            </a:r>
          </a:p>
          <a:p>
            <a:pPr lvl="2" eaLnBrk="1" hangingPunct="1"/>
            <a:r>
              <a:rPr lang="en-US" altLang="en-US" dirty="0" err="1" smtClean="0">
                <a:solidFill>
                  <a:srgbClr val="000000"/>
                </a:solidFill>
                <a:cs typeface="Times New Roman" pitchFamily="18" charset="0"/>
              </a:rPr>
              <a:t>Augite</a:t>
            </a:r>
            <a:r>
              <a:rPr lang="en-US" altLang="en-US" dirty="0" smtClean="0">
                <a:solidFill>
                  <a:srgbClr val="000000"/>
                </a:solidFill>
                <a:cs typeface="Times New Roman" pitchFamily="18" charset="0"/>
              </a:rPr>
              <a:t> is the most common mineral in the pyroxene group</a:t>
            </a:r>
          </a:p>
          <a:p>
            <a:pPr lvl="3" eaLnBrk="1" hangingPunct="1"/>
            <a:r>
              <a:rPr lang="en-US" altLang="en-US" dirty="0" smtClean="0">
                <a:solidFill>
                  <a:srgbClr val="000000"/>
                </a:solidFill>
                <a:cs typeface="Times New Roman" pitchFamily="18" charset="0"/>
              </a:rPr>
              <a:t>Black in color</a:t>
            </a:r>
          </a:p>
          <a:p>
            <a:pPr lvl="3" eaLnBrk="1" hangingPunct="1"/>
            <a:r>
              <a:rPr lang="en-US" altLang="en-US" dirty="0" smtClean="0">
                <a:solidFill>
                  <a:srgbClr val="000000"/>
                </a:solidFill>
                <a:cs typeface="Times New Roman" pitchFamily="18" charset="0"/>
              </a:rPr>
              <a:t>Two distinctive cleavages at nearly 90 degrees</a:t>
            </a:r>
          </a:p>
          <a:p>
            <a:pPr lvl="3" eaLnBrk="1" hangingPunct="1"/>
            <a:r>
              <a:rPr lang="en-US" altLang="en-US" dirty="0" smtClean="0">
                <a:solidFill>
                  <a:srgbClr val="000000"/>
                </a:solidFill>
                <a:cs typeface="Times New Roman" pitchFamily="18" charset="0"/>
              </a:rPr>
              <a:t>Dominant mineral in basalt</a:t>
            </a:r>
          </a:p>
        </p:txBody>
      </p:sp>
      <p:sp>
        <p:nvSpPr>
          <p:cNvPr id="46083" name="Rectangle 2"/>
          <p:cNvSpPr txBox="1">
            <a:spLocks noChangeArrowheads="1"/>
          </p:cNvSpPr>
          <p:nvPr/>
        </p:nvSpPr>
        <p:spPr bwMode="auto">
          <a:xfrm>
            <a:off x="-19050" y="0"/>
            <a:ext cx="9144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57200">
            <a:spAutoFit/>
          </a:bodyPr>
          <a:lstStyle>
            <a:lvl1pPr>
              <a:spcBef>
                <a:spcPct val="20000"/>
              </a:spcBef>
              <a:buChar char="•"/>
              <a:defRPr sz="3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3200" b="1" dirty="0" smtClean="0">
                <a:solidFill>
                  <a:schemeClr val="bg1"/>
                </a:solidFill>
              </a:rPr>
              <a:t>3.7 Common </a:t>
            </a:r>
            <a:r>
              <a:rPr lang="en-US" altLang="en-US" sz="3200" b="1" dirty="0">
                <a:solidFill>
                  <a:schemeClr val="bg1"/>
                </a:solidFill>
              </a:rPr>
              <a:t>Silicate </a:t>
            </a:r>
            <a:r>
              <a:rPr lang="en-US" altLang="en-US" sz="3200" b="1" dirty="0" smtClean="0">
                <a:solidFill>
                  <a:schemeClr val="bg1"/>
                </a:solidFill>
              </a:rPr>
              <a:t>Minerals </a:t>
            </a:r>
            <a:r>
              <a:rPr lang="en-US" altLang="en-US" sz="3200" b="1" dirty="0">
                <a:solidFill>
                  <a:schemeClr val="bg1"/>
                </a:solidFill>
              </a:rPr>
              <a:t>(cont.)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2"/>
          <p:cNvSpPr>
            <a:spLocks noGrp="1" noChangeArrowheads="1"/>
          </p:cNvSpPr>
          <p:nvPr>
            <p:ph type="title"/>
          </p:nvPr>
        </p:nvSpPr>
        <p:spPr>
          <a:xfrm>
            <a:off x="-19050" y="0"/>
            <a:ext cx="9144000" cy="584200"/>
          </a:xfrm>
        </p:spPr>
        <p:txBody>
          <a:bodyPr/>
          <a:lstStyle/>
          <a:p>
            <a:pPr eaLnBrk="1" hangingPunct="1">
              <a:defRPr/>
            </a:pPr>
            <a:r>
              <a:rPr altLang="en-US" dirty="0" smtClean="0"/>
              <a:t>3.7</a:t>
            </a:r>
            <a:r>
              <a:rPr lang="en-IN" altLang="en-US" dirty="0" smtClean="0"/>
              <a:t> </a:t>
            </a:r>
            <a:r>
              <a:rPr altLang="en-US" dirty="0" smtClean="0"/>
              <a:t>Common Silicate Minerals </a:t>
            </a:r>
            <a:r>
              <a:rPr lang="en-US" altLang="en-US" dirty="0"/>
              <a:t>(cont.)</a:t>
            </a:r>
            <a:endParaRPr altLang="en-US" dirty="0" smtClean="0"/>
          </a:p>
        </p:txBody>
      </p:sp>
      <p:sp>
        <p:nvSpPr>
          <p:cNvPr id="47107" name="Rectangle 3"/>
          <p:cNvSpPr>
            <a:spLocks noGrp="1" noChangeArrowheads="1"/>
          </p:cNvSpPr>
          <p:nvPr>
            <p:ph idx="1"/>
          </p:nvPr>
        </p:nvSpPr>
        <p:spPr>
          <a:xfrm>
            <a:off x="374650" y="1209632"/>
            <a:ext cx="8229600" cy="1995296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The dark silicates</a:t>
            </a:r>
          </a:p>
          <a:p>
            <a:pPr lvl="1" eaLnBrk="1" hangingPunct="1"/>
            <a:r>
              <a:rPr lang="en-US" altLang="en-US" dirty="0" smtClean="0">
                <a:solidFill>
                  <a:srgbClr val="000000"/>
                </a:solidFill>
                <a:cs typeface="Times New Roman" pitchFamily="18" charset="0"/>
              </a:rPr>
              <a:t>Amphibole group</a:t>
            </a:r>
          </a:p>
          <a:p>
            <a:pPr lvl="2" eaLnBrk="1" hangingPunct="1"/>
            <a:r>
              <a:rPr lang="en-US" altLang="en-US" dirty="0" smtClean="0">
                <a:solidFill>
                  <a:srgbClr val="000000"/>
                </a:solidFill>
                <a:cs typeface="Times New Roman" pitchFamily="18" charset="0"/>
              </a:rPr>
              <a:t>Hornblende is the most common mineral in this group</a:t>
            </a:r>
          </a:p>
          <a:p>
            <a:pPr lvl="2" eaLnBrk="1" hangingPunct="1"/>
            <a:r>
              <a:rPr lang="en-US" altLang="en-US" dirty="0" smtClean="0">
                <a:solidFill>
                  <a:srgbClr val="000000"/>
                </a:solidFill>
                <a:cs typeface="Times New Roman" pitchFamily="18" charset="0"/>
              </a:rPr>
              <a:t>Two perfect cleavages exhibiting angles of 120 and </a:t>
            </a:r>
            <a:br>
              <a:rPr lang="en-US" altLang="en-US" dirty="0" smtClean="0">
                <a:solidFill>
                  <a:srgbClr val="000000"/>
                </a:solidFill>
                <a:cs typeface="Times New Roman" pitchFamily="18" charset="0"/>
              </a:rPr>
            </a:br>
            <a:r>
              <a:rPr lang="en-US" altLang="en-US" dirty="0" smtClean="0">
                <a:solidFill>
                  <a:srgbClr val="000000"/>
                </a:solidFill>
                <a:cs typeface="Times New Roman" pitchFamily="18" charset="0"/>
              </a:rPr>
              <a:t>60 degrees</a:t>
            </a:r>
            <a:endParaRPr lang="en-US" altLang="en-US" sz="3200" dirty="0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-17463" y="7938"/>
            <a:ext cx="9126538" cy="579437"/>
          </a:xfrm>
        </p:spPr>
        <p:txBody>
          <a:bodyPr/>
          <a:lstStyle/>
          <a:p>
            <a:pPr eaLnBrk="1" hangingPunct="1">
              <a:defRPr/>
            </a:pPr>
            <a:r>
              <a:rPr altLang="en-US" smtClean="0"/>
              <a:t>Augite and Hornblende</a:t>
            </a:r>
          </a:p>
        </p:txBody>
      </p:sp>
      <p:pic>
        <p:nvPicPr>
          <p:cNvPr id="18434" name="Picture 2" descr="\\integrafs5\DeLS_Pondy\71_Pearson_US_IRDVD\08. Working_Folder\Copyright Removed Jpegs\Lutgens_EOG_13e\Chapter03\Jpegs_Labeled\EOG_13e_Figure_03_3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6292" y="1118088"/>
            <a:ext cx="6249829" cy="5109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/>
          <p:cNvSpPr>
            <a:spLocks noGrp="1" noChangeArrowheads="1"/>
          </p:cNvSpPr>
          <p:nvPr>
            <p:ph type="title"/>
          </p:nvPr>
        </p:nvSpPr>
        <p:spPr>
          <a:xfrm>
            <a:off x="-19050" y="0"/>
            <a:ext cx="9144000" cy="584200"/>
          </a:xfrm>
        </p:spPr>
        <p:txBody>
          <a:bodyPr/>
          <a:lstStyle/>
          <a:p>
            <a:pPr eaLnBrk="1" hangingPunct="1">
              <a:defRPr/>
            </a:pPr>
            <a:r>
              <a:rPr altLang="en-US" dirty="0" smtClean="0"/>
              <a:t>3.7</a:t>
            </a:r>
            <a:r>
              <a:rPr lang="en-IN" altLang="en-US" dirty="0" smtClean="0"/>
              <a:t> </a:t>
            </a:r>
            <a:r>
              <a:rPr altLang="en-US" dirty="0" smtClean="0"/>
              <a:t>Common Silicate Minerals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idx="1"/>
          </p:nvPr>
        </p:nvSpPr>
        <p:spPr>
          <a:xfrm>
            <a:off x="374650" y="1209631"/>
            <a:ext cx="8229600" cy="3190353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The dark silicates</a:t>
            </a:r>
          </a:p>
          <a:p>
            <a:pPr lvl="1" eaLnBrk="1" hangingPunct="1"/>
            <a:r>
              <a:rPr lang="en-US" altLang="en-US" dirty="0" err="1" smtClean="0">
                <a:solidFill>
                  <a:srgbClr val="000000"/>
                </a:solidFill>
                <a:cs typeface="Times New Roman" pitchFamily="18" charset="0"/>
              </a:rPr>
              <a:t>Biotite</a:t>
            </a:r>
            <a:endParaRPr lang="en-US" altLang="en-US" dirty="0" smtClean="0">
              <a:solidFill>
                <a:srgbClr val="000000"/>
              </a:solidFill>
              <a:cs typeface="Times New Roman" pitchFamily="18" charset="0"/>
            </a:endParaRPr>
          </a:p>
          <a:p>
            <a:pPr lvl="2" eaLnBrk="1" hangingPunct="1"/>
            <a:r>
              <a:rPr lang="en-US" altLang="en-US" dirty="0" smtClean="0">
                <a:solidFill>
                  <a:srgbClr val="000000"/>
                </a:solidFill>
                <a:cs typeface="Times New Roman" pitchFamily="18" charset="0"/>
              </a:rPr>
              <a:t>Iron-rich member of the mica family</a:t>
            </a:r>
          </a:p>
          <a:p>
            <a:pPr lvl="2" eaLnBrk="1" hangingPunct="1"/>
            <a:r>
              <a:rPr lang="en-US" altLang="en-US" dirty="0" smtClean="0">
                <a:solidFill>
                  <a:srgbClr val="000000"/>
                </a:solidFill>
                <a:cs typeface="Times New Roman" pitchFamily="18" charset="0"/>
              </a:rPr>
              <a:t>Excellent cleavage in one direction</a:t>
            </a:r>
          </a:p>
          <a:p>
            <a:pPr lvl="1" eaLnBrk="1" hangingPunct="1"/>
            <a:r>
              <a:rPr lang="en-US" altLang="en-US" dirty="0" smtClean="0">
                <a:solidFill>
                  <a:srgbClr val="000000"/>
                </a:solidFill>
                <a:cs typeface="Times New Roman" pitchFamily="18" charset="0"/>
              </a:rPr>
              <a:t>Garnet</a:t>
            </a:r>
          </a:p>
          <a:p>
            <a:pPr lvl="2" eaLnBrk="1" hangingPunct="1"/>
            <a:r>
              <a:rPr lang="en-US" altLang="en-US" dirty="0" smtClean="0">
                <a:solidFill>
                  <a:srgbClr val="000000"/>
                </a:solidFill>
                <a:cs typeface="Times New Roman" pitchFamily="18" charset="0"/>
              </a:rPr>
              <a:t>Composed of individual </a:t>
            </a:r>
            <a:r>
              <a:rPr lang="en-US" altLang="en-US" dirty="0" err="1" smtClean="0">
                <a:solidFill>
                  <a:srgbClr val="000000"/>
                </a:solidFill>
                <a:cs typeface="Times New Roman" pitchFamily="18" charset="0"/>
              </a:rPr>
              <a:t>tetrahedra</a:t>
            </a:r>
            <a:r>
              <a:rPr lang="en-US" altLang="en-US" dirty="0" smtClean="0">
                <a:solidFill>
                  <a:srgbClr val="000000"/>
                </a:solidFill>
                <a:cs typeface="Times New Roman" pitchFamily="18" charset="0"/>
              </a:rPr>
              <a:t> linked by metallic ions (similar to olivine)</a:t>
            </a:r>
          </a:p>
          <a:p>
            <a:pPr lvl="2" eaLnBrk="1" hangingPunct="1"/>
            <a:r>
              <a:rPr lang="en-US" altLang="en-US" dirty="0" smtClean="0">
                <a:solidFill>
                  <a:srgbClr val="000000"/>
                </a:solidFill>
                <a:cs typeface="Times New Roman" pitchFamily="18" charset="0"/>
              </a:rPr>
              <a:t>Glassy luster and </a:t>
            </a:r>
            <a:r>
              <a:rPr lang="en-US" altLang="en-US" dirty="0" err="1" smtClean="0">
                <a:solidFill>
                  <a:srgbClr val="000000"/>
                </a:solidFill>
                <a:cs typeface="Times New Roman" pitchFamily="18" charset="0"/>
              </a:rPr>
              <a:t>conchoidal</a:t>
            </a:r>
            <a:r>
              <a:rPr lang="en-US" altLang="en-US" dirty="0" smtClean="0">
                <a:solidFill>
                  <a:srgbClr val="000000"/>
                </a:solidFill>
                <a:cs typeface="Times New Roman" pitchFamily="18" charset="0"/>
              </a:rPr>
              <a:t> fracture</a:t>
            </a:r>
            <a:endParaRPr lang="en-US" altLang="en-US" sz="3200" dirty="0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/>
          <p:cNvSpPr>
            <a:spLocks noGrp="1" noChangeArrowheads="1"/>
          </p:cNvSpPr>
          <p:nvPr>
            <p:ph type="title"/>
          </p:nvPr>
        </p:nvSpPr>
        <p:spPr>
          <a:xfrm>
            <a:off x="-26988" y="0"/>
            <a:ext cx="9144001" cy="584200"/>
          </a:xfrm>
        </p:spPr>
        <p:txBody>
          <a:bodyPr/>
          <a:lstStyle/>
          <a:p>
            <a:pPr eaLnBrk="1" hangingPunct="1">
              <a:defRPr/>
            </a:pPr>
            <a:r>
              <a:rPr altLang="en-US" dirty="0" smtClean="0"/>
              <a:t>3.8</a:t>
            </a:r>
            <a:r>
              <a:rPr lang="en-IN" altLang="en-US" dirty="0" smtClean="0"/>
              <a:t> </a:t>
            </a:r>
            <a:r>
              <a:rPr altLang="en-US" dirty="0" smtClean="0"/>
              <a:t>Important </a:t>
            </a:r>
            <a:r>
              <a:rPr altLang="en-US" dirty="0" err="1" smtClean="0"/>
              <a:t>Nonsilicate</a:t>
            </a:r>
            <a:r>
              <a:rPr altLang="en-US" dirty="0" smtClean="0"/>
              <a:t> Minerals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idx="1"/>
          </p:nvPr>
        </p:nvSpPr>
        <p:spPr>
          <a:xfrm>
            <a:off x="381772" y="1213461"/>
            <a:ext cx="8229600" cy="1873771"/>
          </a:xfrm>
        </p:spPr>
        <p:txBody>
          <a:bodyPr/>
          <a:lstStyle/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cs typeface="Times New Roman" pitchFamily="18" charset="0"/>
              </a:rPr>
              <a:t>Divided into groups based on the negatively charged ion or complex ion that the members have in common</a:t>
            </a:r>
          </a:p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cs typeface="Times New Roman" pitchFamily="18" charset="0"/>
              </a:rPr>
              <a:t>Make up approximately 8% of Earth’s crust</a:t>
            </a:r>
            <a:endParaRPr lang="en-US" altLang="en-US" sz="3200" dirty="0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Title 1"/>
          <p:cNvSpPr>
            <a:spLocks noGrp="1"/>
          </p:cNvSpPr>
          <p:nvPr>
            <p:ph type="title"/>
          </p:nvPr>
        </p:nvSpPr>
        <p:spPr>
          <a:xfrm>
            <a:off x="-26988" y="3175"/>
            <a:ext cx="9144001" cy="584200"/>
          </a:xfrm>
        </p:spPr>
        <p:txBody>
          <a:bodyPr/>
          <a:lstStyle/>
          <a:p>
            <a:pPr>
              <a:defRPr/>
            </a:pPr>
            <a:r>
              <a:rPr altLang="en-US" dirty="0" smtClean="0"/>
              <a:t>3.8</a:t>
            </a:r>
            <a:r>
              <a:rPr lang="en-IN" altLang="en-US" dirty="0" smtClean="0"/>
              <a:t> </a:t>
            </a:r>
            <a:r>
              <a:rPr altLang="en-US" dirty="0" smtClean="0"/>
              <a:t>Important </a:t>
            </a:r>
            <a:r>
              <a:rPr altLang="en-US" dirty="0" err="1" smtClean="0"/>
              <a:t>Nonsilicate</a:t>
            </a:r>
            <a:r>
              <a:rPr altLang="en-US" dirty="0" smtClean="0"/>
              <a:t> Minerals </a:t>
            </a:r>
            <a:r>
              <a:rPr lang="en-US" altLang="en-US" dirty="0"/>
              <a:t>(cont.)</a:t>
            </a:r>
            <a:r>
              <a:rPr altLang="en-US" dirty="0" smtClean="0"/>
              <a:t> 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idx="1"/>
          </p:nvPr>
        </p:nvSpPr>
        <p:spPr>
          <a:xfrm>
            <a:off x="381772" y="1246572"/>
            <a:ext cx="8229600" cy="330732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 smtClean="0"/>
              <a:t>Important </a:t>
            </a:r>
            <a:r>
              <a:rPr lang="en-US" altLang="en-US" dirty="0" err="1" smtClean="0"/>
              <a:t>nonsilicate</a:t>
            </a:r>
            <a:r>
              <a:rPr lang="en-US" altLang="en-US" dirty="0" smtClean="0"/>
              <a:t> minerals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 smtClean="0"/>
              <a:t>Several major groups exist including: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dirty="0" smtClean="0"/>
              <a:t>Oxides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dirty="0" smtClean="0"/>
              <a:t>Sulfides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dirty="0" smtClean="0"/>
              <a:t>Sulfates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dirty="0" smtClean="0"/>
              <a:t>Native elements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dirty="0" smtClean="0"/>
              <a:t>Carbonates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dirty="0" smtClean="0"/>
              <a:t>Halides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dirty="0" smtClean="0"/>
              <a:t>Phosphates</a:t>
            </a:r>
            <a:endParaRPr lang="en-US" alt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Title 1"/>
          <p:cNvSpPr>
            <a:spLocks noGrp="1"/>
          </p:cNvSpPr>
          <p:nvPr>
            <p:ph type="title"/>
          </p:nvPr>
        </p:nvSpPr>
        <p:spPr>
          <a:xfrm>
            <a:off x="-19050" y="3175"/>
            <a:ext cx="9144000" cy="584200"/>
          </a:xfrm>
        </p:spPr>
        <p:txBody>
          <a:bodyPr/>
          <a:lstStyle/>
          <a:p>
            <a:pPr>
              <a:defRPr/>
            </a:pPr>
            <a:r>
              <a:rPr altLang="en-US" smtClean="0"/>
              <a:t>Common Nonsilicate Mineral Groups</a:t>
            </a:r>
          </a:p>
        </p:txBody>
      </p:sp>
      <p:pic>
        <p:nvPicPr>
          <p:cNvPr id="19458" name="Picture 2" descr="\\integrafs5\DeLS_Pondy\71_Pearson_US_IRDVD\08. Working_Folder\Copyright Removed Jpegs\Lutgens_EOG_13e\Chapter03\Jpegs_Labeled\EOG_13e_Figure_03_3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7621" y="693726"/>
            <a:ext cx="5647170" cy="5818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2"/>
          <p:cNvSpPr>
            <a:spLocks noGrp="1" noChangeArrowheads="1"/>
          </p:cNvSpPr>
          <p:nvPr>
            <p:ph type="title"/>
          </p:nvPr>
        </p:nvSpPr>
        <p:spPr>
          <a:xfrm>
            <a:off x="-17463" y="7938"/>
            <a:ext cx="9126538" cy="579437"/>
          </a:xfrm>
        </p:spPr>
        <p:txBody>
          <a:bodyPr/>
          <a:lstStyle/>
          <a:p>
            <a:pPr eaLnBrk="1" hangingPunct="1">
              <a:defRPr/>
            </a:pPr>
            <a:r>
              <a:rPr altLang="en-US" dirty="0" smtClean="0">
                <a:cs typeface="Times New Roman" pitchFamily="18" charset="0"/>
              </a:rPr>
              <a:t>3.9</a:t>
            </a:r>
            <a:r>
              <a:rPr lang="en-IN" altLang="en-US" dirty="0" smtClean="0">
                <a:cs typeface="Times New Roman" pitchFamily="18" charset="0"/>
              </a:rPr>
              <a:t> </a:t>
            </a:r>
            <a:r>
              <a:rPr altLang="en-US" dirty="0" smtClean="0">
                <a:cs typeface="Times New Roman" pitchFamily="18" charset="0"/>
              </a:rPr>
              <a:t>Minerals:</a:t>
            </a:r>
            <a:r>
              <a:rPr lang="en-IN" altLang="en-US" dirty="0" smtClean="0">
                <a:cs typeface="Times New Roman" pitchFamily="18" charset="0"/>
              </a:rPr>
              <a:t> </a:t>
            </a:r>
            <a:r>
              <a:rPr altLang="en-US" dirty="0" smtClean="0">
                <a:cs typeface="Times New Roman" pitchFamily="18" charset="0"/>
              </a:rPr>
              <a:t>A Nonrenewable Resource</a:t>
            </a:r>
            <a:r>
              <a:rPr altLang="en-US" dirty="0" smtClean="0"/>
              <a:t> 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idx="1"/>
          </p:nvPr>
        </p:nvSpPr>
        <p:spPr>
          <a:xfrm>
            <a:off x="381772" y="1204187"/>
            <a:ext cx="8229600" cy="4662460"/>
          </a:xfrm>
        </p:spPr>
        <p:txBody>
          <a:bodyPr/>
          <a:lstStyle/>
          <a:p>
            <a:pPr eaLnBrk="1" hangingPunct="1"/>
            <a:r>
              <a:rPr lang="en-US" altLang="en-US" dirty="0" smtClean="0">
                <a:cs typeface="Times New Roman" pitchFamily="18" charset="0"/>
              </a:rPr>
              <a:t>Renewable: Can be replenished over short time period</a:t>
            </a:r>
            <a:r>
              <a:rPr lang="en-US" altLang="en-US" dirty="0" smtClean="0"/>
              <a:t> </a:t>
            </a:r>
            <a:endParaRPr lang="en-US" altLang="en-US" dirty="0" smtClean="0">
              <a:cs typeface="Times New Roman" pitchFamily="18" charset="0"/>
            </a:endParaRPr>
          </a:p>
          <a:p>
            <a:pPr eaLnBrk="1" hangingPunct="1"/>
            <a:r>
              <a:rPr lang="en-US" altLang="en-US" dirty="0" smtClean="0">
                <a:cs typeface="Times New Roman" pitchFamily="18" charset="0"/>
              </a:rPr>
              <a:t>Mineral resources:</a:t>
            </a:r>
          </a:p>
          <a:p>
            <a:pPr lvl="1" eaLnBrk="1" hangingPunct="1"/>
            <a:r>
              <a:rPr lang="en-US" altLang="en-US" dirty="0" smtClean="0">
                <a:cs typeface="Times New Roman" pitchFamily="18" charset="0"/>
              </a:rPr>
              <a:t>Already identified deposits that are </a:t>
            </a:r>
            <a:r>
              <a:rPr lang="en-US" altLang="en-US" i="1" dirty="0" smtClean="0">
                <a:cs typeface="Times New Roman" pitchFamily="18" charset="0"/>
              </a:rPr>
              <a:t>currently</a:t>
            </a:r>
            <a:r>
              <a:rPr lang="en-US" altLang="en-US" dirty="0" smtClean="0">
                <a:cs typeface="Times New Roman" pitchFamily="18" charset="0"/>
              </a:rPr>
              <a:t> recoverable</a:t>
            </a:r>
            <a:r>
              <a:rPr lang="en-US" altLang="en-US" dirty="0" smtClean="0"/>
              <a:t> </a:t>
            </a:r>
          </a:p>
          <a:p>
            <a:pPr lvl="1" eaLnBrk="1" hangingPunct="1"/>
            <a:r>
              <a:rPr lang="en-US" altLang="en-US" dirty="0" smtClean="0">
                <a:cs typeface="Times New Roman" pitchFamily="18" charset="0"/>
              </a:rPr>
              <a:t>Identified deposits that are not yet economically or technologically recoverable</a:t>
            </a:r>
            <a:r>
              <a:rPr lang="en-US" altLang="en-US" dirty="0" smtClean="0"/>
              <a:t> </a:t>
            </a:r>
          </a:p>
          <a:p>
            <a:pPr eaLnBrk="1" hangingPunct="1"/>
            <a:r>
              <a:rPr lang="en-US" altLang="en-US" dirty="0" smtClean="0">
                <a:cs typeface="Times New Roman" pitchFamily="18" charset="0"/>
              </a:rPr>
              <a:t>Ore</a:t>
            </a:r>
          </a:p>
          <a:p>
            <a:pPr lvl="1" eaLnBrk="1" hangingPunct="1"/>
            <a:r>
              <a:rPr lang="en-US" altLang="en-US" dirty="0" smtClean="0">
                <a:cs typeface="Times New Roman" pitchFamily="18" charset="0"/>
              </a:rPr>
              <a:t>A useful metallic mineral that can be mined at a profit</a:t>
            </a:r>
            <a:r>
              <a:rPr lang="en-US" altLang="en-US" dirty="0" smtClean="0"/>
              <a:t> </a:t>
            </a:r>
          </a:p>
          <a:p>
            <a:pPr lvl="1" eaLnBrk="1" hangingPunct="1"/>
            <a:r>
              <a:rPr lang="en-US" altLang="en-US" dirty="0" smtClean="0">
                <a:cs typeface="Times New Roman" pitchFamily="18" charset="0"/>
              </a:rPr>
              <a:t>Must be concentrated above its average crustal abundance</a:t>
            </a:r>
            <a:endParaRPr lang="en-US" altLang="en-US" dirty="0" smtClean="0"/>
          </a:p>
          <a:p>
            <a:pPr lvl="1" eaLnBrk="1" hangingPunct="1"/>
            <a:r>
              <a:rPr lang="en-US" altLang="en-US" dirty="0" smtClean="0">
                <a:cs typeface="Times New Roman" pitchFamily="18" charset="0"/>
              </a:rPr>
              <a:t>Profitability may change because of economic changes</a:t>
            </a:r>
            <a:r>
              <a:rPr lang="en-US" altLang="en-US" dirty="0" smtClean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2"/>
          <p:cNvSpPr>
            <a:spLocks noGrp="1" noChangeArrowheads="1"/>
          </p:cNvSpPr>
          <p:nvPr>
            <p:ph type="title"/>
          </p:nvPr>
        </p:nvSpPr>
        <p:spPr>
          <a:xfrm>
            <a:off x="-17463" y="7938"/>
            <a:ext cx="9126538" cy="579437"/>
          </a:xfrm>
        </p:spPr>
        <p:txBody>
          <a:bodyPr/>
          <a:lstStyle/>
          <a:p>
            <a:pPr eaLnBrk="1" hangingPunct="1">
              <a:defRPr/>
            </a:pPr>
            <a:r>
              <a:rPr altLang="en-US" dirty="0" smtClean="0"/>
              <a:t>Bingham Canyon Copper Mine, Utah</a:t>
            </a:r>
          </a:p>
        </p:txBody>
      </p:sp>
      <p:pic>
        <p:nvPicPr>
          <p:cNvPr id="20482" name="Picture 2" descr="\\integrafs5\DeLS_Pondy\71_Pearson_US_IRDVD\08. Working_Folder\Copyright Removed Jpegs\Lutgens_EOG_13e\Chapter03\Jpegs_Labeled\EOG_13e_Figure_03_36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693" y="1083574"/>
            <a:ext cx="7680614" cy="5108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" val="554d439ce536159f3bc18959a8dddd336cd28"/>
  <p:tag name="ARTICULATE_PROJECT_OPEN" val="0"/>
</p:tagLst>
</file>

<file path=ppt/theme/theme1.xml><?xml version="1.0" encoding="utf-8"?>
<a:theme xmlns:a="http://schemas.openxmlformats.org/drawingml/2006/main" name="HA5Lect_template">
  <a:themeElements>
    <a:clrScheme name="HA5Lect_templ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HA5Lect_template">
      <a:majorFont>
        <a:latin typeface="Arial"/>
        <a:ea typeface=""/>
        <a:cs typeface="Arial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HA5Lect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A5Lect_templ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A5Lect_templ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A5Lect_templ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A5Lect_templ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A5Lect_templ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A5Lect_templ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A5Lect_templ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A5Lect_templ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A5Lect_templ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A5Lect_templ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A5Lect_templ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3509</TotalTime>
  <Words>1394</Words>
  <Application>Microsoft Office PowerPoint</Application>
  <PresentationFormat>On-screen Show (4:3)</PresentationFormat>
  <Paragraphs>251</Paragraphs>
  <Slides>47</Slides>
  <Notes>16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48" baseType="lpstr">
      <vt:lpstr>HA5Lect_template</vt:lpstr>
      <vt:lpstr>PowerPoint Presentation</vt:lpstr>
      <vt:lpstr>Learning Objectives</vt:lpstr>
      <vt:lpstr>Learning Objectives (cont.)</vt:lpstr>
      <vt:lpstr>3.1 Minerals: Building Blocks of Rocks</vt:lpstr>
      <vt:lpstr>3.2 Atoms: Building Blocks of Minerals</vt:lpstr>
      <vt:lpstr>Idealized Structure of an Atom</vt:lpstr>
      <vt:lpstr>Elements: Defined by Their Number of Protons</vt:lpstr>
      <vt:lpstr>3.3 Why Atoms Bond</vt:lpstr>
      <vt:lpstr>Halite (NaCl): An Example of Ionic Bonding</vt:lpstr>
      <vt:lpstr>3.3 Why Atoms Bond</vt:lpstr>
      <vt:lpstr>Covalent Bonding: Sharing of Valence Electrons</vt:lpstr>
      <vt:lpstr>Composition of Minerals</vt:lpstr>
      <vt:lpstr>Metallic Bonding</vt:lpstr>
      <vt:lpstr>3.4 Properties of Minerals</vt:lpstr>
      <vt:lpstr>3.4 Properties of Minerals (cont.)</vt:lpstr>
      <vt:lpstr>3.4 Properties of Minerals (cont.)</vt:lpstr>
      <vt:lpstr>3.4 Properties of Minerals (cont.)</vt:lpstr>
      <vt:lpstr>3.4 Properties of Minerals (cont.)</vt:lpstr>
      <vt:lpstr>Common Cleavage Directions</vt:lpstr>
      <vt:lpstr>3.4 Properties of Minerals</vt:lpstr>
      <vt:lpstr>3.4 Properties of Minerals (cont.)</vt:lpstr>
      <vt:lpstr>3.5 Mineral Groups</vt:lpstr>
      <vt:lpstr>Elemental Abundances in Continental Crust</vt:lpstr>
      <vt:lpstr>3.6 The Silicates</vt:lpstr>
      <vt:lpstr>Two Illustrations of the Si–O Tetrahedron </vt:lpstr>
      <vt:lpstr>3.6 The Silicates</vt:lpstr>
      <vt:lpstr>Five Basic Silicate Structures</vt:lpstr>
      <vt:lpstr>3.6 The Silicates</vt:lpstr>
      <vt:lpstr>3.6 The Silicates (cont.)</vt:lpstr>
      <vt:lpstr>3.7 Common Silicate Minerals</vt:lpstr>
      <vt:lpstr>Common Silicate Minerals</vt:lpstr>
      <vt:lpstr>3.7 Common Silicate Minerals</vt:lpstr>
      <vt:lpstr>Feldspar Minerals</vt:lpstr>
      <vt:lpstr>3.7 Common Silicate Minerals</vt:lpstr>
      <vt:lpstr>Quartz</vt:lpstr>
      <vt:lpstr>3.7 Common Silicate Minerals</vt:lpstr>
      <vt:lpstr>3.7 Common Silicate Minerals (cont.)</vt:lpstr>
      <vt:lpstr>3.7 Common Silicate Minerals (cont.)</vt:lpstr>
      <vt:lpstr>PowerPoint Presentation</vt:lpstr>
      <vt:lpstr>3.7 Common Silicate Minerals (cont.)</vt:lpstr>
      <vt:lpstr>Augite and Hornblende</vt:lpstr>
      <vt:lpstr>3.7 Common Silicate Minerals</vt:lpstr>
      <vt:lpstr>3.8 Important Nonsilicate Minerals</vt:lpstr>
      <vt:lpstr>3.8 Important Nonsilicate Minerals (cont.) </vt:lpstr>
      <vt:lpstr>Common Nonsilicate Mineral Groups</vt:lpstr>
      <vt:lpstr>3.9 Minerals: A Nonrenewable Resource </vt:lpstr>
      <vt:lpstr>Bingham Canyon Copper Mine, Utah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Essentials of Geology, 12e</dc:title>
  <dc:creator>Bill D. Richards</dc:creator>
  <cp:lastModifiedBy>Coumoudha Sundararajan, Integra-PDY, IN</cp:lastModifiedBy>
  <cp:revision>407</cp:revision>
  <cp:lastPrinted>2009-04-22T19:24:48Z</cp:lastPrinted>
  <dcterms:created xsi:type="dcterms:W3CDTF">2000-12-18T00:31:17Z</dcterms:created>
  <dcterms:modified xsi:type="dcterms:W3CDTF">2017-06-29T14:20:57Z</dcterms:modified>
</cp:coreProperties>
</file>