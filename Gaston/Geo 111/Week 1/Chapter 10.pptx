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52"/>
  </p:notesMasterIdLst>
  <p:sldIdLst>
    <p:sldId id="423" r:id="rId2"/>
    <p:sldId id="424" r:id="rId3"/>
    <p:sldId id="425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285" r:id="rId12"/>
    <p:sldId id="355" r:id="rId13"/>
    <p:sldId id="260" r:id="rId14"/>
    <p:sldId id="261" r:id="rId15"/>
    <p:sldId id="262" r:id="rId16"/>
    <p:sldId id="334" r:id="rId17"/>
    <p:sldId id="368" r:id="rId18"/>
    <p:sldId id="263" r:id="rId19"/>
    <p:sldId id="369" r:id="rId20"/>
    <p:sldId id="336" r:id="rId21"/>
    <p:sldId id="409" r:id="rId22"/>
    <p:sldId id="337" r:id="rId23"/>
    <p:sldId id="338" r:id="rId24"/>
    <p:sldId id="421" r:id="rId25"/>
    <p:sldId id="422" r:id="rId26"/>
    <p:sldId id="345" r:id="rId27"/>
    <p:sldId id="371" r:id="rId28"/>
    <p:sldId id="372" r:id="rId29"/>
    <p:sldId id="384" r:id="rId30"/>
    <p:sldId id="339" r:id="rId31"/>
    <p:sldId id="374" r:id="rId32"/>
    <p:sldId id="375" r:id="rId33"/>
    <p:sldId id="376" r:id="rId34"/>
    <p:sldId id="385" r:id="rId35"/>
    <p:sldId id="419" r:id="rId36"/>
    <p:sldId id="377" r:id="rId37"/>
    <p:sldId id="378" r:id="rId38"/>
    <p:sldId id="410" r:id="rId39"/>
    <p:sldId id="379" r:id="rId40"/>
    <p:sldId id="380" r:id="rId41"/>
    <p:sldId id="411" r:id="rId42"/>
    <p:sldId id="412" r:id="rId43"/>
    <p:sldId id="413" r:id="rId44"/>
    <p:sldId id="414" r:id="rId45"/>
    <p:sldId id="415" r:id="rId46"/>
    <p:sldId id="416" r:id="rId47"/>
    <p:sldId id="417" r:id="rId48"/>
    <p:sldId id="418" r:id="rId49"/>
    <p:sldId id="391" r:id="rId50"/>
    <p:sldId id="396" r:id="rId51"/>
  </p:sldIdLst>
  <p:sldSz cx="9144000" cy="6858000" type="screen4x3"/>
  <p:notesSz cx="6858000" cy="9144000"/>
  <p:custDataLst>
    <p:tags r:id="rId5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ditorial Integra" initials="RRIII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9" autoAdjust="0"/>
    <p:restoredTop sz="93371" autoAdjust="0"/>
  </p:normalViewPr>
  <p:slideViewPr>
    <p:cSldViewPr snapToGrid="0" showGuides="1">
      <p:cViewPr varScale="1">
        <p:scale>
          <a:sx n="105" d="100"/>
          <a:sy n="105" d="100"/>
        </p:scale>
        <p:origin x="-1716" y="-90"/>
      </p:cViewPr>
      <p:guideLst>
        <p:guide orient="horz" pos="288"/>
        <p:guide orient="horz" pos="990"/>
        <p:guide orient="horz" pos="1209"/>
        <p:guide orient="horz" pos="1537"/>
        <p:guide orient="horz" pos="2159"/>
        <p:guide pos="528"/>
        <p:guide pos="288"/>
        <p:guide pos="2878"/>
      </p:guideLst>
    </p:cSldViewPr>
  </p:slideViewPr>
  <p:outlineViewPr>
    <p:cViewPr>
      <p:scale>
        <a:sx n="33" d="100"/>
        <a:sy n="33" d="100"/>
      </p:scale>
      <p:origin x="0" y="201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18EC773-AD99-40B1-A930-D547EA3A07EE}" type="datetimeFigureOut">
              <a:rPr lang="en-US" altLang="en-US"/>
              <a:pPr>
                <a:defRPr/>
              </a:pPr>
              <a:t>6/30/2017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AC2647B-E99F-4391-9E99-BA1049291A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5704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536530B-7C25-4A24-AE0A-94AB4B9D3F4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AD5960B-DCAF-4BA2-991C-C0AEC50E940D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0D86D33-1949-46E3-8B73-A8C020BA5D2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6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037240A-2F05-44B4-AD36-C99F8B3BB18B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1858918-86AA-4D60-87A4-D03F7CA9A92D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2D606EF-8B61-475B-ACE6-7AB99BA85391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EECAABD-13A9-4A4A-B453-5051360FE947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10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32AB7EE-328E-4092-A0CF-52212C77EE38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21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2647B-E99F-4391-9E99-BA1049291AA5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07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7A1CA3E3-0CD8-408B-A35C-B01856CEF9C5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38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0289173-8689-464D-8DB1-C3885183C512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D185DAB-4D6B-4E58-A3D0-D77F5B8EE433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42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DACDF25-994E-47F9-A0E3-0DE342F8C0B9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20BA683-99EB-4D2D-8CD8-F82DA3535479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49A0DC9-59FA-4AB8-8807-C3B755E6FD8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FF7BA4-9FBB-48D3-8E59-5F6DB0DE5BD7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46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042A7FF-5944-4EC3-80C8-5C459155756C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C1B1F64-35D6-4CF7-9EAB-FA735478AA0E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 eaLnBrk="1" hangingPunct="1"/>
              <a:t>48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 userDrawn="1"/>
        </p:nvSpPr>
        <p:spPr bwMode="auto">
          <a:xfrm>
            <a:off x="457200" y="2922140"/>
            <a:ext cx="4114800" cy="107721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algn="l" rtl="0" fontAlgn="base">
              <a:spcBef>
                <a:spcPct val="20000"/>
              </a:spcBef>
              <a:spcAft>
                <a:spcPct val="0"/>
              </a:spcAft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4572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9144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13716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18288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Origin &amp;</a:t>
            </a:r>
            <a:r>
              <a:rPr lang="en-IN" sz="3200" b="1" kern="1200" baseline="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Evolution</a:t>
            </a:r>
            <a:b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of the Ocean Floor</a:t>
            </a:r>
            <a:endParaRPr lang="en-US" sz="3200" b="1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rgbClr val="00000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 userDrawn="1"/>
        </p:nvSpPr>
        <p:spPr bwMode="auto">
          <a:xfrm>
            <a:off x="503238" y="1104900"/>
            <a:ext cx="8259762" cy="8890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000000"/>
                </a:solidFill>
                <a:latin typeface="ArialMT" charset="0"/>
                <a:ea typeface="+mn-ea"/>
              </a:rPr>
              <a:t>Essentials of Geology</a:t>
            </a:r>
          </a:p>
          <a:p>
            <a:pPr algn="r" defTabSz="914400"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r>
              <a:rPr lang="en-US" sz="1800" dirty="0" smtClean="0">
                <a:solidFill>
                  <a:srgbClr val="000000"/>
                </a:solidFill>
                <a:ea typeface="+mn-ea"/>
              </a:rPr>
              <a:t>Thirteenth Edition</a:t>
            </a:r>
          </a:p>
        </p:txBody>
      </p: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7113" y="2006805"/>
            <a:ext cx="3879850" cy="438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6"/>
          <p:cNvSpPr txBox="1">
            <a:spLocks noChangeArrowheads="1"/>
          </p:cNvSpPr>
          <p:nvPr userDrawn="1"/>
        </p:nvSpPr>
        <p:spPr bwMode="auto">
          <a:xfrm>
            <a:off x="345174" y="61913"/>
            <a:ext cx="80010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rgbClr val="FFFFFF"/>
                </a:solidFill>
                <a:cs typeface="Arial" pitchFamily="34" charset="0"/>
              </a:rPr>
              <a:t>Lecture 10 Outline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457200" y="5183981"/>
            <a:ext cx="3536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Merry Wilson</a:t>
            </a:r>
            <a:endParaRPr lang="en-IN" sz="1800" kern="1200" dirty="0" smtClean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Scottsdale Community College</a:t>
            </a:r>
            <a:endParaRPr lang="en-IN" sz="180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94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126748" cy="57943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751" y="1184543"/>
            <a:ext cx="8229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21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305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005979" cy="6009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1003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125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3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1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2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57162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5125" y="2055769"/>
            <a:ext cx="8229600" cy="439679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569660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76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06997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499" y="1529583"/>
            <a:ext cx="8229600" cy="46900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07721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80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50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94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94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248400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07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E4E41034-EF27-4C8F-AACD-04BFD74A6AA9}" type="datetime1">
              <a:rPr lang="en-US" altLang="en-US"/>
              <a:pPr>
                <a:defRPr/>
              </a:pPr>
              <a:t>6/30/2017</a:t>
            </a:fld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765D052E-D38B-4A37-8D17-5D161635CB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00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125" y="1141413"/>
            <a:ext cx="8229600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Rectangle 15"/>
          <p:cNvSpPr txBox="1">
            <a:spLocks noChangeArrowheads="1"/>
          </p:cNvSpPr>
          <p:nvPr userDrawn="1"/>
        </p:nvSpPr>
        <p:spPr bwMode="gray">
          <a:xfrm>
            <a:off x="76200" y="6602413"/>
            <a:ext cx="5399088" cy="1793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© 2018 Pearson Education, Inc.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897" r:id="rId3"/>
    <p:sldLayoutId id="2147483906" r:id="rId4"/>
    <p:sldLayoutId id="2147483898" r:id="rId5"/>
    <p:sldLayoutId id="2147483899" r:id="rId6"/>
    <p:sldLayoutId id="2147483907" r:id="rId7"/>
    <p:sldLayoutId id="2147483908" r:id="rId8"/>
    <p:sldLayoutId id="2147483900" r:id="rId9"/>
    <p:sldLayoutId id="2147483901" r:id="rId10"/>
    <p:sldLayoutId id="2147483902" r:id="rId11"/>
    <p:sldLayoutId id="2147483903" r:id="rId12"/>
    <p:sldLayoutId id="2147483909" r:id="rId13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+mj-lt"/>
          <a:ea typeface="Arial" charset="0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5pPr>
      <a:lvl6pPr marL="4572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goo.gl/jM81S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goo.gl/J08Ep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goo.gl/PeZrD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goo.gl/ZZupt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83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87928" cy="433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10.1 </a:t>
            </a:r>
            <a:r>
              <a:rPr lang="en-IN" altLang="en-US" sz="2600" dirty="0">
                <a:latin typeface="+mn-lt"/>
                <a:cs typeface="+mn-cs"/>
              </a:rPr>
              <a:t>Define </a:t>
            </a:r>
            <a:r>
              <a:rPr lang="en-IN" altLang="en-US" sz="2600" i="1" dirty="0">
                <a:latin typeface="+mn-lt"/>
                <a:cs typeface="+mn-cs"/>
              </a:rPr>
              <a:t>bathymetry</a:t>
            </a:r>
            <a:r>
              <a:rPr lang="en-IN" altLang="en-US" sz="2600" dirty="0">
                <a:latin typeface="+mn-lt"/>
                <a:cs typeface="+mn-cs"/>
              </a:rPr>
              <a:t> and describe the various bathymetric techniques used to map the ocean </a:t>
            </a:r>
            <a:r>
              <a:rPr lang="en-IN" altLang="en-US" sz="2600" dirty="0" smtClean="0">
                <a:latin typeface="+mn-lt"/>
                <a:cs typeface="+mn-cs"/>
              </a:rPr>
              <a:t>floor. </a:t>
            </a:r>
            <a:endParaRPr lang="en-IN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IN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10.2 </a:t>
            </a:r>
            <a:r>
              <a:rPr lang="en-US" sz="2600" dirty="0">
                <a:latin typeface="+mn-lt"/>
                <a:cs typeface="+mn-cs"/>
              </a:rPr>
              <a:t>Compare and contrast a passive continental margin with an active continental margin and list the major features of each.</a:t>
            </a:r>
            <a:r>
              <a:rPr lang="en-IN" altLang="en-US" sz="2600" dirty="0">
                <a:latin typeface="+mn-lt"/>
                <a:cs typeface="+mn-cs"/>
              </a:rPr>
              <a:t>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10.3 </a:t>
            </a:r>
            <a:r>
              <a:rPr lang="en-IN" altLang="en-US" sz="2600" dirty="0">
                <a:latin typeface="+mn-lt"/>
                <a:cs typeface="+mn-cs"/>
              </a:rPr>
              <a:t>List and describe the major features of the deep-ocean basin.</a:t>
            </a:r>
            <a:endParaRPr lang="en-US" altLang="en-US" sz="2600" dirty="0" smtClean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10.4 </a:t>
            </a:r>
            <a:r>
              <a:rPr lang="en-IN" altLang="en-US" sz="2600" dirty="0">
                <a:latin typeface="+mn-lt"/>
                <a:cs typeface="+mn-cs"/>
              </a:rPr>
              <a:t>Sketch and label a cross-sectional view of the Mid-Atlantic </a:t>
            </a:r>
            <a:r>
              <a:rPr lang="en-IN" altLang="en-US" sz="2600" dirty="0" smtClean="0">
                <a:latin typeface="+mn-lt"/>
                <a:cs typeface="+mn-cs"/>
              </a:rPr>
              <a:t>Ridge. Explain </a:t>
            </a:r>
            <a:r>
              <a:rPr lang="en-IN" altLang="en-US" sz="2600" dirty="0">
                <a:latin typeface="+mn-lt"/>
                <a:cs typeface="+mn-cs"/>
              </a:rPr>
              <a:t>how a cross section of the East Pacific Rise would look different.</a:t>
            </a:r>
            <a:endParaRPr lang="en-US" altLang="en-US" sz="26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03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 (cont.)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61802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10.5 </a:t>
            </a:r>
            <a:r>
              <a:rPr lang="en-IN" altLang="en-US" sz="2600" dirty="0">
                <a:latin typeface="+mn-lt"/>
                <a:cs typeface="+mn-cs"/>
              </a:rPr>
              <a:t>Write a statement describing how spreading rates affect ridge topography.</a:t>
            </a:r>
            <a:endParaRPr lang="en-US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10.6 </a:t>
            </a:r>
            <a:r>
              <a:rPr lang="en-IN" altLang="en-US" sz="2600" dirty="0">
                <a:latin typeface="+mn-lt"/>
                <a:cs typeface="+mn-cs"/>
              </a:rPr>
              <a:t>List the four layers of oceanic crust and explain how oceanic crust forms and how it differs from continental crust</a:t>
            </a:r>
            <a:r>
              <a:rPr lang="en-IN" altLang="en-US" sz="2600" dirty="0" smtClean="0">
                <a:latin typeface="+mn-lt"/>
                <a:cs typeface="+mn-cs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IN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10.7 </a:t>
            </a:r>
            <a:r>
              <a:rPr lang="en-US" sz="2600" dirty="0">
                <a:latin typeface="+mn-lt"/>
                <a:cs typeface="+mn-cs"/>
              </a:rPr>
              <a:t>Outline the steps by which continental rifting results in the formation of new ocean basins.</a:t>
            </a:r>
            <a:endParaRPr lang="en-US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10.8 </a:t>
            </a:r>
            <a:r>
              <a:rPr lang="en-IN" altLang="en-US" sz="2600" dirty="0">
                <a:latin typeface="+mn-lt"/>
                <a:cs typeface="+mn-cs"/>
              </a:rPr>
              <a:t>Compare and contrast spontaneous </a:t>
            </a:r>
            <a:r>
              <a:rPr lang="en-IN" altLang="en-US" sz="2600" dirty="0" err="1">
                <a:latin typeface="+mn-lt"/>
                <a:cs typeface="+mn-cs"/>
              </a:rPr>
              <a:t>subduction</a:t>
            </a:r>
            <a:r>
              <a:rPr lang="en-IN" altLang="en-US" sz="2600" dirty="0">
                <a:latin typeface="+mn-lt"/>
                <a:cs typeface="+mn-cs"/>
              </a:rPr>
              <a:t> and forced </a:t>
            </a:r>
            <a:r>
              <a:rPr lang="en-IN" altLang="en-US" sz="2600" dirty="0" err="1">
                <a:latin typeface="+mn-lt"/>
                <a:cs typeface="+mn-cs"/>
              </a:rPr>
              <a:t>subduction</a:t>
            </a:r>
            <a:r>
              <a:rPr lang="en-IN" altLang="en-US" sz="2600" dirty="0">
                <a:latin typeface="+mn-lt"/>
                <a:cs typeface="+mn-cs"/>
              </a:rPr>
              <a:t>.</a:t>
            </a:r>
            <a:endParaRPr lang="en-US" altLang="en-US" sz="26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7264"/>
            <a:ext cx="8229600" cy="2412554"/>
          </a:xfrm>
        </p:spPr>
        <p:txBody>
          <a:bodyPr/>
          <a:lstStyle/>
          <a:p>
            <a:r>
              <a:rPr lang="en-US" altLang="en-US" dirty="0" smtClean="0"/>
              <a:t>Mapping the seafloor</a:t>
            </a:r>
          </a:p>
          <a:p>
            <a:pPr lvl="1"/>
            <a:r>
              <a:rPr lang="en-US" altLang="en-US" dirty="0" smtClean="0"/>
              <a:t>From 1872 to 1876, the HMS </a:t>
            </a:r>
            <a:r>
              <a:rPr lang="en-US" altLang="en-US" i="1" dirty="0" smtClean="0"/>
              <a:t>Challenger</a:t>
            </a:r>
            <a:r>
              <a:rPr lang="en-US" altLang="en-US" dirty="0" smtClean="0"/>
              <a:t> collected oceanographic data.</a:t>
            </a:r>
          </a:p>
          <a:p>
            <a:pPr lvl="2"/>
            <a:r>
              <a:rPr lang="en-US" altLang="en-US" dirty="0" smtClean="0"/>
              <a:t>Measured the depth to the seafloor by lowering weighted lines overboard.</a:t>
            </a:r>
          </a:p>
          <a:p>
            <a:pPr lvl="3"/>
            <a:r>
              <a:rPr lang="en-US" altLang="en-US" dirty="0" smtClean="0"/>
              <a:t>Deepest spot measured is now called the </a:t>
            </a:r>
            <a:r>
              <a:rPr lang="en-US" altLang="en-US" i="1" dirty="0" smtClean="0"/>
              <a:t>Challenger Deep.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10.1 An Emerging Picture of the Ocean Floor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5186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Mapping the Seafloor</a:t>
            </a:r>
          </a:p>
          <a:p>
            <a:pPr lvl="1"/>
            <a:r>
              <a:rPr lang="en-US" altLang="en-US" dirty="0" smtClean="0"/>
              <a:t>Modern bathymetric techniques</a:t>
            </a:r>
          </a:p>
          <a:p>
            <a:pPr lvl="2"/>
            <a:r>
              <a:rPr lang="en-US" altLang="en-US" dirty="0" smtClean="0"/>
              <a:t>The topography (shape) of the ocean floor is called bathymetry</a:t>
            </a:r>
          </a:p>
          <a:p>
            <a:pPr lvl="2"/>
            <a:r>
              <a:rPr lang="en-US" altLang="en-US" dirty="0" smtClean="0"/>
              <a:t>Sonar, using sound energy, is now used to measure the depth to the ocean floor.</a:t>
            </a:r>
          </a:p>
          <a:p>
            <a:pPr lvl="2"/>
            <a:r>
              <a:rPr lang="en-US" altLang="en-US" dirty="0" smtClean="0"/>
              <a:t>Early bathymetric profiles were created using echo sounders, which bounce a sound off an object to determine the distance.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10.1 An Emerging Picture of the Ocean Floor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Echo Sounder</a:t>
            </a:r>
          </a:p>
        </p:txBody>
      </p:sp>
      <p:pic>
        <p:nvPicPr>
          <p:cNvPr id="10244" name="Picture 4" descr="\\integrafs5\DeLS_Pondy\71_Pearson_US_IRDVD\08. Working_Folder\Copyright Removed Jpegs\Lutgens_EOG_13e\Chapter10\Jpegs_Labeled\EOG_13e_Figure_10_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797163"/>
            <a:ext cx="5462587" cy="569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5186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Mapping the seafloor</a:t>
            </a:r>
          </a:p>
          <a:p>
            <a:pPr lvl="1"/>
            <a:r>
              <a:rPr lang="en-US" altLang="en-US" dirty="0" smtClean="0"/>
              <a:t>Modern bathymetric techniques</a:t>
            </a:r>
          </a:p>
          <a:p>
            <a:pPr lvl="2"/>
            <a:r>
              <a:rPr lang="en-US" altLang="en-US" dirty="0" err="1" smtClean="0"/>
              <a:t>Sidescan</a:t>
            </a:r>
            <a:r>
              <a:rPr lang="en-US" altLang="en-US" dirty="0" smtClean="0"/>
              <a:t> sonar images a horizontal region above the seafloor.</a:t>
            </a:r>
          </a:p>
          <a:p>
            <a:pPr lvl="2"/>
            <a:r>
              <a:rPr lang="en-US" altLang="en-US" dirty="0" smtClean="0"/>
              <a:t>High-resolution </a:t>
            </a:r>
            <a:r>
              <a:rPr lang="en-US" altLang="en-US" dirty="0" err="1" smtClean="0"/>
              <a:t>multibeam</a:t>
            </a:r>
            <a:r>
              <a:rPr lang="en-US" altLang="en-US" dirty="0" smtClean="0"/>
              <a:t> instruments send out a fan of sound and record reflections from various receivers to provide a more detailed view of the ocean floor.</a:t>
            </a:r>
          </a:p>
          <a:p>
            <a:pPr lvl="2"/>
            <a:r>
              <a:rPr lang="en-US" altLang="en-US" dirty="0" smtClean="0"/>
              <a:t>Only about 5 percent of the seafloor has been mapped in detail.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10.1 An Emerging Picture of the Ocean Floor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Sidescan and Multibeam Sonar</a:t>
            </a:r>
          </a:p>
        </p:txBody>
      </p:sp>
      <p:pic>
        <p:nvPicPr>
          <p:cNvPr id="12292" name="Picture 4" descr="\\integrafs5\DeLS_Pondy\71_Pearson_US_IRDVD\08. Working_Folder\Copyright Removed Jpegs\Lutgens_EOG_13e\Chapter10\Jpegs_Labeled\EOG_13e_Figure_10_03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56" y="1041185"/>
            <a:ext cx="5542301" cy="5193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5186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Mapping the seafloor</a:t>
            </a:r>
          </a:p>
          <a:p>
            <a:pPr lvl="1"/>
            <a:r>
              <a:rPr lang="en-US" altLang="en-US" dirty="0" smtClean="0"/>
              <a:t>Mapping the ocean floor from space</a:t>
            </a:r>
          </a:p>
          <a:p>
            <a:pPr lvl="2"/>
            <a:r>
              <a:rPr lang="en-US" altLang="en-US" dirty="0" smtClean="0"/>
              <a:t>Massive underwater structures exert stronger-than-normal gravitational attraction.</a:t>
            </a:r>
          </a:p>
          <a:p>
            <a:pPr lvl="3"/>
            <a:r>
              <a:rPr lang="en-US" altLang="en-US" dirty="0" smtClean="0"/>
              <a:t>Water piles up over these features.</a:t>
            </a:r>
          </a:p>
          <a:p>
            <a:pPr lvl="2"/>
            <a:r>
              <a:rPr lang="en-US" altLang="en-US" dirty="0" smtClean="0"/>
              <a:t>Satellite radar altimeters can detect changes in elevation of the ocean surface.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10.1 An Emerging Picture of the Ocean Floor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Satellite Altimeter</a:t>
            </a:r>
          </a:p>
        </p:txBody>
      </p:sp>
      <p:pic>
        <p:nvPicPr>
          <p:cNvPr id="14340" name="Picture 4" descr="\\integrafs5\DeLS_Pondy\71_Pearson_US_IRDVD\08. Working_Folder\Copyright Removed Jpegs\Lutgens_EOG_13e\Chapter10\Jpegs_Labeled\EOG_13e_Figure_10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784596"/>
            <a:ext cx="43275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5186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Three major provinces of the ocean floor </a:t>
            </a:r>
          </a:p>
          <a:p>
            <a:pPr lvl="1"/>
            <a:r>
              <a:rPr lang="en-US" altLang="en-US" dirty="0" smtClean="0"/>
              <a:t>Continental margins </a:t>
            </a:r>
          </a:p>
          <a:p>
            <a:pPr lvl="1"/>
            <a:r>
              <a:rPr lang="en-US" altLang="en-US" dirty="0" smtClean="0"/>
              <a:t>Deep-ocean basins </a:t>
            </a:r>
          </a:p>
          <a:p>
            <a:pPr lvl="1"/>
            <a:r>
              <a:rPr lang="en-US" altLang="en-US" dirty="0" smtClean="0"/>
              <a:t>Oceanic (mid-ocean) ridges</a:t>
            </a:r>
            <a:endParaRPr lang="en-US" altLang="en-US" b="1" dirty="0" smtClean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10.1 An Emerging Picture of the Ocean Floor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-34925" y="9525"/>
            <a:ext cx="9144000" cy="1076325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Major Topographic Divisions of the North Atlantic</a:t>
            </a:r>
          </a:p>
        </p:txBody>
      </p:sp>
      <p:pic>
        <p:nvPicPr>
          <p:cNvPr id="16388" name="Picture 4" descr="\\integrafs5\DeLS_Pondy\71_Pearson_US_IRDVD\08. Working_Folder\Copyright Removed Jpegs\Lutgens_EOG_13e\Chapter10\Jpegs_Labeled\EOG_13e_Figure_10_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616268"/>
            <a:ext cx="8278813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10.2</a:t>
            </a:r>
            <a:r>
              <a:rPr lang="en-IN" altLang="en-US" dirty="0" smtClean="0"/>
              <a:t> </a:t>
            </a:r>
            <a:r>
              <a:rPr altLang="en-US" dirty="0" smtClean="0"/>
              <a:t>Continental Margins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Passive continental margins</a:t>
            </a:r>
          </a:p>
          <a:p>
            <a:pPr lvl="1"/>
            <a:r>
              <a:rPr lang="en-US" altLang="en-US" dirty="0" smtClean="0"/>
              <a:t>Found along most coastal areas that surround the Atlantic ocean </a:t>
            </a:r>
          </a:p>
          <a:p>
            <a:pPr lvl="1"/>
            <a:r>
              <a:rPr lang="en-US" altLang="en-US" dirty="0" smtClean="0"/>
              <a:t>Not associated with plate boundaries </a:t>
            </a:r>
          </a:p>
          <a:p>
            <a:pPr lvl="1"/>
            <a:r>
              <a:rPr lang="en-US" altLang="en-US" dirty="0" smtClean="0"/>
              <a:t>Experience little volcanism and few earthquakes</a:t>
            </a:r>
            <a:endParaRPr lang="en-US" alt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10.2</a:t>
            </a:r>
            <a:r>
              <a:rPr lang="en-IN" altLang="en-US" dirty="0" smtClean="0"/>
              <a:t> </a:t>
            </a:r>
            <a:r>
              <a:rPr altLang="en-US" dirty="0" smtClean="0"/>
              <a:t>Continental Margins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Features comprising a passive continental margin </a:t>
            </a:r>
          </a:p>
          <a:p>
            <a:pPr lvl="1"/>
            <a:r>
              <a:rPr lang="en-US" altLang="en-US" dirty="0" smtClean="0"/>
              <a:t>Continental shelf</a:t>
            </a:r>
          </a:p>
          <a:p>
            <a:pPr lvl="2"/>
            <a:r>
              <a:rPr lang="en-US" altLang="en-US" dirty="0" smtClean="0"/>
              <a:t>Flooded extension of the continent </a:t>
            </a:r>
          </a:p>
          <a:p>
            <a:pPr lvl="2"/>
            <a:r>
              <a:rPr lang="en-US" altLang="en-US" dirty="0" smtClean="0"/>
              <a:t>Varies greatly in width </a:t>
            </a:r>
          </a:p>
          <a:p>
            <a:pPr lvl="2"/>
            <a:r>
              <a:rPr lang="en-US" altLang="en-US" dirty="0" smtClean="0"/>
              <a:t>Gently sloping </a:t>
            </a:r>
          </a:p>
          <a:p>
            <a:pPr lvl="2"/>
            <a:r>
              <a:rPr lang="en-US" altLang="en-US" dirty="0" smtClean="0"/>
              <a:t>Contains important mineral deposits</a:t>
            </a:r>
          </a:p>
          <a:p>
            <a:pPr lvl="2"/>
            <a:r>
              <a:rPr lang="en-US" altLang="en-US" dirty="0" smtClean="0"/>
              <a:t>Some areas are mantled by extensive glacial deposits.</a:t>
            </a:r>
            <a:endParaRPr lang="en-US" altLang="en-US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10.2</a:t>
            </a:r>
            <a:r>
              <a:rPr lang="en-IN" altLang="en-US" dirty="0" smtClean="0"/>
              <a:t> </a:t>
            </a:r>
            <a:r>
              <a:rPr altLang="en-US" dirty="0" smtClean="0"/>
              <a:t>Continental Margins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2064021"/>
          </a:xfrm>
        </p:spPr>
        <p:txBody>
          <a:bodyPr/>
          <a:lstStyle/>
          <a:p>
            <a:r>
              <a:rPr lang="en-US" altLang="en-US" dirty="0" smtClean="0"/>
              <a:t>Features comprising a passive continental margin </a:t>
            </a:r>
          </a:p>
          <a:p>
            <a:pPr lvl="1"/>
            <a:r>
              <a:rPr lang="en-US" altLang="en-US" dirty="0" smtClean="0"/>
              <a:t>Continental slope</a:t>
            </a:r>
          </a:p>
          <a:p>
            <a:pPr lvl="2"/>
            <a:r>
              <a:rPr lang="en-US" altLang="en-US" dirty="0" smtClean="0"/>
              <a:t>Marks the seaward edge of the continental shelf </a:t>
            </a:r>
          </a:p>
          <a:p>
            <a:pPr lvl="2"/>
            <a:r>
              <a:rPr lang="en-US" altLang="en-US" dirty="0" smtClean="0"/>
              <a:t>Relatively steep structure </a:t>
            </a:r>
          </a:p>
          <a:p>
            <a:pPr lvl="2"/>
            <a:r>
              <a:rPr lang="en-US" altLang="en-US" dirty="0" smtClean="0"/>
              <a:t>Boundary between continental crust and oceanic crust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10.2</a:t>
            </a:r>
            <a:r>
              <a:rPr lang="en-IN" altLang="en-US" dirty="0" smtClean="0"/>
              <a:t> </a:t>
            </a:r>
            <a:r>
              <a:rPr altLang="en-US" dirty="0" smtClean="0"/>
              <a:t>Continental Margins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Features comprising a passive continental margin</a:t>
            </a:r>
          </a:p>
          <a:p>
            <a:pPr lvl="1"/>
            <a:r>
              <a:rPr lang="en-US" altLang="en-US" dirty="0" smtClean="0"/>
              <a:t>Continental rise</a:t>
            </a:r>
          </a:p>
          <a:p>
            <a:pPr lvl="2"/>
            <a:r>
              <a:rPr lang="en-US" altLang="en-US" dirty="0" smtClean="0"/>
              <a:t>Found in regions where trenches are absent </a:t>
            </a:r>
          </a:p>
          <a:p>
            <a:pPr lvl="2"/>
            <a:r>
              <a:rPr lang="en-US" altLang="en-US" dirty="0" smtClean="0"/>
              <a:t>Continental slope merges into a more gradual incline—the continental rise.</a:t>
            </a:r>
          </a:p>
          <a:p>
            <a:pPr lvl="2"/>
            <a:r>
              <a:rPr lang="en-US" altLang="en-US" dirty="0" smtClean="0"/>
              <a:t>Thick accumulation of sediment </a:t>
            </a:r>
          </a:p>
          <a:p>
            <a:pPr lvl="2"/>
            <a:r>
              <a:rPr lang="en-US" altLang="en-US" dirty="0" smtClean="0"/>
              <a:t>At the base of the continental slope, turbidity currents deposit sediment that forms deep-sea fans.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Passive Continental Margins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7762875" y="587375"/>
            <a:ext cx="944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21509" name="Picture 5" descr="\\integrafs5\DeLS_Pondy\71_Pearson_US_IRDVD\08. Working_Folder\Copyright Removed Jpegs\Lutgens_EOG_13e\Chapter10\Jpegs_Labeled\EOG_13e_Figure_10_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059641"/>
            <a:ext cx="7639050" cy="346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10.2</a:t>
            </a:r>
            <a:r>
              <a:rPr lang="en-IN" altLang="en-US" dirty="0" smtClean="0"/>
              <a:t> </a:t>
            </a:r>
            <a:r>
              <a:rPr altLang="en-US" dirty="0" smtClean="0"/>
              <a:t>Continental Margins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638787"/>
          </a:xfrm>
        </p:spPr>
        <p:txBody>
          <a:bodyPr/>
          <a:lstStyle/>
          <a:p>
            <a:r>
              <a:rPr lang="en-US" altLang="en-US" dirty="0" smtClean="0"/>
              <a:t>Active continental margins</a:t>
            </a:r>
          </a:p>
          <a:p>
            <a:pPr lvl="1"/>
            <a:r>
              <a:rPr lang="en-US" altLang="en-US" dirty="0" smtClean="0"/>
              <a:t>Continental slope descends abruptly into a deep-ocean trench.</a:t>
            </a:r>
          </a:p>
          <a:p>
            <a:pPr lvl="1"/>
            <a:r>
              <a:rPr lang="en-US" altLang="en-US" dirty="0" smtClean="0"/>
              <a:t>Located primarily around the Pacific Ocean </a:t>
            </a:r>
          </a:p>
          <a:p>
            <a:pPr lvl="1"/>
            <a:r>
              <a:rPr lang="en-US" altLang="en-US" dirty="0" smtClean="0"/>
              <a:t>Accumulations of deformed sediment and scraps of ocean crust form accretionary wedges.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Active Continental Margin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246" y="1273916"/>
            <a:ext cx="7809509" cy="471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84200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10.3</a:t>
            </a:r>
            <a:r>
              <a:rPr lang="en-IN" altLang="en-US" dirty="0" smtClean="0"/>
              <a:t> </a:t>
            </a:r>
            <a:r>
              <a:rPr altLang="en-US" dirty="0" smtClean="0"/>
              <a:t>Features of Deep-Ocean Basins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6"/>
            <a:ext cx="8229600" cy="3019471"/>
          </a:xfrm>
        </p:spPr>
        <p:txBody>
          <a:bodyPr/>
          <a:lstStyle/>
          <a:p>
            <a:r>
              <a:rPr lang="en-US" altLang="en-US" smtClean="0"/>
              <a:t>Deep-ocean trench</a:t>
            </a:r>
          </a:p>
          <a:p>
            <a:pPr lvl="1"/>
            <a:r>
              <a:rPr lang="en-US" altLang="en-US" smtClean="0"/>
              <a:t>Long, relatively narrow features </a:t>
            </a:r>
          </a:p>
          <a:p>
            <a:pPr lvl="1"/>
            <a:r>
              <a:rPr lang="en-US" altLang="en-US" smtClean="0"/>
              <a:t>Deepest parts of ocean </a:t>
            </a:r>
          </a:p>
          <a:p>
            <a:pPr lvl="1"/>
            <a:r>
              <a:rPr lang="en-US" altLang="en-US" smtClean="0"/>
              <a:t>Most are located in the Pacific Ocean </a:t>
            </a:r>
          </a:p>
          <a:p>
            <a:pPr lvl="1"/>
            <a:r>
              <a:rPr lang="en-US" altLang="en-US" smtClean="0"/>
              <a:t>Sites where moving lithospheric plates plunge into the mantle </a:t>
            </a:r>
          </a:p>
          <a:p>
            <a:pPr lvl="1"/>
            <a:r>
              <a:rPr lang="en-US" altLang="en-US" smtClean="0"/>
              <a:t>Associated with volcanic activity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The Challenger Deep</a:t>
            </a:r>
          </a:p>
        </p:txBody>
      </p:sp>
      <p:pic>
        <p:nvPicPr>
          <p:cNvPr id="25604" name="Picture 4" descr="\\integrafs5\DeLS_Pondy\71_Pearson_US_IRDVD\08. Working_Folder\Copyright Removed Jpegs\Lutgens_EOG_13e\Chapter10\Jpegs_Labeled\EOG_13e_Figure_10_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63" y="867235"/>
            <a:ext cx="4230687" cy="538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10.3</a:t>
            </a:r>
            <a:r>
              <a:rPr lang="en-IN" altLang="en-US" dirty="0" smtClean="0"/>
              <a:t> </a:t>
            </a:r>
            <a:r>
              <a:rPr altLang="en-US" dirty="0" smtClean="0"/>
              <a:t>Features of Deep-Ocean Basins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1907267"/>
          </a:xfrm>
        </p:spPr>
        <p:txBody>
          <a:bodyPr/>
          <a:lstStyle/>
          <a:p>
            <a:r>
              <a:rPr lang="en-US" altLang="en-US" smtClean="0"/>
              <a:t>Abyssal plains </a:t>
            </a:r>
          </a:p>
          <a:p>
            <a:pPr lvl="1"/>
            <a:r>
              <a:rPr lang="en-US" altLang="en-US" smtClean="0"/>
              <a:t>Likely the most level places on Earth </a:t>
            </a:r>
          </a:p>
          <a:p>
            <a:pPr lvl="1"/>
            <a:r>
              <a:rPr lang="en-US" altLang="en-US" smtClean="0"/>
              <a:t>Sites of thick accumulations of sediment </a:t>
            </a:r>
          </a:p>
          <a:p>
            <a:pPr lvl="1"/>
            <a:r>
              <a:rPr lang="en-US" altLang="en-US" smtClean="0"/>
              <a:t>Found in all oceans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Volcanic structures on the ocean floor</a:t>
            </a:r>
          </a:p>
          <a:p>
            <a:pPr lvl="1"/>
            <a:r>
              <a:rPr lang="en-US" altLang="en-US" dirty="0" smtClean="0"/>
              <a:t>Seamounts</a:t>
            </a:r>
          </a:p>
          <a:p>
            <a:pPr lvl="2"/>
            <a:r>
              <a:rPr lang="en-US" altLang="en-US" dirty="0" smtClean="0"/>
              <a:t>Isolated volcanic peaks </a:t>
            </a:r>
          </a:p>
          <a:p>
            <a:pPr lvl="2"/>
            <a:r>
              <a:rPr lang="en-US" altLang="en-US" dirty="0" smtClean="0"/>
              <a:t>Many form near oceanic ridges </a:t>
            </a:r>
          </a:p>
          <a:p>
            <a:pPr lvl="2"/>
            <a:r>
              <a:rPr lang="en-US" altLang="en-US" dirty="0" smtClean="0"/>
              <a:t>May emerge as an island </a:t>
            </a:r>
          </a:p>
          <a:p>
            <a:pPr lvl="1"/>
            <a:r>
              <a:rPr lang="en-US" altLang="en-US" dirty="0" err="1" smtClean="0"/>
              <a:t>Guyots</a:t>
            </a:r>
            <a:r>
              <a:rPr lang="en-US" altLang="en-US" dirty="0" smtClean="0"/>
              <a:t> </a:t>
            </a:r>
          </a:p>
          <a:p>
            <a:pPr lvl="2"/>
            <a:r>
              <a:rPr lang="en-US" altLang="en-US" dirty="0" smtClean="0"/>
              <a:t>Seamounts that sink and form flat-topped mountains</a:t>
            </a:r>
          </a:p>
          <a:p>
            <a:pPr lvl="2"/>
            <a:r>
              <a:rPr lang="en-US" altLang="en-US" dirty="0" smtClean="0"/>
              <a:t>Below surface of water </a:t>
            </a:r>
          </a:p>
          <a:p>
            <a:pPr lvl="1"/>
            <a:r>
              <a:rPr lang="en-US" altLang="en-US" dirty="0" smtClean="0"/>
              <a:t>Oceanic plateaus</a:t>
            </a:r>
          </a:p>
          <a:p>
            <a:pPr lvl="2"/>
            <a:r>
              <a:rPr lang="en-US" altLang="en-US" dirty="0" smtClean="0"/>
              <a:t>Vast outpourings of basaltic lavas on the ocean floor</a:t>
            </a:r>
            <a:endParaRPr lang="en-US" altLang="en-US" sz="2600" b="1" dirty="0" smtClean="0">
              <a:solidFill>
                <a:schemeClr val="hlink"/>
              </a:solidFill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10.3</a:t>
            </a:r>
            <a:r>
              <a:rPr lang="en-IN" altLang="en-US" dirty="0" smtClean="0"/>
              <a:t> </a:t>
            </a:r>
            <a:r>
              <a:rPr altLang="en-US" dirty="0" smtClean="0"/>
              <a:t>Features of Deep-Ocean Basins </a:t>
            </a:r>
            <a:r>
              <a:rPr lang="en-IN" altLang="en-US" dirty="0"/>
              <a:t>(cont.)</a:t>
            </a:r>
            <a:r>
              <a:rPr alt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Volcanic structures on the ocean floor</a:t>
            </a:r>
          </a:p>
          <a:p>
            <a:pPr lvl="1"/>
            <a:r>
              <a:rPr lang="en-US" altLang="en-US" dirty="0" smtClean="0"/>
              <a:t>Coral atolls</a:t>
            </a:r>
          </a:p>
          <a:p>
            <a:pPr lvl="2"/>
            <a:r>
              <a:rPr lang="en-US" altLang="en-US" dirty="0" smtClean="0"/>
              <a:t>Ring-shaped structures of corals</a:t>
            </a:r>
          </a:p>
          <a:p>
            <a:pPr lvl="2"/>
            <a:r>
              <a:rPr lang="en-US" altLang="en-US" dirty="0" smtClean="0"/>
              <a:t>Found at depths of several thousand meters</a:t>
            </a:r>
          </a:p>
          <a:p>
            <a:pPr lvl="2"/>
            <a:r>
              <a:rPr lang="en-US" altLang="en-US" dirty="0" smtClean="0"/>
              <a:t>Darwin hypothesized that this was formed due to subsiding volcanoes.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10.3</a:t>
            </a:r>
            <a:r>
              <a:rPr lang="en-IN" altLang="en-US" dirty="0" smtClean="0"/>
              <a:t> </a:t>
            </a:r>
            <a:r>
              <a:rPr altLang="en-US" dirty="0" smtClean="0"/>
              <a:t>Features of Deep-Ocean Basins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Darwin’s </a:t>
            </a:r>
            <a:r>
              <a:rPr lang="en-IN" altLang="en-US" dirty="0" smtClean="0"/>
              <a:t>H</a:t>
            </a:r>
            <a:r>
              <a:rPr altLang="en-US" dirty="0" err="1" smtClean="0"/>
              <a:t>ypothesis</a:t>
            </a:r>
            <a:endParaRPr altLang="en-US" dirty="0" smtClean="0"/>
          </a:p>
        </p:txBody>
      </p:sp>
      <p:pic>
        <p:nvPicPr>
          <p:cNvPr id="29700" name="Picture 4" descr="\\integrafs5\DeLS_Pondy\71_Pearson_US_IRDVD\08. Working_Folder\Copyright Removed Jpegs\Lutgens_EOG_13e\Chapter10\Jpegs_Labeled\EOG_13e_Figure_10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1765894"/>
            <a:ext cx="8289925" cy="348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892"/>
            <a:ext cx="8229600" cy="5106987"/>
          </a:xfrm>
        </p:spPr>
        <p:txBody>
          <a:bodyPr/>
          <a:lstStyle/>
          <a:p>
            <a:r>
              <a:rPr lang="en-US" altLang="en-US" dirty="0" smtClean="0"/>
              <a:t>Oceanic ridge: Broad, linear swells along divergent plate boundaries</a:t>
            </a:r>
          </a:p>
          <a:p>
            <a:pPr lvl="1"/>
            <a:r>
              <a:rPr lang="en-US" altLang="en-US" dirty="0" smtClean="0"/>
              <a:t>Occupy elevated positions </a:t>
            </a:r>
          </a:p>
          <a:p>
            <a:pPr lvl="1"/>
            <a:r>
              <a:rPr lang="en-US" altLang="en-US" dirty="0" smtClean="0"/>
              <a:t>Extensive faulting and earthquakes </a:t>
            </a:r>
          </a:p>
          <a:p>
            <a:pPr lvl="1"/>
            <a:r>
              <a:rPr lang="en-US" altLang="en-US" dirty="0" smtClean="0"/>
              <a:t>High heat flow</a:t>
            </a:r>
          </a:p>
          <a:p>
            <a:pPr lvl="1"/>
            <a:r>
              <a:rPr lang="en-US" altLang="en-US" dirty="0" smtClean="0"/>
              <a:t>Numerous volcanic structures </a:t>
            </a:r>
          </a:p>
        </p:txBody>
      </p:sp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10.4</a:t>
            </a:r>
            <a:r>
              <a:rPr lang="en-IN" altLang="en-US" dirty="0" smtClean="0"/>
              <a:t> </a:t>
            </a:r>
            <a:r>
              <a:rPr altLang="en-US" dirty="0" smtClean="0"/>
              <a:t>Anatomy of the Oceanic Ridge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Oceanic ridge characteristics </a:t>
            </a:r>
          </a:p>
          <a:p>
            <a:pPr lvl="1"/>
            <a:r>
              <a:rPr lang="en-US" altLang="en-US" dirty="0" smtClean="0"/>
              <a:t>Longest topographic feature on Earth’s surface </a:t>
            </a:r>
          </a:p>
          <a:p>
            <a:pPr lvl="2"/>
            <a:r>
              <a:rPr lang="en-US" altLang="en-US" dirty="0" smtClean="0"/>
              <a:t>More than 70,000 </a:t>
            </a:r>
            <a:r>
              <a:rPr lang="en-US" altLang="en-US" dirty="0"/>
              <a:t>kilometers </a:t>
            </a:r>
            <a:r>
              <a:rPr lang="en-US" altLang="en-US" dirty="0" smtClean="0"/>
              <a:t>(43,000 miles) in length</a:t>
            </a:r>
          </a:p>
          <a:p>
            <a:pPr lvl="2"/>
            <a:r>
              <a:rPr lang="en-US" altLang="en-US" dirty="0" smtClean="0"/>
              <a:t>20% of Earth’s surface</a:t>
            </a:r>
          </a:p>
          <a:p>
            <a:pPr lvl="2"/>
            <a:r>
              <a:rPr lang="en-US" altLang="en-US" dirty="0" smtClean="0"/>
              <a:t>Winds through all major oceans</a:t>
            </a:r>
          </a:p>
          <a:p>
            <a:pPr lvl="1"/>
            <a:r>
              <a:rPr lang="en-US" altLang="en-US" dirty="0" smtClean="0"/>
              <a:t>Term ridge is misleading; widths of 1000 to 4000 kilometers give the appearance of broad, elongated swells </a:t>
            </a:r>
          </a:p>
        </p:txBody>
      </p:sp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-17418" y="8709"/>
            <a:ext cx="9126538" cy="579438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10.4</a:t>
            </a:r>
            <a:r>
              <a:rPr lang="en-IN" altLang="en-US" dirty="0" smtClean="0"/>
              <a:t> </a:t>
            </a:r>
            <a:r>
              <a:rPr altLang="en-US" dirty="0" smtClean="0"/>
              <a:t>Anatomy of the Oceanic Ridge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7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107564"/>
          </a:xfrm>
        </p:spPr>
        <p:txBody>
          <a:bodyPr/>
          <a:lstStyle/>
          <a:p>
            <a:r>
              <a:rPr lang="en-US" altLang="en-US" dirty="0" smtClean="0"/>
              <a:t>Oceanic ridge characteristics </a:t>
            </a:r>
          </a:p>
          <a:p>
            <a:pPr lvl="1"/>
            <a:r>
              <a:rPr lang="en-US" altLang="en-US" dirty="0" smtClean="0"/>
              <a:t>Axis of some ridge segments exhibit deep, down-faulted structures called rift valleys. </a:t>
            </a:r>
          </a:p>
          <a:p>
            <a:pPr lvl="1"/>
            <a:r>
              <a:rPr lang="en-US" altLang="en-US" dirty="0" smtClean="0"/>
              <a:t>Portions of the mid-Atlantic ridge have been studied in considerable detail.</a:t>
            </a:r>
          </a:p>
        </p:txBody>
      </p:sp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10.4</a:t>
            </a:r>
            <a:r>
              <a:rPr lang="en-IN" altLang="en-US" dirty="0" smtClean="0"/>
              <a:t> </a:t>
            </a:r>
            <a:r>
              <a:rPr altLang="en-US" dirty="0" smtClean="0"/>
              <a:t>Anatomy of the Oceanic Ridge </a:t>
            </a:r>
            <a:r>
              <a:rPr lang="en-IN" altLang="en-US" dirty="0"/>
              <a:t>(cont.)</a:t>
            </a:r>
            <a:r>
              <a:rPr alt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Distribution of the Oceanic Ridge System</a:t>
            </a:r>
          </a:p>
        </p:txBody>
      </p:sp>
      <p:pic>
        <p:nvPicPr>
          <p:cNvPr id="33796" name="Picture 4" descr="\\integrafs5\DeLS_Pondy\71_Pearson_US_IRDVD\08. Working_Folder\Copyright Removed Jpegs\Lutgens_EOG_13e\Chapter10\Jpegs_Labeled\EOG_13e_Figure_10_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67" y="1563538"/>
            <a:ext cx="8275479" cy="409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10.5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Ocean Ridges &amp; Seafloor Spreading </a:t>
            </a:r>
            <a:endParaRPr altLang="en-US" sz="4000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7583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Seafloor spreading </a:t>
            </a:r>
          </a:p>
          <a:p>
            <a:pPr lvl="1"/>
            <a:r>
              <a:rPr lang="en-US" altLang="en-US" dirty="0" smtClean="0"/>
              <a:t>Concept formulated in the early 1960s by Harry Hess </a:t>
            </a:r>
          </a:p>
          <a:p>
            <a:pPr lvl="1"/>
            <a:r>
              <a:rPr lang="en-US" altLang="en-US" dirty="0" smtClean="0"/>
              <a:t>Seafloor spreading occurs along relatively narrow zones, called rift zones, located at the crests of ocean ridges.</a:t>
            </a:r>
          </a:p>
          <a:p>
            <a:pPr lvl="2"/>
            <a:r>
              <a:rPr lang="en-US" altLang="en-US" dirty="0" smtClean="0"/>
              <a:t>As plates move apart, magma wells up into the newly created fractures and generates new slivers of oceanic lithosphere.</a:t>
            </a:r>
          </a:p>
          <a:p>
            <a:pPr lvl="2"/>
            <a:r>
              <a:rPr lang="en-US" altLang="en-US" dirty="0" smtClean="0"/>
              <a:t>New lithosphere moves from the ridge crest in a conveyor-belt fashion.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356499" y="1564419"/>
            <a:ext cx="8229600" cy="4690063"/>
          </a:xfrm>
        </p:spPr>
        <p:txBody>
          <a:bodyPr/>
          <a:lstStyle/>
          <a:p>
            <a:r>
              <a:rPr lang="en-US" altLang="en-US" dirty="0" smtClean="0"/>
              <a:t>Why are oceanic ridges elevated? </a:t>
            </a:r>
          </a:p>
          <a:p>
            <a:pPr lvl="1"/>
            <a:r>
              <a:rPr lang="en-US" altLang="en-US" dirty="0" smtClean="0"/>
              <a:t>Newly created oceanic lithosphere is hot and occupies more volume than cooler rocks.</a:t>
            </a:r>
          </a:p>
          <a:p>
            <a:pPr lvl="1"/>
            <a:r>
              <a:rPr lang="en-US" altLang="en-US" dirty="0" smtClean="0"/>
              <a:t>As the basaltic crust travels away from the ridge crest, it is cooled by seawater.</a:t>
            </a:r>
          </a:p>
          <a:p>
            <a:pPr lvl="1"/>
            <a:r>
              <a:rPr lang="en-US" altLang="en-US" dirty="0" smtClean="0"/>
              <a:t>As the lithosphere moves away, it thermally contracts and becomes more dense.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252" y="8709"/>
            <a:ext cx="9144000" cy="107721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10.5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Ocean Ridges &amp; Seafloor Spreading (cont.) </a:t>
            </a:r>
            <a:endParaRPr altLang="en-US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>
            <a:spLocks noGrp="1"/>
          </p:cNvSpPr>
          <p:nvPr>
            <p:ph idx="1"/>
          </p:nvPr>
        </p:nvSpPr>
        <p:spPr>
          <a:xfrm>
            <a:off x="356499" y="1564419"/>
            <a:ext cx="8229600" cy="4690063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Spreading rates and ridge topography </a:t>
            </a:r>
          </a:p>
          <a:p>
            <a:pPr lvl="1" eaLnBrk="1" hangingPunct="1"/>
            <a:r>
              <a:rPr lang="en-US" altLang="en-US" dirty="0" smtClean="0"/>
              <a:t>Ridge systems exhibit topographic differences.</a:t>
            </a:r>
          </a:p>
          <a:p>
            <a:pPr lvl="1" eaLnBrk="1" hangingPunct="1"/>
            <a:r>
              <a:rPr lang="en-US" altLang="en-US" dirty="0" smtClean="0"/>
              <a:t>Topographic differences are controlled by spreading rates.</a:t>
            </a:r>
          </a:p>
          <a:p>
            <a:pPr lvl="2" eaLnBrk="1" hangingPunct="1"/>
            <a:r>
              <a:rPr lang="en-US" altLang="en-US" dirty="0" smtClean="0"/>
              <a:t>At slow spreading rates (1– cm per year), a prominent rift valley develops along the ridge crest that is usually 30 to </a:t>
            </a:r>
            <a:br>
              <a:rPr lang="en-US" altLang="en-US" dirty="0" smtClean="0"/>
            </a:br>
            <a:r>
              <a:rPr lang="en-US" altLang="en-US" dirty="0" smtClean="0"/>
              <a:t>50 </a:t>
            </a:r>
            <a:r>
              <a:rPr lang="en-US" altLang="en-US" dirty="0"/>
              <a:t>kilometers </a:t>
            </a:r>
            <a:r>
              <a:rPr lang="en-US" altLang="en-US" dirty="0" smtClean="0"/>
              <a:t>across and 1500–3000 meters deep.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252" y="8709"/>
            <a:ext cx="9144000" cy="107721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10.5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Ocean Ridges &amp; Seafloor Spreading (cont.) </a:t>
            </a:r>
            <a:endParaRPr altLang="en-US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56499" y="1564419"/>
            <a:ext cx="8229600" cy="4690063"/>
          </a:xfrm>
        </p:spPr>
        <p:txBody>
          <a:bodyPr/>
          <a:lstStyle/>
          <a:p>
            <a:r>
              <a:rPr lang="en-US" altLang="en-US" dirty="0" smtClean="0"/>
              <a:t>Spreading rates and ridge topography </a:t>
            </a:r>
          </a:p>
          <a:p>
            <a:pPr lvl="1"/>
            <a:r>
              <a:rPr lang="en-US" altLang="en-US" dirty="0" smtClean="0"/>
              <a:t>Topographic differences are controlled by spreading rates. </a:t>
            </a:r>
          </a:p>
          <a:p>
            <a:pPr lvl="2"/>
            <a:r>
              <a:rPr lang="en-US" altLang="en-US" dirty="0" smtClean="0"/>
              <a:t>At intermediate spreading rates (5–9 cm per year), rift valleys that develop are shallow and less than 200 meters deep.</a:t>
            </a:r>
          </a:p>
          <a:p>
            <a:pPr lvl="2"/>
            <a:r>
              <a:rPr lang="en-US" altLang="en-US" dirty="0" smtClean="0"/>
              <a:t>At spreading rates greater than 9 </a:t>
            </a:r>
            <a:r>
              <a:rPr lang="en-US" altLang="en-US" dirty="0"/>
              <a:t>centimeters </a:t>
            </a:r>
            <a:r>
              <a:rPr lang="en-US" altLang="en-US" dirty="0" smtClean="0"/>
              <a:t>per year, no median rift valley develops and these areas are usually narrow and extensively faulted.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252" y="8709"/>
            <a:ext cx="9144000" cy="107721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10.5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Ocean Ridges &amp; Seafloor Spreading (cont.) </a:t>
            </a:r>
            <a:endParaRPr altLang="en-US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Slow Spreading Oceanic Ridge</a:t>
            </a:r>
          </a:p>
        </p:txBody>
      </p:sp>
      <p:pic>
        <p:nvPicPr>
          <p:cNvPr id="38916" name="Picture 4" descr="\\integrafs5\DeLS_Pondy\71_Pearson_US_IRDVD\08. Working_Folder\Copyright Removed Jpegs\Lutgens_EOG_13e\Chapter10\Jpegs_Labeled\EOG_13e_Figure_10_17a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6"/>
          <a:stretch/>
        </p:blipFill>
        <p:spPr bwMode="auto">
          <a:xfrm>
            <a:off x="591305" y="1548239"/>
            <a:ext cx="7959802" cy="438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Fast Spreading Oceanic Ridge</a:t>
            </a:r>
          </a:p>
        </p:txBody>
      </p:sp>
      <p:pic>
        <p:nvPicPr>
          <p:cNvPr id="39940" name="Picture 4" descr="\\integrafs5\DeLS_Pondy\71_Pearson_US_IRDVD\08. Working_Folder\Copyright Removed Jpegs\Lutgens_EOG_13e\Chapter10\Jpegs_Labeled\EOG_13e_Figure_10_17b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33"/>
          <a:stretch/>
        </p:blipFill>
        <p:spPr bwMode="auto">
          <a:xfrm>
            <a:off x="606545" y="1623179"/>
            <a:ext cx="7947429" cy="432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10.6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The Nature of Oceanic Crust 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6"/>
            <a:ext cx="8229600" cy="5106987"/>
          </a:xfrm>
        </p:spPr>
        <p:txBody>
          <a:bodyPr/>
          <a:lstStyle/>
          <a:p>
            <a:r>
              <a:rPr lang="en-US" altLang="en-US" dirty="0" smtClean="0"/>
              <a:t>Four distinct layers, in a sequence of rocks called an </a:t>
            </a:r>
            <a:r>
              <a:rPr lang="en-US" altLang="en-US" dirty="0" err="1" smtClean="0"/>
              <a:t>ophiolite</a:t>
            </a:r>
            <a:r>
              <a:rPr lang="en-US" altLang="en-US" dirty="0" smtClean="0"/>
              <a:t> complex </a:t>
            </a:r>
          </a:p>
          <a:p>
            <a:pPr lvl="1"/>
            <a:r>
              <a:rPr lang="en-US" altLang="en-US" dirty="0" smtClean="0"/>
              <a:t>Layer 1: Sequence of unconsolidated sediments</a:t>
            </a:r>
          </a:p>
          <a:p>
            <a:pPr lvl="1"/>
            <a:r>
              <a:rPr lang="en-US" altLang="en-US" dirty="0" smtClean="0"/>
              <a:t>Layer 2: Consisting of pillow lavas </a:t>
            </a:r>
          </a:p>
          <a:p>
            <a:pPr lvl="1"/>
            <a:r>
              <a:rPr lang="en-US" altLang="en-US" dirty="0" smtClean="0"/>
              <a:t>Layer 3: Numerous interconnected dikes called sheet dikes </a:t>
            </a:r>
          </a:p>
          <a:p>
            <a:pPr lvl="1"/>
            <a:r>
              <a:rPr lang="en-US" altLang="en-US" dirty="0" smtClean="0"/>
              <a:t>Layer 4: Gabbro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10.6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The Nature of Oceanic Crust (cont.) 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Formation of oceanic crust </a:t>
            </a:r>
          </a:p>
          <a:p>
            <a:pPr lvl="1"/>
            <a:r>
              <a:rPr lang="en-US" altLang="en-US" dirty="0" smtClean="0"/>
              <a:t>Basaltic magma originates from partially melted mantle peridotite.</a:t>
            </a:r>
          </a:p>
          <a:p>
            <a:pPr lvl="1"/>
            <a:r>
              <a:rPr lang="en-US" altLang="en-US" dirty="0" smtClean="0"/>
              <a:t>Molten rock injected into fractures above the magma chambers creates the sheeted dike complex.</a:t>
            </a:r>
          </a:p>
          <a:p>
            <a:pPr lvl="1"/>
            <a:r>
              <a:rPr lang="en-US" altLang="en-US" dirty="0" smtClean="0"/>
              <a:t>The submarine lava flows chill quickly and the congealed margin is forced forward to produce large tube-shaped protuberances known as pillow basalts.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lang="en-IN" altLang="en-US" dirty="0"/>
              <a:t>Structure of the Oceanic Crust</a:t>
            </a:r>
            <a:endParaRPr altLang="en-US" dirty="0" smtClean="0"/>
          </a:p>
        </p:txBody>
      </p:sp>
      <p:pic>
        <p:nvPicPr>
          <p:cNvPr id="43012" name="Picture 4" descr="\\integrafs5\DeLS_Pondy\71_Pearson_US_IRDVD\08. Working_Folder\Copyright Removed Jpegs\Lutgens_EOG_13e\Chapter10\Jpegs_Labeled\EOG_13e_Figure_10_1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8" y="844921"/>
            <a:ext cx="4681537" cy="549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>
                <a:cs typeface="Times New Roman" pitchFamily="18" charset="0"/>
              </a:rPr>
              <a:t>10.6</a:t>
            </a:r>
            <a:r>
              <a:rPr lang="en-IN" altLang="en-US" dirty="0" smtClean="0">
                <a:cs typeface="Times New Roman" pitchFamily="18" charset="0"/>
              </a:rPr>
              <a:t> </a:t>
            </a:r>
            <a:r>
              <a:rPr altLang="en-US" dirty="0" smtClean="0">
                <a:cs typeface="Times New Roman" pitchFamily="18" charset="0"/>
              </a:rPr>
              <a:t>The Nature of Oceanic Crust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Interactions between seawater and oceanic crust </a:t>
            </a:r>
          </a:p>
          <a:p>
            <a:pPr lvl="1"/>
            <a:r>
              <a:rPr lang="en-US" altLang="en-US" dirty="0" smtClean="0"/>
              <a:t>Seawater circulates downward through the highly fractured crust.</a:t>
            </a:r>
          </a:p>
          <a:p>
            <a:pPr lvl="1"/>
            <a:r>
              <a:rPr lang="en-US" altLang="en-US" dirty="0" smtClean="0"/>
              <a:t>Basaltic rock is altered by hydrothermal metamorphism. </a:t>
            </a:r>
          </a:p>
          <a:p>
            <a:pPr lvl="1"/>
            <a:r>
              <a:rPr lang="en-US" altLang="en-US" dirty="0" smtClean="0"/>
              <a:t>Hydrothermal fluids dissolve ions of various metals and precipitate them on the seafloor as particle-filled clouds called black smokers.</a:t>
            </a:r>
            <a:endParaRPr lang="en-US" altLang="en-US" sz="2800" b="1" dirty="0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5186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Evolution of an ocean basin </a:t>
            </a:r>
          </a:p>
          <a:p>
            <a:pPr lvl="1"/>
            <a:r>
              <a:rPr lang="en-US" altLang="en-US" dirty="0" smtClean="0"/>
              <a:t>A new ocean basin begins with the formation of a continental rift.</a:t>
            </a:r>
          </a:p>
          <a:p>
            <a:pPr lvl="2"/>
            <a:r>
              <a:rPr lang="en-US" altLang="en-US" dirty="0" smtClean="0"/>
              <a:t>Splits landmasses into two or more smaller segments </a:t>
            </a:r>
          </a:p>
          <a:p>
            <a:pPr lvl="2"/>
            <a:r>
              <a:rPr lang="en-US" altLang="en-US" dirty="0" smtClean="0"/>
              <a:t>Examples include the East African Rift, Baikal Rift, the Rhine Valley, Rio Grand Rift, and the Basin and Range.</a:t>
            </a:r>
          </a:p>
          <a:p>
            <a:pPr lvl="1"/>
            <a:r>
              <a:rPr lang="en-US" altLang="en-US" dirty="0" smtClean="0"/>
              <a:t>The Red Sea is an example of a rift valley that has lengthened and deepened in a narrow linear sea.</a:t>
            </a:r>
            <a:endParaRPr lang="en-US" altLang="en-US" sz="2800" b="1" dirty="0" smtClean="0">
              <a:cs typeface="Times New Roman" pitchFamily="18" charset="0"/>
            </a:endParaRP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10.7</a:t>
            </a:r>
            <a:r>
              <a:rPr lang="en-IN" altLang="en-US" dirty="0" smtClean="0"/>
              <a:t> </a:t>
            </a:r>
            <a:r>
              <a:rPr altLang="en-US" dirty="0" smtClean="0"/>
              <a:t>Continental Rifting:</a:t>
            </a:r>
            <a:r>
              <a:rPr lang="en-IN" altLang="en-US" dirty="0" smtClean="0"/>
              <a:t> </a:t>
            </a:r>
            <a:r>
              <a:rPr altLang="en-US" dirty="0" smtClean="0"/>
              <a:t>The Birth of a New Ocean Basin </a:t>
            </a:r>
            <a:endParaRPr altLang="en-US" sz="4000" dirty="0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East Africa Rift Valley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7743825" y="587375"/>
            <a:ext cx="946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Tutorial</a:t>
            </a:r>
            <a:endParaRPr lang="en-US" altLang="en-US" sz="1800" dirty="0"/>
          </a:p>
        </p:txBody>
      </p:sp>
      <p:pic>
        <p:nvPicPr>
          <p:cNvPr id="46085" name="Picture 5" descr="\\integrafs5\DeLS_Pondy\71_Pearson_US_IRDVD\08. Working_Folder\Copyright Removed Jpegs\Lutgens_EOG_13e\Chapter10\Jpegs_Labeled\EOG_13e_Figure_10_2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041" y="774594"/>
            <a:ext cx="4068330" cy="567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5186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Evolution of an ocean basin </a:t>
            </a:r>
          </a:p>
          <a:p>
            <a:pPr lvl="1"/>
            <a:r>
              <a:rPr lang="en-US" altLang="en-US" dirty="0" smtClean="0"/>
              <a:t>Atlantic Ocean</a:t>
            </a:r>
          </a:p>
          <a:p>
            <a:pPr lvl="2"/>
            <a:r>
              <a:rPr lang="en-US" altLang="en-US" dirty="0" smtClean="0"/>
              <a:t>After tens of millions of years, the Red Sea will develop into a feature similar to the Atlantic Ocean.</a:t>
            </a:r>
          </a:p>
          <a:p>
            <a:pPr lvl="2"/>
            <a:r>
              <a:rPr lang="en-US" altLang="en-US" dirty="0" smtClean="0"/>
              <a:t>As new oceanic crust was added to the diverging plates, the rifted margins moved further from the region of upwelling.</a:t>
            </a:r>
          </a:p>
          <a:p>
            <a:pPr lvl="2"/>
            <a:r>
              <a:rPr lang="en-US" altLang="en-US" dirty="0" smtClean="0"/>
              <a:t>These margins cooled and subsided below sea level.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10.7</a:t>
            </a:r>
            <a:r>
              <a:rPr lang="en-IN" altLang="en-US" dirty="0" smtClean="0"/>
              <a:t> </a:t>
            </a:r>
            <a:r>
              <a:rPr altLang="en-US" dirty="0" smtClean="0"/>
              <a:t>Continental Rifting:</a:t>
            </a:r>
            <a:r>
              <a:rPr lang="en-IN" altLang="en-US" dirty="0" smtClean="0"/>
              <a:t> </a:t>
            </a:r>
            <a:r>
              <a:rPr altLang="en-US" dirty="0" smtClean="0"/>
              <a:t>The Birth of a New Ocean Basin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Formation of an Ocean Basin</a:t>
            </a:r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7493000" y="587375"/>
            <a:ext cx="1211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Animation</a:t>
            </a:r>
            <a:endParaRPr lang="en-US" altLang="en-US" sz="1800" dirty="0"/>
          </a:p>
        </p:txBody>
      </p:sp>
      <p:pic>
        <p:nvPicPr>
          <p:cNvPr id="48133" name="Picture 5" descr="\\integrafs5\DeLS_Pondy\71_Pearson_US_IRDVD\08. Working_Folder\Copyright Removed Jpegs\Lutgens_EOG_13e\Chapter10\Jpegs_Labeled\EOG_13e_Figure_10_22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2066925"/>
            <a:ext cx="8510587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565186"/>
            <a:ext cx="8229600" cy="4689475"/>
          </a:xfrm>
        </p:spPr>
        <p:txBody>
          <a:bodyPr/>
          <a:lstStyle/>
          <a:p>
            <a:r>
              <a:rPr lang="en-US" altLang="en-US" dirty="0" smtClean="0"/>
              <a:t>Failed rifts</a:t>
            </a:r>
          </a:p>
          <a:p>
            <a:pPr lvl="2"/>
            <a:r>
              <a:rPr lang="en-US" altLang="en-US" dirty="0" smtClean="0"/>
              <a:t>Formerly active rift valley is filled with basalt and clastic sedimentary rocks.</a:t>
            </a:r>
          </a:p>
          <a:p>
            <a:pPr lvl="2"/>
            <a:r>
              <a:rPr lang="en-US" altLang="en-US" dirty="0" smtClean="0"/>
              <a:t>Why rifts fail or succeed is not fully understood.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10.7</a:t>
            </a:r>
            <a:r>
              <a:rPr lang="en-IN" altLang="en-US" dirty="0" smtClean="0"/>
              <a:t> </a:t>
            </a:r>
            <a:r>
              <a:rPr altLang="en-US" dirty="0" smtClean="0"/>
              <a:t>Continental Rifting:</a:t>
            </a:r>
            <a:r>
              <a:rPr lang="en-IN" altLang="en-US" dirty="0" smtClean="0"/>
              <a:t> </a:t>
            </a:r>
            <a:r>
              <a:rPr altLang="en-US" dirty="0" smtClean="0"/>
              <a:t>The Birth of a New Ocean Basin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-3651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Failed Rift</a:t>
            </a:r>
          </a:p>
        </p:txBody>
      </p:sp>
      <p:pic>
        <p:nvPicPr>
          <p:cNvPr id="50180" name="Picture 4" descr="\\integrafs5\DeLS_Pondy\71_Pearson_US_IRDVD\08. Working_Folder\Copyright Removed Jpegs\Lutgens_EOG_13e\Chapter10\Jpegs_Labeled\EOG_13e_Figure_10_2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836346"/>
            <a:ext cx="6291263" cy="539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10.8</a:t>
            </a:r>
            <a:r>
              <a:rPr lang="en-IN" altLang="en-US" dirty="0" smtClean="0"/>
              <a:t> </a:t>
            </a:r>
            <a:r>
              <a:rPr altLang="en-US" dirty="0" smtClean="0"/>
              <a:t>Destruction of Oceanic Lithosphere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082"/>
            <a:ext cx="8229600" cy="5106987"/>
          </a:xfrm>
        </p:spPr>
        <p:txBody>
          <a:bodyPr/>
          <a:lstStyle/>
          <a:p>
            <a:r>
              <a:rPr lang="en-US" altLang="en-US" dirty="0" smtClean="0"/>
              <a:t>Why oceanic lithosphere </a:t>
            </a:r>
            <a:r>
              <a:rPr lang="en-US" altLang="en-US" dirty="0" err="1" smtClean="0"/>
              <a:t>subducts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Spontaneous </a:t>
            </a:r>
            <a:r>
              <a:rPr lang="en-US" altLang="en-US" dirty="0" err="1" smtClean="0"/>
              <a:t>subduction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Very old, thick, dense lithosphere sinks to the mantle by its own weight.</a:t>
            </a:r>
          </a:p>
          <a:p>
            <a:pPr lvl="2"/>
            <a:r>
              <a:rPr lang="en-US" altLang="en-US" dirty="0" smtClean="0"/>
              <a:t>Results in descending angles of nearly 90 degrees</a:t>
            </a:r>
          </a:p>
          <a:p>
            <a:pPr lvl="2"/>
            <a:r>
              <a:rPr lang="en-US" altLang="en-US" dirty="0" smtClean="0"/>
              <a:t>Example: Mariana trench</a:t>
            </a:r>
          </a:p>
          <a:p>
            <a:pPr lvl="2"/>
            <a:r>
              <a:rPr lang="en-US" altLang="en-US" dirty="0" smtClean="0"/>
              <a:t>Lithospheric mantle is what drives subduction.</a:t>
            </a:r>
            <a:endParaRPr lang="en-US" altLang="en-US" sz="3200" b="1" dirty="0" smtClean="0">
              <a:ea typeface="ＭＳ Ｐゴシック" pitchFamily="34" charset="-128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The Angle of Plate Subduction Depends </a:t>
            </a:r>
            <a:br>
              <a:rPr altLang="en-US" smtClean="0"/>
            </a:br>
            <a:r>
              <a:rPr altLang="en-US" smtClean="0"/>
              <a:t>on Its Density</a:t>
            </a:r>
          </a:p>
        </p:txBody>
      </p:sp>
      <p:pic>
        <p:nvPicPr>
          <p:cNvPr id="52228" name="Picture 4" descr="\\integrafs5\DeLS_Pondy\71_Pearson_US_IRDVD\08. Working_Folder\Copyright Removed Jpegs\Lutgens_EOG_13e\Chapter10\Jpegs_Labeled\EOG_13e_Figure_10_2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1295282"/>
            <a:ext cx="7497763" cy="497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10.8</a:t>
            </a:r>
            <a:r>
              <a:rPr lang="en-IN" altLang="en-US" dirty="0" smtClean="0"/>
              <a:t> </a:t>
            </a:r>
            <a:r>
              <a:rPr altLang="en-US" dirty="0" smtClean="0"/>
              <a:t>Destruction of Oceanic Lithosphere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5106988"/>
          </a:xfrm>
        </p:spPr>
        <p:txBody>
          <a:bodyPr/>
          <a:lstStyle/>
          <a:p>
            <a:r>
              <a:rPr lang="en-US" altLang="en-US" dirty="0" smtClean="0"/>
              <a:t>Why oceanic lithosphere </a:t>
            </a:r>
            <a:r>
              <a:rPr lang="en-US" altLang="en-US" dirty="0" err="1" smtClean="0"/>
              <a:t>subducts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Forced </a:t>
            </a:r>
            <a:r>
              <a:rPr lang="en-US" altLang="en-US" dirty="0" err="1" smtClean="0"/>
              <a:t>subduction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/>
              <a:t>Younger, less dense lithosphere is forced beneath the overlying plate by compressional forces.</a:t>
            </a:r>
          </a:p>
          <a:p>
            <a:pPr lvl="2" eaLnBrk="1" hangingPunct="1"/>
            <a:r>
              <a:rPr lang="en-US" altLang="en-US" dirty="0" smtClean="0"/>
              <a:t>Descends at shallow angles</a:t>
            </a:r>
          </a:p>
          <a:p>
            <a:pPr lvl="3"/>
            <a:r>
              <a:rPr lang="en-US" altLang="en-US" dirty="0" smtClean="0"/>
              <a:t>Example: Peru–Chile trench</a:t>
            </a:r>
            <a:endParaRPr lang="en-US" altLang="en-US" sz="3200" b="1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 smtClean="0"/>
              <a:t>Subducting</a:t>
            </a:r>
            <a:r>
              <a:rPr lang="en-US" altLang="en-US" dirty="0" smtClean="0"/>
              <a:t> plates: The demise of an ocean basin </a:t>
            </a:r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 err="1" smtClean="0"/>
              <a:t>Farallon</a:t>
            </a:r>
            <a:r>
              <a:rPr lang="en-US" altLang="en-US" dirty="0" smtClean="0"/>
              <a:t> plate once occupied much of the eastern Pacific basin </a:t>
            </a:r>
          </a:p>
          <a:p>
            <a:pPr lvl="2"/>
            <a:r>
              <a:rPr lang="en-US" altLang="en-US" dirty="0" smtClean="0"/>
              <a:t>Beginning 180 million years ago, the </a:t>
            </a:r>
            <a:r>
              <a:rPr lang="en-US" altLang="en-US" dirty="0" err="1" smtClean="0"/>
              <a:t>Farallon</a:t>
            </a:r>
            <a:r>
              <a:rPr lang="en-US" altLang="en-US" dirty="0" smtClean="0"/>
              <a:t> plate was </a:t>
            </a:r>
            <a:r>
              <a:rPr lang="en-US" altLang="en-US" dirty="0" err="1" smtClean="0"/>
              <a:t>subducting</a:t>
            </a:r>
            <a:r>
              <a:rPr lang="en-US" altLang="en-US" dirty="0" smtClean="0"/>
              <a:t> beneath the Americas faster than it was being generated.</a:t>
            </a:r>
          </a:p>
          <a:p>
            <a:pPr lvl="2"/>
            <a:r>
              <a:rPr lang="en-US" altLang="en-US" dirty="0" smtClean="0"/>
              <a:t>The plate got continually smaller and now only fragments of the original plate remain as the Juan de Fuca, Cocos, and Nazca plates.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6538" cy="107721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10.8</a:t>
            </a:r>
            <a:r>
              <a:rPr lang="en-IN" altLang="en-US" dirty="0" smtClean="0"/>
              <a:t> </a:t>
            </a:r>
            <a:r>
              <a:rPr altLang="en-US" dirty="0" smtClean="0"/>
              <a:t>Destruction of Oceanic Lithosphere</a:t>
            </a:r>
            <a:r>
              <a:rPr lang="en-IN" altLang="en-US" dirty="0" smtClean="0"/>
              <a:t> </a:t>
            </a:r>
            <a:r>
              <a:rPr altLang="en-US" dirty="0" smtClean="0"/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7938"/>
            <a:ext cx="8296275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Demise of the Farallon Plate</a:t>
            </a:r>
          </a:p>
        </p:txBody>
      </p:sp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7804150" y="587375"/>
            <a:ext cx="946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55301" name="Picture 5" descr="\\integrafs5\DeLS_Pondy\71_Pearson_US_IRDVD\08. Working_Folder\Copyright Removed Jpegs\Lutgens_EOG_13e\Chapter10\Jpegs_Labeled\EOG_13e_Figure_10_2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1981200"/>
            <a:ext cx="83947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38c13194c9df4b4e341df175e6d9d7f27b8c75"/>
  <p:tag name="ARTICULATE_PROJECT_OPEN" val="0"/>
</p:tagLst>
</file>

<file path=ppt/theme/theme1.xml><?xml version="1.0" encoding="utf-8"?>
<a:theme xmlns:a="http://schemas.openxmlformats.org/drawingml/2006/main" name="HA5Lect_template">
  <a:themeElements>
    <a:clrScheme name="HA5Lec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A5Lect_templat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A5Lec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9633</TotalTime>
  <Words>1695</Words>
  <Application>Microsoft Office PowerPoint</Application>
  <PresentationFormat>On-screen Show (4:3)</PresentationFormat>
  <Paragraphs>225</Paragraphs>
  <Slides>50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HA5Lect_template</vt:lpstr>
      <vt:lpstr>PowerPoint Presentation</vt:lpstr>
      <vt:lpstr>Learning Objectives</vt:lpstr>
      <vt:lpstr>Learning Objectives (cont.)</vt:lpstr>
      <vt:lpstr>10.1 An Emerging Picture of the Ocean Floor</vt:lpstr>
      <vt:lpstr>10.1 An Emerging Picture of the Ocean Floor (cont.)</vt:lpstr>
      <vt:lpstr>Echo Sounder</vt:lpstr>
      <vt:lpstr>10.1 An Emerging Picture of the Ocean Floor</vt:lpstr>
      <vt:lpstr>Sidescan and Multibeam Sonar</vt:lpstr>
      <vt:lpstr>10.1 An Emerging Picture of the Ocean Floor</vt:lpstr>
      <vt:lpstr>Satellite Altimeter</vt:lpstr>
      <vt:lpstr>10.1 An Emerging Picture of the Ocean Floor</vt:lpstr>
      <vt:lpstr>Major Topographic Divisions of the North Atlantic</vt:lpstr>
      <vt:lpstr>10.2 Continental Margins</vt:lpstr>
      <vt:lpstr>10.2 Continental Margins (cont.)</vt:lpstr>
      <vt:lpstr>10.2 Continental Margins (cont.)</vt:lpstr>
      <vt:lpstr>10.2 Continental Margins (cont.)</vt:lpstr>
      <vt:lpstr>Passive Continental Margins</vt:lpstr>
      <vt:lpstr>10.2 Continental Margins</vt:lpstr>
      <vt:lpstr>Active Continental Margin</vt:lpstr>
      <vt:lpstr>10.3 Features of Deep-Ocean Basins</vt:lpstr>
      <vt:lpstr>The Challenger Deep</vt:lpstr>
      <vt:lpstr>10.3 Features of Deep-Ocean Basins</vt:lpstr>
      <vt:lpstr>10.3 Features of Deep-Ocean Basins (cont.) </vt:lpstr>
      <vt:lpstr>10.3 Features of Deep-Ocean Basins (cont.)</vt:lpstr>
      <vt:lpstr>Darwin’s Hypothesis</vt:lpstr>
      <vt:lpstr>10.4 Anatomy of the Oceanic Ridge</vt:lpstr>
      <vt:lpstr>10.4 Anatomy of the Oceanic Ridge (cont.)</vt:lpstr>
      <vt:lpstr>10.4 Anatomy of the Oceanic Ridge (cont.) </vt:lpstr>
      <vt:lpstr>Distribution of the Oceanic Ridge System</vt:lpstr>
      <vt:lpstr>10.5 Ocean Ridges &amp; Seafloor Spreading </vt:lpstr>
      <vt:lpstr>10.5 Ocean Ridges &amp; Seafloor Spreading (cont.) </vt:lpstr>
      <vt:lpstr>10.5 Ocean Ridges &amp; Seafloor Spreading (cont.) </vt:lpstr>
      <vt:lpstr>10.5 Ocean Ridges &amp; Seafloor Spreading (cont.) </vt:lpstr>
      <vt:lpstr>Slow Spreading Oceanic Ridge</vt:lpstr>
      <vt:lpstr>Fast Spreading Oceanic Ridge</vt:lpstr>
      <vt:lpstr>10.6 The Nature of Oceanic Crust </vt:lpstr>
      <vt:lpstr>10.6 The Nature of Oceanic Crust (cont.) </vt:lpstr>
      <vt:lpstr>Structure of the Oceanic Crust</vt:lpstr>
      <vt:lpstr>10.6 The Nature of Oceanic Crust </vt:lpstr>
      <vt:lpstr>10.7 Continental Rifting: The Birth of a New Ocean Basin </vt:lpstr>
      <vt:lpstr>East Africa Rift Valley</vt:lpstr>
      <vt:lpstr>10.7 Continental Rifting: The Birth of a New Ocean Basin </vt:lpstr>
      <vt:lpstr>Formation of an Ocean Basin</vt:lpstr>
      <vt:lpstr>10.7 Continental Rifting: The Birth of a New Ocean Basin </vt:lpstr>
      <vt:lpstr>Failed Rift</vt:lpstr>
      <vt:lpstr>10.8 Destruction of Oceanic Lithosphere </vt:lpstr>
      <vt:lpstr>The Angle of Plate Subduction Depends  on Its Density</vt:lpstr>
      <vt:lpstr>10.8 Destruction of Oceanic Lithosphere </vt:lpstr>
      <vt:lpstr>10.8 Destruction of Oceanic Lithosphere (cont.)</vt:lpstr>
      <vt:lpstr>Demise of the Farallon Plate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Geology, 12e</dc:title>
  <dc:creator>Bill D. Richards</dc:creator>
  <cp:lastModifiedBy>Coumoudha Sundararajan, Integra-PDY, IN</cp:lastModifiedBy>
  <cp:revision>389</cp:revision>
  <cp:lastPrinted>1601-01-01T00:00:00Z</cp:lastPrinted>
  <dcterms:created xsi:type="dcterms:W3CDTF">2000-12-18T00:31:17Z</dcterms:created>
  <dcterms:modified xsi:type="dcterms:W3CDTF">2017-06-30T14:37:52Z</dcterms:modified>
</cp:coreProperties>
</file>