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44"/>
  </p:notesMasterIdLst>
  <p:sldIdLst>
    <p:sldId id="579" r:id="rId2"/>
    <p:sldId id="580" r:id="rId3"/>
    <p:sldId id="581" r:id="rId4"/>
    <p:sldId id="574" r:id="rId5"/>
    <p:sldId id="575" r:id="rId6"/>
    <p:sldId id="539" r:id="rId7"/>
    <p:sldId id="524" r:id="rId8"/>
    <p:sldId id="540" r:id="rId9"/>
    <p:sldId id="541" r:id="rId10"/>
    <p:sldId id="569" r:id="rId11"/>
    <p:sldId id="496" r:id="rId12"/>
    <p:sldId id="525" r:id="rId13"/>
    <p:sldId id="526" r:id="rId14"/>
    <p:sldId id="576" r:id="rId15"/>
    <p:sldId id="542" r:id="rId16"/>
    <p:sldId id="577" r:id="rId17"/>
    <p:sldId id="528" r:id="rId18"/>
    <p:sldId id="545" r:id="rId19"/>
    <p:sldId id="529" r:id="rId20"/>
    <p:sldId id="544" r:id="rId21"/>
    <p:sldId id="530" r:id="rId22"/>
    <p:sldId id="547" r:id="rId23"/>
    <p:sldId id="531" r:id="rId24"/>
    <p:sldId id="570" r:id="rId25"/>
    <p:sldId id="578" r:id="rId26"/>
    <p:sldId id="563" r:id="rId27"/>
    <p:sldId id="564" r:id="rId28"/>
    <p:sldId id="532" r:id="rId29"/>
    <p:sldId id="571" r:id="rId30"/>
    <p:sldId id="559" r:id="rId31"/>
    <p:sldId id="561" r:id="rId32"/>
    <p:sldId id="560" r:id="rId33"/>
    <p:sldId id="548" r:id="rId34"/>
    <p:sldId id="549" r:id="rId35"/>
    <p:sldId id="573" r:id="rId36"/>
    <p:sldId id="572" r:id="rId37"/>
    <p:sldId id="553" r:id="rId38"/>
    <p:sldId id="537" r:id="rId39"/>
    <p:sldId id="562" r:id="rId40"/>
    <p:sldId id="538" r:id="rId41"/>
    <p:sldId id="556" r:id="rId42"/>
    <p:sldId id="555" r:id="rId43"/>
  </p:sldIdLst>
  <p:sldSz cx="9144000" cy="6858000" type="screen4x3"/>
  <p:notesSz cx="6858000" cy="9144000"/>
  <p:custDataLst>
    <p:tags r:id="rId4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371" autoAdjust="0"/>
  </p:normalViewPr>
  <p:slideViewPr>
    <p:cSldViewPr snapToGrid="0" showGuides="1">
      <p:cViewPr varScale="1">
        <p:scale>
          <a:sx n="105" d="100"/>
          <a:sy n="105" d="100"/>
        </p:scale>
        <p:origin x="-1716" y="-90"/>
      </p:cViewPr>
      <p:guideLst>
        <p:guide orient="horz" pos="990"/>
        <p:guide orient="horz" pos="2162"/>
        <p:guide orient="horz" pos="289"/>
        <p:guide orient="horz" pos="1207"/>
        <p:guide orient="horz" pos="1539"/>
        <p:guide pos="289"/>
        <p:guide pos="2875"/>
        <p:guide pos="530"/>
      </p:guideLst>
    </p:cSldViewPr>
  </p:slideViewPr>
  <p:outlineViewPr>
    <p:cViewPr>
      <p:scale>
        <a:sx n="33" d="100"/>
        <a:sy n="33" d="100"/>
      </p:scale>
      <p:origin x="0" y="14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276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76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196FA65-495C-42B6-A74E-C118E00B22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9002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 userDrawn="1"/>
        </p:nvSpPr>
        <p:spPr bwMode="auto">
          <a:xfrm>
            <a:off x="457200" y="2429698"/>
            <a:ext cx="3536950" cy="206210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Plate Tectonics: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 Scientific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Revolution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Unfolds</a:t>
            </a:r>
            <a:endParaRPr lang="en-US" sz="3200" b="1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2 Outline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45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51" y="1184543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4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496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1003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25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1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5125" y="2055769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3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997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99" y="1529583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1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1241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99" y="1529583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534987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6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309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93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5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2F26AF1-307B-4C07-9166-65311997C26F}" type="datetime1">
              <a:rPr lang="en-US" altLang="en-US"/>
              <a:pPr>
                <a:defRPr/>
              </a:pPr>
              <a:t>6/29/2017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88931CB-3CDB-4D40-AB5D-CAAEFD63F4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89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47" r:id="rId3"/>
    <p:sldLayoutId id="2147483856" r:id="rId4"/>
    <p:sldLayoutId id="2147483848" r:id="rId5"/>
    <p:sldLayoutId id="2147483849" r:id="rId6"/>
    <p:sldLayoutId id="2147483857" r:id="rId7"/>
    <p:sldLayoutId id="2147483858" r:id="rId8"/>
    <p:sldLayoutId id="2147483860" r:id="rId9"/>
    <p:sldLayoutId id="2147483850" r:id="rId10"/>
    <p:sldLayoutId id="2147483851" r:id="rId11"/>
    <p:sldLayoutId id="2147483852" r:id="rId12"/>
    <p:sldLayoutId id="2147483853" r:id="rId13"/>
    <p:sldLayoutId id="2147483859" r:id="rId14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goo.gl/qWfzr2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goo.gl/ujkFfZ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goo.gl/D7KNK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goo.gl/TDOFNu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goo.gl/SU79OW" TargetMode="Externa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goo.gl/ZT7a9i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oo.gl/KNenyq" TargetMode="Externa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554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510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2.1 </a:t>
            </a:r>
            <a:r>
              <a:rPr lang="en-IN" altLang="en-US" sz="2200" dirty="0">
                <a:latin typeface="+mn-lt"/>
                <a:cs typeface="+mn-cs"/>
              </a:rPr>
              <a:t>Summarize the view that most geologists held prior to the 1960s regarding the geographic positions of the ocean basins and continents.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2.2 </a:t>
            </a:r>
            <a:r>
              <a:rPr lang="en-IN" altLang="en-US" sz="2200" dirty="0">
                <a:latin typeface="+mn-lt"/>
                <a:cs typeface="+mn-cs"/>
              </a:rPr>
              <a:t>List and explain the evidence Wegener presented to support his continental drift hypothesis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  <a:endParaRPr lang="en-US" altLang="en-US" sz="22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2.3 </a:t>
            </a:r>
            <a:r>
              <a:rPr lang="en-IN" altLang="en-US" sz="2200" dirty="0">
                <a:latin typeface="+mn-lt"/>
                <a:cs typeface="+mn-cs"/>
              </a:rPr>
              <a:t>List the major differences between Earth’s lithosphere and asthenosphere and explain the importance of each in the plate tectonics theory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  <a:endParaRPr lang="en-US" altLang="en-US" sz="22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2.4 </a:t>
            </a:r>
            <a:r>
              <a:rPr lang="en-IN" altLang="en-US" sz="2200" dirty="0">
                <a:latin typeface="+mn-lt"/>
                <a:cs typeface="+mn-cs"/>
              </a:rPr>
              <a:t>Sketch and describe the movement along a divergent plate boundary that results in the formation of new oceanic lithosphere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en-US" sz="2200" b="1" dirty="0">
                <a:solidFill>
                  <a:srgbClr val="ED6B06"/>
                </a:solidFill>
                <a:latin typeface="+mn-lt"/>
              </a:rPr>
              <a:t>LO 2.5 </a:t>
            </a:r>
            <a:r>
              <a:rPr lang="en-IN" altLang="en-US" sz="2200" dirty="0">
                <a:latin typeface="+mn-lt"/>
              </a:rPr>
              <a:t>Compare and contrast the three types of convergent plate boundaries and name a location where each type can be found</a:t>
            </a:r>
            <a:r>
              <a:rPr lang="en-IN" altLang="en-US" sz="2200" dirty="0" smtClean="0">
                <a:latin typeface="+mn-lt"/>
              </a:rPr>
              <a:t>.</a:t>
            </a:r>
            <a:endParaRPr lang="en-US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05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442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2.6 </a:t>
            </a:r>
            <a:r>
              <a:rPr lang="en-IN" altLang="en-US" sz="2200" dirty="0">
                <a:latin typeface="+mn-lt"/>
                <a:cs typeface="+mn-cs"/>
              </a:rPr>
              <a:t>Describe the relative motion along a transform fault boundary and locate several examples of transform faults on a plate boundary map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  <a:endParaRPr lang="en-US" altLang="en-US" sz="22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2.7 </a:t>
            </a:r>
            <a:r>
              <a:rPr lang="en-IN" altLang="en-US" sz="2200" dirty="0">
                <a:latin typeface="+mn-lt"/>
                <a:cs typeface="+mn-cs"/>
              </a:rPr>
              <a:t>Explain why plates such as the African and Antarctic plates are increasing in size, while the Pacific plate is decreasing in size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  <a:endParaRPr lang="en-US" altLang="en-US" sz="22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200" b="1" dirty="0">
                <a:solidFill>
                  <a:srgbClr val="ED6B06"/>
                </a:solidFill>
                <a:latin typeface="+mn-lt"/>
                <a:cs typeface="+mn-cs"/>
              </a:rPr>
              <a:t>2</a:t>
            </a:r>
            <a:r>
              <a:rPr lang="en-US" altLang="en-US" sz="2200" b="1" dirty="0" smtClean="0">
                <a:solidFill>
                  <a:srgbClr val="ED6B06"/>
                </a:solidFill>
                <a:latin typeface="+mn-lt"/>
                <a:cs typeface="+mn-cs"/>
              </a:rPr>
              <a:t>.8 </a:t>
            </a:r>
            <a:r>
              <a:rPr lang="en-IN" altLang="en-US" sz="2200" dirty="0">
                <a:latin typeface="+mn-lt"/>
                <a:cs typeface="+mn-cs"/>
              </a:rPr>
              <a:t>List and explain the evidence used to support the plate tectonics theory</a:t>
            </a:r>
            <a:r>
              <a:rPr lang="en-IN" altLang="en-US" sz="2200" dirty="0" smtClean="0">
                <a:latin typeface="+mn-lt"/>
                <a:cs typeface="+mn-cs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</a:rPr>
              <a:t>LO 2.9 </a:t>
            </a:r>
            <a:r>
              <a:rPr lang="en-IN" altLang="en-US" sz="2200" dirty="0">
                <a:latin typeface="+mn-lt"/>
              </a:rPr>
              <a:t>Describe two methods researchers use to measure relative plate motions</a:t>
            </a:r>
            <a:r>
              <a:rPr lang="en-IN" altLang="en-US" sz="2200" dirty="0" smtClean="0">
                <a:latin typeface="+mn-lt"/>
              </a:rPr>
              <a:t>.</a:t>
            </a:r>
            <a:endParaRPr lang="en-US" altLang="en-US" sz="2200" dirty="0" smtClean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en-US" sz="2200" b="1" dirty="0" smtClean="0">
                <a:solidFill>
                  <a:srgbClr val="ED6B06"/>
                </a:solidFill>
                <a:latin typeface="+mn-lt"/>
              </a:rPr>
              <a:t>LO 2.10 </a:t>
            </a:r>
            <a:r>
              <a:rPr lang="en-IN" altLang="en-US" sz="2200" dirty="0">
                <a:latin typeface="+mn-lt"/>
              </a:rPr>
              <a:t>Describe plate–mantle convection and explain two of the primary driving forces of plate motion</a:t>
            </a:r>
            <a:r>
              <a:rPr lang="en-IN" altLang="en-US" sz="2200" dirty="0" smtClean="0">
                <a:latin typeface="+mn-lt"/>
              </a:rPr>
              <a:t>.</a:t>
            </a:r>
            <a:endParaRPr lang="en-IN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677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-427"/>
            <a:ext cx="9126748" cy="579438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2.1</a:t>
            </a:r>
            <a:r>
              <a:rPr lang="en-IN" altLang="en-US" dirty="0" smtClean="0"/>
              <a:t> </a:t>
            </a:r>
            <a:r>
              <a:rPr altLang="en-US" dirty="0" smtClean="0"/>
              <a:t>From Continental Drift to Plate Tectonics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Geologists through the ocean basins and continents had fixed positions and were very old.</a:t>
            </a:r>
          </a:p>
          <a:p>
            <a:r>
              <a:rPr lang="en-US" altLang="en-US" dirty="0" smtClean="0"/>
              <a:t>A scientific revolution unfolded.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2.2</a:t>
            </a:r>
            <a:r>
              <a:rPr lang="en-IN" altLang="en-US" dirty="0" smtClean="0"/>
              <a:t> </a:t>
            </a:r>
            <a:r>
              <a:rPr altLang="en-US" dirty="0" smtClean="0"/>
              <a:t>Continental Drift:</a:t>
            </a:r>
            <a:r>
              <a:rPr lang="en-IN" altLang="en-US" dirty="0" smtClean="0"/>
              <a:t> </a:t>
            </a:r>
            <a:r>
              <a:rPr altLang="en-US" dirty="0" smtClean="0"/>
              <a:t>An Idea Before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Its </a:t>
            </a:r>
            <a:r>
              <a:rPr altLang="en-US" dirty="0" smtClean="0"/>
              <a:t>Time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78775" y="157597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Alfred Wegener </a:t>
            </a:r>
          </a:p>
          <a:p>
            <a:pPr lvl="1"/>
            <a:r>
              <a:rPr lang="en-US" altLang="en-US" dirty="0" smtClean="0"/>
              <a:t>First proposed hypothesis, 1915 </a:t>
            </a:r>
          </a:p>
          <a:p>
            <a:pPr lvl="1"/>
            <a:r>
              <a:rPr lang="en-US" altLang="en-US" dirty="0" smtClean="0"/>
              <a:t>Published </a:t>
            </a:r>
            <a:r>
              <a:rPr lang="en-US" altLang="en-US" i="1" dirty="0" smtClean="0"/>
              <a:t>The Origin of Continents and Oceans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Continental drift hypothesis</a:t>
            </a:r>
          </a:p>
          <a:p>
            <a:pPr lvl="1"/>
            <a:r>
              <a:rPr lang="en-US" altLang="en-US" dirty="0" smtClean="0"/>
              <a:t>Supercontinent called Pangaea began breaking apart about 200 million years </a:t>
            </a:r>
            <a:r>
              <a:rPr lang="en-US" altLang="en-US" dirty="0" smtClean="0"/>
              <a:t>ago.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Continents “drifted” to present </a:t>
            </a:r>
            <a:r>
              <a:rPr lang="en-US" altLang="en-US" dirty="0" smtClean="0"/>
              <a:t>positions.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Continents “broke” through the ocean </a:t>
            </a:r>
            <a:r>
              <a:rPr lang="en-US" altLang="en-US" dirty="0" smtClean="0"/>
              <a:t>crust.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Pangaea Approximately 200 Million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Years </a:t>
            </a:r>
            <a:r>
              <a:rPr altLang="en-US" dirty="0" smtClean="0"/>
              <a:t>Ago</a:t>
            </a:r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7842250" y="1077913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0245" name="Picture 5" descr="\\integrafs5\DeLS_Pondy\71_Pearson_US_IRDVD\08. Working_Folder\Copyright Removed Jpegs\Lutgens_EOG_13e\Chapter02\Jpegs_Labeled\EOG_13e_Figure_02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78" y="1473076"/>
            <a:ext cx="6285057" cy="47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374606" y="1573895"/>
            <a:ext cx="8229600" cy="3276779"/>
          </a:xfrm>
        </p:spPr>
        <p:txBody>
          <a:bodyPr/>
          <a:lstStyle/>
          <a:p>
            <a:r>
              <a:rPr lang="en-US" altLang="en-US" dirty="0" smtClean="0"/>
              <a:t>Wegener’s continental drift hypothesis</a:t>
            </a:r>
          </a:p>
          <a:p>
            <a:pPr lvl="1"/>
            <a:r>
              <a:rPr lang="en-US" altLang="en-US" dirty="0" smtClean="0"/>
              <a:t>Evidence used by Wegener </a:t>
            </a:r>
          </a:p>
          <a:p>
            <a:pPr lvl="2"/>
            <a:r>
              <a:rPr lang="en-US" altLang="en-US" dirty="0" smtClean="0"/>
              <a:t>Fit of South America and Africa </a:t>
            </a:r>
          </a:p>
          <a:p>
            <a:pPr lvl="2"/>
            <a:r>
              <a:rPr lang="en-US" altLang="en-US" dirty="0" smtClean="0"/>
              <a:t>Fossils match across the seas</a:t>
            </a:r>
          </a:p>
          <a:p>
            <a:pPr lvl="2"/>
            <a:r>
              <a:rPr lang="en-US" altLang="en-US" dirty="0" smtClean="0"/>
              <a:t>Rock types and structures match </a:t>
            </a:r>
          </a:p>
          <a:p>
            <a:pPr lvl="2"/>
            <a:r>
              <a:rPr lang="en-US" altLang="en-US" dirty="0" smtClean="0"/>
              <a:t>Ancient climates </a:t>
            </a:r>
          </a:p>
          <a:p>
            <a:pPr lvl="1"/>
            <a:r>
              <a:rPr lang="en-US" altLang="en-US" dirty="0" smtClean="0"/>
              <a:t>Main objection to Wegener’s proposal was its inability to provide a </a:t>
            </a:r>
            <a:r>
              <a:rPr lang="en-US" altLang="en-US" dirty="0" smtClean="0"/>
              <a:t>mechanism.</a:t>
            </a:r>
            <a:endParaRPr lang="en-US" alt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2.2</a:t>
            </a:r>
            <a:r>
              <a:rPr lang="en-IN" altLang="en-US" dirty="0" smtClean="0"/>
              <a:t> </a:t>
            </a:r>
            <a:r>
              <a:rPr altLang="en-US" dirty="0" smtClean="0"/>
              <a:t>Continental Drift:</a:t>
            </a:r>
            <a:r>
              <a:rPr lang="en-IN" altLang="en-US" dirty="0" smtClean="0"/>
              <a:t> </a:t>
            </a:r>
            <a:r>
              <a:rPr altLang="en-US" dirty="0" smtClean="0"/>
              <a:t>An Idea Before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Its </a:t>
            </a:r>
            <a:r>
              <a:rPr altLang="en-US" dirty="0" smtClean="0"/>
              <a:t>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Wegener’s Matching of Mountain Ranges </a:t>
            </a:r>
            <a:br>
              <a:rPr altLang="en-US" dirty="0" smtClean="0"/>
            </a:br>
            <a:r>
              <a:rPr altLang="en-US" dirty="0" smtClean="0"/>
              <a:t>on Different Continents</a:t>
            </a:r>
          </a:p>
        </p:txBody>
      </p:sp>
      <p:pic>
        <p:nvPicPr>
          <p:cNvPr id="1026" name="Picture 2" descr="\\integrafs5\DeLS_Pondy\71_Pearson_US_IRDVD\08. Working_Folder\Copyright Removed Jpegs\Lutgens_EOG_13e\Chapter02\Jpegs_Labeled\EOG_13e_Figure_02_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1700571"/>
            <a:ext cx="7845425" cy="41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-30163" y="3175"/>
            <a:ext cx="9091613" cy="468313"/>
          </a:xfrm>
        </p:spPr>
        <p:txBody>
          <a:bodyPr/>
          <a:lstStyle/>
          <a:p>
            <a:pPr>
              <a:defRPr/>
            </a:pPr>
            <a:r>
              <a:rPr altLang="en-US" smtClean="0"/>
              <a:t>Paleoclimatic Evidence for Continental Drift</a:t>
            </a:r>
          </a:p>
        </p:txBody>
      </p:sp>
      <p:pic>
        <p:nvPicPr>
          <p:cNvPr id="2050" name="Picture 2" descr="\\integrafs5\DeLS_Pondy\71_Pearson_US_IRDVD\08. Working_Folder\Copyright Removed Jpegs\Lutgens_EOG_13e\Chapter02\Jpegs_Labeled\EOG_13e_Figure_02_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030" y="789076"/>
            <a:ext cx="4550352" cy="566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/>
          <p:cNvSpPr>
            <a:spLocks noGrp="1"/>
          </p:cNvSpPr>
          <p:nvPr>
            <p:ph idx="1"/>
          </p:nvPr>
        </p:nvSpPr>
        <p:spPr>
          <a:xfrm>
            <a:off x="374606" y="1573896"/>
            <a:ext cx="8229600" cy="3102608"/>
          </a:xfrm>
        </p:spPr>
        <p:txBody>
          <a:bodyPr/>
          <a:lstStyle/>
          <a:p>
            <a:r>
              <a:rPr lang="en-US" altLang="en-US" dirty="0" smtClean="0"/>
              <a:t>Objections to the continental drift </a:t>
            </a:r>
            <a:r>
              <a:rPr lang="en-US" altLang="en-US" dirty="0" smtClean="0"/>
              <a:t>hypothesis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Wegener incorrectly suggested that the gravitational forces of the Moon and Sun were capable of moving the </a:t>
            </a:r>
            <a:r>
              <a:rPr lang="en-US" altLang="en-US" dirty="0" smtClean="0"/>
              <a:t>continents.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Wegener also incorrectly suggested that continents broke through the ocean </a:t>
            </a:r>
            <a:r>
              <a:rPr lang="en-US" altLang="en-US" dirty="0" smtClean="0"/>
              <a:t>crust.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There was strong opposition to this hypothesis from all areas of the scientific </a:t>
            </a:r>
            <a:r>
              <a:rPr lang="en-US" altLang="en-US" dirty="0" smtClean="0"/>
              <a:t>community.</a:t>
            </a:r>
            <a:endParaRPr lang="en-US" alt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2.2</a:t>
            </a:r>
            <a:r>
              <a:rPr lang="en-IN" altLang="en-US" dirty="0" smtClean="0"/>
              <a:t> </a:t>
            </a:r>
            <a:r>
              <a:rPr altLang="en-US" dirty="0" smtClean="0"/>
              <a:t>Continental Drift:</a:t>
            </a:r>
            <a:r>
              <a:rPr lang="en-IN" altLang="en-US" dirty="0" smtClean="0"/>
              <a:t> </a:t>
            </a:r>
            <a:r>
              <a:rPr altLang="en-US" dirty="0" smtClean="0"/>
              <a:t>An Idea Before Its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-1115"/>
            <a:ext cx="9126538" cy="584775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2.3</a:t>
            </a:r>
            <a:r>
              <a:rPr lang="en-IN" altLang="en-US" dirty="0" smtClean="0"/>
              <a:t> </a:t>
            </a:r>
            <a:r>
              <a:rPr altLang="en-US" dirty="0" smtClean="0"/>
              <a:t>The Theory of Plate Tectonics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276"/>
            <a:ext cx="8229600" cy="2958422"/>
          </a:xfrm>
        </p:spPr>
        <p:txBody>
          <a:bodyPr/>
          <a:lstStyle/>
          <a:p>
            <a:r>
              <a:rPr lang="en-US" altLang="en-US" dirty="0" smtClean="0"/>
              <a:t>More encompassing than continental drift </a:t>
            </a:r>
          </a:p>
          <a:p>
            <a:r>
              <a:rPr lang="en-US" altLang="en-US" dirty="0" smtClean="0"/>
              <a:t>Associated with Earth’s rigid outer shell </a:t>
            </a:r>
          </a:p>
          <a:p>
            <a:pPr lvl="1"/>
            <a:r>
              <a:rPr lang="en-US" altLang="en-US" dirty="0" smtClean="0"/>
              <a:t>Called the lithosphere </a:t>
            </a:r>
          </a:p>
          <a:p>
            <a:pPr lvl="1"/>
            <a:r>
              <a:rPr lang="en-US" altLang="en-US" dirty="0" smtClean="0"/>
              <a:t>Consists of several plates </a:t>
            </a:r>
          </a:p>
          <a:p>
            <a:pPr lvl="2"/>
            <a:r>
              <a:rPr lang="en-US" altLang="en-US" dirty="0" smtClean="0"/>
              <a:t>Plates are moving slowly </a:t>
            </a:r>
          </a:p>
          <a:p>
            <a:pPr lvl="2"/>
            <a:r>
              <a:rPr lang="en-US" altLang="en-US" dirty="0" smtClean="0"/>
              <a:t>Largest plate is the Pacific plate </a:t>
            </a:r>
          </a:p>
          <a:p>
            <a:pPr lvl="2"/>
            <a:r>
              <a:rPr lang="en-US" altLang="en-US" dirty="0" smtClean="0"/>
              <a:t>Plates are mostly beneath the ocean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-1115"/>
            <a:ext cx="9126538" cy="584775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2.3</a:t>
            </a:r>
            <a:r>
              <a:rPr lang="en-IN" altLang="en-US" dirty="0" smtClean="0"/>
              <a:t> </a:t>
            </a:r>
            <a:r>
              <a:rPr altLang="en-US" dirty="0" smtClean="0"/>
              <a:t>The Theory of Plate Tectonics </a:t>
            </a:r>
            <a:r>
              <a:rPr lang="en-US" altLang="en-US" dirty="0"/>
              <a:t>(cont.)</a:t>
            </a:r>
            <a:r>
              <a:rPr altLang="en-US" dirty="0" smtClean="0"/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77959" y="1210402"/>
            <a:ext cx="8229600" cy="1786295"/>
          </a:xfrm>
        </p:spPr>
        <p:txBody>
          <a:bodyPr/>
          <a:lstStyle/>
          <a:p>
            <a:r>
              <a:rPr lang="en-US" altLang="en-US" dirty="0" smtClean="0"/>
              <a:t>Asthenosphere </a:t>
            </a:r>
          </a:p>
          <a:p>
            <a:pPr lvl="1"/>
            <a:r>
              <a:rPr lang="en-US" altLang="en-US" dirty="0" smtClean="0"/>
              <a:t>Exists beneath the lithosphere </a:t>
            </a:r>
          </a:p>
          <a:p>
            <a:pPr lvl="1"/>
            <a:r>
              <a:rPr lang="en-US" altLang="en-US" dirty="0" smtClean="0"/>
              <a:t>Hotter and weaker than lithosphere</a:t>
            </a:r>
          </a:p>
          <a:p>
            <a:pPr lvl="1"/>
            <a:r>
              <a:rPr lang="en-US" altLang="en-US" dirty="0" smtClean="0"/>
              <a:t>Allows for motion of lithosphere</a:t>
            </a: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7713663" y="603250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952" y="3045655"/>
            <a:ext cx="2952406" cy="3156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-1115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2.3</a:t>
            </a:r>
            <a:r>
              <a:rPr lang="en-IN" altLang="en-US" dirty="0" smtClean="0"/>
              <a:t> </a:t>
            </a:r>
            <a:r>
              <a:rPr altLang="en-US" dirty="0" smtClean="0"/>
              <a:t>The Theory of Plate Tectonics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Plate boundaries </a:t>
            </a:r>
          </a:p>
          <a:p>
            <a:pPr lvl="1"/>
            <a:r>
              <a:rPr lang="en-US" altLang="en-US" dirty="0" smtClean="0"/>
              <a:t>All major interactions among plates occur along their </a:t>
            </a:r>
            <a:r>
              <a:rPr lang="en-US" altLang="en-US" dirty="0" smtClean="0"/>
              <a:t>boundaries.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Types of plate boundaries </a:t>
            </a:r>
          </a:p>
          <a:p>
            <a:pPr lvl="2"/>
            <a:r>
              <a:rPr lang="en-US" altLang="en-US" dirty="0" smtClean="0"/>
              <a:t>Divergent plate boundaries (constructive margins) </a:t>
            </a:r>
          </a:p>
          <a:p>
            <a:pPr lvl="3"/>
            <a:r>
              <a:rPr lang="en-US" altLang="en-US" dirty="0" smtClean="0"/>
              <a:t>Continental rifts form at spreading centers within a </a:t>
            </a:r>
            <a:r>
              <a:rPr lang="en-US" altLang="en-US" dirty="0" smtClean="0"/>
              <a:t>continent.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Convergent plate boundaries (destructive margins)</a:t>
            </a:r>
          </a:p>
          <a:p>
            <a:pPr lvl="3"/>
            <a:r>
              <a:rPr lang="en-US" altLang="en-US" dirty="0" smtClean="0"/>
              <a:t>Plates collide, an ocean trench forms, and lithosphere is </a:t>
            </a:r>
            <a:r>
              <a:rPr lang="en-US" altLang="en-US" dirty="0" err="1" smtClean="0"/>
              <a:t>subducted</a:t>
            </a:r>
            <a:r>
              <a:rPr lang="en-US" altLang="en-US" dirty="0" smtClean="0"/>
              <a:t> into the </a:t>
            </a:r>
            <a:r>
              <a:rPr lang="en-US" altLang="en-US" dirty="0" smtClean="0"/>
              <a:t>mantle.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Transform plate boundaries</a:t>
            </a:r>
          </a:p>
          <a:p>
            <a:pPr lvl="3"/>
            <a:r>
              <a:rPr lang="en-US" altLang="en-US" dirty="0" smtClean="0"/>
              <a:t>Plates slide past one another and no lithosphere is created or </a:t>
            </a:r>
            <a:r>
              <a:rPr lang="en-US" altLang="en-US" dirty="0" smtClean="0"/>
              <a:t>destroyed.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569667"/>
            <a:ext cx="8229600" cy="4691062"/>
          </a:xfrm>
        </p:spPr>
        <p:txBody>
          <a:bodyPr/>
          <a:lstStyle/>
          <a:p>
            <a:r>
              <a:rPr lang="en-US" altLang="en-US" dirty="0" smtClean="0"/>
              <a:t>Divergent plate boundaries (constructive margins) </a:t>
            </a:r>
          </a:p>
          <a:p>
            <a:pPr lvl="1"/>
            <a:r>
              <a:rPr lang="en-US" altLang="en-US" dirty="0" smtClean="0"/>
              <a:t>Two plates move </a:t>
            </a:r>
            <a:r>
              <a:rPr lang="en-US" altLang="en-US" dirty="0" smtClean="0"/>
              <a:t>apart.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Mantle material upwells to create new </a:t>
            </a:r>
            <a:r>
              <a:rPr lang="en-US" altLang="en-US" dirty="0" smtClean="0"/>
              <a:t>seafloor.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Ocean ridges and seafloor spreading </a:t>
            </a:r>
          </a:p>
          <a:p>
            <a:pPr lvl="2"/>
            <a:r>
              <a:rPr lang="en-US" altLang="en-US" dirty="0" smtClean="0"/>
              <a:t>Oceanic ridges develop along well-developed </a:t>
            </a:r>
            <a:r>
              <a:rPr lang="en-US" altLang="en-US" dirty="0" smtClean="0"/>
              <a:t>boundaries.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Along ridges, seafloor spreading creates new </a:t>
            </a:r>
            <a:r>
              <a:rPr lang="en-US" altLang="en-US" dirty="0" smtClean="0"/>
              <a:t>seafloor.</a:t>
            </a:r>
            <a:endParaRPr lang="en-US" alt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altLang="en-US" dirty="0" smtClean="0"/>
              <a:t>Can also occur in continental crust 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2.4</a:t>
            </a:r>
            <a:r>
              <a:rPr lang="en-IN" altLang="en-US" dirty="0" smtClean="0"/>
              <a:t> </a:t>
            </a:r>
            <a:r>
              <a:rPr altLang="en-US" dirty="0" smtClean="0"/>
              <a:t>Divergent </a:t>
            </a:r>
            <a:r>
              <a:rPr altLang="en-US" dirty="0" smtClean="0"/>
              <a:t>Plate Boundaries </a:t>
            </a:r>
            <a:r>
              <a:rPr altLang="en-US" dirty="0" smtClean="0"/>
              <a:t>and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Seafloor </a:t>
            </a:r>
            <a:r>
              <a:rPr altLang="en-US" dirty="0" smtClean="0"/>
              <a:t>Spreading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2.4</a:t>
            </a:r>
            <a:r>
              <a:rPr lang="en-IN" altLang="en-US" dirty="0" smtClean="0"/>
              <a:t> </a:t>
            </a:r>
            <a:r>
              <a:rPr altLang="en-US" dirty="0" smtClean="0"/>
              <a:t>Divergent </a:t>
            </a:r>
            <a:r>
              <a:rPr altLang="en-US" dirty="0" smtClean="0"/>
              <a:t>Plate Boundaries </a:t>
            </a:r>
            <a:r>
              <a:rPr altLang="en-US" dirty="0" smtClean="0"/>
              <a:t>and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Seafloor </a:t>
            </a:r>
            <a:r>
              <a:rPr altLang="en-US" dirty="0" smtClean="0"/>
              <a:t>Spreading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pic>
        <p:nvPicPr>
          <p:cNvPr id="1026" name="Picture 2" descr="\\integrafs5\DeLS_Pondy\71_Pearson_US_IRDVD\08. Working_Folder\Copyright Removed Jpegs\Lutgens_EOG_13e\Chapter02\Jpegs_Labeled\EOG_13e_Figure_02_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213" y="1342618"/>
            <a:ext cx="6322579" cy="50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84200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Rift Valley in Iceland</a:t>
            </a:r>
          </a:p>
        </p:txBody>
      </p:sp>
      <p:sp>
        <p:nvSpPr>
          <p:cNvPr id="20484" name="TextBox 3"/>
          <p:cNvSpPr txBox="1">
            <a:spLocks noChangeArrowheads="1"/>
          </p:cNvSpPr>
          <p:nvPr/>
        </p:nvSpPr>
        <p:spPr bwMode="auto">
          <a:xfrm>
            <a:off x="6902450" y="668338"/>
            <a:ext cx="18780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Mobile Field Trip</a:t>
            </a:r>
            <a:endParaRPr lang="en-US" altLang="en-US" sz="1800" dirty="0"/>
          </a:p>
        </p:txBody>
      </p:sp>
      <p:pic>
        <p:nvPicPr>
          <p:cNvPr id="2050" name="Picture 2" descr="\\integrafs5\DeLS_Pondy\71_Pearson_US_IRDVD\08. Working_Folder\Copyright Removed Jpegs\Lutgens_EOG_13e\Chapter02\Jpegs_Labeled\EOG_13e_Figure_02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215" y="1163994"/>
            <a:ext cx="4901570" cy="51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569667"/>
            <a:ext cx="8229600" cy="2836870"/>
          </a:xfrm>
        </p:spPr>
        <p:txBody>
          <a:bodyPr/>
          <a:lstStyle/>
          <a:p>
            <a:r>
              <a:rPr lang="en-US" altLang="en-US" dirty="0" smtClean="0"/>
              <a:t>Convergent plate boundaries (destructive margins)</a:t>
            </a:r>
          </a:p>
          <a:p>
            <a:pPr lvl="1"/>
            <a:r>
              <a:rPr lang="en-US" altLang="en-US" dirty="0" smtClean="0"/>
              <a:t>Oceanic</a:t>
            </a:r>
            <a:r>
              <a:rPr lang="en-IN" altLang="en-US" dirty="0" smtClean="0"/>
              <a:t>–</a:t>
            </a:r>
            <a:r>
              <a:rPr lang="en-US" altLang="en-US" dirty="0" smtClean="0"/>
              <a:t>continental convergence </a:t>
            </a:r>
          </a:p>
          <a:p>
            <a:pPr lvl="2"/>
            <a:r>
              <a:rPr lang="en-US" altLang="en-US" dirty="0" smtClean="0"/>
              <a:t>Denser oceanic slab sinks into the </a:t>
            </a:r>
            <a:r>
              <a:rPr lang="en-US" altLang="en-US" dirty="0" smtClean="0"/>
              <a:t>asthenosphere.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Pockets of magma develop and </a:t>
            </a:r>
            <a:r>
              <a:rPr lang="en-US" altLang="en-US" dirty="0" smtClean="0"/>
              <a:t>rise.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Continental volcanic arcs </a:t>
            </a:r>
            <a:r>
              <a:rPr lang="en-US" altLang="en-US" dirty="0" smtClean="0"/>
              <a:t>form.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Examples include the Andes, Cascades, and the Sierra Nevadan </a:t>
            </a:r>
            <a:r>
              <a:rPr lang="en-US" altLang="en-US" dirty="0" smtClean="0"/>
              <a:t>system.</a:t>
            </a:r>
            <a:endParaRPr lang="en-US" altLang="en-US" dirty="0" smtClean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2.5</a:t>
            </a:r>
            <a:r>
              <a:rPr lang="en-IN" altLang="en-US" dirty="0" smtClean="0"/>
              <a:t> </a:t>
            </a:r>
            <a:r>
              <a:rPr altLang="en-US" dirty="0" smtClean="0"/>
              <a:t>Convergent Plate Boundaries and </a:t>
            </a:r>
            <a:r>
              <a:rPr altLang="en-US" dirty="0" err="1" smtClean="0"/>
              <a:t>Subduction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0"/>
            <a:ext cx="9144000" cy="1068309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An Oceanic</a:t>
            </a:r>
            <a:r>
              <a:rPr lang="en-IN" dirty="0"/>
              <a:t>–</a:t>
            </a:r>
            <a:r>
              <a:rPr altLang="en-US" dirty="0" smtClean="0"/>
              <a:t>Continental Convergent Plate Boundary</a:t>
            </a: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7810414" y="1222761"/>
            <a:ext cx="944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8045" y="1718608"/>
            <a:ext cx="7408216" cy="420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374606" y="1573895"/>
            <a:ext cx="8229600" cy="2998105"/>
          </a:xfrm>
        </p:spPr>
        <p:txBody>
          <a:bodyPr/>
          <a:lstStyle/>
          <a:p>
            <a:r>
              <a:rPr lang="en-US" altLang="en-US" dirty="0" smtClean="0"/>
              <a:t>Convergent plate boundaries (destructive margins)</a:t>
            </a:r>
          </a:p>
          <a:p>
            <a:pPr lvl="1"/>
            <a:r>
              <a:rPr lang="en-US" altLang="en-US" dirty="0" smtClean="0"/>
              <a:t>Oceanic</a:t>
            </a:r>
            <a:r>
              <a:rPr lang="en-IN" altLang="en-US" dirty="0" smtClean="0"/>
              <a:t>–</a:t>
            </a:r>
            <a:r>
              <a:rPr lang="en-US" altLang="en-US" dirty="0" smtClean="0"/>
              <a:t>oceanic convergence </a:t>
            </a:r>
          </a:p>
          <a:p>
            <a:pPr lvl="2"/>
            <a:r>
              <a:rPr lang="en-US" altLang="en-US" dirty="0" smtClean="0"/>
              <a:t>Two oceanic slabs converge and one descends beneath the </a:t>
            </a:r>
            <a:r>
              <a:rPr lang="en-US" altLang="en-US" dirty="0" smtClean="0"/>
              <a:t>other.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Often forms volcanoes on the ocean </a:t>
            </a:r>
            <a:r>
              <a:rPr lang="en-US" altLang="en-US" dirty="0" smtClean="0"/>
              <a:t>floor.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Volcanic island arcs form as volcanoes emerge from the </a:t>
            </a:r>
            <a:r>
              <a:rPr lang="en-US" altLang="en-US" dirty="0" smtClean="0"/>
              <a:t>sea.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Examples include the Aleutian, Mariana, and Tonga </a:t>
            </a:r>
            <a:r>
              <a:rPr lang="en-US" altLang="en-US" dirty="0" smtClean="0"/>
              <a:t>islands.</a:t>
            </a:r>
            <a:endParaRPr lang="en-US" altLang="en-US" dirty="0" smtClean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2.5</a:t>
            </a:r>
            <a:r>
              <a:rPr lang="en-IN" altLang="en-US" dirty="0" smtClean="0"/>
              <a:t> </a:t>
            </a:r>
            <a:r>
              <a:rPr altLang="en-US" dirty="0" smtClean="0"/>
              <a:t>Convergent Plate Boundaries and </a:t>
            </a:r>
            <a:r>
              <a:rPr altLang="en-US" dirty="0" err="1" smtClean="0"/>
              <a:t>Subduction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smtClean="0"/>
              <a:t>An Oceanic</a:t>
            </a:r>
            <a:r>
              <a:rPr lang="en-IN" dirty="0"/>
              <a:t>–</a:t>
            </a:r>
            <a:r>
              <a:rPr altLang="en-US" dirty="0" smtClean="0"/>
              <a:t>Oceanic Convergent Plate Boundary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7098" y="1750579"/>
            <a:ext cx="7408216" cy="419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74606" y="1573895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Convergent plate boundaries (destructive margins)</a:t>
            </a:r>
          </a:p>
          <a:p>
            <a:pPr lvl="1"/>
            <a:r>
              <a:rPr lang="en-US" altLang="en-US" dirty="0" smtClean="0"/>
              <a:t>Continental</a:t>
            </a:r>
            <a:r>
              <a:rPr lang="en-IN" altLang="en-US" dirty="0" smtClean="0"/>
              <a:t>–</a:t>
            </a:r>
            <a:r>
              <a:rPr lang="en-US" altLang="en-US" dirty="0" smtClean="0"/>
              <a:t>continental convergence </a:t>
            </a:r>
          </a:p>
          <a:p>
            <a:pPr lvl="2"/>
            <a:r>
              <a:rPr lang="en-US" altLang="en-US" dirty="0" smtClean="0"/>
              <a:t>When </a:t>
            </a:r>
            <a:r>
              <a:rPr lang="en-US" altLang="en-US" dirty="0" err="1" smtClean="0"/>
              <a:t>subducting</a:t>
            </a:r>
            <a:r>
              <a:rPr lang="en-US" altLang="en-US" dirty="0" smtClean="0"/>
              <a:t> plates contain continental material, two continents </a:t>
            </a:r>
            <a:r>
              <a:rPr lang="en-US" altLang="en-US" dirty="0" smtClean="0"/>
              <a:t>collide.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Can produce new mountain ranges such as the </a:t>
            </a:r>
            <a:r>
              <a:rPr lang="en-US" altLang="en-US" dirty="0" smtClean="0"/>
              <a:t>Himalayas.</a:t>
            </a:r>
            <a:endParaRPr lang="en-US" altLang="en-US" dirty="0" smtClean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2.5</a:t>
            </a:r>
            <a:r>
              <a:rPr lang="en-IN" altLang="en-US" dirty="0" smtClean="0"/>
              <a:t> </a:t>
            </a:r>
            <a:r>
              <a:rPr altLang="en-US" dirty="0" smtClean="0"/>
              <a:t>Convergent Plate Boundaries and </a:t>
            </a:r>
            <a:r>
              <a:rPr altLang="en-US" dirty="0" err="1" smtClean="0"/>
              <a:t>Subduction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The Collision of India and Asia Produced the Himalayas (Before)</a:t>
            </a:r>
          </a:p>
        </p:txBody>
      </p:sp>
      <p:sp>
        <p:nvSpPr>
          <p:cNvPr id="26628" name="TextBox 3"/>
          <p:cNvSpPr txBox="1">
            <a:spLocks noChangeArrowheads="1"/>
          </p:cNvSpPr>
          <p:nvPr/>
        </p:nvSpPr>
        <p:spPr bwMode="auto">
          <a:xfrm>
            <a:off x="7583488" y="1077913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Animation</a:t>
            </a:r>
            <a:endParaRPr lang="en-US" altLang="en-US" sz="1800" dirty="0"/>
          </a:p>
        </p:txBody>
      </p:sp>
      <p:pic>
        <p:nvPicPr>
          <p:cNvPr id="3074" name="Picture 2" descr="\\integrafs5\DeLS_Pondy\71_Pearson_US_IRDVD\08. Working_Folder\Copyright Removed Jpegs\Lutgens_EOG_13e\Chapter02\Jpegs_Labeled\EOG_13e_Figure_02_1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391" y="1223877"/>
            <a:ext cx="4841219" cy="52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-1115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2.6</a:t>
            </a:r>
            <a:r>
              <a:rPr lang="en-IN" altLang="en-US" dirty="0" smtClean="0"/>
              <a:t> </a:t>
            </a:r>
            <a:r>
              <a:rPr altLang="en-US" dirty="0" smtClean="0"/>
              <a:t>Transform Plate Boundaries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6485"/>
            <a:ext cx="8304212" cy="5029200"/>
          </a:xfrm>
        </p:spPr>
        <p:txBody>
          <a:bodyPr/>
          <a:lstStyle/>
          <a:p>
            <a:r>
              <a:rPr lang="en-US" altLang="en-US" dirty="0" smtClean="0"/>
              <a:t>Transform Plate Boundaries</a:t>
            </a:r>
          </a:p>
          <a:p>
            <a:pPr lvl="1"/>
            <a:r>
              <a:rPr lang="en-US" altLang="en-US" dirty="0" smtClean="0"/>
              <a:t>Plates slide past one another and no lithosphere is created or </a:t>
            </a:r>
            <a:r>
              <a:rPr lang="en-US" altLang="en-US" dirty="0" smtClean="0"/>
              <a:t>destroyed.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Most join two segments of an oceanic ridge system along </a:t>
            </a:r>
            <a:br>
              <a:rPr lang="en-US" altLang="en-US" dirty="0" smtClean="0"/>
            </a:br>
            <a:r>
              <a:rPr lang="en-US" altLang="en-US" dirty="0" smtClean="0"/>
              <a:t>breaks in the oceanic crust known as fracture </a:t>
            </a:r>
            <a:r>
              <a:rPr lang="en-US" altLang="en-US" dirty="0" smtClean="0"/>
              <a:t>zones.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Transform faults can also move ridge crests toward subduction </a:t>
            </a:r>
            <a:r>
              <a:rPr lang="en-US" altLang="en-US" dirty="0" smtClean="0"/>
              <a:t>zones.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 few transform faults cut through continental </a:t>
            </a:r>
            <a:r>
              <a:rPr lang="en-US" altLang="en-US" dirty="0" smtClean="0"/>
              <a:t>crust.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Examples include: </a:t>
            </a:r>
          </a:p>
          <a:p>
            <a:pPr lvl="3"/>
            <a:r>
              <a:rPr lang="en-US" altLang="en-US" dirty="0" smtClean="0"/>
              <a:t>The San Andreas Fault</a:t>
            </a:r>
          </a:p>
          <a:p>
            <a:pPr lvl="3"/>
            <a:r>
              <a:rPr lang="en-US" altLang="en-US" dirty="0" smtClean="0"/>
              <a:t>The Alpine Fault of New Zealand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-17463" y="-1115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2.6</a:t>
            </a:r>
            <a:r>
              <a:rPr lang="en-IN" altLang="en-US" dirty="0" smtClean="0"/>
              <a:t> </a:t>
            </a:r>
            <a:r>
              <a:rPr altLang="en-US" dirty="0" smtClean="0"/>
              <a:t>Transform Plate Boundaries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7835900" y="587375"/>
            <a:ext cx="944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4098" name="Picture 2" descr="\\integrafs5\DeLS_Pondy\71_Pearson_US_IRDVD\08. Working_Folder\Copyright Removed Jpegs\Lutgens_EOG_13e\Chapter02\Jpegs_Labeled\EOG_13e_Figure_02_1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460233"/>
            <a:ext cx="8412163" cy="414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569667"/>
            <a:ext cx="8229600" cy="882205"/>
          </a:xfrm>
        </p:spPr>
        <p:txBody>
          <a:bodyPr/>
          <a:lstStyle/>
          <a:p>
            <a:r>
              <a:rPr lang="en-US" altLang="en-US" dirty="0" smtClean="0"/>
              <a:t>Earth’s total surface area </a:t>
            </a:r>
            <a:r>
              <a:rPr lang="en-US" altLang="en-US" dirty="0" smtClean="0"/>
              <a:t>does not </a:t>
            </a:r>
            <a:r>
              <a:rPr lang="en-US" altLang="en-US" dirty="0" smtClean="0"/>
              <a:t>change</a:t>
            </a:r>
          </a:p>
          <a:p>
            <a:pPr lvl="1"/>
            <a:r>
              <a:rPr lang="en-US" altLang="en-US" dirty="0" smtClean="0"/>
              <a:t>Pangaea existed 200 million years ago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2.7</a:t>
            </a:r>
            <a:r>
              <a:rPr lang="en-IN" altLang="en-US" dirty="0" smtClean="0"/>
              <a:t> </a:t>
            </a:r>
            <a:r>
              <a:rPr altLang="en-US" dirty="0" smtClean="0"/>
              <a:t>How Do Plates and Plate Boundaries Change?</a:t>
            </a:r>
          </a:p>
        </p:txBody>
      </p:sp>
      <p:pic>
        <p:nvPicPr>
          <p:cNvPr id="5122" name="Picture 2" descr="\\integrafs5\DeLS_Pondy\71_Pearson_US_IRDVD\08. Working_Folder\Copyright Removed Jpegs\Lutgens_EOG_13e\Chapter02\Jpegs_Labeled\EOG_13e_Figure_02_2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232" y="2495417"/>
            <a:ext cx="4901949" cy="397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374606" y="1573895"/>
            <a:ext cx="8229600" cy="3207111"/>
          </a:xfrm>
        </p:spPr>
        <p:txBody>
          <a:bodyPr/>
          <a:lstStyle/>
          <a:p>
            <a:r>
              <a:rPr lang="en-US" altLang="en-US" dirty="0" smtClean="0"/>
              <a:t>Present-day motions have been extrapolated into the future some 50 million years</a:t>
            </a:r>
          </a:p>
          <a:p>
            <a:pPr lvl="1"/>
            <a:r>
              <a:rPr lang="en-US" altLang="en-US" dirty="0" smtClean="0"/>
              <a:t>Areas west of the San Andreas Fault slide northward past the North American </a:t>
            </a:r>
            <a:r>
              <a:rPr lang="en-US" altLang="en-US" dirty="0" smtClean="0"/>
              <a:t>plate.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Africa collides with Eurasia, closing the Mediterranean and initiating </a:t>
            </a:r>
            <a:r>
              <a:rPr lang="en-US" altLang="en-US" dirty="0" smtClean="0"/>
              <a:t>mountain-building.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Australia and new Guinea are on a collision course with </a:t>
            </a:r>
            <a:r>
              <a:rPr lang="en-US" altLang="en-US" dirty="0" smtClean="0"/>
              <a:t>Asia.</a:t>
            </a:r>
            <a:endParaRPr lang="en-US" altLang="en-US" dirty="0" smtClean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2.7</a:t>
            </a:r>
            <a:r>
              <a:rPr lang="en-IN" altLang="en-US" dirty="0" smtClean="0"/>
              <a:t> </a:t>
            </a:r>
            <a:r>
              <a:rPr altLang="en-US" dirty="0" smtClean="0"/>
              <a:t>How Do Plates and Plate Boundaries Change? </a:t>
            </a:r>
            <a:r>
              <a:rPr lang="en-US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A Possible View of the World 50 Million Years from Now</a:t>
            </a:r>
          </a:p>
        </p:txBody>
      </p:sp>
      <p:pic>
        <p:nvPicPr>
          <p:cNvPr id="5122" name="Picture 2" descr="\\integrafs5\DeLS_Pondy\71_Pearson_US_IRDVD\08. Working_Folder\Copyright Removed Jpegs\Lutgens_EOG_13e\Chapter02\Jpegs_Labeled\EOG_13e_Figure_02_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84" y="1691894"/>
            <a:ext cx="8350044" cy="424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2.8</a:t>
            </a:r>
            <a:r>
              <a:rPr lang="en-IN" altLang="en-US" dirty="0" smtClean="0"/>
              <a:t> </a:t>
            </a:r>
            <a:r>
              <a:rPr altLang="en-US" dirty="0" smtClean="0"/>
              <a:t>Testing the Plate Tectonics Model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537"/>
            <a:ext cx="8229600" cy="2603818"/>
          </a:xfrm>
        </p:spPr>
        <p:txBody>
          <a:bodyPr/>
          <a:lstStyle/>
          <a:p>
            <a:r>
              <a:rPr lang="en-US" altLang="en-US" dirty="0" smtClean="0"/>
              <a:t>Evidence from ocean drilling</a:t>
            </a:r>
          </a:p>
          <a:p>
            <a:pPr lvl="1"/>
            <a:r>
              <a:rPr lang="en-US" altLang="en-US" dirty="0" smtClean="0"/>
              <a:t>Some of the most convincing evidence confirming seafloor spreading has come from drilling directly into ocean-floor </a:t>
            </a:r>
            <a:r>
              <a:rPr lang="en-US" altLang="en-US" dirty="0" smtClean="0"/>
              <a:t>sediment.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Age of deepest sediments</a:t>
            </a:r>
          </a:p>
          <a:p>
            <a:pPr lvl="2"/>
            <a:r>
              <a:rPr lang="en-US" altLang="en-US" dirty="0" smtClean="0"/>
              <a:t>Thickness of ocean-floor sediments verifies seafloor </a:t>
            </a:r>
            <a:r>
              <a:rPr lang="en-US" altLang="en-US" dirty="0" smtClean="0"/>
              <a:t>spreading.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Evidence from Ocean Drilling</a:t>
            </a:r>
          </a:p>
        </p:txBody>
      </p:sp>
      <p:pic>
        <p:nvPicPr>
          <p:cNvPr id="6146" name="Picture 2" descr="\\integrafs5\DeLS_Pondy\71_Pearson_US_IRDVD\08. Working_Folder\Copyright Removed Jpegs\Lutgens_EOG_13e\Chapter02\Jpegs_Labeled\EOG_13e_Figure_02_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148170"/>
            <a:ext cx="8285163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2.8 Testing </a:t>
            </a:r>
            <a:r>
              <a:rPr altLang="en-US" dirty="0" smtClean="0"/>
              <a:t>the Plate Tectonics Model</a:t>
            </a:r>
          </a:p>
        </p:txBody>
      </p:sp>
      <p:sp>
        <p:nvSpPr>
          <p:cNvPr id="34819" name="Rectangle 2051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821667"/>
          </a:xfrm>
        </p:spPr>
        <p:txBody>
          <a:bodyPr/>
          <a:lstStyle/>
          <a:p>
            <a:r>
              <a:rPr lang="en-US" altLang="en-US" dirty="0" smtClean="0"/>
              <a:t>Hot spots and mantle plumes</a:t>
            </a:r>
          </a:p>
          <a:p>
            <a:pPr lvl="1"/>
            <a:r>
              <a:rPr lang="en-US" altLang="en-US" dirty="0" smtClean="0"/>
              <a:t>Caused by rising plumes of mantle </a:t>
            </a:r>
            <a:r>
              <a:rPr lang="en-US" altLang="en-US" dirty="0" smtClean="0"/>
              <a:t>material.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Volcanoes can form over them (Hawaiian island chain</a:t>
            </a:r>
            <a:r>
              <a:rPr lang="en-US" altLang="en-US" dirty="0" smtClean="0"/>
              <a:t>).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Mantle plumes</a:t>
            </a:r>
          </a:p>
          <a:p>
            <a:pPr lvl="2"/>
            <a:r>
              <a:rPr lang="en-US" altLang="en-US" dirty="0" smtClean="0"/>
              <a:t>Long-lived structures</a:t>
            </a:r>
          </a:p>
          <a:p>
            <a:pPr lvl="2"/>
            <a:r>
              <a:rPr lang="en-US" altLang="en-US" dirty="0" smtClean="0"/>
              <a:t>Some originate at great depth, perhaps at the mantle-core </a:t>
            </a:r>
            <a:r>
              <a:rPr lang="en-US" altLang="en-US" dirty="0" smtClean="0"/>
              <a:t>boundary.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Hot Spots and </a:t>
            </a:r>
            <a:r>
              <a:rPr altLang="en-US" dirty="0" smtClean="0"/>
              <a:t>Hot-Spot </a:t>
            </a:r>
            <a:r>
              <a:rPr altLang="en-US" dirty="0" smtClean="0"/>
              <a:t>Tracks</a:t>
            </a:r>
          </a:p>
        </p:txBody>
      </p:sp>
      <p:pic>
        <p:nvPicPr>
          <p:cNvPr id="7170" name="Picture 2" descr="\\integrafs5\DeLS_Pondy\71_Pearson_US_IRDVD\08. Working_Folder\Copyright Removed Jpegs\Lutgens_EOG_13e\Chapter02\Jpegs_Labeled\EOG_13e_Figure_02_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716" y="881240"/>
            <a:ext cx="6716568" cy="540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2.8 Testing </a:t>
            </a:r>
            <a:r>
              <a:rPr altLang="en-US" dirty="0" smtClean="0"/>
              <a:t>the Plate Tectonics Model </a:t>
            </a: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3082924"/>
          </a:xfrm>
        </p:spPr>
        <p:txBody>
          <a:bodyPr/>
          <a:lstStyle/>
          <a:p>
            <a:r>
              <a:rPr lang="en-US" altLang="en-US" dirty="0" smtClean="0"/>
              <a:t>Evidence for the plate tectonics model </a:t>
            </a:r>
          </a:p>
          <a:p>
            <a:pPr lvl="1"/>
            <a:r>
              <a:rPr lang="en-US" altLang="en-US" dirty="0" err="1" smtClean="0"/>
              <a:t>Paleomagnetism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Probably the most persuasive evidence </a:t>
            </a:r>
          </a:p>
          <a:p>
            <a:pPr lvl="2"/>
            <a:r>
              <a:rPr lang="en-US" altLang="en-US" dirty="0" smtClean="0"/>
              <a:t>Ancient magnetism preserved in rocks </a:t>
            </a:r>
          </a:p>
          <a:p>
            <a:pPr lvl="2"/>
            <a:r>
              <a:rPr lang="en-US" altLang="en-US" dirty="0" err="1" smtClean="0"/>
              <a:t>Paleomagnetic</a:t>
            </a:r>
            <a:r>
              <a:rPr lang="en-US" altLang="en-US" dirty="0" smtClean="0"/>
              <a:t> records show </a:t>
            </a:r>
          </a:p>
          <a:p>
            <a:pPr lvl="3"/>
            <a:r>
              <a:rPr lang="en-US" altLang="en-US" dirty="0" smtClean="0"/>
              <a:t>Polar wandering (evidence that continents moved) </a:t>
            </a:r>
          </a:p>
          <a:p>
            <a:pPr lvl="3"/>
            <a:r>
              <a:rPr lang="en-US" altLang="en-US" dirty="0" smtClean="0"/>
              <a:t>Earth’s magnetic field reversals </a:t>
            </a:r>
          </a:p>
          <a:p>
            <a:pPr lvl="4">
              <a:buFont typeface="Arial" pitchFamily="34" charset="0"/>
              <a:buChar char="•"/>
            </a:pPr>
            <a:r>
              <a:rPr lang="en-US" altLang="en-US" dirty="0" smtClean="0"/>
              <a:t>Recorded in rocks as they form at oceanic ridges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Apparent </a:t>
            </a:r>
            <a:r>
              <a:rPr altLang="en-US" dirty="0" smtClean="0"/>
              <a:t>Polar-Wandering </a:t>
            </a:r>
            <a:r>
              <a:rPr altLang="en-US" dirty="0" smtClean="0"/>
              <a:t>Paths for </a:t>
            </a:r>
            <a:r>
              <a:rPr altLang="en-US" dirty="0" smtClean="0"/>
              <a:t/>
            </a:r>
            <a:br>
              <a:rPr altLang="en-US" dirty="0" smtClean="0"/>
            </a:br>
            <a:r>
              <a:rPr altLang="en-US" dirty="0" smtClean="0"/>
              <a:t>Eurasia </a:t>
            </a:r>
            <a:r>
              <a:rPr altLang="en-US" dirty="0" smtClean="0"/>
              <a:t>and North America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954" y="1504544"/>
            <a:ext cx="3576034" cy="415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8507" y="1503880"/>
            <a:ext cx="3576034" cy="416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dirty="0" err="1" smtClean="0"/>
              <a:t>Paleomagnetic</a:t>
            </a:r>
            <a:r>
              <a:rPr altLang="en-US" dirty="0" smtClean="0"/>
              <a:t> Reversals Recorded by Basalt Flows at Mid-Ocean Ridges</a:t>
            </a:r>
          </a:p>
        </p:txBody>
      </p:sp>
      <p:sp>
        <p:nvSpPr>
          <p:cNvPr id="38916" name="TextBox 3"/>
          <p:cNvSpPr txBox="1">
            <a:spLocks noChangeArrowheads="1"/>
          </p:cNvSpPr>
          <p:nvPr/>
        </p:nvSpPr>
        <p:spPr bwMode="auto">
          <a:xfrm>
            <a:off x="7646988" y="1077913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9218" name="Picture 2" descr="\\integrafs5\DeLS_Pondy\71_Pearson_US_IRDVD\08. Working_Folder\Copyright Removed Jpegs\Lutgens_EOG_13e\Chapter02\Jpegs_Labeled\EOG_13e_Figure_02_2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609251"/>
            <a:ext cx="7546975" cy="463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2.9</a:t>
            </a:r>
            <a:r>
              <a:rPr lang="en-IN" altLang="en-US" dirty="0" smtClean="0"/>
              <a:t> </a:t>
            </a:r>
            <a:r>
              <a:rPr altLang="en-US" dirty="0" smtClean="0"/>
              <a:t>How Is Plate Motion Measured?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376238" y="1207361"/>
            <a:ext cx="8218487" cy="5106987"/>
          </a:xfrm>
        </p:spPr>
        <p:txBody>
          <a:bodyPr/>
          <a:lstStyle/>
          <a:p>
            <a:r>
              <a:rPr lang="en-US" altLang="en-US" dirty="0" smtClean="0"/>
              <a:t>By using </a:t>
            </a:r>
            <a:r>
              <a:rPr lang="en-US" altLang="en-US" dirty="0" smtClean="0"/>
              <a:t>hot-spot </a:t>
            </a:r>
            <a:r>
              <a:rPr lang="en-US" altLang="en-US" dirty="0" smtClean="0"/>
              <a:t>“tracks,” like those of the Hawaiian Island–Emperor Seamount chain, and the age of the seafloor</a:t>
            </a:r>
          </a:p>
          <a:p>
            <a:r>
              <a:rPr lang="en-US" altLang="en-US" dirty="0" smtClean="0"/>
              <a:t>Using space-age technology to directly measure the relative motion of plates </a:t>
            </a:r>
          </a:p>
          <a:p>
            <a:pPr lvl="1"/>
            <a:r>
              <a:rPr lang="en-US" altLang="en-US" dirty="0" smtClean="0"/>
              <a:t>Very Long Baseline Interferometry (VLBI) </a:t>
            </a:r>
          </a:p>
          <a:p>
            <a:pPr lvl="1"/>
            <a:r>
              <a:rPr lang="en-US" altLang="en-US" dirty="0" smtClean="0"/>
              <a:t>Global Positioning System (GPS)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dirty="0" smtClean="0"/>
              <a:t>2.9</a:t>
            </a:r>
            <a:r>
              <a:rPr lang="en-IN" dirty="0" smtClean="0"/>
              <a:t> </a:t>
            </a:r>
            <a:r>
              <a:rPr dirty="0" smtClean="0"/>
              <a:t>How Is Plate Motion Measured? </a:t>
            </a:r>
            <a:r>
              <a:rPr lang="en-US" altLang="en-US" dirty="0"/>
              <a:t>(cont.)</a:t>
            </a:r>
            <a:endParaRPr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381772" y="1210402"/>
            <a:ext cx="8229600" cy="1628592"/>
          </a:xfrm>
        </p:spPr>
        <p:txBody>
          <a:bodyPr/>
          <a:lstStyle/>
          <a:p>
            <a:r>
              <a:rPr lang="en-US" altLang="en-US" dirty="0" smtClean="0"/>
              <a:t>Geologic Evidence for Plate Motion</a:t>
            </a:r>
          </a:p>
          <a:p>
            <a:pPr lvl="1"/>
            <a:r>
              <a:rPr lang="en-US" altLang="en-US" dirty="0" smtClean="0"/>
              <a:t>By knowing the age of the seafloor and the distance from the spreading center, an average rate of plate motion can be calculated</a:t>
            </a:r>
          </a:p>
        </p:txBody>
      </p:sp>
      <p:pic>
        <p:nvPicPr>
          <p:cNvPr id="6146" name="Picture 2" descr="\\integrafs5\DeLS_Pondy\71_Pearson_US_IRDVD\08. Working_Folder\Copyright Removed Jpegs\Lutgens_EOG_13e\Chapter02\Jpegs_Labeled\EOG_13e_Figure_02_3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068" y="3142607"/>
            <a:ext cx="6370276" cy="322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Directions and Rates of Plate Motions</a:t>
            </a:r>
          </a:p>
        </p:txBody>
      </p:sp>
      <p:pic>
        <p:nvPicPr>
          <p:cNvPr id="10242" name="Picture 2" descr="\\integrafs5\DeLS_Pondy\71_Pearson_US_IRDVD\08. Working_Folder\Copyright Removed Jpegs\Lutgens_EOG_13e\Chapter02\Jpegs_Labeled\EOG_13e_Figure_02_3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395784"/>
            <a:ext cx="8248650" cy="439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2.10</a:t>
            </a:r>
            <a:r>
              <a:rPr lang="en-IN" altLang="en-US" dirty="0" smtClean="0"/>
              <a:t> </a:t>
            </a:r>
            <a:r>
              <a:rPr altLang="en-US" dirty="0" smtClean="0"/>
              <a:t>What Drives Plate Motion? 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764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Driving mechanism of plate tectonics </a:t>
            </a:r>
          </a:p>
          <a:p>
            <a:pPr lvl="1"/>
            <a:r>
              <a:rPr lang="en-US" altLang="en-US" dirty="0" smtClean="0"/>
              <a:t>No one model explains all facets of plate </a:t>
            </a:r>
            <a:r>
              <a:rPr lang="en-US" altLang="en-US" dirty="0" smtClean="0"/>
              <a:t>tectonics.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Earth’s heat is the driving force through </a:t>
            </a:r>
            <a:r>
              <a:rPr lang="en-US" altLang="en-US" dirty="0" smtClean="0"/>
              <a:t>convection.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Several models have been </a:t>
            </a:r>
            <a:r>
              <a:rPr lang="en-US" altLang="en-US" dirty="0" smtClean="0"/>
              <a:t>proposed.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Slab-pull and ridge-push model </a:t>
            </a:r>
          </a:p>
          <a:p>
            <a:pPr lvl="3"/>
            <a:r>
              <a:rPr lang="en-US" altLang="en-US" dirty="0" smtClean="0"/>
              <a:t>Descending oceanic crust pulls the </a:t>
            </a:r>
            <a:r>
              <a:rPr lang="en-US" altLang="en-US" dirty="0" smtClean="0"/>
              <a:t>plate.</a:t>
            </a:r>
            <a:endParaRPr lang="en-US" altLang="en-US" dirty="0" smtClean="0"/>
          </a:p>
          <a:p>
            <a:pPr lvl="3"/>
            <a:r>
              <a:rPr lang="en-US" altLang="en-US" dirty="0" smtClean="0"/>
              <a:t>Elevated ridge system pushes the </a:t>
            </a:r>
            <a:r>
              <a:rPr lang="en-US" altLang="en-US" dirty="0" smtClean="0"/>
              <a:t>plate.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-36513" y="0"/>
            <a:ext cx="9144001" cy="622300"/>
          </a:xfrm>
        </p:spPr>
        <p:txBody>
          <a:bodyPr/>
          <a:lstStyle/>
          <a:p>
            <a:pPr>
              <a:defRPr/>
            </a:pPr>
            <a:r>
              <a:rPr altLang="en-US" smtClean="0"/>
              <a:t>Mechanisms Contributing to Plate Motion</a:t>
            </a:r>
          </a:p>
        </p:txBody>
      </p:sp>
      <p:pic>
        <p:nvPicPr>
          <p:cNvPr id="11266" name="Picture 2" descr="\\integrafs5\DeLS_Pondy\71_Pearson_US_IRDVD\08. Working_Folder\Copyright Removed Jpegs\Lutgens_EOG_13e\Chapter02\Jpegs_Labeled\EOG_13e_Figure_02_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73" y="1177505"/>
            <a:ext cx="6866255" cy="49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2.10</a:t>
            </a:r>
            <a:r>
              <a:rPr lang="en-IN" altLang="en-US" dirty="0" smtClean="0"/>
              <a:t> </a:t>
            </a:r>
            <a:r>
              <a:rPr altLang="en-US" dirty="0" smtClean="0"/>
              <a:t>What Drives Plate Motion? 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Several models have been proposed</a:t>
            </a:r>
          </a:p>
          <a:p>
            <a:pPr lvl="1"/>
            <a:r>
              <a:rPr lang="en-US" altLang="en-US" dirty="0" smtClean="0"/>
              <a:t>Plate</a:t>
            </a:r>
            <a:r>
              <a:rPr lang="en-IN" altLang="en-US" dirty="0" smtClean="0"/>
              <a:t>–</a:t>
            </a:r>
            <a:r>
              <a:rPr lang="en-US" altLang="en-US" dirty="0" smtClean="0"/>
              <a:t>mantle convection </a:t>
            </a:r>
          </a:p>
          <a:p>
            <a:pPr lvl="2"/>
            <a:r>
              <a:rPr lang="en-US" altLang="en-US" dirty="0" smtClean="0"/>
              <a:t>Mantle plumes extend from mantle-core boundary and cause convection within the mantle </a:t>
            </a:r>
          </a:p>
          <a:p>
            <a:pPr lvl="2"/>
            <a:r>
              <a:rPr lang="en-US" altLang="en-US" dirty="0" smtClean="0"/>
              <a:t>Models </a:t>
            </a:r>
          </a:p>
          <a:p>
            <a:pPr lvl="3"/>
            <a:r>
              <a:rPr lang="en-US" altLang="en-US" dirty="0" smtClean="0"/>
              <a:t>Whole-mantle convection </a:t>
            </a:r>
          </a:p>
          <a:p>
            <a:pPr lvl="3"/>
            <a:r>
              <a:rPr lang="en-US" altLang="en-US" dirty="0" smtClean="0"/>
              <a:t>“Layer Cake”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-2460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lang="en-IN" altLang="en-US" dirty="0" smtClean="0"/>
              <a:t> </a:t>
            </a:r>
            <a:r>
              <a:rPr altLang="en-US" dirty="0" smtClean="0"/>
              <a:t>Whole-Mantle Convection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62" y="1205294"/>
            <a:ext cx="8207289" cy="499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“Layer Cake Model”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632" y="1554852"/>
            <a:ext cx="7452737" cy="406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645bc77e5d595f1ec2933605447f6dc987ab44"/>
  <p:tag name="ARTICULATE_PROJECT_OPEN" val="0"/>
</p:tagLst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4665</TotalTime>
  <Words>1284</Words>
  <Application>Microsoft Office PowerPoint</Application>
  <PresentationFormat>On-screen Show (4:3)</PresentationFormat>
  <Paragraphs>172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HA5Lect_template</vt:lpstr>
      <vt:lpstr>PowerPoint Presentation</vt:lpstr>
      <vt:lpstr>Learning Objectives</vt:lpstr>
      <vt:lpstr>Learning Objectives (cont.)</vt:lpstr>
      <vt:lpstr>2.1 From Continental Drift to Plate Tectonics</vt:lpstr>
      <vt:lpstr>2.2 Continental Drift: An Idea Before  Its Time</vt:lpstr>
      <vt:lpstr>Pangaea Approximately 200 Million  Years Ago</vt:lpstr>
      <vt:lpstr>2.2 Continental Drift: An Idea Before  Its Time</vt:lpstr>
      <vt:lpstr>Wegener’s Matching of Mountain Ranges  on Different Continents</vt:lpstr>
      <vt:lpstr>Paleoclimatic Evidence for Continental Drift</vt:lpstr>
      <vt:lpstr>2.2 Continental Drift: An Idea Before Its Time</vt:lpstr>
      <vt:lpstr>2.3 The Theory of Plate Tectonics</vt:lpstr>
      <vt:lpstr>2.3 The Theory of Plate Tectonics (cont.) </vt:lpstr>
      <vt:lpstr>2.3 The Theory of Plate Tectonics (cont.)</vt:lpstr>
      <vt:lpstr>2.4 Divergent Plate Boundaries and  Seafloor Spreading</vt:lpstr>
      <vt:lpstr>2.4 Divergent Plate Boundaries and  Seafloor Spreading (cont.)</vt:lpstr>
      <vt:lpstr>Rift Valley in Iceland</vt:lpstr>
      <vt:lpstr>2.5 Convergent Plate Boundaries and Subduction</vt:lpstr>
      <vt:lpstr>An Oceanic–Continental Convergent Plate Boundary</vt:lpstr>
      <vt:lpstr>2.5 Convergent Plate Boundaries and Subduction</vt:lpstr>
      <vt:lpstr>An Oceanic–Oceanic Convergent Plate Boundary</vt:lpstr>
      <vt:lpstr>2.5 Convergent Plate Boundaries and Subduction</vt:lpstr>
      <vt:lpstr>The Collision of India and Asia Produced the Himalayas (Before)</vt:lpstr>
      <vt:lpstr>2.6 Transform Plate Boundaries</vt:lpstr>
      <vt:lpstr>2.6 Transform Plate Boundaries (cont.)</vt:lpstr>
      <vt:lpstr>2.7 How Do Plates and Plate Boundaries Change?</vt:lpstr>
      <vt:lpstr>2.7 How Do Plates and Plate Boundaries Change? (cont.)</vt:lpstr>
      <vt:lpstr>A Possible View of the World 50 Million Years from Now</vt:lpstr>
      <vt:lpstr>2.8 Testing the Plate Tectonics Model</vt:lpstr>
      <vt:lpstr>Evidence from Ocean Drilling</vt:lpstr>
      <vt:lpstr>2.8 Testing the Plate Tectonics Model</vt:lpstr>
      <vt:lpstr>Hot Spots and Hot-Spot Tracks</vt:lpstr>
      <vt:lpstr>2.8 Testing the Plate Tectonics Model </vt:lpstr>
      <vt:lpstr>Apparent Polar-Wandering Paths for  Eurasia and North America</vt:lpstr>
      <vt:lpstr>Paleomagnetic Reversals Recorded by Basalt Flows at Mid-Ocean Ridges</vt:lpstr>
      <vt:lpstr>2.9 How Is Plate Motion Measured?</vt:lpstr>
      <vt:lpstr>2.9 How Is Plate Motion Measured? (cont.)</vt:lpstr>
      <vt:lpstr>Directions and Rates of Plate Motions</vt:lpstr>
      <vt:lpstr>2.10 What Drives Plate Motion? </vt:lpstr>
      <vt:lpstr>Mechanisms Contributing to Plate Motion</vt:lpstr>
      <vt:lpstr>2.10 What Drives Plate Motion? </vt:lpstr>
      <vt:lpstr> Whole-Mantle Convection</vt:lpstr>
      <vt:lpstr>“Layer Cake Model”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547</cp:revision>
  <cp:lastPrinted>1601-01-01T00:00:00Z</cp:lastPrinted>
  <dcterms:created xsi:type="dcterms:W3CDTF">2000-12-18T00:31:17Z</dcterms:created>
  <dcterms:modified xsi:type="dcterms:W3CDTF">2017-06-29T14:15:43Z</dcterms:modified>
</cp:coreProperties>
</file>