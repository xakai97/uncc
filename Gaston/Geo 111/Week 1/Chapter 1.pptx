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notesMasterIdLst>
    <p:notesMasterId r:id="rId32"/>
  </p:notesMasterIdLst>
  <p:sldIdLst>
    <p:sldId id="368" r:id="rId2"/>
    <p:sldId id="369" r:id="rId3"/>
    <p:sldId id="370" r:id="rId4"/>
    <p:sldId id="257" r:id="rId5"/>
    <p:sldId id="284" r:id="rId6"/>
    <p:sldId id="285" r:id="rId7"/>
    <p:sldId id="260" r:id="rId8"/>
    <p:sldId id="353" r:id="rId9"/>
    <p:sldId id="262" r:id="rId10"/>
    <p:sldId id="334" r:id="rId11"/>
    <p:sldId id="263" r:id="rId12"/>
    <p:sldId id="335" r:id="rId13"/>
    <p:sldId id="350" r:id="rId14"/>
    <p:sldId id="357" r:id="rId15"/>
    <p:sldId id="348" r:id="rId16"/>
    <p:sldId id="336" r:id="rId17"/>
    <p:sldId id="337" r:id="rId18"/>
    <p:sldId id="363" r:id="rId19"/>
    <p:sldId id="364" r:id="rId20"/>
    <p:sldId id="365" r:id="rId21"/>
    <p:sldId id="366" r:id="rId22"/>
    <p:sldId id="346" r:id="rId23"/>
    <p:sldId id="265" r:id="rId24"/>
    <p:sldId id="352" r:id="rId25"/>
    <p:sldId id="338" r:id="rId26"/>
    <p:sldId id="351" r:id="rId27"/>
    <p:sldId id="367" r:id="rId28"/>
    <p:sldId id="355" r:id="rId29"/>
    <p:sldId id="354" r:id="rId30"/>
    <p:sldId id="358" r:id="rId31"/>
  </p:sldIdLst>
  <p:sldSz cx="9144000" cy="6858000" type="screen4x3"/>
  <p:notesSz cx="6858000" cy="9144000"/>
  <p:custDataLst>
    <p:tags r:id="rId3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ditorial Integra" initials="RRIII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ED6B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3371" autoAdjust="0"/>
  </p:normalViewPr>
  <p:slideViewPr>
    <p:cSldViewPr snapToGrid="0" showGuides="1">
      <p:cViewPr varScale="1">
        <p:scale>
          <a:sx n="105" d="100"/>
          <a:sy n="105" d="100"/>
        </p:scale>
        <p:origin x="-1716" y="-90"/>
      </p:cViewPr>
      <p:guideLst>
        <p:guide orient="horz" pos="2160"/>
        <p:guide orient="horz" pos="288"/>
        <p:guide orient="horz" pos="992"/>
        <p:guide orient="horz" pos="1281"/>
        <p:guide orient="horz" pos="1540"/>
        <p:guide pos="532"/>
        <p:guide pos="28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83" d="100"/>
          <a:sy n="83" d="100"/>
        </p:scale>
        <p:origin x="-198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8A1F7A5-CD07-408D-9F30-7CBF3214F2F6}" type="datetimeFigureOut">
              <a:rPr lang="en-US" altLang="en-US"/>
              <a:pPr>
                <a:defRPr/>
              </a:pPr>
              <a:t>6/29/2017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0AA1D85-F692-4812-BF9D-E55A2B42FF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27489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A9A87DE1-10C1-4429-86A1-111AD5ACAFF4}" type="slidenum">
              <a:rPr lang="en-US" altLang="en-US" smtClean="0"/>
              <a:pPr/>
              <a:t>4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AA1D85-F692-4812-BF9D-E55A2B42FF90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0987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AA1D85-F692-4812-BF9D-E55A2B42FF90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9517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 txBox="1">
            <a:spLocks noChangeArrowheads="1"/>
          </p:cNvSpPr>
          <p:nvPr userDrawn="1"/>
        </p:nvSpPr>
        <p:spPr bwMode="auto">
          <a:xfrm>
            <a:off x="457200" y="2922141"/>
            <a:ext cx="3536950" cy="107721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 anchor="ctr">
            <a:spAutoFit/>
          </a:bodyPr>
          <a:lstStyle>
            <a:lvl1pPr algn="l" rtl="0" fontAlgn="base">
              <a:spcBef>
                <a:spcPct val="20000"/>
              </a:spcBef>
              <a:spcAft>
                <a:spcPct val="0"/>
              </a:spcAft>
              <a:defRPr sz="3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4572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9144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13716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1828800" algn="l" rtl="0" fontAlgn="base">
              <a:spcBef>
                <a:spcPct val="2000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l" defTabSz="914400">
              <a:defRPr/>
            </a:pPr>
            <a:r>
              <a:rPr lang="en-US" sz="3200" dirty="0" smtClean="0">
                <a:solidFill>
                  <a:srgbClr val="000000"/>
                </a:solidFill>
              </a:rPr>
              <a:t>An Introduction to Geology</a:t>
            </a:r>
            <a:endParaRPr lang="en-US" sz="3200" dirty="0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400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endParaRPr lang="en-US" sz="2400">
              <a:solidFill>
                <a:srgbClr val="000000"/>
              </a:solidFill>
              <a:latin typeface="+mn-lt"/>
              <a:ea typeface="ＭＳ Ｐゴシック" charset="0"/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 userDrawn="1"/>
        </p:nvSpPr>
        <p:spPr bwMode="auto">
          <a:xfrm>
            <a:off x="503238" y="1104900"/>
            <a:ext cx="8259762" cy="8890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defTabSz="914400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rgbClr val="000000"/>
                </a:solidFill>
                <a:latin typeface="ArialMT" charset="0"/>
                <a:ea typeface="+mn-ea"/>
              </a:rPr>
              <a:t>Essentials of Geology</a:t>
            </a:r>
          </a:p>
          <a:p>
            <a:pPr algn="r" defTabSz="914400" eaLnBrk="1" fontAlgn="auto" hangingPunct="1">
              <a:spcBef>
                <a:spcPct val="10000"/>
              </a:spcBef>
              <a:spcAft>
                <a:spcPts val="0"/>
              </a:spcAft>
              <a:defRPr/>
            </a:pPr>
            <a:r>
              <a:rPr lang="en-US" sz="1800" dirty="0" smtClean="0">
                <a:solidFill>
                  <a:srgbClr val="000000"/>
                </a:solidFill>
                <a:ea typeface="+mn-ea"/>
              </a:rPr>
              <a:t>Thirteenth Edition</a:t>
            </a:r>
          </a:p>
        </p:txBody>
      </p:sp>
      <p:pic>
        <p:nvPicPr>
          <p:cNvPr id="11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37113" y="2006805"/>
            <a:ext cx="3879850" cy="4384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6"/>
          <p:cNvSpPr txBox="1">
            <a:spLocks noChangeArrowheads="1"/>
          </p:cNvSpPr>
          <p:nvPr userDrawn="1"/>
        </p:nvSpPr>
        <p:spPr bwMode="auto">
          <a:xfrm>
            <a:off x="345174" y="61913"/>
            <a:ext cx="8001000" cy="519112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en-US" sz="2800" dirty="0" smtClean="0">
                <a:solidFill>
                  <a:srgbClr val="FFFFFF"/>
                </a:solidFill>
                <a:cs typeface="Arial" pitchFamily="34" charset="0"/>
              </a:rPr>
              <a:t>Lecture 1 Outline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57200" y="5183981"/>
            <a:ext cx="35369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kern="1200" dirty="0" smtClean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Merry Wilson</a:t>
            </a:r>
            <a:endParaRPr lang="en-IN" sz="1800" kern="1200" dirty="0" smtClean="0">
              <a:solidFill>
                <a:schemeClr val="tx1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en-US" sz="1800" kern="1200" dirty="0" smtClean="0">
                <a:solidFill>
                  <a:schemeClr val="tx1"/>
                </a:solidFill>
                <a:effectLst/>
                <a:latin typeface="Arial" pitchFamily="34" charset="0"/>
                <a:ea typeface="+mn-ea"/>
                <a:cs typeface="Arial" pitchFamily="34" charset="0"/>
              </a:rPr>
              <a:t>Scottsdale Community College</a:t>
            </a:r>
            <a:endParaRPr lang="en-IN" sz="1800" kern="1200" dirty="0">
              <a:solidFill>
                <a:schemeClr val="tx1"/>
              </a:solidFill>
              <a:effectLst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969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252" y="8626"/>
            <a:ext cx="9126748" cy="579438"/>
          </a:xfrm>
        </p:spPr>
        <p:txBody>
          <a:bodyPr/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377" y="1201795"/>
            <a:ext cx="8229600" cy="510698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 marL="2057400" indent="-2286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685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1373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609600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7252" y="8626"/>
            <a:ext cx="9005979" cy="60097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2377" y="1201795"/>
            <a:ext cx="4038600" cy="510698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 marL="2057400" indent="-228600">
              <a:buFont typeface="Arial" panose="020B0604020202020204" pitchFamily="34" charset="0"/>
              <a:buChar char="•"/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3377" y="1210421"/>
            <a:ext cx="4038600" cy="510698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 marL="2057400" indent="-228600">
              <a:buFont typeface="Arial" panose="020B0604020202020204" pitchFamily="34" charset="0"/>
              <a:buChar char="•"/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28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87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43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1571625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2377" y="2064395"/>
            <a:ext cx="8229600" cy="439679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 marL="2057400" indent="-2286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17252" y="0"/>
            <a:ext cx="9144000" cy="1569660"/>
          </a:xfrm>
        </p:spPr>
        <p:txBody>
          <a:bodyPr/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639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1189529"/>
          </a:xfrm>
          <a:prstGeom prst="rect">
            <a:avLst/>
          </a:prstGeom>
          <a:solidFill>
            <a:srgbClr val="ED6B0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>
              <a:defRPr/>
            </a:pPr>
            <a:endParaRPr lang="en-US" altLang="en-US" sz="2400" smtClean="0">
              <a:solidFill>
                <a:srgbClr val="000000"/>
              </a:solidFill>
              <a:ea typeface="ＭＳ Ｐゴシック" pitchFamily="34" charset="-12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377" y="1538209"/>
            <a:ext cx="8229600" cy="46900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 marL="2057400" indent="-228600"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-17252" y="0"/>
            <a:ext cx="9144000" cy="1077218"/>
          </a:xfrm>
        </p:spPr>
        <p:txBody>
          <a:bodyPr/>
          <a:lstStyle>
            <a:lvl1pPr algn="l" rtl="0" eaLnBrk="0" fontAlgn="base" hangingPunct="0">
              <a:spcBef>
                <a:spcPct val="50000"/>
              </a:spcBef>
              <a:spcAft>
                <a:spcPct val="0"/>
              </a:spcAft>
              <a:defRPr lang="en-US" sz="3200" b="1" i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15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8732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2790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6217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248400"/>
          </a:xfrm>
        </p:spPr>
        <p:txBody>
          <a:bodyPr vert="eaVert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248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6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0041019E-C573-4D82-9102-CCAEE31E73AE}" type="datetime1">
              <a:rPr lang="en-US" altLang="en-US"/>
              <a:pPr>
                <a:defRPr/>
              </a:pPr>
              <a:t>6/29/2017</a:t>
            </a:fld>
            <a:endParaRPr lang="en-US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4224FE50-0BD9-4AC9-A3CB-6879B196F5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8886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109538" y="6043613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6628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5125" y="1141413"/>
            <a:ext cx="8229600" cy="510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Rectangle 15"/>
          <p:cNvSpPr txBox="1">
            <a:spLocks noChangeArrowheads="1"/>
          </p:cNvSpPr>
          <p:nvPr userDrawn="1"/>
        </p:nvSpPr>
        <p:spPr bwMode="gray">
          <a:xfrm>
            <a:off x="76200" y="6602413"/>
            <a:ext cx="5399088" cy="17938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9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rgbClr val="000000"/>
                </a:solidFill>
              </a:rPr>
              <a:t>© 2018 Pearson Education, Inc.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5" r:id="rId1"/>
    <p:sldLayoutId id="2147484156" r:id="rId2"/>
    <p:sldLayoutId id="2147484148" r:id="rId3"/>
    <p:sldLayoutId id="2147484157" r:id="rId4"/>
    <p:sldLayoutId id="2147484149" r:id="rId5"/>
    <p:sldLayoutId id="2147484150" r:id="rId6"/>
    <p:sldLayoutId id="2147484158" r:id="rId7"/>
    <p:sldLayoutId id="2147484159" r:id="rId8"/>
    <p:sldLayoutId id="2147484151" r:id="rId9"/>
    <p:sldLayoutId id="2147484152" r:id="rId10"/>
    <p:sldLayoutId id="2147484153" r:id="rId11"/>
    <p:sldLayoutId id="2147484154" r:id="rId12"/>
    <p:sldLayoutId id="2147484160" r:id="rId13"/>
    <p:sldLayoutId id="2147484161" r:id="rId14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+mj-lt"/>
          <a:ea typeface="Arial" charset="0"/>
          <a:cs typeface="+mj-cs"/>
        </a:defRPr>
      </a:lvl1pPr>
      <a:lvl2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2pPr>
      <a:lvl3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3pPr>
      <a:lvl4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4pPr>
      <a:lvl5pPr algn="l" rtl="0" eaLnBrk="0" fontAlgn="base" hangingPunct="0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ea typeface="Arial" charset="0"/>
          <a:cs typeface="Arial" pitchFamily="34" charset="0"/>
        </a:defRPr>
      </a:lvl5pPr>
      <a:lvl6pPr marL="4572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6pPr>
      <a:lvl7pPr marL="9144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7pPr>
      <a:lvl8pPr marL="13716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8pPr>
      <a:lvl9pPr marL="1828800" algn="l" rtl="0" fontAlgn="base">
        <a:spcBef>
          <a:spcPct val="50000"/>
        </a:spcBef>
        <a:spcAft>
          <a:spcPct val="0"/>
        </a:spcAft>
        <a:defRPr sz="3200" b="1">
          <a:solidFill>
            <a:srgbClr val="ED6B06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AQKqaa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HbtC0S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8IwyPV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XMyy2O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tFkUPM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038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-25961" y="17335"/>
            <a:ext cx="9144000" cy="579438"/>
          </a:xfrm>
        </p:spPr>
        <p:txBody>
          <a:bodyPr/>
          <a:lstStyle/>
          <a:p>
            <a:r>
              <a:rPr lang="en-US" dirty="0" smtClean="0"/>
              <a:t>Learning </a:t>
            </a:r>
            <a:r>
              <a:rPr lang="en-US" altLang="en-US" dirty="0" smtClean="0"/>
              <a:t>Objectives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77099" y="1207725"/>
            <a:ext cx="8287928" cy="513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1.1 </a:t>
            </a:r>
            <a:r>
              <a:rPr lang="en-US" altLang="en-US" sz="2600" dirty="0">
                <a:latin typeface="+mn-lt"/>
                <a:cs typeface="+mn-cs"/>
              </a:rPr>
              <a:t>Distinguish between physical and historical geology and describe the connections between people and geology.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>
                <a:solidFill>
                  <a:srgbClr val="ED6B06"/>
                </a:solidFill>
                <a:latin typeface="+mn-lt"/>
                <a:cs typeface="+mn-cs"/>
              </a:rPr>
              <a:t>LO </a:t>
            </a: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1.2 </a:t>
            </a:r>
            <a:r>
              <a:rPr lang="en-US" altLang="en-US" sz="2600" dirty="0" smtClean="0">
                <a:latin typeface="+mn-lt"/>
                <a:cs typeface="+mn-cs"/>
              </a:rPr>
              <a:t>Summarize </a:t>
            </a:r>
            <a:r>
              <a:rPr lang="en-US" altLang="en-US" sz="2600" dirty="0">
                <a:latin typeface="+mn-lt"/>
                <a:cs typeface="+mn-cs"/>
              </a:rPr>
              <a:t>early and modern views on how change occurs on Earth and relate them to the prevailing ideas about the age of Earth.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>
                <a:solidFill>
                  <a:srgbClr val="ED6B06"/>
                </a:solidFill>
                <a:latin typeface="+mn-lt"/>
                <a:cs typeface="+mn-cs"/>
              </a:rPr>
              <a:t>LO 1.3 </a:t>
            </a:r>
            <a:r>
              <a:rPr lang="en-US" altLang="en-US" sz="2600" dirty="0" smtClean="0">
                <a:latin typeface="+mn-lt"/>
                <a:cs typeface="+mn-cs"/>
              </a:rPr>
              <a:t>Discuss </a:t>
            </a:r>
            <a:r>
              <a:rPr lang="en-US" altLang="en-US" sz="2600" dirty="0">
                <a:latin typeface="+mn-lt"/>
                <a:cs typeface="+mn-cs"/>
              </a:rPr>
              <a:t>the nature of scientific inquiry, including the construction of hypotheses and the development of theories.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>
                <a:solidFill>
                  <a:srgbClr val="ED6B06"/>
                </a:solidFill>
                <a:latin typeface="+mn-lt"/>
                <a:cs typeface="+mn-cs"/>
              </a:rPr>
              <a:t>LO 1.4 </a:t>
            </a:r>
            <a:r>
              <a:rPr lang="en-US" altLang="en-US" sz="2600" dirty="0" smtClean="0">
                <a:latin typeface="+mn-lt"/>
                <a:cs typeface="+mn-cs"/>
              </a:rPr>
              <a:t>List </a:t>
            </a:r>
            <a:r>
              <a:rPr lang="en-US" altLang="en-US" sz="2600" dirty="0">
                <a:latin typeface="+mn-lt"/>
                <a:cs typeface="+mn-cs"/>
              </a:rPr>
              <a:t>and describe Earth’s four major spheres</a:t>
            </a:r>
            <a:r>
              <a:rPr lang="en-US" altLang="en-US" sz="2600" dirty="0" smtClean="0">
                <a:latin typeface="+mn-lt"/>
                <a:cs typeface="+mn-cs"/>
              </a:rPr>
              <a:t>. Define </a:t>
            </a:r>
            <a:r>
              <a:rPr lang="en-US" altLang="en-US" sz="2600" i="1" dirty="0">
                <a:latin typeface="+mn-lt"/>
                <a:cs typeface="+mn-cs"/>
              </a:rPr>
              <a:t>system</a:t>
            </a:r>
            <a:r>
              <a:rPr lang="en-US" altLang="en-US" sz="2600" dirty="0">
                <a:latin typeface="+mn-lt"/>
                <a:cs typeface="+mn-cs"/>
              </a:rPr>
              <a:t> and explain why Earth is considered to be a system</a:t>
            </a:r>
            <a:r>
              <a:rPr lang="en-US" altLang="en-US" sz="2600" dirty="0" smtClean="0">
                <a:latin typeface="+mn-lt"/>
                <a:cs typeface="+mn-cs"/>
              </a:rPr>
              <a:t>.</a:t>
            </a:r>
            <a:endParaRPr lang="en-US" altLang="en-US" sz="260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1901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title"/>
          </p:nvPr>
        </p:nvSpPr>
        <p:spPr>
          <a:xfrm>
            <a:off x="-25961" y="17335"/>
            <a:ext cx="9144000" cy="579438"/>
          </a:xfrm>
        </p:spPr>
        <p:txBody>
          <a:bodyPr/>
          <a:lstStyle/>
          <a:p>
            <a:r>
              <a:rPr lang="en-US" dirty="0" smtClean="0"/>
              <a:t>Learning </a:t>
            </a:r>
            <a:r>
              <a:rPr lang="en-US" altLang="en-US" dirty="0" smtClean="0"/>
              <a:t>Objectives (cont.)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77099" y="1207725"/>
            <a:ext cx="8261802" cy="2733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 smtClean="0">
                <a:solidFill>
                  <a:srgbClr val="ED6B06"/>
                </a:solidFill>
                <a:latin typeface="+mn-lt"/>
                <a:cs typeface="+mn-cs"/>
              </a:rPr>
              <a:t>LO </a:t>
            </a:r>
            <a:r>
              <a:rPr lang="en-US" altLang="en-US" sz="2600" b="1" dirty="0">
                <a:solidFill>
                  <a:srgbClr val="ED6B06"/>
                </a:solidFill>
                <a:latin typeface="+mn-lt"/>
                <a:cs typeface="+mn-cs"/>
              </a:rPr>
              <a:t>1.5 </a:t>
            </a:r>
            <a:r>
              <a:rPr lang="en-US" altLang="en-US" sz="2600" dirty="0" smtClean="0">
                <a:latin typeface="+mn-lt"/>
                <a:cs typeface="+mn-cs"/>
              </a:rPr>
              <a:t>Outline </a:t>
            </a:r>
            <a:r>
              <a:rPr lang="en-US" altLang="en-US" sz="2600" dirty="0">
                <a:latin typeface="+mn-lt"/>
                <a:cs typeface="+mn-cs"/>
              </a:rPr>
              <a:t>the stages in the formation of our solar system.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>
                <a:solidFill>
                  <a:srgbClr val="ED6B06"/>
                </a:solidFill>
                <a:latin typeface="+mn-lt"/>
                <a:cs typeface="+mn-cs"/>
              </a:rPr>
              <a:t>LO 1.6 </a:t>
            </a:r>
            <a:r>
              <a:rPr lang="en-US" altLang="en-US" sz="2600" dirty="0" smtClean="0">
                <a:latin typeface="+mn-lt"/>
                <a:cs typeface="+mn-cs"/>
              </a:rPr>
              <a:t>Describe </a:t>
            </a:r>
            <a:r>
              <a:rPr lang="en-US" altLang="en-US" sz="2600" dirty="0">
                <a:latin typeface="+mn-lt"/>
                <a:cs typeface="+mn-cs"/>
              </a:rPr>
              <a:t>Earth’s internal structure.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>
                <a:solidFill>
                  <a:srgbClr val="ED6B06"/>
                </a:solidFill>
                <a:latin typeface="+mn-lt"/>
                <a:cs typeface="+mn-cs"/>
              </a:rPr>
              <a:t>LO 1.7 </a:t>
            </a:r>
            <a:r>
              <a:rPr lang="en-US" altLang="en-US" sz="2600" dirty="0" smtClean="0">
                <a:latin typeface="+mn-lt"/>
                <a:cs typeface="+mn-cs"/>
              </a:rPr>
              <a:t>Sketch</a:t>
            </a:r>
            <a:r>
              <a:rPr lang="en-US" altLang="en-US" sz="2600" dirty="0">
                <a:latin typeface="+mn-lt"/>
                <a:cs typeface="+mn-cs"/>
              </a:rPr>
              <a:t>, label, and explain the rock cycle.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tx1"/>
              </a:buClr>
              <a:buChar char="•"/>
              <a:defRPr/>
            </a:pPr>
            <a:r>
              <a:rPr lang="en-US" altLang="en-US" sz="2600" b="1" dirty="0">
                <a:solidFill>
                  <a:srgbClr val="ED6B06"/>
                </a:solidFill>
                <a:latin typeface="+mn-lt"/>
                <a:cs typeface="+mn-cs"/>
              </a:rPr>
              <a:t>LO 1.8 </a:t>
            </a:r>
            <a:r>
              <a:rPr lang="en-US" altLang="en-US" sz="2600" dirty="0" smtClean="0">
                <a:latin typeface="+mn-lt"/>
                <a:cs typeface="+mn-cs"/>
              </a:rPr>
              <a:t>List </a:t>
            </a:r>
            <a:r>
              <a:rPr lang="en-US" altLang="en-US" sz="2600" dirty="0">
                <a:latin typeface="+mn-lt"/>
                <a:cs typeface="+mn-cs"/>
              </a:rPr>
              <a:t>and describe the major features of the continents and ocean basins</a:t>
            </a:r>
            <a:r>
              <a:rPr lang="en-US" altLang="en-US" sz="2600" dirty="0" smtClean="0">
                <a:latin typeface="+mn-lt"/>
                <a:cs typeface="+mn-cs"/>
              </a:rPr>
              <a:t>.</a:t>
            </a:r>
            <a:endParaRPr lang="en-US" altLang="en-US" sz="2600" dirty="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474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3077"/>
          <p:cNvSpPr>
            <a:spLocks noGrp="1" noChangeArrowheads="1"/>
          </p:cNvSpPr>
          <p:nvPr>
            <p:ph type="title"/>
          </p:nvPr>
        </p:nvSpPr>
        <p:spPr>
          <a:xfrm>
            <a:off x="-26172" y="16647"/>
            <a:ext cx="9126538" cy="57943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1.1 Geology</a:t>
            </a:r>
            <a:r>
              <a:rPr lang="en-US" altLang="en-US" dirty="0" smtClean="0"/>
              <a:t>: The </a:t>
            </a:r>
            <a:r>
              <a:rPr lang="en-US" altLang="en-US" dirty="0"/>
              <a:t>Science of Earth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5382"/>
            <a:ext cx="8372929" cy="287678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Geology is the science that pursues an understanding of planet </a:t>
            </a:r>
            <a:r>
              <a:rPr lang="en-US" altLang="en-US" dirty="0" smtClean="0"/>
              <a:t>Earth.</a:t>
            </a:r>
            <a:endParaRPr lang="en-US" altLang="en-US" dirty="0"/>
          </a:p>
          <a:p>
            <a:pPr lvl="1" eaLnBrk="1" hangingPunct="1">
              <a:defRPr/>
            </a:pPr>
            <a:r>
              <a:rPr lang="en-US" altLang="en-US" dirty="0">
                <a:ea typeface="+mn-ea"/>
                <a:cs typeface="+mn-cs"/>
              </a:rPr>
              <a:t>Physical </a:t>
            </a:r>
            <a:r>
              <a:rPr lang="en-US" altLang="en-US" dirty="0" smtClean="0">
                <a:ea typeface="+mn-ea"/>
                <a:cs typeface="+mn-cs"/>
              </a:rPr>
              <a:t>geology examines </a:t>
            </a:r>
            <a:r>
              <a:rPr lang="en-US" altLang="en-US" dirty="0">
                <a:ea typeface="+mn-ea"/>
                <a:cs typeface="+mn-cs"/>
              </a:rPr>
              <a:t>the materials composing Earth and seeks to understand the many processes that operate beneath and </a:t>
            </a:r>
            <a:r>
              <a:rPr lang="en-US" altLang="en-US" dirty="0" smtClean="0">
                <a:ea typeface="+mn-ea"/>
                <a:cs typeface="+mn-cs"/>
              </a:rPr>
              <a:t>upon </a:t>
            </a:r>
            <a:r>
              <a:rPr lang="en-US" altLang="en-US" dirty="0">
                <a:ea typeface="+mn-ea"/>
                <a:cs typeface="+mn-cs"/>
              </a:rPr>
              <a:t>its </a:t>
            </a:r>
            <a:r>
              <a:rPr lang="en-US" altLang="en-US" dirty="0" smtClean="0">
                <a:ea typeface="+mn-ea"/>
                <a:cs typeface="+mn-cs"/>
              </a:rPr>
              <a:t>surface.</a:t>
            </a:r>
            <a:endParaRPr lang="en-US" altLang="en-US" dirty="0">
              <a:ea typeface="+mn-ea"/>
              <a:cs typeface="+mn-cs"/>
            </a:endParaRPr>
          </a:p>
          <a:p>
            <a:pPr lvl="1" eaLnBrk="1" hangingPunct="1">
              <a:defRPr/>
            </a:pPr>
            <a:r>
              <a:rPr lang="en-US" altLang="en-US" dirty="0">
                <a:ea typeface="+mn-ea"/>
                <a:cs typeface="+mn-cs"/>
              </a:rPr>
              <a:t>Historical </a:t>
            </a:r>
            <a:r>
              <a:rPr lang="en-US" altLang="en-US" dirty="0" smtClean="0">
                <a:ea typeface="+mn-ea"/>
                <a:cs typeface="+mn-cs"/>
              </a:rPr>
              <a:t>geology seeks </a:t>
            </a:r>
            <a:r>
              <a:rPr lang="en-US" altLang="en-US" dirty="0">
                <a:ea typeface="+mn-ea"/>
                <a:cs typeface="+mn-cs"/>
              </a:rPr>
              <a:t>an understanding of the origin of Earth and its development through </a:t>
            </a:r>
            <a:r>
              <a:rPr lang="en-US" altLang="en-US" dirty="0" smtClean="0">
                <a:ea typeface="+mn-ea"/>
                <a:cs typeface="+mn-cs"/>
              </a:rPr>
              <a:t>time.</a:t>
            </a:r>
            <a:endParaRPr lang="en-US" altLang="en-US" dirty="0"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9975"/>
            <a:ext cx="8229600" cy="2421499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Geology, people, and the environment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There are many important relationships between people and the natural environment</a:t>
            </a:r>
            <a:r>
              <a:rPr lang="en-US" altLang="en-US" dirty="0">
                <a:cs typeface="Times New Roman" pitchFamily="18" charset="0"/>
              </a:rPr>
              <a:t>.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Some of the problems and issues addressed by geology involve</a:t>
            </a:r>
            <a:r>
              <a:rPr lang="en-US" altLang="en-US" dirty="0" smtClean="0"/>
              <a:t> natural hazards, resources, world population growth, and environmental issues.</a:t>
            </a:r>
          </a:p>
        </p:txBody>
      </p:sp>
      <p:sp>
        <p:nvSpPr>
          <p:cNvPr id="11266" name="Rectangle 3077"/>
          <p:cNvSpPr>
            <a:spLocks noGrp="1" noChangeArrowheads="1"/>
          </p:cNvSpPr>
          <p:nvPr>
            <p:ph type="title"/>
          </p:nvPr>
        </p:nvSpPr>
        <p:spPr>
          <a:xfrm>
            <a:off x="-26172" y="16647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1.1 Geology:</a:t>
            </a:r>
            <a:r>
              <a:rPr lang="en-IN" altLang="en-US" dirty="0" smtClean="0"/>
              <a:t> </a:t>
            </a:r>
            <a:r>
              <a:rPr altLang="en-US" dirty="0" smtClean="0"/>
              <a:t>The Science of Earth (cont.)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7"/>
          <p:cNvSpPr>
            <a:spLocks noGrp="1" noChangeArrowheads="1"/>
          </p:cNvSpPr>
          <p:nvPr>
            <p:ph idx="1"/>
          </p:nvPr>
        </p:nvSpPr>
        <p:spPr>
          <a:xfrm>
            <a:off x="381772" y="1209976"/>
            <a:ext cx="8229600" cy="214886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Some historical notes about geology</a:t>
            </a:r>
            <a:r>
              <a:rPr lang="en-US" altLang="en-US" dirty="0" smtClean="0"/>
              <a:t> 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The nature of Earth has been a focus of study for centuries.</a:t>
            </a:r>
            <a:r>
              <a:rPr lang="en-US" altLang="en-US" dirty="0" smtClean="0"/>
              <a:t> 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Catastrophism</a:t>
            </a:r>
            <a:r>
              <a:rPr lang="en-US" altLang="en-US" dirty="0" smtClean="0"/>
              <a:t> 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Uniformitarianism</a:t>
            </a:r>
            <a:r>
              <a:rPr lang="en-US" altLang="en-US" dirty="0" smtClean="0"/>
              <a:t> and the birth of modern geology</a:t>
            </a:r>
          </a:p>
        </p:txBody>
      </p:sp>
      <p:sp>
        <p:nvSpPr>
          <p:cNvPr id="12290" name="Rectangle 3077"/>
          <p:cNvSpPr>
            <a:spLocks noGrp="1" noChangeArrowheads="1"/>
          </p:cNvSpPr>
          <p:nvPr>
            <p:ph type="title"/>
          </p:nvPr>
        </p:nvSpPr>
        <p:spPr>
          <a:xfrm>
            <a:off x="-26172" y="16647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1.1 Geology:</a:t>
            </a:r>
            <a:r>
              <a:rPr lang="en-IN" altLang="en-US" dirty="0" smtClean="0"/>
              <a:t> </a:t>
            </a:r>
            <a:r>
              <a:rPr altLang="en-US" dirty="0" smtClean="0"/>
              <a:t>The Science of </a:t>
            </a:r>
            <a:r>
              <a:rPr lang="en-IN" altLang="en-US" dirty="0"/>
              <a:t>Earth (cont.)</a:t>
            </a:r>
            <a:endParaRPr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5"/>
          <p:cNvSpPr>
            <a:spLocks noGrp="1" noChangeArrowheads="1"/>
          </p:cNvSpPr>
          <p:nvPr>
            <p:ph type="title"/>
          </p:nvPr>
        </p:nvSpPr>
        <p:spPr>
          <a:xfrm>
            <a:off x="-26172" y="16647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1.2</a:t>
            </a:r>
            <a:r>
              <a:rPr lang="en-IN" altLang="en-US" dirty="0" smtClean="0"/>
              <a:t> </a:t>
            </a:r>
            <a:r>
              <a:rPr altLang="en-US" dirty="0" smtClean="0"/>
              <a:t>The Development of Geology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5383"/>
            <a:ext cx="8229600" cy="372781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Geologists are now able to assign fairly accurate dates to events in Earth history</a:t>
            </a:r>
            <a:r>
              <a:rPr lang="en-US" altLang="en-US" dirty="0" smtClean="0"/>
              <a:t> </a:t>
            </a:r>
          </a:p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Relative dating and the geologic time scale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Relative dating means that dates are placed in their proper sequence or order without knowing their age in years.</a:t>
            </a:r>
          </a:p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The magnitude of geologic time</a:t>
            </a:r>
            <a:r>
              <a:rPr lang="en-US" altLang="en-US" dirty="0" smtClean="0"/>
              <a:t> 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Involves vast times: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dirty="0" smtClean="0">
                <a:cs typeface="Times New Roman" pitchFamily="18" charset="0"/>
              </a:rPr>
              <a:t>Millions or billions of years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An appreciation for the magnitude of geologic time is important because many processes are gradual.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-17463" y="16647"/>
            <a:ext cx="9126538" cy="584200"/>
          </a:xfrm>
        </p:spPr>
        <p:txBody>
          <a:bodyPr/>
          <a:lstStyle/>
          <a:p>
            <a:pPr>
              <a:defRPr/>
            </a:pPr>
            <a:r>
              <a:rPr altLang="en-US" smtClean="0"/>
              <a:t>The Geologic Time Scale </a:t>
            </a:r>
          </a:p>
        </p:txBody>
      </p:sp>
      <p:pic>
        <p:nvPicPr>
          <p:cNvPr id="7170" name="Picture 2" descr="\\integrafs5\DeLS_Pondy\71_Pearson_US_IRDVD\08. Working_Folder\Copyright Removed Jpegs\Lutgens_EOG_13e\Chapter01\Jpegs_Labeled\EOG_13e_Figure_01_0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393" y="946846"/>
            <a:ext cx="2629215" cy="5274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/>
          </p:nvPr>
        </p:nvSpPr>
        <p:spPr>
          <a:xfrm>
            <a:off x="-26172" y="16647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1.3</a:t>
            </a:r>
            <a:r>
              <a:rPr lang="en-IN" altLang="en-US" dirty="0" smtClean="0"/>
              <a:t> </a:t>
            </a:r>
            <a:r>
              <a:rPr altLang="en-US" dirty="0" smtClean="0"/>
              <a:t>The Nature of Scientific Inquiry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6625"/>
            <a:ext cx="8229600" cy="2754828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Science assumes the natural world is</a:t>
            </a:r>
            <a:r>
              <a:rPr lang="en-US" altLang="en-US" dirty="0" smtClean="0"/>
              <a:t> consistent and predictable.</a:t>
            </a:r>
          </a:p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The goal of science is to</a:t>
            </a:r>
            <a:r>
              <a:rPr lang="en-US" altLang="en-US" dirty="0" smtClean="0"/>
              <a:t> discover patterns in nature and use the knowledge to make predictions.</a:t>
            </a:r>
          </a:p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Scientists collect facts through observation and measurements.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/>
          <p:cNvSpPr>
            <a:spLocks noGrp="1" noChangeArrowheads="1"/>
          </p:cNvSpPr>
          <p:nvPr>
            <p:ph type="title"/>
          </p:nvPr>
        </p:nvSpPr>
        <p:spPr>
          <a:xfrm>
            <a:off x="-26172" y="16647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1.3</a:t>
            </a:r>
            <a:r>
              <a:rPr lang="en-IN" altLang="en-US" dirty="0" smtClean="0"/>
              <a:t> </a:t>
            </a:r>
            <a:r>
              <a:rPr altLang="en-US" dirty="0" smtClean="0"/>
              <a:t>The Nature of Scientific Inquiry (cont.)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9975"/>
            <a:ext cx="8229600" cy="203832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cs typeface="Times New Roman" pitchFamily="18" charset="0"/>
              </a:rPr>
              <a:t>How or why things happen are explained using a</a:t>
            </a:r>
            <a:r>
              <a:rPr lang="en-US" altLang="en-US" dirty="0" smtClean="0"/>
              <a:t> </a:t>
            </a:r>
          </a:p>
          <a:p>
            <a:pPr lvl="1" eaLnBrk="1" hangingPunct="1">
              <a:defRPr/>
            </a:pPr>
            <a:r>
              <a:rPr lang="en-US" altLang="en-US" dirty="0" smtClean="0">
                <a:cs typeface="Times New Roman" pitchFamily="18" charset="0"/>
              </a:rPr>
              <a:t>Hypothesis: A tentative (or untested) explanation</a:t>
            </a:r>
            <a:r>
              <a:rPr lang="en-US" altLang="en-US" dirty="0" smtClean="0"/>
              <a:t> </a:t>
            </a:r>
          </a:p>
          <a:p>
            <a:pPr lvl="1" eaLnBrk="1" hangingPunct="1">
              <a:defRPr/>
            </a:pPr>
            <a:r>
              <a:rPr lang="en-US" altLang="en-US" dirty="0" smtClean="0">
                <a:cs typeface="Times New Roman" pitchFamily="18" charset="0"/>
              </a:rPr>
              <a:t>Theory: A well-tested and widely accepted view that the scientific community agrees, best explains certain observable facts.</a:t>
            </a:r>
            <a:endParaRPr lang="en-US" alt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-26172" y="16647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1.3</a:t>
            </a:r>
            <a:r>
              <a:rPr lang="en-IN" altLang="en-US" dirty="0" smtClean="0"/>
              <a:t> </a:t>
            </a:r>
            <a:r>
              <a:rPr altLang="en-US" dirty="0" smtClean="0"/>
              <a:t>The Nature of Scientific Inquiry (cont.)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9976"/>
            <a:ext cx="8229600" cy="2227734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Scientific method</a:t>
            </a:r>
            <a:r>
              <a:rPr lang="en-US" altLang="en-US" dirty="0" smtClean="0"/>
              <a:t> 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Scientific method involves</a:t>
            </a:r>
            <a:r>
              <a:rPr lang="en-US" altLang="en-US" dirty="0" smtClean="0"/>
              <a:t> </a:t>
            </a:r>
            <a:r>
              <a:rPr lang="en-US" altLang="en-US" dirty="0" smtClean="0">
                <a:cs typeface="Times New Roman" pitchFamily="18" charset="0"/>
              </a:rPr>
              <a:t>gathering facts through observations and formulation of hypotheses and theories.</a:t>
            </a:r>
          </a:p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There is no fixed path that scientists follow that leads to scientific knowledge</a:t>
            </a:r>
            <a:r>
              <a:rPr lang="en-US" alt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-26988" y="16647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1.4</a:t>
            </a:r>
            <a:r>
              <a:rPr lang="en-IN" altLang="en-US" dirty="0" smtClean="0"/>
              <a:t> </a:t>
            </a:r>
            <a:r>
              <a:rPr altLang="en-US" dirty="0" smtClean="0"/>
              <a:t>Earth as a System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15382"/>
            <a:ext cx="8229600" cy="2650447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Earth is a planet that is</a:t>
            </a:r>
            <a:r>
              <a:rPr lang="en-US" altLang="en-US" dirty="0" smtClean="0"/>
              <a:t> small and self-contained.</a:t>
            </a:r>
          </a:p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Earth’s four spheres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Hydrosphere</a:t>
            </a:r>
          </a:p>
          <a:p>
            <a:pPr lvl="1" eaLnBrk="1" hangingPunct="1"/>
            <a:r>
              <a:rPr lang="en-US" altLang="en-US" dirty="0" smtClean="0"/>
              <a:t>Atmosphere</a:t>
            </a:r>
          </a:p>
          <a:p>
            <a:pPr lvl="1" eaLnBrk="1" hangingPunct="1"/>
            <a:r>
              <a:rPr lang="en-US" altLang="en-US" dirty="0" smtClean="0"/>
              <a:t>Biosphere</a:t>
            </a:r>
          </a:p>
          <a:p>
            <a:pPr lvl="1" eaLnBrk="1" hangingPunct="1"/>
            <a:r>
              <a:rPr lang="en-US" altLang="en-US" dirty="0" smtClean="0"/>
              <a:t>Solid Earth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>
          <a:xfrm>
            <a:off x="-8754" y="16647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A View of Earth from the Moon</a:t>
            </a:r>
          </a:p>
        </p:txBody>
      </p:sp>
      <p:pic>
        <p:nvPicPr>
          <p:cNvPr id="18435" name="Picture 1" descr="EOG_12e_Figure_01_09a"/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803" y="1032896"/>
            <a:ext cx="5028045" cy="5113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TextBox 3"/>
          <p:cNvSpPr txBox="1">
            <a:spLocks noChangeArrowheads="1"/>
          </p:cNvSpPr>
          <p:nvPr/>
        </p:nvSpPr>
        <p:spPr bwMode="auto">
          <a:xfrm>
            <a:off x="8203503" y="684940"/>
            <a:ext cx="7699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 smtClean="0">
                <a:hlinkClick r:id="rId3"/>
              </a:rPr>
              <a:t>Video</a:t>
            </a: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17418"/>
            <a:ext cx="9144001" cy="1077913"/>
          </a:xfrm>
        </p:spPr>
        <p:txBody>
          <a:bodyPr/>
          <a:lstStyle/>
          <a:p>
            <a:pPr eaLnBrk="1" hangingPunct="1">
              <a:spcBef>
                <a:spcPts val="1925"/>
              </a:spcBef>
              <a:defRPr/>
            </a:pPr>
            <a:r>
              <a:rPr altLang="en-US" smtClean="0"/>
              <a:t>The Intersection of Three Spheres: </a:t>
            </a:r>
            <a:r>
              <a:rPr altLang="en-US" smtClean="0">
                <a:solidFill>
                  <a:srgbClr val="FFFFFF"/>
                </a:solidFill>
              </a:rPr>
              <a:t>Atmosphere, Hydrosphere, and Geosphere</a:t>
            </a:r>
            <a:r>
              <a:rPr altLang="en-US" smtClean="0"/>
              <a:t> </a:t>
            </a:r>
            <a:endParaRPr altLang="en-US" sz="5400" smtClean="0"/>
          </a:p>
        </p:txBody>
      </p:sp>
      <p:pic>
        <p:nvPicPr>
          <p:cNvPr id="1026" name="Picture 2" descr="\\integrafs5\DeLS_Pondy\71_Pearson_US_IRDVD\08. Working_Folder\Copyright Removed Jpegs\Lutgens_EOG_13e\Chapter01\Jpegs_Labeled\EOG_13e_Figure_01_1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049" y="1905015"/>
            <a:ext cx="6187791" cy="409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-18279" y="16647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1.4</a:t>
            </a:r>
            <a:r>
              <a:rPr lang="en-IN" altLang="en-US" dirty="0" smtClean="0"/>
              <a:t> </a:t>
            </a:r>
            <a:r>
              <a:rPr altLang="en-US" dirty="0" smtClean="0"/>
              <a:t>Earth as a System (cont.)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46143"/>
            <a:ext cx="8229600" cy="3107799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cs typeface="Times New Roman" pitchFamily="18" charset="0"/>
              </a:rPr>
              <a:t>Earth is a dynamic planet with many interacting parts or spheres</a:t>
            </a:r>
            <a:r>
              <a:rPr lang="en-US" altLang="en-US" dirty="0" smtClean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cs typeface="Times New Roman" pitchFamily="18" charset="0"/>
              </a:rPr>
              <a:t>Parts of the Earth system are linked </a:t>
            </a:r>
            <a:endParaRPr lang="en-US" altLang="en-US" dirty="0" smtClean="0"/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cs typeface="Times New Roman" pitchFamily="18" charset="0"/>
              </a:rPr>
              <a:t>It is characterized by processes that</a:t>
            </a:r>
            <a:endParaRPr lang="en-US" altLang="en-US" dirty="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>
                <a:cs typeface="Times New Roman" pitchFamily="18" charset="0"/>
              </a:rPr>
              <a:t>vary on spatial scales from fractions of a millimeter to thousands of kilometers</a:t>
            </a:r>
            <a:r>
              <a:rPr lang="en-US" altLang="en-US" dirty="0" smtClean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 smtClean="0">
                <a:cs typeface="Times New Roman" pitchFamily="18" charset="0"/>
              </a:rPr>
              <a:t>have time scales that range from milliseconds to billions of years</a:t>
            </a:r>
            <a:endParaRPr lang="en-US" altLang="en-US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029"/>
          <p:cNvSpPr>
            <a:spLocks noGrp="1" noChangeArrowheads="1"/>
          </p:cNvSpPr>
          <p:nvPr>
            <p:ph type="title"/>
          </p:nvPr>
        </p:nvSpPr>
        <p:spPr>
          <a:xfrm>
            <a:off x="-18279" y="16647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1.4</a:t>
            </a:r>
            <a:r>
              <a:rPr lang="en-IN" altLang="en-US" dirty="0" smtClean="0"/>
              <a:t> </a:t>
            </a:r>
            <a:r>
              <a:rPr altLang="en-US" dirty="0" smtClean="0"/>
              <a:t>Earth as a System</a:t>
            </a:r>
            <a:r>
              <a:rPr lang="en-IN" altLang="en-US" dirty="0"/>
              <a:t> (cont.)</a:t>
            </a:r>
            <a:r>
              <a:rPr altLang="en-US" dirty="0" smtClean="0"/>
              <a:t> </a:t>
            </a:r>
          </a:p>
        </p:txBody>
      </p:sp>
      <p:sp>
        <p:nvSpPr>
          <p:cNvPr id="21507" name="Rectangle 1027"/>
          <p:cNvSpPr>
            <a:spLocks noGrp="1" noChangeArrowheads="1"/>
          </p:cNvSpPr>
          <p:nvPr>
            <p:ph idx="1"/>
          </p:nvPr>
        </p:nvSpPr>
        <p:spPr>
          <a:xfrm>
            <a:off x="381772" y="1209976"/>
            <a:ext cx="8229600" cy="2227734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The Earth system is powered by</a:t>
            </a:r>
            <a:r>
              <a:rPr lang="en-US" altLang="en-US" dirty="0" smtClean="0"/>
              <a:t> the Sun, which drives external processes</a:t>
            </a:r>
          </a:p>
          <a:p>
            <a:pPr lvl="1" eaLnBrk="1" hangingPunct="1"/>
            <a:r>
              <a:rPr lang="en-US" altLang="en-US" dirty="0" smtClean="0"/>
              <a:t>In the atmosphere</a:t>
            </a:r>
          </a:p>
          <a:p>
            <a:pPr lvl="1" eaLnBrk="1" hangingPunct="1"/>
            <a:r>
              <a:rPr lang="en-US" altLang="en-US" dirty="0" smtClean="0"/>
              <a:t>In the hydrosphere</a:t>
            </a:r>
          </a:p>
          <a:p>
            <a:pPr lvl="1" eaLnBrk="1" hangingPunct="1"/>
            <a:r>
              <a:rPr lang="en-US" altLang="en-US" dirty="0" smtClean="0"/>
              <a:t>At Earth’s surface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>
          <a:xfrm>
            <a:off x="-18279" y="16647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1.4</a:t>
            </a:r>
            <a:r>
              <a:rPr lang="en-IN" altLang="en-US" dirty="0" smtClean="0"/>
              <a:t> </a:t>
            </a:r>
            <a:r>
              <a:rPr altLang="en-US" dirty="0" smtClean="0"/>
              <a:t>Earth as a System </a:t>
            </a:r>
            <a:r>
              <a:rPr lang="en-IN" altLang="en-US" dirty="0"/>
              <a:t>(cont.)</a:t>
            </a:r>
            <a:endParaRPr altLang="en-US" dirty="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9975"/>
            <a:ext cx="8229600" cy="246538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The Earth system is also powered from Earth’s interior.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Heat remaining from the Earth’s formation and heat that is continuously generated by radioactive decay powers the internal processes that produce</a:t>
            </a:r>
            <a:r>
              <a:rPr lang="en-US" altLang="en-US" dirty="0" smtClean="0"/>
              <a:t> volcanoes, earthquakes, and mountains.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>
          <a:xfrm>
            <a:off x="-18279" y="16647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1.5</a:t>
            </a:r>
            <a:r>
              <a:rPr lang="en-IN" altLang="en-US" dirty="0" smtClean="0"/>
              <a:t> </a:t>
            </a:r>
            <a:r>
              <a:rPr altLang="en-US" dirty="0" smtClean="0"/>
              <a:t>Origin and Early Evolution of Earth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381772" y="1209975"/>
            <a:ext cx="8229600" cy="3109477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The universe began with the Big Bang 13.7 billion years ago.</a:t>
            </a:r>
            <a:endParaRPr lang="en-US" altLang="en-US" dirty="0" smtClean="0">
              <a:ea typeface="ＭＳ Ｐゴシック" pitchFamily="34" charset="-128"/>
              <a:cs typeface="Calibri" pitchFamily="34" charset="0"/>
            </a:endParaRPr>
          </a:p>
          <a:p>
            <a:pPr eaLnBrk="1" hangingPunct="1"/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Earth and the other planets formed at essentially the same time out of the same material as the Sun.</a:t>
            </a:r>
            <a:endParaRPr lang="en-US" altLang="en-US" dirty="0" smtClean="0">
              <a:ea typeface="ＭＳ Ｐゴシック" pitchFamily="34" charset="-128"/>
              <a:cs typeface="Calibri" pitchFamily="34" charset="0"/>
            </a:endParaRPr>
          </a:p>
          <a:p>
            <a:pPr eaLnBrk="1" hangingPunct="1"/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The Nebular Theory</a:t>
            </a:r>
            <a:r>
              <a:rPr lang="en-US" altLang="en-US" dirty="0" smtClean="0">
                <a:ea typeface="ＭＳ Ｐゴシック" pitchFamily="34" charset="-128"/>
                <a:cs typeface="Calibri" pitchFamily="34" charset="0"/>
              </a:rPr>
              <a:t> proposes that the bodies of our solar system evolved from an enormous rotating cloud called the </a:t>
            </a:r>
            <a:r>
              <a:rPr lang="en-US" altLang="en-US" i="1" dirty="0" smtClean="0">
                <a:ea typeface="ＭＳ Ｐゴシック" pitchFamily="34" charset="-128"/>
                <a:cs typeface="Calibri" pitchFamily="34" charset="0"/>
              </a:rPr>
              <a:t>solar nebula.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382377" y="1660135"/>
            <a:ext cx="8229600" cy="4313945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Nebular Theory</a:t>
            </a:r>
            <a:endParaRPr lang="en-US" altLang="en-US" dirty="0" smtClean="0">
              <a:ea typeface="ＭＳ Ｐゴシック" pitchFamily="34" charset="-128"/>
              <a:cs typeface="Calibri" pitchFamily="34" charset="0"/>
            </a:endParaRPr>
          </a:p>
          <a:p>
            <a:pPr lvl="1" eaLnBrk="1" hangingPunct="1"/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The solar nebula consisted of hydrogen and helium in addition to microscopic dust grains.</a:t>
            </a:r>
          </a:p>
          <a:p>
            <a:pPr lvl="1" eaLnBrk="1" hangingPunct="1"/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A disturbance caused the solar nebula to slowly collapse and rotate.</a:t>
            </a:r>
          </a:p>
          <a:p>
            <a:pPr lvl="1" eaLnBrk="1" hangingPunct="1"/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The solar nebula assumed a flat, disk shape with the protosun (pre-Sun) at the center.</a:t>
            </a:r>
          </a:p>
          <a:p>
            <a:pPr lvl="1" eaLnBrk="1" hangingPunct="1"/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Inner planets began to form from metallic and rocky substances.</a:t>
            </a:r>
            <a:endParaRPr lang="en-US" altLang="en-US" dirty="0" smtClean="0">
              <a:ea typeface="ＭＳ Ｐゴシック" pitchFamily="34" charset="-128"/>
              <a:cs typeface="Calibri" pitchFamily="34" charset="0"/>
            </a:endParaRPr>
          </a:p>
          <a:p>
            <a:pPr lvl="1" eaLnBrk="1" hangingPunct="1"/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Larger outer planets began forming from fragments of ices (H</a:t>
            </a:r>
            <a:r>
              <a:rPr lang="en-US" altLang="en-US" baseline="-25000" dirty="0" smtClean="0">
                <a:ea typeface="ＭＳ Ｐゴシック" pitchFamily="34" charset="-128"/>
                <a:cs typeface="Times New Roman" pitchFamily="18" charset="0"/>
              </a:rPr>
              <a:t>2</a:t>
            </a:r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O, CO</a:t>
            </a:r>
            <a:r>
              <a:rPr lang="en-US" altLang="en-US" baseline="-25000" dirty="0" smtClean="0">
                <a:ea typeface="ＭＳ Ｐゴシック" pitchFamily="34" charset="-128"/>
                <a:cs typeface="Times New Roman" pitchFamily="18" charset="0"/>
              </a:rPr>
              <a:t>2</a:t>
            </a:r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,</a:t>
            </a:r>
            <a:r>
              <a:rPr lang="en-US" altLang="en-US" baseline="-25000" dirty="0" smtClean="0"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en-US" altLang="en-US" dirty="0" smtClean="0">
                <a:ea typeface="ＭＳ Ｐゴシック" pitchFamily="34" charset="-128"/>
                <a:cs typeface="Times New Roman" pitchFamily="18" charset="0"/>
              </a:rPr>
              <a:t>and others).</a:t>
            </a:r>
            <a:endParaRPr lang="en-US" altLang="en-US" dirty="0" smtClean="0"/>
          </a:p>
        </p:txBody>
      </p:sp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-16908" y="17418"/>
            <a:ext cx="9144000" cy="1077218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1.5</a:t>
            </a:r>
            <a:r>
              <a:rPr lang="en-IN" altLang="en-US" dirty="0" smtClean="0"/>
              <a:t> </a:t>
            </a:r>
            <a:r>
              <a:rPr altLang="en-US" dirty="0" smtClean="0"/>
              <a:t>Origin and Early Evolution of Earth </a:t>
            </a:r>
            <a:r>
              <a:rPr lang="en-IN" altLang="en-US" dirty="0"/>
              <a:t>(cont.)</a:t>
            </a:r>
            <a:endParaRPr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 noGrp="1"/>
          </p:cNvSpPr>
          <p:nvPr>
            <p:ph type="title"/>
          </p:nvPr>
        </p:nvSpPr>
        <p:spPr>
          <a:xfrm>
            <a:off x="-17463" y="16647"/>
            <a:ext cx="9126538" cy="579437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The Nebular Theory</a:t>
            </a:r>
          </a:p>
        </p:txBody>
      </p:sp>
      <p:pic>
        <p:nvPicPr>
          <p:cNvPr id="2050" name="Picture 2" descr="\\integrafs5\DeLS_Pondy\71_Pearson_US_IRDVD\08. Working_Folder\Copyright Removed Jpegs\Lutgens_EOG_13e\Chapter01\Jpegs_Labeled\EOG_13e_Figure_01_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715" y="944243"/>
            <a:ext cx="5536570" cy="5194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3"/>
          <p:cNvSpPr txBox="1">
            <a:spLocks noChangeArrowheads="1"/>
          </p:cNvSpPr>
          <p:nvPr/>
        </p:nvSpPr>
        <p:spPr bwMode="auto">
          <a:xfrm>
            <a:off x="8064159" y="684940"/>
            <a:ext cx="9455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 smtClean="0">
                <a:hlinkClick r:id="rId3"/>
              </a:rPr>
              <a:t>Tutorial</a:t>
            </a: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2"/>
          <p:cNvSpPr>
            <a:spLocks noGrp="1"/>
          </p:cNvSpPr>
          <p:nvPr>
            <p:ph idx="1"/>
          </p:nvPr>
        </p:nvSpPr>
        <p:spPr>
          <a:xfrm>
            <a:off x="382377" y="1660135"/>
            <a:ext cx="8229600" cy="4043548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latin typeface="Arial(body)"/>
                <a:ea typeface="ＭＳ Ｐゴシック" pitchFamily="34" charset="-128"/>
                <a:cs typeface="Calibri" pitchFamily="34" charset="0"/>
              </a:rPr>
              <a:t>Formation of Earth’s layered structure </a:t>
            </a:r>
          </a:p>
          <a:p>
            <a:pPr lvl="1" eaLnBrk="1" hangingPunct="1"/>
            <a:r>
              <a:rPr lang="en-US" altLang="en-US" dirty="0" smtClean="0">
                <a:latin typeface="Arial(body)"/>
                <a:ea typeface="ＭＳ Ｐゴシック" pitchFamily="34" charset="-128"/>
                <a:cs typeface="Calibri" pitchFamily="34" charset="0"/>
              </a:rPr>
              <a:t>Metals sank to the center.</a:t>
            </a:r>
          </a:p>
          <a:p>
            <a:pPr lvl="1" eaLnBrk="1" hangingPunct="1"/>
            <a:r>
              <a:rPr lang="en-US" altLang="en-US" dirty="0" smtClean="0">
                <a:latin typeface="Arial(body)"/>
                <a:ea typeface="ＭＳ Ｐゴシック" pitchFamily="34" charset="-128"/>
                <a:cs typeface="Calibri" pitchFamily="34" charset="0"/>
              </a:rPr>
              <a:t>Molten rock rose to produce a primitive crust.</a:t>
            </a:r>
          </a:p>
          <a:p>
            <a:pPr eaLnBrk="1" hangingPunct="1"/>
            <a:r>
              <a:rPr lang="en-US" altLang="en-US" dirty="0" smtClean="0">
                <a:latin typeface="Arial(body)"/>
                <a:ea typeface="ＭＳ Ｐゴシック" pitchFamily="34" charset="-128"/>
                <a:cs typeface="Calibri" pitchFamily="34" charset="0"/>
              </a:rPr>
              <a:t>Chemical differentiation established the three basic divisions of Earth’s interior (core, mantle, crust).</a:t>
            </a:r>
          </a:p>
          <a:p>
            <a:pPr eaLnBrk="1" hangingPunct="1"/>
            <a:r>
              <a:rPr lang="en-US" altLang="en-US" dirty="0" smtClean="0">
                <a:latin typeface="Arial(body)"/>
                <a:ea typeface="ＭＳ Ｐゴシック" pitchFamily="34" charset="-128"/>
                <a:cs typeface="Calibri" pitchFamily="34" charset="0"/>
              </a:rPr>
              <a:t>A primitive atmosphere evolved from volcanic gases.</a:t>
            </a:r>
          </a:p>
          <a:p>
            <a:pPr eaLnBrk="1" hangingPunct="1"/>
            <a:r>
              <a:rPr lang="en-US" altLang="en-US" dirty="0" smtClean="0">
                <a:latin typeface="Arial(body)"/>
                <a:ea typeface="ＭＳ Ｐゴシック" pitchFamily="34" charset="-128"/>
                <a:cs typeface="Calibri" pitchFamily="34" charset="0"/>
              </a:rPr>
              <a:t>The earliest primitive crust was lost to erosion and geologic processes.</a:t>
            </a:r>
            <a:endParaRPr lang="en-US" altLang="en-US" dirty="0" smtClean="0">
              <a:ea typeface="ＭＳ Ｐゴシック" pitchFamily="34" charset="-128"/>
              <a:cs typeface="Calibri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16908" y="17418"/>
            <a:ext cx="9144000" cy="1077218"/>
          </a:xfrm>
        </p:spPr>
        <p:txBody>
          <a:bodyPr/>
          <a:lstStyle/>
          <a:p>
            <a:pPr>
              <a:defRPr/>
            </a:pPr>
            <a:r>
              <a:rPr altLang="en-US" dirty="0" smtClean="0"/>
              <a:t>1.5</a:t>
            </a:r>
            <a:r>
              <a:rPr lang="en-IN" altLang="en-US" dirty="0" smtClean="0"/>
              <a:t> </a:t>
            </a:r>
            <a:r>
              <a:rPr altLang="en-US" dirty="0" smtClean="0"/>
              <a:t>Origin and Early Evolution of Earth </a:t>
            </a:r>
            <a:r>
              <a:rPr lang="en-IN" altLang="en-US" dirty="0"/>
              <a:t>(cont.)</a:t>
            </a:r>
            <a:endParaRPr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029"/>
          <p:cNvSpPr>
            <a:spLocks noGrp="1" noChangeArrowheads="1"/>
          </p:cNvSpPr>
          <p:nvPr>
            <p:ph type="title"/>
          </p:nvPr>
        </p:nvSpPr>
        <p:spPr>
          <a:xfrm>
            <a:off x="-18279" y="16647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1.6</a:t>
            </a:r>
            <a:r>
              <a:rPr lang="en-IN" altLang="en-US" dirty="0" smtClean="0"/>
              <a:t> </a:t>
            </a:r>
            <a:r>
              <a:rPr altLang="en-US" dirty="0" smtClean="0"/>
              <a:t>Earth’s Internal Structure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381772" y="1209976"/>
            <a:ext cx="8229600" cy="2978848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Earth’s internal layers can be defined by 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Chemical composition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Physical properties</a:t>
            </a:r>
          </a:p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Layers defined by composition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Crust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Mantle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Core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5"/>
          <p:cNvSpPr>
            <a:spLocks noGrp="1" noChangeArrowheads="1"/>
          </p:cNvSpPr>
          <p:nvPr>
            <p:ph type="title"/>
          </p:nvPr>
        </p:nvSpPr>
        <p:spPr>
          <a:xfrm>
            <a:off x="-18279" y="16647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1.6</a:t>
            </a:r>
            <a:r>
              <a:rPr lang="en-IN" altLang="en-US" dirty="0" smtClean="0"/>
              <a:t> </a:t>
            </a:r>
            <a:r>
              <a:rPr altLang="en-US" dirty="0" smtClean="0"/>
              <a:t>Earth’s Internal Structure</a:t>
            </a:r>
            <a:r>
              <a:rPr lang="en-IN" altLang="en-US" dirty="0"/>
              <a:t> (cont.)</a:t>
            </a:r>
            <a:endParaRPr altLang="en-US" dirty="0" smtClean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9976"/>
            <a:ext cx="8229600" cy="2517294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Four main layers of Earth are based on physical properties and hence mechanical strength</a:t>
            </a:r>
            <a:r>
              <a:rPr lang="en-US" altLang="en-US" dirty="0" smtClean="0"/>
              <a:t> </a:t>
            </a:r>
          </a:p>
          <a:p>
            <a:pPr lvl="1" eaLnBrk="1" hangingPunct="1"/>
            <a:r>
              <a:rPr lang="en-US" altLang="en-US" dirty="0" smtClean="0"/>
              <a:t>Lithosphere</a:t>
            </a:r>
          </a:p>
          <a:p>
            <a:pPr lvl="1" eaLnBrk="1" hangingPunct="1"/>
            <a:r>
              <a:rPr lang="en-US" altLang="en-US" dirty="0" smtClean="0"/>
              <a:t>Asthenosphere</a:t>
            </a:r>
          </a:p>
          <a:p>
            <a:pPr lvl="1" eaLnBrk="1" hangingPunct="1"/>
            <a:r>
              <a:rPr lang="en-US" altLang="en-US" dirty="0" smtClean="0"/>
              <a:t>Outer core</a:t>
            </a:r>
          </a:p>
          <a:p>
            <a:pPr lvl="1" eaLnBrk="1" hangingPunct="1"/>
            <a:r>
              <a:rPr lang="en-US" altLang="en-US" dirty="0" smtClean="0"/>
              <a:t>Inner core</a:t>
            </a:r>
            <a:endParaRPr lang="en-US" altLang="en-US" sz="28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type="title"/>
          </p:nvPr>
        </p:nvSpPr>
        <p:spPr>
          <a:xfrm>
            <a:off x="-18279" y="16647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1.6</a:t>
            </a:r>
            <a:r>
              <a:rPr lang="en-IN" altLang="en-US" dirty="0" smtClean="0"/>
              <a:t> </a:t>
            </a:r>
            <a:r>
              <a:rPr altLang="en-US" dirty="0" smtClean="0"/>
              <a:t>Earth’s Internal Structure</a:t>
            </a:r>
            <a:r>
              <a:rPr lang="en-IN" altLang="en-US" dirty="0"/>
              <a:t> (cont.)</a:t>
            </a:r>
            <a:endParaRPr altLang="en-US" dirty="0" smtClean="0"/>
          </a:p>
        </p:txBody>
      </p:sp>
      <p:sp>
        <p:nvSpPr>
          <p:cNvPr id="29699" name="Text Box 4"/>
          <p:cNvSpPr txBox="1">
            <a:spLocks noChangeArrowheads="1"/>
          </p:cNvSpPr>
          <p:nvPr/>
        </p:nvSpPr>
        <p:spPr bwMode="auto">
          <a:xfrm>
            <a:off x="3505200" y="6019800"/>
            <a:ext cx="2438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endParaRPr lang="en-US" altLang="en-US" sz="2400" smtClean="0">
              <a:latin typeface="Times New Roman" pitchFamily="18" charset="0"/>
            </a:endParaRPr>
          </a:p>
        </p:txBody>
      </p:sp>
      <p:pic>
        <p:nvPicPr>
          <p:cNvPr id="3074" name="Picture 2" descr="\\integrafs5\DeLS_Pondy\71_Pearson_US_IRDVD\08. Working_Folder\Copyright Removed Jpegs\Lutgens_EOG_13e\Chapter01\Jpegs_Labeled\EOG_13e_Figure_01_2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759" y="974075"/>
            <a:ext cx="6458895" cy="513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8064159" y="684940"/>
            <a:ext cx="9455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 smtClean="0">
                <a:hlinkClick r:id="rId3"/>
              </a:rPr>
              <a:t>Tutorial</a:t>
            </a: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-17807" y="16647"/>
            <a:ext cx="9126538" cy="584200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1.7</a:t>
            </a:r>
            <a:r>
              <a:rPr lang="en-IN" altLang="en-US" dirty="0" smtClean="0"/>
              <a:t> </a:t>
            </a:r>
            <a:r>
              <a:rPr altLang="en-US" dirty="0" smtClean="0"/>
              <a:t>Rocks and the Rock Cycle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9975"/>
            <a:ext cx="8229600" cy="1415185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Illustrates the interrelationships among different parts of the Earth system through various processes.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/>
          </p:nvPr>
        </p:nvSpPr>
        <p:spPr>
          <a:xfrm>
            <a:off x="-17463" y="16647"/>
            <a:ext cx="9126538" cy="584200"/>
          </a:xfrm>
        </p:spPr>
        <p:txBody>
          <a:bodyPr/>
          <a:lstStyle/>
          <a:p>
            <a:pPr eaLnBrk="1" hangingPunct="1">
              <a:defRPr/>
            </a:pPr>
            <a:r>
              <a:rPr altLang="en-US" smtClean="0"/>
              <a:t>The Rock Cycle</a:t>
            </a:r>
          </a:p>
        </p:txBody>
      </p:sp>
      <p:pic>
        <p:nvPicPr>
          <p:cNvPr id="4098" name="Picture 2" descr="\\integrafs5\DeLS_Pondy\71_Pearson_US_IRDVD\08. Working_Folder\Copyright Removed Jpegs\Lutgens_EOG_13e\Chapter01\Jpegs_Labeled\EOG_13e_Figure_01_2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182" y="778692"/>
            <a:ext cx="4987637" cy="564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3"/>
          <p:cNvSpPr txBox="1">
            <a:spLocks noChangeArrowheads="1"/>
          </p:cNvSpPr>
          <p:nvPr/>
        </p:nvSpPr>
        <p:spPr bwMode="auto">
          <a:xfrm>
            <a:off x="8064159" y="684940"/>
            <a:ext cx="9455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 smtClean="0">
                <a:hlinkClick r:id="rId3"/>
              </a:rPr>
              <a:t>Tutorial</a:t>
            </a: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>
          <a:xfrm>
            <a:off x="-26172" y="16647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1.8</a:t>
            </a:r>
            <a:r>
              <a:rPr lang="en-IN" altLang="en-US" dirty="0" smtClean="0"/>
              <a:t> </a:t>
            </a:r>
            <a:r>
              <a:rPr altLang="en-US" dirty="0" smtClean="0"/>
              <a:t>The Face of Earth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9975"/>
            <a:ext cx="8229600" cy="44646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smtClean="0">
                <a:cs typeface="Times New Roman" pitchFamily="18" charset="0"/>
              </a:rPr>
              <a:t>Earth’s surface is divided.</a:t>
            </a:r>
          </a:p>
        </p:txBody>
      </p:sp>
      <p:pic>
        <p:nvPicPr>
          <p:cNvPr id="5122" name="Picture 2" descr="\\integrafs5\DeLS_Pondy\71_Pearson_US_IRDVD\08. Working_Folder\Copyright Removed Jpegs\Lutgens_EOG_13e\Chapter01\Jpegs_Labeled\EOG_13e_Figure_01_2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072" y="1884108"/>
            <a:ext cx="8405813" cy="425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title"/>
          </p:nvPr>
        </p:nvSpPr>
        <p:spPr>
          <a:xfrm>
            <a:off x="-26172" y="16647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1.8</a:t>
            </a:r>
            <a:r>
              <a:rPr lang="en-IN" altLang="en-US" dirty="0" smtClean="0"/>
              <a:t> </a:t>
            </a:r>
            <a:r>
              <a:rPr altLang="en-US" dirty="0" smtClean="0"/>
              <a:t>The Face of Earth</a:t>
            </a:r>
            <a:r>
              <a:rPr lang="en-IN" altLang="en-US" dirty="0"/>
              <a:t> (cont.)</a:t>
            </a:r>
            <a:endParaRPr altLang="en-US" dirty="0" smtClean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9976"/>
            <a:ext cx="8229600" cy="4598642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Ocean basins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Continental margins</a:t>
            </a:r>
            <a:endParaRPr lang="en-US" altLang="en-US" dirty="0" smtClean="0"/>
          </a:p>
          <a:p>
            <a:pPr lvl="2" eaLnBrk="1" hangingPunct="1"/>
            <a:r>
              <a:rPr lang="en-US" altLang="en-US" dirty="0" smtClean="0"/>
              <a:t>Includes the continental shelf, continental slope, and the continental rise</a:t>
            </a:r>
          </a:p>
          <a:p>
            <a:pPr lvl="1" eaLnBrk="1" hangingPunct="1"/>
            <a:r>
              <a:rPr lang="en-US" altLang="en-US" dirty="0" smtClean="0"/>
              <a:t>Deep-ocean basins</a:t>
            </a:r>
          </a:p>
          <a:p>
            <a:pPr lvl="2" eaLnBrk="1" hangingPunct="1"/>
            <a:r>
              <a:rPr lang="en-US" altLang="en-US" dirty="0" smtClean="0"/>
              <a:t>Abyssal plains</a:t>
            </a:r>
          </a:p>
          <a:p>
            <a:pPr lvl="2" eaLnBrk="1" hangingPunct="1"/>
            <a:r>
              <a:rPr lang="en-US" altLang="en-US" dirty="0" smtClean="0">
                <a:cs typeface="Times New Roman" pitchFamily="18" charset="0"/>
              </a:rPr>
              <a:t>Oceanic trenches </a:t>
            </a:r>
            <a:endParaRPr lang="en-US" altLang="en-US" dirty="0" smtClean="0"/>
          </a:p>
          <a:p>
            <a:pPr lvl="2" eaLnBrk="1" hangingPunct="1"/>
            <a:r>
              <a:rPr lang="en-US" altLang="en-US" dirty="0" smtClean="0">
                <a:cs typeface="Times New Roman" pitchFamily="18" charset="0"/>
              </a:rPr>
              <a:t>Seamounts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Oceanic ridge system</a:t>
            </a:r>
            <a:endParaRPr lang="en-US" altLang="en-US" dirty="0" smtClean="0"/>
          </a:p>
          <a:p>
            <a:pPr lvl="2" eaLnBrk="1" hangingPunct="1"/>
            <a:r>
              <a:rPr lang="en-US" altLang="en-US" dirty="0" smtClean="0">
                <a:cs typeface="Times New Roman" pitchFamily="18" charset="0"/>
              </a:rPr>
              <a:t>Most prominent topographic feature on Earth</a:t>
            </a:r>
          </a:p>
          <a:p>
            <a:pPr lvl="2" eaLnBrk="1" hangingPunct="1"/>
            <a:r>
              <a:rPr lang="en-US" altLang="en-US" dirty="0" smtClean="0">
                <a:cs typeface="Times New Roman" pitchFamily="18" charset="0"/>
              </a:rPr>
              <a:t>Composed of igneous rock that has been fractured and uplifted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>
          <a:xfrm>
            <a:off x="-26172" y="16647"/>
            <a:ext cx="9126538" cy="579437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1.8</a:t>
            </a:r>
            <a:r>
              <a:rPr lang="en-IN" altLang="en-US" dirty="0" smtClean="0"/>
              <a:t> </a:t>
            </a:r>
            <a:r>
              <a:rPr altLang="en-US" dirty="0" smtClean="0"/>
              <a:t>The Face of Earth</a:t>
            </a:r>
            <a:r>
              <a:rPr lang="en-IN" altLang="en-US" dirty="0"/>
              <a:t> (cont.)</a:t>
            </a:r>
            <a:endParaRPr altLang="en-US" dirty="0" smtClean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381772" y="1209975"/>
            <a:ext cx="8229600" cy="3488429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cs typeface="Times New Roman" pitchFamily="18" charset="0"/>
              </a:rPr>
              <a:t>Earth’s surface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Continents</a:t>
            </a:r>
          </a:p>
          <a:p>
            <a:pPr lvl="1" eaLnBrk="1" hangingPunct="1"/>
            <a:r>
              <a:rPr lang="en-US" altLang="en-US" dirty="0" smtClean="0">
                <a:cs typeface="Times New Roman" pitchFamily="18" charset="0"/>
              </a:rPr>
              <a:t>Oceans</a:t>
            </a:r>
          </a:p>
          <a:p>
            <a:pPr eaLnBrk="1" hangingPunct="1"/>
            <a:r>
              <a:rPr lang="en-US" altLang="en-US" dirty="0" smtClean="0"/>
              <a:t> Continents</a:t>
            </a:r>
          </a:p>
          <a:p>
            <a:pPr lvl="1" eaLnBrk="1" hangingPunct="1"/>
            <a:r>
              <a:rPr lang="en-US" altLang="en-US" dirty="0" smtClean="0"/>
              <a:t>Mountain belts</a:t>
            </a:r>
          </a:p>
          <a:p>
            <a:pPr lvl="2" eaLnBrk="1" hangingPunct="1"/>
            <a:r>
              <a:rPr lang="en-US" altLang="en-US" dirty="0" smtClean="0"/>
              <a:t>Most prominent feature of continents</a:t>
            </a:r>
          </a:p>
          <a:p>
            <a:pPr lvl="1" eaLnBrk="1" hangingPunct="1"/>
            <a:r>
              <a:rPr lang="en-US" altLang="en-US" dirty="0" smtClean="0"/>
              <a:t>The stable interior</a:t>
            </a:r>
          </a:p>
          <a:p>
            <a:pPr lvl="2" eaLnBrk="1" hangingPunct="1"/>
            <a:r>
              <a:rPr lang="en-US" altLang="en-US" dirty="0" smtClean="0"/>
              <a:t>Shields and stable platforms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-18279" y="17418"/>
            <a:ext cx="9144001" cy="1077913"/>
          </a:xfrm>
        </p:spPr>
        <p:txBody>
          <a:bodyPr/>
          <a:lstStyle/>
          <a:p>
            <a:pPr eaLnBrk="1" hangingPunct="1">
              <a:defRPr/>
            </a:pPr>
            <a:r>
              <a:rPr altLang="en-US" dirty="0" smtClean="0"/>
              <a:t>Earth’s Mountain Belts, Stable Platforms, and Shields</a:t>
            </a:r>
          </a:p>
        </p:txBody>
      </p:sp>
      <p:pic>
        <p:nvPicPr>
          <p:cNvPr id="6146" name="Picture 2" descr="\\integrafs5\DeLS_Pondy\71_Pearson_US_IRDVD\08. Working_Folder\Copyright Removed Jpegs\Lutgens_EOG_13e\Chapter01\Jpegs_Labeled\EOG_13e_Figure_01_2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2431" y="1394402"/>
            <a:ext cx="6377551" cy="4952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3"/>
          <p:cNvSpPr txBox="1">
            <a:spLocks noChangeArrowheads="1"/>
          </p:cNvSpPr>
          <p:nvPr/>
        </p:nvSpPr>
        <p:spPr bwMode="auto">
          <a:xfrm>
            <a:off x="8064159" y="1251025"/>
            <a:ext cx="9455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 smtClean="0">
                <a:hlinkClick r:id="rId3"/>
              </a:rPr>
              <a:t>Tutorial</a:t>
            </a: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875d5e6560ba36884527413a53517d17866972f5"/>
  <p:tag name="ARTICULATE_PROJECT_OPEN" val="0"/>
</p:tagLst>
</file>

<file path=ppt/theme/theme1.xml><?xml version="1.0" encoding="utf-8"?>
<a:theme xmlns:a="http://schemas.openxmlformats.org/drawingml/2006/main" name="HA5Lect_template">
  <a:themeElements>
    <a:clrScheme name="HA5Lect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HA5Lect_template">
      <a:majorFont>
        <a:latin typeface="Arial"/>
        <a:ea typeface=""/>
        <a:cs typeface="Arial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A5Lec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A5Lect_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A5Lect_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2723</TotalTime>
  <Words>1068</Words>
  <Application>Microsoft Office PowerPoint</Application>
  <PresentationFormat>On-screen Show (4:3)</PresentationFormat>
  <Paragraphs>134</Paragraphs>
  <Slides>30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HA5Lect_template</vt:lpstr>
      <vt:lpstr>PowerPoint Presentation</vt:lpstr>
      <vt:lpstr>Learning Objectives</vt:lpstr>
      <vt:lpstr>Learning Objectives (cont.)</vt:lpstr>
      <vt:lpstr>1.1 Geology: The Science of Earth</vt:lpstr>
      <vt:lpstr>1.1 Geology: The Science of Earth (cont.)</vt:lpstr>
      <vt:lpstr>1.1 Geology: The Science of Earth (cont.)</vt:lpstr>
      <vt:lpstr>1.2 The Development of Geology</vt:lpstr>
      <vt:lpstr>The Geologic Time Scale </vt:lpstr>
      <vt:lpstr>1.3 The Nature of Scientific Inquiry</vt:lpstr>
      <vt:lpstr>1.3 The Nature of Scientific Inquiry (cont.)</vt:lpstr>
      <vt:lpstr>1.3 The Nature of Scientific Inquiry (cont.)</vt:lpstr>
      <vt:lpstr>1.4 Earth as a System</vt:lpstr>
      <vt:lpstr>A View of Earth from the Moon</vt:lpstr>
      <vt:lpstr>The Intersection of Three Spheres: Atmosphere, Hydrosphere, and Geosphere </vt:lpstr>
      <vt:lpstr>1.4 Earth as a System (cont.)</vt:lpstr>
      <vt:lpstr>1.4 Earth as a System (cont.) </vt:lpstr>
      <vt:lpstr>1.4 Earth as a System (cont.)</vt:lpstr>
      <vt:lpstr>1.5 Origin and Early Evolution of Earth</vt:lpstr>
      <vt:lpstr>1.5 Origin and Early Evolution of Earth (cont.)</vt:lpstr>
      <vt:lpstr>The Nebular Theory</vt:lpstr>
      <vt:lpstr>1.5 Origin and Early Evolution of Earth (cont.)</vt:lpstr>
      <vt:lpstr>1.6 Earth’s Internal Structure</vt:lpstr>
      <vt:lpstr>1.6 Earth’s Internal Structure (cont.)</vt:lpstr>
      <vt:lpstr>1.6 Earth’s Internal Structure (cont.)</vt:lpstr>
      <vt:lpstr>1.7 Rocks and the Rock Cycle</vt:lpstr>
      <vt:lpstr>The Rock Cycle</vt:lpstr>
      <vt:lpstr>1.8 The Face of Earth</vt:lpstr>
      <vt:lpstr>1.8 The Face of Earth (cont.)</vt:lpstr>
      <vt:lpstr>1.8 The Face of Earth (cont.)</vt:lpstr>
      <vt:lpstr>Earth’s Mountain Belts, Stable Platforms, and Shields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Essentials of Geology, 12e</dc:title>
  <dc:creator>Bill D. Richards</dc:creator>
  <cp:lastModifiedBy>Coumoudha Sundararajan, Integra-PDY, IN</cp:lastModifiedBy>
  <cp:revision>221</cp:revision>
  <cp:lastPrinted>1601-01-01T00:00:00Z</cp:lastPrinted>
  <dcterms:created xsi:type="dcterms:W3CDTF">2005-08-30T18:37:22Z</dcterms:created>
  <dcterms:modified xsi:type="dcterms:W3CDTF">2017-06-29T13:33:06Z</dcterms:modified>
</cp:coreProperties>
</file>