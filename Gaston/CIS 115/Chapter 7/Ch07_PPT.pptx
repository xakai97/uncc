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65" r:id="rId1"/>
  </p:sldMasterIdLst>
  <p:notesMasterIdLst>
    <p:notesMasterId r:id="rId77"/>
  </p:notesMasterIdLst>
  <p:handoutMasterIdLst>
    <p:handoutMasterId r:id="rId78"/>
  </p:handoutMasterIdLst>
  <p:sldIdLst>
    <p:sldId id="638" r:id="rId2"/>
    <p:sldId id="257" r:id="rId3"/>
    <p:sldId id="463" r:id="rId4"/>
    <p:sldId id="628" r:id="rId5"/>
    <p:sldId id="629" r:id="rId6"/>
    <p:sldId id="484" r:id="rId7"/>
    <p:sldId id="543" r:id="rId8"/>
    <p:sldId id="568" r:id="rId9"/>
    <p:sldId id="630" r:id="rId10"/>
    <p:sldId id="546" r:id="rId11"/>
    <p:sldId id="547" r:id="rId12"/>
    <p:sldId id="506" r:id="rId13"/>
    <p:sldId id="631" r:id="rId14"/>
    <p:sldId id="570" r:id="rId15"/>
    <p:sldId id="571" r:id="rId16"/>
    <p:sldId id="595" r:id="rId17"/>
    <p:sldId id="520" r:id="rId18"/>
    <p:sldId id="632" r:id="rId19"/>
    <p:sldId id="633" r:id="rId20"/>
    <p:sldId id="572" r:id="rId21"/>
    <p:sldId id="551" r:id="rId22"/>
    <p:sldId id="588" r:id="rId23"/>
    <p:sldId id="597" r:id="rId24"/>
    <p:sldId id="634" r:id="rId25"/>
    <p:sldId id="641" r:id="rId26"/>
    <p:sldId id="642" r:id="rId27"/>
    <p:sldId id="598" r:id="rId28"/>
    <p:sldId id="600" r:id="rId29"/>
    <p:sldId id="601" r:id="rId30"/>
    <p:sldId id="602" r:id="rId31"/>
    <p:sldId id="603" r:id="rId32"/>
    <p:sldId id="604" r:id="rId33"/>
    <p:sldId id="606" r:id="rId34"/>
    <p:sldId id="607" r:id="rId35"/>
    <p:sldId id="643" r:id="rId36"/>
    <p:sldId id="640" r:id="rId37"/>
    <p:sldId id="610" r:id="rId38"/>
    <p:sldId id="611" r:id="rId39"/>
    <p:sldId id="635" r:id="rId40"/>
    <p:sldId id="636" r:id="rId41"/>
    <p:sldId id="612" r:id="rId42"/>
    <p:sldId id="613" r:id="rId43"/>
    <p:sldId id="614" r:id="rId44"/>
    <p:sldId id="616" r:id="rId45"/>
    <p:sldId id="617" r:id="rId46"/>
    <p:sldId id="618" r:id="rId47"/>
    <p:sldId id="619" r:id="rId48"/>
    <p:sldId id="620" r:id="rId49"/>
    <p:sldId id="623" r:id="rId50"/>
    <p:sldId id="624" r:id="rId51"/>
    <p:sldId id="625" r:id="rId52"/>
    <p:sldId id="626" r:id="rId53"/>
    <p:sldId id="627" r:id="rId54"/>
    <p:sldId id="644" r:id="rId55"/>
    <p:sldId id="646" r:id="rId56"/>
    <p:sldId id="647" r:id="rId57"/>
    <p:sldId id="648" r:id="rId58"/>
    <p:sldId id="650" r:id="rId59"/>
    <p:sldId id="649" r:id="rId60"/>
    <p:sldId id="445" r:id="rId61"/>
    <p:sldId id="446" r:id="rId62"/>
    <p:sldId id="518" r:id="rId63"/>
    <p:sldId id="637" r:id="rId64"/>
    <p:sldId id="470" r:id="rId65"/>
    <p:sldId id="651" r:id="rId66"/>
    <p:sldId id="498" r:id="rId67"/>
    <p:sldId id="652" r:id="rId68"/>
    <p:sldId id="653" r:id="rId69"/>
    <p:sldId id="654" r:id="rId70"/>
    <p:sldId id="655" r:id="rId71"/>
    <p:sldId id="656" r:id="rId72"/>
    <p:sldId id="503" r:id="rId73"/>
    <p:sldId id="657" r:id="rId74"/>
    <p:sldId id="504" r:id="rId75"/>
    <p:sldId id="505" r:id="rId7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94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120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7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07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A978686-4865-4F85-AF5D-40F72F2AACD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F2113910-3D31-4FEF-9537-2FFE026D4F6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69E4D333-7A37-4CCC-A6EE-A99B313B332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F11DC385-6D11-4655-8148-E817DFFB54C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4D86BB7-6874-4B65-BA02-57719EDA27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67CD03A-201B-4FD7-9983-C57B0986249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AC9D69A-B947-4533-9423-7FD1BF880D3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97C2A0ED-69A8-479D-A9F2-3D99D2B58F3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66802857-CB54-4B59-8EA1-29B659D903F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EE43C029-FE4D-4253-84B5-11DE0E6A0C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9F89351F-12CF-4A41-9DD0-92D3DEAD09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4FAE8D4-F00B-4791-81E1-CD9043EF93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A930BCF7-C7AE-47B8-8DF0-8103DA6151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39FC76D-F6A6-4957-92F8-D83FB47B1203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1E68533-704A-4AEA-A6F3-D0CD9A85B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A43F4704-49C6-41B2-BC09-7721E454B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5A6BAD1-9EBF-49D3-9005-4C0E485F9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94E1AD7-0CC1-4119-8788-1B1F19529AF0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A5D7D72-C0BF-4350-847D-0BF1ABDC9A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5B3A056-1888-4873-86BD-8380636A3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76399CB2-3EB1-40CA-B9D8-57407ADF95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FEB99FBF-A2B9-405A-A38C-E4A7D6B8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482FCDFD-5FD3-4220-9D29-F5E5333C8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E0AF843-086E-44C1-8D9B-18191AE82BA1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76F036C-6B06-4D68-B548-DA97CE9754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3DF666F3-B51D-4E64-B243-9A2E8A981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2DDF8409-A880-4B92-8B75-403C382D9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B6B7CE-9C2D-41F3-A965-ECB3D7B4998C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346D1582-36EE-4269-9C69-1322197474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C61DDAD1-5F5D-4710-AA06-0681CEAEB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EBC6245A-0787-4406-AA49-C82BA8987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AB653D-719F-408B-9373-BDD17E851C75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21A3EF18-4FF9-4168-BD8C-B693FD2617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AF036B6E-249F-4C2D-8784-B046DED1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A8612EA4-198C-43AB-8874-0CB1FD003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63A2EE-6109-41F2-8A90-24478D1EE569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15287B5B-3F12-4B90-8994-AF24BB07E6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658F84FF-B4DF-4FD4-A35C-2BB162D01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4188466D-D568-4712-9EB8-C1B2A4E3F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B2A8333-6578-4B3F-9BCB-3EE5CDC22804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F43B5F7D-685A-44B7-96DA-3EF978DBD3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AA2E052-2156-4A6F-9DFE-D9EB4341D4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A4AE32C-8EBE-4CE4-B7C2-5B9EE90DE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B90416-AEB1-4EE0-8EA9-46584BD70352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F7F65181-247D-4296-B148-889E2C8EA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7330D9B-4B94-40B0-91D0-D21A939C3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2128B1D7-8385-4B10-A752-040F2175CC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85BA53-EAE0-494F-99ED-DCEB07493B1A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289AF366-0481-4516-836F-D8F224735E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9134812-0910-4A20-A312-CB78DE001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B46B16F-F57C-48A5-9C1D-918906355F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B9A7FF3-F829-43D0-9FD3-0EE4DDD5287E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055869D6-40CC-4B76-B168-19E8383295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C19604F-1FC1-46BB-8772-6331DFF25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99C592F6-F1F3-4B45-B1E4-6103D169F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C8CB6-E424-42C2-9103-FBDC60E21BFB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685368FD-2403-4575-B18C-13148B9BBB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255BC096-FE5B-4D2D-8538-91D11BE16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8E1B7ED6-90AD-4FDD-9529-B053DD9D6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01FA83-E0E3-4B55-8ABC-7323451F1F10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DCCD9364-17D5-4A5F-A27E-2646249915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4DF23C84-5C6E-4010-9A52-BD8CD4A6A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D387A707-DE2B-4242-9BE3-161A53058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E8726B-23BB-4481-9CBA-5671699D8D77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D75A966A-8ECC-4C2C-9506-B10FEBCEB0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D32CF70E-1BAC-427D-9E13-E1A272069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59C8B367-7D79-45A0-A1DA-799763048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48D73A-4567-41DD-B9F5-D74449579349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BD454B2A-C522-484B-8710-C4CE7E2E2D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74ED3250-D3DF-488A-B0CB-9216A03E1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D8456F5-1294-4464-9DFD-8335855E1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0F1B11-EFF4-4553-884F-70391EBAB3FF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4950B0D6-9540-4EBD-8E58-0A325D9E51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103757BC-227C-4C52-878D-647074991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026C6336-E5DA-440F-A8F8-CA6EFF9C9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1525E2-EBF4-48F1-81E2-7D623CB735DE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1E8F7D6-1C1D-476F-8FF9-66E4D509FE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80D991E2-8668-4A90-A769-D32A5F87B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3E25AEF1-C809-49F6-8529-3E0B61445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F99B0C4-B4EE-47ED-9156-5782C82AF3BC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9863BDFC-2B17-4D24-B1E6-FB13B634E6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071670F1-2200-4648-8C77-1C00A441F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ED3EA25E-2176-4470-98AA-F2730E4D5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96744C-9995-4C6D-8BC7-6D1659AA9C6E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F69E740C-194E-4348-9C84-2A8C8E2C9D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292C5018-0B07-4374-9D77-BA3CB0D98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8E5A71B8-E3F0-4F87-BF89-9BFB78F8C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626BDAD-07F0-401D-BF8C-6CCD299DB707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7620B0BE-0211-489A-9EF0-46256AA61F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A4ED9F20-4DFC-40A4-BD65-BB7896E33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7D3A35E8-BEF0-4A08-834F-D257A9ECB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C4AE195-5430-4CC8-9F73-707273201BD3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2A965A3B-2626-459F-A5D3-67F64C544D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A8C8C15-AF02-4648-82EC-CB30C0205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399189E5-61CE-42B9-B889-F20B28BB5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DE10EA-3C89-4575-A136-874286A93F66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446F358-8A31-40E1-A685-BEC281DCB7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20F56375-D21C-4034-A0ED-888AD9139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813DF6C2-7A63-4DFD-B4E0-724688A7E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BCEFF3D-3B51-469B-A3FD-6BC2B7C0B2D9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53EE378F-5B64-4C20-989F-2D4B15DBAD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60571433-4EB6-49B2-AF8D-11871FC02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F016A30D-9C27-4C83-B9B5-9FFD0930E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0A1DCCE-3EF3-4257-B019-3DDBF4F115A7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2906A7B0-92E7-439C-B277-66EFE18C26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88C78A3D-02A8-4CFF-B211-82B864AA1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7B76AE44-5AD5-465C-A431-AD3E653E4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A4F640-D3B9-4F6C-BB47-A8FE1E2ED47C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0E6EB39A-CB25-434F-BD08-ABDF359113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DCD16CE2-F7EC-4E14-9149-B72432BF8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A27126C1-81B8-427A-9025-FB77FC241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11600D-3AF4-466F-B70C-1BEB74BACD8D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62C5EBBF-1C5D-4142-8C90-6EAFA4F550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2A4A0421-81FC-4FB8-B057-EEF61109F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2160B09A-1EF2-4146-B2AB-A98DD6BDE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234C17-8219-4AC3-9313-74E294E1613A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C947EDD2-B841-4F28-BD70-5C6BE2CC44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5E6344CE-3708-45F9-93D7-9D23D2B8F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BA017F7E-62B0-403E-92D4-9D17359E7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7E301D0-5117-4F0E-8983-D75F565F88BA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CD15D8B9-91A6-44C7-B253-4057EAFACFD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825CE0A5-65F3-4D36-818E-7738F7AE0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AEE33825-EF31-4784-B91C-FCDA991B7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1170EB2-0001-44F4-869B-D35470E6A7BB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DF5F597D-2D72-4865-A88C-6278B7C5FF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DEE95322-A21E-45F6-803E-AE8AAEB4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6184C954-08C5-43D4-9AF7-8F1659341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7871B68-B613-4235-8086-837CF293A428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EB5103F4-CE2B-4DFA-AA65-547E19CD08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B9CAB272-70FE-4275-8864-90B4E455E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F5985B80-81DD-4E2F-8EAC-4C67061E1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851A8D5-CC6C-47AD-BC2E-CB061BA42399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7DF67B4D-303A-4FCA-972C-544CB1AD33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074CA57C-201B-4D09-ACB3-B957A87E9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58352D94-B9E4-4E97-9DFC-7E4105D28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880220F-812F-481D-8EC4-BDA68F45B85F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BCEE45FA-A88B-4EBF-AC74-D295106FE4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4A4C066A-2450-49E2-BC8A-32250BB1E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BC958F44-B6A9-4BDD-BE57-28CB9D150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2BFDAC-620A-4C9C-AB80-505B8AB22D95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9557B81B-3380-497B-9920-44E82BDB4C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537DC764-3413-43CA-B420-4C9A4FF6D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82C3CA89-67EA-4F62-AD8C-E0924F467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238E9E-F4A7-4B4F-9320-F19A7DF0BEDD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CD9060EA-54AD-46B2-B584-8B5CEA6824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14C27032-F17E-434E-8CE2-7DD422F89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6EE5F3D8-F9E1-4E2B-A937-6BB19ECB4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8936F8D-E089-43D3-AA01-EBD5F71DA9D9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E4E53814-A6A0-46D1-9F0D-BAC9FECF8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C9ABCE2E-98FD-4F41-A9B8-59A1C2DF4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D9A28475-8D0E-4AF4-B71E-039018C19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FE05F9-3C17-420E-AC1B-6D4A526D329C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A2FF34BA-9FB3-496E-829B-65165AC396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88FBD384-BA03-4EE4-8942-C9B7DC9C4A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ACCD453D-3C0D-4E05-9811-3F1271B22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B6CF0AC-C799-400E-9245-6B5DB9374CA9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F8D1BA9D-80BF-4CF5-8621-CCE29DA9E3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DF4F0CAC-3177-4D2E-97D2-06B098584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F1DDE79B-F412-4FA2-959B-99C7F34D2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67AE01B-DE43-4E7B-B605-B6357DAEDEAB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422CF7EE-FD02-44AC-83F0-97D1500DB0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B7B4A480-A76F-4B64-BC1F-1534F8395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72985E8A-1164-4B6A-8AFD-288EE83D5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234149-BF33-4B67-842C-975747CB4A47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6A297A8D-5C99-45CB-AD63-72151BCED9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FFF26BF9-41E7-445F-A6DF-4CDF5496D0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F8E0C9C1-E500-4002-9EB5-F5D1D1C4C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8EBDB13-8CD5-4082-94D1-9756197F64E8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5697300A-F3C0-4493-A5AC-31202A2067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3722DE62-38EE-4110-9B4D-E9CEFA1D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737E74AA-3500-40A2-9909-AD9C76533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953BF8F-BC27-4DA3-B28C-5013398E783A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C3DA2A10-310E-4AFF-AF39-A425DBB83A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68381B34-1C12-4A48-BBA5-D148877D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8512DBCD-7F37-419A-996F-B80ACC179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C98A94-1160-45AA-A61F-A7D6EF395DED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740A2B45-9FC2-4A21-A8AB-91BF993FC0A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1DD58C96-3AD1-4697-A82C-7E0FC0209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CD1CCB11-0440-46FF-936A-ED176CE983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045F3AC-5277-4BAE-8B5D-E25754CFD1C8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F3D71949-E86A-42FC-A5E2-048FD48290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513B6C9D-7A45-4382-9A2A-35EAA9672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A5C3337A-7D3D-418D-A10F-85FD54970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29FD90-8BDD-441C-A766-CC345C674F34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3B48F810-266A-457E-A8C1-880E4D6B53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F94D105A-6BEC-4FD1-A6A7-D2E28B624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F4D84D59-356E-455D-9DA5-326920B23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2C0AB0-E708-4F24-8D04-03444BE0F2AC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E69F4303-724D-41B9-AF43-B540C9C005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E773B3BF-9FAD-4642-905E-A447F35B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143C959C-5AAC-4302-8801-1CBD774F8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95ECE05-7674-48F7-A031-5CCCD21C5E72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>
            <a:extLst>
              <a:ext uri="{FF2B5EF4-FFF2-40B4-BE49-F238E27FC236}">
                <a16:creationId xmlns:a16="http://schemas.microsoft.com/office/drawing/2014/main" id="{B3B73B77-1F34-40FF-B33C-133FA97044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>
            <a:extLst>
              <a:ext uri="{FF2B5EF4-FFF2-40B4-BE49-F238E27FC236}">
                <a16:creationId xmlns:a16="http://schemas.microsoft.com/office/drawing/2014/main" id="{AF4C81B1-63B7-4DB0-BEE6-811FB6E05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0356" name="Slide Number Placeholder 3">
            <a:extLst>
              <a:ext uri="{FF2B5EF4-FFF2-40B4-BE49-F238E27FC236}">
                <a16:creationId xmlns:a16="http://schemas.microsoft.com/office/drawing/2014/main" id="{2FD5BB95-F7BD-4E72-9C7A-A01088BB2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F3D9C37-BDBC-4917-9543-7179CD5AD3C6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>
            <a:extLst>
              <a:ext uri="{FF2B5EF4-FFF2-40B4-BE49-F238E27FC236}">
                <a16:creationId xmlns:a16="http://schemas.microsoft.com/office/drawing/2014/main" id="{E314E687-62AF-45B0-86A0-1C16B29B86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>
            <a:extLst>
              <a:ext uri="{FF2B5EF4-FFF2-40B4-BE49-F238E27FC236}">
                <a16:creationId xmlns:a16="http://schemas.microsoft.com/office/drawing/2014/main" id="{AAE391D2-AE72-4D4E-9B8D-9D4D35FE9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2404" name="Slide Number Placeholder 3">
            <a:extLst>
              <a:ext uri="{FF2B5EF4-FFF2-40B4-BE49-F238E27FC236}">
                <a16:creationId xmlns:a16="http://schemas.microsoft.com/office/drawing/2014/main" id="{C275F696-D250-46D2-9D8D-AA8124F6F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B8FEEC-87B7-4C71-99AA-E0073E12DBE9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>
            <a:extLst>
              <a:ext uri="{FF2B5EF4-FFF2-40B4-BE49-F238E27FC236}">
                <a16:creationId xmlns:a16="http://schemas.microsoft.com/office/drawing/2014/main" id="{9DB03FE5-F11B-4300-A526-35DACB7887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>
            <a:extLst>
              <a:ext uri="{FF2B5EF4-FFF2-40B4-BE49-F238E27FC236}">
                <a16:creationId xmlns:a16="http://schemas.microsoft.com/office/drawing/2014/main" id="{895D4D14-8631-4789-BFFB-ECF25F737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4452" name="Slide Number Placeholder 3">
            <a:extLst>
              <a:ext uri="{FF2B5EF4-FFF2-40B4-BE49-F238E27FC236}">
                <a16:creationId xmlns:a16="http://schemas.microsoft.com/office/drawing/2014/main" id="{2F425FEF-FE55-4A7F-B3AA-ADDD114FD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F0C503-8FCE-4EDB-9CCE-3A68753C2C56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41F50BDD-7EA5-4CFC-B15F-963685B25A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7F3DDC7A-F8E6-4AAD-87E7-94D8472F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34BFCB2C-32FC-4675-96A1-63A4B8B26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664DF12-2391-4A42-84EA-BAF2898059CD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DCB8AC68-9304-4DC3-976D-6824860271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7813376F-5339-42AD-8A3E-938D24764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BBA5C104-1B94-4C10-90BF-117568252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E49F953-2E0B-45B4-901D-A8EE9A99AC20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956B442E-E69B-44DC-BADC-FC60511253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08A79950-1754-44E1-BD3D-F47A5F5B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256D13E6-09AB-4716-8E9D-A40AD06FB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AC6132-45AC-4EA3-BB7A-DAC8B456AF79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7EDC22BB-8ED0-4338-9398-D51EE0E6CC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19146972-D1A4-4E5F-A551-7CD814E789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863BC045-1BE2-411F-AA31-00AB5484E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AFCFEF-1585-49CC-8F83-59C2A350BE24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57D238C5-C4DE-4394-8B39-DFEF49D68A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7CF60607-6FAF-4142-8E1E-F581A4DDA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83E9AD4D-5223-4EBF-8DEC-8F4AD7E3F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072E04-41FA-4B99-B770-D01F06D5D518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3EA3B78B-5302-4CA7-89D9-9BBCBDBD4B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FA34D379-4D78-46E3-97CC-B0D569966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18323CB9-F8CE-4028-945A-E1A39EA85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56D7A7-8102-48B5-8A82-65845B3E1311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69ED5F71-532C-4F82-922A-9058634E44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ED66D8C7-7119-4CE2-A2CF-59F6B303E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596A8FBB-C363-4FFE-A1B7-D50EF8D87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9150F5C-60E0-497D-9218-87F25CC038C3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6C732DA9-74E0-4958-A975-27AC4995487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D2E5D1DF-C08F-42D7-93F2-CE69C795A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7034CDD2-0782-4A78-9745-A21E93A1D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5603C7-9A98-4E04-8927-309CCCF705BA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FC15C98A-F516-4307-B9C3-5D5ADC5C0E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679E1453-DE5C-4C97-B22A-9810D9E02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C29780DE-2724-40F8-9D8C-5F1F7A5D9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EADB60-F3D3-4E16-8372-24AA4DB8D429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FE9CCA46-7E18-4878-95DB-51068FF1E8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DB268018-C6AF-4693-82F9-ECDF608BB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F3636141-815D-4632-995A-960223F6D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D5BB13-3AF3-47F4-B3E7-4CA2E8745478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B9C8C225-98E5-4AF5-999C-8295EE00E0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D80EB46F-3DA0-45C4-89D5-29130683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FBFF0E08-4578-4440-BF3A-294C56373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DBA2E2-46C8-4C38-8742-F9A784A3C202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F09004C0-7003-4C67-B162-4A5074F26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0374C27-5018-4E2C-A615-4ACF071B3841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8ADA9E35-4CB6-4FDB-8C56-1E33DDF79D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F6C3EF37-2648-44B1-B038-61E8FD9AE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02F00A45-B250-43DA-8A5F-B6A3FBD5F9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3CA3573-F266-4E1F-A1A6-4CA49231FD6B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580EFAD0-07E2-4FB4-885C-972DB2218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39B8483E-861A-4876-806B-FAC4EF78C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>
            <a:extLst>
              <a:ext uri="{FF2B5EF4-FFF2-40B4-BE49-F238E27FC236}">
                <a16:creationId xmlns:a16="http://schemas.microsoft.com/office/drawing/2014/main" id="{D5CB5B09-DB44-423E-A517-55AB6D5AB1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38A5A1C-C8E3-4FBA-8E50-228715B27B68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133123" name="Rectangle 2">
            <a:extLst>
              <a:ext uri="{FF2B5EF4-FFF2-40B4-BE49-F238E27FC236}">
                <a16:creationId xmlns:a16="http://schemas.microsoft.com/office/drawing/2014/main" id="{1D460BBA-C615-495C-A987-DFCDFFBBC2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>
            <a:extLst>
              <a:ext uri="{FF2B5EF4-FFF2-40B4-BE49-F238E27FC236}">
                <a16:creationId xmlns:a16="http://schemas.microsoft.com/office/drawing/2014/main" id="{DE8BAA35-DF40-4AB3-BD4D-CCF8F8CF2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>
            <a:extLst>
              <a:ext uri="{FF2B5EF4-FFF2-40B4-BE49-F238E27FC236}">
                <a16:creationId xmlns:a16="http://schemas.microsoft.com/office/drawing/2014/main" id="{E91568B1-028A-4A55-9C4B-A16ED7BDAE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ADEA6AD-1FDD-4A17-8079-123B2C70FB9D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274AB1D9-9F2F-47F1-AA69-286362BB3C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3A459DAB-699F-4E5E-B6CB-0B8BA61BB9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>
            <a:extLst>
              <a:ext uri="{FF2B5EF4-FFF2-40B4-BE49-F238E27FC236}">
                <a16:creationId xmlns:a16="http://schemas.microsoft.com/office/drawing/2014/main" id="{17F1B180-9F7A-407C-89E2-56A824EF4A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>
            <a:extLst>
              <a:ext uri="{FF2B5EF4-FFF2-40B4-BE49-F238E27FC236}">
                <a16:creationId xmlns:a16="http://schemas.microsoft.com/office/drawing/2014/main" id="{06202DFB-A2AB-4D71-B1A0-D1154DEC5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7220" name="Slide Number Placeholder 3">
            <a:extLst>
              <a:ext uri="{FF2B5EF4-FFF2-40B4-BE49-F238E27FC236}">
                <a16:creationId xmlns:a16="http://schemas.microsoft.com/office/drawing/2014/main" id="{C4392153-A2BD-41E5-846F-3804C86BF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1C0CDB-211D-4EA5-A838-46DF24DB1314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>
            <a:extLst>
              <a:ext uri="{FF2B5EF4-FFF2-40B4-BE49-F238E27FC236}">
                <a16:creationId xmlns:a16="http://schemas.microsoft.com/office/drawing/2014/main" id="{95606FC6-E8AC-4396-B0C3-1C686768CD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>
            <a:extLst>
              <a:ext uri="{FF2B5EF4-FFF2-40B4-BE49-F238E27FC236}">
                <a16:creationId xmlns:a16="http://schemas.microsoft.com/office/drawing/2014/main" id="{C5D5D7BF-3413-443F-A87D-70DF88262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9268" name="Slide Number Placeholder 3">
            <a:extLst>
              <a:ext uri="{FF2B5EF4-FFF2-40B4-BE49-F238E27FC236}">
                <a16:creationId xmlns:a16="http://schemas.microsoft.com/office/drawing/2014/main" id="{97E3ABA0-68B8-40B3-820D-737E1C804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3DC88DD-ECD1-40C8-988E-92ABFA908509}" type="slidenum">
              <a:rPr lang="en-US" altLang="en-US"/>
              <a:pPr>
                <a:spcBef>
                  <a:spcPct val="0"/>
                </a:spcBef>
              </a:pPr>
              <a:t>65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>
            <a:extLst>
              <a:ext uri="{FF2B5EF4-FFF2-40B4-BE49-F238E27FC236}">
                <a16:creationId xmlns:a16="http://schemas.microsoft.com/office/drawing/2014/main" id="{935D51E6-A106-4B89-B0E8-F589B73E79E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>
            <a:extLst>
              <a:ext uri="{FF2B5EF4-FFF2-40B4-BE49-F238E27FC236}">
                <a16:creationId xmlns:a16="http://schemas.microsoft.com/office/drawing/2014/main" id="{FE065608-9140-4D50-913E-81082FA2B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1316" name="Slide Number Placeholder 3">
            <a:extLst>
              <a:ext uri="{FF2B5EF4-FFF2-40B4-BE49-F238E27FC236}">
                <a16:creationId xmlns:a16="http://schemas.microsoft.com/office/drawing/2014/main" id="{F77F8806-392C-491D-B2A4-AE54C681A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95E5588-21BA-473A-A80A-E7E556AEF6CD}" type="slidenum">
              <a:rPr lang="en-US" altLang="en-US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>
            <a:extLst>
              <a:ext uri="{FF2B5EF4-FFF2-40B4-BE49-F238E27FC236}">
                <a16:creationId xmlns:a16="http://schemas.microsoft.com/office/drawing/2014/main" id="{8C5329E6-694B-4B65-8EF9-5056EAB0C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>
            <a:extLst>
              <a:ext uri="{FF2B5EF4-FFF2-40B4-BE49-F238E27FC236}">
                <a16:creationId xmlns:a16="http://schemas.microsoft.com/office/drawing/2014/main" id="{7EA16838-D557-4742-92BA-01FC6E33C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364" name="Slide Number Placeholder 3">
            <a:extLst>
              <a:ext uri="{FF2B5EF4-FFF2-40B4-BE49-F238E27FC236}">
                <a16:creationId xmlns:a16="http://schemas.microsoft.com/office/drawing/2014/main" id="{12D5B5F2-1545-42C0-AA2B-F9DA8B5BB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32507A-11E0-4F08-B8A8-8381F09ACA8F}" type="slidenum">
              <a:rPr lang="en-US" altLang="en-US"/>
              <a:pPr>
                <a:spcBef>
                  <a:spcPct val="0"/>
                </a:spcBef>
              </a:pPr>
              <a:t>67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Image Placeholder 1">
            <a:extLst>
              <a:ext uri="{FF2B5EF4-FFF2-40B4-BE49-F238E27FC236}">
                <a16:creationId xmlns:a16="http://schemas.microsoft.com/office/drawing/2014/main" id="{D89FF237-D389-43E0-865F-C51B932804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5411" name="Notes Placeholder 2">
            <a:extLst>
              <a:ext uri="{FF2B5EF4-FFF2-40B4-BE49-F238E27FC236}">
                <a16:creationId xmlns:a16="http://schemas.microsoft.com/office/drawing/2014/main" id="{46EE6E90-1C12-455B-9AC3-FA9EC2487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5412" name="Slide Number Placeholder 3">
            <a:extLst>
              <a:ext uri="{FF2B5EF4-FFF2-40B4-BE49-F238E27FC236}">
                <a16:creationId xmlns:a16="http://schemas.microsoft.com/office/drawing/2014/main" id="{B9D9CEBE-22F7-41EF-92BE-55539BDA8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DF52C3-8800-458A-99C7-12D57D389666}" type="slidenum">
              <a:rPr lang="en-US" altLang="en-US"/>
              <a:pPr>
                <a:spcBef>
                  <a:spcPct val="0"/>
                </a:spcBef>
              </a:pPr>
              <a:t>68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lide Image Placeholder 1">
            <a:extLst>
              <a:ext uri="{FF2B5EF4-FFF2-40B4-BE49-F238E27FC236}">
                <a16:creationId xmlns:a16="http://schemas.microsoft.com/office/drawing/2014/main" id="{C5F4338B-8B86-4875-AFFD-24EC554FE8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7459" name="Notes Placeholder 2">
            <a:extLst>
              <a:ext uri="{FF2B5EF4-FFF2-40B4-BE49-F238E27FC236}">
                <a16:creationId xmlns:a16="http://schemas.microsoft.com/office/drawing/2014/main" id="{AE078B4A-9CFB-4759-9C65-5D92B01CA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7460" name="Slide Number Placeholder 3">
            <a:extLst>
              <a:ext uri="{FF2B5EF4-FFF2-40B4-BE49-F238E27FC236}">
                <a16:creationId xmlns:a16="http://schemas.microsoft.com/office/drawing/2014/main" id="{18E7D1E5-A3DA-4CA8-8D00-95AEA2C0B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3913457-D180-43E0-AD9E-DD13C83597DA}" type="slidenum">
              <a:rPr lang="en-US" altLang="en-US"/>
              <a:pPr>
                <a:spcBef>
                  <a:spcPct val="0"/>
                </a:spcBef>
              </a:pPr>
              <a:t>69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>
            <a:extLst>
              <a:ext uri="{FF2B5EF4-FFF2-40B4-BE49-F238E27FC236}">
                <a16:creationId xmlns:a16="http://schemas.microsoft.com/office/drawing/2014/main" id="{18EB245B-B534-44B0-B4F2-0DA593D007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>
            <a:extLst>
              <a:ext uri="{FF2B5EF4-FFF2-40B4-BE49-F238E27FC236}">
                <a16:creationId xmlns:a16="http://schemas.microsoft.com/office/drawing/2014/main" id="{5EFF8562-4CAF-4637-88BF-EEC43338D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9508" name="Slide Number Placeholder 3">
            <a:extLst>
              <a:ext uri="{FF2B5EF4-FFF2-40B4-BE49-F238E27FC236}">
                <a16:creationId xmlns:a16="http://schemas.microsoft.com/office/drawing/2014/main" id="{0C0854A2-5409-4322-AA9E-BC10643C4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5FB2C9B-A7F0-4760-AC88-3EC1C3A265E2}" type="slidenum">
              <a:rPr lang="en-US" altLang="en-US"/>
              <a:pPr>
                <a:spcBef>
                  <a:spcPct val="0"/>
                </a:spcBef>
              </a:pPr>
              <a:t>70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>
            <a:extLst>
              <a:ext uri="{FF2B5EF4-FFF2-40B4-BE49-F238E27FC236}">
                <a16:creationId xmlns:a16="http://schemas.microsoft.com/office/drawing/2014/main" id="{5F46B2C4-85E9-4499-AB51-F56EB0ED55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Notes Placeholder 2">
            <a:extLst>
              <a:ext uri="{FF2B5EF4-FFF2-40B4-BE49-F238E27FC236}">
                <a16:creationId xmlns:a16="http://schemas.microsoft.com/office/drawing/2014/main" id="{D716C847-CCF6-446B-AFD2-C36163753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1556" name="Slide Number Placeholder 3">
            <a:extLst>
              <a:ext uri="{FF2B5EF4-FFF2-40B4-BE49-F238E27FC236}">
                <a16:creationId xmlns:a16="http://schemas.microsoft.com/office/drawing/2014/main" id="{989890D3-D9EE-41DF-9849-DAB74C7F7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7CA7120-550A-492F-8F29-DD7F89DA0E94}" type="slidenum">
              <a:rPr lang="en-US" altLang="en-US"/>
              <a:pPr>
                <a:spcBef>
                  <a:spcPct val="0"/>
                </a:spcBef>
              </a:pPr>
              <a:t>71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>
            <a:extLst>
              <a:ext uri="{FF2B5EF4-FFF2-40B4-BE49-F238E27FC236}">
                <a16:creationId xmlns:a16="http://schemas.microsoft.com/office/drawing/2014/main" id="{905960CC-7948-4FE7-9616-0CD015188A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>
            <a:extLst>
              <a:ext uri="{FF2B5EF4-FFF2-40B4-BE49-F238E27FC236}">
                <a16:creationId xmlns:a16="http://schemas.microsoft.com/office/drawing/2014/main" id="{9A7672A0-6BF0-4BBA-A75B-EEDFBF524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3604" name="Slide Number Placeholder 3">
            <a:extLst>
              <a:ext uri="{FF2B5EF4-FFF2-40B4-BE49-F238E27FC236}">
                <a16:creationId xmlns:a16="http://schemas.microsoft.com/office/drawing/2014/main" id="{CFC6977E-9737-4FEA-8BC8-1C131DE94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616728B-F710-4740-A1DC-1D6009B6CB7F}" type="slidenum">
              <a:rPr lang="en-US" altLang="en-US"/>
              <a:pPr>
                <a:spcBef>
                  <a:spcPct val="0"/>
                </a:spcBef>
              </a:pPr>
              <a:t>72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>
            <a:extLst>
              <a:ext uri="{FF2B5EF4-FFF2-40B4-BE49-F238E27FC236}">
                <a16:creationId xmlns:a16="http://schemas.microsoft.com/office/drawing/2014/main" id="{D39A95D1-7614-45AB-A3C1-0DDB6D9413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>
            <a:extLst>
              <a:ext uri="{FF2B5EF4-FFF2-40B4-BE49-F238E27FC236}">
                <a16:creationId xmlns:a16="http://schemas.microsoft.com/office/drawing/2014/main" id="{08121025-2F72-432E-AFEE-C70BE914C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5652" name="Slide Number Placeholder 3">
            <a:extLst>
              <a:ext uri="{FF2B5EF4-FFF2-40B4-BE49-F238E27FC236}">
                <a16:creationId xmlns:a16="http://schemas.microsoft.com/office/drawing/2014/main" id="{7857D843-406D-4193-96EE-8C4CFAE54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2BF5912-F057-4449-AE54-CD811CD5638A}" type="slidenum">
              <a:rPr lang="en-US" altLang="en-US"/>
              <a:pPr>
                <a:spcBef>
                  <a:spcPct val="0"/>
                </a:spcBef>
              </a:pPr>
              <a:t>73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>
            <a:extLst>
              <a:ext uri="{FF2B5EF4-FFF2-40B4-BE49-F238E27FC236}">
                <a16:creationId xmlns:a16="http://schemas.microsoft.com/office/drawing/2014/main" id="{1AF8F1A2-C5B6-4D72-9D00-F0BA8B9A0E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7699" name="Notes Placeholder 2">
            <a:extLst>
              <a:ext uri="{FF2B5EF4-FFF2-40B4-BE49-F238E27FC236}">
                <a16:creationId xmlns:a16="http://schemas.microsoft.com/office/drawing/2014/main" id="{47F78F79-D912-48B7-9027-49FD92AC6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7700" name="Slide Number Placeholder 3">
            <a:extLst>
              <a:ext uri="{FF2B5EF4-FFF2-40B4-BE49-F238E27FC236}">
                <a16:creationId xmlns:a16="http://schemas.microsoft.com/office/drawing/2014/main" id="{1EC7870A-EEC6-43B8-85D7-103866651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164651-1773-4F92-B77A-66881AEF295B}" type="slidenum">
              <a:rPr lang="en-US" altLang="en-US"/>
              <a:pPr>
                <a:spcBef>
                  <a:spcPct val="0"/>
                </a:spcBef>
              </a:pPr>
              <a:t>74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>
            <a:extLst>
              <a:ext uri="{FF2B5EF4-FFF2-40B4-BE49-F238E27FC236}">
                <a16:creationId xmlns:a16="http://schemas.microsoft.com/office/drawing/2014/main" id="{D85F7618-B7BE-4169-AFE1-5C170AF6B49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9747" name="Notes Placeholder 2">
            <a:extLst>
              <a:ext uri="{FF2B5EF4-FFF2-40B4-BE49-F238E27FC236}">
                <a16:creationId xmlns:a16="http://schemas.microsoft.com/office/drawing/2014/main" id="{FC1167A8-DE78-4594-AE3B-B9AEF4757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59748" name="Slide Number Placeholder 3">
            <a:extLst>
              <a:ext uri="{FF2B5EF4-FFF2-40B4-BE49-F238E27FC236}">
                <a16:creationId xmlns:a16="http://schemas.microsoft.com/office/drawing/2014/main" id="{96C1FCE7-BE8F-4125-A41F-0752A34D4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DDAA82B-8124-42EB-A02E-5BBDE41967E7}" type="slidenum">
              <a:rPr lang="en-US" altLang="en-US"/>
              <a:pPr>
                <a:spcBef>
                  <a:spcPct val="0"/>
                </a:spcBef>
              </a:pPr>
              <a:t>75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3C46CEE3-F52A-40A5-BBC8-06B2B0B7C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57E81C0E-C729-43E2-98E1-7BD62A503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5FB31311-E79E-4371-9D1D-E683B7700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Programming in C++</a:t>
            </a:r>
          </a:p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420CFD-F1C8-4177-BFDA-2F0EE6E00EDB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BF3FD9C-8862-4256-B1B8-C19DC81D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90902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5974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69EB004-39FD-42D3-9CC3-B3B60F12DCF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76F7C3-7FE0-4FCE-8EE4-44A24CF45C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04062B-CBB7-448F-A02F-40EA1DBA97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966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C23457-AA28-4B17-85F8-60E3F5E77DE5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A180BE-AF6C-43F8-B066-B31FF5F093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BF209F-51EA-4C20-B803-C9189500DA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706DAB-8E07-44F6-BF47-F2B98AE64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7830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B50E1A-79CA-484A-A67F-B38BAC4AC56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A4BA0E-5005-4E11-9ADE-C5F60FE3F84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E882AB-2C6D-4732-85FD-ADCF6295D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8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7D2D6AB-415E-4CDB-ABFB-FEF6596DD53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9333998-5127-4CF3-9CCF-729BEE6F0DE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84C507-420B-4CAB-984F-14378E43CE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94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9BE72C2-81AF-4343-AF88-75060A86B0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1D70E41-DF3A-4063-ADDC-0F5EDB287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C99AA-32A0-42BC-BF37-BE03BB5FBE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5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A682F65A-A38F-4265-B49E-9E895CFDC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102B7B9-433A-4051-A273-8311B2CBB95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4E5A38-07E4-4774-A8C4-F08166C71C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058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65F694-9A74-4E73-8FAF-1341A31845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D91C92-52F7-4E77-8504-5575D15A28D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2C1D86-DED0-449C-A38F-13F7C0F77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219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395A12C-811E-48D9-A099-22993457FBB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A8A03C-4C04-44AB-9476-C897B8CD5BB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E51CD-F7D6-4A1A-9999-9E7CE941FC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0220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8A85CE2-A60A-4E17-984B-1D850B0907C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CD7E2D-41D8-41F3-B9F1-C7FDD34A5D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F6174B-2FE0-4C53-AC84-F9B093FD59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359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C19C90A-8980-4887-8138-FB8793668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CD158D-F77F-47CB-B06A-6E3E6B3C17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24A8D7-7173-4935-9D29-EBCB105AB50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0611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2546F27E-ABF4-464B-AC2E-66986F2262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4" y="11113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4AE4117D-BD12-40FF-AACE-059437051A8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3B30620C-0C52-4073-8DC6-BBF7C077C9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Programming in C++</a:t>
            </a:r>
          </a:p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9BC485D-EC77-455E-B017-132736BD368C}"/>
              </a:ext>
            </a:extLst>
          </p:cNvPr>
          <p:cNvCxnSpPr/>
          <p:nvPr userDrawn="1"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B287357-2566-469A-8831-F0C2F05D1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13288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2860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4B3BC55D-27DA-4699-99E6-B66CBC321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9AD10904-666D-493E-9C53-F588AC17CA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497C65-6F47-4968-B4E2-3E4FB233D2E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2508E2-56C9-435A-8970-A061571EC9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E23D499-98C3-427B-BD32-D6FD600C98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D208685E-5A0F-41DD-98B1-34D04ADEC2B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C40A790D-7E3C-484D-AAC0-12F18EFAABE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448300" y="6324600"/>
            <a:ext cx="2819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0" r:id="rId1"/>
    <p:sldLayoutId id="2147484001" r:id="rId2"/>
    <p:sldLayoutId id="214748401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2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DB1891E7-DF72-49CD-9864-FCAB6FCA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91075"/>
            <a:ext cx="8229600" cy="1143000"/>
          </a:xfrm>
        </p:spPr>
        <p:txBody>
          <a:bodyPr/>
          <a:lstStyle>
            <a:lvl1pPr algn="ctr"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Chapter 7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7F0C209D-0638-4194-B4ED-7F985866F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07388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Differentiate between a pretest loop and a posttest loop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a pretest loop in pseudocode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a pretest loop in a flowchart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Code a pretest loop using the C++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Utilize counter and accumulator variables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Code a pretest loop using the C++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F4B199F-8ADA-47F2-90AB-7F5DB9ABD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1618A4BE-9CE2-4DBD-944F-A71F463FE4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A05ADA38-2ECA-4B6A-8603-0C5E613C6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282F39-5F25-4F66-A7A8-1092D3082C5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98FDE9AB-A9C0-4274-9769-B2221E237D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 b="1">
                <a:ea typeface="ＭＳ Ｐゴシック" panose="020B0600070205080204" pitchFamily="34" charset="-128"/>
              </a:rPr>
              <a:t>repetition structure</a:t>
            </a:r>
            <a:r>
              <a:rPr lang="en-US" altLang="en-US">
                <a:ea typeface="ＭＳ Ｐゴシック" panose="020B0600070205080204" pitchFamily="34" charset="-128"/>
              </a:rPr>
              <a:t>, or </a:t>
            </a:r>
            <a:r>
              <a:rPr lang="en-US" altLang="en-US" b="1">
                <a:ea typeface="ＭＳ Ｐゴシック" panose="020B0600070205080204" pitchFamily="34" charset="-128"/>
              </a:rPr>
              <a:t>loop</a:t>
            </a:r>
            <a:r>
              <a:rPr lang="en-US" altLang="en-US">
                <a:ea typeface="ＭＳ Ｐゴシック" panose="020B0600070205080204" pitchFamily="34" charset="-128"/>
              </a:rPr>
              <a:t>, processes one or more instructions repeatedly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loop contains a Boolean condition that controls whether the instructions are repeated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looping condition</a:t>
            </a:r>
            <a:r>
              <a:rPr lang="en-US" altLang="en-US">
                <a:ea typeface="ＭＳ Ｐゴシック" panose="020B0600070205080204" pitchFamily="34" charset="-128"/>
              </a:rPr>
              <a:t> says whether to continue looping through instructions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loop exit condition</a:t>
            </a:r>
            <a:r>
              <a:rPr lang="en-US" altLang="en-US">
                <a:ea typeface="ＭＳ Ｐゴシック" panose="020B0600070205080204" pitchFamily="34" charset="-128"/>
              </a:rPr>
              <a:t> says whether to stop looping through the instructions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Every looping condition can be expressed as a loop exit condition (its opposite)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0350CCF-D438-4A30-86D8-C68044423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Repeating Program Instructions</a:t>
            </a:r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FD9F38EE-57E1-4FBC-A262-BE03D63F27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0F2766E3-3D29-42EE-A2C9-5AB36275D3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D6B81F-89D3-4214-86D1-F016AD4A5BC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C23E0756-05FC-49D0-AA95-E41E7CC949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C++ uses looping conditions in repetition structures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repetition structure can be pretest or posttest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</a:t>
            </a:r>
            <a:r>
              <a:rPr lang="en-US" altLang="en-US" b="1">
                <a:ea typeface="ＭＳ Ｐゴシック" panose="020B0600070205080204" pitchFamily="34" charset="-128"/>
              </a:rPr>
              <a:t>pretest loop</a:t>
            </a:r>
            <a:r>
              <a:rPr lang="en-US" altLang="en-US">
                <a:ea typeface="ＭＳ Ｐゴシック" panose="020B0600070205080204" pitchFamily="34" charset="-128"/>
              </a:rPr>
              <a:t>, the condition is evaluated </a:t>
            </a:r>
            <a:r>
              <a:rPr lang="en-US" altLang="en-US" i="1">
                <a:ea typeface="ＭＳ Ｐゴシック" panose="020B0600070205080204" pitchFamily="34" charset="-128"/>
              </a:rPr>
              <a:t>before</a:t>
            </a:r>
            <a:r>
              <a:rPr lang="en-US" altLang="en-US">
                <a:ea typeface="ＭＳ Ｐゴシック" panose="020B0600070205080204" pitchFamily="34" charset="-128"/>
              </a:rPr>
              <a:t> the instructions in the loop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</a:t>
            </a:r>
            <a:r>
              <a:rPr lang="en-US" altLang="en-US" b="1">
                <a:ea typeface="ＭＳ Ｐゴシック" panose="020B0600070205080204" pitchFamily="34" charset="-128"/>
              </a:rPr>
              <a:t>posttest loop</a:t>
            </a:r>
            <a:r>
              <a:rPr lang="en-US" altLang="en-US">
                <a:ea typeface="ＭＳ Ｐゴシック" panose="020B0600070205080204" pitchFamily="34" charset="-128"/>
              </a:rPr>
              <a:t>, the condition is evaluated </a:t>
            </a:r>
            <a:r>
              <a:rPr lang="en-US" altLang="en-US" i="1">
                <a:ea typeface="ＭＳ Ｐゴシック" panose="020B0600070205080204" pitchFamily="34" charset="-128"/>
              </a:rPr>
              <a:t>after</a:t>
            </a:r>
            <a:r>
              <a:rPr lang="en-US" altLang="en-US">
                <a:ea typeface="ＭＳ Ｐゴシック" panose="020B0600070205080204" pitchFamily="34" charset="-128"/>
              </a:rPr>
              <a:t> the instructions in the loop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both cases, the condition is evaluated with each repetition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5CF9009D-4D96-40C2-A22A-01A38DF017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Repeating Program Instructions (cont’d.)</a:t>
            </a:r>
          </a:p>
        </p:txBody>
      </p:sp>
      <p:sp>
        <p:nvSpPr>
          <p:cNvPr id="13316" name="Footer Placeholder 3">
            <a:extLst>
              <a:ext uri="{FF2B5EF4-FFF2-40B4-BE49-F238E27FC236}">
                <a16:creationId xmlns:a16="http://schemas.microsoft.com/office/drawing/2014/main" id="{132D7F64-1B92-4784-A139-AF6F27A458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1C8188A2-3A04-420D-8B6C-DE451C85D1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915389-FC7E-4E1B-89CC-229DE784F92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>
            <a:extLst>
              <a:ext uri="{FF2B5EF4-FFF2-40B4-BE49-F238E27FC236}">
                <a16:creationId xmlns:a16="http://schemas.microsoft.com/office/drawing/2014/main" id="{93E5DC53-301D-4C26-AF81-AEECAE07EE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instructions in a posttest loop will always be processed at least once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Instructions in a pretest loop may not be processed if the condition initially evaluates to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repeatable instructions in a loop are called the </a:t>
            </a:r>
            <a:r>
              <a:rPr lang="en-US" altLang="en-US" b="1">
                <a:ea typeface="ＭＳ Ｐゴシック" panose="020B0600070205080204" pitchFamily="34" charset="-128"/>
              </a:rPr>
              <a:t>loop body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condition in a loop must evaluate to a Boolean value 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5103C95-7351-4C0A-8297-F9DDBB14BF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Repeating Program Instructions (cont’d.)</a:t>
            </a:r>
          </a:p>
        </p:txBody>
      </p:sp>
      <p:sp>
        <p:nvSpPr>
          <p:cNvPr id="15364" name="Footer Placeholder 3">
            <a:extLst>
              <a:ext uri="{FF2B5EF4-FFF2-40B4-BE49-F238E27FC236}">
                <a16:creationId xmlns:a16="http://schemas.microsoft.com/office/drawing/2014/main" id="{E8D387CC-355F-4390-899B-CBCE9A8ED2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5" name="Slide Number Placeholder 4">
            <a:extLst>
              <a:ext uri="{FF2B5EF4-FFF2-40B4-BE49-F238E27FC236}">
                <a16:creationId xmlns:a16="http://schemas.microsoft.com/office/drawing/2014/main" id="{CF12DD11-88E0-4981-942F-16D348E79F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1EA818-9DC8-4A12-BB06-E368292E1FA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2B5AD0D-4094-4D9B-AA22-93522F7BD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Repeating Program Instructions (cont’d.)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412E4D8F-8DE1-44C1-BA62-8D3A04A217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398D8AE5-8BCA-40C3-A879-A4E13C963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5EA3CE-A1E0-4D48-9E96-4393C8C3A77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B549EA2F-6B03-444A-9D00-FF3EA5D5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988" y="5510213"/>
            <a:ext cx="64039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7-1 A problem that requires the sequence and selection structures</a:t>
            </a:r>
          </a:p>
        </p:txBody>
      </p:sp>
      <p:pic>
        <p:nvPicPr>
          <p:cNvPr id="17414" name="Picture 6">
            <a:extLst>
              <a:ext uri="{FF2B5EF4-FFF2-40B4-BE49-F238E27FC236}">
                <a16:creationId xmlns:a16="http://schemas.microsoft.com/office/drawing/2014/main" id="{E50AE236-76A7-4A3B-BD6C-F8EFED183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66838"/>
            <a:ext cx="656431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9D1D19D9-3D75-4826-8A66-5CD8CC00B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Repeating Program Instructions (cont’d.)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A8331E4B-AC6D-4A86-A394-8B3B3DB3D3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5D66B3F9-A76F-4576-8E09-6A75BCAB37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D259FC-CC69-4B67-BFBA-920361EB1F1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B3815300-30D4-4DE6-A266-9409BF1B8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" y="5597525"/>
            <a:ext cx="7732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7-2 A problem that requires the sequence and repetition structures</a:t>
            </a: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497DC6DF-228A-4088-AC45-3183F043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63" y="1481138"/>
            <a:ext cx="6946900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6AE404D3-74D6-451E-85BE-D7D841677D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Most loops have a condition and a loop body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loops require the user to enter a special </a:t>
            </a:r>
            <a:r>
              <a:rPr lang="en-US" altLang="en-US" b="1">
                <a:ea typeface="ＭＳ Ｐゴシック" panose="020B0600070205080204" pitchFamily="34" charset="-128"/>
              </a:rPr>
              <a:t>sentinel value </a:t>
            </a:r>
            <a:r>
              <a:rPr lang="en-US" altLang="en-US">
                <a:ea typeface="ＭＳ Ｐゴシック" panose="020B0600070205080204" pitchFamily="34" charset="-128"/>
              </a:rPr>
              <a:t>to end the loop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Sentinel values should be easily distinguishable from the valid data recognized by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When a loop’s condition evaluates to true, the instructions in the loop body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Otherwise, the instructions are skipped and processing continues with the first instruction after the loop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8D6380AC-728F-4AD1-B23A-B53F3CBDC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a Pretest Loop to Solve a Real-World Problem</a:t>
            </a:r>
          </a:p>
        </p:txBody>
      </p:sp>
      <p:sp>
        <p:nvSpPr>
          <p:cNvPr id="21508" name="Footer Placeholder 3">
            <a:extLst>
              <a:ext uri="{FF2B5EF4-FFF2-40B4-BE49-F238E27FC236}">
                <a16:creationId xmlns:a16="http://schemas.microsoft.com/office/drawing/2014/main" id="{FE192DCD-674E-4FAA-AD5B-F113456AC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67E2D98C-734E-447A-8C88-5A7C252B1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19D5EB-FE21-42E7-A0AC-6F22AF768E8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>
            <a:extLst>
              <a:ext uri="{FF2B5EF4-FFF2-40B4-BE49-F238E27FC236}">
                <a16:creationId xmlns:a16="http://schemas.microsoft.com/office/drawing/2014/main" id="{5A97EB9A-1A08-4AA8-9932-B85CA12F1A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28775"/>
            <a:ext cx="8077200" cy="4637088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After each processing of the loop body (iteration), the loop’s condition is reevaluated to determine if the instructions should be processed again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priming read</a:t>
            </a:r>
            <a:r>
              <a:rPr lang="en-US" altLang="en-US">
                <a:ea typeface="ＭＳ Ｐゴシック" panose="020B0600070205080204" pitchFamily="34" charset="-128"/>
              </a:rPr>
              <a:t> is an instruction that appears before a loop and is used to set up the loop with an initial value entered by the user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</a:t>
            </a:r>
            <a:r>
              <a:rPr lang="en-US" altLang="en-US" b="1">
                <a:ea typeface="ＭＳ Ｐゴシック" panose="020B0600070205080204" pitchFamily="34" charset="-128"/>
              </a:rPr>
              <a:t>update read</a:t>
            </a:r>
            <a:r>
              <a:rPr lang="en-US" altLang="en-US">
                <a:ea typeface="ＭＳ Ｐゴシック" panose="020B0600070205080204" pitchFamily="34" charset="-128"/>
              </a:rPr>
              <a:t> is an instruction that appears within a loop that allows the user to enter a new value at each iteration of the loop</a:t>
            </a:r>
          </a:p>
          <a:p>
            <a:pPr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EF8EC6C-B737-43B7-AD28-1C1B1834D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a Pretest Loop to Solve a Real-World Problem (cont.)</a:t>
            </a:r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70F5E263-C198-4529-A068-269C4A68FA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1913E9FB-D663-43B4-AE6D-614A2B5AEA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673CD0-4F2F-4EFF-BC65-EC72CEBF533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1AD8F16-6F0C-46CD-A01E-BCEC6CDDE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a Pretest Loop to Solve a Real-World Problem (cont’d.)</a:t>
            </a:r>
          </a:p>
        </p:txBody>
      </p:sp>
      <p:sp>
        <p:nvSpPr>
          <p:cNvPr id="25603" name="Footer Placeholder 3">
            <a:extLst>
              <a:ext uri="{FF2B5EF4-FFF2-40B4-BE49-F238E27FC236}">
                <a16:creationId xmlns:a16="http://schemas.microsoft.com/office/drawing/2014/main" id="{1A80EE80-D7D0-46F6-835F-F07F394572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4A1084CC-D0EC-44AE-896A-77460F3213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72FEAC-16EB-41DF-ACF2-2200E4FBFEE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C30CE601-1665-47DB-9DB6-E3ECFD074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5811838"/>
            <a:ext cx="826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7-3 Problem specification and IPO chart for the commission program</a:t>
            </a:r>
          </a:p>
        </p:txBody>
      </p:sp>
      <p:pic>
        <p:nvPicPr>
          <p:cNvPr id="25606" name="Picture 7">
            <a:extLst>
              <a:ext uri="{FF2B5EF4-FFF2-40B4-BE49-F238E27FC236}">
                <a16:creationId xmlns:a16="http://schemas.microsoft.com/office/drawing/2014/main" id="{A4CE259A-70EE-4659-9DDC-5B09B7459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320800"/>
            <a:ext cx="8712200" cy="19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8">
            <a:extLst>
              <a:ext uri="{FF2B5EF4-FFF2-40B4-BE49-F238E27FC236}">
                <a16:creationId xmlns:a16="http://schemas.microsoft.com/office/drawing/2014/main" id="{CEC753E9-34B6-47C4-8CDE-90579E9A8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51200"/>
            <a:ext cx="871061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14C450FA-5C3C-42C4-9434-B123860C7E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8AF21A37-6FEE-4E96-9D63-F75310E10E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2D814F-98D5-4326-97B1-5FBF78B5092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Rectangle 7">
            <a:extLst>
              <a:ext uri="{FF2B5EF4-FFF2-40B4-BE49-F238E27FC236}">
                <a16:creationId xmlns:a16="http://schemas.microsoft.com/office/drawing/2014/main" id="{C99309AE-7153-46D9-B1C4-5A6C0678F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5402263"/>
            <a:ext cx="8534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7-4 Components of Algorithm 2 from Figure 7-3</a:t>
            </a:r>
          </a:p>
        </p:txBody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0046D667-FC0B-4A64-B2F4-E1AFD7E665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a Pretest Loop to Solve a Real-World Problem (cont’d.)</a:t>
            </a:r>
          </a:p>
        </p:txBody>
      </p:sp>
      <p:pic>
        <p:nvPicPr>
          <p:cNvPr id="27654" name="Picture 7">
            <a:extLst>
              <a:ext uri="{FF2B5EF4-FFF2-40B4-BE49-F238E27FC236}">
                <a16:creationId xmlns:a16="http://schemas.microsoft.com/office/drawing/2014/main" id="{6133485B-DE40-4693-85ED-5C08F2874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63" y="1673225"/>
            <a:ext cx="7254875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7E3FFC03-8424-4A44-971C-77491363E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diamond symbol in a flowchart is the decision symbol – represents repetition structures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diamond representing a repetition structure contains a Boolean condition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condition determines whether the instructions in the loop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diamond representing a repetition structure has one flowline leading into it and two leading out</a:t>
            </a: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9160C51F-349D-4DA2-82DD-1BB8B7FDC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Pretest Loop</a:t>
            </a:r>
          </a:p>
        </p:txBody>
      </p:sp>
      <p:sp>
        <p:nvSpPr>
          <p:cNvPr id="29700" name="Footer Placeholder 3">
            <a:extLst>
              <a:ext uri="{FF2B5EF4-FFF2-40B4-BE49-F238E27FC236}">
                <a16:creationId xmlns:a16="http://schemas.microsoft.com/office/drawing/2014/main" id="{BF274022-06DF-43D3-AEDE-A0F50840E7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378F3701-AC0B-4AC5-A5CA-5B38415AEB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81E98D-CB8E-4C94-9957-B52BE256565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816DAF14-795D-461D-86D6-913DEDF69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flowlines leading out are marked “T” (true) and “F” (false)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“T” line points to the loop body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“F” line points to the instructions to be processed if the loop’s condition evaluates to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flowline entering the diamond and symbols and flowlines of the true path form a circle, or loop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This distinguishes a repetition structure from a selection structure in a flowchart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A4109A10-008B-490A-B0BE-954572AAC7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Pretest Loop (cont’d.)</a:t>
            </a:r>
          </a:p>
        </p:txBody>
      </p:sp>
      <p:sp>
        <p:nvSpPr>
          <p:cNvPr id="31748" name="Footer Placeholder 3">
            <a:extLst>
              <a:ext uri="{FF2B5EF4-FFF2-40B4-BE49-F238E27FC236}">
                <a16:creationId xmlns:a16="http://schemas.microsoft.com/office/drawing/2014/main" id="{5781A907-44F8-4632-AEF2-4E4DC640E1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228C3746-52F1-4BB3-966C-EEB5E80BDC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B948F8-21AC-4E2D-81FE-1558B6B216B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7DBA3611-75D6-4951-8AE6-58A61567B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Pretest Loop (cont’d.)</a:t>
            </a:r>
          </a:p>
        </p:txBody>
      </p:sp>
      <p:sp>
        <p:nvSpPr>
          <p:cNvPr id="33795" name="Footer Placeholder 3">
            <a:extLst>
              <a:ext uri="{FF2B5EF4-FFF2-40B4-BE49-F238E27FC236}">
                <a16:creationId xmlns:a16="http://schemas.microsoft.com/office/drawing/2014/main" id="{C709C19B-A331-42D8-AA0C-72B9BF3E70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2846C004-CF0D-40A9-8D8C-1F9B78E043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82AA9B-7D8B-408F-8E53-CEB4A63C54C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797" name="Rectangle 7">
            <a:extLst>
              <a:ext uri="{FF2B5EF4-FFF2-40B4-BE49-F238E27FC236}">
                <a16:creationId xmlns:a16="http://schemas.microsoft.com/office/drawing/2014/main" id="{C7C7E574-6168-4D12-A18C-D5E683B6B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5821363"/>
            <a:ext cx="63357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7-5 Flowchart for algorithm shown in Figure 7-4</a:t>
            </a:r>
          </a:p>
        </p:txBody>
      </p:sp>
      <p:pic>
        <p:nvPicPr>
          <p:cNvPr id="33798" name="Picture 7">
            <a:extLst>
              <a:ext uri="{FF2B5EF4-FFF2-40B4-BE49-F238E27FC236}">
                <a16:creationId xmlns:a16="http://schemas.microsoft.com/office/drawing/2014/main" id="{632E6820-5115-4C19-B0F5-6BDD527ED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422400"/>
            <a:ext cx="88138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61B58341-8A2D-4F3D-9925-10F98F3E8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Pretest Loop (cont’d.)</a:t>
            </a:r>
          </a:p>
        </p:txBody>
      </p:sp>
      <p:sp>
        <p:nvSpPr>
          <p:cNvPr id="35843" name="Footer Placeholder 3">
            <a:extLst>
              <a:ext uri="{FF2B5EF4-FFF2-40B4-BE49-F238E27FC236}">
                <a16:creationId xmlns:a16="http://schemas.microsoft.com/office/drawing/2014/main" id="{B7CA7B59-B179-4E88-B6AA-534EB68537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168535CB-F7E0-419A-A81F-22D3653117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35A7A6-854C-427C-BD02-3F48DA92515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94F551E4-32A0-4A32-9160-79B0CBBC1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0" y="2997200"/>
            <a:ext cx="6813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7-6 First sales entry recorded in the desk-check table</a:t>
            </a:r>
          </a:p>
        </p:txBody>
      </p:sp>
      <p:sp>
        <p:nvSpPr>
          <p:cNvPr id="35846" name="Rectangle 7">
            <a:extLst>
              <a:ext uri="{FF2B5EF4-FFF2-40B4-BE49-F238E27FC236}">
                <a16:creationId xmlns:a16="http://schemas.microsoft.com/office/drawing/2014/main" id="{44B2D59B-8F2C-46B5-A5F4-FC44D4D84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038" y="5003800"/>
            <a:ext cx="6518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7-7 First salesperson’s entry in the desk-check table</a:t>
            </a:r>
          </a:p>
        </p:txBody>
      </p:sp>
      <p:pic>
        <p:nvPicPr>
          <p:cNvPr id="35847" name="Picture 11">
            <a:extLst>
              <a:ext uri="{FF2B5EF4-FFF2-40B4-BE49-F238E27FC236}">
                <a16:creationId xmlns:a16="http://schemas.microsoft.com/office/drawing/2014/main" id="{8F2BE6FB-A521-472D-9ED8-CD15D2540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25" y="2093913"/>
            <a:ext cx="62547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Picture 12">
            <a:extLst>
              <a:ext uri="{FF2B5EF4-FFF2-40B4-BE49-F238E27FC236}">
                <a16:creationId xmlns:a16="http://schemas.microsoft.com/office/drawing/2014/main" id="{194136BA-1E3A-44D9-AE81-377D3F96E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025" y="4014788"/>
            <a:ext cx="62547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E541AFBF-F823-4FA1-9A89-60105A9BB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Pretest Loop (cont’d.)</a:t>
            </a:r>
          </a:p>
        </p:txBody>
      </p:sp>
      <p:sp>
        <p:nvSpPr>
          <p:cNvPr id="37891" name="Footer Placeholder 3">
            <a:extLst>
              <a:ext uri="{FF2B5EF4-FFF2-40B4-BE49-F238E27FC236}">
                <a16:creationId xmlns:a16="http://schemas.microsoft.com/office/drawing/2014/main" id="{DB13FA15-E5D5-4C76-9DDB-7C94940D4D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D6D4BF9B-4C7F-451F-B97A-13DADAD38B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AE5E9D-2594-4663-997E-0D96D630DB2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7893" name="Rectangle 7">
            <a:extLst>
              <a:ext uri="{FF2B5EF4-FFF2-40B4-BE49-F238E27FC236}">
                <a16:creationId xmlns:a16="http://schemas.microsoft.com/office/drawing/2014/main" id="{C8D6989B-8312-4F82-B636-F03D93B93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3" y="3124200"/>
            <a:ext cx="82740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7-8 Second salesperson’s entry in the desk-check table</a:t>
            </a:r>
          </a:p>
        </p:txBody>
      </p:sp>
      <p:sp>
        <p:nvSpPr>
          <p:cNvPr id="37894" name="Rectangle 7">
            <a:extLst>
              <a:ext uri="{FF2B5EF4-FFF2-40B4-BE49-F238E27FC236}">
                <a16:creationId xmlns:a16="http://schemas.microsoft.com/office/drawing/2014/main" id="{D8F2C85C-5583-463B-B783-32BBF92C4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3275" y="5410200"/>
            <a:ext cx="4894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7-9 Completed desk-check table </a:t>
            </a:r>
          </a:p>
        </p:txBody>
      </p:sp>
      <p:pic>
        <p:nvPicPr>
          <p:cNvPr id="37895" name="Picture 13">
            <a:extLst>
              <a:ext uri="{FF2B5EF4-FFF2-40B4-BE49-F238E27FC236}">
                <a16:creationId xmlns:a16="http://schemas.microsoft.com/office/drawing/2014/main" id="{0C31470C-A908-4186-A965-BF7DCAFE9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550" y="1839913"/>
            <a:ext cx="62611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6" name="Picture 9">
            <a:extLst>
              <a:ext uri="{FF2B5EF4-FFF2-40B4-BE49-F238E27FC236}">
                <a16:creationId xmlns:a16="http://schemas.microsoft.com/office/drawing/2014/main" id="{1F375C95-78CD-4173-8DC9-ECA607AD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3916363"/>
            <a:ext cx="625475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>
            <a:extLst>
              <a:ext uri="{FF2B5EF4-FFF2-40B4-BE49-F238E27FC236}">
                <a16:creationId xmlns:a16="http://schemas.microsoft.com/office/drawing/2014/main" id="{52338DC0-FA01-4E89-AA46-3FB7EDA97C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use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to code a pretest loop in C++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is: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while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one statement or a statement block to be processed as long as the condition is true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Must supply looping condition (Boolean expression)</a:t>
            </a:r>
          </a:p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</a:rPr>
              <a:t> can contain constants, variables, functions, arithmetic operators, comparison operators, and logical operators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D92137E-A76D-4B4E-A8C7-D523164C6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</p:txBody>
      </p:sp>
      <p:sp>
        <p:nvSpPr>
          <p:cNvPr id="39940" name="Footer Placeholder 3">
            <a:extLst>
              <a:ext uri="{FF2B5EF4-FFF2-40B4-BE49-F238E27FC236}">
                <a16:creationId xmlns:a16="http://schemas.microsoft.com/office/drawing/2014/main" id="{21F88D39-CEE2-485D-B950-D5220C54518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AB3A2D2D-FFC0-4E6F-AC5E-9D95E94D42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653ED8-7464-4B4B-9A5B-61B68A6324C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>
            <a:extLst>
              <a:ext uri="{FF2B5EF4-FFF2-40B4-BE49-F238E27FC236}">
                <a16:creationId xmlns:a16="http://schemas.microsoft.com/office/drawing/2014/main" id="{BF904830-7A98-4BCB-8B2C-7B684BE43A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Must also provide loop body statements, which are processed repeatedly as long as condition is true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more than one statement in loop body, must be entered as a statement block (enclosed in braces)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Can include braces even if there is only one statement in the statement block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Good programming practice to include a comment, such as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//end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, to mark the end of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 </a:t>
            </a:r>
            <a:r>
              <a:rPr lang="en-US" altLang="en-US">
                <a:ea typeface="ＭＳ Ｐゴシック" panose="020B0600070205080204" pitchFamily="34" charset="-128"/>
              </a:rPr>
              <a:t>statement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CB69E9F-CB6C-45A0-B897-AFA77511F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41988" name="Footer Placeholder 3">
            <a:extLst>
              <a:ext uri="{FF2B5EF4-FFF2-40B4-BE49-F238E27FC236}">
                <a16:creationId xmlns:a16="http://schemas.microsoft.com/office/drawing/2014/main" id="{8EF49C66-2F7A-4064-A68B-197351A462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EB10B233-4A49-45BD-9074-886EA2AF7B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52F076-98EF-48DD-A97D-493F3AF5BC4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C2349374-95E7-432E-93FF-8EB73ED55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loop whose instructions are processed indefinitely is called an </a:t>
            </a:r>
            <a:r>
              <a:rPr lang="en-US" altLang="en-US" b="1">
                <a:ea typeface="ＭＳ Ｐゴシック" panose="020B0600070205080204" pitchFamily="34" charset="-128"/>
              </a:rPr>
              <a:t>infinite loop</a:t>
            </a:r>
            <a:r>
              <a:rPr lang="en-US" altLang="en-US">
                <a:ea typeface="ＭＳ Ｐゴシック" panose="020B0600070205080204" pitchFamily="34" charset="-128"/>
              </a:rPr>
              <a:t> or </a:t>
            </a:r>
            <a:r>
              <a:rPr lang="en-US" altLang="en-US" b="1">
                <a:ea typeface="ＭＳ Ｐゴシック" panose="020B0600070205080204" pitchFamily="34" charset="-128"/>
              </a:rPr>
              <a:t>endless loop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usually stop a program that has entered an infinite loop by pressing Ctrl+c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5A2CC3C-A469-408C-A870-5FCE443CD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44036" name="Footer Placeholder 3">
            <a:extLst>
              <a:ext uri="{FF2B5EF4-FFF2-40B4-BE49-F238E27FC236}">
                <a16:creationId xmlns:a16="http://schemas.microsoft.com/office/drawing/2014/main" id="{16E472A8-5E49-4118-A2E3-1C33ECEC99A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F47032F3-CDC3-48CD-AB38-AA2BB2E7F2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A6C09-74DA-439D-B8A6-E5D93372BFD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27F08CF7-F4ED-4832-BF5B-324157B5E4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6083" name="Slide Number Placeholder 4">
            <a:extLst>
              <a:ext uri="{FF2B5EF4-FFF2-40B4-BE49-F238E27FC236}">
                <a16:creationId xmlns:a16="http://schemas.microsoft.com/office/drawing/2014/main" id="{DC785462-29A2-41E6-831B-2074DFBB8B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C63B83-16F3-4B63-8FD4-BCB52D5052F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Rectangle 7">
            <a:extLst>
              <a:ext uri="{FF2B5EF4-FFF2-40B4-BE49-F238E27FC236}">
                <a16:creationId xmlns:a16="http://schemas.microsoft.com/office/drawing/2014/main" id="{C42CECAA-951E-491F-A53A-E40F017AB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175" y="5954713"/>
            <a:ext cx="5030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7-10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F8C3FEE5-4685-4BBC-B960-5A8414B06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pic>
        <p:nvPicPr>
          <p:cNvPr id="46086" name="Picture 7">
            <a:extLst>
              <a:ext uri="{FF2B5EF4-FFF2-40B4-BE49-F238E27FC236}">
                <a16:creationId xmlns:a16="http://schemas.microsoft.com/office/drawing/2014/main" id="{00D1B0D5-5984-44B0-B2D4-4652B6CF3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713" y="1308100"/>
            <a:ext cx="6124575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Footer Placeholder 3">
            <a:extLst>
              <a:ext uri="{FF2B5EF4-FFF2-40B4-BE49-F238E27FC236}">
                <a16:creationId xmlns:a16="http://schemas.microsoft.com/office/drawing/2014/main" id="{10065BF9-1716-4463-99D4-1875E28324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8131" name="Slide Number Placeholder 4">
            <a:extLst>
              <a:ext uri="{FF2B5EF4-FFF2-40B4-BE49-F238E27FC236}">
                <a16:creationId xmlns:a16="http://schemas.microsoft.com/office/drawing/2014/main" id="{C7C2AB58-BACD-441E-B7CA-2C182B26A2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801041-ED1A-4DF8-A746-C44D1FF7AB2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2" name="TextBox 9">
            <a:extLst>
              <a:ext uri="{FF2B5EF4-FFF2-40B4-BE49-F238E27FC236}">
                <a16:creationId xmlns:a16="http://schemas.microsoft.com/office/drawing/2014/main" id="{6C91B134-49E2-4FE4-A6C2-2B60F3D15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5738813"/>
            <a:ext cx="7378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7-11 IPO chart information and C++ instructions for the commission program</a:t>
            </a:r>
          </a:p>
        </p:txBody>
      </p:sp>
      <p:sp>
        <p:nvSpPr>
          <p:cNvPr id="48133" name="Rectangle 9">
            <a:extLst>
              <a:ext uri="{FF2B5EF4-FFF2-40B4-BE49-F238E27FC236}">
                <a16:creationId xmlns:a16="http://schemas.microsoft.com/office/drawing/2014/main" id="{9CBD0616-F907-4B71-9C1D-64EBAE8B3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8" y="1354138"/>
            <a:ext cx="658812" cy="514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31867260-989D-4FE8-8403-0409CA5BAE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pic>
        <p:nvPicPr>
          <p:cNvPr id="48135" name="Picture 8">
            <a:extLst>
              <a:ext uri="{FF2B5EF4-FFF2-40B4-BE49-F238E27FC236}">
                <a16:creationId xmlns:a16="http://schemas.microsoft.com/office/drawing/2014/main" id="{93997252-4B34-4251-AB22-B25AEBDC0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358900"/>
            <a:ext cx="8661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F18315AD-AB82-4FAD-851C-F60AA8671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50179" name="Footer Placeholder 3">
            <a:extLst>
              <a:ext uri="{FF2B5EF4-FFF2-40B4-BE49-F238E27FC236}">
                <a16:creationId xmlns:a16="http://schemas.microsoft.com/office/drawing/2014/main" id="{58D6399F-04DA-4FFD-83D7-9A5149B0F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5869FCC0-EC1A-41A9-83E7-65B4E2ACEE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3468B6-CF2A-414E-A97E-20EB7993F8F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TextBox 9">
            <a:extLst>
              <a:ext uri="{FF2B5EF4-FFF2-40B4-BE49-F238E27FC236}">
                <a16:creationId xmlns:a16="http://schemas.microsoft.com/office/drawing/2014/main" id="{42D101A2-511F-4382-BC86-8C41BEECA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7200" y="4838700"/>
            <a:ext cx="6083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7-12 A sample run of the commission program</a:t>
            </a:r>
          </a:p>
        </p:txBody>
      </p:sp>
      <p:pic>
        <p:nvPicPr>
          <p:cNvPr id="50182" name="Picture 7">
            <a:extLst>
              <a:ext uri="{FF2B5EF4-FFF2-40B4-BE49-F238E27FC236}">
                <a16:creationId xmlns:a16="http://schemas.microsoft.com/office/drawing/2014/main" id="{1FE4F99A-48A5-470A-95E4-03109EAE0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503363"/>
            <a:ext cx="6584950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77932ACC-4EA6-473F-8600-59B2F78DDA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problems require you to calculate a total or average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To do this, you use a counter, accumulator, or both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 b="1">
                <a:ea typeface="ＭＳ Ｐゴシック" panose="020B0600070205080204" pitchFamily="34" charset="-128"/>
              </a:rPr>
              <a:t>counter</a:t>
            </a:r>
            <a:r>
              <a:rPr lang="en-US" altLang="en-US">
                <a:ea typeface="ＭＳ Ｐゴシック" panose="020B0600070205080204" pitchFamily="34" charset="-128"/>
              </a:rPr>
              <a:t> is a numeric variable used for counting something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</a:t>
            </a:r>
            <a:r>
              <a:rPr lang="en-US" altLang="en-US" b="1">
                <a:ea typeface="ＭＳ Ｐゴシック" panose="020B0600070205080204" pitchFamily="34" charset="-128"/>
              </a:rPr>
              <a:t>accumulator</a:t>
            </a:r>
            <a:r>
              <a:rPr lang="en-US" altLang="en-US">
                <a:ea typeface="ＭＳ Ｐゴシック" panose="020B0600070205080204" pitchFamily="34" charset="-128"/>
              </a:rPr>
              <a:t> is a numeric variable used for accumulating (adding together) multiple values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tasks are associated with counters and accumulators: initializing and updating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F263857-7C94-43C1-87D0-E4538CC33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Counters and Accumulators</a:t>
            </a:r>
          </a:p>
        </p:txBody>
      </p:sp>
      <p:sp>
        <p:nvSpPr>
          <p:cNvPr id="52228" name="Footer Placeholder 3">
            <a:extLst>
              <a:ext uri="{FF2B5EF4-FFF2-40B4-BE49-F238E27FC236}">
                <a16:creationId xmlns:a16="http://schemas.microsoft.com/office/drawing/2014/main" id="{A2E5D956-542E-4BB5-AB53-02E610D2E6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C149D186-01DA-4D35-9AA3-C8B38E52D1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7C70C5-D51A-43F7-A1C2-3769D62CE14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>
            <a:extLst>
              <a:ext uri="{FF2B5EF4-FFF2-40B4-BE49-F238E27FC236}">
                <a16:creationId xmlns:a16="http://schemas.microsoft.com/office/drawing/2014/main" id="{2E6802FB-D9F6-4EDA-9CEB-66C1E53057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28000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Initializing</a:t>
            </a:r>
            <a:r>
              <a:rPr lang="en-US" altLang="en-US">
                <a:ea typeface="ＭＳ Ｐゴシック" panose="020B0600070205080204" pitchFamily="34" charset="-128"/>
              </a:rPr>
              <a:t> means assigning a beginning value to a counter or accumulator (usually 0) – happens once, before the loop is processed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Updating</a:t>
            </a:r>
            <a:r>
              <a:rPr lang="en-US" altLang="en-US">
                <a:ea typeface="ＭＳ Ｐゴシック" panose="020B0600070205080204" pitchFamily="34" charset="-128"/>
              </a:rPr>
              <a:t> (or </a:t>
            </a:r>
            <a:r>
              <a:rPr lang="en-US" altLang="en-US" b="1">
                <a:ea typeface="ＭＳ Ｐゴシック" panose="020B0600070205080204" pitchFamily="34" charset="-128"/>
              </a:rPr>
              <a:t>incrementing</a:t>
            </a:r>
            <a:r>
              <a:rPr lang="en-US" altLang="en-US">
                <a:ea typeface="ＭＳ Ｐゴシック" panose="020B0600070205080204" pitchFamily="34" charset="-128"/>
              </a:rPr>
              <a:t>) means adding a number to the value of a counter or accumulator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counter is updated by a constant value (usually 1)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 accumulator is updated by a value that varies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Update statements are placed in the body of a loop since they must be performed at each iteration</a:t>
            </a: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9E38B56-C4BF-4762-9978-1E370F308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Counters and Accumulators (cont’d.)</a:t>
            </a:r>
          </a:p>
        </p:txBody>
      </p:sp>
      <p:sp>
        <p:nvSpPr>
          <p:cNvPr id="54276" name="Footer Placeholder 3">
            <a:extLst>
              <a:ext uri="{FF2B5EF4-FFF2-40B4-BE49-F238E27FC236}">
                <a16:creationId xmlns:a16="http://schemas.microsoft.com/office/drawing/2014/main" id="{AEB1260B-66EE-4C94-A889-E4648EE368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1B8BE9AE-B4A4-47AA-AFD0-5BCBD10AD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1B2564-7F80-4CDB-8219-06B9FF274E1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>
            <a:extLst>
              <a:ext uri="{FF2B5EF4-FFF2-40B4-BE49-F238E27FC236}">
                <a16:creationId xmlns:a16="http://schemas.microsoft.com/office/drawing/2014/main" id="{F16BDF89-5354-47E8-94DB-2071F7BB8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28000" cy="4572000"/>
          </a:xfrm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2C19D41-83A8-4BD2-B59C-A930651FF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Counters and Accumulators (cont’d.)</a:t>
            </a:r>
          </a:p>
        </p:txBody>
      </p:sp>
      <p:sp>
        <p:nvSpPr>
          <p:cNvPr id="56324" name="Footer Placeholder 3">
            <a:extLst>
              <a:ext uri="{FF2B5EF4-FFF2-40B4-BE49-F238E27FC236}">
                <a16:creationId xmlns:a16="http://schemas.microsoft.com/office/drawing/2014/main" id="{67A756A3-B3C0-4BD4-982E-7724D9054D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6325" name="Slide Number Placeholder 4">
            <a:extLst>
              <a:ext uri="{FF2B5EF4-FFF2-40B4-BE49-F238E27FC236}">
                <a16:creationId xmlns:a16="http://schemas.microsoft.com/office/drawing/2014/main" id="{8F847522-7241-408D-83D0-C896030F43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EB9D44-3392-489B-8BE7-13E41130955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6" name="TextBox 9">
            <a:extLst>
              <a:ext uri="{FF2B5EF4-FFF2-40B4-BE49-F238E27FC236}">
                <a16:creationId xmlns:a16="http://schemas.microsoft.com/office/drawing/2014/main" id="{320662B0-9357-4348-8062-8D7AAB9A2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5748338"/>
            <a:ext cx="707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7-13 Example of a partial game program that uses a counter</a:t>
            </a:r>
          </a:p>
        </p:txBody>
      </p:sp>
      <p:pic>
        <p:nvPicPr>
          <p:cNvPr id="56327" name="Picture 2">
            <a:extLst>
              <a:ext uri="{FF2B5EF4-FFF2-40B4-BE49-F238E27FC236}">
                <a16:creationId xmlns:a16="http://schemas.microsoft.com/office/drawing/2014/main" id="{48AC7EF8-9999-4F19-9DD8-7DE8ECB15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422400"/>
            <a:ext cx="8559800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3">
            <a:extLst>
              <a:ext uri="{FF2B5EF4-FFF2-40B4-BE49-F238E27FC236}">
                <a16:creationId xmlns:a16="http://schemas.microsoft.com/office/drawing/2014/main" id="{48E666D7-C0BA-4577-9703-486FAB071C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28000" cy="4025900"/>
          </a:xfrm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EF9AA6A-7D1B-4F3D-89DA-53CE15BBD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Counters and Accumulators (cont’d.)</a:t>
            </a:r>
          </a:p>
        </p:txBody>
      </p:sp>
      <p:sp>
        <p:nvSpPr>
          <p:cNvPr id="58372" name="Footer Placeholder 3">
            <a:extLst>
              <a:ext uri="{FF2B5EF4-FFF2-40B4-BE49-F238E27FC236}">
                <a16:creationId xmlns:a16="http://schemas.microsoft.com/office/drawing/2014/main" id="{E9FD0B15-3822-4FFC-B10F-94600F8D8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BDE4D9A7-9474-4A13-AC3A-542649F55C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776D8A-495F-4337-A24B-9338F786467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8374" name="TextBox 9">
            <a:extLst>
              <a:ext uri="{FF2B5EF4-FFF2-40B4-BE49-F238E27FC236}">
                <a16:creationId xmlns:a16="http://schemas.microsoft.com/office/drawing/2014/main" id="{502E6E4E-CBBC-48EC-83BF-2E1F205E4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5748338"/>
            <a:ext cx="7073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7-14 Syntax and examples of update statements for counters and accumulators</a:t>
            </a:r>
          </a:p>
        </p:txBody>
      </p:sp>
      <p:pic>
        <p:nvPicPr>
          <p:cNvPr id="58375" name="Picture 2">
            <a:extLst>
              <a:ext uri="{FF2B5EF4-FFF2-40B4-BE49-F238E27FC236}">
                <a16:creationId xmlns:a16="http://schemas.microsoft.com/office/drawing/2014/main" id="{4DA96F15-F2E4-4704-9088-03ED17F97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84300"/>
            <a:ext cx="86868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1040FD99-7175-4A62-B114-BC017BD45C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problem and program solution (following slides)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Program takes in a sequence of stock prices from the keyboard and outputs their average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Uses a counter to keep track of the number of prices entered and an accumulator to keep track of the total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Both are initialized to 0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The loop ends when the user enters a sentinel value (-1)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FACD6FFE-30D6-43BF-8121-ED4A28B3B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</a:t>
            </a:r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08BE20D7-33A8-48E6-B935-94A5623D4F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60768EFD-DBA7-4FD4-ADA5-8043492397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6B2986-B50A-4CD5-ACD0-03FFB7DAF57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712AA4FB-A8AD-44E9-B485-D58CB3744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 (cont’d.)</a:t>
            </a:r>
          </a:p>
        </p:txBody>
      </p:sp>
      <p:sp>
        <p:nvSpPr>
          <p:cNvPr id="62467" name="Footer Placeholder 3">
            <a:extLst>
              <a:ext uri="{FF2B5EF4-FFF2-40B4-BE49-F238E27FC236}">
                <a16:creationId xmlns:a16="http://schemas.microsoft.com/office/drawing/2014/main" id="{8CE8ECF9-20EA-4442-9248-576EBBAB5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2468" name="Slide Number Placeholder 4">
            <a:extLst>
              <a:ext uri="{FF2B5EF4-FFF2-40B4-BE49-F238E27FC236}">
                <a16:creationId xmlns:a16="http://schemas.microsoft.com/office/drawing/2014/main" id="{B3B5E743-568C-434A-8BA5-2D686676E2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32A355-E2B1-4E6B-AA6F-9AFD94EE833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2469" name="TextBox 9">
            <a:extLst>
              <a:ext uri="{FF2B5EF4-FFF2-40B4-BE49-F238E27FC236}">
                <a16:creationId xmlns:a16="http://schemas.microsoft.com/office/drawing/2014/main" id="{3105285C-DAE8-4841-827E-2406FCA15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800" y="4737100"/>
            <a:ext cx="678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7-15 Problem specification for the Sales Express program</a:t>
            </a:r>
          </a:p>
        </p:txBody>
      </p:sp>
      <p:pic>
        <p:nvPicPr>
          <p:cNvPr id="62470" name="Picture 7">
            <a:extLst>
              <a:ext uri="{FF2B5EF4-FFF2-40B4-BE49-F238E27FC236}">
                <a16:creationId xmlns:a16="http://schemas.microsoft.com/office/drawing/2014/main" id="{979A132E-FFBF-47C2-84E2-B3DC118A8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346325"/>
            <a:ext cx="8737600" cy="216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AF1A25BB-AC95-45DB-B456-2FFB85125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4515" name="Slide Number Placeholder 4">
            <a:extLst>
              <a:ext uri="{FF2B5EF4-FFF2-40B4-BE49-F238E27FC236}">
                <a16:creationId xmlns:a16="http://schemas.microsoft.com/office/drawing/2014/main" id="{5A53F613-50BF-4214-A152-D75760429D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83A03E-BAAD-4E16-AA69-8C623BD9766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4516" name="TextBox 9">
            <a:extLst>
              <a:ext uri="{FF2B5EF4-FFF2-40B4-BE49-F238E27FC236}">
                <a16:creationId xmlns:a16="http://schemas.microsoft.com/office/drawing/2014/main" id="{5F2B2858-20AB-488B-BD18-C57067215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5702300"/>
            <a:ext cx="6184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7-15 IPO chart information and C++ instructions for the Stock Price program</a:t>
            </a:r>
          </a:p>
        </p:txBody>
      </p:sp>
      <p:sp>
        <p:nvSpPr>
          <p:cNvPr id="64517" name="Rectangle 2">
            <a:extLst>
              <a:ext uri="{FF2B5EF4-FFF2-40B4-BE49-F238E27FC236}">
                <a16:creationId xmlns:a16="http://schemas.microsoft.com/office/drawing/2014/main" id="{0B8C9924-DC0F-4554-97F9-B4CB466EA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 (cont’d.)</a:t>
            </a:r>
          </a:p>
        </p:txBody>
      </p:sp>
      <p:pic>
        <p:nvPicPr>
          <p:cNvPr id="64518" name="Picture 8">
            <a:extLst>
              <a:ext uri="{FF2B5EF4-FFF2-40B4-BE49-F238E27FC236}">
                <a16:creationId xmlns:a16="http://schemas.microsoft.com/office/drawing/2014/main" id="{2C4C4772-A74A-4E0D-94CA-C6EA74A53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5" y="1371600"/>
            <a:ext cx="617855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25D17058-722C-4E6A-9EDF-7E8169CDD5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 (cont’d.)</a:t>
            </a:r>
          </a:p>
        </p:txBody>
      </p:sp>
      <p:sp>
        <p:nvSpPr>
          <p:cNvPr id="66563" name="Footer Placeholder 3">
            <a:extLst>
              <a:ext uri="{FF2B5EF4-FFF2-40B4-BE49-F238E27FC236}">
                <a16:creationId xmlns:a16="http://schemas.microsoft.com/office/drawing/2014/main" id="{2EAB3B35-494D-4A2B-BE3F-8F8F9E4A04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6564" name="Slide Number Placeholder 4">
            <a:extLst>
              <a:ext uri="{FF2B5EF4-FFF2-40B4-BE49-F238E27FC236}">
                <a16:creationId xmlns:a16="http://schemas.microsoft.com/office/drawing/2014/main" id="{ADFFE00A-15FB-42E8-B8A2-9581DB86D1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81C8AF-BC25-4593-851B-E9A25D49AE8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6565" name="TextBox 9">
            <a:extLst>
              <a:ext uri="{FF2B5EF4-FFF2-40B4-BE49-F238E27FC236}">
                <a16:creationId xmlns:a16="http://schemas.microsoft.com/office/drawing/2014/main" id="{6D564C03-0A33-4279-B3B2-1CCEE5E81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6675" y="5778500"/>
            <a:ext cx="6545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7-16 Flowchart for the Stock Price program</a:t>
            </a:r>
          </a:p>
        </p:txBody>
      </p:sp>
      <p:pic>
        <p:nvPicPr>
          <p:cNvPr id="66566" name="Picture 7">
            <a:extLst>
              <a:ext uri="{FF2B5EF4-FFF2-40B4-BE49-F238E27FC236}">
                <a16:creationId xmlns:a16="http://schemas.microsoft.com/office/drawing/2014/main" id="{3870478E-986D-4ECC-AEE4-6579A65E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1282700"/>
            <a:ext cx="65405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EF99218C-0E90-4A9E-AF6B-2B0E7D87AE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 (cont’d.)</a:t>
            </a:r>
          </a:p>
        </p:txBody>
      </p:sp>
      <p:sp>
        <p:nvSpPr>
          <p:cNvPr id="68611" name="Footer Placeholder 3">
            <a:extLst>
              <a:ext uri="{FF2B5EF4-FFF2-40B4-BE49-F238E27FC236}">
                <a16:creationId xmlns:a16="http://schemas.microsoft.com/office/drawing/2014/main" id="{A0823290-0816-435D-BF95-3773DD7567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8612" name="Slide Number Placeholder 4">
            <a:extLst>
              <a:ext uri="{FF2B5EF4-FFF2-40B4-BE49-F238E27FC236}">
                <a16:creationId xmlns:a16="http://schemas.microsoft.com/office/drawing/2014/main" id="{D31E0161-1FB1-4DE3-AE9F-AAE1F5C6D4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E02E3-49E0-4E34-9DA0-17644B33AC8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8613" name="TextBox 9">
            <a:extLst>
              <a:ext uri="{FF2B5EF4-FFF2-40B4-BE49-F238E27FC236}">
                <a16:creationId xmlns:a16="http://schemas.microsoft.com/office/drawing/2014/main" id="{3271FC8D-F7B8-4E69-BB00-05B3BEE09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3021013"/>
            <a:ext cx="70072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7-17 Desk-check table after the first update to the counter and accumulator variables</a:t>
            </a:r>
          </a:p>
        </p:txBody>
      </p:sp>
      <p:sp>
        <p:nvSpPr>
          <p:cNvPr id="68614" name="TextBox 9">
            <a:extLst>
              <a:ext uri="{FF2B5EF4-FFF2-40B4-BE49-F238E27FC236}">
                <a16:creationId xmlns:a16="http://schemas.microsoft.com/office/drawing/2014/main" id="{FA62BA92-AFA1-4DBF-B856-735F4541F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5334000"/>
            <a:ext cx="6832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7-18 Desk-check table after the second update to the counter and accumulator variables</a:t>
            </a:r>
          </a:p>
        </p:txBody>
      </p:sp>
      <p:pic>
        <p:nvPicPr>
          <p:cNvPr id="68615" name="Picture 9">
            <a:extLst>
              <a:ext uri="{FF2B5EF4-FFF2-40B4-BE49-F238E27FC236}">
                <a16:creationId xmlns:a16="http://schemas.microsoft.com/office/drawing/2014/main" id="{1E605C09-B8F2-407D-A13F-07BC65CAA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743075"/>
            <a:ext cx="67691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6" name="Picture 10">
            <a:extLst>
              <a:ext uri="{FF2B5EF4-FFF2-40B4-BE49-F238E27FC236}">
                <a16:creationId xmlns:a16="http://schemas.microsoft.com/office/drawing/2014/main" id="{8DFFFFBF-D5B6-498E-A812-93090457D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3848100"/>
            <a:ext cx="6769100" cy="149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F4B51D0-4625-46E3-8418-8CF481FB31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Stock Price Program (cont’d.)</a:t>
            </a:r>
          </a:p>
        </p:txBody>
      </p:sp>
      <p:sp>
        <p:nvSpPr>
          <p:cNvPr id="70659" name="Footer Placeholder 3">
            <a:extLst>
              <a:ext uri="{FF2B5EF4-FFF2-40B4-BE49-F238E27FC236}">
                <a16:creationId xmlns:a16="http://schemas.microsoft.com/office/drawing/2014/main" id="{D087885F-94FE-43D1-8939-135DBF37AD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0660" name="Slide Number Placeholder 4">
            <a:extLst>
              <a:ext uri="{FF2B5EF4-FFF2-40B4-BE49-F238E27FC236}">
                <a16:creationId xmlns:a16="http://schemas.microsoft.com/office/drawing/2014/main" id="{E7E4287D-BE67-4593-8D6F-FC31EF42AB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AD9C59-1885-4733-A581-605A663A3E7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0661" name="TextBox 9">
            <a:extLst>
              <a:ext uri="{FF2B5EF4-FFF2-40B4-BE49-F238E27FC236}">
                <a16:creationId xmlns:a16="http://schemas.microsoft.com/office/drawing/2014/main" id="{F76A6695-E81C-4DC9-A97F-F0EE71F53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4913" y="5156200"/>
            <a:ext cx="698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7-19 Completed desk-check table and sample runs for the Stock Price program</a:t>
            </a:r>
          </a:p>
        </p:txBody>
      </p:sp>
      <p:pic>
        <p:nvPicPr>
          <p:cNvPr id="70662" name="Picture 9">
            <a:extLst>
              <a:ext uri="{FF2B5EF4-FFF2-40B4-BE49-F238E27FC236}">
                <a16:creationId xmlns:a16="http://schemas.microsoft.com/office/drawing/2014/main" id="{755093E5-39F2-4079-8613-E1E380121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736725"/>
            <a:ext cx="88011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4D994936-57A0-4C3A-975F-FC19878D7A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Loops can be controlled using a counter rather than a sentinel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These are called </a:t>
            </a:r>
            <a:r>
              <a:rPr lang="en-US" altLang="en-US" b="1">
                <a:ea typeface="ＭＳ Ｐゴシック" panose="020B0600070205080204" pitchFamily="34" charset="-128"/>
              </a:rPr>
              <a:t>counter-controlled loops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problem and program solution (following slides)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loop is used that totals the quarterly sales from three regions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Loop repeats three times, once for each region, using a counter to keep track</a:t>
            </a: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A6C06AF1-46A8-4273-8A3F-407D0539B4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Pretest Loops</a:t>
            </a:r>
          </a:p>
        </p:txBody>
      </p:sp>
      <p:sp>
        <p:nvSpPr>
          <p:cNvPr id="72708" name="Footer Placeholder 3">
            <a:extLst>
              <a:ext uri="{FF2B5EF4-FFF2-40B4-BE49-F238E27FC236}">
                <a16:creationId xmlns:a16="http://schemas.microsoft.com/office/drawing/2014/main" id="{D31CDF16-8911-4F49-8A9B-65B3DF0CD6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19DF6C38-2868-4A6E-8E02-A3ACF4C3A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76311D-588C-49F8-A096-34C40359EEB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2F2804E-DCFD-4D33-87DA-120FBE8B78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Pretest Loops (cont’d.)</a:t>
            </a:r>
          </a:p>
        </p:txBody>
      </p:sp>
      <p:sp>
        <p:nvSpPr>
          <p:cNvPr id="74755" name="Footer Placeholder 3">
            <a:extLst>
              <a:ext uri="{FF2B5EF4-FFF2-40B4-BE49-F238E27FC236}">
                <a16:creationId xmlns:a16="http://schemas.microsoft.com/office/drawing/2014/main" id="{3CD8BEC9-8CDF-4F63-93E8-83A87026BF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4756" name="Slide Number Placeholder 4">
            <a:extLst>
              <a:ext uri="{FF2B5EF4-FFF2-40B4-BE49-F238E27FC236}">
                <a16:creationId xmlns:a16="http://schemas.microsoft.com/office/drawing/2014/main" id="{434C4778-A92D-4280-AD35-3428149AB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A07B0C-FA08-4CD3-A94C-5E4B3E58F16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4757" name="TextBox 9">
            <a:extLst>
              <a:ext uri="{FF2B5EF4-FFF2-40B4-BE49-F238E27FC236}">
                <a16:creationId xmlns:a16="http://schemas.microsoft.com/office/drawing/2014/main" id="{82971E2C-43D8-40E5-B9BA-53363CD0E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5549900"/>
            <a:ext cx="77009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7-20 Problem specification, IPO chart information, and C++ instructions for the modified Stock Price program</a:t>
            </a:r>
          </a:p>
        </p:txBody>
      </p:sp>
      <p:pic>
        <p:nvPicPr>
          <p:cNvPr id="74758" name="Picture 7">
            <a:extLst>
              <a:ext uri="{FF2B5EF4-FFF2-40B4-BE49-F238E27FC236}">
                <a16:creationId xmlns:a16="http://schemas.microsoft.com/office/drawing/2014/main" id="{6A28DDAF-E8E3-40FF-9034-979146764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384300"/>
            <a:ext cx="87376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0734B61-CAB4-4E7F-954F-BC9F173C1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Pretest Loops (cont’d.)</a:t>
            </a:r>
          </a:p>
        </p:txBody>
      </p:sp>
      <p:sp>
        <p:nvSpPr>
          <p:cNvPr id="76803" name="Footer Placeholder 3">
            <a:extLst>
              <a:ext uri="{FF2B5EF4-FFF2-40B4-BE49-F238E27FC236}">
                <a16:creationId xmlns:a16="http://schemas.microsoft.com/office/drawing/2014/main" id="{33DCE0BB-30D1-4C17-94B7-2316F4E3C7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6804" name="Slide Number Placeholder 4">
            <a:extLst>
              <a:ext uri="{FF2B5EF4-FFF2-40B4-BE49-F238E27FC236}">
                <a16:creationId xmlns:a16="http://schemas.microsoft.com/office/drawing/2014/main" id="{FA20E27B-5E20-408F-A704-6F489A3A7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715E2A-8F57-4CCB-B4CA-CA18385664A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5" name="TextBox 9">
            <a:extLst>
              <a:ext uri="{FF2B5EF4-FFF2-40B4-BE49-F238E27FC236}">
                <a16:creationId xmlns:a16="http://schemas.microsoft.com/office/drawing/2014/main" id="{D98EAECE-AADB-494C-8468-347F6D7EE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5003800"/>
            <a:ext cx="77009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7-20 Problem specification, IPO chart information, and C++ instructions for the modified Stock Price program (cont’d.)</a:t>
            </a:r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530A33D2-678A-4459-8983-47188041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2095500"/>
            <a:ext cx="87757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2529700C-468F-4EA4-A9DF-AFB1F19D8B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8851" name="Slide Number Placeholder 4">
            <a:extLst>
              <a:ext uri="{FF2B5EF4-FFF2-40B4-BE49-F238E27FC236}">
                <a16:creationId xmlns:a16="http://schemas.microsoft.com/office/drawing/2014/main" id="{5A3B3B8B-2E87-42AE-9010-B7BEB045E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96B4A8-C3DC-45FE-8E4F-297415749C1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8852" name="TextBox 9">
            <a:extLst>
              <a:ext uri="{FF2B5EF4-FFF2-40B4-BE49-F238E27FC236}">
                <a16:creationId xmlns:a16="http://schemas.microsoft.com/office/drawing/2014/main" id="{FCB49509-D152-4118-B7B2-4ACAB509D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7613" y="5805488"/>
            <a:ext cx="6651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7-21 Flowchart for the modified Stock Price program</a:t>
            </a:r>
          </a:p>
        </p:txBody>
      </p:sp>
      <p:sp>
        <p:nvSpPr>
          <p:cNvPr id="78853" name="Rectangle 2">
            <a:extLst>
              <a:ext uri="{FF2B5EF4-FFF2-40B4-BE49-F238E27FC236}">
                <a16:creationId xmlns:a16="http://schemas.microsoft.com/office/drawing/2014/main" id="{F3A444E3-2361-4FA2-8AB1-3B3A2F7F3A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Pretest Loops (cont’d.)</a:t>
            </a:r>
          </a:p>
        </p:txBody>
      </p:sp>
      <p:pic>
        <p:nvPicPr>
          <p:cNvPr id="78854" name="Picture 7">
            <a:extLst>
              <a:ext uri="{FF2B5EF4-FFF2-40B4-BE49-F238E27FC236}">
                <a16:creationId xmlns:a16="http://schemas.microsoft.com/office/drawing/2014/main" id="{F9762F0A-7B98-4B83-AC51-540EC910C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1371600"/>
            <a:ext cx="6311900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CD004B9D-B06E-4626-98F5-C412CF5875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F7F32779-E284-4EE4-8B40-30E5531D9E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3E4EB69-29E1-4771-9D86-27A9F83006E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0" name="TextBox 9">
            <a:extLst>
              <a:ext uri="{FF2B5EF4-FFF2-40B4-BE49-F238E27FC236}">
                <a16:creationId xmlns:a16="http://schemas.microsoft.com/office/drawing/2014/main" id="{0D83511A-632D-4BB5-B52F-40BFF1693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5499100"/>
            <a:ext cx="6854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7-22 Completed desk-check table and sample run for the modified Stock Price program</a:t>
            </a:r>
          </a:p>
        </p:txBody>
      </p:sp>
      <p:sp>
        <p:nvSpPr>
          <p:cNvPr id="80901" name="Rectangle 2">
            <a:extLst>
              <a:ext uri="{FF2B5EF4-FFF2-40B4-BE49-F238E27FC236}">
                <a16:creationId xmlns:a16="http://schemas.microsoft.com/office/drawing/2014/main" id="{8FD0B7D3-266F-4BDF-B9CC-BAEEB6126E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0" y="71438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Counter-Controlled Pretest Loops (cont’d.)</a:t>
            </a:r>
          </a:p>
        </p:txBody>
      </p:sp>
      <p:pic>
        <p:nvPicPr>
          <p:cNvPr id="80902" name="Picture 9">
            <a:extLst>
              <a:ext uri="{FF2B5EF4-FFF2-40B4-BE49-F238E27FC236}">
                <a16:creationId xmlns:a16="http://schemas.microsoft.com/office/drawing/2014/main" id="{C0ED70AA-0B54-44CA-9331-27A38C8A4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1422400"/>
            <a:ext cx="7597775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FCACB789-0BC0-4A48-A391-F5776E486D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can also be used to code any pretest loop in C++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Commonly used to code counter-controlled pretest loops (more compact than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in this case)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Syntax:</a:t>
            </a:r>
          </a:p>
          <a:p>
            <a:pPr eaLnBrk="1" hangingPunct="1">
              <a:buFontTx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		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 (</a:t>
            </a:r>
            <a:r>
              <a:rPr lang="en-US" altLang="en-US">
                <a:ea typeface="ＭＳ Ｐゴシック" panose="020B0600070205080204" pitchFamily="34" charset="-128"/>
              </a:rPr>
              <a:t>[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initialization</a:t>
            </a:r>
            <a:r>
              <a:rPr lang="en-US" altLang="en-US">
                <a:ea typeface="ＭＳ Ｐゴシック" panose="020B0600070205080204" pitchFamily="34" charset="-128"/>
              </a:rPr>
              <a:t>];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 i="1">
                <a:ea typeface="ＭＳ Ｐゴシック" panose="020B0600070205080204" pitchFamily="34" charset="-128"/>
              </a:rPr>
              <a:t>; </a:t>
            </a:r>
            <a:r>
              <a:rPr lang="en-US" altLang="en-US">
                <a:ea typeface="ＭＳ Ｐゴシック" panose="020B0600070205080204" pitchFamily="34" charset="-128"/>
              </a:rPr>
              <a:t>[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update</a:t>
            </a:r>
            <a:r>
              <a:rPr lang="en-US" altLang="en-US">
                <a:ea typeface="ＭＳ Ｐゴシック" panose="020B0600070205080204" pitchFamily="34" charset="-128"/>
              </a:rPr>
              <a:t>]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		one statement or a statement block to be </a:t>
            </a:r>
          </a:p>
          <a:p>
            <a:pPr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			processed as long as condition is true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initialization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update</a:t>
            </a:r>
            <a:r>
              <a:rPr lang="en-US" altLang="en-US">
                <a:ea typeface="ＭＳ Ｐゴシック" panose="020B0600070205080204" pitchFamily="34" charset="-128"/>
              </a:rPr>
              <a:t> arguments are optional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7DF6B43F-8BAC-4B45-935A-BFCEBF88E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</p:txBody>
      </p:sp>
      <p:sp>
        <p:nvSpPr>
          <p:cNvPr id="82948" name="Footer Placeholder 3">
            <a:extLst>
              <a:ext uri="{FF2B5EF4-FFF2-40B4-BE49-F238E27FC236}">
                <a16:creationId xmlns:a16="http://schemas.microsoft.com/office/drawing/2014/main" id="{C435E691-D31B-4B63-878F-1C4E2E3BB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2949" name="Slide Number Placeholder 4">
            <a:extLst>
              <a:ext uri="{FF2B5EF4-FFF2-40B4-BE49-F238E27FC236}">
                <a16:creationId xmlns:a16="http://schemas.microsoft.com/office/drawing/2014/main" id="{15C3588B-8935-494E-8D3F-1E5832F674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0E4519-6604-443A-A882-6360FD0291B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>
            <a:extLst>
              <a:ext uri="{FF2B5EF4-FFF2-40B4-BE49-F238E27FC236}">
                <a16:creationId xmlns:a16="http://schemas.microsoft.com/office/drawing/2014/main" id="{8E431459-0AFF-41FC-A8F8-6F84BD06E2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initialization</a:t>
            </a:r>
            <a:r>
              <a:rPr lang="en-US" altLang="en-US">
                <a:ea typeface="ＭＳ Ｐゴシック" panose="020B0600070205080204" pitchFamily="34" charset="-128"/>
              </a:rPr>
              <a:t> argument usually creates and initializes a counter variable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 variable is local to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(can only be used inside the loop)</a:t>
            </a:r>
          </a:p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</a:rPr>
              <a:t> argument specifies condition that must be true for the loop body to be processed</a:t>
            </a:r>
          </a:p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must be a Boolean expression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May contain variables, constants, functions, arithmetic operators, comparison operators, and logical operators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560947C9-ABC4-4BE8-A7D5-B51EB6A1EB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84996" name="Footer Placeholder 3">
            <a:extLst>
              <a:ext uri="{FF2B5EF4-FFF2-40B4-BE49-F238E27FC236}">
                <a16:creationId xmlns:a16="http://schemas.microsoft.com/office/drawing/2014/main" id="{11294406-0D2E-403C-B590-75FD89F884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C900D4B6-D163-471E-A9DF-17929F0BC7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E1CDCD-237E-480F-BAD7-409C62B4B05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>
            <a:extLst>
              <a:ext uri="{FF2B5EF4-FFF2-40B4-BE49-F238E27FC236}">
                <a16:creationId xmlns:a16="http://schemas.microsoft.com/office/drawing/2014/main" id="{C2030230-7C6C-4F00-8811-756539A580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Loop ends when 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condition</a:t>
            </a:r>
            <a:r>
              <a:rPr lang="en-US" altLang="en-US" i="1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evaluates to false</a:t>
            </a:r>
          </a:p>
          <a:p>
            <a:pPr eaLnBrk="1" hangingPunct="1"/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update</a:t>
            </a:r>
            <a:r>
              <a:rPr lang="en-US" altLang="en-US">
                <a:ea typeface="ＭＳ Ｐゴシック" panose="020B0600070205080204" pitchFamily="34" charset="-128"/>
              </a:rPr>
              <a:t> argument usually contains an expression that updates the counter variable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Loop body follows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clause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Must be placed in braces if it contains more than one statement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Braces can be used even if the loop body contains only one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Good programming practice to place a comment, such as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//end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, to mark the end of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8A3F4A9B-93AF-4582-BB45-198BD47B3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87044" name="Footer Placeholder 3">
            <a:extLst>
              <a:ext uri="{FF2B5EF4-FFF2-40B4-BE49-F238E27FC236}">
                <a16:creationId xmlns:a16="http://schemas.microsoft.com/office/drawing/2014/main" id="{5F7CE60E-B3B0-4173-B4D3-C51669EAF4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7045" name="Slide Number Placeholder 4">
            <a:extLst>
              <a:ext uri="{FF2B5EF4-FFF2-40B4-BE49-F238E27FC236}">
                <a16:creationId xmlns:a16="http://schemas.microsoft.com/office/drawing/2014/main" id="{D0C4EFB3-1946-4DA1-96F4-17A53D7E86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5918E7-68BE-4DF8-98E3-7A1F079E576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B418F8B-4EE8-4521-8185-172688A13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sp>
        <p:nvSpPr>
          <p:cNvPr id="89091" name="Footer Placeholder 3">
            <a:extLst>
              <a:ext uri="{FF2B5EF4-FFF2-40B4-BE49-F238E27FC236}">
                <a16:creationId xmlns:a16="http://schemas.microsoft.com/office/drawing/2014/main" id="{9D110188-465F-4DD6-8C0A-C6B0DFA6E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9092" name="Slide Number Placeholder 4">
            <a:extLst>
              <a:ext uri="{FF2B5EF4-FFF2-40B4-BE49-F238E27FC236}">
                <a16:creationId xmlns:a16="http://schemas.microsoft.com/office/drawing/2014/main" id="{368E0750-6122-475A-9479-54682C4C60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93683D-2C7A-447E-B77D-AD59237159B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9093" name="TextBox 9">
            <a:extLst>
              <a:ext uri="{FF2B5EF4-FFF2-40B4-BE49-F238E27FC236}">
                <a16:creationId xmlns:a16="http://schemas.microsoft.com/office/drawing/2014/main" id="{4B16B3DC-9E1F-4426-B2F7-A9FCE5532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825" y="5905500"/>
            <a:ext cx="46132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7-23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statement</a:t>
            </a:r>
          </a:p>
        </p:txBody>
      </p:sp>
      <p:pic>
        <p:nvPicPr>
          <p:cNvPr id="89094" name="Picture 7">
            <a:extLst>
              <a:ext uri="{FF2B5EF4-FFF2-40B4-BE49-F238E27FC236}">
                <a16:creationId xmlns:a16="http://schemas.microsoft.com/office/drawing/2014/main" id="{60B988C8-1140-4D63-A1CB-4954FABF9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358900"/>
            <a:ext cx="8750300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Footer Placeholder 3">
            <a:extLst>
              <a:ext uri="{FF2B5EF4-FFF2-40B4-BE49-F238E27FC236}">
                <a16:creationId xmlns:a16="http://schemas.microsoft.com/office/drawing/2014/main" id="{6FFC0A1F-27CE-4447-9EB5-D8CD626DAF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1139" name="Slide Number Placeholder 4">
            <a:extLst>
              <a:ext uri="{FF2B5EF4-FFF2-40B4-BE49-F238E27FC236}">
                <a16:creationId xmlns:a16="http://schemas.microsoft.com/office/drawing/2014/main" id="{D9E72934-D8AF-43D3-AFA4-49B7D9295B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C9D578-1A76-4E46-B719-FF9C180B90A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1140" name="TextBox 9">
            <a:extLst>
              <a:ext uri="{FF2B5EF4-FFF2-40B4-BE49-F238E27FC236}">
                <a16:creationId xmlns:a16="http://schemas.microsoft.com/office/drawing/2014/main" id="{5082AD46-FC09-42C4-A7C4-C6A39F347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5727700"/>
            <a:ext cx="8054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7-24 Processing steps for Example 1’s code</a:t>
            </a:r>
          </a:p>
        </p:txBody>
      </p:sp>
      <p:sp>
        <p:nvSpPr>
          <p:cNvPr id="91141" name="Rectangle 2">
            <a:extLst>
              <a:ext uri="{FF2B5EF4-FFF2-40B4-BE49-F238E27FC236}">
                <a16:creationId xmlns:a16="http://schemas.microsoft.com/office/drawing/2014/main" id="{A1A3D707-DA42-4BE4-9EC3-B92ED59027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(cont’d.)</a:t>
            </a:r>
          </a:p>
        </p:txBody>
      </p:sp>
      <p:pic>
        <p:nvPicPr>
          <p:cNvPr id="91142" name="Picture 7">
            <a:extLst>
              <a:ext uri="{FF2B5EF4-FFF2-40B4-BE49-F238E27FC236}">
                <a16:creationId xmlns:a16="http://schemas.microsoft.com/office/drawing/2014/main" id="{FF5B37FC-1E61-49B2-B5A9-71E23E1BE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20800"/>
            <a:ext cx="87249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>
            <a:extLst>
              <a:ext uri="{FF2B5EF4-FFF2-40B4-BE49-F238E27FC236}">
                <a16:creationId xmlns:a16="http://schemas.microsoft.com/office/drawing/2014/main" id="{B2BF9BD4-1AAA-48F8-90B3-4802257AE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197802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Extended example of a problem and program solution (following slides)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Program totals up the payroll from three stores using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0751E85-2DCE-4FB3-9BE7-948FA3A89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Total Payroll Program</a:t>
            </a:r>
          </a:p>
        </p:txBody>
      </p:sp>
      <p:sp>
        <p:nvSpPr>
          <p:cNvPr id="93188" name="Footer Placeholder 3">
            <a:extLst>
              <a:ext uri="{FF2B5EF4-FFF2-40B4-BE49-F238E27FC236}">
                <a16:creationId xmlns:a16="http://schemas.microsoft.com/office/drawing/2014/main" id="{DC17C81F-3EFD-4955-BEA6-9C6B2961C5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3189" name="Slide Number Placeholder 4">
            <a:extLst>
              <a:ext uri="{FF2B5EF4-FFF2-40B4-BE49-F238E27FC236}">
                <a16:creationId xmlns:a16="http://schemas.microsoft.com/office/drawing/2014/main" id="{786F2E11-22E3-4943-A67B-1106635D82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3D3B1E-A127-4E65-984E-5F86B0650E9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Footer Placeholder 3">
            <a:extLst>
              <a:ext uri="{FF2B5EF4-FFF2-40B4-BE49-F238E27FC236}">
                <a16:creationId xmlns:a16="http://schemas.microsoft.com/office/drawing/2014/main" id="{F42D1A5D-BF2C-4103-8F9B-4FCB95F037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5235" name="Slide Number Placeholder 4">
            <a:extLst>
              <a:ext uri="{FF2B5EF4-FFF2-40B4-BE49-F238E27FC236}">
                <a16:creationId xmlns:a16="http://schemas.microsoft.com/office/drawing/2014/main" id="{6065F27B-AD19-4EA6-AB5F-7449D4244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C44EE0-C334-4010-A15B-0035AA46704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5236" name="TextBox 9">
            <a:extLst>
              <a:ext uri="{FF2B5EF4-FFF2-40B4-BE49-F238E27FC236}">
                <a16:creationId xmlns:a16="http://schemas.microsoft.com/office/drawing/2014/main" id="{BD48E71A-EB48-439D-8EA7-EE0BC1CD0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5643563"/>
            <a:ext cx="6985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7-25 Program specification, IPO chart information, and C++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instructions for the Total Payroll program</a:t>
            </a:r>
          </a:p>
        </p:txBody>
      </p:sp>
      <p:sp>
        <p:nvSpPr>
          <p:cNvPr id="95237" name="Rectangle 2">
            <a:extLst>
              <a:ext uri="{FF2B5EF4-FFF2-40B4-BE49-F238E27FC236}">
                <a16:creationId xmlns:a16="http://schemas.microsoft.com/office/drawing/2014/main" id="{B17DAF18-902F-49EC-863A-25C76E895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Total Payroll Program (cont’d.)</a:t>
            </a:r>
          </a:p>
        </p:txBody>
      </p:sp>
      <p:pic>
        <p:nvPicPr>
          <p:cNvPr id="95238" name="Picture 8">
            <a:extLst>
              <a:ext uri="{FF2B5EF4-FFF2-40B4-BE49-F238E27FC236}">
                <a16:creationId xmlns:a16="http://schemas.microsoft.com/office/drawing/2014/main" id="{B6F5724C-DF63-4D0D-8604-2F52C2B3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1384300"/>
            <a:ext cx="87407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6267ED2-2C12-4030-9691-836790BA3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Total Payroll Program (cont’d.)</a:t>
            </a:r>
          </a:p>
        </p:txBody>
      </p:sp>
      <p:sp>
        <p:nvSpPr>
          <p:cNvPr id="97283" name="Footer Placeholder 3">
            <a:extLst>
              <a:ext uri="{FF2B5EF4-FFF2-40B4-BE49-F238E27FC236}">
                <a16:creationId xmlns:a16="http://schemas.microsoft.com/office/drawing/2014/main" id="{57DC4E8C-D0B1-42A3-9322-1A2CBB3C83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7284" name="Slide Number Placeholder 4">
            <a:extLst>
              <a:ext uri="{FF2B5EF4-FFF2-40B4-BE49-F238E27FC236}">
                <a16:creationId xmlns:a16="http://schemas.microsoft.com/office/drawing/2014/main" id="{F676FE66-7878-40A1-97BA-0856BA24C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C8E2E2-0691-4D06-92D9-03864B76868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7285" name="TextBox 9">
            <a:extLst>
              <a:ext uri="{FF2B5EF4-FFF2-40B4-BE49-F238E27FC236}">
                <a16:creationId xmlns:a16="http://schemas.microsoft.com/office/drawing/2014/main" id="{577475B2-E40A-4814-86DB-D75D0D6E6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2189163"/>
            <a:ext cx="64531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7-26 Results of processing the declaration statements and 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initialization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argument</a:t>
            </a:r>
          </a:p>
        </p:txBody>
      </p:sp>
      <p:sp>
        <p:nvSpPr>
          <p:cNvPr id="97286" name="TextBox 9">
            <a:extLst>
              <a:ext uri="{FF2B5EF4-FFF2-40B4-BE49-F238E27FC236}">
                <a16:creationId xmlns:a16="http://schemas.microsoft.com/office/drawing/2014/main" id="{895A8A10-C0DF-462B-9FA4-6CAA22863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4098925"/>
            <a:ext cx="86058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7-27 Desk-check table after 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update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argument is processed first time</a:t>
            </a:r>
          </a:p>
        </p:txBody>
      </p:sp>
      <p:sp>
        <p:nvSpPr>
          <p:cNvPr id="97287" name="TextBox 9">
            <a:extLst>
              <a:ext uri="{FF2B5EF4-FFF2-40B4-BE49-F238E27FC236}">
                <a16:creationId xmlns:a16="http://schemas.microsoft.com/office/drawing/2014/main" id="{329C8C2F-A643-4136-85C1-8E93250E3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889625"/>
            <a:ext cx="8942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7-28 Desk-check table after 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update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argument is processed second time</a:t>
            </a:r>
          </a:p>
        </p:txBody>
      </p:sp>
      <p:pic>
        <p:nvPicPr>
          <p:cNvPr id="97288" name="Picture 11">
            <a:extLst>
              <a:ext uri="{FF2B5EF4-FFF2-40B4-BE49-F238E27FC236}">
                <a16:creationId xmlns:a16="http://schemas.microsoft.com/office/drawing/2014/main" id="{3810AE39-B814-4653-A751-A87232D61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3" y="1363663"/>
            <a:ext cx="700087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89" name="Picture 12">
            <a:extLst>
              <a:ext uri="{FF2B5EF4-FFF2-40B4-BE49-F238E27FC236}">
                <a16:creationId xmlns:a16="http://schemas.microsoft.com/office/drawing/2014/main" id="{1759A608-FFBB-459C-9B0B-225F5CA6E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2997200"/>
            <a:ext cx="7007225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290" name="Picture 13">
            <a:extLst>
              <a:ext uri="{FF2B5EF4-FFF2-40B4-BE49-F238E27FC236}">
                <a16:creationId xmlns:a16="http://schemas.microsoft.com/office/drawing/2014/main" id="{D33F37F2-B8B8-4E55-A485-93EE9C0448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688" y="4610100"/>
            <a:ext cx="7007225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8B6BE033-B03C-4207-BAC6-67C329D3C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Total Payroll Program (cont’d.)</a:t>
            </a:r>
          </a:p>
        </p:txBody>
      </p:sp>
      <p:sp>
        <p:nvSpPr>
          <p:cNvPr id="99331" name="Footer Placeholder 3">
            <a:extLst>
              <a:ext uri="{FF2B5EF4-FFF2-40B4-BE49-F238E27FC236}">
                <a16:creationId xmlns:a16="http://schemas.microsoft.com/office/drawing/2014/main" id="{A43095B7-0E78-4B1D-99EF-9AD58923DC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9332" name="Slide Number Placeholder 4">
            <a:extLst>
              <a:ext uri="{FF2B5EF4-FFF2-40B4-BE49-F238E27FC236}">
                <a16:creationId xmlns:a16="http://schemas.microsoft.com/office/drawing/2014/main" id="{541B958E-5CEB-47CF-A333-878CA7A318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C0F839-81FC-4E61-B314-DDC3F3A82D7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9333" name="TextBox 9">
            <a:extLst>
              <a:ext uri="{FF2B5EF4-FFF2-40B4-BE49-F238E27FC236}">
                <a16:creationId xmlns:a16="http://schemas.microsoft.com/office/drawing/2014/main" id="{5A4EA748-F980-41CF-8E9E-A44B82F43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3052763"/>
            <a:ext cx="8593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7-29 Desk-check table after </a:t>
            </a:r>
            <a:r>
              <a:rPr lang="en-US" altLang="en-US" sz="1800" i="1">
                <a:solidFill>
                  <a:schemeClr val="tx1"/>
                </a:solidFill>
                <a:latin typeface="Arial" panose="020B0604020202020204" pitchFamily="34" charset="0"/>
              </a:rPr>
              <a:t>update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argument is processed third time</a:t>
            </a:r>
          </a:p>
        </p:txBody>
      </p:sp>
      <p:sp>
        <p:nvSpPr>
          <p:cNvPr id="99334" name="TextBox 9">
            <a:extLst>
              <a:ext uri="{FF2B5EF4-FFF2-40B4-BE49-F238E27FC236}">
                <a16:creationId xmlns:a16="http://schemas.microsoft.com/office/drawing/2014/main" id="{64E8C7C4-C827-4019-8A2E-EB51A7DCF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5851525"/>
            <a:ext cx="7016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7-30 Sample run of the Total Payroll program</a:t>
            </a:r>
          </a:p>
        </p:txBody>
      </p:sp>
      <p:pic>
        <p:nvPicPr>
          <p:cNvPr id="99335" name="Picture 9">
            <a:extLst>
              <a:ext uri="{FF2B5EF4-FFF2-40B4-BE49-F238E27FC236}">
                <a16:creationId xmlns:a16="http://schemas.microsoft.com/office/drawing/2014/main" id="{F662AF2F-2A8C-4A11-8424-EEAA9E8B5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288" y="1320800"/>
            <a:ext cx="7007225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9336" name="Picture 10">
            <a:extLst>
              <a:ext uri="{FF2B5EF4-FFF2-40B4-BE49-F238E27FC236}">
                <a16:creationId xmlns:a16="http://schemas.microsoft.com/office/drawing/2014/main" id="{1AD65FA3-0225-4FA7-AFF6-21648FB26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3568700"/>
            <a:ext cx="493395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>
            <a:extLst>
              <a:ext uri="{FF2B5EF4-FFF2-40B4-BE49-F238E27FC236}">
                <a16:creationId xmlns:a16="http://schemas.microsoft.com/office/drawing/2014/main" id="{1810A2D3-5E3E-4E7B-85FC-5842DAFF8D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2668588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Extended example of a problem and program solution (following slides)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Calculates the ti for a given sales amount using three different rates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 keeps track of each of the three rates</a:t>
            </a: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C1B24855-4333-4F57-800B-54C8B5BD8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Tip Program</a:t>
            </a:r>
          </a:p>
        </p:txBody>
      </p:sp>
      <p:sp>
        <p:nvSpPr>
          <p:cNvPr id="101380" name="Footer Placeholder 3">
            <a:extLst>
              <a:ext uri="{FF2B5EF4-FFF2-40B4-BE49-F238E27FC236}">
                <a16:creationId xmlns:a16="http://schemas.microsoft.com/office/drawing/2014/main" id="{A3219B5F-C095-4FEF-9905-0BE456B749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1381" name="Slide Number Placeholder 4">
            <a:extLst>
              <a:ext uri="{FF2B5EF4-FFF2-40B4-BE49-F238E27FC236}">
                <a16:creationId xmlns:a16="http://schemas.microsoft.com/office/drawing/2014/main" id="{443D4C72-ADDB-49DD-9F22-E9E97DD251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5B47DD-6686-4DD8-9258-A22315C2D2C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Footer Placeholder 3">
            <a:extLst>
              <a:ext uri="{FF2B5EF4-FFF2-40B4-BE49-F238E27FC236}">
                <a16:creationId xmlns:a16="http://schemas.microsoft.com/office/drawing/2014/main" id="{11AFFF5C-0B2C-48AD-B499-294B9003B2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3427" name="Slide Number Placeholder 4">
            <a:extLst>
              <a:ext uri="{FF2B5EF4-FFF2-40B4-BE49-F238E27FC236}">
                <a16:creationId xmlns:a16="http://schemas.microsoft.com/office/drawing/2014/main" id="{7FA45402-4D5F-491C-B937-3EBBBDA3B6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EDE1FE-9F04-4216-9A29-EC2D765DC1F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3428" name="TextBox 9">
            <a:extLst>
              <a:ext uri="{FF2B5EF4-FFF2-40B4-BE49-F238E27FC236}">
                <a16:creationId xmlns:a16="http://schemas.microsoft.com/office/drawing/2014/main" id="{7A9603C2-EAE4-433B-B103-7FF9B2767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62600"/>
            <a:ext cx="7759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7-31 Problem specification, IPO chart information, and C++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instructions for the Tip program</a:t>
            </a:r>
          </a:p>
        </p:txBody>
      </p:sp>
      <p:sp>
        <p:nvSpPr>
          <p:cNvPr id="103429" name="Rectangle 2">
            <a:extLst>
              <a:ext uri="{FF2B5EF4-FFF2-40B4-BE49-F238E27FC236}">
                <a16:creationId xmlns:a16="http://schemas.microsoft.com/office/drawing/2014/main" id="{41D05094-28B5-47A6-BBF2-630AD9EDC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214313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Tip Program (cont’d.)</a:t>
            </a:r>
          </a:p>
        </p:txBody>
      </p:sp>
      <p:pic>
        <p:nvPicPr>
          <p:cNvPr id="103430" name="Picture 9">
            <a:extLst>
              <a:ext uri="{FF2B5EF4-FFF2-40B4-BE49-F238E27FC236}">
                <a16:creationId xmlns:a16="http://schemas.microsoft.com/office/drawing/2014/main" id="{A14632EB-478E-4740-8C7C-2F474AE02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84300"/>
            <a:ext cx="7772400" cy="414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1D8E781A-713C-4645-968B-3699D1185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46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Tip Program (cont’d.)</a:t>
            </a:r>
          </a:p>
        </p:txBody>
      </p:sp>
      <p:sp>
        <p:nvSpPr>
          <p:cNvPr id="105475" name="Footer Placeholder 3">
            <a:extLst>
              <a:ext uri="{FF2B5EF4-FFF2-40B4-BE49-F238E27FC236}">
                <a16:creationId xmlns:a16="http://schemas.microsoft.com/office/drawing/2014/main" id="{E304676D-3130-4E20-8F79-86C8A57330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5476" name="Slide Number Placeholder 4">
            <a:extLst>
              <a:ext uri="{FF2B5EF4-FFF2-40B4-BE49-F238E27FC236}">
                <a16:creationId xmlns:a16="http://schemas.microsoft.com/office/drawing/2014/main" id="{2913ABF3-53BE-41A3-AE7B-EF93105618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4883CA-C5B8-4287-AAF4-AA923333381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5477" name="TextBox 9">
            <a:extLst>
              <a:ext uri="{FF2B5EF4-FFF2-40B4-BE49-F238E27FC236}">
                <a16:creationId xmlns:a16="http://schemas.microsoft.com/office/drawing/2014/main" id="{D8F3DCD1-F16B-4AF1-912C-40D3E57B2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5626100"/>
            <a:ext cx="57451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7-32 Desk-check table and sample run of the Tip program</a:t>
            </a:r>
          </a:p>
        </p:txBody>
      </p:sp>
      <p:pic>
        <p:nvPicPr>
          <p:cNvPr id="105478" name="Picture 7">
            <a:extLst>
              <a:ext uri="{FF2B5EF4-FFF2-40B4-BE49-F238E27FC236}">
                <a16:creationId xmlns:a16="http://schemas.microsoft.com/office/drawing/2014/main" id="{1E7018BB-B087-4B17-B44C-A0E0C59C5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276350"/>
            <a:ext cx="496252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4EA371B5-A6E0-46FA-BCE6-0F6D8F5B6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46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Tip Program (cont’d.)</a:t>
            </a:r>
          </a:p>
        </p:txBody>
      </p:sp>
      <p:sp>
        <p:nvSpPr>
          <p:cNvPr id="107523" name="Footer Placeholder 3">
            <a:extLst>
              <a:ext uri="{FF2B5EF4-FFF2-40B4-BE49-F238E27FC236}">
                <a16:creationId xmlns:a16="http://schemas.microsoft.com/office/drawing/2014/main" id="{234EF1F2-3AF1-4D3B-9BDE-09647AD35D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7524" name="Slide Number Placeholder 4">
            <a:extLst>
              <a:ext uri="{FF2B5EF4-FFF2-40B4-BE49-F238E27FC236}">
                <a16:creationId xmlns:a16="http://schemas.microsoft.com/office/drawing/2014/main" id="{5747CDBA-5935-4123-922F-4BD1CB552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79A7E7-7C48-404B-867E-42D94443C19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07525" name="TextBox 9">
            <a:extLst>
              <a:ext uri="{FF2B5EF4-FFF2-40B4-BE49-F238E27FC236}">
                <a16:creationId xmlns:a16="http://schemas.microsoft.com/office/drawing/2014/main" id="{947224EE-8347-411B-81C0-B3E770E7E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5651500"/>
            <a:ext cx="6302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7-33 Tip program’s algorithm shown in flowchart form</a:t>
            </a:r>
          </a:p>
        </p:txBody>
      </p:sp>
      <p:pic>
        <p:nvPicPr>
          <p:cNvPr id="107526" name="Picture 8">
            <a:extLst>
              <a:ext uri="{FF2B5EF4-FFF2-40B4-BE49-F238E27FC236}">
                <a16:creationId xmlns:a16="http://schemas.microsoft.com/office/drawing/2014/main" id="{6B6CC37E-3A61-46BE-B597-A1B08CA5D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1292225"/>
            <a:ext cx="6854825" cy="427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>
            <a:extLst>
              <a:ext uri="{FF2B5EF4-FFF2-40B4-BE49-F238E27FC236}">
                <a16:creationId xmlns:a16="http://schemas.microsoft.com/office/drawing/2014/main" id="{7B779D4E-953A-49DB-9F7C-30E536224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Alternative version of the Commission program (following slides)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Uses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 instead of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loop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9D10603-D42E-434E-A63B-F89BBE3445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Another Version of the Commission Program</a:t>
            </a:r>
          </a:p>
        </p:txBody>
      </p:sp>
      <p:sp>
        <p:nvSpPr>
          <p:cNvPr id="109572" name="Footer Placeholder 3">
            <a:extLst>
              <a:ext uri="{FF2B5EF4-FFF2-40B4-BE49-F238E27FC236}">
                <a16:creationId xmlns:a16="http://schemas.microsoft.com/office/drawing/2014/main" id="{0C878D9F-9622-44FC-8D5D-D698E40239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9573" name="Slide Number Placeholder 4">
            <a:extLst>
              <a:ext uri="{FF2B5EF4-FFF2-40B4-BE49-F238E27FC236}">
                <a16:creationId xmlns:a16="http://schemas.microsoft.com/office/drawing/2014/main" id="{62F4A172-8514-4B0B-BC3E-C3009AD2BA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72B3CA-B640-4CE5-B731-BEF66BA9FDB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Footer Placeholder 3">
            <a:extLst>
              <a:ext uri="{FF2B5EF4-FFF2-40B4-BE49-F238E27FC236}">
                <a16:creationId xmlns:a16="http://schemas.microsoft.com/office/drawing/2014/main" id="{C1349817-3708-43ED-ACB1-4E4A473661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1619" name="Slide Number Placeholder 4">
            <a:extLst>
              <a:ext uri="{FF2B5EF4-FFF2-40B4-BE49-F238E27FC236}">
                <a16:creationId xmlns:a16="http://schemas.microsoft.com/office/drawing/2014/main" id="{53AAE70F-8E4D-4CF9-9E73-2F7D5B4C7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9CD8BE-ECA5-412A-8F1C-FC38EAEC25B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620" name="TextBox 9">
            <a:extLst>
              <a:ext uri="{FF2B5EF4-FFF2-40B4-BE49-F238E27FC236}">
                <a16:creationId xmlns:a16="http://schemas.microsoft.com/office/drawing/2014/main" id="{4A998FD3-9127-4DEA-93C2-814CB6294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100" y="5667375"/>
            <a:ext cx="7035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7-34 IPO chart information and modified C++ instructions for the Commission program</a:t>
            </a:r>
          </a:p>
        </p:txBody>
      </p:sp>
      <p:sp>
        <p:nvSpPr>
          <p:cNvPr id="111621" name="Rectangle 2">
            <a:extLst>
              <a:ext uri="{FF2B5EF4-FFF2-40B4-BE49-F238E27FC236}">
                <a16:creationId xmlns:a16="http://schemas.microsoft.com/office/drawing/2014/main" id="{D871EBF2-CED8-48CB-91FA-2737CF0BF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Another Version of the Commission Program (cont’d.)</a:t>
            </a:r>
          </a:p>
        </p:txBody>
      </p:sp>
      <p:pic>
        <p:nvPicPr>
          <p:cNvPr id="111622" name="Picture 7">
            <a:extLst>
              <a:ext uri="{FF2B5EF4-FFF2-40B4-BE49-F238E27FC236}">
                <a16:creationId xmlns:a16="http://schemas.microsoft.com/office/drawing/2014/main" id="{5A440819-4CE7-41E3-9208-B597EB8026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308100"/>
            <a:ext cx="7086600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Footer Placeholder 3">
            <a:extLst>
              <a:ext uri="{FF2B5EF4-FFF2-40B4-BE49-F238E27FC236}">
                <a16:creationId xmlns:a16="http://schemas.microsoft.com/office/drawing/2014/main" id="{E49DCD8B-BC9E-4820-B4A5-8DF4CBEC70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3667" name="Slide Number Placeholder 4">
            <a:extLst>
              <a:ext uri="{FF2B5EF4-FFF2-40B4-BE49-F238E27FC236}">
                <a16:creationId xmlns:a16="http://schemas.microsoft.com/office/drawing/2014/main" id="{C160ED6A-6B42-4124-86A1-A47319454A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31ECC8-7521-41F1-852B-F71AF669652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668" name="TextBox 9">
            <a:extLst>
              <a:ext uri="{FF2B5EF4-FFF2-40B4-BE49-F238E27FC236}">
                <a16:creationId xmlns:a16="http://schemas.microsoft.com/office/drawing/2014/main" id="{D1E10211-F5C0-4707-A4D9-3135DA7EB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813300"/>
            <a:ext cx="850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7-35 Processing steps and sample run for the Commission program shown in Figure 7-34</a:t>
            </a:r>
          </a:p>
        </p:txBody>
      </p:sp>
      <p:sp>
        <p:nvSpPr>
          <p:cNvPr id="113669" name="Rectangle 2">
            <a:extLst>
              <a:ext uri="{FF2B5EF4-FFF2-40B4-BE49-F238E27FC236}">
                <a16:creationId xmlns:a16="http://schemas.microsoft.com/office/drawing/2014/main" id="{F5796891-444E-46F9-AACE-5176ADE25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0713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Another Version of the Commission Program (cont’d.)</a:t>
            </a:r>
          </a:p>
        </p:txBody>
      </p:sp>
      <p:pic>
        <p:nvPicPr>
          <p:cNvPr id="113670" name="Picture 8">
            <a:extLst>
              <a:ext uri="{FF2B5EF4-FFF2-40B4-BE49-F238E27FC236}">
                <a16:creationId xmlns:a16="http://schemas.microsoft.com/office/drawing/2014/main" id="{539C01D5-F75C-446F-8168-36CEB59CC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243138"/>
            <a:ext cx="876300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Footer Placeholder 3">
            <a:extLst>
              <a:ext uri="{FF2B5EF4-FFF2-40B4-BE49-F238E27FC236}">
                <a16:creationId xmlns:a16="http://schemas.microsoft.com/office/drawing/2014/main" id="{DE64226D-BB74-4238-883F-728855BAB4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5715" name="Slide Number Placeholder 4">
            <a:extLst>
              <a:ext uri="{FF2B5EF4-FFF2-40B4-BE49-F238E27FC236}">
                <a16:creationId xmlns:a16="http://schemas.microsoft.com/office/drawing/2014/main" id="{57D50053-8744-4725-9B59-6139C9C914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EBE8C8-DE51-4FE1-ABAD-67BBCB70F20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5716" name="TextBox 9">
            <a:extLst>
              <a:ext uri="{FF2B5EF4-FFF2-40B4-BE49-F238E27FC236}">
                <a16:creationId xmlns:a16="http://schemas.microsoft.com/office/drawing/2014/main" id="{84D99BF8-5098-4A20-B91C-B10FAD43F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613400"/>
            <a:ext cx="850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7-35 Processing steps and sample run for the Commission program shown in Figure 7-34 (cont’d.)</a:t>
            </a:r>
          </a:p>
        </p:txBody>
      </p:sp>
      <p:sp>
        <p:nvSpPr>
          <p:cNvPr id="115717" name="Rectangle 2">
            <a:extLst>
              <a:ext uri="{FF2B5EF4-FFF2-40B4-BE49-F238E27FC236}">
                <a16:creationId xmlns:a16="http://schemas.microsoft.com/office/drawing/2014/main" id="{519ACF06-BEA0-46EE-A02B-B87B73FB8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0713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Another Version of the Commission Program (cont’d.)</a:t>
            </a:r>
          </a:p>
        </p:txBody>
      </p:sp>
      <p:pic>
        <p:nvPicPr>
          <p:cNvPr id="115718" name="Picture 2">
            <a:extLst>
              <a:ext uri="{FF2B5EF4-FFF2-40B4-BE49-F238E27FC236}">
                <a16:creationId xmlns:a16="http://schemas.microsoft.com/office/drawing/2014/main" id="{EEC663FD-49EA-4163-8DEC-33A486A0E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1371600"/>
            <a:ext cx="87757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3">
            <a:extLst>
              <a:ext uri="{FF2B5EF4-FFF2-40B4-BE49-F238E27FC236}">
                <a16:creationId xmlns:a16="http://schemas.microsoft.com/office/drawing/2014/main" id="{20C563C4-2FCB-4C99-9147-CC51A023F9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to calculate and display the sum of three integers entered by the user (following slides)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Shows incorrect solution via a </a:t>
            </a:r>
            <a:r>
              <a:rPr lang="en-US" altLang="en-US" i="1">
                <a:ea typeface="ＭＳ Ｐゴシック" panose="020B0600070205080204" pitchFamily="34" charset="-128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Shows eventual correct solution via </a:t>
            </a:r>
            <a:r>
              <a:rPr lang="en-US" altLang="en-US" i="1">
                <a:ea typeface="ＭＳ Ｐゴシック" panose="020B0600070205080204" pitchFamily="34" charset="-128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loop</a:t>
            </a:r>
          </a:p>
          <a:p>
            <a:pPr lvl="1"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31ECBCB1-4F59-4367-82C8-DD913D43E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Even Integers Program</a:t>
            </a:r>
          </a:p>
        </p:txBody>
      </p:sp>
      <p:sp>
        <p:nvSpPr>
          <p:cNvPr id="117764" name="Footer Placeholder 3">
            <a:extLst>
              <a:ext uri="{FF2B5EF4-FFF2-40B4-BE49-F238E27FC236}">
                <a16:creationId xmlns:a16="http://schemas.microsoft.com/office/drawing/2014/main" id="{4970CD6D-CF90-44CC-AFC8-891F818193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7765" name="Slide Number Placeholder 4">
            <a:extLst>
              <a:ext uri="{FF2B5EF4-FFF2-40B4-BE49-F238E27FC236}">
                <a16:creationId xmlns:a16="http://schemas.microsoft.com/office/drawing/2014/main" id="{7AF837BA-CD8F-465E-AED1-2DF5787677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C08799-B953-4F95-90B5-EAC6AC965F8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3">
            <a:extLst>
              <a:ext uri="{FF2B5EF4-FFF2-40B4-BE49-F238E27FC236}">
                <a16:creationId xmlns:a16="http://schemas.microsoft.com/office/drawing/2014/main" id="{B18FF1BB-F870-4533-9BB8-011F57F77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1A016D73-C7EB-46EE-A8D2-8D1DAB8716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Even Integers Program (cont’d.)</a:t>
            </a:r>
          </a:p>
        </p:txBody>
      </p:sp>
      <p:sp>
        <p:nvSpPr>
          <p:cNvPr id="119812" name="Footer Placeholder 3">
            <a:extLst>
              <a:ext uri="{FF2B5EF4-FFF2-40B4-BE49-F238E27FC236}">
                <a16:creationId xmlns:a16="http://schemas.microsoft.com/office/drawing/2014/main" id="{784A4A58-9D57-4B0C-82A8-AF931BB2FA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9813" name="Slide Number Placeholder 4">
            <a:extLst>
              <a:ext uri="{FF2B5EF4-FFF2-40B4-BE49-F238E27FC236}">
                <a16:creationId xmlns:a16="http://schemas.microsoft.com/office/drawing/2014/main" id="{5BE3D1A8-0F06-4C87-AEB7-58DB95B57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6C9AAD-7E50-4A41-A7E5-7BDDCF369A6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9814" name="TextBox 9">
            <a:extLst>
              <a:ext uri="{FF2B5EF4-FFF2-40B4-BE49-F238E27FC236}">
                <a16:creationId xmlns:a16="http://schemas.microsoft.com/office/drawing/2014/main" id="{F976F6EA-A781-48D4-8869-7D648CD22B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511800"/>
            <a:ext cx="850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7-36 Problem specification and code of the incorrect Even Integers Program</a:t>
            </a:r>
          </a:p>
        </p:txBody>
      </p:sp>
      <p:pic>
        <p:nvPicPr>
          <p:cNvPr id="119815" name="Picture 2">
            <a:extLst>
              <a:ext uri="{FF2B5EF4-FFF2-40B4-BE49-F238E27FC236}">
                <a16:creationId xmlns:a16="http://schemas.microsoft.com/office/drawing/2014/main" id="{BDFFEB66-12CE-4D3D-BC9B-6B7ACFD83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0" y="1481138"/>
            <a:ext cx="8636000" cy="389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">
            <a:extLst>
              <a:ext uri="{FF2B5EF4-FFF2-40B4-BE49-F238E27FC236}">
                <a16:creationId xmlns:a16="http://schemas.microsoft.com/office/drawing/2014/main" id="{CC76A78D-9037-4C7A-85E9-9800ED438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0E75A009-A0D9-499A-BE5C-9F9FBD2D7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Even Integers Program (cont’d.)</a:t>
            </a:r>
          </a:p>
        </p:txBody>
      </p:sp>
      <p:sp>
        <p:nvSpPr>
          <p:cNvPr id="121860" name="Footer Placeholder 3">
            <a:extLst>
              <a:ext uri="{FF2B5EF4-FFF2-40B4-BE49-F238E27FC236}">
                <a16:creationId xmlns:a16="http://schemas.microsoft.com/office/drawing/2014/main" id="{895A4A4F-B21C-4F84-B385-86918D96AB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1861" name="Slide Number Placeholder 4">
            <a:extLst>
              <a:ext uri="{FF2B5EF4-FFF2-40B4-BE49-F238E27FC236}">
                <a16:creationId xmlns:a16="http://schemas.microsoft.com/office/drawing/2014/main" id="{A3252714-324E-437A-AA20-0CDE7162BF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050183-D806-4972-854D-C0B204FF33A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1862" name="TextBox 9">
            <a:extLst>
              <a:ext uri="{FF2B5EF4-FFF2-40B4-BE49-F238E27FC236}">
                <a16:creationId xmlns:a16="http://schemas.microsoft.com/office/drawing/2014/main" id="{B691C530-9C2D-412A-8044-70AC2CA21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511800"/>
            <a:ext cx="850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7-36 Sample runs of the incorrect Even Integers Program</a:t>
            </a:r>
          </a:p>
        </p:txBody>
      </p:sp>
      <p:pic>
        <p:nvPicPr>
          <p:cNvPr id="121863" name="Picture 2">
            <a:extLst>
              <a:ext uri="{FF2B5EF4-FFF2-40B4-BE49-F238E27FC236}">
                <a16:creationId xmlns:a16="http://schemas.microsoft.com/office/drawing/2014/main" id="{7CC2452B-8532-40A3-8DD4-7298270CB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46200"/>
            <a:ext cx="87630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3">
            <a:extLst>
              <a:ext uri="{FF2B5EF4-FFF2-40B4-BE49-F238E27FC236}">
                <a16:creationId xmlns:a16="http://schemas.microsoft.com/office/drawing/2014/main" id="{5E1F3344-5872-4D84-B279-56C90A883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5DD6F892-B0DA-4845-9BF0-CDFBBB945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Even Integers Program (cont’d.)</a:t>
            </a:r>
          </a:p>
        </p:txBody>
      </p:sp>
      <p:sp>
        <p:nvSpPr>
          <p:cNvPr id="123908" name="Footer Placeholder 3">
            <a:extLst>
              <a:ext uri="{FF2B5EF4-FFF2-40B4-BE49-F238E27FC236}">
                <a16:creationId xmlns:a16="http://schemas.microsoft.com/office/drawing/2014/main" id="{F9C9C98E-289A-48ED-8750-E534FD238D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3909" name="Slide Number Placeholder 4">
            <a:extLst>
              <a:ext uri="{FF2B5EF4-FFF2-40B4-BE49-F238E27FC236}">
                <a16:creationId xmlns:a16="http://schemas.microsoft.com/office/drawing/2014/main" id="{83AAABA8-2FC0-4128-817F-6EF1EC2CF8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FF20F6-D87F-4DC6-A1C2-A5D95450945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3910" name="TextBox 9">
            <a:extLst>
              <a:ext uri="{FF2B5EF4-FFF2-40B4-BE49-F238E27FC236}">
                <a16:creationId xmlns:a16="http://schemas.microsoft.com/office/drawing/2014/main" id="{614A7BDC-74CE-4395-8405-F37171DF7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651500"/>
            <a:ext cx="850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7-37 Incorrect and correct ways to fix the Even Integers Program</a:t>
            </a:r>
          </a:p>
        </p:txBody>
      </p:sp>
      <p:pic>
        <p:nvPicPr>
          <p:cNvPr id="123911" name="Picture 2">
            <a:extLst>
              <a:ext uri="{FF2B5EF4-FFF2-40B4-BE49-F238E27FC236}">
                <a16:creationId xmlns:a16="http://schemas.microsoft.com/office/drawing/2014/main" id="{BBC74D78-D500-41F4-BD43-0898D229D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1358900"/>
            <a:ext cx="8950325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3">
            <a:extLst>
              <a:ext uri="{FF2B5EF4-FFF2-40B4-BE49-F238E27FC236}">
                <a16:creationId xmlns:a16="http://schemas.microsoft.com/office/drawing/2014/main" id="{86A61B4F-4419-4EF1-947E-7EF79E06B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48175"/>
          </a:xfrm>
        </p:spPr>
        <p:txBody>
          <a:bodyPr/>
          <a:lstStyle/>
          <a:p>
            <a:pPr lvl="1" eaLnBrk="1" hangingPunct="1">
              <a:buFontTx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551F6BB1-9109-441D-A85D-D22A76C825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25" y="9207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Even Integers Program (cont’d.)</a:t>
            </a:r>
          </a:p>
        </p:txBody>
      </p:sp>
      <p:sp>
        <p:nvSpPr>
          <p:cNvPr id="125956" name="Footer Placeholder 3">
            <a:extLst>
              <a:ext uri="{FF2B5EF4-FFF2-40B4-BE49-F238E27FC236}">
                <a16:creationId xmlns:a16="http://schemas.microsoft.com/office/drawing/2014/main" id="{D4E199CD-4B12-49DC-B9AB-4450F4EF31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5957" name="Slide Number Placeholder 4">
            <a:extLst>
              <a:ext uri="{FF2B5EF4-FFF2-40B4-BE49-F238E27FC236}">
                <a16:creationId xmlns:a16="http://schemas.microsoft.com/office/drawing/2014/main" id="{A15FD4BC-78AB-4189-BD89-BA76BA35E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3BCC54-8C33-4AA7-A542-14135C3ED90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5958" name="TextBox 9">
            <a:extLst>
              <a:ext uri="{FF2B5EF4-FFF2-40B4-BE49-F238E27FC236}">
                <a16:creationId xmlns:a16="http://schemas.microsoft.com/office/drawing/2014/main" id="{251283A4-30D3-4107-AE31-891777AE0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651500"/>
            <a:ext cx="850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7-37 Sample runs of the correct solution to the Even Integers Program</a:t>
            </a:r>
          </a:p>
        </p:txBody>
      </p:sp>
      <p:pic>
        <p:nvPicPr>
          <p:cNvPr id="125959" name="Picture 3">
            <a:extLst>
              <a:ext uri="{FF2B5EF4-FFF2-40B4-BE49-F238E27FC236}">
                <a16:creationId xmlns:a16="http://schemas.microsoft.com/office/drawing/2014/main" id="{C949A053-194A-4F00-A0F2-0344883B8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8" y="1320800"/>
            <a:ext cx="8950325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3">
            <a:extLst>
              <a:ext uri="{FF2B5EF4-FFF2-40B4-BE49-F238E27FC236}">
                <a16:creationId xmlns:a16="http://schemas.microsoft.com/office/drawing/2014/main" id="{B9282E13-5269-4459-BA76-AFCA973104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 the repetition structure (or loop) to repeatedly process one or more instructions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Loop repeats as long as looping condition is true (or until loop exit condition has been met)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repetition structure can be pretest or posttest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pretest loop, the loop condition is evaluated </a:t>
            </a:r>
            <a:r>
              <a:rPr lang="en-US" altLang="en-US" i="1">
                <a:ea typeface="ＭＳ Ｐゴシック" panose="020B0600070205080204" pitchFamily="34" charset="-128"/>
              </a:rPr>
              <a:t>before </a:t>
            </a:r>
            <a:r>
              <a:rPr lang="en-US" altLang="en-US">
                <a:ea typeface="ＭＳ Ｐゴシック" panose="020B0600070205080204" pitchFamily="34" charset="-128"/>
              </a:rPr>
              <a:t>instructions in loop body are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a posttest loop, the evaluation occurs </a:t>
            </a:r>
            <a:r>
              <a:rPr lang="en-US" altLang="en-US" i="1">
                <a:ea typeface="ＭＳ Ｐゴシック" panose="020B0600070205080204" pitchFamily="34" charset="-128"/>
              </a:rPr>
              <a:t>after </a:t>
            </a:r>
            <a:r>
              <a:rPr lang="en-US" altLang="en-US">
                <a:ea typeface="ＭＳ Ｐゴシック" panose="020B0600070205080204" pitchFamily="34" charset="-128"/>
              </a:rPr>
              <a:t>instructions in loop body are processed</a:t>
            </a: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CE7146FF-DEFE-4345-9E56-1FFB00C57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128004" name="Footer Placeholder 3">
            <a:extLst>
              <a:ext uri="{FF2B5EF4-FFF2-40B4-BE49-F238E27FC236}">
                <a16:creationId xmlns:a16="http://schemas.microsoft.com/office/drawing/2014/main" id="{FB52E2CB-1CE3-4C92-B9AE-878CC840B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8005" name="Slide Number Placeholder 4">
            <a:extLst>
              <a:ext uri="{FF2B5EF4-FFF2-40B4-BE49-F238E27FC236}">
                <a16:creationId xmlns:a16="http://schemas.microsoft.com/office/drawing/2014/main" id="{FC75B43E-CC9D-4586-8356-40B9B31D5F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E806B3-1ACA-40D4-B0BC-5824D9519BB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3">
            <a:extLst>
              <a:ext uri="{FF2B5EF4-FFF2-40B4-BE49-F238E27FC236}">
                <a16:creationId xmlns:a16="http://schemas.microsoft.com/office/drawing/2014/main" id="{FF01DEFB-85B3-4800-9AB4-78FD0F172F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Condition appears at the beginning of a pretest loop – must be a Boolean expression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condition evaluates to true, the instructions in the loop body are processed; otherwise, the loop body instructions are skipped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Some loops require the user to enter a special sentinel value to end the loop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Sentinel values should be easily distinguishable from valid data recognized by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Other loops are terminated by using a counter</a:t>
            </a: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D4CC31B1-578D-4CB3-A135-9B400C468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30052" name="Footer Placeholder 3">
            <a:extLst>
              <a:ext uri="{FF2B5EF4-FFF2-40B4-BE49-F238E27FC236}">
                <a16:creationId xmlns:a16="http://schemas.microsoft.com/office/drawing/2014/main" id="{758D3AC5-C429-471E-A1E9-73F095A8B7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0053" name="Slide Number Placeholder 4">
            <a:extLst>
              <a:ext uri="{FF2B5EF4-FFF2-40B4-BE49-F238E27FC236}">
                <a16:creationId xmlns:a16="http://schemas.microsoft.com/office/drawing/2014/main" id="{68CEF2CB-0CF3-499E-840F-E051B9D5A8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7F2050-BF7C-46B3-9010-9D38A27BAEF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>
            <a:extLst>
              <a:ext uri="{FF2B5EF4-FFF2-40B4-BE49-F238E27FC236}">
                <a16:creationId xmlns:a16="http://schemas.microsoft.com/office/drawing/2014/main" id="{F0998F2C-808C-425F-A509-A5DB10FC70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Input instruction that appears above a pretest loop’s condition is the priming read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Sets up the loop by getting first value from user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Input instruction that appears within the loop is the update read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Gets the remaining values (if any) from user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most flowcharts, diamond (decision symbol) is used to represent a repetition structure’s condition</a:t>
            </a:r>
            <a:endParaRPr lang="en-US" altLang="en-US"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CC12ADB5-03D4-44B7-AB76-8B2DA8EAE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32100" name="Footer Placeholder 3">
            <a:extLst>
              <a:ext uri="{FF2B5EF4-FFF2-40B4-BE49-F238E27FC236}">
                <a16:creationId xmlns:a16="http://schemas.microsoft.com/office/drawing/2014/main" id="{F14BE820-0731-4323-B964-BA54810914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2101" name="Slide Number Placeholder 4">
            <a:extLst>
              <a:ext uri="{FF2B5EF4-FFF2-40B4-BE49-F238E27FC236}">
                <a16:creationId xmlns:a16="http://schemas.microsoft.com/office/drawing/2014/main" id="{7A3EF238-07C3-47C5-9476-A720A38F76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A43E2C-36E1-432B-BDB6-C88AABB367C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>
            <a:extLst>
              <a:ext uri="{FF2B5EF4-FFF2-40B4-BE49-F238E27FC236}">
                <a16:creationId xmlns:a16="http://schemas.microsoft.com/office/drawing/2014/main" id="{0789B08E-D3C9-41B1-9C7B-8C2018F64D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Counters and accumulators are used in repetition structures to calculate totals and averages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 counters and accumulators must be initialized and updated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Counters are updated by a constant value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Accumulators are updated by a variable amount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use either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while</a:t>
            </a:r>
            <a:r>
              <a:rPr lang="en-US" altLang="en-US" i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statement or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statement to code a pretest loop in C++</a:t>
            </a:r>
            <a:endParaRPr lang="en-US" altLang="en-US">
              <a:ea typeface="ＭＳ Ｐゴシック" panose="020B0600070205080204" pitchFamily="34" charset="-128"/>
              <a:cs typeface="Courier New" panose="02070309020205020404" pitchFamily="49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32C30612-06BF-4C66-B458-971E242310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34148" name="Footer Placeholder 3">
            <a:extLst>
              <a:ext uri="{FF2B5EF4-FFF2-40B4-BE49-F238E27FC236}">
                <a16:creationId xmlns:a16="http://schemas.microsoft.com/office/drawing/2014/main" id="{7AC9142E-B669-4F78-9549-8C84557C06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4149" name="Slide Number Placeholder 4">
            <a:extLst>
              <a:ext uri="{FF2B5EF4-FFF2-40B4-BE49-F238E27FC236}">
                <a16:creationId xmlns:a16="http://schemas.microsoft.com/office/drawing/2014/main" id="{C942B68F-A26D-4583-A3FF-3EC1CAA9F3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180211-97AD-45F0-B6AB-074F7CBA7B8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Content Placeholder 5">
            <a:extLst>
              <a:ext uri="{FF2B5EF4-FFF2-40B4-BE49-F238E27FC236}">
                <a16:creationId xmlns:a16="http://schemas.microsoft.com/office/drawing/2014/main" id="{8A5C82D1-2127-41A6-AAE0-AB0B54F24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Study the program in Figure 7-38 on page 229 and answer the questions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calculates the average number of text messages sent each day for 7 days</a:t>
            </a: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81FDD0BC-9E8E-46B9-BC34-2B9B7B968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7-1: Stop and Analyze</a:t>
            </a:r>
          </a:p>
        </p:txBody>
      </p:sp>
      <p:sp>
        <p:nvSpPr>
          <p:cNvPr id="136196" name="Footer Placeholder 3">
            <a:extLst>
              <a:ext uri="{FF2B5EF4-FFF2-40B4-BE49-F238E27FC236}">
                <a16:creationId xmlns:a16="http://schemas.microsoft.com/office/drawing/2014/main" id="{02965CDA-1FA1-4B10-9CF0-89BB3A42B6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6197" name="Slide Number Placeholder 4">
            <a:extLst>
              <a:ext uri="{FF2B5EF4-FFF2-40B4-BE49-F238E27FC236}">
                <a16:creationId xmlns:a16="http://schemas.microsoft.com/office/drawing/2014/main" id="{05C0CBDD-3778-4FEC-BE6E-EDCA75A8FA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4A479F-E3F6-4DA1-96F1-4904559968E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9AEDD1C3-2911-4B38-A0AD-E8AAE64EF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7-1: Stop and Analyze (cont’d.)</a:t>
            </a:r>
          </a:p>
        </p:txBody>
      </p:sp>
      <p:sp>
        <p:nvSpPr>
          <p:cNvPr id="138243" name="Footer Placeholder 3">
            <a:extLst>
              <a:ext uri="{FF2B5EF4-FFF2-40B4-BE49-F238E27FC236}">
                <a16:creationId xmlns:a16="http://schemas.microsoft.com/office/drawing/2014/main" id="{6941ADDA-79A5-44E2-B81B-F92154ED3C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8244" name="Slide Number Placeholder 4">
            <a:extLst>
              <a:ext uri="{FF2B5EF4-FFF2-40B4-BE49-F238E27FC236}">
                <a16:creationId xmlns:a16="http://schemas.microsoft.com/office/drawing/2014/main" id="{23E7A909-1D48-4D66-A991-429D95460D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FBDE0F-94AC-4654-892F-FB2C13BF0A6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8245" name="TextBox 9">
            <a:extLst>
              <a:ext uri="{FF2B5EF4-FFF2-40B4-BE49-F238E27FC236}">
                <a16:creationId xmlns:a16="http://schemas.microsoft.com/office/drawing/2014/main" id="{AE621BBC-22F0-4256-8576-D8CD63797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5651500"/>
            <a:ext cx="508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7-38 Code for Lab 7-1</a:t>
            </a:r>
          </a:p>
        </p:txBody>
      </p:sp>
      <p:pic>
        <p:nvPicPr>
          <p:cNvPr id="138246" name="Picture 2">
            <a:extLst>
              <a:ext uri="{FF2B5EF4-FFF2-40B4-BE49-F238E27FC236}">
                <a16:creationId xmlns:a16="http://schemas.microsoft.com/office/drawing/2014/main" id="{BF08D84E-A691-471E-AEB0-5F360ADF9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09775" y="1524000"/>
            <a:ext cx="5124450" cy="4051300"/>
          </a:xfr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85332713-6055-499D-9471-F8848D909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</a:t>
            </a:r>
          </a:p>
        </p:txBody>
      </p:sp>
      <p:sp>
        <p:nvSpPr>
          <p:cNvPr id="140291" name="Footer Placeholder 3">
            <a:extLst>
              <a:ext uri="{FF2B5EF4-FFF2-40B4-BE49-F238E27FC236}">
                <a16:creationId xmlns:a16="http://schemas.microsoft.com/office/drawing/2014/main" id="{9D0516D9-1D5F-4E7D-A615-D56D6832E1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0292" name="Slide Number Placeholder 4">
            <a:extLst>
              <a:ext uri="{FF2B5EF4-FFF2-40B4-BE49-F238E27FC236}">
                <a16:creationId xmlns:a16="http://schemas.microsoft.com/office/drawing/2014/main" id="{C2DFA565-72F4-4204-8FEA-542F5EAE12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29A544-AF02-4110-8C16-C0F4FB46050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0293" name="TextBox 12">
            <a:extLst>
              <a:ext uri="{FF2B5EF4-FFF2-40B4-BE49-F238E27FC236}">
                <a16:creationId xmlns:a16="http://schemas.microsoft.com/office/drawing/2014/main" id="{CD289942-4423-49F1-AD0F-E8755CB5D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8" y="46482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7-39 Problem specification for Lab 7-2</a:t>
            </a:r>
          </a:p>
        </p:txBody>
      </p:sp>
      <p:pic>
        <p:nvPicPr>
          <p:cNvPr id="140294" name="Picture 7">
            <a:extLst>
              <a:ext uri="{FF2B5EF4-FFF2-40B4-BE49-F238E27FC236}">
                <a16:creationId xmlns:a16="http://schemas.microsoft.com/office/drawing/2014/main" id="{CD6E8832-D27F-4F7D-B192-95C0563ED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2547938"/>
            <a:ext cx="845185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5A098A0-836B-4157-B554-C13AA38A8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 (cont’d.)</a:t>
            </a:r>
          </a:p>
        </p:txBody>
      </p:sp>
      <p:sp>
        <p:nvSpPr>
          <p:cNvPr id="142339" name="Footer Placeholder 3">
            <a:extLst>
              <a:ext uri="{FF2B5EF4-FFF2-40B4-BE49-F238E27FC236}">
                <a16:creationId xmlns:a16="http://schemas.microsoft.com/office/drawing/2014/main" id="{4AB638EE-16F4-4413-BF92-E42B27EC19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2340" name="Slide Number Placeholder 4">
            <a:extLst>
              <a:ext uri="{FF2B5EF4-FFF2-40B4-BE49-F238E27FC236}">
                <a16:creationId xmlns:a16="http://schemas.microsoft.com/office/drawing/2014/main" id="{0C681F4E-0EF3-4FB9-9D8A-BED07343D5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8CA3CE-6FAF-4455-9B0E-DA43BD6262E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2341" name="TextBox 12">
            <a:extLst>
              <a:ext uri="{FF2B5EF4-FFF2-40B4-BE49-F238E27FC236}">
                <a16:creationId xmlns:a16="http://schemas.microsoft.com/office/drawing/2014/main" id="{2FF941D8-7154-438C-8684-A9B83F459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7888" y="5537200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7-40 Completed IPO chart for Lab 7-2</a:t>
            </a:r>
          </a:p>
        </p:txBody>
      </p:sp>
      <p:pic>
        <p:nvPicPr>
          <p:cNvPr id="142342" name="Picture 2">
            <a:extLst>
              <a:ext uri="{FF2B5EF4-FFF2-40B4-BE49-F238E27FC236}">
                <a16:creationId xmlns:a16="http://schemas.microsoft.com/office/drawing/2014/main" id="{F15D1CF9-7304-4A05-A9B3-C98B91E00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295400"/>
            <a:ext cx="8750300" cy="425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A2944C45-48F4-432C-AA36-AFC929C26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 (cont’d.)</a:t>
            </a:r>
          </a:p>
        </p:txBody>
      </p:sp>
      <p:sp>
        <p:nvSpPr>
          <p:cNvPr id="144387" name="Footer Placeholder 3">
            <a:extLst>
              <a:ext uri="{FF2B5EF4-FFF2-40B4-BE49-F238E27FC236}">
                <a16:creationId xmlns:a16="http://schemas.microsoft.com/office/drawing/2014/main" id="{50699EA5-B2CC-4BAF-ADF2-7EE6AEA222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4388" name="Slide Number Placeholder 4">
            <a:extLst>
              <a:ext uri="{FF2B5EF4-FFF2-40B4-BE49-F238E27FC236}">
                <a16:creationId xmlns:a16="http://schemas.microsoft.com/office/drawing/2014/main" id="{B9C8CCC6-6D8A-4917-B402-8D20ECE9E1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8250AC-131A-4FEA-912F-2A9AE207CC7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4389" name="TextBox 12">
            <a:extLst>
              <a:ext uri="{FF2B5EF4-FFF2-40B4-BE49-F238E27FC236}">
                <a16:creationId xmlns:a16="http://schemas.microsoft.com/office/drawing/2014/main" id="{2B587AFB-C492-45B9-B1F5-E52B8F8461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660900"/>
            <a:ext cx="5524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7-41 Completed desk-check table for Lab 7-2</a:t>
            </a:r>
          </a:p>
        </p:txBody>
      </p:sp>
      <p:pic>
        <p:nvPicPr>
          <p:cNvPr id="144390" name="Picture 2">
            <a:extLst>
              <a:ext uri="{FF2B5EF4-FFF2-40B4-BE49-F238E27FC236}">
                <a16:creationId xmlns:a16="http://schemas.microsoft.com/office/drawing/2014/main" id="{E8D4A906-F52C-455E-AF53-D9E45AA78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2489200"/>
            <a:ext cx="8953500" cy="187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3FA3634C-EC25-4489-ACA8-D14FA8A6F2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 (cont’d.)</a:t>
            </a:r>
          </a:p>
        </p:txBody>
      </p:sp>
      <p:sp>
        <p:nvSpPr>
          <p:cNvPr id="146435" name="Footer Placeholder 3">
            <a:extLst>
              <a:ext uri="{FF2B5EF4-FFF2-40B4-BE49-F238E27FC236}">
                <a16:creationId xmlns:a16="http://schemas.microsoft.com/office/drawing/2014/main" id="{57A94798-FF1B-4709-BBFE-37E12E87D2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6436" name="Slide Number Placeholder 4">
            <a:extLst>
              <a:ext uri="{FF2B5EF4-FFF2-40B4-BE49-F238E27FC236}">
                <a16:creationId xmlns:a16="http://schemas.microsoft.com/office/drawing/2014/main" id="{58A39953-0D69-423C-A0B9-47333F7C1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59EAC3-1305-487E-84AE-A67A1F3D069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6437" name="TextBox 12">
            <a:extLst>
              <a:ext uri="{FF2B5EF4-FFF2-40B4-BE49-F238E27FC236}">
                <a16:creationId xmlns:a16="http://schemas.microsoft.com/office/drawing/2014/main" id="{B91B5F1B-EE19-48B9-ABCD-028728360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5842000"/>
            <a:ext cx="589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7-42 IPO chart and C++ instructions for Lab 7-2</a:t>
            </a:r>
          </a:p>
        </p:txBody>
      </p:sp>
      <p:pic>
        <p:nvPicPr>
          <p:cNvPr id="146438" name="Picture 2">
            <a:extLst>
              <a:ext uri="{FF2B5EF4-FFF2-40B4-BE49-F238E27FC236}">
                <a16:creationId xmlns:a16="http://schemas.microsoft.com/office/drawing/2014/main" id="{F20A57BB-492C-4FD2-B0D2-4090F3290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358900"/>
            <a:ext cx="8788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C30275E6-361A-4636-81C6-EF884EF847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 (cont’d.)</a:t>
            </a:r>
          </a:p>
        </p:txBody>
      </p:sp>
      <p:sp>
        <p:nvSpPr>
          <p:cNvPr id="148483" name="Footer Placeholder 3">
            <a:extLst>
              <a:ext uri="{FF2B5EF4-FFF2-40B4-BE49-F238E27FC236}">
                <a16:creationId xmlns:a16="http://schemas.microsoft.com/office/drawing/2014/main" id="{B3E5B398-4215-496A-815D-D6602B3233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48484" name="Slide Number Placeholder 4">
            <a:extLst>
              <a:ext uri="{FF2B5EF4-FFF2-40B4-BE49-F238E27FC236}">
                <a16:creationId xmlns:a16="http://schemas.microsoft.com/office/drawing/2014/main" id="{D7D26DB1-7AF5-438A-893C-AF3FAE4449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CE334-E8D3-4941-BB6E-BD28A8903C5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8485" name="TextBox 12">
            <a:extLst>
              <a:ext uri="{FF2B5EF4-FFF2-40B4-BE49-F238E27FC236}">
                <a16:creationId xmlns:a16="http://schemas.microsoft.com/office/drawing/2014/main" id="{7EF046D2-5935-4DF3-A2F0-D6D47C337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3200" y="4838700"/>
            <a:ext cx="589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7-43 Completed desk-check table for Lab 7-2</a:t>
            </a:r>
          </a:p>
        </p:txBody>
      </p:sp>
      <p:pic>
        <p:nvPicPr>
          <p:cNvPr id="148486" name="Picture 2">
            <a:extLst>
              <a:ext uri="{FF2B5EF4-FFF2-40B4-BE49-F238E27FC236}">
                <a16:creationId xmlns:a16="http://schemas.microsoft.com/office/drawing/2014/main" id="{E9AE82F1-CAF3-4509-876D-9A230B171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349500"/>
            <a:ext cx="8763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615034E4-F162-41B2-AE65-10CD62219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7-2: Plan and Create (cont’d.)</a:t>
            </a:r>
          </a:p>
        </p:txBody>
      </p:sp>
      <p:sp>
        <p:nvSpPr>
          <p:cNvPr id="150531" name="Footer Placeholder 3">
            <a:extLst>
              <a:ext uri="{FF2B5EF4-FFF2-40B4-BE49-F238E27FC236}">
                <a16:creationId xmlns:a16="http://schemas.microsoft.com/office/drawing/2014/main" id="{8D6CF216-E37F-426E-9EAC-46CC04C613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0532" name="Slide Number Placeholder 4">
            <a:extLst>
              <a:ext uri="{FF2B5EF4-FFF2-40B4-BE49-F238E27FC236}">
                <a16:creationId xmlns:a16="http://schemas.microsoft.com/office/drawing/2014/main" id="{4D92E2AE-7530-40EC-AF81-A50722ACE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DDCA7C-3646-4D1A-8AF4-C3355A0DA8D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0533" name="TextBox 12">
            <a:extLst>
              <a:ext uri="{FF2B5EF4-FFF2-40B4-BE49-F238E27FC236}">
                <a16:creationId xmlns:a16="http://schemas.microsoft.com/office/drawing/2014/main" id="{9E2D30BA-053E-4889-B003-D53BF3476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854700"/>
            <a:ext cx="594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7-44 Finalized program for Lab 7-2 </a:t>
            </a:r>
          </a:p>
        </p:txBody>
      </p:sp>
      <p:pic>
        <p:nvPicPr>
          <p:cNvPr id="150534" name="Picture 2">
            <a:extLst>
              <a:ext uri="{FF2B5EF4-FFF2-40B4-BE49-F238E27FC236}">
                <a16:creationId xmlns:a16="http://schemas.microsoft.com/office/drawing/2014/main" id="{D0CC77B6-08B3-4B98-A41D-C67DA6F1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1384300"/>
            <a:ext cx="598805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Content Placeholder 5">
            <a:extLst>
              <a:ext uri="{FF2B5EF4-FFF2-40B4-BE49-F238E27FC236}">
                <a16:creationId xmlns:a16="http://schemas.microsoft.com/office/drawing/2014/main" id="{48325409-DB7E-4A19-B4C7-DCEA50FBA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57338"/>
            <a:ext cx="87058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program in Lab7-1.cpp to utilize a </a:t>
            </a:r>
            <a:r>
              <a:rPr lang="en-US" altLang="en-US" i="1">
                <a:ea typeface="ＭＳ Ｐゴシック" panose="020B0600070205080204" pitchFamily="34" charset="-128"/>
              </a:rPr>
              <a:t>while</a:t>
            </a:r>
            <a:r>
              <a:rPr lang="en-US" altLang="en-US">
                <a:ea typeface="ＭＳ Ｐゴシック" panose="020B0600070205080204" pitchFamily="34" charset="-128"/>
              </a:rPr>
              <a:t> loop instead of a </a:t>
            </a:r>
            <a:r>
              <a:rPr lang="en-US" altLang="en-US" i="1">
                <a:ea typeface="ＭＳ Ｐゴシック" panose="020B0600070205080204" pitchFamily="34" charset="-128"/>
              </a:rPr>
              <a:t>for</a:t>
            </a:r>
            <a:r>
              <a:rPr lang="en-US" altLang="en-US">
                <a:ea typeface="ＭＳ Ｐゴシック" panose="020B0600070205080204" pitchFamily="34" charset="-128"/>
              </a:rPr>
              <a:t> loop.  Save the modified program as Lab7-3.cpp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using the following data: 76, 80, 100, 43, 68, 70, and 79.</a:t>
            </a: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8CA4DE38-5EE8-464C-BE33-175C0F093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7-3: Modify</a:t>
            </a:r>
          </a:p>
        </p:txBody>
      </p:sp>
      <p:sp>
        <p:nvSpPr>
          <p:cNvPr id="152580" name="Footer Placeholder 3">
            <a:extLst>
              <a:ext uri="{FF2B5EF4-FFF2-40B4-BE49-F238E27FC236}">
                <a16:creationId xmlns:a16="http://schemas.microsoft.com/office/drawing/2014/main" id="{AB2F999D-CF8B-488E-9894-25DB737C15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2581" name="Slide Number Placeholder 4">
            <a:extLst>
              <a:ext uri="{FF2B5EF4-FFF2-40B4-BE49-F238E27FC236}">
                <a16:creationId xmlns:a16="http://schemas.microsoft.com/office/drawing/2014/main" id="{DE813438-3CCF-4DB2-904C-0DB55527C7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48B2AC-55B1-4C3B-BADB-31154370BCE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Content Placeholder 5">
            <a:extLst>
              <a:ext uri="{FF2B5EF4-FFF2-40B4-BE49-F238E27FC236}">
                <a16:creationId xmlns:a16="http://schemas.microsoft.com/office/drawing/2014/main" id="{70AD1B88-FB2A-4AF0-AF53-BB991382F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57338"/>
            <a:ext cx="87058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is this lab should display the average electric bill.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Lab7-4.cpp file.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Put the C++ instructions in the proper order, and then determine the one or more missing instructions.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using the following monthly electric bills: 124.89, 110.65, 99.43, 100.35, and -1 (the sentinel value)</a:t>
            </a: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70E1D849-AEF8-46D7-83A2-EABDF160B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7-4: What’s Missing?</a:t>
            </a:r>
          </a:p>
        </p:txBody>
      </p:sp>
      <p:sp>
        <p:nvSpPr>
          <p:cNvPr id="154628" name="Footer Placeholder 3">
            <a:extLst>
              <a:ext uri="{FF2B5EF4-FFF2-40B4-BE49-F238E27FC236}">
                <a16:creationId xmlns:a16="http://schemas.microsoft.com/office/drawing/2014/main" id="{6A2842DA-775C-464F-985B-3BF275F1D4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4629" name="Slide Number Placeholder 4">
            <a:extLst>
              <a:ext uri="{FF2B5EF4-FFF2-40B4-BE49-F238E27FC236}">
                <a16:creationId xmlns:a16="http://schemas.microsoft.com/office/drawing/2014/main" id="{9B5752A4-B472-476D-BD5F-2A50C408F8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ACEC39-B8A3-4AB6-8A78-EE86BF88D61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Content Placeholder 5">
            <a:extLst>
              <a:ext uri="{FF2B5EF4-FFF2-40B4-BE49-F238E27FC236}">
                <a16:creationId xmlns:a16="http://schemas.microsoft.com/office/drawing/2014/main" id="{F7417CBF-D903-4027-859F-746D4D229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350" y="1557338"/>
            <a:ext cx="8705850" cy="2252662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code in Figure 7-45 should display the numbers 2, 4, 6, 8, 10, and 12.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Desk-check the code; did your desk-check reveal any errors?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so, correct the code and then desk-check it again</a:t>
            </a: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AA641000-8465-4C8F-95DA-597F826D2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7-5: Desk-Check</a:t>
            </a:r>
          </a:p>
        </p:txBody>
      </p:sp>
      <p:sp>
        <p:nvSpPr>
          <p:cNvPr id="156676" name="Footer Placeholder 3">
            <a:extLst>
              <a:ext uri="{FF2B5EF4-FFF2-40B4-BE49-F238E27FC236}">
                <a16:creationId xmlns:a16="http://schemas.microsoft.com/office/drawing/2014/main" id="{E9CE811A-15E9-4019-BD21-C4D15CD806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6677" name="Slide Number Placeholder 4">
            <a:extLst>
              <a:ext uri="{FF2B5EF4-FFF2-40B4-BE49-F238E27FC236}">
                <a16:creationId xmlns:a16="http://schemas.microsoft.com/office/drawing/2014/main" id="{DA41B5E8-FFDE-4FEF-A872-E1BE06FFAA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7C4D24-5840-45B4-B458-32542D9CFBB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6678" name="TextBox 7">
            <a:extLst>
              <a:ext uri="{FF2B5EF4-FFF2-40B4-BE49-F238E27FC236}">
                <a16:creationId xmlns:a16="http://schemas.microsoft.com/office/drawing/2014/main" id="{B94E61F8-4ADB-4407-82C3-970F76851B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9738" y="5749925"/>
            <a:ext cx="330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7-45 Code for Lab 7-5</a:t>
            </a:r>
          </a:p>
        </p:txBody>
      </p:sp>
      <p:pic>
        <p:nvPicPr>
          <p:cNvPr id="156679" name="Picture 8">
            <a:extLst>
              <a:ext uri="{FF2B5EF4-FFF2-40B4-BE49-F238E27FC236}">
                <a16:creationId xmlns:a16="http://schemas.microsoft.com/office/drawing/2014/main" id="{38FD7712-D651-46AD-91C4-757C0B447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4025900"/>
            <a:ext cx="681037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Content Placeholder 5">
            <a:extLst>
              <a:ext uri="{FF2B5EF4-FFF2-40B4-BE49-F238E27FC236}">
                <a16:creationId xmlns:a16="http://schemas.microsoft.com/office/drawing/2014/main" id="{FC5B09B3-CA1A-478F-B95D-76ED0DED4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676400"/>
            <a:ext cx="822325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Lab7-6.cpp file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Run the program and enter 15.45 when prompted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goes into an infinite loop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Type Ctrl+c to end the program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Debug the program</a:t>
            </a: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71F9A194-44DC-4DFA-8B36-8DC949E8E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7-6: Debug</a:t>
            </a:r>
          </a:p>
        </p:txBody>
      </p:sp>
      <p:sp>
        <p:nvSpPr>
          <p:cNvPr id="158724" name="Footer Placeholder 3">
            <a:extLst>
              <a:ext uri="{FF2B5EF4-FFF2-40B4-BE49-F238E27FC236}">
                <a16:creationId xmlns:a16="http://schemas.microsoft.com/office/drawing/2014/main" id="{B49A40D7-2AAD-4A75-AD8F-6DE362EF78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8725" name="Slide Number Placeholder 4">
            <a:extLst>
              <a:ext uri="{FF2B5EF4-FFF2-40B4-BE49-F238E27FC236}">
                <a16:creationId xmlns:a16="http://schemas.microsoft.com/office/drawing/2014/main" id="{B327DC61-D781-4C14-8491-5A334AEAD2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D22E87-DD5B-40ED-830C-7E8C250C386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r Page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Regular Page</Template>
  <TotalTime>0</TotalTime>
  <Words>3574</Words>
  <Application>Microsoft Office PowerPoint</Application>
  <PresentationFormat>On-screen Show (4:3)</PresentationFormat>
  <Paragraphs>491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ＭＳ Ｐゴシック</vt:lpstr>
      <vt:lpstr>Arial</vt:lpstr>
      <vt:lpstr>Calibri</vt:lpstr>
      <vt:lpstr>Courier New</vt:lpstr>
      <vt:lpstr>Times New Roman</vt:lpstr>
      <vt:lpstr>Trebuchet MS</vt:lpstr>
      <vt:lpstr>Regular Page</vt:lpstr>
      <vt:lpstr>Chapter 7</vt:lpstr>
      <vt:lpstr>Objectives</vt:lpstr>
      <vt:lpstr>Repeating Program Instructions</vt:lpstr>
      <vt:lpstr>Repeating Program Instructions (cont’d.)</vt:lpstr>
      <vt:lpstr>Repeating Program Instructions (cont’d.)</vt:lpstr>
      <vt:lpstr>Repeating Program Instructions (cont’d.)</vt:lpstr>
      <vt:lpstr>Repeating Program Instructions (cont’d.)</vt:lpstr>
      <vt:lpstr>Using a Pretest Loop to Solve a Real-World Problem</vt:lpstr>
      <vt:lpstr>Using a Pretest Loop to Solve a Real-World Problem (cont.)</vt:lpstr>
      <vt:lpstr>Using a Pretest Loop to Solve a Real-World Problem (cont’d.)</vt:lpstr>
      <vt:lpstr>Using a Pretest Loop to Solve a Real-World Problem (cont’d.)</vt:lpstr>
      <vt:lpstr>Flowcharting a Pretest Loop</vt:lpstr>
      <vt:lpstr>Flowcharting a Pretest Loop (cont’d.)</vt:lpstr>
      <vt:lpstr>Flowcharting a Pretest Loop (cont’d.)</vt:lpstr>
      <vt:lpstr>Flowcharting a Pretest Loop (cont’d.)</vt:lpstr>
      <vt:lpstr>Flowcharting a Pretest Loop (cont’d.)</vt:lpstr>
      <vt:lpstr>The while Statement</vt:lpstr>
      <vt:lpstr>The while Statement (cont’d.)</vt:lpstr>
      <vt:lpstr>The while Statement (cont’d.)</vt:lpstr>
      <vt:lpstr>The while Statement (cont’d.)</vt:lpstr>
      <vt:lpstr>The while Statement (cont’d.)</vt:lpstr>
      <vt:lpstr>The while Statement (cont’d.)</vt:lpstr>
      <vt:lpstr>Using Counters and Accumulators</vt:lpstr>
      <vt:lpstr>Using Counters and Accumulators (cont’d.)</vt:lpstr>
      <vt:lpstr>Using Counters and Accumulators (cont’d.)</vt:lpstr>
      <vt:lpstr>Using Counters and Accumulators (cont’d.)</vt:lpstr>
      <vt:lpstr>The Stock Price Program</vt:lpstr>
      <vt:lpstr>The Stock Price Program (cont’d.)</vt:lpstr>
      <vt:lpstr>The Stock Price Program (cont’d.)</vt:lpstr>
      <vt:lpstr>The Stock Price Program (cont’d.)</vt:lpstr>
      <vt:lpstr>The Stock Price Program (cont’d.)</vt:lpstr>
      <vt:lpstr>The Stock Price Program (cont’d.)</vt:lpstr>
      <vt:lpstr>Counter-Controlled Pretest Loops</vt:lpstr>
      <vt:lpstr>Counter-Controlled Pretest Loops (cont’d.)</vt:lpstr>
      <vt:lpstr>Counter-Controlled Pretest Loops (cont’d.)</vt:lpstr>
      <vt:lpstr>Counter-Controlled Pretest Loops (cont’d.)</vt:lpstr>
      <vt:lpstr>Counter-Controlled Pretest Loops (cont’d.)</vt:lpstr>
      <vt:lpstr>The for Statement</vt:lpstr>
      <vt:lpstr>The for Statement (cont’d.)</vt:lpstr>
      <vt:lpstr>The for Statement (cont’d.)</vt:lpstr>
      <vt:lpstr>The for Statement (cont’d.)</vt:lpstr>
      <vt:lpstr>The for Statement (cont’d.)</vt:lpstr>
      <vt:lpstr>The Total Payroll Program</vt:lpstr>
      <vt:lpstr>The Total Payroll Program (cont’d.)</vt:lpstr>
      <vt:lpstr>The Total Payroll Program (cont’d.)</vt:lpstr>
      <vt:lpstr>The Total Payroll Program (cont’d.)</vt:lpstr>
      <vt:lpstr>The Tip Program</vt:lpstr>
      <vt:lpstr>The Tip Program (cont’d.)</vt:lpstr>
      <vt:lpstr>The Tip Program (cont’d.)</vt:lpstr>
      <vt:lpstr>The Tip Program (cont’d.)</vt:lpstr>
      <vt:lpstr>Another Version of the Commission Program</vt:lpstr>
      <vt:lpstr>Another Version of the Commission Program (cont’d.)</vt:lpstr>
      <vt:lpstr>Another Version of the Commission Program (cont’d.)</vt:lpstr>
      <vt:lpstr>Another Version of the Commission Program (cont’d.)</vt:lpstr>
      <vt:lpstr>The Even Integers Program</vt:lpstr>
      <vt:lpstr>The Even Integers Program (cont’d.)</vt:lpstr>
      <vt:lpstr>The Even Integers Program (cont’d.)</vt:lpstr>
      <vt:lpstr>The Even Integers Program (cont’d.)</vt:lpstr>
      <vt:lpstr>The Even Integers Program (cont’d.)</vt:lpstr>
      <vt:lpstr>Summary</vt:lpstr>
      <vt:lpstr>Summary (cont’d.)</vt:lpstr>
      <vt:lpstr>Summary (cont’d.)</vt:lpstr>
      <vt:lpstr>Summary (cont’d.)</vt:lpstr>
      <vt:lpstr>Lab 7-1: Stop and Analyze</vt:lpstr>
      <vt:lpstr>Lab 7-1: Stop and Analyze (cont’d.)</vt:lpstr>
      <vt:lpstr>Lab 7-2: Plan and Create</vt:lpstr>
      <vt:lpstr>Lab 7-2: Plan and Create (cont’d.)</vt:lpstr>
      <vt:lpstr>Lab 7-2: Plan and Create (cont’d.)</vt:lpstr>
      <vt:lpstr>Lab 7-2: Plan and Create (cont’d.)</vt:lpstr>
      <vt:lpstr>Lab 7-2: Plan and Create (cont’d.)</vt:lpstr>
      <vt:lpstr>Lab 7-2: Plan and Create (cont’d.)</vt:lpstr>
      <vt:lpstr>Lab 7-3: Modify</vt:lpstr>
      <vt:lpstr>Lab 7-4: What’s Missing?</vt:lpstr>
      <vt:lpstr>Lab 7-5: Desk-Check</vt:lpstr>
      <vt:lpstr>Lab 7-6: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2012-07-19T19:40:12Z</dcterms:created>
  <dcterms:modified xsi:type="dcterms:W3CDTF">2020-07-14T21:16:54Z</dcterms:modified>
</cp:coreProperties>
</file>