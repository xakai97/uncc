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804" r:id="rId1"/>
  </p:sldMasterIdLst>
  <p:notesMasterIdLst>
    <p:notesMasterId r:id="rId50"/>
  </p:notesMasterIdLst>
  <p:handoutMasterIdLst>
    <p:handoutMasterId r:id="rId51"/>
  </p:handoutMasterIdLst>
  <p:sldIdLst>
    <p:sldId id="319" r:id="rId2"/>
    <p:sldId id="257" r:id="rId3"/>
    <p:sldId id="463" r:id="rId4"/>
    <p:sldId id="464" r:id="rId5"/>
    <p:sldId id="507" r:id="rId6"/>
    <p:sldId id="519" r:id="rId7"/>
    <p:sldId id="484" r:id="rId8"/>
    <p:sldId id="506" r:id="rId9"/>
    <p:sldId id="508" r:id="rId10"/>
    <p:sldId id="521" r:id="rId11"/>
    <p:sldId id="471" r:id="rId12"/>
    <p:sldId id="465" r:id="rId13"/>
    <p:sldId id="520" r:id="rId14"/>
    <p:sldId id="509" r:id="rId15"/>
    <p:sldId id="466" r:id="rId16"/>
    <p:sldId id="522" r:id="rId17"/>
    <p:sldId id="523" r:id="rId18"/>
    <p:sldId id="486" r:id="rId19"/>
    <p:sldId id="510" r:id="rId20"/>
    <p:sldId id="488" r:id="rId21"/>
    <p:sldId id="489" r:id="rId22"/>
    <p:sldId id="511" r:id="rId23"/>
    <p:sldId id="512" r:id="rId24"/>
    <p:sldId id="524" r:id="rId25"/>
    <p:sldId id="513" r:id="rId26"/>
    <p:sldId id="525" r:id="rId27"/>
    <p:sldId id="526" r:id="rId28"/>
    <p:sldId id="514" r:id="rId29"/>
    <p:sldId id="476" r:id="rId30"/>
    <p:sldId id="528" r:id="rId31"/>
    <p:sldId id="527" r:id="rId32"/>
    <p:sldId id="529" r:id="rId33"/>
    <p:sldId id="515" r:id="rId34"/>
    <p:sldId id="516" r:id="rId35"/>
    <p:sldId id="517" r:id="rId36"/>
    <p:sldId id="445" r:id="rId37"/>
    <p:sldId id="446" r:id="rId38"/>
    <p:sldId id="518" r:id="rId39"/>
    <p:sldId id="530" r:id="rId40"/>
    <p:sldId id="498" r:id="rId41"/>
    <p:sldId id="531" r:id="rId42"/>
    <p:sldId id="532" r:id="rId43"/>
    <p:sldId id="533" r:id="rId44"/>
    <p:sldId id="534" r:id="rId45"/>
    <p:sldId id="503" r:id="rId46"/>
    <p:sldId id="535" r:id="rId47"/>
    <p:sldId id="504" r:id="rId48"/>
    <p:sldId id="505" r:id="rId4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F00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>
      <p:cViewPr varScale="1">
        <p:scale>
          <a:sx n="108" d="100"/>
          <a:sy n="108" d="100"/>
        </p:scale>
        <p:origin x="106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322516C5-87BE-49A5-9CAE-D518D9FE6F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7BDDCDC1-7F97-44DD-BB53-1B9C594324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DCE46015-A724-4DCB-B5F4-C3C209CC3A8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2628E847-4E92-407B-9BB3-E5771A8AEFC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A3FC744-5730-44DF-BD34-2360C8CB6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278A25C-CFFA-4455-BB4E-44BE6F40A3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4DCAB12-5167-400E-9DC5-6C7E5AE5AEB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B3531959-9377-4BBA-8BC5-C2678E6160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08633408-DB54-406F-A660-7886A82FFB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799EE430-8224-4FA7-8F8F-9E302F295B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F5082A0A-7FB9-4D53-B699-F38D3115CA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DEB1C5A-A51F-4669-B907-3B634DFF9C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1BFEDC91-9D55-41E9-8CAB-2C8B260BBD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530717-63B0-4F46-9C80-3D9348E03AE1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B849FAD-BDC9-46EE-9C79-7BCE67A1D4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8F8536ED-5C76-497D-A212-2E0CDEFD1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3CEA6B95-4A5B-44C6-8ADD-6F4B3B0138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46E9D6E-BDC9-4F55-990F-45DDCA58D103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D5F3FD87-C034-4671-A793-6FB19979A1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C01F1F11-9F30-4B7F-B0C1-E2E2D0DB9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F520B720-75C4-4F28-8828-8F52B38876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E2EFE61-1938-4545-BBC6-B4430DB95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8063E85D-B3DE-4BED-944F-1B64A1F0B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3DDE8C9-0E2B-4AF8-B0B4-DC93C875BD5C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54F0E93-D049-4BF3-B675-8089A7FEB2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84A7D3B0-811F-4D8C-BC0B-B02A6D53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271C85A5-81B5-4D64-AC30-16FCF5CF1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E5F6FB6-6798-451A-9DAC-ACE41C8B35CD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EAA5D056-20D2-44EC-A034-BDBAC915D7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8C37F39F-5EC6-49AB-966D-20DFD6CF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5D37A0D6-4535-44AC-A4F6-B68032585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DE8192-06DE-49C5-AE3F-8A9F2CF2CFE4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8523E530-ADB6-475B-8831-93D2261975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E3ACBE45-59B8-4192-9B67-25B3C2597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FCE9ECBB-9444-498A-A159-C74677AED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ACA24FA-BD38-4157-BC05-1EB80B30B3AB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32CDB56A-F3AF-4CD6-9326-5C6F9F4323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BFE2950F-99D6-4AFE-815F-4706F6D7B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658D766C-05C8-4141-9CBC-E562A3CF6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F2B82E3-8D87-4F59-AEB7-80CC6539D31E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CF7ECBDF-5F47-4A44-9378-0F5F7D4ED8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447FA16F-D124-4399-A4E1-3BC954DF0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E5479918-0E0B-4F81-95D3-A1D49DD67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5B7EC64-74FC-49C3-A1E6-C7CDA08A53E8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7ED5FCDE-BEFC-4433-8BD8-09440F44A5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33F25805-91AB-422A-A301-7DD3262B1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A5898FAB-1F2B-48E3-B33B-9651BB4D3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01EBF5-700E-46E9-ABE0-9936E224C1DC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0EE6E9EC-BDA9-4122-9EEF-DCD5C28D09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F562B922-7940-4AF8-861C-B44834A54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B5C2E390-2FD7-45B6-8281-9A6B1D4D1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7BDA99-5D62-47C4-A688-4EF2953366D6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0E828DC9-134A-43CF-B3FD-431467023B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8008079B-7FB3-4FC9-9125-9F760B1EA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D95D9B3E-FEDF-4BC9-ACAD-43F122FF9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FDD1877-68AF-4337-A989-63684289B990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9FE9D625-35C9-4727-A337-47EEDF54C5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81ACF843-E3AF-4991-9B98-BF8253A8B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FC05816A-B06C-4484-B8F6-7BC932872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A5F6E40-3A7D-497D-899F-053A936BF7F3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8EC19534-DC74-4F80-81DB-09FF445D26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2D7BBFDA-15FA-41EB-A924-F3B1C536E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52B13C02-6E6E-49BE-AC05-E23CA2CA3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2A2E69B-EA7D-4A1D-8A6B-DF16486780DD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AAB22BD1-1D62-4BAC-A6E8-8387564044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89906FBB-E8B2-40C5-A09B-20053EA89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ECCE5C83-CA8F-4C68-8424-E43F3B5A8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9B0B500-1BB4-4FD5-919D-94157945966F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A780830D-35D0-4DAC-9C36-87426F62F3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966A47F-C39A-4B05-AB53-E64A83B03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C45E5405-7CD8-4C9E-9916-F9DBDD321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B78F01-322A-4F22-899A-039A3775A922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820C206B-F93C-4AAC-8B5A-8CA61F6E3B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125E1BFF-4EEC-4358-89B1-8F8149E1F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4147436D-9779-4388-A985-9549E2416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9A10956-5655-4166-9045-33A9FBA392D0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7B08F1A3-8622-4A2F-AFC5-C9ED0CDD05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7726A0CE-64E8-4EAD-A651-DB3CB5EA8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CD2B3858-CFA1-43D9-98B5-1AAFBDF12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442C7AA-460D-47A4-B449-9F3D0D0B9C26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AA436085-9AF1-4081-BA2E-3DFE4289B0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FDA43451-FCDF-4872-B22D-DF1EF5D62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31BBC5D5-3930-4051-8868-511FE10E5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574F0F-974E-4A55-AD2D-539C67DEE517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9E71D269-51A6-490F-9DBC-BC730E1866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5D69DF79-5C05-49FB-95EA-1C7DA6420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8A461C76-32BE-4C0F-AB6F-E95DE61C5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84E5B7-FAC6-47A8-A20F-0A3D46F10A77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34E43C4C-5A24-49D7-9938-78400469A4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0929D253-6BFF-4E3A-B48E-8B5CB2265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C28F9F93-3C42-42C4-975E-A0FDD1D69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A1C6C5-380A-439D-9392-166967CA1650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CB628FE6-BF6A-4AFC-B67F-1CE5E194F0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57242A91-75E7-46D4-937A-51766EEA1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52729720-3DEA-4619-94FE-EDBF13A35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C72814B-7228-4FC8-9119-DD0ECD2FB139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DFF97474-005E-4F3D-876D-3059C3FE89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36897323-D8C0-4C31-976E-3211C135C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C2432FF4-E0E0-4D28-9F0B-926D7F597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97FB7A9-5F1C-4BBF-9774-1844413C47E2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5F32CEFB-8036-4E04-A670-A92714CD9A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80D8DB11-94BC-4E23-8F44-709D79603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C29BCDE3-52AD-481F-BB77-2A77D9778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8F94959-4FEC-4579-9112-A28E3C09FDE2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1CE74C9-2B00-4943-A591-AA4D81F387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63D0A70C-AB50-4545-B801-F6DF16607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33CDF2EA-DF7E-4411-90A0-6369A5DAD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2699868-0467-4174-9343-9D591DDF2827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D5B6706D-C153-4D79-B580-E5DEEC2CF2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F96C11A9-EA8B-46DE-916D-BD0098A75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04044ABB-9BCD-4401-A5CE-F04E3B3E4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CC5FD6-4821-4D76-B228-9ED5109345CB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9E626F90-3126-4CD1-BD0D-AC9D2E9F50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D21E580F-4BF4-4D2E-A4EE-90EFA9D99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806DFF17-2C00-43FA-A543-97D342CA7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3F588-E711-4D22-B3E3-4EE07B08633F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C7D7A06F-E961-45AD-A505-F0D75CEB17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C9A850D8-BDA9-4FF3-8F73-916755526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67C7D3A3-A74C-46F0-91C4-23C072A0D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C59CDCF-ECF8-465C-BF79-FD7ED572200D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07E3CBF1-0472-4D15-A312-2A105AA12B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1DDFB059-6AEA-4465-8C8E-F7C21C0A8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AB12E756-25B5-4E5F-B47B-451E25DB9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201F12E-C7AB-4E9B-8766-22E2F2CF3BE5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42A3FC1E-745D-4C75-9EFF-6E806BEDC6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076605E4-FA18-4D51-936A-26ECC54C9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0FEC62FA-A835-4E3C-9F02-15CF7AB57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A6D42AD-78C5-4F2E-8A8C-06395725483B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F5371497-83E3-4A46-BD9D-5AD793E710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139116C7-3453-4403-9967-B6981E2E4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A35B365A-DC38-45E7-B847-D57AADAD8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65642DE-0A3E-4704-AC52-D3678CCD0989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EDC02425-5F5D-474C-B954-71F38E3E04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AFE6538B-EED6-492D-9FB1-FD208ECBB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D292E04D-CE33-4858-A23C-1236AC1A3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811EBA9-8320-47F3-B247-899A9C8728CA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38EA370C-AE0F-4E03-B478-BC987F4809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80D58958-570C-4690-B00E-75D1CB04D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29B6AAA5-0266-498A-99EE-161115BC7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FC37FB-2C2E-4BA3-855B-095B70DAD516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484FABF2-2991-4A26-92E3-B543854826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BAD19644-EC4D-4EB4-875E-00CE4DBAB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F8D6AFDE-6481-49F7-BAF6-90243FF4A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C072200-8C98-404C-B90C-26912007AE4C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C0BF7D76-B045-495B-B0E2-775E160210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F0517B29-397E-4520-846A-699D49E24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EE6867D9-22FF-4815-A5D5-BEB0BE74B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B707761-F98B-4C38-966C-72FBC7EFBEEE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B3B35CED-6094-4068-B363-02BE34769A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748448C0-F20D-45B4-AC8A-6CE327D68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A090A24D-F882-4437-9B1A-88598BF0D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143A7BE-F40B-4D83-ACA0-8C055B168B77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7DDD4219-469B-4582-8BA0-6DC669D68E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4BB52E2-F9A2-4AEE-B2DE-A2358D92C45E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16D0FD9B-8597-4471-A8F6-D4EAA9C333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45E1A2D6-876F-4A1C-A9A6-A3B814F129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0EEFACFB-EE14-446C-8806-FB354D274F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3761268-1A4F-4B66-9D0C-07621F96BC4B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6220D60F-3A1E-4D15-BDC7-CD043E6F6E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F0797C11-D626-4F5B-83DD-FA705736B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439AD231-9C00-49FD-872E-B7B572CF8D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C0A24ED-9EA3-48EC-82CF-0593E4097BD3}" type="slidenum">
              <a:rPr lang="en-US" altLang="en-US" smtClean="0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69BC4A5A-A28F-4535-9ADF-7CBC6C390D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431AEDE6-8757-4786-A960-248C6B3F7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2C5E797B-5EF7-4A9E-8985-537143D655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F6B564-ED10-40E4-BF54-B4EBE3184AA5}" type="slidenum">
              <a:rPr lang="en-US" altLang="en-US" smtClean="0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843FA93C-0833-4697-A867-5115319C51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CA882CFA-3930-4507-9ABA-6F0D79CBF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F3023AD7-311E-4467-B66A-EED26B79CD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DDD7A27A-85B7-45DF-8D7E-226BE712A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6C4F6564-EC39-4311-BBE4-B0C4DD370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259865A-675F-44E7-996B-B4C5C84C9F04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462ACDBB-8F58-4096-B15C-99C9A8A3D3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35406742-894D-4724-90CF-DD44CD33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16A64088-E622-47F5-824B-5ED03AFA0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8D6906A-EFCC-4787-BA26-0914C992F788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3D6ABB18-4D69-4094-8744-236D4944E9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FEE863D0-89B8-4FAA-BE6C-44D3A2EEF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D9A66830-796B-4944-A150-BFE72107D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E142DAA-FA3C-4168-8208-7474EB0ADBC9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B0D30393-5CED-40C7-B831-E39D694088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E332D482-AA75-410A-BEFA-B29B9CFEE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28A12126-10DA-47AB-A800-42A3DA1D7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3308D5C-1CB1-4FEC-BBBA-10F20A0A872A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86B177CD-B3A7-4413-A8B5-690A3B15F9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8072E0C5-BB6E-46A7-86C1-971B78E6E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41495709-E281-46AF-8698-B164A32EE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C8FB6C0-1A43-4040-A229-4BAAC80A781B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>
            <a:extLst>
              <a:ext uri="{FF2B5EF4-FFF2-40B4-BE49-F238E27FC236}">
                <a16:creationId xmlns:a16="http://schemas.microsoft.com/office/drawing/2014/main" id="{703E19AF-F0D7-41B8-9764-7E0146FBD2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>
            <a:extLst>
              <a:ext uri="{FF2B5EF4-FFF2-40B4-BE49-F238E27FC236}">
                <a16:creationId xmlns:a16="http://schemas.microsoft.com/office/drawing/2014/main" id="{DE233F14-606F-4591-934A-9216C7043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8308" name="Slide Number Placeholder 3">
            <a:extLst>
              <a:ext uri="{FF2B5EF4-FFF2-40B4-BE49-F238E27FC236}">
                <a16:creationId xmlns:a16="http://schemas.microsoft.com/office/drawing/2014/main" id="{7FE72012-4836-451E-848C-12079F77C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57B83E3-D511-4D08-ACAD-2343A9FE94CC}" type="slidenum">
              <a:rPr lang="en-US" altLang="en-US" smtClean="0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>
            <a:extLst>
              <a:ext uri="{FF2B5EF4-FFF2-40B4-BE49-F238E27FC236}">
                <a16:creationId xmlns:a16="http://schemas.microsoft.com/office/drawing/2014/main" id="{624C5E22-0B9D-4DAE-9269-A5233DA5FD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>
            <a:extLst>
              <a:ext uri="{FF2B5EF4-FFF2-40B4-BE49-F238E27FC236}">
                <a16:creationId xmlns:a16="http://schemas.microsoft.com/office/drawing/2014/main" id="{699A4038-215A-465B-ACFD-49B415956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0356" name="Slide Number Placeholder 3">
            <a:extLst>
              <a:ext uri="{FF2B5EF4-FFF2-40B4-BE49-F238E27FC236}">
                <a16:creationId xmlns:a16="http://schemas.microsoft.com/office/drawing/2014/main" id="{A86E2D62-E566-4550-A065-8523C58AE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2577821-15E5-48F7-BFE9-9244D2167900}" type="slidenum">
              <a:rPr lang="en-US" altLang="en-US" smtClean="0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>
            <a:extLst>
              <a:ext uri="{FF2B5EF4-FFF2-40B4-BE49-F238E27FC236}">
                <a16:creationId xmlns:a16="http://schemas.microsoft.com/office/drawing/2014/main" id="{6447BD57-424F-4461-9134-10F326353B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>
            <a:extLst>
              <a:ext uri="{FF2B5EF4-FFF2-40B4-BE49-F238E27FC236}">
                <a16:creationId xmlns:a16="http://schemas.microsoft.com/office/drawing/2014/main" id="{C0E235A3-861A-4094-8488-EED9326CF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2404" name="Slide Number Placeholder 3">
            <a:extLst>
              <a:ext uri="{FF2B5EF4-FFF2-40B4-BE49-F238E27FC236}">
                <a16:creationId xmlns:a16="http://schemas.microsoft.com/office/drawing/2014/main" id="{BE524417-D8D3-4B23-8212-E52380D66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44A4B04-DD05-4273-A195-E28C2F73FF82}" type="slidenum">
              <a:rPr lang="en-US" altLang="en-US" smtClean="0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>
            <a:extLst>
              <a:ext uri="{FF2B5EF4-FFF2-40B4-BE49-F238E27FC236}">
                <a16:creationId xmlns:a16="http://schemas.microsoft.com/office/drawing/2014/main" id="{3B263E77-0982-4833-AABA-C3FB3DA868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>
            <a:extLst>
              <a:ext uri="{FF2B5EF4-FFF2-40B4-BE49-F238E27FC236}">
                <a16:creationId xmlns:a16="http://schemas.microsoft.com/office/drawing/2014/main" id="{5C4B731E-A054-4CE1-9049-03D71BD82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4452" name="Slide Number Placeholder 3">
            <a:extLst>
              <a:ext uri="{FF2B5EF4-FFF2-40B4-BE49-F238E27FC236}">
                <a16:creationId xmlns:a16="http://schemas.microsoft.com/office/drawing/2014/main" id="{BAA3D5C1-D34B-4E98-B84E-82A7E0911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AF5C181-61D3-4D8F-98BA-4903B07B7608}" type="slidenum">
              <a:rPr lang="en-US" altLang="en-US" smtClean="0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00BE1D16-08F0-4239-9721-603CE6090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55CECBAB-51DE-4320-AB37-8EE2010DE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B3D57B01-61AD-4E01-B8E1-44D99EA22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Introduction to Programming with C++</a:t>
            </a:r>
          </a:p>
          <a:p>
            <a:pPr algn="ctr" eaLnBrk="1" hangingPunct="1">
              <a:defRPr/>
            </a:pPr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Eighth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97BF9C-AF36-4B76-A022-8AC31999908F}"/>
              </a:ext>
            </a:extLst>
          </p:cNvPr>
          <p:cNvCxnSpPr/>
          <p:nvPr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A168152-5409-48A4-9DBB-353B00AE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5009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B8A88A-9912-4632-B7A5-8B43B4BCB5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575CE74-F1E5-4715-87DC-5CCEA3CF3B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C2706-6A8E-48FD-9DE2-0F5E3055A7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869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E03167-916C-4031-9A8D-24DE92F2B034}"/>
              </a:ext>
            </a:extLst>
          </p:cNvPr>
          <p:cNvSpPr>
            <a:spLocks/>
          </p:cNvSpPr>
          <p:nvPr/>
        </p:nvSpPr>
        <p:spPr bwMode="auto">
          <a:xfrm>
            <a:off x="609600" y="152400"/>
            <a:ext cx="8077200" cy="1143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n-US" altLang="en-US" sz="3600">
                <a:solidFill>
                  <a:schemeClr val="tx1"/>
                </a:solidFill>
                <a:latin typeface="Trebuchet MS" panose="020B0603020202020204" pitchFamily="34" charset="0"/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1FF7CB-83D3-484C-B903-4A6247F601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45B049-2136-4F8D-841F-6921C364EBD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0680F-3326-4945-8940-33EF05C3DB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380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AF695A-79A3-47F8-9878-97A30A6216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DC8708-5981-4F5F-B009-5E5B697EB5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42205D-4BD8-430F-822E-46DBD2D57C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489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4614F81-9D96-44C6-AC0F-02CDDC38D48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7749790-0A93-495F-8253-54321549E8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182AC-CAEE-467D-81D8-B0CE5F0772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160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CAF1974-C900-4162-832E-F51B4E9EB04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988BEDE-26DE-419D-AD4D-37CBD55B76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D6BE9-0D0B-4495-AFEA-6D4B828858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189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06ED65E-C2AB-4475-890B-CBA70B60C04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8252D06-6624-411F-8D26-A473A7DBB4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58754-6CA2-4630-92CA-803F786244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7811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47800"/>
            <a:ext cx="5111750" cy="4678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9A6304-2280-4687-BB71-0FFCED77E89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30988A-BF52-4634-B447-6705D13610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12E43-9F67-45BF-9B63-80E56931C7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931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379639-71BB-49AD-9278-726C9E8205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A13B2C-0146-4D85-812B-5E760981E0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DD89A-D8AB-43FF-896C-AE02FC35FA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040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rgbClr val="1648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0B96C4-5BC5-4D3B-870B-DFF82854E6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DDF1C1-2845-4912-BF00-F61CDB8D1A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744044-5F8F-4CFB-A560-0CE9B43A05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897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  <a:prstGeom prst="round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B4DBCE-59F5-4CDD-A6C9-38B9FC2208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01A919-076C-4B15-8223-0B273AF63B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4ECF7B-9D3B-4FE8-BBAE-1CD059B053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7194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399709-0E4A-46F2-9BD1-2860B10F21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3093CD-656A-43E4-8368-7942AC3673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485AAA-E3E8-4827-9890-5E728EB0A6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06D9312-3635-425F-AAC0-5DADAE054B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272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>
            <a:extLst>
              <a:ext uri="{FF2B5EF4-FFF2-40B4-BE49-F238E27FC236}">
                <a16:creationId xmlns:a16="http://schemas.microsoft.com/office/drawing/2014/main" id="{FECB86F2-96CB-44BA-8D55-FD3CD00A4D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pic>
        <p:nvPicPr>
          <p:cNvPr id="1027" name="Picture 6">
            <a:extLst>
              <a:ext uri="{FF2B5EF4-FFF2-40B4-BE49-F238E27FC236}">
                <a16:creationId xmlns:a16="http://schemas.microsoft.com/office/drawing/2014/main" id="{F8F0C1BE-6712-4AA3-9FE7-3BB54868B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>
            <a:extLst>
              <a:ext uri="{FF2B5EF4-FFF2-40B4-BE49-F238E27FC236}">
                <a16:creationId xmlns:a16="http://schemas.microsoft.com/office/drawing/2014/main" id="{AF9DBB06-B234-43E3-AC3A-4ADC1F8B04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8077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9326F69-8ABF-4073-AB61-DC0480CDD9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EC808E7-3360-44A0-996E-C85C661905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Placeholder 7">
            <a:extLst>
              <a:ext uri="{FF2B5EF4-FFF2-40B4-BE49-F238E27FC236}">
                <a16:creationId xmlns:a16="http://schemas.microsoft.com/office/drawing/2014/main" id="{0EED28F8-105C-4DB5-A725-B227060EE06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TextBox 2">
            <a:extLst>
              <a:ext uri="{FF2B5EF4-FFF2-40B4-BE49-F238E27FC236}">
                <a16:creationId xmlns:a16="http://schemas.microsoft.com/office/drawing/2014/main" id="{A5DC8766-8287-498D-8AFD-E8A29A0ADE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10200" y="6324600"/>
            <a:ext cx="27432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80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25" r:id="rId2"/>
    <p:sldLayoutId id="214748393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  <p:sldLayoutId id="2147483936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EC11-B62B-4C33-8B0A-33005A86B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3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82DB5675-E0DB-4452-AB0B-C442EFD674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Distinguish among a variable, a named constant, and a literal constant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Explain how data is stored in memory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Select an appropriate name, data type, and initial value for a memory location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Declare a memory location in C++</a:t>
            </a:r>
          </a:p>
        </p:txBody>
      </p:sp>
      <p:sp>
        <p:nvSpPr>
          <p:cNvPr id="9219" name="Footer Placeholder 3">
            <a:extLst>
              <a:ext uri="{FF2B5EF4-FFF2-40B4-BE49-F238E27FC236}">
                <a16:creationId xmlns:a16="http://schemas.microsoft.com/office/drawing/2014/main" id="{5428CA8F-0A12-4AB8-9508-C84E6DA894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E4B858C-77B3-4134-8E76-9F608524A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Chapter Objectives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C375D746-3C1A-4DD2-974B-126936794A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1EF51-0262-4F8B-A8DC-DB87AD2306A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CB282638-B4D5-4CBC-BA49-9B1C99649D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After Step 3, programmer has an algorithm and has desk-checked it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fourth step in the process is coding the algorithm into a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step begins by assigning a descriptive name, data type, and (optionally) initial value to each unique input, processing, and output item in the IPO chart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These are used to store the item in the computer’s internal memory</a:t>
            </a:r>
          </a:p>
        </p:txBody>
      </p:sp>
      <p:sp>
        <p:nvSpPr>
          <p:cNvPr id="11267" name="Footer Placeholder 3">
            <a:extLst>
              <a:ext uri="{FF2B5EF4-FFF2-40B4-BE49-F238E27FC236}">
                <a16:creationId xmlns:a16="http://schemas.microsoft.com/office/drawing/2014/main" id="{C345C836-8152-491F-91CE-1B3E0C422F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BBF22356-6D6E-4857-9261-5FAD55489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Beginning Step 4 in the Problem-Solving Process</a:t>
            </a:r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323EF681-8115-4506-A9DA-880ABB44C2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DC17AA-42A9-4EF7-A7A6-816C79D2BAA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0D22CD0F-3D64-4D3A-9676-B56E616F9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Computer’s internal memory is composed of memory locations, each with a unique numeric address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Similar to collection of storage bins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Each address can store one item at a time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Address can contain numbers, text, or program instructions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To use a memory location, programmer must reserve the address, called </a:t>
            </a:r>
            <a:r>
              <a:rPr lang="en-US" altLang="en-US" i="1">
                <a:ea typeface="ＭＳ Ｐゴシック" panose="020B0600070205080204" pitchFamily="34" charset="-128"/>
              </a:rPr>
              <a:t>declaring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315" name="Footer Placeholder 3">
            <a:extLst>
              <a:ext uri="{FF2B5EF4-FFF2-40B4-BE49-F238E27FC236}">
                <a16:creationId xmlns:a16="http://schemas.microsoft.com/office/drawing/2014/main" id="{BA041009-133B-4297-A517-616E3BE718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9CFEC5BA-1A46-49ED-BC86-40ED3E395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Internal Memory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F2015C05-3830-4AE1-9CF4-51D83014EA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5603E8-6FCB-41AA-B7F6-8AAA43EA26FC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CBA81E36-3FCF-4819-AC6A-B1A690BB6D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Declaring a memory location is done with an instruction that assigns a name, data type, and (optional) initial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name allows the programmer to refer to the memory location elsewhere in the program using a descriptive word, rather than the numeric address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data type indicates what type of information the address will store (e.g., number or text)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3" name="Footer Placeholder 3">
            <a:extLst>
              <a:ext uri="{FF2B5EF4-FFF2-40B4-BE49-F238E27FC236}">
                <a16:creationId xmlns:a16="http://schemas.microsoft.com/office/drawing/2014/main" id="{D68DF010-BEE8-49D9-A78E-68F0F06D3E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DD20B228-6E0D-49B6-80D3-3C201AC017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Internal Memory (cont’d.)</a:t>
            </a:r>
          </a:p>
        </p:txBody>
      </p:sp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56943046-0BD0-497B-8A5B-43563F20CA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56CB11-B8C9-4FFE-8497-D7BCD945F6A8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5626D0B7-8A70-40BF-BC45-668CB2D45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Two types of memory locations can be declared: variables and named constants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Variables are memory locations whose values can change during runtime (when the program is running)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Most memory locations are variables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Named constants are memory locations whose values cannot change during program execution</a:t>
            </a: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15F420A0-2927-43BD-BE7B-408CD22165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35AFF2FB-8457-4662-BCCD-81B102ACC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Internal Memory (cont’d.)</a:t>
            </a:r>
          </a:p>
        </p:txBody>
      </p:sp>
      <p:sp>
        <p:nvSpPr>
          <p:cNvPr id="17413" name="Slide Number Placeholder 4">
            <a:extLst>
              <a:ext uri="{FF2B5EF4-FFF2-40B4-BE49-F238E27FC236}">
                <a16:creationId xmlns:a16="http://schemas.microsoft.com/office/drawing/2014/main" id="{E17D1F3E-F939-4CBB-85FA-80861F42EB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2164DB-19DF-4956-9F61-6296B24588B4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EFB621AE-E5DB-43F8-A221-5E0DBFDFFE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9459" name="Title 1">
            <a:extLst>
              <a:ext uri="{FF2B5EF4-FFF2-40B4-BE49-F238E27FC236}">
                <a16:creationId xmlns:a16="http://schemas.microsoft.com/office/drawing/2014/main" id="{345C3F95-939B-4F42-93E2-FCC227DE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Internal Memory (cont’d.)</a:t>
            </a:r>
          </a:p>
        </p:txBody>
      </p:sp>
      <p:sp>
        <p:nvSpPr>
          <p:cNvPr id="19460" name="Rectangle 7">
            <a:extLst>
              <a:ext uri="{FF2B5EF4-FFF2-40B4-BE49-F238E27FC236}">
                <a16:creationId xmlns:a16="http://schemas.microsoft.com/office/drawing/2014/main" id="{207B7D9B-F797-44DD-99A6-F03911A83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791200"/>
            <a:ext cx="6248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3-1 Illustration of show boxes and memory locations</a:t>
            </a:r>
          </a:p>
        </p:txBody>
      </p:sp>
      <p:sp>
        <p:nvSpPr>
          <p:cNvPr id="19461" name="Slide Number Placeholder 5">
            <a:extLst>
              <a:ext uri="{FF2B5EF4-FFF2-40B4-BE49-F238E27FC236}">
                <a16:creationId xmlns:a16="http://schemas.microsoft.com/office/drawing/2014/main" id="{4FBBC995-2B74-4605-A306-4FC52D15B0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D2CD12-7F56-4BE4-82AF-97F519F72FF7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9462" name="Picture 7">
            <a:extLst>
              <a:ext uri="{FF2B5EF4-FFF2-40B4-BE49-F238E27FC236}">
                <a16:creationId xmlns:a16="http://schemas.microsoft.com/office/drawing/2014/main" id="{07E4589B-A9C5-4F15-8F58-C4210BECF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89050"/>
            <a:ext cx="84582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A8C0264B-891C-4FBC-9D12-643E18CCCE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Name (identifier) assigned to a memory location should be descriptive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Should help the programmer/other programmers remember/understand the memory location’s purpose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Should be as short as possible while still being descriptive (especially if referenced often)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Short names are easier to read and result in more concise code</a:t>
            </a:r>
          </a:p>
        </p:txBody>
      </p:sp>
      <p:sp>
        <p:nvSpPr>
          <p:cNvPr id="21507" name="Footer Placeholder 3">
            <a:extLst>
              <a:ext uri="{FF2B5EF4-FFF2-40B4-BE49-F238E27FC236}">
                <a16:creationId xmlns:a16="http://schemas.microsoft.com/office/drawing/2014/main" id="{47617774-E3DC-4BDC-9EE3-0E0B3E3C3C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4CC5061-FEC8-4133-A089-E309DE158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 Name for a Memory Location</a:t>
            </a:r>
          </a:p>
        </p:txBody>
      </p:sp>
      <p:sp>
        <p:nvSpPr>
          <p:cNvPr id="21509" name="Slide Number Placeholder 4">
            <a:extLst>
              <a:ext uri="{FF2B5EF4-FFF2-40B4-BE49-F238E27FC236}">
                <a16:creationId xmlns:a16="http://schemas.microsoft.com/office/drawing/2014/main" id="{82AA509E-FF39-4CE7-A588-816EDCDC97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A6B45D-2039-4624-8D0A-2DBF1469633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2ABA1BE0-35DC-439E-86F9-108E4ABB80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Rules for memory location names in C++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Name must begin with a letter and contain only letters, numbers, and the underscore character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No punctuation marks, spaces, or other special characters (such as $ or %) are allowed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Cannot be a keyword (word that has special meaning in C++)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Names are case sensitive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</a:rPr>
              <a:t>Example: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discount</a:t>
            </a:r>
            <a:r>
              <a:rPr lang="en-US" altLang="en-US">
                <a:ea typeface="ＭＳ Ｐゴシック" panose="020B0600070205080204" pitchFamily="34" charset="-128"/>
              </a:rPr>
              <a:t> is different from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DISCOUNT</a:t>
            </a:r>
            <a:r>
              <a:rPr lang="en-US" altLang="en-US">
                <a:ea typeface="ＭＳ Ｐゴシック" panose="020B0600070205080204" pitchFamily="34" charset="-128"/>
              </a:rPr>
              <a:t> and from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Discount</a:t>
            </a: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3555" name="Footer Placeholder 3">
            <a:extLst>
              <a:ext uri="{FF2B5EF4-FFF2-40B4-BE49-F238E27FC236}">
                <a16:creationId xmlns:a16="http://schemas.microsoft.com/office/drawing/2014/main" id="{0344F313-9A8D-4CEF-90FB-FBBD852E13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6849ED3-E9EB-4575-A412-6FCCA05EE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 Name for a Memory Location (cont’d.)</a:t>
            </a:r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5543552E-AF36-4D50-9FD4-0C40AF584F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A938E-7479-42CF-A56B-D9E2D8850D0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95A8F898-8AD6-4F00-8530-AA280BDAD4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Most programmers use uppercase letters for named constants and lowercase for variables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PI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(constant),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radius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(variable)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constants contain more than one word, separate words with underscores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TAX_RATE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variables contain more than one word, capitalize the first letter of each word after the first (called camel case)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adjustedGrossIncome</a:t>
            </a:r>
          </a:p>
        </p:txBody>
      </p:sp>
      <p:sp>
        <p:nvSpPr>
          <p:cNvPr id="25603" name="Footer Placeholder 3">
            <a:extLst>
              <a:ext uri="{FF2B5EF4-FFF2-40B4-BE49-F238E27FC236}">
                <a16:creationId xmlns:a16="http://schemas.microsoft.com/office/drawing/2014/main" id="{F793CFA9-63BC-4822-9283-A3291E4DF1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26F766B-8953-403B-BDF1-5DA8EDB19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Selecting a Name for a Memory Location (cont’d.)</a:t>
            </a:r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1283DF43-DC35-43CA-B677-91F64AA5D4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4AD2B0-8C53-4B4B-8F80-03DB408A8CBB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>
            <a:extLst>
              <a:ext uri="{FF2B5EF4-FFF2-40B4-BE49-F238E27FC236}">
                <a16:creationId xmlns:a16="http://schemas.microsoft.com/office/drawing/2014/main" id="{EBFD595A-8E33-4BAC-90A9-8D2AC4D9B7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7651" name="TextBox 6">
            <a:extLst>
              <a:ext uri="{FF2B5EF4-FFF2-40B4-BE49-F238E27FC236}">
                <a16:creationId xmlns:a16="http://schemas.microsoft.com/office/drawing/2014/main" id="{8E9F67F9-8999-4B15-8C10-E8A1E1F21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867400"/>
            <a:ext cx="5419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3-2 How to name a memory location in C++</a:t>
            </a: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F9CF2B21-AFEB-40A5-839B-A20532D901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F714BE-5E0E-42B4-8855-86F9D597DFC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D728EC2-ECAE-4E62-93AF-BFE0368C7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Selecting a Name for a Memory Location (cont’d.)</a:t>
            </a:r>
          </a:p>
        </p:txBody>
      </p:sp>
      <p:pic>
        <p:nvPicPr>
          <p:cNvPr id="27654" name="Picture 7">
            <a:extLst>
              <a:ext uri="{FF2B5EF4-FFF2-40B4-BE49-F238E27FC236}">
                <a16:creationId xmlns:a16="http://schemas.microsoft.com/office/drawing/2014/main" id="{379BEBFB-FD1F-4AFD-B0CB-75CE31CB0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934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389CEEB5-40B2-4451-AFC7-929A20FDB0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1E452DDA-B180-44EC-8628-60D5933F6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en-US" sz="3500">
                <a:ea typeface="ＭＳ Ｐゴシック" panose="020B0600070205080204" pitchFamily="34" charset="-128"/>
              </a:rPr>
              <a:t>Revisiting the Addison O’Reilly Problem</a:t>
            </a:r>
          </a:p>
        </p:txBody>
      </p:sp>
      <p:sp>
        <p:nvSpPr>
          <p:cNvPr id="29700" name="TextBox 6">
            <a:extLst>
              <a:ext uri="{FF2B5EF4-FFF2-40B4-BE49-F238E27FC236}">
                <a16:creationId xmlns:a16="http://schemas.microsoft.com/office/drawing/2014/main" id="{943951EC-456C-43D9-9530-7305BBCF0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588" y="5602288"/>
            <a:ext cx="46609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3-3 Problem specification, IPO chart,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and desk-check table from Chapter 2</a:t>
            </a:r>
          </a:p>
        </p:txBody>
      </p:sp>
      <p:sp>
        <p:nvSpPr>
          <p:cNvPr id="29701" name="Slide Number Placeholder 5">
            <a:extLst>
              <a:ext uri="{FF2B5EF4-FFF2-40B4-BE49-F238E27FC236}">
                <a16:creationId xmlns:a16="http://schemas.microsoft.com/office/drawing/2014/main" id="{56774592-13A5-4F86-A7D1-B4D63607F1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26DE9C-59FF-429D-8624-3FC6AE0E107E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9702" name="Picture 7">
            <a:extLst>
              <a:ext uri="{FF2B5EF4-FFF2-40B4-BE49-F238E27FC236}">
                <a16:creationId xmlns:a16="http://schemas.microsoft.com/office/drawing/2014/main" id="{67AEAA49-0CD6-40E2-9080-5B3E8C41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19213"/>
            <a:ext cx="8153400" cy="424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FD6D74C0-4709-46E5-8AD5-3806B3AEF8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IPO chart contains four input, processing, and output items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Four memory locations are needed to store the values of the items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Memory locations will be variables since their values will change during runtime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1747" name="Footer Placeholder 3">
            <a:extLst>
              <a:ext uri="{FF2B5EF4-FFF2-40B4-BE49-F238E27FC236}">
                <a16:creationId xmlns:a16="http://schemas.microsoft.com/office/drawing/2014/main" id="{E44DDBA2-42A1-435D-8F06-276D1F1978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66DAC53-EFBA-4D6D-A2D7-74D91BADC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Revisiting the Addison O’Reilly Problem (cont’d.)</a:t>
            </a:r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51171FD6-77C4-472B-AACF-FDEB4138B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41735C-3D52-4D49-AC12-0B9F547FE316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>
            <a:extLst>
              <a:ext uri="{FF2B5EF4-FFF2-40B4-BE49-F238E27FC236}">
                <a16:creationId xmlns:a16="http://schemas.microsoft.com/office/drawing/2014/main" id="{4718D01E-A111-4C78-907B-A547A1BCF4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2A8BEDD9-73AE-4F84-9F67-66BD442BD5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Revisiting the Addison O’Reilly Problem (cont’d.)</a:t>
            </a:r>
          </a:p>
        </p:txBody>
      </p:sp>
      <p:sp>
        <p:nvSpPr>
          <p:cNvPr id="33796" name="TextBox 6">
            <a:extLst>
              <a:ext uri="{FF2B5EF4-FFF2-40B4-BE49-F238E27FC236}">
                <a16:creationId xmlns:a16="http://schemas.microsoft.com/office/drawing/2014/main" id="{A9AB420D-9ACA-448C-BC7E-50887AC1C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600" y="4648200"/>
            <a:ext cx="7007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3-4 Names of the variables for the Addision O’Reilly problem</a:t>
            </a:r>
          </a:p>
        </p:txBody>
      </p:sp>
      <p:sp>
        <p:nvSpPr>
          <p:cNvPr id="33797" name="Slide Number Placeholder 5">
            <a:extLst>
              <a:ext uri="{FF2B5EF4-FFF2-40B4-BE49-F238E27FC236}">
                <a16:creationId xmlns:a16="http://schemas.microsoft.com/office/drawing/2014/main" id="{331D3746-FBE7-41AE-BFCB-CED10021E6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DA433F-8209-4B17-8F6E-D196BE2C9000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33798" name="Picture 7">
            <a:extLst>
              <a:ext uri="{FF2B5EF4-FFF2-40B4-BE49-F238E27FC236}">
                <a16:creationId xmlns:a16="http://schemas.microsoft.com/office/drawing/2014/main" id="{44831B52-64E5-45E5-84FD-C9F67CAE7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525" y="2709863"/>
            <a:ext cx="42989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0754757C-72FE-4101-9B3D-99D4E66E40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Memory locations come in different types and sizes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Type and size you choose depends on the item you want to store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memory location will only accept an item that matches its data type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Data type of a memory location is determined by the programmer when declaring the location</a:t>
            </a:r>
          </a:p>
        </p:txBody>
      </p:sp>
      <p:sp>
        <p:nvSpPr>
          <p:cNvPr id="35843" name="Footer Placeholder 3">
            <a:extLst>
              <a:ext uri="{FF2B5EF4-FFF2-40B4-BE49-F238E27FC236}">
                <a16:creationId xmlns:a16="http://schemas.microsoft.com/office/drawing/2014/main" id="{0EB10A3F-C5BA-4C7B-AB72-8D291F59A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CB84D21-2B0C-4014-B66C-F22052EC84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 Data Type for a Memory Location</a:t>
            </a:r>
          </a:p>
        </p:txBody>
      </p: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6DCBB0BB-B129-450D-89B9-B9AD323B9D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9AD68D-4B81-455A-A2D5-2D8AF92986FD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9BEB5FCA-D3ED-4802-9899-9A1345B566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Fundamental data types are basic data types built into C++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Also called primitive or built-in data types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Include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short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float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bool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char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bool</a:t>
            </a:r>
            <a:r>
              <a:rPr lang="en-US" altLang="en-US">
                <a:ea typeface="ＭＳ Ｐゴシック" panose="020B0600070205080204" pitchFamily="34" charset="-128"/>
              </a:rPr>
              <a:t> data type stores Boolean values (true and false)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short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en-US" altLang="en-US">
                <a:ea typeface="ＭＳ Ｐゴシック" panose="020B0600070205080204" pitchFamily="34" charset="-128"/>
              </a:rPr>
              <a:t> types store integers (numbers without a decimal place)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Differences are range of values and memory used (</a:t>
            </a:r>
            <a:r>
              <a:rPr lang="en-US" altLang="en-US" sz="260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en-US" altLang="en-US">
                <a:ea typeface="ＭＳ Ｐゴシック" panose="020B0600070205080204" pitchFamily="34" charset="-128"/>
              </a:rPr>
              <a:t> has the greater of both)</a:t>
            </a:r>
          </a:p>
        </p:txBody>
      </p:sp>
      <p:sp>
        <p:nvSpPr>
          <p:cNvPr id="37891" name="Footer Placeholder 3">
            <a:extLst>
              <a:ext uri="{FF2B5EF4-FFF2-40B4-BE49-F238E27FC236}">
                <a16:creationId xmlns:a16="http://schemas.microsoft.com/office/drawing/2014/main" id="{DA92C45F-A7C8-4939-9BCA-6EA686754C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C8D04D1-C1E1-4738-84CA-C68F94881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 Data Type for a Memory Location (cont’d.)</a:t>
            </a:r>
          </a:p>
        </p:txBody>
      </p:sp>
      <p:sp>
        <p:nvSpPr>
          <p:cNvPr id="37893" name="Slide Number Placeholder 4">
            <a:extLst>
              <a:ext uri="{FF2B5EF4-FFF2-40B4-BE49-F238E27FC236}">
                <a16:creationId xmlns:a16="http://schemas.microsoft.com/office/drawing/2014/main" id="{BE98CD73-16C8-45C0-A74D-1A2ED4E88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8D689-E2BD-4B7D-81A9-3B6F7917B6C6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3DBBA29F-5AA5-4E1D-949D-3C3D4ED89F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float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</a:rPr>
              <a:t> types store real numbers (numbers with a decimal place)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Differences are range of values, precision, and memory used (</a:t>
            </a:r>
            <a:r>
              <a:rPr lang="en-US" altLang="en-US" sz="260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</a:rPr>
              <a:t> has the greater of each)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char</a:t>
            </a:r>
            <a:r>
              <a:rPr lang="en-US" altLang="en-US">
                <a:ea typeface="ＭＳ Ｐゴシック" panose="020B0600070205080204" pitchFamily="34" charset="-128"/>
              </a:rPr>
              <a:t> type stores characters (letter, symbol, or number that will not be used in a calculation)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Only one character stored at a time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string</a:t>
            </a:r>
            <a:r>
              <a:rPr lang="en-US" altLang="en-US">
                <a:ea typeface="ＭＳ Ｐゴシック" panose="020B0600070205080204" pitchFamily="34" charset="-128"/>
              </a:rPr>
              <a:t> data type is a user-defined data type (defined with a class, or group of instructions)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Can store zero or more characters</a:t>
            </a:r>
          </a:p>
        </p:txBody>
      </p:sp>
      <p:sp>
        <p:nvSpPr>
          <p:cNvPr id="39939" name="Footer Placeholder 3">
            <a:extLst>
              <a:ext uri="{FF2B5EF4-FFF2-40B4-BE49-F238E27FC236}">
                <a16:creationId xmlns:a16="http://schemas.microsoft.com/office/drawing/2014/main" id="{375BCDF7-4D1B-4DBA-B88E-0A1959E6C4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AFEF6499-6879-4F9B-814E-9CCEC054A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 Data Type for a Memory Location (cont’d.)</a:t>
            </a:r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25895365-82C3-4DFA-A940-5CB6581B76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93E21E-ADC0-443A-9C16-1C492CCF298C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>
            <a:extLst>
              <a:ext uri="{FF2B5EF4-FFF2-40B4-BE49-F238E27FC236}">
                <a16:creationId xmlns:a16="http://schemas.microsoft.com/office/drawing/2014/main" id="{C38A03EF-59E6-49F5-BD39-049C95E6AE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0482" name="Title 8">
            <a:extLst>
              <a:ext uri="{FF2B5EF4-FFF2-40B4-BE49-F238E27FC236}">
                <a16:creationId xmlns:a16="http://schemas.microsoft.com/office/drawing/2014/main" id="{53AA3618-5DD1-434B-80DA-C311F10C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 Data Type for a Memory Location (cont’d.)</a:t>
            </a:r>
          </a:p>
        </p:txBody>
      </p:sp>
      <p:sp>
        <p:nvSpPr>
          <p:cNvPr id="41988" name="TextBox 8">
            <a:extLst>
              <a:ext uri="{FF2B5EF4-FFF2-40B4-BE49-F238E27FC236}">
                <a16:creationId xmlns:a16="http://schemas.microsoft.com/office/drawing/2014/main" id="{F5F9DFC7-E8DC-4980-AFF3-BC39AB26A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867400"/>
            <a:ext cx="5419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3-5 Most commonly used data types in C++</a:t>
            </a:r>
          </a:p>
        </p:txBody>
      </p:sp>
      <p:sp>
        <p:nvSpPr>
          <p:cNvPr id="41989" name="Slide Number Placeholder 5">
            <a:extLst>
              <a:ext uri="{FF2B5EF4-FFF2-40B4-BE49-F238E27FC236}">
                <a16:creationId xmlns:a16="http://schemas.microsoft.com/office/drawing/2014/main" id="{A662ED99-C18C-4B93-9891-472EDB66FD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DFAD6D-FBA9-45FA-8E9F-F72B938AC3B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1990" name="Picture 7">
            <a:extLst>
              <a:ext uri="{FF2B5EF4-FFF2-40B4-BE49-F238E27FC236}">
                <a16:creationId xmlns:a16="http://schemas.microsoft.com/office/drawing/2014/main" id="{3B1A25F2-0864-4843-9939-BAAE497EE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7162800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>
            <a:extLst>
              <a:ext uri="{FF2B5EF4-FFF2-40B4-BE49-F238E27FC236}">
                <a16:creationId xmlns:a16="http://schemas.microsoft.com/office/drawing/2014/main" id="{FB5D758F-BD85-4EB6-8E83-C5046FD741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1506" name="Title 8">
            <a:extLst>
              <a:ext uri="{FF2B5EF4-FFF2-40B4-BE49-F238E27FC236}">
                <a16:creationId xmlns:a16="http://schemas.microsoft.com/office/drawing/2014/main" id="{AA64A2ED-BFAC-4561-A6E4-6003AF24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 Data Type for a Memory Location (cont’d.)</a:t>
            </a:r>
          </a:p>
        </p:txBody>
      </p:sp>
      <p:sp>
        <p:nvSpPr>
          <p:cNvPr id="44036" name="TextBox 8">
            <a:extLst>
              <a:ext uri="{FF2B5EF4-FFF2-40B4-BE49-F238E27FC236}">
                <a16:creationId xmlns:a16="http://schemas.microsoft.com/office/drawing/2014/main" id="{4FB799B6-68E7-4A77-805E-B80AED6E4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5" y="4572000"/>
            <a:ext cx="43513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3-6 Data type assigned to each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variable for the Addison O’Reilly problem</a:t>
            </a:r>
          </a:p>
        </p:txBody>
      </p:sp>
      <p:sp>
        <p:nvSpPr>
          <p:cNvPr id="44037" name="Slide Number Placeholder 5">
            <a:extLst>
              <a:ext uri="{FF2B5EF4-FFF2-40B4-BE49-F238E27FC236}">
                <a16:creationId xmlns:a16="http://schemas.microsoft.com/office/drawing/2014/main" id="{EA131B3D-713C-412C-A1AB-3FF3A2C0CD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3FC159-1204-4982-A346-AD3FF10C3E10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4038" name="Picture 7">
            <a:extLst>
              <a:ext uri="{FF2B5EF4-FFF2-40B4-BE49-F238E27FC236}">
                <a16:creationId xmlns:a16="http://schemas.microsoft.com/office/drawing/2014/main" id="{48D9DC22-2017-472A-A54B-6072EB0E8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588" y="2620963"/>
            <a:ext cx="685482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ontent Placeholder 6">
            <a:extLst>
              <a:ext uri="{FF2B5EF4-FFF2-40B4-BE49-F238E27FC236}">
                <a16:creationId xmlns:a16="http://schemas.microsoft.com/office/drawing/2014/main" id="{DE5F5D4A-3635-4ED4-BB46-A6E9BA50F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Numbers represented in internal memory using binary (base 2) number system (two digits, 0 and 1)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 are used to the decimal (base 10) number system (ten digits, 0 through 9)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Character data is stored using ASCII codes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Eight-bit codes (bit = binary digit, 0 or 1)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Upper- and lowercase versions of letters have distinct codes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Computer distinguishes between numbers and ASCII codes based on data type</a:t>
            </a:r>
          </a:p>
        </p:txBody>
      </p:sp>
      <p:sp>
        <p:nvSpPr>
          <p:cNvPr id="46083" name="Footer Placeholder 3">
            <a:extLst>
              <a:ext uri="{FF2B5EF4-FFF2-40B4-BE49-F238E27FC236}">
                <a16:creationId xmlns:a16="http://schemas.microsoft.com/office/drawing/2014/main" id="{373684C0-65A1-46D9-8B5C-1E9357699A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2530" name="Title 1">
            <a:extLst>
              <a:ext uri="{FF2B5EF4-FFF2-40B4-BE49-F238E27FC236}">
                <a16:creationId xmlns:a16="http://schemas.microsoft.com/office/drawing/2014/main" id="{7E4EAA3D-E818-49A8-9681-489AE050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How Data Is Stored in Internal Memory</a:t>
            </a:r>
          </a:p>
        </p:txBody>
      </p:sp>
      <p:sp>
        <p:nvSpPr>
          <p:cNvPr id="46085" name="Slide Number Placeholder 4">
            <a:extLst>
              <a:ext uri="{FF2B5EF4-FFF2-40B4-BE49-F238E27FC236}">
                <a16:creationId xmlns:a16="http://schemas.microsoft.com/office/drawing/2014/main" id="{21FE404C-A420-404F-A26F-FEF12C4BB1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7BBA7F-FE6D-4047-B10A-9BA6B0BC17A9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752E286A-FF10-410B-8566-5C7C4F9D7D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3554" name="Title 1">
            <a:extLst>
              <a:ext uri="{FF2B5EF4-FFF2-40B4-BE49-F238E27FC236}">
                <a16:creationId xmlns:a16="http://schemas.microsoft.com/office/drawing/2014/main" id="{1A2ADD1F-6BAD-49BB-837D-F7E1A3D4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How Data Is Stored in Internal Memory (cont’d.)</a:t>
            </a:r>
          </a:p>
        </p:txBody>
      </p:sp>
      <p:sp>
        <p:nvSpPr>
          <p:cNvPr id="48132" name="TextBox 9">
            <a:extLst>
              <a:ext uri="{FF2B5EF4-FFF2-40B4-BE49-F238E27FC236}">
                <a16:creationId xmlns:a16="http://schemas.microsoft.com/office/drawing/2014/main" id="{EF42F759-8A34-42EA-BDBE-CBF33659C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572000"/>
            <a:ext cx="6445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3-7 How to use the decimal (</a:t>
            </a: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base 10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) number system</a:t>
            </a:r>
          </a:p>
        </p:txBody>
      </p:sp>
      <p:sp>
        <p:nvSpPr>
          <p:cNvPr id="48133" name="Slide Number Placeholder 5">
            <a:extLst>
              <a:ext uri="{FF2B5EF4-FFF2-40B4-BE49-F238E27FC236}">
                <a16:creationId xmlns:a16="http://schemas.microsoft.com/office/drawing/2014/main" id="{1248CAAC-BB23-4DB6-957B-2532BE460C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41A0F7-322F-408B-8289-69F45CF231BA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8134" name="Picture 7">
            <a:extLst>
              <a:ext uri="{FF2B5EF4-FFF2-40B4-BE49-F238E27FC236}">
                <a16:creationId xmlns:a16="http://schemas.microsoft.com/office/drawing/2014/main" id="{A71BB6B1-3E78-43E2-B763-400011675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09800"/>
            <a:ext cx="807720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9B2CA22B-6152-43F9-AD37-63CABF5FE6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4578" name="Title 1">
            <a:extLst>
              <a:ext uri="{FF2B5EF4-FFF2-40B4-BE49-F238E27FC236}">
                <a16:creationId xmlns:a16="http://schemas.microsoft.com/office/drawing/2014/main" id="{8EE9A627-8F58-4E50-BBDF-117B5EE9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How Data Is Stored in Internal Memory (cont’d.)</a:t>
            </a:r>
          </a:p>
        </p:txBody>
      </p:sp>
      <p:sp>
        <p:nvSpPr>
          <p:cNvPr id="50180" name="TextBox 9">
            <a:extLst>
              <a:ext uri="{FF2B5EF4-FFF2-40B4-BE49-F238E27FC236}">
                <a16:creationId xmlns:a16="http://schemas.microsoft.com/office/drawing/2014/main" id="{79A4F871-14F4-405D-8F79-B0E70C92A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572000"/>
            <a:ext cx="6149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3-8 How to use the binary (</a:t>
            </a: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base 2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) number system</a:t>
            </a:r>
          </a:p>
        </p:txBody>
      </p:sp>
      <p:sp>
        <p:nvSpPr>
          <p:cNvPr id="50181" name="Slide Number Placeholder 5">
            <a:extLst>
              <a:ext uri="{FF2B5EF4-FFF2-40B4-BE49-F238E27FC236}">
                <a16:creationId xmlns:a16="http://schemas.microsoft.com/office/drawing/2014/main" id="{2DBFE062-95B8-4E60-A757-70E8B1B5D4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310D57-E3C6-48B3-A847-1F1232E17BC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0182" name="Picture 7">
            <a:extLst>
              <a:ext uri="{FF2B5EF4-FFF2-40B4-BE49-F238E27FC236}">
                <a16:creationId xmlns:a16="http://schemas.microsoft.com/office/drawing/2014/main" id="{E1D2F70F-52A2-4196-8145-E125BFFD1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59025"/>
            <a:ext cx="8001000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D6530C09-8F77-4950-9A97-3F86D78207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2227" name="TextBox 9">
            <a:extLst>
              <a:ext uri="{FF2B5EF4-FFF2-40B4-BE49-F238E27FC236}">
                <a16:creationId xmlns:a16="http://schemas.microsoft.com/office/drawing/2014/main" id="{4E16D964-AFF6-4E75-9134-560753857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954713"/>
            <a:ext cx="318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3-9 Partial ASCII chart</a:t>
            </a:r>
          </a:p>
        </p:txBody>
      </p:sp>
      <p:pic>
        <p:nvPicPr>
          <p:cNvPr id="52228" name="Picture 8">
            <a:extLst>
              <a:ext uri="{FF2B5EF4-FFF2-40B4-BE49-F238E27FC236}">
                <a16:creationId xmlns:a16="http://schemas.microsoft.com/office/drawing/2014/main" id="{42944573-37C7-4490-B702-8ABBBA76C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3" y="1371600"/>
            <a:ext cx="56642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Slide Number Placeholder 4">
            <a:extLst>
              <a:ext uri="{FF2B5EF4-FFF2-40B4-BE49-F238E27FC236}">
                <a16:creationId xmlns:a16="http://schemas.microsoft.com/office/drawing/2014/main" id="{4AD80949-1237-4464-A619-2F6DC23C5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E5EF86-0717-49A0-B195-312D671412E8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AF167D-EDE7-4892-BF43-2C2C1F094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How Data Is Stored in Internal Memory (cont’d.)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>
            <a:extLst>
              <a:ext uri="{FF2B5EF4-FFF2-40B4-BE49-F238E27FC236}">
                <a16:creationId xmlns:a16="http://schemas.microsoft.com/office/drawing/2014/main" id="{B484A111-625B-4486-9CBC-E915751996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Setting an initial value for a variable or named constant is called initializing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Required for constants; recommended for variables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Memory locations are usually initialized with a literal constant (item of data that can appear in a program instruction and be stored in memory)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Data type of literal constant should match data type of memory location it is assigned to</a:t>
            </a:r>
          </a:p>
        </p:txBody>
      </p:sp>
      <p:sp>
        <p:nvSpPr>
          <p:cNvPr id="54275" name="Footer Placeholder 3">
            <a:extLst>
              <a:ext uri="{FF2B5EF4-FFF2-40B4-BE49-F238E27FC236}">
                <a16:creationId xmlns:a16="http://schemas.microsoft.com/office/drawing/2014/main" id="{C453104F-C2AB-46D2-8E68-B3031459A3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1CA3FA7-B16F-4E77-A678-FBAA21A0F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an Initial Value for a Memory Location</a:t>
            </a:r>
          </a:p>
        </p:txBody>
      </p:sp>
      <p:sp>
        <p:nvSpPr>
          <p:cNvPr id="54277" name="Slide Number Placeholder 4">
            <a:extLst>
              <a:ext uri="{FF2B5EF4-FFF2-40B4-BE49-F238E27FC236}">
                <a16:creationId xmlns:a16="http://schemas.microsoft.com/office/drawing/2014/main" id="{8EB089E5-EB03-4C85-A251-86DFC3881D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411282-0887-4A50-B3EF-E86790C703E6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>
            <a:extLst>
              <a:ext uri="{FF2B5EF4-FFF2-40B4-BE49-F238E27FC236}">
                <a16:creationId xmlns:a16="http://schemas.microsoft.com/office/drawing/2014/main" id="{9024AD14-F126-4118-B826-7DBAFC285C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Numeric literal constants initialize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short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float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</a:rPr>
              <a:t> data types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Can contain digits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0</a:t>
            </a:r>
            <a:r>
              <a:rPr lang="en-US" altLang="en-US">
                <a:ea typeface="ＭＳ Ｐゴシック" panose="020B0600070205080204" pitchFamily="34" charset="-128"/>
              </a:rPr>
              <a:t> through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9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+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-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.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</a:t>
            </a:r>
            <a:r>
              <a:rPr lang="en-US" altLang="en-US">
                <a:ea typeface="ＭＳ Ｐゴシック" panose="020B0600070205080204" pitchFamily="34" charset="-128"/>
              </a:rPr>
              <a:t> or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</a:t>
            </a:r>
            <a:r>
              <a:rPr lang="en-US" altLang="en-US">
                <a:ea typeface="ＭＳ Ｐゴシック" panose="020B0600070205080204" pitchFamily="34" charset="-128"/>
              </a:rPr>
              <a:t> (for scientific notation)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Character literal constants initialize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char</a:t>
            </a:r>
            <a:r>
              <a:rPr lang="en-US" altLang="en-US">
                <a:ea typeface="ＭＳ Ｐゴシック" panose="020B0600070205080204" pitchFamily="34" charset="-128"/>
              </a:rPr>
              <a:t> data types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Consist of one character in single quotation marks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String literal constants initialize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string</a:t>
            </a:r>
            <a:r>
              <a:rPr lang="en-US" altLang="en-US">
                <a:ea typeface="ＭＳ Ｐゴシック" panose="020B0600070205080204" pitchFamily="34" charset="-128"/>
              </a:rPr>
              <a:t> data types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Zero or more characters enclosed in double quotation marks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Empty string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“”</a:t>
            </a:r>
            <a:r>
              <a:rPr lang="en-US" altLang="en-US">
                <a:ea typeface="ＭＳ Ｐゴシック" panose="020B0600070205080204" pitchFamily="34" charset="-128"/>
              </a:rPr>
              <a:t>) is a valid string literal constant</a:t>
            </a:r>
          </a:p>
        </p:txBody>
      </p:sp>
      <p:sp>
        <p:nvSpPr>
          <p:cNvPr id="56323" name="Footer Placeholder 3">
            <a:extLst>
              <a:ext uri="{FF2B5EF4-FFF2-40B4-BE49-F238E27FC236}">
                <a16:creationId xmlns:a16="http://schemas.microsoft.com/office/drawing/2014/main" id="{200ED0EF-5670-4FFF-B37F-6BD9CBE582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9E828BB-FFF7-4D1C-B1A3-D126D2CD78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an Initial Value for a Memory Location (cont’d.)</a:t>
            </a:r>
          </a:p>
        </p:txBody>
      </p:sp>
      <p:sp>
        <p:nvSpPr>
          <p:cNvPr id="56325" name="Slide Number Placeholder 4">
            <a:extLst>
              <a:ext uri="{FF2B5EF4-FFF2-40B4-BE49-F238E27FC236}">
                <a16:creationId xmlns:a16="http://schemas.microsoft.com/office/drawing/2014/main" id="{CF7B671F-B999-41D9-B70F-F75CF2C8B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F257DB-2F03-41BC-98E5-99DC450D7EA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6EE4C4CF-E405-4BE7-9911-200C7DB4EA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Before assigning initial value to a memory location, computer checks that value’s data type matches location’s data type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they don’t match, computer performs implicit type conversion to match them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initial value is converted to type that holds larger numbers, value is promoted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initial value is converted to type that only holds smaller numbers, value is demoted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Promoting will not usually have adverse effects, but demoting can (information is lost)</a:t>
            </a:r>
          </a:p>
        </p:txBody>
      </p:sp>
      <p:sp>
        <p:nvSpPr>
          <p:cNvPr id="58371" name="Footer Placeholder 3">
            <a:extLst>
              <a:ext uri="{FF2B5EF4-FFF2-40B4-BE49-F238E27FC236}">
                <a16:creationId xmlns:a16="http://schemas.microsoft.com/office/drawing/2014/main" id="{6E7AFDB2-C487-4582-A2CC-B3C99E4863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8D659F9-336E-4520-92F1-221E9D30B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an Initial Value for a Memory Location (cont’d.)</a:t>
            </a:r>
          </a:p>
        </p:txBody>
      </p:sp>
      <p:sp>
        <p:nvSpPr>
          <p:cNvPr id="58373" name="Slide Number Placeholder 4">
            <a:extLst>
              <a:ext uri="{FF2B5EF4-FFF2-40B4-BE49-F238E27FC236}">
                <a16:creationId xmlns:a16="http://schemas.microsoft.com/office/drawing/2014/main" id="{8DB4E6B2-B8F1-4774-BB92-5934644FB2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FE0FDF-803A-444C-A163-201C93F772D6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46A3E344-8583-430A-AE3F-62A60CEF5D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Important to initialize memory locations with values of the same data type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Named constants should be initialized with the value they will hold for the duration of the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Variables whose initial values are not known should still be initialized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short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en-US" altLang="en-US">
                <a:ea typeface="ＭＳ Ｐゴシック" panose="020B0600070205080204" pitchFamily="34" charset="-128"/>
              </a:rPr>
              <a:t> types usually initialized to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0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float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en-US" altLang="en-US">
                <a:ea typeface="ＭＳ Ｐゴシック" panose="020B0600070205080204" pitchFamily="34" charset="-128"/>
              </a:rPr>
              <a:t> types usually initialized to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0.0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string</a:t>
            </a:r>
            <a:r>
              <a:rPr lang="en-US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types usually initialized to empty string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“”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bool</a:t>
            </a:r>
            <a:r>
              <a:rPr lang="en-US" altLang="en-US">
                <a:ea typeface="ＭＳ Ｐゴシック" panose="020B0600070205080204" pitchFamily="34" charset="-128"/>
              </a:rPr>
              <a:t> types initialized to either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true</a:t>
            </a:r>
            <a:r>
              <a:rPr lang="en-US" altLang="en-US">
                <a:ea typeface="ＭＳ Ｐゴシック" panose="020B0600070205080204" pitchFamily="34" charset="-128"/>
              </a:rPr>
              <a:t> or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60419" name="Footer Placeholder 3">
            <a:extLst>
              <a:ext uri="{FF2B5EF4-FFF2-40B4-BE49-F238E27FC236}">
                <a16:creationId xmlns:a16="http://schemas.microsoft.com/office/drawing/2014/main" id="{9429329A-49FB-4292-9B54-7E5203EE16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CC0F5C4-17F8-4F3D-A249-7185E754E3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Selecting an Initial Value for a Memory Location (cont’d.)</a:t>
            </a:r>
          </a:p>
        </p:txBody>
      </p:sp>
      <p:sp>
        <p:nvSpPr>
          <p:cNvPr id="60421" name="Slide Number Placeholder 4">
            <a:extLst>
              <a:ext uri="{FF2B5EF4-FFF2-40B4-BE49-F238E27FC236}">
                <a16:creationId xmlns:a16="http://schemas.microsoft.com/office/drawing/2014/main" id="{0A54DCF7-05BD-410B-B980-5D462C5DE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FDD56A-C42F-47AA-B0B5-79134B8CD511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6AFE15F5-EF9C-491E-938B-B67C692BFA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EFFE5501-ED6B-492E-9AAC-8A7ABE7D3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Selecting an Initial Value for a Memory Location (cont’d.)</a:t>
            </a:r>
          </a:p>
        </p:txBody>
      </p:sp>
      <p:sp>
        <p:nvSpPr>
          <p:cNvPr id="62468" name="TextBox 9">
            <a:extLst>
              <a:ext uri="{FF2B5EF4-FFF2-40B4-BE49-F238E27FC236}">
                <a16:creationId xmlns:a16="http://schemas.microsoft.com/office/drawing/2014/main" id="{AF6DB494-76CF-421B-8293-72ABB1B56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430713"/>
            <a:ext cx="4403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3-11 Initial values for the variables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in the Addison O’Reilly problem</a:t>
            </a:r>
          </a:p>
        </p:txBody>
      </p:sp>
      <p:sp>
        <p:nvSpPr>
          <p:cNvPr id="62469" name="Slide Number Placeholder 5">
            <a:extLst>
              <a:ext uri="{FF2B5EF4-FFF2-40B4-BE49-F238E27FC236}">
                <a16:creationId xmlns:a16="http://schemas.microsoft.com/office/drawing/2014/main" id="{0B19C6D7-7B6C-4039-B15C-5EB9592373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63911C-F4D9-4E2E-823C-CCD20B14C84C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2470" name="Picture 7">
            <a:extLst>
              <a:ext uri="{FF2B5EF4-FFF2-40B4-BE49-F238E27FC236}">
                <a16:creationId xmlns:a16="http://schemas.microsoft.com/office/drawing/2014/main" id="{9A17F9A9-72AB-485A-8E92-A64015777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628900"/>
            <a:ext cx="83820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>
            <a:extLst>
              <a:ext uri="{FF2B5EF4-FFF2-40B4-BE49-F238E27FC236}">
                <a16:creationId xmlns:a16="http://schemas.microsoft.com/office/drawing/2014/main" id="{E8A12B63-F1B6-4809-B8FA-63029311DF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Variables and named constants are declared using a statement (C++ instruction)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statement that declares a variable causes the computer to set aside a memory location with the given name, data type, and initial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Statements must follow correct syntax (rules of a programming language)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C++, all statements must end with a semicolon</a:t>
            </a:r>
          </a:p>
        </p:txBody>
      </p:sp>
      <p:sp>
        <p:nvSpPr>
          <p:cNvPr id="64515" name="Footer Placeholder 3">
            <a:extLst>
              <a:ext uri="{FF2B5EF4-FFF2-40B4-BE49-F238E27FC236}">
                <a16:creationId xmlns:a16="http://schemas.microsoft.com/office/drawing/2014/main" id="{B4AB2609-2C87-4B66-9697-669B94C86A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53D5AD21-E298-4BDA-BD59-458FA31C1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Declaring a Memory Location</a:t>
            </a:r>
          </a:p>
        </p:txBody>
      </p:sp>
      <p:sp>
        <p:nvSpPr>
          <p:cNvPr id="64517" name="Slide Number Placeholder 4">
            <a:extLst>
              <a:ext uri="{FF2B5EF4-FFF2-40B4-BE49-F238E27FC236}">
                <a16:creationId xmlns:a16="http://schemas.microsoft.com/office/drawing/2014/main" id="{43C6A6B5-63F6-43BA-A1A4-BF42D3CB79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4F0D06-A166-4BF5-A0AB-B0ECDE4BE61D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>
            <a:extLst>
              <a:ext uri="{FF2B5EF4-FFF2-40B4-BE49-F238E27FC236}">
                <a16:creationId xmlns:a16="http://schemas.microsoft.com/office/drawing/2014/main" id="{D3DCD82E-33E9-4ADA-B047-857733B87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When declaring variables, a data type and name must be provided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 for declaring a variable in C++</a:t>
            </a:r>
          </a:p>
          <a:p>
            <a:pPr lvl="1" eaLnBrk="1" hangingPunct="1"/>
            <a:r>
              <a:rPr lang="en-US" altLang="en-US" sz="2000" i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dataType variableName </a:t>
            </a:r>
            <a:r>
              <a:rPr lang="en-US" altLang="en-US" sz="200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[</a:t>
            </a:r>
            <a:r>
              <a:rPr lang="en-US" altLang="en-US" sz="2000" i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 initialValue</a:t>
            </a:r>
            <a:r>
              <a:rPr lang="en-US" altLang="en-US" sz="200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]</a:t>
            </a:r>
            <a:r>
              <a:rPr lang="en-US" altLang="en-US" sz="2000" i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;</a:t>
            </a:r>
            <a:endParaRPr lang="en-US" altLang="en-US" i="1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After variable is declared, you use its name to refer to it later in the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Initial value is optional but recommended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variable is not initialized, it contains the previous value of that memory location, which may be the wrong type (called a garbage value)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6563" name="Footer Placeholder 3">
            <a:extLst>
              <a:ext uri="{FF2B5EF4-FFF2-40B4-BE49-F238E27FC236}">
                <a16:creationId xmlns:a16="http://schemas.microsoft.com/office/drawing/2014/main" id="{5C900612-F94D-412B-A251-8C16C04148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256CA21-A41D-46F9-AA66-84285CFCA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Declaring a Memory Location (cont’d.)</a:t>
            </a:r>
          </a:p>
        </p:txBody>
      </p:sp>
      <p:sp>
        <p:nvSpPr>
          <p:cNvPr id="66565" name="Slide Number Placeholder 4">
            <a:extLst>
              <a:ext uri="{FF2B5EF4-FFF2-40B4-BE49-F238E27FC236}">
                <a16:creationId xmlns:a16="http://schemas.microsoft.com/office/drawing/2014/main" id="{63F8DF47-6001-4240-80B7-5DAC4FC359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DF1DB5-B3ED-4805-85E6-5CF09012B38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>
            <a:extLst>
              <a:ext uri="{FF2B5EF4-FFF2-40B4-BE49-F238E27FC236}">
                <a16:creationId xmlns:a16="http://schemas.microsoft.com/office/drawing/2014/main" id="{92F45FC4-5F15-446F-898C-10DB4AE84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 for declaring a named constant in C++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en-US" altLang="en-US" i="1">
                <a:ea typeface="ＭＳ Ｐゴシック" panose="020B0600070205080204" pitchFamily="34" charset="-128"/>
              </a:rPr>
              <a:t> dataType constantName = value;</a:t>
            </a:r>
          </a:p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  <a:cs typeface="Courier New" panose="02070309020205020404" pitchFamily="49" charset="0"/>
              </a:rPr>
              <a:t>The </a:t>
            </a:r>
            <a:r>
              <a:rPr lang="en-US" altLang="en-US" sz="240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en-US" altLang="en-US">
                <a:ea typeface="ＭＳ Ｐゴシック" panose="020B0600070205080204" pitchFamily="34" charset="-128"/>
              </a:rPr>
              <a:t> keyword indicates that the memory location is a named constant (value cannot be changed during runtime)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Initial value required for constants, unlike variables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As with variables, after declaring a constant, you can use its name to refer to it later in the program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8611" name="Footer Placeholder 3">
            <a:extLst>
              <a:ext uri="{FF2B5EF4-FFF2-40B4-BE49-F238E27FC236}">
                <a16:creationId xmlns:a16="http://schemas.microsoft.com/office/drawing/2014/main" id="{C3E172BF-BA86-4999-B702-06FADEEE37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F9568353-DA68-4E77-8650-EEC9AF908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Declaring a Memory Location (cont’d.)</a:t>
            </a:r>
          </a:p>
        </p:txBody>
      </p:sp>
      <p:sp>
        <p:nvSpPr>
          <p:cNvPr id="68613" name="Slide Number Placeholder 4">
            <a:extLst>
              <a:ext uri="{FF2B5EF4-FFF2-40B4-BE49-F238E27FC236}">
                <a16:creationId xmlns:a16="http://schemas.microsoft.com/office/drawing/2014/main" id="{D1150F4F-4B48-452B-8B40-B4DEC9CB96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FFEE24-3569-4B07-A012-AFFF91F4CAA3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>
            <a:extLst>
              <a:ext uri="{FF2B5EF4-FFF2-40B4-BE49-F238E27FC236}">
                <a16:creationId xmlns:a16="http://schemas.microsoft.com/office/drawing/2014/main" id="{89E4DE9B-86B3-49D2-B2F4-73AC41046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Several advantages to using named constants when appropriate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Make program more self-documenting (meaningful words in place of numbers)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Value cannot be inadvertently changed during runtime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Typing a name is less error-prone than a long number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Mistyping a constant’s name will trigger a compiler error; mistyping a number will not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the constant needs to be changed when modifying the program, it only needs to be changed in one place</a:t>
            </a:r>
          </a:p>
        </p:txBody>
      </p:sp>
      <p:sp>
        <p:nvSpPr>
          <p:cNvPr id="70659" name="Footer Placeholder 3">
            <a:extLst>
              <a:ext uri="{FF2B5EF4-FFF2-40B4-BE49-F238E27FC236}">
                <a16:creationId xmlns:a16="http://schemas.microsoft.com/office/drawing/2014/main" id="{31F4938B-6358-4A18-9E41-874022C77B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A092C6F-9D14-45F1-A5CC-F54ABA472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Declaring a Memory Location (cont’d.)</a:t>
            </a:r>
          </a:p>
        </p:txBody>
      </p:sp>
      <p:sp>
        <p:nvSpPr>
          <p:cNvPr id="70661" name="Slide Number Placeholder 4">
            <a:extLst>
              <a:ext uri="{FF2B5EF4-FFF2-40B4-BE49-F238E27FC236}">
                <a16:creationId xmlns:a16="http://schemas.microsoft.com/office/drawing/2014/main" id="{FC4F8062-853F-43C0-9693-213E118C73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98F5BE-D58A-4BE3-A716-64BAF588F398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3">
            <a:extLst>
              <a:ext uri="{FF2B5EF4-FFF2-40B4-BE49-F238E27FC236}">
                <a16:creationId xmlns:a16="http://schemas.microsoft.com/office/drawing/2014/main" id="{D7C40F60-1BAB-4830-BAE3-42BAC9233E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27C7741-8D0B-4A17-B9A8-CB369DC8E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Declaring a Memory Location (cont’d.)</a:t>
            </a:r>
          </a:p>
        </p:txBody>
      </p:sp>
      <p:sp>
        <p:nvSpPr>
          <p:cNvPr id="72708" name="TextBox 9">
            <a:extLst>
              <a:ext uri="{FF2B5EF4-FFF2-40B4-BE49-F238E27FC236}">
                <a16:creationId xmlns:a16="http://schemas.microsoft.com/office/drawing/2014/main" id="{8BD27BF3-DCC9-4ECB-A429-D507F58A0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257800"/>
            <a:ext cx="4824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3-12 How to declare a variable in C++</a:t>
            </a:r>
          </a:p>
        </p:txBody>
      </p:sp>
      <p:sp>
        <p:nvSpPr>
          <p:cNvPr id="72709" name="Slide Number Placeholder 5">
            <a:extLst>
              <a:ext uri="{FF2B5EF4-FFF2-40B4-BE49-F238E27FC236}">
                <a16:creationId xmlns:a16="http://schemas.microsoft.com/office/drawing/2014/main" id="{5081C172-C9EC-4E04-9E96-F2DC55D3F2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870F76-9F0F-48E1-AAF2-CE9A6668E261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2710" name="Picture 8">
            <a:extLst>
              <a:ext uri="{FF2B5EF4-FFF2-40B4-BE49-F238E27FC236}">
                <a16:creationId xmlns:a16="http://schemas.microsoft.com/office/drawing/2014/main" id="{BB1F2290-6EB1-4531-BAE0-28C46ABAA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31975"/>
            <a:ext cx="7620000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3">
            <a:extLst>
              <a:ext uri="{FF2B5EF4-FFF2-40B4-BE49-F238E27FC236}">
                <a16:creationId xmlns:a16="http://schemas.microsoft.com/office/drawing/2014/main" id="{BCFB5789-1E42-4831-8BE8-642C1DB5DE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D4996658-0F0A-4EDB-B23B-45254C51E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Declaring a Memory Location (cont’d.)</a:t>
            </a:r>
          </a:p>
        </p:txBody>
      </p:sp>
      <p:sp>
        <p:nvSpPr>
          <p:cNvPr id="74756" name="TextBox 9">
            <a:extLst>
              <a:ext uri="{FF2B5EF4-FFF2-40B4-BE49-F238E27FC236}">
                <a16:creationId xmlns:a16="http://schemas.microsoft.com/office/drawing/2014/main" id="{29B5FF67-8553-4181-88B2-60A0FBBAC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029200"/>
            <a:ext cx="49672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3-13 C++ declaration statements for the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variables in the Addision O’Reilly problem</a:t>
            </a:r>
          </a:p>
        </p:txBody>
      </p:sp>
      <p:sp>
        <p:nvSpPr>
          <p:cNvPr id="74757" name="Slide Number Placeholder 5">
            <a:extLst>
              <a:ext uri="{FF2B5EF4-FFF2-40B4-BE49-F238E27FC236}">
                <a16:creationId xmlns:a16="http://schemas.microsoft.com/office/drawing/2014/main" id="{3CB0CDE2-51E0-42D7-8D66-838E3C29CB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8CA085-D244-4001-9BBA-D01C2E4A71DA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4758" name="Picture 7">
            <a:extLst>
              <a:ext uri="{FF2B5EF4-FFF2-40B4-BE49-F238E27FC236}">
                <a16:creationId xmlns:a16="http://schemas.microsoft.com/office/drawing/2014/main" id="{DDACAFBC-2942-42A0-B05C-2A29D55ED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43175"/>
            <a:ext cx="80772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>
            <a:extLst>
              <a:ext uri="{FF2B5EF4-FFF2-40B4-BE49-F238E27FC236}">
                <a16:creationId xmlns:a16="http://schemas.microsoft.com/office/drawing/2014/main" id="{BAB7B5A2-5889-44BB-9739-6186F0DF6B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760AA64-931C-49A2-9E3E-F4C00F2177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Declaring a Memory Location (cont’d.)</a:t>
            </a:r>
          </a:p>
        </p:txBody>
      </p:sp>
      <p:sp>
        <p:nvSpPr>
          <p:cNvPr id="76804" name="TextBox 9">
            <a:extLst>
              <a:ext uri="{FF2B5EF4-FFF2-40B4-BE49-F238E27FC236}">
                <a16:creationId xmlns:a16="http://schemas.microsoft.com/office/drawing/2014/main" id="{5E56CDE2-5DA2-47BC-927F-BF33C3543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257800"/>
            <a:ext cx="5659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3-14 How to declare a named constant in C++</a:t>
            </a:r>
          </a:p>
        </p:txBody>
      </p:sp>
      <p:sp>
        <p:nvSpPr>
          <p:cNvPr id="76805" name="Slide Number Placeholder 5">
            <a:extLst>
              <a:ext uri="{FF2B5EF4-FFF2-40B4-BE49-F238E27FC236}">
                <a16:creationId xmlns:a16="http://schemas.microsoft.com/office/drawing/2014/main" id="{D940162B-EFEF-4132-A1A3-9A52999876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B6117E-2330-4AB5-BA8A-968FCFA56F4A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6806" name="Picture 7">
            <a:extLst>
              <a:ext uri="{FF2B5EF4-FFF2-40B4-BE49-F238E27FC236}">
                <a16:creationId xmlns:a16="http://schemas.microsoft.com/office/drawing/2014/main" id="{AB742538-F428-40B7-AF2B-8349506EF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74838"/>
            <a:ext cx="71628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>
            <a:extLst>
              <a:ext uri="{FF2B5EF4-FFF2-40B4-BE49-F238E27FC236}">
                <a16:creationId xmlns:a16="http://schemas.microsoft.com/office/drawing/2014/main" id="{1849406B-52E7-4C24-99BA-51076A60CE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Fourth step in problem-solving process is coding the algorithm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Memory location is declared for each input, processing, and output item in IPO chart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Numeric data is stored in computer’s internal memory using binary number system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Memory locations store one item at a time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Memory location’s data type determines how a value is stored and interpreted when retrieved</a:t>
            </a:r>
          </a:p>
        </p:txBody>
      </p:sp>
      <p:sp>
        <p:nvSpPr>
          <p:cNvPr id="78851" name="Footer Placeholder 3">
            <a:extLst>
              <a:ext uri="{FF2B5EF4-FFF2-40B4-BE49-F238E27FC236}">
                <a16:creationId xmlns:a16="http://schemas.microsoft.com/office/drawing/2014/main" id="{AA879B88-3805-4C99-B761-1F8D039C48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8852" name="Rectangle 2">
            <a:extLst>
              <a:ext uri="{FF2B5EF4-FFF2-40B4-BE49-F238E27FC236}">
                <a16:creationId xmlns:a16="http://schemas.microsoft.com/office/drawing/2014/main" id="{B65E8A3B-1B7E-4D7B-A770-21C1E7984A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78853" name="Slide Number Placeholder 4">
            <a:extLst>
              <a:ext uri="{FF2B5EF4-FFF2-40B4-BE49-F238E27FC236}">
                <a16:creationId xmlns:a16="http://schemas.microsoft.com/office/drawing/2014/main" id="{C25CFD0A-926D-48E2-A897-2AEF723330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F9383B-9EE1-4CF7-9062-1356392D53F2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>
            <a:extLst>
              <a:ext uri="{FF2B5EF4-FFF2-40B4-BE49-F238E27FC236}">
                <a16:creationId xmlns:a16="http://schemas.microsoft.com/office/drawing/2014/main" id="{B0921F9C-0693-4523-8893-35FAEC2A3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80772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Two types of memory locations: variables and named constants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Memory locations are declared using a statement that assigns a name, data type, and initial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Initial value required for named constants but optional for variables (though recommended)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Most memory locations initialized with literal constants, except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bool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(initialized with keywords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true</a:t>
            </a:r>
            <a:r>
              <a:rPr lang="en-US" altLang="en-US">
                <a:ea typeface="ＭＳ Ｐゴシック" panose="020B0600070205080204" pitchFamily="34" charset="-128"/>
              </a:rPr>
              <a:t> or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false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80899" name="Footer Placeholder 3">
            <a:extLst>
              <a:ext uri="{FF2B5EF4-FFF2-40B4-BE49-F238E27FC236}">
                <a16:creationId xmlns:a16="http://schemas.microsoft.com/office/drawing/2014/main" id="{D40A5A50-C495-49FB-8422-D4AC473BC0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E003F832-13B9-47BA-8342-47E6C2908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80901" name="Slide Number Placeholder 4">
            <a:extLst>
              <a:ext uri="{FF2B5EF4-FFF2-40B4-BE49-F238E27FC236}">
                <a16:creationId xmlns:a16="http://schemas.microsoft.com/office/drawing/2014/main" id="{F6D4FC1B-FF9E-4BB6-AF4A-2348DC6C7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3AF215-E04D-44B6-BE19-2213B9EB836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>
            <a:extLst>
              <a:ext uri="{FF2B5EF4-FFF2-40B4-BE49-F238E27FC236}">
                <a16:creationId xmlns:a16="http://schemas.microsoft.com/office/drawing/2014/main" id="{3B59DA1A-AAB7-4F90-ADA0-488F72BD6F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Data type of literal constant assigned to memory location should be same as memory location’s type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types don’t match, implicit type conversion is used to either promote or demote so they match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Promoting doesn’t usually cause problems, but demoting can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 for declaring variables</a:t>
            </a:r>
          </a:p>
          <a:p>
            <a:pPr lvl="1" eaLnBrk="1" hangingPunct="1"/>
            <a:r>
              <a:rPr lang="en-US" altLang="en-US" i="1">
                <a:latin typeface="Courier New" panose="02070309020205020404" pitchFamily="49" charset="0"/>
                <a:ea typeface="ＭＳ Ｐゴシック" panose="020B0600070205080204" pitchFamily="34" charset="-128"/>
              </a:rPr>
              <a:t>dataType variableName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[= </a:t>
            </a:r>
            <a:r>
              <a:rPr lang="en-US" altLang="en-US" i="1">
                <a:latin typeface="Courier New" panose="02070309020205020404" pitchFamily="49" charset="0"/>
                <a:ea typeface="ＭＳ Ｐゴシック" panose="020B0600070205080204" pitchFamily="34" charset="-128"/>
              </a:rPr>
              <a:t>initialValue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];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 for declaring named constants</a:t>
            </a:r>
          </a:p>
          <a:p>
            <a:pPr lvl="1"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const </a:t>
            </a:r>
            <a:r>
              <a:rPr lang="en-US" altLang="en-US" i="1">
                <a:latin typeface="Courier New" panose="02070309020205020404" pitchFamily="49" charset="0"/>
                <a:ea typeface="ＭＳ Ｐゴシック" panose="020B0600070205080204" pitchFamily="34" charset="-128"/>
              </a:rPr>
              <a:t>dataType constantName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= </a:t>
            </a:r>
            <a:r>
              <a:rPr lang="en-US" altLang="en-US" i="1">
                <a:latin typeface="Courier New" panose="02070309020205020404" pitchFamily="49" charset="0"/>
                <a:ea typeface="ＭＳ Ｐゴシック" panose="020B0600070205080204" pitchFamily="34" charset="-128"/>
              </a:rPr>
              <a:t>value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;</a:t>
            </a: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2947" name="Footer Placeholder 3">
            <a:extLst>
              <a:ext uri="{FF2B5EF4-FFF2-40B4-BE49-F238E27FC236}">
                <a16:creationId xmlns:a16="http://schemas.microsoft.com/office/drawing/2014/main" id="{3518C71F-6C7F-4F84-8BE1-58F921F6A1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6B39657C-23E0-411D-880E-7B0FBA20A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82949" name="Slide Number Placeholder 4">
            <a:extLst>
              <a:ext uri="{FF2B5EF4-FFF2-40B4-BE49-F238E27FC236}">
                <a16:creationId xmlns:a16="http://schemas.microsoft.com/office/drawing/2014/main" id="{EFFBACAC-3DC6-4CB1-B0D3-9E95F5AACE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DBA73A-3457-4EF6-95C3-2133D9A70714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>
            <a:extLst>
              <a:ext uri="{FF2B5EF4-FFF2-40B4-BE49-F238E27FC236}">
                <a16:creationId xmlns:a16="http://schemas.microsoft.com/office/drawing/2014/main" id="{9F58AB3F-C9C3-42A0-874F-AA88AC756B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n-US" altLang="en-US" sz="2600">
                <a:ea typeface="ＭＳ Ｐゴシック" panose="020B0600070205080204" pitchFamily="34" charset="-128"/>
              </a:rPr>
              <a:t>Study the IPO chart shown in Figure 3-15 on page 64 and answer the questions below.</a:t>
            </a:r>
          </a:p>
          <a:p>
            <a:pPr lvl="1"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How many memory locations will the problem require?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How many of the memory locations will be variables, and how many will be named constants? Why did you choose one over the other?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How would you write the appropriate declaration statements? Use the </a:t>
            </a:r>
            <a:r>
              <a:rPr lang="en-US" altLang="en-US" i="1">
                <a:ea typeface="ＭＳ Ｐゴシック" panose="020B0600070205080204" pitchFamily="34" charset="-128"/>
              </a:rPr>
              <a:t>int</a:t>
            </a:r>
            <a:r>
              <a:rPr lang="en-US" altLang="en-US">
                <a:ea typeface="ＭＳ Ｐゴシック" panose="020B0600070205080204" pitchFamily="34" charset="-128"/>
              </a:rPr>
              <a:t> data type for the quantity sold, and the double data type for the remaining items.</a:t>
            </a:r>
          </a:p>
        </p:txBody>
      </p:sp>
      <p:sp>
        <p:nvSpPr>
          <p:cNvPr id="84995" name="Footer Placeholder 3">
            <a:extLst>
              <a:ext uri="{FF2B5EF4-FFF2-40B4-BE49-F238E27FC236}">
                <a16:creationId xmlns:a16="http://schemas.microsoft.com/office/drawing/2014/main" id="{12B4E273-61FE-4C39-9770-D9864F4CD6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4996" name="Rectangle 2">
            <a:extLst>
              <a:ext uri="{FF2B5EF4-FFF2-40B4-BE49-F238E27FC236}">
                <a16:creationId xmlns:a16="http://schemas.microsoft.com/office/drawing/2014/main" id="{4683551F-8FEC-492C-826B-6A5B8ABFE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3-1: Stop and Analyze</a:t>
            </a:r>
          </a:p>
        </p:txBody>
      </p:sp>
      <p:sp>
        <p:nvSpPr>
          <p:cNvPr id="84997" name="Slide Number Placeholder 4">
            <a:extLst>
              <a:ext uri="{FF2B5EF4-FFF2-40B4-BE49-F238E27FC236}">
                <a16:creationId xmlns:a16="http://schemas.microsoft.com/office/drawing/2014/main" id="{E9D57307-747F-4FAB-A26F-B0607E6EEA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033632-6DFD-4141-8EEA-9761B1E7974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3">
            <a:extLst>
              <a:ext uri="{FF2B5EF4-FFF2-40B4-BE49-F238E27FC236}">
                <a16:creationId xmlns:a16="http://schemas.microsoft.com/office/drawing/2014/main" id="{E415B499-9998-4B6F-8CF1-72833DC25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5005ED95-1AEB-4AF9-A3AC-0E1D50918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3-2: Plan and Create</a:t>
            </a:r>
          </a:p>
        </p:txBody>
      </p:sp>
      <p:sp>
        <p:nvSpPr>
          <p:cNvPr id="87044" name="TextBox 12">
            <a:extLst>
              <a:ext uri="{FF2B5EF4-FFF2-40B4-BE49-F238E27FC236}">
                <a16:creationId xmlns:a16="http://schemas.microsoft.com/office/drawing/2014/main" id="{41AAED67-A5A9-47B8-B7FE-B7BF4294A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267200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3-16 Problem specification for Lab 3-2</a:t>
            </a:r>
          </a:p>
        </p:txBody>
      </p:sp>
      <p:sp>
        <p:nvSpPr>
          <p:cNvPr id="87045" name="Slide Number Placeholder 5">
            <a:extLst>
              <a:ext uri="{FF2B5EF4-FFF2-40B4-BE49-F238E27FC236}">
                <a16:creationId xmlns:a16="http://schemas.microsoft.com/office/drawing/2014/main" id="{68A969EA-F63C-4781-88D1-25FCA46713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C42013-B3D5-477E-BAD2-E9390752EB49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7046" name="Picture 7">
            <a:extLst>
              <a:ext uri="{FF2B5EF4-FFF2-40B4-BE49-F238E27FC236}">
                <a16:creationId xmlns:a16="http://schemas.microsoft.com/office/drawing/2014/main" id="{1529D38C-3A17-4958-A1F4-B8DD119EC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44788"/>
            <a:ext cx="79248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3">
            <a:extLst>
              <a:ext uri="{FF2B5EF4-FFF2-40B4-BE49-F238E27FC236}">
                <a16:creationId xmlns:a16="http://schemas.microsoft.com/office/drawing/2014/main" id="{4831DBA5-CB01-46AF-AEE5-48CF665454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3AFC8C0-2196-42DD-87CA-E00F5898E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3-2: Plan and Create (cont’d.)</a:t>
            </a:r>
          </a:p>
        </p:txBody>
      </p:sp>
      <p:sp>
        <p:nvSpPr>
          <p:cNvPr id="89092" name="TextBox 12">
            <a:extLst>
              <a:ext uri="{FF2B5EF4-FFF2-40B4-BE49-F238E27FC236}">
                <a16:creationId xmlns:a16="http://schemas.microsoft.com/office/drawing/2014/main" id="{56A02FB1-37CC-4780-B77D-F985AD2F3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67200"/>
            <a:ext cx="784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3-17  Partially completed IPO chart showing input and output items </a:t>
            </a:r>
          </a:p>
        </p:txBody>
      </p:sp>
      <p:sp>
        <p:nvSpPr>
          <p:cNvPr id="89093" name="Slide Number Placeholder 5">
            <a:extLst>
              <a:ext uri="{FF2B5EF4-FFF2-40B4-BE49-F238E27FC236}">
                <a16:creationId xmlns:a16="http://schemas.microsoft.com/office/drawing/2014/main" id="{1C4DC40F-A508-4CE2-98A6-9CEC9744C3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7D9163-A867-47E5-972F-01B9B6406F2A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9094" name="Picture 2">
            <a:extLst>
              <a:ext uri="{FF2B5EF4-FFF2-40B4-BE49-F238E27FC236}">
                <a16:creationId xmlns:a16="http://schemas.microsoft.com/office/drawing/2014/main" id="{6E1049FA-C774-446D-ABE6-3B664AEF3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16225"/>
            <a:ext cx="76962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>
            <a:extLst>
              <a:ext uri="{FF2B5EF4-FFF2-40B4-BE49-F238E27FC236}">
                <a16:creationId xmlns:a16="http://schemas.microsoft.com/office/drawing/2014/main" id="{1BDFBD63-2134-4BB9-A166-6BE6C64D89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53468A6C-AAC2-44E8-93B9-2FE22CED7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3-2: Plan and Create (cont’d.)</a:t>
            </a:r>
          </a:p>
        </p:txBody>
      </p:sp>
      <p:sp>
        <p:nvSpPr>
          <p:cNvPr id="91140" name="TextBox 12">
            <a:extLst>
              <a:ext uri="{FF2B5EF4-FFF2-40B4-BE49-F238E27FC236}">
                <a16:creationId xmlns:a16="http://schemas.microsoft.com/office/drawing/2014/main" id="{8DBF935F-4589-4501-B929-EE6605530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267200"/>
            <a:ext cx="480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3-18  Completed IPO chart for Lab 3-2 </a:t>
            </a:r>
          </a:p>
        </p:txBody>
      </p:sp>
      <p:sp>
        <p:nvSpPr>
          <p:cNvPr id="91141" name="Slide Number Placeholder 5">
            <a:extLst>
              <a:ext uri="{FF2B5EF4-FFF2-40B4-BE49-F238E27FC236}">
                <a16:creationId xmlns:a16="http://schemas.microsoft.com/office/drawing/2014/main" id="{16E036C1-DF99-4690-BB48-DA3B0688A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86C9DE-F4CA-4FD7-BC4D-38E3D86FD506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1142" name="Picture 2">
            <a:extLst>
              <a:ext uri="{FF2B5EF4-FFF2-40B4-BE49-F238E27FC236}">
                <a16:creationId xmlns:a16="http://schemas.microsoft.com/office/drawing/2014/main" id="{6683D400-09C7-4F87-984C-C0E689191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8305800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3">
            <a:extLst>
              <a:ext uri="{FF2B5EF4-FFF2-40B4-BE49-F238E27FC236}">
                <a16:creationId xmlns:a16="http://schemas.microsoft.com/office/drawing/2014/main" id="{4CD05918-F3B6-4D8C-A57B-A137FDF907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DD21228-54E7-4141-9141-FD5819D8C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3-2: Plan and Create (cont’d.)</a:t>
            </a:r>
          </a:p>
        </p:txBody>
      </p:sp>
      <p:sp>
        <p:nvSpPr>
          <p:cNvPr id="93188" name="TextBox 12">
            <a:extLst>
              <a:ext uri="{FF2B5EF4-FFF2-40B4-BE49-F238E27FC236}">
                <a16:creationId xmlns:a16="http://schemas.microsoft.com/office/drawing/2014/main" id="{205A0D31-5E3D-441D-B4D6-1121F898B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67200"/>
            <a:ext cx="5562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3-20  Completed desk-check table for Lab 3-2 </a:t>
            </a:r>
          </a:p>
        </p:txBody>
      </p:sp>
      <p:sp>
        <p:nvSpPr>
          <p:cNvPr id="93189" name="Slide Number Placeholder 5">
            <a:extLst>
              <a:ext uri="{FF2B5EF4-FFF2-40B4-BE49-F238E27FC236}">
                <a16:creationId xmlns:a16="http://schemas.microsoft.com/office/drawing/2014/main" id="{87FEB8E6-612D-47D2-B861-584651192B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F16A7D-B46D-4BDA-A8D9-9932EA16B97F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3190" name="Picture 2">
            <a:extLst>
              <a:ext uri="{FF2B5EF4-FFF2-40B4-BE49-F238E27FC236}">
                <a16:creationId xmlns:a16="http://schemas.microsoft.com/office/drawing/2014/main" id="{BC53724E-DBD6-43CA-9ACB-09A21A8CA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2949575"/>
            <a:ext cx="7248525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>
            <a:extLst>
              <a:ext uri="{FF2B5EF4-FFF2-40B4-BE49-F238E27FC236}">
                <a16:creationId xmlns:a16="http://schemas.microsoft.com/office/drawing/2014/main" id="{A9BB88E7-F3E0-4617-9420-B7D404B868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B5C15EDF-88F4-4577-B7D4-40F085678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3-2: Plan and Create (cont’d.)</a:t>
            </a:r>
          </a:p>
        </p:txBody>
      </p:sp>
      <p:sp>
        <p:nvSpPr>
          <p:cNvPr id="95236" name="TextBox 12">
            <a:extLst>
              <a:ext uri="{FF2B5EF4-FFF2-40B4-BE49-F238E27FC236}">
                <a16:creationId xmlns:a16="http://schemas.microsoft.com/office/drawing/2014/main" id="{2C8375AE-A611-4FF9-A5B4-4DBFEB6AB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005388"/>
            <a:ext cx="716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3-21  IPO chart information and C++ instructions for Lab 3-2 </a:t>
            </a:r>
          </a:p>
        </p:txBody>
      </p:sp>
      <p:sp>
        <p:nvSpPr>
          <p:cNvPr id="95237" name="Slide Number Placeholder 5">
            <a:extLst>
              <a:ext uri="{FF2B5EF4-FFF2-40B4-BE49-F238E27FC236}">
                <a16:creationId xmlns:a16="http://schemas.microsoft.com/office/drawing/2014/main" id="{8ED175CA-8663-46C8-B5E1-66C8D846AC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36545D-DB07-4865-941D-FAC7B8C15681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5238" name="Picture 2">
            <a:extLst>
              <a:ext uri="{FF2B5EF4-FFF2-40B4-BE49-F238E27FC236}">
                <a16:creationId xmlns:a16="http://schemas.microsoft.com/office/drawing/2014/main" id="{8C0C3665-036D-481A-B303-FF5F11365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4582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Content Placeholder 5">
            <a:extLst>
              <a:ext uri="{FF2B5EF4-FFF2-40B4-BE49-F238E27FC236}">
                <a16:creationId xmlns:a16="http://schemas.microsoft.com/office/drawing/2014/main" id="{39682540-BBC3-4B71-A173-F5A013F9D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Modify the IPO chart in Figure 3-18 so that it allows the user to enter the commission rate. Then make the appropriate modifications to Figure 3-21.</a:t>
            </a: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7283" name="Footer Placeholder 3">
            <a:extLst>
              <a:ext uri="{FF2B5EF4-FFF2-40B4-BE49-F238E27FC236}">
                <a16:creationId xmlns:a16="http://schemas.microsoft.com/office/drawing/2014/main" id="{86345F6D-1EE2-42BF-A1F0-F0BF17044D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ACDABE15-2CB3-4D78-B0D2-3417FDD3E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3-3: Modify</a:t>
            </a:r>
          </a:p>
        </p:txBody>
      </p:sp>
      <p:sp>
        <p:nvSpPr>
          <p:cNvPr id="97285" name="TextBox 12">
            <a:extLst>
              <a:ext uri="{FF2B5EF4-FFF2-40B4-BE49-F238E27FC236}">
                <a16:creationId xmlns:a16="http://schemas.microsoft.com/office/drawing/2014/main" id="{25BC1C15-5811-40B7-88D7-6569B0614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410200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3-18 Completed IPO chart for Lab 3-2</a:t>
            </a:r>
          </a:p>
        </p:txBody>
      </p:sp>
      <p:sp>
        <p:nvSpPr>
          <p:cNvPr id="97286" name="Slide Number Placeholder 6">
            <a:extLst>
              <a:ext uri="{FF2B5EF4-FFF2-40B4-BE49-F238E27FC236}">
                <a16:creationId xmlns:a16="http://schemas.microsoft.com/office/drawing/2014/main" id="{B661A504-746F-41E9-BF50-6CEA0BCBA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1D790D-ACFE-440F-91E6-4211331BF5ED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7287" name="Picture 8">
            <a:extLst>
              <a:ext uri="{FF2B5EF4-FFF2-40B4-BE49-F238E27FC236}">
                <a16:creationId xmlns:a16="http://schemas.microsoft.com/office/drawing/2014/main" id="{C47EBC5A-095B-484B-A82A-946660100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71800"/>
            <a:ext cx="792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Content Placeholder 5">
            <a:extLst>
              <a:ext uri="{FF2B5EF4-FFF2-40B4-BE49-F238E27FC236}">
                <a16:creationId xmlns:a16="http://schemas.microsoft.com/office/drawing/2014/main" id="{568285B0-EFAE-49FA-B6F7-5516F941C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Professor Merrita wants a program that calculates and displays the volume of a cylinder, given the cylinder’s radius (r) and height (h). Given the items listed below in Figure 3-22, create a complete IPO chart similar to Figure 3-21 for the problem.</a:t>
            </a: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9331" name="Footer Placeholder 3">
            <a:extLst>
              <a:ext uri="{FF2B5EF4-FFF2-40B4-BE49-F238E27FC236}">
                <a16:creationId xmlns:a16="http://schemas.microsoft.com/office/drawing/2014/main" id="{8FAE1AD1-C143-4387-A0A5-8B8DD1E76B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id="{F28AA683-9741-4710-BB4E-7B970638D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3-4: What’s Missing?</a:t>
            </a:r>
          </a:p>
        </p:txBody>
      </p:sp>
      <p:sp>
        <p:nvSpPr>
          <p:cNvPr id="99333" name="TextBox 12">
            <a:extLst>
              <a:ext uri="{FF2B5EF4-FFF2-40B4-BE49-F238E27FC236}">
                <a16:creationId xmlns:a16="http://schemas.microsoft.com/office/drawing/2014/main" id="{8D68DD27-E76F-4D21-9E7B-AECF694D2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410200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3-22 Items and statements for Lab 3-4</a:t>
            </a:r>
          </a:p>
        </p:txBody>
      </p:sp>
      <p:sp>
        <p:nvSpPr>
          <p:cNvPr id="99334" name="Slide Number Placeholder 6">
            <a:extLst>
              <a:ext uri="{FF2B5EF4-FFF2-40B4-BE49-F238E27FC236}">
                <a16:creationId xmlns:a16="http://schemas.microsoft.com/office/drawing/2014/main" id="{4B7941CE-CF05-433B-9064-3E9DA1D57C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31EC2A-1C1A-41D3-8BFA-82C42670DC17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9335" name="Picture 2">
            <a:extLst>
              <a:ext uri="{FF2B5EF4-FFF2-40B4-BE49-F238E27FC236}">
                <a16:creationId xmlns:a16="http://schemas.microsoft.com/office/drawing/2014/main" id="{95B26995-DA75-4929-83AB-58891E0B9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33800"/>
            <a:ext cx="6700838" cy="168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Content Placeholder 5">
            <a:extLst>
              <a:ext uri="{FF2B5EF4-FFF2-40B4-BE49-F238E27FC236}">
                <a16:creationId xmlns:a16="http://schemas.microsoft.com/office/drawing/2014/main" id="{37F71D37-D45D-49D1-845B-BD507A3CF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After creating an appropriate algorithm for Lab 3-4, desk-check it twice. Use 9 and 6 as the height and radius fro the first desk-check, then use 17 and 15.</a:t>
            </a:r>
          </a:p>
        </p:txBody>
      </p:sp>
      <p:sp>
        <p:nvSpPr>
          <p:cNvPr id="101379" name="Footer Placeholder 3">
            <a:extLst>
              <a:ext uri="{FF2B5EF4-FFF2-40B4-BE49-F238E27FC236}">
                <a16:creationId xmlns:a16="http://schemas.microsoft.com/office/drawing/2014/main" id="{A3939567-1A97-4032-B981-F7672F950A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A2C65A4B-16B4-4137-85D0-A4704A6A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3-5: Desk-Check</a:t>
            </a:r>
          </a:p>
        </p:txBody>
      </p:sp>
      <p:sp>
        <p:nvSpPr>
          <p:cNvPr id="101381" name="Slide Number Placeholder 8">
            <a:extLst>
              <a:ext uri="{FF2B5EF4-FFF2-40B4-BE49-F238E27FC236}">
                <a16:creationId xmlns:a16="http://schemas.microsoft.com/office/drawing/2014/main" id="{8028E841-0EA0-4A93-8E00-CF8E3E8688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0CB181-B2FE-4372-9275-B7AA6AAA0A11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Content Placeholder 5">
            <a:extLst>
              <a:ext uri="{FF2B5EF4-FFF2-40B4-BE49-F238E27FC236}">
                <a16:creationId xmlns:a16="http://schemas.microsoft.com/office/drawing/2014/main" id="{F6A11A5A-1CDC-49F6-AE87-D0947C6B2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Correct the C++ instructions shown in Figure 3-23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The memory locations will store real numbers</a:t>
            </a:r>
          </a:p>
        </p:txBody>
      </p:sp>
      <p:sp>
        <p:nvSpPr>
          <p:cNvPr id="103427" name="Footer Placeholder 3">
            <a:extLst>
              <a:ext uri="{FF2B5EF4-FFF2-40B4-BE49-F238E27FC236}">
                <a16:creationId xmlns:a16="http://schemas.microsoft.com/office/drawing/2014/main" id="{65A45460-72BC-4184-BADA-D260627F01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id="{7651EC83-D45E-49AB-BF79-B6B747C17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3-6: Debug</a:t>
            </a:r>
          </a:p>
        </p:txBody>
      </p:sp>
      <p:sp>
        <p:nvSpPr>
          <p:cNvPr id="103429" name="TextBox 7">
            <a:extLst>
              <a:ext uri="{FF2B5EF4-FFF2-40B4-BE49-F238E27FC236}">
                <a16:creationId xmlns:a16="http://schemas.microsoft.com/office/drawing/2014/main" id="{71AA7C4A-4F65-438B-89E2-B43D95CAB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638800"/>
            <a:ext cx="708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3-23 IPO chart information and C++ instructions for Lab 3-6</a:t>
            </a:r>
          </a:p>
        </p:txBody>
      </p:sp>
      <p:pic>
        <p:nvPicPr>
          <p:cNvPr id="103430" name="Picture 8">
            <a:extLst>
              <a:ext uri="{FF2B5EF4-FFF2-40B4-BE49-F238E27FC236}">
                <a16:creationId xmlns:a16="http://schemas.microsoft.com/office/drawing/2014/main" id="{65018AFB-5CE2-48AA-B648-FBE3ED99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667000"/>
            <a:ext cx="694690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31" name="Slide Number Placeholder 6">
            <a:extLst>
              <a:ext uri="{FF2B5EF4-FFF2-40B4-BE49-F238E27FC236}">
                <a16:creationId xmlns:a16="http://schemas.microsoft.com/office/drawing/2014/main" id="{947D9617-CCFD-4DB8-A0B7-53EAB1DB99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3F315D-E4D4-410D-A3B3-45F97DBE8455}" type="slidenum">
              <a:rPr lang="en-US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ak C++ 7e PPT">
  <a:themeElements>
    <a:clrScheme name="Default Design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Mod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Zak C++ 7e PPT</Template>
  <TotalTime>0</TotalTime>
  <Words>2828</Words>
  <Application>Microsoft Office PowerPoint</Application>
  <PresentationFormat>On-screen Show (4:3)</PresentationFormat>
  <Paragraphs>347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ＭＳ Ｐゴシック</vt:lpstr>
      <vt:lpstr>Arial</vt:lpstr>
      <vt:lpstr>Calibri</vt:lpstr>
      <vt:lpstr>Courier New</vt:lpstr>
      <vt:lpstr>Times New Roman</vt:lpstr>
      <vt:lpstr>Trebuchet MS</vt:lpstr>
      <vt:lpstr>Zak C++ 7e PPT</vt:lpstr>
      <vt:lpstr>Chapter 3</vt:lpstr>
      <vt:lpstr>Chapter Objectives</vt:lpstr>
      <vt:lpstr>Beginning Step 4 in the Problem-Solving Process</vt:lpstr>
      <vt:lpstr>Internal Memory</vt:lpstr>
      <vt:lpstr>Internal Memory (cont’d.)</vt:lpstr>
      <vt:lpstr>Internal Memory (cont’d.)</vt:lpstr>
      <vt:lpstr>Internal Memory (cont’d.)</vt:lpstr>
      <vt:lpstr>Selecting a Name for a Memory Location</vt:lpstr>
      <vt:lpstr>Selecting a Name for a Memory Location (cont’d.)</vt:lpstr>
      <vt:lpstr>Selecting a Name for a Memory Location (cont’d.)</vt:lpstr>
      <vt:lpstr>Selecting a Name for a Memory Location (cont’d.)</vt:lpstr>
      <vt:lpstr>Revisiting the Addison O’Reilly Problem</vt:lpstr>
      <vt:lpstr>Revisiting the Addison O’Reilly Problem (cont’d.)</vt:lpstr>
      <vt:lpstr>Revisiting the Addison O’Reilly Problem (cont’d.)</vt:lpstr>
      <vt:lpstr>Selecting a Data Type for a Memory Location</vt:lpstr>
      <vt:lpstr>Selecting a Data Type for a Memory Location (cont’d.)</vt:lpstr>
      <vt:lpstr>Selecting a Data Type for a Memory Location (cont’d.)</vt:lpstr>
      <vt:lpstr>Selecting a Data Type for a Memory Location (cont’d.)</vt:lpstr>
      <vt:lpstr>Selecting a Data Type for a Memory Location (cont’d.)</vt:lpstr>
      <vt:lpstr>How Data Is Stored in Internal Memory</vt:lpstr>
      <vt:lpstr>How Data Is Stored in Internal Memory (cont’d.)</vt:lpstr>
      <vt:lpstr>How Data Is Stored in Internal Memory (cont’d.)</vt:lpstr>
      <vt:lpstr>How Data Is Stored in Internal Memory (cont’d.)</vt:lpstr>
      <vt:lpstr>Selecting an Initial Value for a Memory Location</vt:lpstr>
      <vt:lpstr>Selecting an Initial Value for a Memory Location (cont’d.)</vt:lpstr>
      <vt:lpstr>Selecting an Initial Value for a Memory Location (cont’d.)</vt:lpstr>
      <vt:lpstr>Selecting an Initial Value for a Memory Location (cont’d.)</vt:lpstr>
      <vt:lpstr>Selecting an Initial Value for a Memory Location (cont’d.)</vt:lpstr>
      <vt:lpstr>Declaring a Memory Location</vt:lpstr>
      <vt:lpstr>Declaring a Memory Location (cont’d.)</vt:lpstr>
      <vt:lpstr>Declaring a Memory Location (cont’d.)</vt:lpstr>
      <vt:lpstr>Declaring a Memory Location (cont’d.)</vt:lpstr>
      <vt:lpstr>Declaring a Memory Location (cont’d.)</vt:lpstr>
      <vt:lpstr>Declaring a Memory Location (cont’d.)</vt:lpstr>
      <vt:lpstr>Declaring a Memory Location (cont’d.)</vt:lpstr>
      <vt:lpstr>Summary</vt:lpstr>
      <vt:lpstr>Summary (cont’d.)</vt:lpstr>
      <vt:lpstr>Summary (cont’d.)</vt:lpstr>
      <vt:lpstr>Lab 3-1: Stop and Analyze</vt:lpstr>
      <vt:lpstr>Lab 3-2: Plan and Create</vt:lpstr>
      <vt:lpstr>Lab 3-2: Plan and Create (cont’d.)</vt:lpstr>
      <vt:lpstr>Lab 3-2: Plan and Create (cont’d.)</vt:lpstr>
      <vt:lpstr>Lab 3-2: Plan and Create (cont’d.)</vt:lpstr>
      <vt:lpstr>Lab 3-2: Plan and Create (cont’d.)</vt:lpstr>
      <vt:lpstr>Lab 3-3: Modify</vt:lpstr>
      <vt:lpstr>Lab 3-4: What’s Missing?</vt:lpstr>
      <vt:lpstr>Lab 3-5: Desk-Check</vt:lpstr>
      <vt:lpstr>Lab 3-6: Debug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2012-07-02T16:39:37Z</dcterms:created>
  <dcterms:modified xsi:type="dcterms:W3CDTF">2020-07-14T20:41:16Z</dcterms:modified>
</cp:coreProperties>
</file>