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1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18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97c7b900f41abbbd" providerId="LiveId" clId="{416E2DD8-755F-4576-9F82-6ECE9C8067D5}"/>
    <pc:docChg chg="custSel addSld modSld">
      <pc:chgData name="" userId="97c7b900f41abbbd" providerId="LiveId" clId="{416E2DD8-755F-4576-9F82-6ECE9C8067D5}" dt="2020-07-15T16:58:43.972" v="186" actId="403"/>
      <pc:docMkLst>
        <pc:docMk/>
      </pc:docMkLst>
      <pc:sldChg chg="modSp">
        <pc:chgData name="" userId="97c7b900f41abbbd" providerId="LiveId" clId="{416E2DD8-755F-4576-9F82-6ECE9C8067D5}" dt="2020-07-15T16:54:05.379" v="2" actId="113"/>
        <pc:sldMkLst>
          <pc:docMk/>
          <pc:sldMk cId="2326122634" sldId="266"/>
        </pc:sldMkLst>
        <pc:spChg chg="mod">
          <ac:chgData name="" userId="97c7b900f41abbbd" providerId="LiveId" clId="{416E2DD8-755F-4576-9F82-6ECE9C8067D5}" dt="2020-07-15T16:54:05.379" v="2" actId="113"/>
          <ac:spMkLst>
            <pc:docMk/>
            <pc:sldMk cId="2326122634" sldId="266"/>
            <ac:spMk id="3" creationId="{00000000-0000-0000-0000-000000000000}"/>
          </ac:spMkLst>
        </pc:spChg>
      </pc:sldChg>
      <pc:sldChg chg="modSp">
        <pc:chgData name="" userId="97c7b900f41abbbd" providerId="LiveId" clId="{416E2DD8-755F-4576-9F82-6ECE9C8067D5}" dt="2020-07-15T16:55:10.147" v="118" actId="20577"/>
        <pc:sldMkLst>
          <pc:docMk/>
          <pc:sldMk cId="1010556428" sldId="269"/>
        </pc:sldMkLst>
        <pc:spChg chg="mod">
          <ac:chgData name="" userId="97c7b900f41abbbd" providerId="LiveId" clId="{416E2DD8-755F-4576-9F82-6ECE9C8067D5}" dt="2020-07-15T16:55:10.147" v="118" actId="20577"/>
          <ac:spMkLst>
            <pc:docMk/>
            <pc:sldMk cId="1010556428" sldId="269"/>
            <ac:spMk id="7" creationId="{865E8096-57D2-41EB-8B46-F591A01CD043}"/>
          </ac:spMkLst>
        </pc:spChg>
      </pc:sldChg>
      <pc:sldChg chg="modSp">
        <pc:chgData name="" userId="97c7b900f41abbbd" providerId="LiveId" clId="{416E2DD8-755F-4576-9F82-6ECE9C8067D5}" dt="2020-07-15T16:52:27.395" v="0" actId="20577"/>
        <pc:sldMkLst>
          <pc:docMk/>
          <pc:sldMk cId="247104458" sldId="279"/>
        </pc:sldMkLst>
        <pc:spChg chg="mod">
          <ac:chgData name="" userId="97c7b900f41abbbd" providerId="LiveId" clId="{416E2DD8-755F-4576-9F82-6ECE9C8067D5}" dt="2020-07-15T16:52:27.395" v="0" actId="20577"/>
          <ac:spMkLst>
            <pc:docMk/>
            <pc:sldMk cId="247104458" sldId="279"/>
            <ac:spMk id="3" creationId="{00000000-0000-0000-0000-000000000000}"/>
          </ac:spMkLst>
        </pc:spChg>
      </pc:sldChg>
      <pc:sldChg chg="modSp">
        <pc:chgData name="" userId="97c7b900f41abbbd" providerId="LiveId" clId="{416E2DD8-755F-4576-9F82-6ECE9C8067D5}" dt="2020-07-15T16:57:14.839" v="178" actId="20577"/>
        <pc:sldMkLst>
          <pc:docMk/>
          <pc:sldMk cId="4155840228" sldId="294"/>
        </pc:sldMkLst>
        <pc:spChg chg="mod">
          <ac:chgData name="" userId="97c7b900f41abbbd" providerId="LiveId" clId="{416E2DD8-755F-4576-9F82-6ECE9C8067D5}" dt="2020-07-15T16:57:14.839" v="178" actId="20577"/>
          <ac:spMkLst>
            <pc:docMk/>
            <pc:sldMk cId="4155840228" sldId="294"/>
            <ac:spMk id="3" creationId="{00000000-0000-0000-0000-000000000000}"/>
          </ac:spMkLst>
        </pc:spChg>
      </pc:sldChg>
      <pc:sldChg chg="modSp">
        <pc:chgData name="" userId="97c7b900f41abbbd" providerId="LiveId" clId="{416E2DD8-755F-4576-9F82-6ECE9C8067D5}" dt="2020-07-15T16:57:52.333" v="179" actId="113"/>
        <pc:sldMkLst>
          <pc:docMk/>
          <pc:sldMk cId="3159248637" sldId="298"/>
        </pc:sldMkLst>
        <pc:spChg chg="mod">
          <ac:chgData name="" userId="97c7b900f41abbbd" providerId="LiveId" clId="{416E2DD8-755F-4576-9F82-6ECE9C8067D5}" dt="2020-07-15T16:57:52.333" v="179" actId="113"/>
          <ac:spMkLst>
            <pc:docMk/>
            <pc:sldMk cId="3159248637" sldId="298"/>
            <ac:spMk id="3" creationId="{00000000-0000-0000-0000-000000000000}"/>
          </ac:spMkLst>
        </pc:spChg>
      </pc:sldChg>
      <pc:sldChg chg="modSp">
        <pc:chgData name="" userId="97c7b900f41abbbd" providerId="LiveId" clId="{416E2DD8-755F-4576-9F82-6ECE9C8067D5}" dt="2020-07-15T16:58:43.972" v="186" actId="403"/>
        <pc:sldMkLst>
          <pc:docMk/>
          <pc:sldMk cId="1325597294" sldId="309"/>
        </pc:sldMkLst>
        <pc:spChg chg="mod">
          <ac:chgData name="" userId="97c7b900f41abbbd" providerId="LiveId" clId="{416E2DD8-755F-4576-9F82-6ECE9C8067D5}" dt="2020-07-15T16:58:43.972" v="186" actId="403"/>
          <ac:spMkLst>
            <pc:docMk/>
            <pc:sldMk cId="1325597294" sldId="309"/>
            <ac:spMk id="3" creationId="{00000000-0000-0000-0000-000000000000}"/>
          </ac:spMkLst>
        </pc:spChg>
      </pc:sldChg>
      <pc:sldChg chg="modSp add">
        <pc:chgData name="" userId="97c7b900f41abbbd" providerId="LiveId" clId="{416E2DD8-755F-4576-9F82-6ECE9C8067D5}" dt="2020-07-15T16:54:57.717" v="110" actId="20577"/>
        <pc:sldMkLst>
          <pc:docMk/>
          <pc:sldMk cId="1052357088" sldId="316"/>
        </pc:sldMkLst>
        <pc:spChg chg="mod">
          <ac:chgData name="" userId="97c7b900f41abbbd" providerId="LiveId" clId="{416E2DD8-755F-4576-9F82-6ECE9C8067D5}" dt="2020-07-15T16:54:25.839" v="10" actId="20577"/>
          <ac:spMkLst>
            <pc:docMk/>
            <pc:sldMk cId="1052357088" sldId="316"/>
            <ac:spMk id="2" creationId="{00000000-0000-0000-0000-000000000000}"/>
          </ac:spMkLst>
        </pc:spChg>
        <pc:spChg chg="mod">
          <ac:chgData name="" userId="97c7b900f41abbbd" providerId="LiveId" clId="{416E2DD8-755F-4576-9F82-6ECE9C8067D5}" dt="2020-07-15T16:54:57.717" v="110" actId="20577"/>
          <ac:spMkLst>
            <pc:docMk/>
            <pc:sldMk cId="1052357088" sldId="316"/>
            <ac:spMk id="3" creationId="{00000000-0000-0000-0000-000000000000}"/>
          </ac:spMkLst>
        </pc:spChg>
      </pc:sldChg>
    </pc:docChg>
  </pc:docChgLst>
  <pc:docChgLst>
    <pc:chgData name="Kelly Hinson" userId="97c7b900f41abbbd" providerId="LiveId" clId="{70530538-37BE-4C96-903D-5704A8701FA4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1B317-194A-4DBF-8269-4F5D7F34DA2A}" type="datetimeFigureOut">
              <a:rPr lang="en-US" smtClean="0"/>
              <a:t>7/15/2020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4128C-CC53-4BBB-92CF-111053AA6E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07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4128C-CC53-4BBB-92CF-111053AA6EB0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738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541D-1D42-49EC-B771-060FD9439BF9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065DF-F9E2-4FC6-B3E8-88DFFBE826B0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64DE-402B-419A-ACE4-63B8E7472C89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D39D-878C-4135-8E68-2769C6D69435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47AE-CC8A-442B-9496-4665E2E9D3A8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F145-90E0-48DE-857C-6AA2BE6EBE6A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169F-E386-4264-A204-4B060CEA8A35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6FDEE6F-C6DB-4F4B-B32A-2A9453F05AB4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B3B5D-8417-4851-A0A6-A250E120EA5F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5401E-79CC-46C4-B788-7A90143E3F1E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AD6C5-13BD-46BE-9F30-C0B0122AE32E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384B803-A9A0-454D-B546-847C26998D0E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5308" y="679963"/>
            <a:ext cx="10058400" cy="356616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Variables and Constants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  <p:pic>
        <p:nvPicPr>
          <p:cNvPr id="5" name="Picture 4" descr="Variables&#10;&#10;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75371"/>
            <a:ext cx="3820058" cy="2810267"/>
          </a:xfrm>
          <a:prstGeom prst="rect">
            <a:avLst/>
          </a:prstGeom>
        </p:spPr>
      </p:pic>
      <p:pic>
        <p:nvPicPr>
          <p:cNvPr id="6" name="Picture 5" descr="Some things never chan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846" y="393289"/>
            <a:ext cx="3599027" cy="279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430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Coding the Algorithm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Refers to the process of translating the algorithm into a language that the computer can understand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4" descr="Think twice, code once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160" y="2764450"/>
            <a:ext cx="5031197" cy="339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296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Begin by 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Assigning names </a:t>
            </a:r>
            <a:r>
              <a:rPr lang="en-US" sz="4400" dirty="0"/>
              <a:t>to every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4200" dirty="0"/>
              <a:t>input item,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4200" dirty="0"/>
              <a:t>processing item and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4200" dirty="0"/>
              <a:t>output item.</a:t>
            </a:r>
          </a:p>
          <a:p>
            <a:r>
              <a:rPr lang="en-US" sz="4400" dirty="0"/>
              <a:t>Then, assign a </a:t>
            </a:r>
            <a:r>
              <a:rPr lang="en-US" sz="4400" b="1" dirty="0">
                <a:solidFill>
                  <a:srgbClr val="FF0000"/>
                </a:solidFill>
              </a:rPr>
              <a:t>data type </a:t>
            </a:r>
            <a:r>
              <a:rPr lang="en-US" sz="4400" dirty="0"/>
              <a:t>and </a:t>
            </a:r>
            <a:r>
              <a:rPr lang="en-US" sz="4400" b="1" dirty="0">
                <a:solidFill>
                  <a:srgbClr val="FF0000"/>
                </a:solidFill>
              </a:rPr>
              <a:t>initial value</a:t>
            </a:r>
            <a:r>
              <a:rPr lang="en-US" sz="4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787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Internal Memory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Each memory location has a </a:t>
            </a:r>
            <a:r>
              <a:rPr lang="en-US" sz="4400" b="1" dirty="0">
                <a:solidFill>
                  <a:srgbClr val="FF0000"/>
                </a:solidFill>
              </a:rPr>
              <a:t>unique </a:t>
            </a:r>
            <a:r>
              <a:rPr lang="en-US" sz="4400" dirty="0"/>
              <a:t>internal address.</a:t>
            </a:r>
          </a:p>
          <a:p>
            <a:r>
              <a:rPr lang="en-US" sz="4400" dirty="0"/>
              <a:t>Each memory location can only hold </a:t>
            </a:r>
            <a:r>
              <a:rPr lang="en-US" sz="4400" b="1" dirty="0">
                <a:solidFill>
                  <a:srgbClr val="FF0000"/>
                </a:solidFill>
              </a:rPr>
              <a:t>one </a:t>
            </a:r>
            <a:r>
              <a:rPr lang="en-US" sz="4400" dirty="0"/>
              <a:t>item.</a:t>
            </a:r>
          </a:p>
          <a:p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917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Declaring a memory location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 C++ this is done with </a:t>
            </a:r>
            <a:r>
              <a:rPr lang="en-US" sz="4000" b="1" dirty="0">
                <a:solidFill>
                  <a:srgbClr val="FF0000"/>
                </a:solidFill>
              </a:rPr>
              <a:t>one statement </a:t>
            </a:r>
            <a:r>
              <a:rPr lang="en-US" sz="4000" dirty="0"/>
              <a:t>that declares the name, data type, and initial value.</a:t>
            </a:r>
          </a:p>
          <a:p>
            <a:r>
              <a:rPr lang="en-US" sz="4000" b="1" dirty="0">
                <a:solidFill>
                  <a:srgbClr val="FF0000"/>
                </a:solidFill>
              </a:rPr>
              <a:t>Names are descriptive </a:t>
            </a:r>
            <a:r>
              <a:rPr lang="en-US" sz="4000" dirty="0"/>
              <a:t>because they are easier to remember and help self-document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312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Types of memory 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Variables and Named 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Picture 4" descr="Head 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5680" y="2328051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33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Memory location whose </a:t>
            </a:r>
            <a:r>
              <a:rPr lang="en-US" sz="4000" b="1" dirty="0">
                <a:solidFill>
                  <a:srgbClr val="FF0000"/>
                </a:solidFill>
              </a:rPr>
              <a:t>value can change during runtime</a:t>
            </a:r>
            <a:r>
              <a:rPr lang="en-US" sz="4000" dirty="0"/>
              <a:t> (when the program is running)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 descr="Ostriches running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480" y="3441224"/>
            <a:ext cx="6350000" cy="284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420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Named constant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Cannot</a:t>
            </a:r>
            <a:r>
              <a:rPr lang="en-US" sz="3600" dirty="0"/>
              <a:t> change during runtime</a:t>
            </a:r>
          </a:p>
          <a:p>
            <a:endParaRPr lang="en-US" sz="3600" dirty="0"/>
          </a:p>
          <a:p>
            <a:r>
              <a:rPr lang="en-US" sz="3600" dirty="0"/>
              <a:t>Example:    PI = 3.14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046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Memory locations</a:t>
            </a:r>
            <a:r>
              <a:rPr lang="en-US" dirty="0"/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Every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/>
              <a:t>memory location declared must have a name or identifier that is descriptive</a:t>
            </a:r>
          </a:p>
          <a:p>
            <a:endParaRPr lang="en-US" sz="4000" dirty="0"/>
          </a:p>
          <a:p>
            <a:r>
              <a:rPr lang="en-US" sz="4000" dirty="0"/>
              <a:t>A good name is one that is </a:t>
            </a:r>
            <a:r>
              <a:rPr lang="en-US" sz="4000" b="1" dirty="0">
                <a:solidFill>
                  <a:srgbClr val="FF0000"/>
                </a:solidFill>
              </a:rPr>
              <a:t>meaningful</a:t>
            </a:r>
            <a:r>
              <a:rPr lang="en-US" sz="4000" dirty="0"/>
              <a:t> when you name it and years later.</a:t>
            </a:r>
          </a:p>
          <a:p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870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C++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490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Begin with a letter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Contain only letters, numbers and underscore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No punctuation marks, spaces or special characters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Cannot be a keyword (reserved word)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Names are case sensitive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Discount and discount might look alike, but are different in C++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439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Common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Use </a:t>
            </a:r>
            <a:r>
              <a:rPr lang="en-US" sz="2800" b="1" dirty="0">
                <a:solidFill>
                  <a:srgbClr val="FF0000"/>
                </a:solidFill>
              </a:rPr>
              <a:t>uppercase</a:t>
            </a:r>
            <a:r>
              <a:rPr lang="en-US" sz="2800" dirty="0"/>
              <a:t> letters for named constants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Use </a:t>
            </a:r>
            <a:r>
              <a:rPr lang="en-US" sz="2800" b="1" dirty="0">
                <a:solidFill>
                  <a:srgbClr val="FF0000"/>
                </a:solidFill>
              </a:rPr>
              <a:t>lowercase</a:t>
            </a:r>
            <a:r>
              <a:rPr lang="en-US" sz="2800" dirty="0"/>
              <a:t> for variables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If the name is more than one word for a </a:t>
            </a:r>
            <a:r>
              <a:rPr lang="en-US" sz="2800" b="1" dirty="0"/>
              <a:t>named constant</a:t>
            </a:r>
            <a:r>
              <a:rPr lang="en-US" sz="2800" dirty="0"/>
              <a:t>, use the </a:t>
            </a:r>
            <a:r>
              <a:rPr lang="en-US" sz="2800" b="1" dirty="0">
                <a:solidFill>
                  <a:srgbClr val="FF0000"/>
                </a:solidFill>
              </a:rPr>
              <a:t>underscore</a:t>
            </a:r>
            <a:r>
              <a:rPr lang="en-US" sz="2800" dirty="0"/>
              <a:t> to separate the names.</a:t>
            </a:r>
          </a:p>
          <a:p>
            <a:pPr lvl="1"/>
            <a:r>
              <a:rPr lang="en-US" sz="2800" dirty="0"/>
              <a:t>TAX_RATE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If the </a:t>
            </a:r>
            <a:r>
              <a:rPr lang="en-US" sz="2800" b="1" dirty="0"/>
              <a:t>variable</a:t>
            </a:r>
            <a:r>
              <a:rPr lang="en-US" sz="2800" dirty="0"/>
              <a:t> name has two words, use the </a:t>
            </a:r>
            <a:r>
              <a:rPr lang="en-US" sz="2800" b="1" dirty="0">
                <a:solidFill>
                  <a:srgbClr val="FF0000"/>
                </a:solidFill>
              </a:rPr>
              <a:t>camel case</a:t>
            </a:r>
            <a:r>
              <a:rPr lang="en-US" sz="2800" dirty="0"/>
              <a:t>:</a:t>
            </a:r>
          </a:p>
          <a:p>
            <a:pPr lvl="1"/>
            <a:r>
              <a:rPr lang="en-US" sz="2800" dirty="0"/>
              <a:t>grossPay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122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Why are these invalid names?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2011sales</a:t>
            </a:r>
          </a:p>
          <a:p>
            <a:r>
              <a:rPr lang="en-US" sz="3600" dirty="0"/>
              <a:t>end Balance</a:t>
            </a:r>
          </a:p>
          <a:p>
            <a:r>
              <a:rPr lang="en-US" sz="3600" dirty="0"/>
              <a:t>first.name</a:t>
            </a:r>
          </a:p>
          <a:p>
            <a:r>
              <a:rPr lang="en-US" sz="3600" dirty="0"/>
              <a:t>int</a:t>
            </a:r>
          </a:p>
          <a:p>
            <a:r>
              <a:rPr lang="en-US" sz="3600" dirty="0"/>
              <a:t>RATE%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12</a:t>
            </a:fld>
            <a:endParaRPr lang="en-US" dirty="0"/>
          </a:p>
        </p:txBody>
      </p:sp>
      <p:pic>
        <p:nvPicPr>
          <p:cNvPr id="5" name="Picture 4" descr="No, No, No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295" y="2242926"/>
            <a:ext cx="4289812" cy="362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27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Why are these invalid names?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2011sales – starts with a number</a:t>
            </a:r>
          </a:p>
          <a:p>
            <a:r>
              <a:rPr lang="en-US" sz="3600" dirty="0"/>
              <a:t>end Balance – has a space</a:t>
            </a:r>
          </a:p>
          <a:p>
            <a:r>
              <a:rPr lang="en-US" sz="3600" dirty="0"/>
              <a:t>first.name – has a decimal</a:t>
            </a:r>
          </a:p>
          <a:p>
            <a:r>
              <a:rPr lang="en-US" sz="3600" dirty="0"/>
              <a:t>Int – key word</a:t>
            </a:r>
          </a:p>
          <a:p>
            <a:r>
              <a:rPr lang="en-US" sz="3600" dirty="0"/>
              <a:t>RATE% - cannot use percent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Picture 4" descr="No, No, No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295" y="2242926"/>
            <a:ext cx="4289812" cy="362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7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How many items can a memory location store at one time?</a:t>
            </a:r>
          </a:p>
        </p:txBody>
      </p:sp>
      <p:pic>
        <p:nvPicPr>
          <p:cNvPr id="5" name="Content Placeholder 4" descr="Check of drawers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778" y="1971870"/>
            <a:ext cx="4253404" cy="4253404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201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5E8096-57D2-41EB-8B46-F591A01CD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4" descr="ON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319" y="2218363"/>
            <a:ext cx="3650731" cy="365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56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Which of the following is correct for the quantity variable?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/>
              <a:t>quantity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QUANTITY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Quantity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Any of the above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424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Answer: Which of the following is correct for the quantity variable?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b="1" dirty="0">
                <a:solidFill>
                  <a:srgbClr val="FF0000"/>
                </a:solidFill>
              </a:rPr>
              <a:t>quantity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QUANTITY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Quantity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Any of the above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521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Which of the following is a valid name for a memory location?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dirty="0"/>
              <a:t>jan.Sales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2ndQuarterIncome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COMMISSION_RATE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march$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381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Answer: Which of the following is a valid name for a memory location?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dirty="0"/>
              <a:t>jan.Sales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2ndQuarterIncome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b="1" dirty="0">
                <a:solidFill>
                  <a:srgbClr val="FF0000"/>
                </a:solidFill>
              </a:rPr>
              <a:t>COMMISSION_RATE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march$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048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What are the 2 types of memory locations a programmer can declare?</a:t>
            </a:r>
          </a:p>
        </p:txBody>
      </p:sp>
      <p:pic>
        <p:nvPicPr>
          <p:cNvPr id="5" name="Content Placeholder 4" descr="Brai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414" y="2118893"/>
            <a:ext cx="4973075" cy="372980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260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59120F-AB82-40C3-9E97-068B1C41F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Named Constants and 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945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Fundamental data types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short</a:t>
            </a:r>
          </a:p>
          <a:p>
            <a:r>
              <a:rPr lang="en-US" sz="2800" dirty="0"/>
              <a:t>int</a:t>
            </a:r>
          </a:p>
          <a:p>
            <a:r>
              <a:rPr lang="en-US" sz="2800" dirty="0"/>
              <a:t>float</a:t>
            </a:r>
          </a:p>
          <a:p>
            <a:r>
              <a:rPr lang="en-US" sz="2800" dirty="0"/>
              <a:t>double</a:t>
            </a:r>
          </a:p>
          <a:p>
            <a:r>
              <a:rPr lang="en-US" sz="2800" dirty="0"/>
              <a:t>bool</a:t>
            </a:r>
          </a:p>
          <a:p>
            <a:r>
              <a:rPr lang="en-US" sz="2800" dirty="0"/>
              <a:t>char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4342" y="1845734"/>
            <a:ext cx="5511337" cy="4023361"/>
          </a:xfrm>
        </p:spPr>
        <p:txBody>
          <a:bodyPr>
            <a:normAutofit/>
          </a:bodyPr>
          <a:lstStyle/>
          <a:p>
            <a:r>
              <a:rPr lang="en-US" sz="3200" dirty="0"/>
              <a:t>These are basic types built into C++</a:t>
            </a:r>
          </a:p>
          <a:p>
            <a:r>
              <a:rPr lang="en-US" sz="3200" dirty="0"/>
              <a:t>Also called primitive or built-in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508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string data type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89397" y="1845734"/>
            <a:ext cx="10666283" cy="402336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User-defined</a:t>
            </a:r>
            <a:r>
              <a:rPr lang="en-US" sz="2800" dirty="0"/>
              <a:t> data type</a:t>
            </a:r>
          </a:p>
          <a:p>
            <a:r>
              <a:rPr lang="en-US" sz="2800" dirty="0"/>
              <a:t>A class: a group of instructions that the computer uses to create an object.</a:t>
            </a:r>
          </a:p>
          <a:p>
            <a:r>
              <a:rPr lang="en-US" sz="2800" dirty="0"/>
              <a:t>In this case, the class creates a </a:t>
            </a:r>
            <a:r>
              <a:rPr lang="en-US" sz="2800" dirty="0">
                <a:solidFill>
                  <a:srgbClr val="FF0000"/>
                </a:solidFill>
              </a:rPr>
              <a:t>string</a:t>
            </a:r>
            <a:r>
              <a:rPr lang="en-US" sz="2800" dirty="0"/>
              <a:t> variable which is an object with </a:t>
            </a:r>
            <a:r>
              <a:rPr lang="en-US" sz="2800" b="1" dirty="0">
                <a:solidFill>
                  <a:srgbClr val="FF0000"/>
                </a:solidFill>
              </a:rPr>
              <a:t>zero or more characters.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617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char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Can only store </a:t>
            </a:r>
            <a:r>
              <a:rPr lang="en-US" sz="2800" b="1" dirty="0">
                <a:solidFill>
                  <a:srgbClr val="FF0000"/>
                </a:solidFill>
              </a:rPr>
              <a:t>one</a:t>
            </a:r>
            <a:r>
              <a:rPr lang="en-US" sz="2800" dirty="0"/>
              <a:t> character like a letter or number or symbol.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rgbClr val="FF0000"/>
                </a:solidFill>
              </a:rPr>
              <a:t>It does not store a person’s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24</a:t>
            </a:fld>
            <a:endParaRPr lang="en-US" dirty="0"/>
          </a:p>
        </p:txBody>
      </p:sp>
      <p:pic>
        <p:nvPicPr>
          <p:cNvPr id="5" name="Picture 4" descr="On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867" y="2285231"/>
            <a:ext cx="3755615" cy="375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529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short and 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Store integers only.</a:t>
            </a:r>
          </a:p>
          <a:p>
            <a:r>
              <a:rPr lang="en-US" sz="3200" dirty="0"/>
              <a:t>A whole number does not contain decimals.</a:t>
            </a:r>
          </a:p>
          <a:p>
            <a:r>
              <a:rPr lang="en-US" sz="3200" dirty="0"/>
              <a:t>The difference between short and int is the storage size of the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04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Real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Float</a:t>
            </a:r>
          </a:p>
          <a:p>
            <a:r>
              <a:rPr lang="en-US" sz="3200" dirty="0"/>
              <a:t>Double</a:t>
            </a:r>
          </a:p>
          <a:p>
            <a:r>
              <a:rPr lang="en-US" sz="3200" dirty="0"/>
              <a:t>Difference is range.</a:t>
            </a:r>
          </a:p>
          <a:p>
            <a:r>
              <a:rPr lang="en-US" sz="3200" dirty="0"/>
              <a:t>Double is more precise.</a:t>
            </a:r>
          </a:p>
          <a:p>
            <a:r>
              <a:rPr lang="en-US" sz="3200" dirty="0"/>
              <a:t>Not all numbers can be represented with accuracy to the penny.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688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91946"/>
            <a:ext cx="10058400" cy="1450757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Internal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Binary number system</a:t>
            </a:r>
          </a:p>
          <a:p>
            <a:r>
              <a:rPr lang="en-US" sz="3600" dirty="0"/>
              <a:t>0, 1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393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ASCII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Contains a </a:t>
            </a:r>
            <a:r>
              <a:rPr lang="en-US" sz="3200" b="1" dirty="0">
                <a:solidFill>
                  <a:srgbClr val="FF0000"/>
                </a:solidFill>
              </a:rPr>
              <a:t>specific numeric code </a:t>
            </a:r>
            <a:r>
              <a:rPr lang="en-US" sz="3200" dirty="0"/>
              <a:t>for each character on the keyboard.</a:t>
            </a:r>
          </a:p>
          <a:p>
            <a:r>
              <a:rPr lang="en-US" sz="3200" dirty="0"/>
              <a:t>ASCII is then converted to binary.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04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type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Determines how the computer interprets a memory location’s existing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22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True or false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</a:t>
            </a:r>
            <a:r>
              <a:rPr lang="en-US" sz="3600" dirty="0">
                <a:solidFill>
                  <a:srgbClr val="FF0000"/>
                </a:solidFill>
              </a:rPr>
              <a:t>string</a:t>
            </a:r>
            <a:r>
              <a:rPr lang="en-US" sz="3600" dirty="0"/>
              <a:t> data type is one of the fundamental data types?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5646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True or </a:t>
            </a:r>
            <a:r>
              <a:rPr lang="en-US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</a:t>
            </a:r>
            <a:r>
              <a:rPr lang="en-US" sz="3600" dirty="0">
                <a:solidFill>
                  <a:srgbClr val="FF0000"/>
                </a:solidFill>
              </a:rPr>
              <a:t>string</a:t>
            </a:r>
            <a:r>
              <a:rPr lang="en-US" sz="3600" dirty="0"/>
              <a:t> data type is one of the fundamental data types?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3163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In the binary number system the decimal number 32 is represented 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10000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10001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100000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None of the above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930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083" y="271081"/>
            <a:ext cx="10058400" cy="1450757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Answer: In the binary number system the decimal number 32 is represented 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60034"/>
            <a:ext cx="10058400" cy="402336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3200" dirty="0"/>
              <a:t>10000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10001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b="1" dirty="0">
                <a:solidFill>
                  <a:srgbClr val="FF0000"/>
                </a:solidFill>
              </a:rPr>
              <a:t>100000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None of the above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1673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092200"/>
            <a:ext cx="10058400" cy="31242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What is the </a:t>
            </a:r>
            <a:r>
              <a:rPr lang="en-US" b="1" dirty="0">
                <a:solidFill>
                  <a:srgbClr val="FF0000"/>
                </a:solidFill>
              </a:rPr>
              <a:t>ASCII code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for the lowercase letter b and how is it represented in the computers internal memory?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35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145D4AD-AE5B-46B4-981E-F938E993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98</a:t>
            </a:r>
          </a:p>
          <a:p>
            <a:endParaRPr lang="en-US"/>
          </a:p>
          <a:p>
            <a:r>
              <a:rPr lang="en-US"/>
              <a:t>01100010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0185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Which data type can store a real number?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4000" dirty="0"/>
              <a:t>double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4000" dirty="0"/>
              <a:t>int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4000" dirty="0"/>
              <a:t>float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4000" dirty="0"/>
              <a:t>Both a and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18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Answer: Which data type can store a real number?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double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int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float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b="1" dirty="0">
                <a:solidFill>
                  <a:srgbClr val="FF0000"/>
                </a:solidFill>
              </a:rPr>
              <a:t>Both a and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1381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Initial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Called initializing</a:t>
            </a:r>
          </a:p>
          <a:p>
            <a:endParaRPr lang="en-US" sz="4000" dirty="0"/>
          </a:p>
          <a:p>
            <a:r>
              <a:rPr lang="en-US" sz="4000" dirty="0"/>
              <a:t>bool is done with “true” or “false”</a:t>
            </a:r>
          </a:p>
          <a:p>
            <a:endParaRPr lang="en-US" sz="4000" dirty="0"/>
          </a:p>
          <a:p>
            <a:r>
              <a:rPr lang="en-US" sz="4000" dirty="0"/>
              <a:t>All others use a literal constant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1464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Literal constant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Item of data that can appear in a program instruction and be stored in a memory location.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Must match </a:t>
            </a:r>
            <a:r>
              <a:rPr lang="en-US" sz="3600" dirty="0"/>
              <a:t>the data type of the memory location to which it is assigned.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1645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Memory locations which are short or int should have integers assigned to them. Example: int number = 0;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Memory locations which are float or double should have real numbers assigned to them. Example: double rate = 0.0;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Integers and real numbers are called numeric literal constants.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They can contain a minus sign, plus sign, numbers, and the decimal point.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Also the letter E for exponential 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8402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Numeric literal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Cannot contain a space, comma, or special character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No </a:t>
            </a:r>
            <a:r>
              <a:rPr lang="en-US" sz="3600" dirty="0"/>
              <a:t>$ or %</a:t>
            </a:r>
          </a:p>
          <a:p>
            <a:r>
              <a:rPr lang="en-US" sz="3600" dirty="0"/>
              <a:t>A numeric literal constant with no decimal is an int</a:t>
            </a:r>
          </a:p>
          <a:p>
            <a:r>
              <a:rPr lang="en-US" sz="3600" dirty="0"/>
              <a:t>A numeric literal constant with a decimal is a double data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5700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Character literal constant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Used to initial char data types</a:t>
            </a:r>
          </a:p>
          <a:p>
            <a:r>
              <a:rPr lang="en-US" sz="3600" dirty="0"/>
              <a:t>Enclosed in a single quote</a:t>
            </a:r>
          </a:p>
          <a:p>
            <a:pPr lvl="1"/>
            <a:r>
              <a:rPr lang="en-US" sz="3600" dirty="0"/>
              <a:t>‘x’</a:t>
            </a:r>
          </a:p>
          <a:p>
            <a:pPr lvl="1"/>
            <a:r>
              <a:rPr lang="en-US" sz="3600" dirty="0"/>
              <a:t>‘ ‘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279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String literal constant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Used for a string memory location</a:t>
            </a:r>
          </a:p>
          <a:p>
            <a:r>
              <a:rPr lang="en-US" sz="3600" dirty="0"/>
              <a:t>Uses double quotation marks</a:t>
            </a:r>
          </a:p>
          <a:p>
            <a:pPr lvl="1"/>
            <a:r>
              <a:rPr lang="en-US" sz="3600" dirty="0"/>
              <a:t>“hello”</a:t>
            </a:r>
          </a:p>
          <a:p>
            <a:pPr lvl="1"/>
            <a:r>
              <a:rPr lang="en-US" sz="3600" dirty="0"/>
              <a:t>“” (no space between)  also called empty string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7587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Assigning a value to a memory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61883"/>
          </a:xfrm>
        </p:spPr>
        <p:txBody>
          <a:bodyPr>
            <a:noAutofit/>
          </a:bodyPr>
          <a:lstStyle/>
          <a:p>
            <a:r>
              <a:rPr lang="en-US" sz="2800" dirty="0"/>
              <a:t>1. Computer compares the values’ data type with the memory location’s data type</a:t>
            </a:r>
          </a:p>
          <a:p>
            <a:r>
              <a:rPr lang="en-US" sz="2800" dirty="0"/>
              <a:t>2. If they don’t match, then the computer does a </a:t>
            </a:r>
            <a:r>
              <a:rPr lang="en-US" sz="2800" b="1" dirty="0"/>
              <a:t>implicit</a:t>
            </a:r>
            <a:r>
              <a:rPr lang="en-US" sz="2800" dirty="0"/>
              <a:t> type conversion</a:t>
            </a:r>
          </a:p>
          <a:p>
            <a:r>
              <a:rPr lang="en-US" sz="2800" dirty="0"/>
              <a:t>3. Example;</a:t>
            </a:r>
          </a:p>
          <a:p>
            <a:pPr lvl="1"/>
            <a:r>
              <a:rPr lang="en-US" sz="2800" dirty="0"/>
              <a:t>IF YOU ASSIGN AN INTEGER 9 TO A REAL NUMBER, THE 9 BECOMES A 9.0</a:t>
            </a:r>
          </a:p>
          <a:p>
            <a:r>
              <a:rPr lang="en-US" sz="3000" dirty="0"/>
              <a:t>4. When a value is converted from one data type to another that can store LARGER numbers, it is promoted.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2486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demoted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If a int variable is declared and you use a real number to initialize the variable, then the value is demoted:</a:t>
            </a:r>
          </a:p>
          <a:p>
            <a:endParaRPr lang="en-US" sz="3600" dirty="0"/>
          </a:p>
          <a:p>
            <a:r>
              <a:rPr lang="en-US" sz="3600" dirty="0"/>
              <a:t>Example: int years = 1.5</a:t>
            </a:r>
          </a:p>
          <a:p>
            <a:r>
              <a:rPr lang="en-US" sz="3600" dirty="0"/>
              <a:t>Then 1.5 becomes 1 and the value is demoted!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2703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How to initialize: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0520"/>
          </a:xfrm>
        </p:spPr>
        <p:txBody>
          <a:bodyPr>
            <a:noAutofit/>
          </a:bodyPr>
          <a:lstStyle/>
          <a:p>
            <a:r>
              <a:rPr lang="en-US" sz="3600" dirty="0"/>
              <a:t>short and int = 0</a:t>
            </a:r>
          </a:p>
          <a:p>
            <a:r>
              <a:rPr lang="en-US" sz="3600" dirty="0"/>
              <a:t>double and float = 0.0</a:t>
            </a:r>
          </a:p>
          <a:p>
            <a:r>
              <a:rPr lang="en-US" sz="3600" dirty="0"/>
              <a:t>char = ‘ ‘</a:t>
            </a:r>
          </a:p>
          <a:p>
            <a:r>
              <a:rPr lang="en-US" sz="3600" dirty="0"/>
              <a:t>string = “”</a:t>
            </a:r>
          </a:p>
          <a:p>
            <a:r>
              <a:rPr lang="en-US" sz="3600" dirty="0"/>
              <a:t>bool = true or 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3864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Declaring a memory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Use a statement</a:t>
            </a:r>
          </a:p>
          <a:p>
            <a:endParaRPr lang="en-US" sz="3200" dirty="0"/>
          </a:p>
          <a:p>
            <a:r>
              <a:rPr lang="en-US" sz="3200" dirty="0"/>
              <a:t>datatype  variablename = initial value;</a:t>
            </a:r>
          </a:p>
          <a:p>
            <a:endParaRPr lang="en-US" sz="3200" dirty="0"/>
          </a:p>
          <a:p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Use the correct syntax! </a:t>
            </a:r>
            <a:r>
              <a:rPr lang="en-US" sz="3200" dirty="0"/>
              <a:t>(rules of the programming language)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8201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Examples of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int age = 0;</a:t>
            </a:r>
          </a:p>
          <a:p>
            <a:r>
              <a:rPr lang="en-US" sz="3200" dirty="0"/>
              <a:t>double price = 0.0;</a:t>
            </a:r>
          </a:p>
          <a:p>
            <a:r>
              <a:rPr lang="en-US" sz="3200" dirty="0"/>
              <a:t>bool paid = false;</a:t>
            </a:r>
          </a:p>
          <a:p>
            <a:r>
              <a:rPr lang="en-US" sz="3200" dirty="0"/>
              <a:t>char grade = ‘ ‘;</a:t>
            </a:r>
          </a:p>
          <a:p>
            <a:r>
              <a:rPr lang="en-US" sz="3200" dirty="0"/>
              <a:t>string company = “”;</a:t>
            </a:r>
          </a:p>
          <a:p>
            <a:r>
              <a:rPr lang="en-US" sz="32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2632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Naming a named constant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const datatype constantname = value;</a:t>
            </a:r>
          </a:p>
          <a:p>
            <a:endParaRPr lang="en-US" sz="3200" dirty="0"/>
          </a:p>
          <a:p>
            <a:r>
              <a:rPr lang="en-US" sz="3200" dirty="0"/>
              <a:t>const double PI = 3.14;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5735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Which of the following is a character literal constant?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2800" dirty="0"/>
              <a:t>‘56’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‘%’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“a”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Both a and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4955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Answer: Which of the following is a character literal constant?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‘56’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b="1" dirty="0">
                <a:solidFill>
                  <a:srgbClr val="FF0000"/>
                </a:solidFill>
              </a:rPr>
              <a:t>‘%’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“a”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Both a and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9844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Which of the following is a string literal constant?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“$”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“Good Morning”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“”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All of the above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219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Answer: Which of the following is a string literal constant?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600" dirty="0"/>
              <a:t>“$”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600" dirty="0"/>
              <a:t>“Good Morning”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600" dirty="0"/>
              <a:t>“”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600" b="1" dirty="0">
                <a:solidFill>
                  <a:srgbClr val="FF0000"/>
                </a:solidFill>
              </a:rPr>
              <a:t>All of the above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4193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356149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If you assign  the number 10.25 to an int variable, what will the computer store in its memory?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920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F3C494-130B-4D4F-976D-BBBCEF5E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251460"/>
            <a:ext cx="10058400" cy="2192087"/>
          </a:xfrm>
        </p:spPr>
        <p:txBody>
          <a:bodyPr>
            <a:normAutofit fontScale="90000"/>
          </a:bodyPr>
          <a:lstStyle/>
          <a:p>
            <a:r>
              <a:rPr lang="en-US" dirty="0"/>
              <a:t>Answer:</a:t>
            </a:r>
            <a:br>
              <a:rPr lang="en-US" dirty="0"/>
            </a:b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</a:rPr>
              <a:t>If you assign  the number 10.25 to an int variable, what will the computer store in its memory?</a:t>
            </a:r>
            <a:r>
              <a:rPr lang="en-US" sz="4400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6770" y="3429000"/>
            <a:ext cx="10058400" cy="2634826"/>
          </a:xfrm>
        </p:spPr>
        <p:txBody>
          <a:bodyPr>
            <a:normAutofit/>
          </a:bodyPr>
          <a:lstStyle/>
          <a:p>
            <a:r>
              <a:rPr lang="en-US" sz="4800" dirty="0"/>
              <a:t>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5972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Write a C++ statement that declares and initializes an int variable named population.</a:t>
            </a:r>
          </a:p>
        </p:txBody>
      </p:sp>
      <p:pic>
        <p:nvPicPr>
          <p:cNvPr id="5" name="Content Placeholder 4" descr="C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846263"/>
            <a:ext cx="4022725" cy="402272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1446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091"/>
            <a:ext cx="10058400" cy="170427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Answer: Write a C++ statement that declares and initializes an int variable named population.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083" y="3316535"/>
            <a:ext cx="10058400" cy="2684216"/>
          </a:xfrm>
        </p:spPr>
        <p:txBody>
          <a:bodyPr>
            <a:normAutofit/>
          </a:bodyPr>
          <a:lstStyle/>
          <a:p>
            <a:r>
              <a:rPr lang="en-US" sz="4800" dirty="0"/>
              <a:t>int population = 0;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4692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4044097"/>
          </a:xfrm>
        </p:spPr>
        <p:txBody>
          <a:bodyPr>
            <a:normAutofit/>
          </a:bodyPr>
          <a:lstStyle/>
          <a:p>
            <a:r>
              <a:rPr lang="en-US" dirty="0"/>
              <a:t>Write a C++ statement that declares the MAX_PAY name constant. It should have double data type and the number 25.55.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0764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214750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Answer: Write a c++ statement that declares the MAX_PAY name constant. It should have double data type and the number 25.55.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3245476"/>
            <a:ext cx="10058400" cy="2623618"/>
          </a:xfrm>
        </p:spPr>
        <p:txBody>
          <a:bodyPr>
            <a:normAutofit/>
          </a:bodyPr>
          <a:lstStyle/>
          <a:p>
            <a:r>
              <a:rPr lang="en-US" sz="4800" dirty="0" err="1"/>
              <a:t>const</a:t>
            </a:r>
            <a:r>
              <a:rPr lang="en-US" sz="4800" dirty="0"/>
              <a:t>  double MAX_PAY </a:t>
            </a:r>
            <a:r>
              <a:rPr lang="en-US" sz="4800"/>
              <a:t>= 25.55;</a:t>
            </a:r>
            <a:endParaRPr lang="en-US" sz="4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6151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4005997"/>
          </a:xfrm>
        </p:spPr>
        <p:txBody>
          <a:bodyPr>
            <a:normAutofit/>
          </a:bodyPr>
          <a:lstStyle/>
          <a:p>
            <a:r>
              <a:rPr lang="en-US" dirty="0"/>
              <a:t>IF you earn $10.25 per hour and worked 20 hours, how much less would you be paid if your hourly rate was inadvertently assigned to an int variable?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7309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You make $5 less!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double hourlyRate = 10.25</a:t>
            </a:r>
          </a:p>
          <a:p>
            <a:endParaRPr lang="en-US" sz="3200" dirty="0"/>
          </a:p>
          <a:p>
            <a:r>
              <a:rPr lang="en-US" sz="3200" dirty="0"/>
              <a:t>Pay = 20 * hourlyRate</a:t>
            </a:r>
          </a:p>
          <a:p>
            <a:r>
              <a:rPr lang="en-US" sz="3200" dirty="0"/>
              <a:t>Pay = 20* 10.25</a:t>
            </a:r>
          </a:p>
          <a:p>
            <a:r>
              <a:rPr lang="en-US" sz="3200" dirty="0"/>
              <a:t>Pay = 205.00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int hourlyRate = 10.25</a:t>
            </a:r>
          </a:p>
          <a:p>
            <a:endParaRPr lang="en-US" sz="3200" dirty="0"/>
          </a:p>
          <a:p>
            <a:r>
              <a:rPr lang="en-US" sz="3200" dirty="0"/>
              <a:t>Pay = 20 * hourlyRate</a:t>
            </a:r>
          </a:p>
          <a:p>
            <a:r>
              <a:rPr lang="en-US" sz="3200" dirty="0"/>
              <a:t>Pay = 20* 10</a:t>
            </a:r>
          </a:p>
          <a:p>
            <a:r>
              <a:rPr lang="en-US" sz="3200" dirty="0"/>
              <a:t>Pay = 200</a:t>
            </a:r>
          </a:p>
          <a:p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7491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299</TotalTime>
  <Words>1556</Words>
  <Application>Microsoft Office PowerPoint</Application>
  <PresentationFormat>Widescreen</PresentationFormat>
  <Paragraphs>313</Paragraphs>
  <Slides>61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Calibri</vt:lpstr>
      <vt:lpstr>Calibri Light</vt:lpstr>
      <vt:lpstr>Wingdings</vt:lpstr>
      <vt:lpstr>Retrospect</vt:lpstr>
      <vt:lpstr>Variables and Constants</vt:lpstr>
      <vt:lpstr>Coding the Algorithm </vt:lpstr>
      <vt:lpstr>Begin by ---</vt:lpstr>
      <vt:lpstr>Internal Memory Definitions</vt:lpstr>
      <vt:lpstr>Declaring a memory location definition</vt:lpstr>
      <vt:lpstr>Types of memory locations</vt:lpstr>
      <vt:lpstr>Variables</vt:lpstr>
      <vt:lpstr>Named constant</vt:lpstr>
      <vt:lpstr>Memory locations </vt:lpstr>
      <vt:lpstr>C++ Rules</vt:lpstr>
      <vt:lpstr>Common guidelines</vt:lpstr>
      <vt:lpstr>Why are these invalid names?</vt:lpstr>
      <vt:lpstr>Why are these invalid names? Answer</vt:lpstr>
      <vt:lpstr>How many items can a memory location store at one time?</vt:lpstr>
      <vt:lpstr>Answer: ONE</vt:lpstr>
      <vt:lpstr>Which of the following is correct for the quantity variable?</vt:lpstr>
      <vt:lpstr>Answer: Which of the following is correct for the quantity variable?</vt:lpstr>
      <vt:lpstr>Which of the following is a valid name for a memory location?</vt:lpstr>
      <vt:lpstr>Answer: Which of the following is a valid name for a memory location?</vt:lpstr>
      <vt:lpstr>What are the 2 types of memory locations a programmer can declare?</vt:lpstr>
      <vt:lpstr>Answer:</vt:lpstr>
      <vt:lpstr>Fundamental data types in C++</vt:lpstr>
      <vt:lpstr>string data type</vt:lpstr>
      <vt:lpstr>char data type</vt:lpstr>
      <vt:lpstr>short and int</vt:lpstr>
      <vt:lpstr>Real numbers</vt:lpstr>
      <vt:lpstr>Internal memory</vt:lpstr>
      <vt:lpstr>ASCII</vt:lpstr>
      <vt:lpstr>Data type </vt:lpstr>
      <vt:lpstr>True or false</vt:lpstr>
      <vt:lpstr>Answer: True or false</vt:lpstr>
      <vt:lpstr>In the binary number system the decimal number 32 is represented as</vt:lpstr>
      <vt:lpstr>Answer: In the binary number system the decimal number 32 is represented as</vt:lpstr>
      <vt:lpstr>What is the ASCII code for the lowercase letter b and how is it represented in the computers internal memory?</vt:lpstr>
      <vt:lpstr>Answers:</vt:lpstr>
      <vt:lpstr>Which data type can store a real number?</vt:lpstr>
      <vt:lpstr>Answer: Which data type can store a real number?</vt:lpstr>
      <vt:lpstr>Initial values</vt:lpstr>
      <vt:lpstr>Literal constant</vt:lpstr>
      <vt:lpstr>examples</vt:lpstr>
      <vt:lpstr>Numeric literal constants</vt:lpstr>
      <vt:lpstr>Character literal constant</vt:lpstr>
      <vt:lpstr>String literal constant</vt:lpstr>
      <vt:lpstr>Assigning a value to a memory location</vt:lpstr>
      <vt:lpstr>demoted</vt:lpstr>
      <vt:lpstr>How to initialize:</vt:lpstr>
      <vt:lpstr>Declaring a memory location</vt:lpstr>
      <vt:lpstr>Examples of initialization</vt:lpstr>
      <vt:lpstr>Naming a named constant</vt:lpstr>
      <vt:lpstr>Which of the following is a character literal constant?</vt:lpstr>
      <vt:lpstr>Answer: Which of the following is a character literal constant?</vt:lpstr>
      <vt:lpstr>Which of the following is a string literal constant?</vt:lpstr>
      <vt:lpstr>Answer: Which of the following is a string literal constant?</vt:lpstr>
      <vt:lpstr>If you assign  the number 10.25 to an int variable, what will the computer store in its memory?</vt:lpstr>
      <vt:lpstr>Answer: If you assign  the number 10.25 to an int variable, what will the computer store in its memory? </vt:lpstr>
      <vt:lpstr>Write a C++ statement that declares and initializes an int variable named population.</vt:lpstr>
      <vt:lpstr>Answer: Write a C++ statement that declares and initializes an int variable named population.</vt:lpstr>
      <vt:lpstr>Write a C++ statement that declares the MAX_PAY name constant. It should have double data type and the number 25.55.</vt:lpstr>
      <vt:lpstr>Answer: Write a c++ statement that declares the MAX_PAY name constant. It should have double data type and the number 25.55.</vt:lpstr>
      <vt:lpstr>IF you earn $10.25 per hour and worked 20 hours, how much less would you be paid if your hourly rate was inadvertently assigned to an int variable?</vt:lpstr>
      <vt:lpstr>You make $5 less!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 and Constants</dc:title>
  <dc:creator>Kelly Hinson</dc:creator>
  <cp:lastModifiedBy>Kelly Hinson</cp:lastModifiedBy>
  <cp:revision>25</cp:revision>
  <dcterms:created xsi:type="dcterms:W3CDTF">2014-09-12T12:00:44Z</dcterms:created>
  <dcterms:modified xsi:type="dcterms:W3CDTF">2020-07-15T16:59:05Z</dcterms:modified>
</cp:coreProperties>
</file>