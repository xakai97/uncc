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901" r:id="rId1"/>
  </p:sldMasterIdLst>
  <p:notesMasterIdLst>
    <p:notesMasterId r:id="rId41"/>
  </p:notesMasterIdLst>
  <p:handoutMasterIdLst>
    <p:handoutMasterId r:id="rId42"/>
  </p:handoutMasterIdLst>
  <p:sldIdLst>
    <p:sldId id="662" r:id="rId2"/>
    <p:sldId id="257" r:id="rId3"/>
    <p:sldId id="463" r:id="rId4"/>
    <p:sldId id="484" r:id="rId5"/>
    <p:sldId id="543" r:id="rId6"/>
    <p:sldId id="568" r:id="rId7"/>
    <p:sldId id="547" r:id="rId8"/>
    <p:sldId id="594" r:id="rId9"/>
    <p:sldId id="520" r:id="rId10"/>
    <p:sldId id="659" r:id="rId11"/>
    <p:sldId id="572" r:id="rId12"/>
    <p:sldId id="551" r:id="rId13"/>
    <p:sldId id="597" r:id="rId14"/>
    <p:sldId id="638" r:id="rId15"/>
    <p:sldId id="639" r:id="rId16"/>
    <p:sldId id="606" r:id="rId17"/>
    <p:sldId id="640" r:id="rId18"/>
    <p:sldId id="641" r:id="rId19"/>
    <p:sldId id="611" r:id="rId20"/>
    <p:sldId id="650" r:id="rId21"/>
    <p:sldId id="665" r:id="rId22"/>
    <p:sldId id="666" r:id="rId23"/>
    <p:sldId id="667" r:id="rId24"/>
    <p:sldId id="668" r:id="rId25"/>
    <p:sldId id="669" r:id="rId26"/>
    <p:sldId id="445" r:id="rId27"/>
    <p:sldId id="446" r:id="rId28"/>
    <p:sldId id="470" r:id="rId29"/>
    <p:sldId id="498" r:id="rId30"/>
    <p:sldId id="672" r:id="rId31"/>
    <p:sldId id="670" r:id="rId32"/>
    <p:sldId id="671" r:id="rId33"/>
    <p:sldId id="673" r:id="rId34"/>
    <p:sldId id="674" r:id="rId35"/>
    <p:sldId id="675" r:id="rId36"/>
    <p:sldId id="503" r:id="rId37"/>
    <p:sldId id="504" r:id="rId38"/>
    <p:sldId id="676" r:id="rId39"/>
    <p:sldId id="505" r:id="rId4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FF0000"/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7" autoAdjust="0"/>
  </p:normalViewPr>
  <p:slideViewPr>
    <p:cSldViewPr snapToGrid="0">
      <p:cViewPr varScale="1">
        <p:scale>
          <a:sx n="108" d="100"/>
          <a:sy n="108" d="100"/>
        </p:scale>
        <p:origin x="106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-1422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4DB4111B-4B75-4F7C-B566-760D2692D6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7094B23A-A1DE-47E8-B25E-5C51182E34C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>
            <a:extLst>
              <a:ext uri="{FF2B5EF4-FFF2-40B4-BE49-F238E27FC236}">
                <a16:creationId xmlns:a16="http://schemas.microsoft.com/office/drawing/2014/main" id="{D35D1C6E-D60E-4AB4-B210-69C6E55BC34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>
            <a:extLst>
              <a:ext uri="{FF2B5EF4-FFF2-40B4-BE49-F238E27FC236}">
                <a16:creationId xmlns:a16="http://schemas.microsoft.com/office/drawing/2014/main" id="{F052DD33-00E5-4E2C-8FB1-209D9983131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68990DC-1614-4E3A-92D8-DE1C32EABC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A36856D7-C5AA-4775-80C3-C8858C88A9A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B4F40661-4E81-40C3-AB00-18F06FE1FEB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C3B2345F-E26E-416A-B46D-40F852FF407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981B0DE3-D706-4329-AEA6-61C1EB8DA9B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AA8676E6-AF09-4D9B-949E-6290E18A3F1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7489F7C9-68B5-4C6B-BEE8-66A646F492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09B3447-60B8-470D-856C-5187E8CDF0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71290C1E-98A4-4C76-BE75-2AE321217B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813CBCC-B787-4154-9693-471123DEE7AD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C06F6408-7963-41EF-9ECF-0CAC0F917F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E3EB188F-7399-41DE-86E0-4ACA61D558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0E8D1E91-FE17-4837-8B9B-5EAA819801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F65A0E4-ED27-4F70-B66E-7EBE62208E59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D9FFEEB-54FB-434F-9E09-9A5A38BE94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48485B22-7EB4-4C94-A52E-C3839223E4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D80858D2-36E0-4CCD-A800-8070A5185A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3C9F4167-B38F-496E-8BAD-A315AAA55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885C9632-1CB6-4FD9-85AC-FCB893601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8AD354C-EEF7-4B31-95FF-FADB15B2F721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200A4510-76B5-4464-836B-01EA5BA9C6B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9D1337D6-1074-429A-9707-1EFAF7E61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E3BCCBBE-8153-40D6-B3C7-E0063C4EA2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3F1B92C-BFA7-4DAD-91C9-B5DB989B9D2F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05A6367D-EB8A-4C82-9991-C62F2C0EB71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BCCC77EF-530F-4931-93FC-D5EE150D1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AF476385-C6E0-437F-B00F-E40E68F07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EF59803-F8DC-4B3B-AB00-5FB488842985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C1CF1137-8719-4AF7-8EC9-96CAFD37CED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98030931-5ACB-407D-AC3B-35191187C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1BEF2765-E4E8-4853-91AF-C4D8A2DD3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F6F1282-F384-4DD5-A0D2-40072ECFEC66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4EA2A713-F7F6-4749-ABC3-38657CEC7C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622C9822-14CB-46FB-92A6-5D77245C3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26BCA683-F8F2-4077-8161-D804ED37B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5790A3B-8296-4262-8060-A5DD758F92A5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30EF9DF6-52F3-45D8-9820-4433B1F812B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26B99AC4-8DFF-41B2-BF70-D5F9C13E2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B286A39E-44FA-454D-9CD7-153236ED7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0617946-D43A-4ACC-A35B-ADF791F06FC9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E42591E5-171D-4BFC-9F0F-135418881AA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A971D64D-026A-4C24-AD49-EFCF4A3BB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67C439C0-1D87-4D8A-A445-503F18332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08EB523-1D10-4199-B771-9C19061B2D2A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3607247F-818A-48E2-95A3-28B814E3EB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0D667738-1591-4872-8CE7-9DC43967D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01F43139-C643-4669-A6E8-8C828A355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9554E44-79E7-48A6-AA39-7F90F27BDE97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9456DA3B-8C3D-4DD3-B008-CF72BCE7DF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C92A4837-75BA-4412-9FBB-44312892E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C4BA397E-AB4E-4E23-B217-5A5438D85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56CF78F-A7B7-4D50-A5E6-15BCE900B15B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D0F7471A-9215-4500-A4D6-FBC58783A0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6D4714FF-8397-4994-94E9-9FA53DC38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1BC8EC85-E53C-4698-8109-E8B6A983D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5634459-C619-41EE-B329-3335349CE1B8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137F1799-6027-4B77-A9E0-58DE5ACB076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61642775-5E43-4297-9847-DBF77DDE3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BA96267A-7011-4EA8-AE8B-E1A418FD4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7F98D54-B51C-4CB0-B2E4-CE3B50C9524B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EC004106-9716-40E1-BD4E-B5CFD1685B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C091698C-357E-4AB9-89AC-F4A8DE6A9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E1C20EBB-7B91-4D2E-8CDE-F0F8541A06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81D6964-0D23-47A3-91DE-088D10BA54FA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2058AEF2-D338-4ACE-89E1-AF8C79ACE9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BF92F03C-2E1E-4878-94F4-699B48EBE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5B7A2FC9-59C1-49DC-A8D4-72C1FA24F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3FBD52F-63AB-428D-94A6-32D2BCF88341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287243AB-32C8-4F20-8737-89F28A69D6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5AA79D96-0F2D-4A1B-9B3E-230F3AEDF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0EE2C37A-8020-41DC-8F0F-6153BF120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8326097-639F-4EFD-87F4-D82C6663B36D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71F5C6DE-46B1-461F-ADD3-9A56BDC228A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9B3D57A1-02FC-449E-9E54-3B9CD9B57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40143565-9498-432D-8EB7-4B3A8E979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41ABD6E-F0EB-440C-A6AF-50E76497B876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BF760FD4-AF20-4662-9D69-EE99237FD7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17328ABD-5678-4547-BDA4-B039F76D3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C9F222EC-6B01-44E8-808E-944851F488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7B2581D-C77E-48E1-BF44-EDB6711FD512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EAE7B759-7661-4E1D-B505-8EBD8BC5887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8AFB8499-F620-4DA7-98AA-C12F92669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BEE2CF24-123C-4393-9013-53839513B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CDD52DD-3413-4D0B-BFBC-8334CBF29C9A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FCF2856B-089B-47B0-B362-BE3798FD255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5B4A7930-8467-4BE6-8C22-4701A1017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D293839F-011D-496C-85FC-3BBC8D0CD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06D4AAD-0B3C-43B8-8F28-338B9AF1DE83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407605E6-7DA2-4524-81F1-F5E57B54ADD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1638EF5F-FD30-4180-81B8-3B1BACBDE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305F3928-3D6F-413D-BD50-CE8F9E645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A368449-4CC0-432B-9CA8-5F7A7B4D616B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4EEB6272-03C1-447E-932C-FD5B936092A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BFD5B9A8-CAA9-4906-84E1-0EF58A9F0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C322793E-9F6B-4274-947B-115495C5A9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608538C-D7F9-4FE3-9CFE-E6757A310734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5765F18A-61A6-4722-9B06-638483F762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13BAC656-027E-4C09-9941-78993330C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F689E125-DA39-4FC5-B1D9-AB308F227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45CE254-715A-4B69-AFC9-C91A7D5E4FDF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B204C81A-0EA8-42C8-9150-ED604ADAA9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FC6E8FDF-0DE7-439A-80D0-134D39D1A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46E201F8-F3C5-4E9E-8D81-A8A1565DE2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0E0BE5E-3694-48B0-A0C2-E48D84E16F1E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2D210B52-C311-442E-8DE0-95CCD14842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EB7FD4CA-53F1-4600-A19E-A13675547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EAE6D06C-4C37-4E57-9C3B-7B39F2F797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B185C52-3900-4339-840C-8EFA4B8D1A5B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632FA925-2303-4DAF-BF2C-ABA7B8E682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3ECC7D8-408D-4835-B27E-9972A6A68E3D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00C970A0-E6E5-4F5D-AE9F-52E2E57340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1985F8E3-8CB1-434B-8A2A-392E7CB24A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9A1F5410-C614-4F6E-8882-EEACFA38F1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9B4B562-778F-4F31-9E1F-D16FF50CF7D1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E2FD017E-B22A-47D4-A707-B281C14A22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B4E7527D-CD12-4E25-8C25-4B10A0B61E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85B7CC6D-02C8-4E18-BEF6-7DD2B10C520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AB0118B3-51A3-442C-8B32-C9103A706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EBB2A2C0-422D-4815-879F-54447C7B1E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6900C27-D725-4797-B9FD-EE3F2EC2E7EE}" type="slidenum">
              <a:rPr lang="en-US" altLang="en-US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id="{68B54710-E111-45EA-95A5-E04065E99E0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id="{5874585E-7489-47CE-A444-41C4236CE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90B3C0AF-9B48-416E-B364-3A4CD774F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C49E24-5D00-4567-8D76-1B203B918564}" type="slidenum">
              <a:rPr lang="en-US" altLang="en-US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D69DAE87-FDAE-451D-A1FC-752C42D05F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10000C4D-A975-439B-92CF-6BB42C1E1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7F257809-EAE9-426F-AC8D-B51414FA8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96F0F5E-9DA6-4109-885A-71985D1A21DB}" type="slidenum">
              <a:rPr lang="en-US" altLang="en-US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>
            <a:extLst>
              <a:ext uri="{FF2B5EF4-FFF2-40B4-BE49-F238E27FC236}">
                <a16:creationId xmlns:a16="http://schemas.microsoft.com/office/drawing/2014/main" id="{EA193365-B82E-44B5-A040-C6DAF0FD022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>
            <a:extLst>
              <a:ext uri="{FF2B5EF4-FFF2-40B4-BE49-F238E27FC236}">
                <a16:creationId xmlns:a16="http://schemas.microsoft.com/office/drawing/2014/main" id="{F0ED3095-575F-4940-BD29-C8FC49D6A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9636" name="Slide Number Placeholder 3">
            <a:extLst>
              <a:ext uri="{FF2B5EF4-FFF2-40B4-BE49-F238E27FC236}">
                <a16:creationId xmlns:a16="http://schemas.microsoft.com/office/drawing/2014/main" id="{348E172F-0FCA-4698-ADFE-2EC021D30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222CD52-EC41-45FE-B491-7CC856B30094}" type="slidenum">
              <a:rPr lang="en-US" altLang="en-US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>
            <a:extLst>
              <a:ext uri="{FF2B5EF4-FFF2-40B4-BE49-F238E27FC236}">
                <a16:creationId xmlns:a16="http://schemas.microsoft.com/office/drawing/2014/main" id="{B3401FCA-E03C-47A0-B039-687495355B5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>
            <a:extLst>
              <a:ext uri="{FF2B5EF4-FFF2-40B4-BE49-F238E27FC236}">
                <a16:creationId xmlns:a16="http://schemas.microsoft.com/office/drawing/2014/main" id="{FB95DED4-CE68-40EA-82EF-133875B31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1684" name="Slide Number Placeholder 3">
            <a:extLst>
              <a:ext uri="{FF2B5EF4-FFF2-40B4-BE49-F238E27FC236}">
                <a16:creationId xmlns:a16="http://schemas.microsoft.com/office/drawing/2014/main" id="{39E8C0CE-AFF1-47D4-9A9B-CB49ADACF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3E3DD2B-14A9-49FA-BC53-C7A9166513AF}" type="slidenum">
              <a:rPr lang="en-US" altLang="en-US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>
            <a:extLst>
              <a:ext uri="{FF2B5EF4-FFF2-40B4-BE49-F238E27FC236}">
                <a16:creationId xmlns:a16="http://schemas.microsoft.com/office/drawing/2014/main" id="{EBEA5DBE-290C-49EA-839B-E7EFCCC0F4A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>
            <a:extLst>
              <a:ext uri="{FF2B5EF4-FFF2-40B4-BE49-F238E27FC236}">
                <a16:creationId xmlns:a16="http://schemas.microsoft.com/office/drawing/2014/main" id="{419973F4-8D3C-4E45-A86C-0367B8C05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3732" name="Slide Number Placeholder 3">
            <a:extLst>
              <a:ext uri="{FF2B5EF4-FFF2-40B4-BE49-F238E27FC236}">
                <a16:creationId xmlns:a16="http://schemas.microsoft.com/office/drawing/2014/main" id="{BE5A3AFA-26FC-4011-9124-2F521FB24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7BE8446-0A60-47F8-B013-8B7B438F17F7}" type="slidenum">
              <a:rPr lang="en-US" altLang="en-US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>
            <a:extLst>
              <a:ext uri="{FF2B5EF4-FFF2-40B4-BE49-F238E27FC236}">
                <a16:creationId xmlns:a16="http://schemas.microsoft.com/office/drawing/2014/main" id="{00BD0D7C-D2DF-409B-9FA5-D5D9D41AE6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>
            <a:extLst>
              <a:ext uri="{FF2B5EF4-FFF2-40B4-BE49-F238E27FC236}">
                <a16:creationId xmlns:a16="http://schemas.microsoft.com/office/drawing/2014/main" id="{62D5F2CF-5221-4595-8FE9-C89C0082D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5780" name="Slide Number Placeholder 3">
            <a:extLst>
              <a:ext uri="{FF2B5EF4-FFF2-40B4-BE49-F238E27FC236}">
                <a16:creationId xmlns:a16="http://schemas.microsoft.com/office/drawing/2014/main" id="{C3290881-065A-45E8-B987-89F5FFB61B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E25C8AF-D312-46B8-B3A5-35ADAECA0725}" type="slidenum">
              <a:rPr lang="en-US" altLang="en-US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>
            <a:extLst>
              <a:ext uri="{FF2B5EF4-FFF2-40B4-BE49-F238E27FC236}">
                <a16:creationId xmlns:a16="http://schemas.microsoft.com/office/drawing/2014/main" id="{91BDF6A0-2F1B-43C2-9DFB-C097C274C8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>
            <a:extLst>
              <a:ext uri="{FF2B5EF4-FFF2-40B4-BE49-F238E27FC236}">
                <a16:creationId xmlns:a16="http://schemas.microsoft.com/office/drawing/2014/main" id="{FBAAF12E-9FE6-4528-A954-CA50274A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7828" name="Slide Number Placeholder 3">
            <a:extLst>
              <a:ext uri="{FF2B5EF4-FFF2-40B4-BE49-F238E27FC236}">
                <a16:creationId xmlns:a16="http://schemas.microsoft.com/office/drawing/2014/main" id="{60B6C501-7956-4FC2-A204-E450DD8DB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1BEAB98-5FAB-4DB6-9CCA-D9F4141D667E}" type="slidenum">
              <a:rPr lang="en-US" altLang="en-US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>
            <a:extLst>
              <a:ext uri="{FF2B5EF4-FFF2-40B4-BE49-F238E27FC236}">
                <a16:creationId xmlns:a16="http://schemas.microsoft.com/office/drawing/2014/main" id="{781085B2-1103-473D-9833-273FFC9127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>
            <a:extLst>
              <a:ext uri="{FF2B5EF4-FFF2-40B4-BE49-F238E27FC236}">
                <a16:creationId xmlns:a16="http://schemas.microsoft.com/office/drawing/2014/main" id="{FF871D29-CEE7-4ADA-B77E-3BB03A1B6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9876" name="Slide Number Placeholder 3">
            <a:extLst>
              <a:ext uri="{FF2B5EF4-FFF2-40B4-BE49-F238E27FC236}">
                <a16:creationId xmlns:a16="http://schemas.microsoft.com/office/drawing/2014/main" id="{DAAC59BF-E5B7-46E6-9CF0-EE08296C0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D5C73E6-F095-4849-A4BD-54814D30064B}" type="slidenum">
              <a:rPr lang="en-US" altLang="en-US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>
            <a:extLst>
              <a:ext uri="{FF2B5EF4-FFF2-40B4-BE49-F238E27FC236}">
                <a16:creationId xmlns:a16="http://schemas.microsoft.com/office/drawing/2014/main" id="{F3A50F6F-B9EE-4C2C-96ED-D6EA723A7F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>
            <a:extLst>
              <a:ext uri="{FF2B5EF4-FFF2-40B4-BE49-F238E27FC236}">
                <a16:creationId xmlns:a16="http://schemas.microsoft.com/office/drawing/2014/main" id="{E565E3F9-5371-428B-BE3F-4AC265040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1924" name="Slide Number Placeholder 3">
            <a:extLst>
              <a:ext uri="{FF2B5EF4-FFF2-40B4-BE49-F238E27FC236}">
                <a16:creationId xmlns:a16="http://schemas.microsoft.com/office/drawing/2014/main" id="{09EBF92F-260E-44E2-8FDD-05BC9615A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0303A0B-4F9D-46DD-A17D-8E339D1D978B}" type="slidenum">
              <a:rPr lang="en-US" altLang="en-US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>
            <a:extLst>
              <a:ext uri="{FF2B5EF4-FFF2-40B4-BE49-F238E27FC236}">
                <a16:creationId xmlns:a16="http://schemas.microsoft.com/office/drawing/2014/main" id="{B5A7D63F-8062-4AF1-8D87-E56A7A6F1B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>
            <a:extLst>
              <a:ext uri="{FF2B5EF4-FFF2-40B4-BE49-F238E27FC236}">
                <a16:creationId xmlns:a16="http://schemas.microsoft.com/office/drawing/2014/main" id="{B79E8F01-77C0-4466-9FC3-E04529BFB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3972" name="Slide Number Placeholder 3">
            <a:extLst>
              <a:ext uri="{FF2B5EF4-FFF2-40B4-BE49-F238E27FC236}">
                <a16:creationId xmlns:a16="http://schemas.microsoft.com/office/drawing/2014/main" id="{D5792080-B46F-487F-A917-EBC1139C9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44FB9D9-DC44-44E8-A72B-BB54F33877F3}" type="slidenum">
              <a:rPr lang="en-US" altLang="en-US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>
            <a:extLst>
              <a:ext uri="{FF2B5EF4-FFF2-40B4-BE49-F238E27FC236}">
                <a16:creationId xmlns:a16="http://schemas.microsoft.com/office/drawing/2014/main" id="{535DA38C-3607-4C8E-A847-E0F8C230072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>
            <a:extLst>
              <a:ext uri="{FF2B5EF4-FFF2-40B4-BE49-F238E27FC236}">
                <a16:creationId xmlns:a16="http://schemas.microsoft.com/office/drawing/2014/main" id="{8C60A2A5-75E3-49F6-B996-66A5BB112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6020" name="Slide Number Placeholder 3">
            <a:extLst>
              <a:ext uri="{FF2B5EF4-FFF2-40B4-BE49-F238E27FC236}">
                <a16:creationId xmlns:a16="http://schemas.microsoft.com/office/drawing/2014/main" id="{81F64C1B-4ABE-409F-8FA5-9655511A3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15D4698-C59B-4AB8-96CD-7CD6D8504C92}" type="slidenum">
              <a:rPr lang="en-US" altLang="en-US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3C641BA2-1767-40DF-987F-00675BBCA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00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0425A898-3920-4E7F-90C4-80A4A7C3E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0"/>
            <a:ext cx="4800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F8BDBC-B314-45A9-B227-0A02DAFB6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95600"/>
            <a:ext cx="9144000" cy="1077913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r>
              <a:rPr lang="en-US" sz="3200">
                <a:solidFill>
                  <a:srgbClr val="0045AD"/>
                </a:solidFill>
                <a:latin typeface="Arial" charset="0"/>
                <a:cs typeface="Arial" charset="0"/>
              </a:rPr>
              <a:t>Introduction to Programming in C++</a:t>
            </a:r>
          </a:p>
          <a:p>
            <a:pPr algn="ctr" eaLnBrk="1" hangingPunct="1">
              <a:defRPr/>
            </a:pPr>
            <a:r>
              <a:rPr lang="en-US" sz="3200">
                <a:solidFill>
                  <a:srgbClr val="0045AD"/>
                </a:solidFill>
                <a:latin typeface="Arial" charset="0"/>
                <a:cs typeface="Arial" charset="0"/>
              </a:rPr>
              <a:t>Seventh Edition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205D3A-86D3-4055-A8E5-07E5373DBFE9}"/>
              </a:ext>
            </a:extLst>
          </p:cNvPr>
          <p:cNvCxnSpPr/>
          <p:nvPr/>
        </p:nvCxnSpPr>
        <p:spPr bwMode="auto">
          <a:xfrm>
            <a:off x="1828800" y="4343400"/>
            <a:ext cx="54864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2A90B4E-B6DA-45FD-999A-B7BC123BD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27" y="47132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0310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077200" cy="1143000"/>
          </a:xfrm>
          <a:prstGeom prst="round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4C52530-8406-4C72-A3CE-D7EC242273A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DAEDC03-CD49-41ED-BA5F-2BD2409217A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CCD4D1-D440-4BC3-A774-2E0C38E5BB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0142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AC6C78-6EC7-41FE-8F96-2E2593433B1D}"/>
              </a:ext>
            </a:extLst>
          </p:cNvPr>
          <p:cNvSpPr>
            <a:spLocks/>
          </p:cNvSpPr>
          <p:nvPr/>
        </p:nvSpPr>
        <p:spPr bwMode="auto">
          <a:xfrm>
            <a:off x="609600" y="152400"/>
            <a:ext cx="8077200" cy="11430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3600">
                <a:solidFill>
                  <a:schemeClr val="tx1"/>
                </a:solidFill>
                <a:latin typeface="Trebuchet MS" panose="020B0603020202020204" pitchFamily="34" charset="0"/>
              </a:rPr>
              <a:t>Click to edit Master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ound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64AB392-4275-401E-8742-56CEC41265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E00B2D4-D237-41D3-9B71-CDC9D7EBAD8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55A7F5C-C296-4AC7-9E5F-75E3C401A1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0611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077200" cy="1143000"/>
          </a:xfrm>
          <a:prstGeom prst="round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E261C7E-BA7A-4325-9B72-A865AA9C4DD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1D0D8FB-1FA5-4E1E-8AF4-2362E30ADE4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F1766B-7C67-4F80-AF51-271FFC0B92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419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8F33346-B4D6-4C57-B49D-3032F5A4B80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690E1CC-BF15-4F6F-BFA2-21B663C6FD2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C36412-85DB-46C5-BA55-B3635340EA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2066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88290AEE-5C9F-4842-91BF-E9E9B5BA4D1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311EF931-20B9-4AC5-BB19-713631BE160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CE126-2365-43BC-90C0-A546C7900F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0811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46FF162C-67FB-41CC-9A59-9F95A0C0E8C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0460B7E-975D-4EA6-8660-1C33258EAE4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4CD71E-FA1A-4E70-9B33-F8C589C541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8371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47800"/>
            <a:ext cx="5111750" cy="46783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3F967C1-988C-4DA9-9815-76D2CC841FC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4303B44-673D-4B6D-8654-25D41200A3D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DAAF1F-CACB-458C-B6AF-AB4779809A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0153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ound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DC2FA5-42DB-4856-94EA-1B6F880D5F4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C0E2BC-90F5-4364-9A73-5C9E640DD21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C0C21E-F2F4-4352-B57E-B82F791718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2632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077200" cy="1143000"/>
          </a:xfrm>
          <a:prstGeom prst="roundRect">
            <a:avLst/>
          </a:prstGeom>
        </p:spPr>
        <p:txBody>
          <a:bodyPr/>
          <a:lstStyle>
            <a:lvl1pPr>
              <a:defRPr>
                <a:solidFill>
                  <a:srgbClr val="16489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4AAA2F9-1173-4CF8-80CA-AF0D96C6FC4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8AAB746-454C-48FA-9CC5-A4109FF7BF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6783D2-438C-4B0B-87DA-B853EE8AC0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8129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  <a:prstGeom prst="round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810F16C-7BB5-4C79-9F89-652E7D16C52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5E69E2A-14E5-4D07-AD19-867F609641B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3A5AE-6170-42C3-A418-E5BF5800A7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396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4B8CDD4B-22FD-48A5-BCD0-DB47C7F8E4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13"/>
            <a:ext cx="4800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EA58A109-F7C8-4A40-8BD4-3C04655E0B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0"/>
            <a:ext cx="4800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9FD7FE-C98C-46A9-9160-23242E57544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95600"/>
            <a:ext cx="9144000" cy="1077913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r>
              <a:rPr lang="en-US" sz="3200" dirty="0">
                <a:solidFill>
                  <a:srgbClr val="0045AD"/>
                </a:solidFill>
                <a:latin typeface="Arial" charset="0"/>
                <a:cs typeface="Arial" charset="0"/>
              </a:rPr>
              <a:t>Introduction to Programming in C++</a:t>
            </a:r>
          </a:p>
          <a:p>
            <a:pPr algn="ctr" eaLnBrk="1" hangingPunct="1">
              <a:defRPr/>
            </a:pPr>
            <a:r>
              <a:rPr lang="en-US" sz="3200" dirty="0">
                <a:solidFill>
                  <a:srgbClr val="0045AD"/>
                </a:solidFill>
                <a:latin typeface="Arial" charset="0"/>
                <a:cs typeface="Arial" charset="0"/>
              </a:rPr>
              <a:t>Eighth Edition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C32CB8-52AC-47C6-898D-8262E6BB5D99}"/>
              </a:ext>
            </a:extLst>
          </p:cNvPr>
          <p:cNvCxnSpPr/>
          <p:nvPr userDrawn="1"/>
        </p:nvCxnSpPr>
        <p:spPr bwMode="auto">
          <a:xfrm>
            <a:off x="1828800" y="4343400"/>
            <a:ext cx="54864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39C918A-55D4-4C3E-9FB3-63A459957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135" y="4874029"/>
            <a:ext cx="82296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8879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>
            <a:extLst>
              <a:ext uri="{FF2B5EF4-FFF2-40B4-BE49-F238E27FC236}">
                <a16:creationId xmlns:a16="http://schemas.microsoft.com/office/drawing/2014/main" id="{98F1600F-6C7D-4F52-94D3-769143D2B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C205B803-D1E1-4A0E-A6B6-EF3EFEABE0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524000"/>
            <a:ext cx="80772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3BB06FC-4022-4D70-832F-D5FFA3437C1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2C0B642-862B-4A69-91E9-A55F3B11717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FA9B670-AA57-43AB-A877-3B2EA2BA79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Title Placeholder 7">
            <a:extLst>
              <a:ext uri="{FF2B5EF4-FFF2-40B4-BE49-F238E27FC236}">
                <a16:creationId xmlns:a16="http://schemas.microsoft.com/office/drawing/2014/main" id="{75909741-2795-454E-8FB4-88ED1BF3A03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1" name="TextBox 2">
            <a:extLst>
              <a:ext uri="{FF2B5EF4-FFF2-40B4-BE49-F238E27FC236}">
                <a16:creationId xmlns:a16="http://schemas.microsoft.com/office/drawing/2014/main" id="{C7C7EBBF-209B-42CA-B176-DEBA9473D6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549900" y="6324600"/>
            <a:ext cx="27305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800">
                <a:solidFill>
                  <a:schemeClr val="tx1"/>
                </a:solidFill>
              </a:rPr>
              <a:t>© 2016 Cengage Learning®. May not be scanned, copied or duplicated, or posted to a publicly accessible website, in whole or in part.</a:t>
            </a:r>
          </a:p>
          <a:p>
            <a:pPr eaLnBrk="1" hangingPunct="1"/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77" r:id="rId2"/>
    <p:sldLayoutId id="2147483987" r:id="rId3"/>
    <p:sldLayoutId id="2147483978" r:id="rId4"/>
    <p:sldLayoutId id="2147483979" r:id="rId5"/>
    <p:sldLayoutId id="2147483980" r:id="rId6"/>
    <p:sldLayoutId id="2147483981" r:id="rId7"/>
    <p:sldLayoutId id="2147483982" r:id="rId8"/>
    <p:sldLayoutId id="2147483983" r:id="rId9"/>
    <p:sldLayoutId id="2147483984" r:id="rId10"/>
    <p:sldLayoutId id="2147483985" r:id="rId11"/>
    <p:sldLayoutId id="2147483988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rgbClr val="222222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D45DC1AF-6E89-405C-9027-3EB64E67A0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71328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16489A"/>
                </a:solidFill>
                <a:latin typeface="Trebuchet MS" panose="020B0603020202020204" pitchFamily="34" charset="0"/>
              </a:rPr>
              <a:t>Chapter 8: More on the Repetition 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655AD1EE-F825-4EF3-819E-5D41DFD8F2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307388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Include a posttest loop in pseudocode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Include a posttest loop in a flowchart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Code a posttest loop using the C++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do while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statement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Nest repetition structures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609CC675-0C37-405A-B33F-B61288FCC7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Objectives</a:t>
            </a:r>
          </a:p>
        </p:txBody>
      </p:sp>
      <p:sp>
        <p:nvSpPr>
          <p:cNvPr id="9220" name="Footer Placeholder 3">
            <a:extLst>
              <a:ext uri="{FF2B5EF4-FFF2-40B4-BE49-F238E27FC236}">
                <a16:creationId xmlns:a16="http://schemas.microsoft.com/office/drawing/2014/main" id="{FDB19E30-0A52-45B8-977A-8AB846F661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CEB4186E-F800-4F7D-9DDE-5787144538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2A761E-0B61-45AA-A8C3-DF23E546375D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0193F8AB-DC83-4532-BFDD-1D16DAFCAB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Repetition structures can be either pretest or posttest loops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Pretest loop – condition evaluated before instructions are processed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Posttest loop – condition evaluated after instructions are processed 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Posttest loop’s instructions are always processed at least once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Pretest loop’s instructions may never be processed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95EECA5C-6943-45AE-BCFA-B3A1864B47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Posttest Loops</a:t>
            </a:r>
          </a:p>
        </p:txBody>
      </p:sp>
      <p:sp>
        <p:nvSpPr>
          <p:cNvPr id="11268" name="Footer Placeholder 3">
            <a:extLst>
              <a:ext uri="{FF2B5EF4-FFF2-40B4-BE49-F238E27FC236}">
                <a16:creationId xmlns:a16="http://schemas.microsoft.com/office/drawing/2014/main" id="{7796F490-D86E-418F-978C-B1439A1314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269" name="Slide Number Placeholder 4">
            <a:extLst>
              <a:ext uri="{FF2B5EF4-FFF2-40B4-BE49-F238E27FC236}">
                <a16:creationId xmlns:a16="http://schemas.microsoft.com/office/drawing/2014/main" id="{16E471F0-E87F-4B08-BAD2-4689CBDD40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383398-A012-4679-AA61-D729C471F0F9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>
            <a:extLst>
              <a:ext uri="{FF2B5EF4-FFF2-40B4-BE49-F238E27FC236}">
                <a16:creationId xmlns:a16="http://schemas.microsoft.com/office/drawing/2014/main" id="{B2BD1DE0-A1A6-4E29-A7A2-8F115472E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3315" name="Slide Number Placeholder 4">
            <a:extLst>
              <a:ext uri="{FF2B5EF4-FFF2-40B4-BE49-F238E27FC236}">
                <a16:creationId xmlns:a16="http://schemas.microsoft.com/office/drawing/2014/main" id="{563F3417-ED4B-4426-A4DC-9199DFD04F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9B2CA9-9484-4873-A31A-1DA1A8998EB7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3316" name="Rectangle 7">
            <a:extLst>
              <a:ext uri="{FF2B5EF4-FFF2-40B4-BE49-F238E27FC236}">
                <a16:creationId xmlns:a16="http://schemas.microsoft.com/office/drawing/2014/main" id="{A098BF85-85F0-4594-8029-714981C29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5580063"/>
            <a:ext cx="65230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8-1 Problem specification, illustrations, and solutions containing pretest and posttest loops</a:t>
            </a:r>
          </a:p>
        </p:txBody>
      </p:sp>
      <p:sp>
        <p:nvSpPr>
          <p:cNvPr id="13317" name="Rectangle 2">
            <a:extLst>
              <a:ext uri="{FF2B5EF4-FFF2-40B4-BE49-F238E27FC236}">
                <a16:creationId xmlns:a16="http://schemas.microsoft.com/office/drawing/2014/main" id="{A9E09392-307D-4983-A20F-E5CE9000D7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Posttest Loops (cont’d.)</a:t>
            </a:r>
          </a:p>
        </p:txBody>
      </p:sp>
      <p:pic>
        <p:nvPicPr>
          <p:cNvPr id="13318" name="Picture 2">
            <a:extLst>
              <a:ext uri="{FF2B5EF4-FFF2-40B4-BE49-F238E27FC236}">
                <a16:creationId xmlns:a16="http://schemas.microsoft.com/office/drawing/2014/main" id="{01824A65-8FAC-454D-9263-ED59C44B3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950" y="1371600"/>
            <a:ext cx="7404100" cy="419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51B6E3AE-18B6-472C-9F7D-BAF1BED7D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Posttest Loops (cont’d.)</a:t>
            </a:r>
          </a:p>
        </p:txBody>
      </p:sp>
      <p:sp>
        <p:nvSpPr>
          <p:cNvPr id="15363" name="Footer Placeholder 3">
            <a:extLst>
              <a:ext uri="{FF2B5EF4-FFF2-40B4-BE49-F238E27FC236}">
                <a16:creationId xmlns:a16="http://schemas.microsoft.com/office/drawing/2014/main" id="{07EE64F8-A782-4DE5-9B77-2FD067A4EC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5364" name="Slide Number Placeholder 4">
            <a:extLst>
              <a:ext uri="{FF2B5EF4-FFF2-40B4-BE49-F238E27FC236}">
                <a16:creationId xmlns:a16="http://schemas.microsoft.com/office/drawing/2014/main" id="{7856B562-3354-41A5-A37A-0ED923CC0F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9EC2A3-0F6B-4822-A37E-7520C9402F52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365" name="Rectangle 7">
            <a:extLst>
              <a:ext uri="{FF2B5EF4-FFF2-40B4-BE49-F238E27FC236}">
                <a16:creationId xmlns:a16="http://schemas.microsoft.com/office/drawing/2014/main" id="{5127D5ED-83DA-4E48-95C3-6B85E9342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" y="4656138"/>
            <a:ext cx="77327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8-2 Selection structure added to Solution 2 from Figure 8-1</a:t>
            </a:r>
          </a:p>
        </p:txBody>
      </p:sp>
      <p:pic>
        <p:nvPicPr>
          <p:cNvPr id="15366" name="Picture 2">
            <a:extLst>
              <a:ext uri="{FF2B5EF4-FFF2-40B4-BE49-F238E27FC236}">
                <a16:creationId xmlns:a16="http://schemas.microsoft.com/office/drawing/2014/main" id="{9D2BE0B5-81D4-4BBD-9A72-8BFB0273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2422525"/>
            <a:ext cx="8699500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DA88032D-BAF3-497F-94FC-2D11D56F36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Decision symbol in a flowchart (a diamond) representing a repetition structure contains the loop condition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Decision symbol appears at the top of a pretest loop, but at the bottom of a posttest loop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B4A47E5E-7C81-489A-8576-85A5463157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Flowcharting a Posttest Loop</a:t>
            </a:r>
          </a:p>
        </p:txBody>
      </p:sp>
      <p:sp>
        <p:nvSpPr>
          <p:cNvPr id="17412" name="Footer Placeholder 3">
            <a:extLst>
              <a:ext uri="{FF2B5EF4-FFF2-40B4-BE49-F238E27FC236}">
                <a16:creationId xmlns:a16="http://schemas.microsoft.com/office/drawing/2014/main" id="{18735C47-65BA-4F0C-B3A5-30E01C7006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7413" name="Slide Number Placeholder 4">
            <a:extLst>
              <a:ext uri="{FF2B5EF4-FFF2-40B4-BE49-F238E27FC236}">
                <a16:creationId xmlns:a16="http://schemas.microsoft.com/office/drawing/2014/main" id="{7BF616FE-DC3A-4E5A-8216-A9900B1C6A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E86363-4D39-47CE-82A7-AA4D0E416FF6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>
            <a:extLst>
              <a:ext uri="{FF2B5EF4-FFF2-40B4-BE49-F238E27FC236}">
                <a16:creationId xmlns:a16="http://schemas.microsoft.com/office/drawing/2014/main" id="{D0BADFB7-F46A-49E8-8C2F-7C1CB9CC4D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9459" name="Slide Number Placeholder 4">
            <a:extLst>
              <a:ext uri="{FF2B5EF4-FFF2-40B4-BE49-F238E27FC236}">
                <a16:creationId xmlns:a16="http://schemas.microsoft.com/office/drawing/2014/main" id="{E9C7BAD4-A24E-49EE-88B1-202BD3F0D3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951FFB-E11B-4F03-B55B-E9D9EC212A00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460" name="Rectangle 7">
            <a:extLst>
              <a:ext uri="{FF2B5EF4-FFF2-40B4-BE49-F238E27FC236}">
                <a16:creationId xmlns:a16="http://schemas.microsoft.com/office/drawing/2014/main" id="{F6560C81-8345-4C37-B743-379240E3B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38" y="5673725"/>
            <a:ext cx="7704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8-3 Commission Program’s problem specification and flowcharts</a:t>
            </a:r>
          </a:p>
        </p:txBody>
      </p:sp>
      <p:sp>
        <p:nvSpPr>
          <p:cNvPr id="19461" name="Rectangle 2">
            <a:extLst>
              <a:ext uri="{FF2B5EF4-FFF2-40B4-BE49-F238E27FC236}">
                <a16:creationId xmlns:a16="http://schemas.microsoft.com/office/drawing/2014/main" id="{6FA00CD4-4EC2-4DF6-B27B-F8802FD7E2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Flowcharting a Posttest Loop (cont’d.)</a:t>
            </a:r>
          </a:p>
        </p:txBody>
      </p:sp>
      <p:pic>
        <p:nvPicPr>
          <p:cNvPr id="19462" name="Picture 2">
            <a:extLst>
              <a:ext uri="{FF2B5EF4-FFF2-40B4-BE49-F238E27FC236}">
                <a16:creationId xmlns:a16="http://schemas.microsoft.com/office/drawing/2014/main" id="{5FD7D3FC-770D-407E-882D-EB3FC00B6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25" y="1347788"/>
            <a:ext cx="8613775" cy="427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>
            <a:extLst>
              <a:ext uri="{FF2B5EF4-FFF2-40B4-BE49-F238E27FC236}">
                <a16:creationId xmlns:a16="http://schemas.microsoft.com/office/drawing/2014/main" id="{004C59E7-9E0F-4521-A2FA-239CCB0E0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1507" name="Slide Number Placeholder 4">
            <a:extLst>
              <a:ext uri="{FF2B5EF4-FFF2-40B4-BE49-F238E27FC236}">
                <a16:creationId xmlns:a16="http://schemas.microsoft.com/office/drawing/2014/main" id="{B46B2DEA-BCE8-43A7-9C3B-F27696F9E5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6B4EA3-F0B5-4794-AC74-24AF7F04BBFD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508" name="Rectangle 7">
            <a:extLst>
              <a:ext uri="{FF2B5EF4-FFF2-40B4-BE49-F238E27FC236}">
                <a16:creationId xmlns:a16="http://schemas.microsoft.com/office/drawing/2014/main" id="{B7AD6B3D-6E1D-4FF8-95C4-725930C07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" y="5643563"/>
            <a:ext cx="82153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8-3 Commission Program’s problem specification and flowchart</a:t>
            </a:r>
          </a:p>
        </p:txBody>
      </p:sp>
      <p:sp>
        <p:nvSpPr>
          <p:cNvPr id="21509" name="Rectangle 2">
            <a:extLst>
              <a:ext uri="{FF2B5EF4-FFF2-40B4-BE49-F238E27FC236}">
                <a16:creationId xmlns:a16="http://schemas.microsoft.com/office/drawing/2014/main" id="{40661753-D0A5-4C2E-BA05-806D75BDE4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Flowcharting a Posttest Loop (cont’d.)</a:t>
            </a:r>
          </a:p>
        </p:txBody>
      </p:sp>
      <p:pic>
        <p:nvPicPr>
          <p:cNvPr id="21510" name="Picture 2">
            <a:extLst>
              <a:ext uri="{FF2B5EF4-FFF2-40B4-BE49-F238E27FC236}">
                <a16:creationId xmlns:a16="http://schemas.microsoft.com/office/drawing/2014/main" id="{68CC5532-F4CE-4053-AFF3-0E949FB6F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1311275"/>
            <a:ext cx="5359400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>
            <a:extLst>
              <a:ext uri="{FF2B5EF4-FFF2-40B4-BE49-F238E27FC236}">
                <a16:creationId xmlns:a16="http://schemas.microsoft.com/office/drawing/2014/main" id="{9DD5D51A-7095-4D28-A60A-B5D9927D0E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do while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statement is used to code posttest loops in C++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Syntax:</a:t>
            </a:r>
          </a:p>
          <a:p>
            <a:pPr lvl="1" eaLnBrk="1" hangingPunct="1">
              <a:buFontTx/>
              <a:buNone/>
            </a:pP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do {</a:t>
            </a:r>
          </a:p>
          <a:p>
            <a:pPr eaLnBrk="1" hangingPunct="1">
              <a:buFontTx/>
              <a:buNone/>
            </a:pPr>
            <a:r>
              <a:rPr lang="en-US" altLang="en-US" i="1">
                <a:ea typeface="ＭＳ Ｐゴシック" panose="020B0600070205080204" pitchFamily="34" charset="-128"/>
              </a:rPr>
              <a:t>		</a:t>
            </a:r>
            <a:r>
              <a:rPr lang="en-US" altLang="en-US" sz="2400" i="1">
                <a:ea typeface="ＭＳ Ｐゴシック" panose="020B0600070205080204" pitchFamily="34" charset="-128"/>
              </a:rPr>
              <a:t>one or more statements to be processed one time, </a:t>
            </a:r>
            <a:endParaRPr lang="en-US" altLang="en-US" sz="240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r>
              <a:rPr lang="en-US" altLang="en-US" sz="2400" i="1">
                <a:ea typeface="ＭＳ Ｐゴシック" panose="020B0600070205080204" pitchFamily="34" charset="-128"/>
              </a:rPr>
              <a:t>		and thereafter as long as the condition is true</a:t>
            </a:r>
            <a:endParaRPr lang="en-US" altLang="en-US" sz="240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	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} while (</a:t>
            </a:r>
            <a:r>
              <a:rPr lang="en-US" altLang="en-US" i="1">
                <a:ea typeface="ＭＳ Ｐゴシック" panose="020B0600070205080204" pitchFamily="34" charset="-128"/>
                <a:cs typeface="Courier New" panose="02070309020205020404" pitchFamily="49" charset="0"/>
              </a:rPr>
              <a:t>condition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Some programmers use a comment (such as:</a:t>
            </a:r>
          </a:p>
          <a:p>
            <a:pPr eaLnBrk="1" hangingPunct="1">
              <a:buFontTx/>
              <a:buNone/>
            </a:pP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//begin loop</a:t>
            </a:r>
            <a:r>
              <a:rPr lang="en-US" altLang="en-US">
                <a:ea typeface="ＭＳ Ｐゴシック" panose="020B0600070205080204" pitchFamily="34" charset="-128"/>
                <a:cs typeface="Times New Roman" panose="02020603050405020304" pitchFamily="18" charset="0"/>
              </a:rPr>
              <a:t>)</a:t>
            </a:r>
            <a:r>
              <a:rPr lang="en-US" altLang="en-US" i="1"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to mark beginning of loop</a:t>
            </a:r>
            <a:endParaRPr lang="en-US" altLang="en-US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C4F2119D-9952-467F-9BE7-C48F17F8FB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do while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Statement</a:t>
            </a:r>
          </a:p>
        </p:txBody>
      </p:sp>
      <p:sp>
        <p:nvSpPr>
          <p:cNvPr id="23556" name="Footer Placeholder 3">
            <a:extLst>
              <a:ext uri="{FF2B5EF4-FFF2-40B4-BE49-F238E27FC236}">
                <a16:creationId xmlns:a16="http://schemas.microsoft.com/office/drawing/2014/main" id="{8E30D488-1D81-4B1B-B080-86FAD55991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3557" name="Slide Number Placeholder 4">
            <a:extLst>
              <a:ext uri="{FF2B5EF4-FFF2-40B4-BE49-F238E27FC236}">
                <a16:creationId xmlns:a16="http://schemas.microsoft.com/office/drawing/2014/main" id="{AA919BFF-A4CE-4E9F-AEFD-096904381C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1E5510-BD1D-4064-BDAF-750E7DE5E62F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E006A144-A195-4417-932D-352500436F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Programmer must provide loop 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condition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Must evaluate to a Boolean value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May contain variables, constants, functions, arithmetic operators, comparison operators, and logical operators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Programmer must also provide statements to be executed when 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condition</a:t>
            </a:r>
            <a:r>
              <a:rPr lang="en-US" altLang="en-US">
                <a:ea typeface="ＭＳ Ｐゴシック" panose="020B0600070205080204" pitchFamily="34" charset="-128"/>
              </a:rPr>
              <a:t> evaluates to true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Braces are required around statements if there are more than one</a:t>
            </a: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DAC2DFDE-EE1A-49B2-8529-128BE39A58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do while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Statement (cont’d.)</a:t>
            </a:r>
          </a:p>
        </p:txBody>
      </p:sp>
      <p:sp>
        <p:nvSpPr>
          <p:cNvPr id="25604" name="Footer Placeholder 3">
            <a:extLst>
              <a:ext uri="{FF2B5EF4-FFF2-40B4-BE49-F238E27FC236}">
                <a16:creationId xmlns:a16="http://schemas.microsoft.com/office/drawing/2014/main" id="{CAE54047-6E80-4747-B13C-334E92F5D0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5605" name="Slide Number Placeholder 4">
            <a:extLst>
              <a:ext uri="{FF2B5EF4-FFF2-40B4-BE49-F238E27FC236}">
                <a16:creationId xmlns:a16="http://schemas.microsoft.com/office/drawing/2014/main" id="{CDAA5537-BE49-41A9-8712-DB577BCBFA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A36990-4C02-45BF-B66B-1A030472B05F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3">
            <a:extLst>
              <a:ext uri="{FF2B5EF4-FFF2-40B4-BE49-F238E27FC236}">
                <a16:creationId xmlns:a16="http://schemas.microsoft.com/office/drawing/2014/main" id="{7EE007FF-DD08-497B-B3B8-17E3243B72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7651" name="Slide Number Placeholder 4">
            <a:extLst>
              <a:ext uri="{FF2B5EF4-FFF2-40B4-BE49-F238E27FC236}">
                <a16:creationId xmlns:a16="http://schemas.microsoft.com/office/drawing/2014/main" id="{A388C413-919B-46FD-AACF-D66768748D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115F01-CECE-487E-B4FA-6D67605101C7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7652" name="Rectangle 7">
            <a:extLst>
              <a:ext uri="{FF2B5EF4-FFF2-40B4-BE49-F238E27FC236}">
                <a16:creationId xmlns:a16="http://schemas.microsoft.com/office/drawing/2014/main" id="{7F6CA081-AA6F-47F0-A9F7-2D670DCF4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7713" y="5942013"/>
            <a:ext cx="5218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8-4 How to use the </a:t>
            </a:r>
            <a:r>
              <a:rPr lang="en-US" altLang="en-US" sz="1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while</a:t>
            </a:r>
            <a:r>
              <a:rPr lang="en-US" altLang="en-US"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27653" name="Rectangle 2">
            <a:extLst>
              <a:ext uri="{FF2B5EF4-FFF2-40B4-BE49-F238E27FC236}">
                <a16:creationId xmlns:a16="http://schemas.microsoft.com/office/drawing/2014/main" id="{B05E6019-1749-472A-959E-CB47CAA59B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do while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Statement (cont’d.)</a:t>
            </a:r>
          </a:p>
        </p:txBody>
      </p:sp>
      <p:pic>
        <p:nvPicPr>
          <p:cNvPr id="27654" name="Picture 2">
            <a:extLst>
              <a:ext uri="{FF2B5EF4-FFF2-40B4-BE49-F238E27FC236}">
                <a16:creationId xmlns:a16="http://schemas.microsoft.com/office/drawing/2014/main" id="{0D4DC27B-24A1-475A-ACF7-7011BB5B8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0" y="1295400"/>
            <a:ext cx="6413500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>
            <a:extLst>
              <a:ext uri="{FF2B5EF4-FFF2-40B4-BE49-F238E27FC236}">
                <a16:creationId xmlns:a16="http://schemas.microsoft.com/office/drawing/2014/main" id="{4AA1C3D9-A05B-4AF5-AE52-5979762C20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9699" name="Slide Number Placeholder 4">
            <a:extLst>
              <a:ext uri="{FF2B5EF4-FFF2-40B4-BE49-F238E27FC236}">
                <a16:creationId xmlns:a16="http://schemas.microsoft.com/office/drawing/2014/main" id="{35AFAA05-07E2-4A1E-845C-53104E52BC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50C431-4848-4970-8107-4D04C0A8B959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9700" name="TextBox 9">
            <a:extLst>
              <a:ext uri="{FF2B5EF4-FFF2-40B4-BE49-F238E27FC236}">
                <a16:creationId xmlns:a16="http://schemas.microsoft.com/office/drawing/2014/main" id="{0F3D9F3C-8988-4FE9-B71B-7E73A9F5D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075" y="5643563"/>
            <a:ext cx="6600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8-5 Commission Program containing a posttest loop</a:t>
            </a:r>
          </a:p>
        </p:txBody>
      </p:sp>
      <p:sp>
        <p:nvSpPr>
          <p:cNvPr id="29701" name="Rectangle 9">
            <a:extLst>
              <a:ext uri="{FF2B5EF4-FFF2-40B4-BE49-F238E27FC236}">
                <a16:creationId xmlns:a16="http://schemas.microsoft.com/office/drawing/2014/main" id="{3F01B8AC-E803-4100-8320-1A7563089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8" y="1354138"/>
            <a:ext cx="658812" cy="5143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02" name="Rectangle 2">
            <a:extLst>
              <a:ext uri="{FF2B5EF4-FFF2-40B4-BE49-F238E27FC236}">
                <a16:creationId xmlns:a16="http://schemas.microsoft.com/office/drawing/2014/main" id="{0F1AB91C-DFD1-4C65-B4B7-2FA24B2A37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do while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Statement (cont’d.)</a:t>
            </a:r>
          </a:p>
        </p:txBody>
      </p:sp>
      <p:pic>
        <p:nvPicPr>
          <p:cNvPr id="29703" name="Picture 2">
            <a:extLst>
              <a:ext uri="{FF2B5EF4-FFF2-40B4-BE49-F238E27FC236}">
                <a16:creationId xmlns:a16="http://schemas.microsoft.com/office/drawing/2014/main" id="{E628F3D1-C8F2-4A19-9056-B9EB0C69A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738" y="1346200"/>
            <a:ext cx="6486525" cy="415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>
            <a:extLst>
              <a:ext uri="{FF2B5EF4-FFF2-40B4-BE49-F238E27FC236}">
                <a16:creationId xmlns:a16="http://schemas.microsoft.com/office/drawing/2014/main" id="{8FE2E789-7E82-4BB5-AB4B-E654D771C8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Like selection structures, repetition structures can be nested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You can place one loop (the inner, or </a:t>
            </a:r>
            <a:r>
              <a:rPr lang="en-US" altLang="en-US" b="1">
                <a:ea typeface="ＭＳ Ｐゴシック" panose="020B0600070205080204" pitchFamily="34" charset="-128"/>
              </a:rPr>
              <a:t>nested loop</a:t>
            </a:r>
            <a:r>
              <a:rPr lang="en-US" altLang="en-US">
                <a:ea typeface="ＭＳ Ｐゴシック" panose="020B0600070205080204" pitchFamily="34" charset="-128"/>
              </a:rPr>
              <a:t>) inside another loop (the outer loop)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Both loops can be pretest loops or posttest loops, or the two loops may be different types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Programmer decides whether a problem requires a nested loop by analyzing the problem specification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5C4F8F11-12EC-4594-9951-0083C2AED0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Nested Repetition Structures</a:t>
            </a:r>
          </a:p>
        </p:txBody>
      </p:sp>
      <p:sp>
        <p:nvSpPr>
          <p:cNvPr id="31748" name="Footer Placeholder 3">
            <a:extLst>
              <a:ext uri="{FF2B5EF4-FFF2-40B4-BE49-F238E27FC236}">
                <a16:creationId xmlns:a16="http://schemas.microsoft.com/office/drawing/2014/main" id="{17B553BE-956E-44D0-8CFA-67DB7878B6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1749" name="Slide Number Placeholder 4">
            <a:extLst>
              <a:ext uri="{FF2B5EF4-FFF2-40B4-BE49-F238E27FC236}">
                <a16:creationId xmlns:a16="http://schemas.microsoft.com/office/drawing/2014/main" id="{15A70039-46D9-426F-88A6-D350A8A90F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787897-74DB-40CD-AFD1-4CEDD6F04525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2E09F27-809F-4B22-8E2A-0ECB7B620B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Nested Repetition Structures (cont’d.)</a:t>
            </a:r>
          </a:p>
        </p:txBody>
      </p:sp>
      <p:sp>
        <p:nvSpPr>
          <p:cNvPr id="33795" name="Footer Placeholder 3">
            <a:extLst>
              <a:ext uri="{FF2B5EF4-FFF2-40B4-BE49-F238E27FC236}">
                <a16:creationId xmlns:a16="http://schemas.microsoft.com/office/drawing/2014/main" id="{14C393B3-C359-441B-93A2-5E195EF900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3796" name="Slide Number Placeholder 4">
            <a:extLst>
              <a:ext uri="{FF2B5EF4-FFF2-40B4-BE49-F238E27FC236}">
                <a16:creationId xmlns:a16="http://schemas.microsoft.com/office/drawing/2014/main" id="{3ACCEF9D-66CE-4883-9187-CB44B88563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64ECC9-D672-4EE2-903B-97FEC9E8C3C3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3797" name="TextBox 9">
            <a:extLst>
              <a:ext uri="{FF2B5EF4-FFF2-40B4-BE49-F238E27FC236}">
                <a16:creationId xmlns:a16="http://schemas.microsoft.com/office/drawing/2014/main" id="{7C3C2317-6834-4482-91A5-FF12AC8FB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975" y="5676900"/>
            <a:ext cx="70373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8-6 Problem specification and solution that requires a loop</a:t>
            </a:r>
          </a:p>
        </p:txBody>
      </p:sp>
      <p:pic>
        <p:nvPicPr>
          <p:cNvPr id="33798" name="Picture 2">
            <a:extLst>
              <a:ext uri="{FF2B5EF4-FFF2-40B4-BE49-F238E27FC236}">
                <a16:creationId xmlns:a16="http://schemas.microsoft.com/office/drawing/2014/main" id="{7E4E3786-9FA4-4591-8D7C-14D87AE02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346200"/>
            <a:ext cx="8661400" cy="415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70092DBB-89CB-48D9-A601-5A123D9569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Nested Repetition Structures (cont’d.)</a:t>
            </a:r>
          </a:p>
        </p:txBody>
      </p:sp>
      <p:sp>
        <p:nvSpPr>
          <p:cNvPr id="35843" name="Footer Placeholder 3">
            <a:extLst>
              <a:ext uri="{FF2B5EF4-FFF2-40B4-BE49-F238E27FC236}">
                <a16:creationId xmlns:a16="http://schemas.microsoft.com/office/drawing/2014/main" id="{80F1E7FA-B355-47FB-9CD3-2E6117D618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5844" name="Slide Number Placeholder 4">
            <a:extLst>
              <a:ext uri="{FF2B5EF4-FFF2-40B4-BE49-F238E27FC236}">
                <a16:creationId xmlns:a16="http://schemas.microsoft.com/office/drawing/2014/main" id="{567C4FF6-97DD-499A-A4E7-47C8307FE3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EE95B73-5155-4CB1-9674-6505CD3120E2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5845" name="TextBox 9">
            <a:extLst>
              <a:ext uri="{FF2B5EF4-FFF2-40B4-BE49-F238E27FC236}">
                <a16:creationId xmlns:a16="http://schemas.microsoft.com/office/drawing/2014/main" id="{0FDA4E6D-EB94-4A05-9931-1F3A0CAE5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6513" y="5524500"/>
            <a:ext cx="65309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8-7 Modified problem specification and solution that requires a nested loop</a:t>
            </a:r>
          </a:p>
        </p:txBody>
      </p:sp>
      <p:pic>
        <p:nvPicPr>
          <p:cNvPr id="35846" name="Picture 2">
            <a:extLst>
              <a:ext uri="{FF2B5EF4-FFF2-40B4-BE49-F238E27FC236}">
                <a16:creationId xmlns:a16="http://schemas.microsoft.com/office/drawing/2014/main" id="{DAF910B2-AE00-40A9-B4CA-43B7DC07C5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" y="1485900"/>
            <a:ext cx="8763000" cy="392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55891464-AC61-4C9A-97B9-F4EC4C385F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Simple program that simulates a clock with minutes and seconds.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outer loop represents minutes.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inner loop (nested loop) represents seconds.</a:t>
            </a:r>
          </a:p>
          <a:p>
            <a:pPr marL="342900" lvl="1" indent="-342900" eaLnBrk="1" hangingPunct="1">
              <a:buFontTx/>
              <a:buChar char="•"/>
            </a:pPr>
            <a:r>
              <a:rPr lang="en-US" altLang="en-US">
                <a:ea typeface="ＭＳ Ｐゴシック" panose="020B0600070205080204" pitchFamily="34" charset="-128"/>
              </a:rPr>
              <a:t>To make it easier to desk-check the instructions, the nested loop uses only three seconds per minute and the outer loop stops after two minutes.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53DB96CA-DCC9-4901-BDBE-930DA01812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Clock Program</a:t>
            </a:r>
          </a:p>
        </p:txBody>
      </p:sp>
      <p:sp>
        <p:nvSpPr>
          <p:cNvPr id="37892" name="Footer Placeholder 3">
            <a:extLst>
              <a:ext uri="{FF2B5EF4-FFF2-40B4-BE49-F238E27FC236}">
                <a16:creationId xmlns:a16="http://schemas.microsoft.com/office/drawing/2014/main" id="{DB713A0D-E2E8-4B19-9628-E53A3F80F3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7893" name="Slide Number Placeholder 4">
            <a:extLst>
              <a:ext uri="{FF2B5EF4-FFF2-40B4-BE49-F238E27FC236}">
                <a16:creationId xmlns:a16="http://schemas.microsoft.com/office/drawing/2014/main" id="{714039FA-B7D1-4928-BDE6-58E115EB45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6C13CF-6D23-4682-87AB-F0141DEE9F67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C8E092B-9D44-429C-A603-938CCACA02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Clock Program (cont’d.)</a:t>
            </a:r>
          </a:p>
        </p:txBody>
      </p:sp>
      <p:sp>
        <p:nvSpPr>
          <p:cNvPr id="39939" name="Footer Placeholder 3">
            <a:extLst>
              <a:ext uri="{FF2B5EF4-FFF2-40B4-BE49-F238E27FC236}">
                <a16:creationId xmlns:a16="http://schemas.microsoft.com/office/drawing/2014/main" id="{FF902D38-5871-40D4-AB96-04D02284D2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9940" name="Slide Number Placeholder 4">
            <a:extLst>
              <a:ext uri="{FF2B5EF4-FFF2-40B4-BE49-F238E27FC236}">
                <a16:creationId xmlns:a16="http://schemas.microsoft.com/office/drawing/2014/main" id="{39B790C5-A5B8-4CBC-B235-3CB005D9ED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F1001E-A0B6-4ABC-A8ED-32A4D4477073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9941" name="TextBox 9">
            <a:extLst>
              <a:ext uri="{FF2B5EF4-FFF2-40B4-BE49-F238E27FC236}">
                <a16:creationId xmlns:a16="http://schemas.microsoft.com/office/drawing/2014/main" id="{3E7B7E72-D46E-431E-9EA0-51EE6D413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" y="5638800"/>
            <a:ext cx="706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8-8 Algorithm, code, and a sample run of the Clock Program</a:t>
            </a:r>
          </a:p>
        </p:txBody>
      </p:sp>
      <p:pic>
        <p:nvPicPr>
          <p:cNvPr id="39942" name="Picture 7">
            <a:extLst>
              <a:ext uri="{FF2B5EF4-FFF2-40B4-BE49-F238E27FC236}">
                <a16:creationId xmlns:a16="http://schemas.microsoft.com/office/drawing/2014/main" id="{1757A588-EE96-4A00-9EF5-6B2BD95C6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50" y="1384300"/>
            <a:ext cx="5702300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903DAE9E-A483-4910-82B7-B76FD2000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Clock Program (cont’d.)</a:t>
            </a:r>
          </a:p>
        </p:txBody>
      </p:sp>
      <p:sp>
        <p:nvSpPr>
          <p:cNvPr id="41987" name="Footer Placeholder 3">
            <a:extLst>
              <a:ext uri="{FF2B5EF4-FFF2-40B4-BE49-F238E27FC236}">
                <a16:creationId xmlns:a16="http://schemas.microsoft.com/office/drawing/2014/main" id="{7980ED85-29E1-4003-84E1-01C73582BE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41988" name="Slide Number Placeholder 4">
            <a:extLst>
              <a:ext uri="{FF2B5EF4-FFF2-40B4-BE49-F238E27FC236}">
                <a16:creationId xmlns:a16="http://schemas.microsoft.com/office/drawing/2014/main" id="{94296B93-5844-44DA-B2FB-43975FB685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8DE084-7106-49D5-A929-AFE7043AFE1B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1989" name="TextBox 9">
            <a:extLst>
              <a:ext uri="{FF2B5EF4-FFF2-40B4-BE49-F238E27FC236}">
                <a16:creationId xmlns:a16="http://schemas.microsoft.com/office/drawing/2014/main" id="{0E7ED03D-88DE-4BAB-87B1-BD0A8095F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4463" y="5384800"/>
            <a:ext cx="6469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8-10 Completed desk-check table and output</a:t>
            </a:r>
          </a:p>
        </p:txBody>
      </p:sp>
      <p:pic>
        <p:nvPicPr>
          <p:cNvPr id="41990" name="Picture 7">
            <a:extLst>
              <a:ext uri="{FF2B5EF4-FFF2-40B4-BE49-F238E27FC236}">
                <a16:creationId xmlns:a16="http://schemas.microsoft.com/office/drawing/2014/main" id="{6A523D88-5324-4399-9079-480A7D61A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575" y="1709738"/>
            <a:ext cx="6292850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>
            <a:extLst>
              <a:ext uri="{FF2B5EF4-FFF2-40B4-BE49-F238E27FC236}">
                <a16:creationId xmlns:a16="http://schemas.microsoft.com/office/drawing/2014/main" id="{0BB7B07F-08C9-48BC-8DC6-91F833E1B3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Calculate the depreciation of a car over time.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Program uses a counter-controlled loop to display the value of a new car at the end of each of five years, using a 15% annual depreciation rate.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36B7E0EE-D629-4B28-B7DC-6D391A7141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Car Depreciation Program</a:t>
            </a:r>
          </a:p>
        </p:txBody>
      </p:sp>
      <p:sp>
        <p:nvSpPr>
          <p:cNvPr id="44036" name="Footer Placeholder 3">
            <a:extLst>
              <a:ext uri="{FF2B5EF4-FFF2-40B4-BE49-F238E27FC236}">
                <a16:creationId xmlns:a16="http://schemas.microsoft.com/office/drawing/2014/main" id="{BC6E6ACA-F8DF-4854-BA9F-E65463A624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44037" name="Slide Number Placeholder 4">
            <a:extLst>
              <a:ext uri="{FF2B5EF4-FFF2-40B4-BE49-F238E27FC236}">
                <a16:creationId xmlns:a16="http://schemas.microsoft.com/office/drawing/2014/main" id="{014F5CAF-04B0-4A41-AE49-2D63EA1F1B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FA47A1-CF9E-454A-BB8D-C4216087ADB5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FA46B5E-16C2-480A-978E-7EE546DF59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Car Depreciation Program (cont’d.)</a:t>
            </a:r>
          </a:p>
        </p:txBody>
      </p:sp>
      <p:sp>
        <p:nvSpPr>
          <p:cNvPr id="46083" name="Footer Placeholder 3">
            <a:extLst>
              <a:ext uri="{FF2B5EF4-FFF2-40B4-BE49-F238E27FC236}">
                <a16:creationId xmlns:a16="http://schemas.microsoft.com/office/drawing/2014/main" id="{E46A5E43-9054-45B5-B8E8-70A9475B5B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46084" name="Slide Number Placeholder 4">
            <a:extLst>
              <a:ext uri="{FF2B5EF4-FFF2-40B4-BE49-F238E27FC236}">
                <a16:creationId xmlns:a16="http://schemas.microsoft.com/office/drawing/2014/main" id="{6886D01A-D7D9-4CD0-81FD-2D726AF9D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A99889-28A7-43D1-9F33-93F7259E3E3C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6085" name="TextBox 7">
            <a:extLst>
              <a:ext uri="{FF2B5EF4-FFF2-40B4-BE49-F238E27FC236}">
                <a16:creationId xmlns:a16="http://schemas.microsoft.com/office/drawing/2014/main" id="{0108BB80-C6D4-465A-9DC6-825D01A93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659438"/>
            <a:ext cx="698341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8-11 Beginning of Car Depreciation Program with Problem Specification</a:t>
            </a:r>
          </a:p>
        </p:txBody>
      </p:sp>
      <p:pic>
        <p:nvPicPr>
          <p:cNvPr id="46086" name="Picture 7">
            <a:extLst>
              <a:ext uri="{FF2B5EF4-FFF2-40B4-BE49-F238E27FC236}">
                <a16:creationId xmlns:a16="http://schemas.microsoft.com/office/drawing/2014/main" id="{05D307F5-EABF-466F-B1E3-88E50BE81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" y="1295400"/>
            <a:ext cx="8674100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BF4A8EF4-7F55-4872-B41A-3F5F38D194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Car Depreciation Program (cont’d.)</a:t>
            </a:r>
          </a:p>
        </p:txBody>
      </p:sp>
      <p:sp>
        <p:nvSpPr>
          <p:cNvPr id="48131" name="Footer Placeholder 3">
            <a:extLst>
              <a:ext uri="{FF2B5EF4-FFF2-40B4-BE49-F238E27FC236}">
                <a16:creationId xmlns:a16="http://schemas.microsoft.com/office/drawing/2014/main" id="{6DE766BE-C16D-4715-803B-232684CB3A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48132" name="Slide Number Placeholder 4">
            <a:extLst>
              <a:ext uri="{FF2B5EF4-FFF2-40B4-BE49-F238E27FC236}">
                <a16:creationId xmlns:a16="http://schemas.microsoft.com/office/drawing/2014/main" id="{DE937186-127A-458E-A477-086F11E3D8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FA0225-A13B-4193-A4F2-2F0FF8368E40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8133" name="TextBox 7">
            <a:extLst>
              <a:ext uri="{FF2B5EF4-FFF2-40B4-BE49-F238E27FC236}">
                <a16:creationId xmlns:a16="http://schemas.microsoft.com/office/drawing/2014/main" id="{E1FC13D5-111A-4E91-82CF-524DA9103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659438"/>
            <a:ext cx="698341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8-11 Remainder of Car Depreciation Program with sample run</a:t>
            </a:r>
          </a:p>
        </p:txBody>
      </p:sp>
      <p:pic>
        <p:nvPicPr>
          <p:cNvPr id="48134" name="Picture 2">
            <a:extLst>
              <a:ext uri="{FF2B5EF4-FFF2-40B4-BE49-F238E27FC236}">
                <a16:creationId xmlns:a16="http://schemas.microsoft.com/office/drawing/2014/main" id="{12959468-DD67-484E-95FD-81C80BA05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" y="1320800"/>
            <a:ext cx="8731250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>
            <a:extLst>
              <a:ext uri="{FF2B5EF4-FFF2-40B4-BE49-F238E27FC236}">
                <a16:creationId xmlns:a16="http://schemas.microsoft.com/office/drawing/2014/main" id="{7E685962-46B9-4716-BEF6-9D5C634262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Modify the Car Depreciation Program to use different depreciation rates.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This modified program displays the value of a new car at the end of each of five years, using annual depreciation rates of 15%, 20%, and 25%.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B9A213EC-7206-41DD-8917-B85225A265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Car Depreciation Program (cont’d.)</a:t>
            </a:r>
          </a:p>
        </p:txBody>
      </p:sp>
      <p:sp>
        <p:nvSpPr>
          <p:cNvPr id="50180" name="Footer Placeholder 3">
            <a:extLst>
              <a:ext uri="{FF2B5EF4-FFF2-40B4-BE49-F238E27FC236}">
                <a16:creationId xmlns:a16="http://schemas.microsoft.com/office/drawing/2014/main" id="{8B57A245-5CFF-4B72-8427-0FA048F9F0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0181" name="Slide Number Placeholder 4">
            <a:extLst>
              <a:ext uri="{FF2B5EF4-FFF2-40B4-BE49-F238E27FC236}">
                <a16:creationId xmlns:a16="http://schemas.microsoft.com/office/drawing/2014/main" id="{BB90BB45-B554-4D48-BF86-51567D8244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E24579-115C-4CFF-A309-01DACEDBA044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EE3AB14-DFAB-42A6-95C8-05700A0425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Car Depreciation Program (cont’d.)</a:t>
            </a:r>
          </a:p>
        </p:txBody>
      </p:sp>
      <p:sp>
        <p:nvSpPr>
          <p:cNvPr id="52227" name="Footer Placeholder 3">
            <a:extLst>
              <a:ext uri="{FF2B5EF4-FFF2-40B4-BE49-F238E27FC236}">
                <a16:creationId xmlns:a16="http://schemas.microsoft.com/office/drawing/2014/main" id="{C11E4A41-0791-4BEA-A96B-8C5BF5245D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2228" name="Slide Number Placeholder 4">
            <a:extLst>
              <a:ext uri="{FF2B5EF4-FFF2-40B4-BE49-F238E27FC236}">
                <a16:creationId xmlns:a16="http://schemas.microsoft.com/office/drawing/2014/main" id="{8A8B47B5-233D-4F8A-885C-7FFDE24DC2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D25A20-BAC8-4377-84B0-21A9559AD3B8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2229" name="TextBox 7">
            <a:extLst>
              <a:ext uri="{FF2B5EF4-FFF2-40B4-BE49-F238E27FC236}">
                <a16:creationId xmlns:a16="http://schemas.microsoft.com/office/drawing/2014/main" id="{05BEE5BB-EE94-4F87-AF40-0146ACE13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524500"/>
            <a:ext cx="69834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8-12 Beginning of the modified Car Depreciation Program with problem specification</a:t>
            </a:r>
          </a:p>
        </p:txBody>
      </p:sp>
      <p:pic>
        <p:nvPicPr>
          <p:cNvPr id="52230" name="Picture 2">
            <a:extLst>
              <a:ext uri="{FF2B5EF4-FFF2-40B4-BE49-F238E27FC236}">
                <a16:creationId xmlns:a16="http://schemas.microsoft.com/office/drawing/2014/main" id="{CF9A7E1C-CF82-4DBC-BC01-6127124F9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1574800"/>
            <a:ext cx="8648700" cy="370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2EA09064-7E5B-47A7-A93A-DD99076AE4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Car Depreciation Program (cont’d.)</a:t>
            </a:r>
          </a:p>
        </p:txBody>
      </p:sp>
      <p:sp>
        <p:nvSpPr>
          <p:cNvPr id="54275" name="Footer Placeholder 3">
            <a:extLst>
              <a:ext uri="{FF2B5EF4-FFF2-40B4-BE49-F238E27FC236}">
                <a16:creationId xmlns:a16="http://schemas.microsoft.com/office/drawing/2014/main" id="{F126A4CC-7784-478D-B64A-161E291CAC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4276" name="Slide Number Placeholder 4">
            <a:extLst>
              <a:ext uri="{FF2B5EF4-FFF2-40B4-BE49-F238E27FC236}">
                <a16:creationId xmlns:a16="http://schemas.microsoft.com/office/drawing/2014/main" id="{2D56A12D-A0AC-4753-9D0B-AEB115BD20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47C578-E71B-47E8-AFE8-6E2C825D6E5A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4277" name="TextBox 7">
            <a:extLst>
              <a:ext uri="{FF2B5EF4-FFF2-40B4-BE49-F238E27FC236}">
                <a16:creationId xmlns:a16="http://schemas.microsoft.com/office/drawing/2014/main" id="{4CF5883D-303A-4041-80C7-5022EC11B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664200"/>
            <a:ext cx="69834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8-12 Remainder of the modified Car Depreciation Program with sample run</a:t>
            </a:r>
          </a:p>
        </p:txBody>
      </p:sp>
      <p:pic>
        <p:nvPicPr>
          <p:cNvPr id="54278" name="Picture 2">
            <a:extLst>
              <a:ext uri="{FF2B5EF4-FFF2-40B4-BE49-F238E27FC236}">
                <a16:creationId xmlns:a16="http://schemas.microsoft.com/office/drawing/2014/main" id="{FC823B78-0D16-4DC8-90CC-1A6ECF20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1320800"/>
            <a:ext cx="554355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25B0BAB6-5C05-401A-81E7-250012CB4C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Car Depreciation Program (cont’d.)</a:t>
            </a:r>
          </a:p>
        </p:txBody>
      </p:sp>
      <p:sp>
        <p:nvSpPr>
          <p:cNvPr id="56323" name="Footer Placeholder 3">
            <a:extLst>
              <a:ext uri="{FF2B5EF4-FFF2-40B4-BE49-F238E27FC236}">
                <a16:creationId xmlns:a16="http://schemas.microsoft.com/office/drawing/2014/main" id="{F6C5998B-F309-40CD-98D2-E83D86C2A4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6324" name="Slide Number Placeholder 4">
            <a:extLst>
              <a:ext uri="{FF2B5EF4-FFF2-40B4-BE49-F238E27FC236}">
                <a16:creationId xmlns:a16="http://schemas.microsoft.com/office/drawing/2014/main" id="{793C9794-D0D0-4C26-9AF1-ACFD44D1C4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C93F59-0A68-42BE-86D1-1408F175B7E5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6325" name="TextBox 7">
            <a:extLst>
              <a:ext uri="{FF2B5EF4-FFF2-40B4-BE49-F238E27FC236}">
                <a16:creationId xmlns:a16="http://schemas.microsoft.com/office/drawing/2014/main" id="{CBC18775-5F91-4053-8226-D0366BACD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600" y="5829300"/>
            <a:ext cx="693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8-13 Flowchart for the modified Car Depreciation Program </a:t>
            </a:r>
          </a:p>
        </p:txBody>
      </p:sp>
      <p:pic>
        <p:nvPicPr>
          <p:cNvPr id="56326" name="Picture 2">
            <a:extLst>
              <a:ext uri="{FF2B5EF4-FFF2-40B4-BE49-F238E27FC236}">
                <a16:creationId xmlns:a16="http://schemas.microsoft.com/office/drawing/2014/main" id="{C53F1D4C-022C-4491-A571-60F9FD44B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50" y="1371600"/>
            <a:ext cx="6311900" cy="439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>
            <a:extLst>
              <a:ext uri="{FF2B5EF4-FFF2-40B4-BE49-F238E27FC236}">
                <a16:creationId xmlns:a16="http://schemas.microsoft.com/office/drawing/2014/main" id="{8FD6E9F9-BB4C-4646-9850-211E18A87F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repetition structure can be either a pretest loop or a posttest loop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 a pretest loop, the loop condition is evaluated </a:t>
            </a:r>
            <a:r>
              <a:rPr lang="en-US" altLang="en-US" i="1">
                <a:ea typeface="ＭＳ Ｐゴシック" panose="020B0600070205080204" pitchFamily="34" charset="-128"/>
              </a:rPr>
              <a:t>before</a:t>
            </a:r>
            <a:r>
              <a:rPr lang="en-US" altLang="en-US">
                <a:ea typeface="ＭＳ Ｐゴシック" panose="020B0600070205080204" pitchFamily="34" charset="-128"/>
              </a:rPr>
              <a:t> the instructions in the loop are processed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 a posttest loop, the evaluation occurs </a:t>
            </a:r>
            <a:r>
              <a:rPr lang="en-US" altLang="en-US" i="1">
                <a:ea typeface="ＭＳ Ｐゴシック" panose="020B0600070205080204" pitchFamily="34" charset="-128"/>
              </a:rPr>
              <a:t>after </a:t>
            </a:r>
            <a:r>
              <a:rPr lang="en-US" altLang="en-US">
                <a:ea typeface="ＭＳ Ｐゴシック" panose="020B0600070205080204" pitchFamily="34" charset="-128"/>
              </a:rPr>
              <a:t>the instructions within the loop are processed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Use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do while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statement to code a posttest loop in C++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Use either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while</a:t>
            </a:r>
            <a:r>
              <a:rPr lang="en-US" altLang="en-US">
                <a:ea typeface="ＭＳ Ｐゴシック" panose="020B0600070205080204" pitchFamily="34" charset="-128"/>
              </a:rPr>
              <a:t> statement or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for</a:t>
            </a:r>
            <a:r>
              <a:rPr lang="en-US" altLang="en-US">
                <a:ea typeface="ＭＳ Ｐゴシック" panose="020B0600070205080204" pitchFamily="34" charset="-128"/>
              </a:rPr>
              <a:t> statement to code a pretest loop in C++</a:t>
            </a: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FA613321-8A24-42AF-A0D5-9630659F8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</a:t>
            </a:r>
          </a:p>
        </p:txBody>
      </p:sp>
      <p:sp>
        <p:nvSpPr>
          <p:cNvPr id="58372" name="Footer Placeholder 3">
            <a:extLst>
              <a:ext uri="{FF2B5EF4-FFF2-40B4-BE49-F238E27FC236}">
                <a16:creationId xmlns:a16="http://schemas.microsoft.com/office/drawing/2014/main" id="{331495CA-F4DD-4ECD-AE44-50DB11492B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8373" name="Slide Number Placeholder 4">
            <a:extLst>
              <a:ext uri="{FF2B5EF4-FFF2-40B4-BE49-F238E27FC236}">
                <a16:creationId xmlns:a16="http://schemas.microsoft.com/office/drawing/2014/main" id="{67D98FDB-8B28-4283-8B4A-743ABC2A42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AE4258-CAED-41E4-8A37-40F2BBFD9523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>
            <a:extLst>
              <a:ext uri="{FF2B5EF4-FFF2-40B4-BE49-F238E27FC236}">
                <a16:creationId xmlns:a16="http://schemas.microsoft.com/office/drawing/2014/main" id="{D0EC2EE0-F7B2-4BEC-824C-DDFFD75BC7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Repetition structures can be nested, which means one loop (called the inner or nested loop) can be placed inside another loop (called the outer loop)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For nested repetition structures to work correctly, the entire inner loop must be contained within the outer loop</a:t>
            </a: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1278F1C7-03ED-485B-B6EB-3512C549E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 (cont’d.)</a:t>
            </a:r>
          </a:p>
        </p:txBody>
      </p:sp>
      <p:sp>
        <p:nvSpPr>
          <p:cNvPr id="60420" name="Footer Placeholder 3">
            <a:extLst>
              <a:ext uri="{FF2B5EF4-FFF2-40B4-BE49-F238E27FC236}">
                <a16:creationId xmlns:a16="http://schemas.microsoft.com/office/drawing/2014/main" id="{8F4E55ED-B7F6-45C3-95E0-CEC1EDFDD1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60421" name="Slide Number Placeholder 4">
            <a:extLst>
              <a:ext uri="{FF2B5EF4-FFF2-40B4-BE49-F238E27FC236}">
                <a16:creationId xmlns:a16="http://schemas.microsoft.com/office/drawing/2014/main" id="{55300E2E-8EDB-4367-8A5D-A1ECCFD791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F06CC9-CED4-4A73-BAA9-A06EC0F076F3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Content Placeholder 5">
            <a:extLst>
              <a:ext uri="{FF2B5EF4-FFF2-40B4-BE49-F238E27FC236}">
                <a16:creationId xmlns:a16="http://schemas.microsoft.com/office/drawing/2014/main" id="{AB96162E-78A9-4C26-818B-69A11CF9C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Study the program below and answer the questions.</a:t>
            </a: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FB482238-81B7-43BA-95F5-B1E5274CEE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8-1: Stop and Analyze</a:t>
            </a:r>
          </a:p>
        </p:txBody>
      </p:sp>
      <p:sp>
        <p:nvSpPr>
          <p:cNvPr id="62468" name="Footer Placeholder 3">
            <a:extLst>
              <a:ext uri="{FF2B5EF4-FFF2-40B4-BE49-F238E27FC236}">
                <a16:creationId xmlns:a16="http://schemas.microsoft.com/office/drawing/2014/main" id="{5AB4C2A0-7198-4E82-9904-1665A936B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62469" name="Slide Number Placeholder 4">
            <a:extLst>
              <a:ext uri="{FF2B5EF4-FFF2-40B4-BE49-F238E27FC236}">
                <a16:creationId xmlns:a16="http://schemas.microsoft.com/office/drawing/2014/main" id="{939C6B46-13E3-4203-984A-6FC84DF6B9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FD5AC9-1E38-414C-9865-4F22690BEF0A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62470" name="Picture 6">
            <a:extLst>
              <a:ext uri="{FF2B5EF4-FFF2-40B4-BE49-F238E27FC236}">
                <a16:creationId xmlns:a16="http://schemas.microsoft.com/office/drawing/2014/main" id="{697FAA86-58FF-4512-B32A-8994169BA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2070100"/>
            <a:ext cx="8048625" cy="35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71" name="TextBox 7">
            <a:extLst>
              <a:ext uri="{FF2B5EF4-FFF2-40B4-BE49-F238E27FC236}">
                <a16:creationId xmlns:a16="http://schemas.microsoft.com/office/drawing/2014/main" id="{9C89D8E7-5C55-4D75-B824-A61CA515A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727700"/>
            <a:ext cx="3136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8-14 Code for Lab 8-1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CD35CD5-3E49-4AAD-A143-3F37C69EC2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8-2: Plan and Create</a:t>
            </a:r>
          </a:p>
        </p:txBody>
      </p:sp>
      <p:sp>
        <p:nvSpPr>
          <p:cNvPr id="64515" name="Footer Placeholder 3">
            <a:extLst>
              <a:ext uri="{FF2B5EF4-FFF2-40B4-BE49-F238E27FC236}">
                <a16:creationId xmlns:a16="http://schemas.microsoft.com/office/drawing/2014/main" id="{C82CE711-DF52-431D-A755-899FF1EC92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64516" name="Slide Number Placeholder 4">
            <a:extLst>
              <a:ext uri="{FF2B5EF4-FFF2-40B4-BE49-F238E27FC236}">
                <a16:creationId xmlns:a16="http://schemas.microsoft.com/office/drawing/2014/main" id="{563836EA-B1BE-4457-B7EA-AAB1C54433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D9F224-7DE4-4A43-9857-25C0BFCE31FC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4517" name="TextBox 12">
            <a:extLst>
              <a:ext uri="{FF2B5EF4-FFF2-40B4-BE49-F238E27FC236}">
                <a16:creationId xmlns:a16="http://schemas.microsoft.com/office/drawing/2014/main" id="{48DCA05D-C5F5-42F9-ADF2-06A660E9E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5651500"/>
            <a:ext cx="6184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8-15 Problem specification, IPO chart, and desk-check table for the Retirement program</a:t>
            </a:r>
          </a:p>
        </p:txBody>
      </p:sp>
      <p:pic>
        <p:nvPicPr>
          <p:cNvPr id="64518" name="Picture 7">
            <a:extLst>
              <a:ext uri="{FF2B5EF4-FFF2-40B4-BE49-F238E27FC236}">
                <a16:creationId xmlns:a16="http://schemas.microsoft.com/office/drawing/2014/main" id="{EE4A7338-8BDB-40BE-9FAB-7B72B76E1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025" y="1320800"/>
            <a:ext cx="6203950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692DD5A4-89CA-42B7-BACC-0122F1CAB4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8-2: Plan and Create (cont’d.)</a:t>
            </a:r>
          </a:p>
        </p:txBody>
      </p:sp>
      <p:sp>
        <p:nvSpPr>
          <p:cNvPr id="66563" name="Footer Placeholder 3">
            <a:extLst>
              <a:ext uri="{FF2B5EF4-FFF2-40B4-BE49-F238E27FC236}">
                <a16:creationId xmlns:a16="http://schemas.microsoft.com/office/drawing/2014/main" id="{D76D55A0-87F3-4BA4-BF89-BF3168EB78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66564" name="Slide Number Placeholder 4">
            <a:extLst>
              <a:ext uri="{FF2B5EF4-FFF2-40B4-BE49-F238E27FC236}">
                <a16:creationId xmlns:a16="http://schemas.microsoft.com/office/drawing/2014/main" id="{6689D615-441A-436B-96D6-66AA0322CD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7CBBE0-C954-427E-AA7C-55F95F2C0939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6565" name="TextBox 12">
            <a:extLst>
              <a:ext uri="{FF2B5EF4-FFF2-40B4-BE49-F238E27FC236}">
                <a16:creationId xmlns:a16="http://schemas.microsoft.com/office/drawing/2014/main" id="{E12CA7ED-7E09-4F43-8901-0892224DE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5207000"/>
            <a:ext cx="8013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8-15 Remainder of the desk-check table for the Retirement program</a:t>
            </a:r>
          </a:p>
        </p:txBody>
      </p:sp>
      <p:pic>
        <p:nvPicPr>
          <p:cNvPr id="66566" name="Picture 2">
            <a:extLst>
              <a:ext uri="{FF2B5EF4-FFF2-40B4-BE49-F238E27FC236}">
                <a16:creationId xmlns:a16="http://schemas.microsoft.com/office/drawing/2014/main" id="{8932E58E-1DC2-4957-B73E-3C3CBD61C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" y="1892300"/>
            <a:ext cx="8788400" cy="307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EC15C8BA-759A-4FF7-A57E-4722DF0B43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8-2: Plan and Create (cont’d.)</a:t>
            </a:r>
          </a:p>
        </p:txBody>
      </p:sp>
      <p:sp>
        <p:nvSpPr>
          <p:cNvPr id="68611" name="Footer Placeholder 3">
            <a:extLst>
              <a:ext uri="{FF2B5EF4-FFF2-40B4-BE49-F238E27FC236}">
                <a16:creationId xmlns:a16="http://schemas.microsoft.com/office/drawing/2014/main" id="{D3B4AA33-3AEB-4E04-9D5D-258D60B39B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68612" name="Slide Number Placeholder 4">
            <a:extLst>
              <a:ext uri="{FF2B5EF4-FFF2-40B4-BE49-F238E27FC236}">
                <a16:creationId xmlns:a16="http://schemas.microsoft.com/office/drawing/2014/main" id="{DAC9B1B9-A654-431D-A1B9-962109B80E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B51232-43E0-4BB1-A34E-3E087B0D5344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8613" name="TextBox 12">
            <a:extLst>
              <a:ext uri="{FF2B5EF4-FFF2-40B4-BE49-F238E27FC236}">
                <a16:creationId xmlns:a16="http://schemas.microsoft.com/office/drawing/2014/main" id="{EF99EFB6-0D81-4C89-9237-8D15DA956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800" y="5651500"/>
            <a:ext cx="726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8-16 Beginning of the IPO chart information and C++ instructions for the Retirement program</a:t>
            </a:r>
          </a:p>
        </p:txBody>
      </p:sp>
      <p:pic>
        <p:nvPicPr>
          <p:cNvPr id="68614" name="Picture 3">
            <a:extLst>
              <a:ext uri="{FF2B5EF4-FFF2-40B4-BE49-F238E27FC236}">
                <a16:creationId xmlns:a16="http://schemas.microsoft.com/office/drawing/2014/main" id="{7539C40C-267E-4721-B272-5F0F842A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00" y="1358900"/>
            <a:ext cx="7289800" cy="427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AA064A23-21A1-4EB7-B3CE-7285F78AE1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8-2: Plan and Create (cont’d.)</a:t>
            </a:r>
          </a:p>
        </p:txBody>
      </p:sp>
      <p:sp>
        <p:nvSpPr>
          <p:cNvPr id="70659" name="Footer Placeholder 3">
            <a:extLst>
              <a:ext uri="{FF2B5EF4-FFF2-40B4-BE49-F238E27FC236}">
                <a16:creationId xmlns:a16="http://schemas.microsoft.com/office/drawing/2014/main" id="{F70AFFD1-CAB9-4F5A-8984-29CA260720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70660" name="Slide Number Placeholder 4">
            <a:extLst>
              <a:ext uri="{FF2B5EF4-FFF2-40B4-BE49-F238E27FC236}">
                <a16:creationId xmlns:a16="http://schemas.microsoft.com/office/drawing/2014/main" id="{25424AD7-24C7-4FE6-9154-0E4B431249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DA4025-A4A6-43CE-925E-11F2ACD69136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0661" name="TextBox 12">
            <a:extLst>
              <a:ext uri="{FF2B5EF4-FFF2-40B4-BE49-F238E27FC236}">
                <a16:creationId xmlns:a16="http://schemas.microsoft.com/office/drawing/2014/main" id="{323758FB-39A1-4FFC-9882-CAFB893DB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800" y="5651500"/>
            <a:ext cx="726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8-16 Remainder of the IPO chart information and C++ instructions for the Retirement program</a:t>
            </a:r>
          </a:p>
        </p:txBody>
      </p:sp>
      <p:pic>
        <p:nvPicPr>
          <p:cNvPr id="70662" name="Picture 2">
            <a:extLst>
              <a:ext uri="{FF2B5EF4-FFF2-40B4-BE49-F238E27FC236}">
                <a16:creationId xmlns:a16="http://schemas.microsoft.com/office/drawing/2014/main" id="{ED965980-5FB6-4701-9DE4-0341C960E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282700"/>
            <a:ext cx="8699500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70FD9A01-0A4E-4740-B21F-1BDFEF2865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8-2: Plan and Create (cont’d.)</a:t>
            </a:r>
          </a:p>
        </p:txBody>
      </p:sp>
      <p:sp>
        <p:nvSpPr>
          <p:cNvPr id="72707" name="Footer Placeholder 3">
            <a:extLst>
              <a:ext uri="{FF2B5EF4-FFF2-40B4-BE49-F238E27FC236}">
                <a16:creationId xmlns:a16="http://schemas.microsoft.com/office/drawing/2014/main" id="{73906D98-1219-4127-9495-AE6C11EDBE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72708" name="Slide Number Placeholder 4">
            <a:extLst>
              <a:ext uri="{FF2B5EF4-FFF2-40B4-BE49-F238E27FC236}">
                <a16:creationId xmlns:a16="http://schemas.microsoft.com/office/drawing/2014/main" id="{E8B69F71-E90B-40C8-A688-DE107C2E58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C5A2D77-8AB2-48A3-AE41-2FFC481A8B57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2709" name="TextBox 12">
            <a:extLst>
              <a:ext uri="{FF2B5EF4-FFF2-40B4-BE49-F238E27FC236}">
                <a16:creationId xmlns:a16="http://schemas.microsoft.com/office/drawing/2014/main" id="{58AD75A6-9BF9-48D6-8173-1E04FF393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" y="5816600"/>
            <a:ext cx="8140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8-17 Desk-check table for the Retirement program</a:t>
            </a:r>
          </a:p>
        </p:txBody>
      </p:sp>
      <p:pic>
        <p:nvPicPr>
          <p:cNvPr id="72710" name="Picture 2">
            <a:extLst>
              <a:ext uri="{FF2B5EF4-FFF2-40B4-BE49-F238E27FC236}">
                <a16:creationId xmlns:a16="http://schemas.microsoft.com/office/drawing/2014/main" id="{A2FC3A64-4232-49AA-9A9E-38933F921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3" y="1346200"/>
            <a:ext cx="8232775" cy="439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4AAE5807-39D7-4794-84B7-6694823362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8-2: Plan and Create (cont’d.)</a:t>
            </a:r>
          </a:p>
        </p:txBody>
      </p:sp>
      <p:sp>
        <p:nvSpPr>
          <p:cNvPr id="74755" name="Footer Placeholder 3">
            <a:extLst>
              <a:ext uri="{FF2B5EF4-FFF2-40B4-BE49-F238E27FC236}">
                <a16:creationId xmlns:a16="http://schemas.microsoft.com/office/drawing/2014/main" id="{FB48B3C6-95FE-490D-B630-C076E4A7C0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74756" name="Slide Number Placeholder 4">
            <a:extLst>
              <a:ext uri="{FF2B5EF4-FFF2-40B4-BE49-F238E27FC236}">
                <a16:creationId xmlns:a16="http://schemas.microsoft.com/office/drawing/2014/main" id="{DA0507D6-A1F6-40EA-9399-F7D1B70B57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57CC50-7670-43FD-BECC-4F3039524752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4757" name="TextBox 12">
            <a:extLst>
              <a:ext uri="{FF2B5EF4-FFF2-40B4-BE49-F238E27FC236}">
                <a16:creationId xmlns:a16="http://schemas.microsoft.com/office/drawing/2014/main" id="{BC60A391-489B-43F1-90B4-8B0D5BDAE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" y="5816600"/>
            <a:ext cx="8140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8-18 Beginning of the finalized Retirement program</a:t>
            </a:r>
          </a:p>
        </p:txBody>
      </p:sp>
      <p:pic>
        <p:nvPicPr>
          <p:cNvPr id="74758" name="Picture 2">
            <a:extLst>
              <a:ext uri="{FF2B5EF4-FFF2-40B4-BE49-F238E27FC236}">
                <a16:creationId xmlns:a16="http://schemas.microsoft.com/office/drawing/2014/main" id="{1AD6F6F5-2C0B-4A6C-AD04-42876E1B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013" y="1333500"/>
            <a:ext cx="5895975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B9100CD3-CB73-4AFE-A956-2CA6090414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8-2: Plan and Create (cont’d.)</a:t>
            </a:r>
          </a:p>
        </p:txBody>
      </p:sp>
      <p:sp>
        <p:nvSpPr>
          <p:cNvPr id="76803" name="Footer Placeholder 3">
            <a:extLst>
              <a:ext uri="{FF2B5EF4-FFF2-40B4-BE49-F238E27FC236}">
                <a16:creationId xmlns:a16="http://schemas.microsoft.com/office/drawing/2014/main" id="{EF9E6969-3A53-4D16-A667-84F6DAE2F0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76804" name="Slide Number Placeholder 4">
            <a:extLst>
              <a:ext uri="{FF2B5EF4-FFF2-40B4-BE49-F238E27FC236}">
                <a16:creationId xmlns:a16="http://schemas.microsoft.com/office/drawing/2014/main" id="{9A910FC5-7C96-4DBF-81A4-8B771D2B9C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81F523-67C1-4A52-8308-5F8C2163BF7F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6805" name="TextBox 12">
            <a:extLst>
              <a:ext uri="{FF2B5EF4-FFF2-40B4-BE49-F238E27FC236}">
                <a16:creationId xmlns:a16="http://schemas.microsoft.com/office/drawing/2014/main" id="{6ECE76F8-1A31-454B-AF10-805763DA0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" y="4737100"/>
            <a:ext cx="8140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8-18 Remainder of the finalized Retirement program</a:t>
            </a:r>
          </a:p>
        </p:txBody>
      </p:sp>
      <p:pic>
        <p:nvPicPr>
          <p:cNvPr id="76806" name="Picture 2">
            <a:extLst>
              <a:ext uri="{FF2B5EF4-FFF2-40B4-BE49-F238E27FC236}">
                <a16:creationId xmlns:a16="http://schemas.microsoft.com/office/drawing/2014/main" id="{4BDB013E-F03B-4704-ADA2-100349EB5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" y="2352675"/>
            <a:ext cx="8648700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Content Placeholder 5">
            <a:extLst>
              <a:ext uri="{FF2B5EF4-FFF2-40B4-BE49-F238E27FC236}">
                <a16:creationId xmlns:a16="http://schemas.microsoft.com/office/drawing/2014/main" id="{F5969884-6B4D-4B68-A6A4-FF0EB2951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350" y="1557338"/>
            <a:ext cx="8705850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Modify the program in Lab8-2.cpp. Change the outer </a:t>
            </a:r>
            <a:r>
              <a:rPr lang="en-US" altLang="en-US" i="1">
                <a:ea typeface="ＭＳ Ｐゴシック" panose="020B0600070205080204" pitchFamily="34" charset="-128"/>
              </a:rPr>
              <a:t>for</a:t>
            </a:r>
            <a:r>
              <a:rPr lang="en-US" altLang="en-US">
                <a:ea typeface="ＭＳ Ｐゴシック" panose="020B0600070205080204" pitchFamily="34" charset="-128"/>
              </a:rPr>
              <a:t> loop to a </a:t>
            </a:r>
            <a:r>
              <a:rPr lang="en-US" altLang="en-US" i="1">
                <a:ea typeface="ＭＳ Ｐゴシック" panose="020B0600070205080204" pitchFamily="34" charset="-128"/>
              </a:rPr>
              <a:t>posttest</a:t>
            </a:r>
            <a:r>
              <a:rPr lang="en-US" altLang="en-US">
                <a:ea typeface="ＭＳ Ｐゴシック" panose="020B0600070205080204" pitchFamily="34" charset="-128"/>
              </a:rPr>
              <a:t> loop.  Save the modified program as Lab8-3.cpp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Save, run, and test the program.</a:t>
            </a: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E515A6F3-8940-4C3C-BA1C-435B9E7921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8-3: Modify</a:t>
            </a:r>
          </a:p>
        </p:txBody>
      </p:sp>
      <p:sp>
        <p:nvSpPr>
          <p:cNvPr id="78852" name="Footer Placeholder 3">
            <a:extLst>
              <a:ext uri="{FF2B5EF4-FFF2-40B4-BE49-F238E27FC236}">
                <a16:creationId xmlns:a16="http://schemas.microsoft.com/office/drawing/2014/main" id="{FC61C54C-D2CC-47A3-83B7-84D433112C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78853" name="Slide Number Placeholder 4">
            <a:extLst>
              <a:ext uri="{FF2B5EF4-FFF2-40B4-BE49-F238E27FC236}">
                <a16:creationId xmlns:a16="http://schemas.microsoft.com/office/drawing/2014/main" id="{C13820CE-8B33-4983-95E1-B8275135F7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B67443-13C2-47C1-8B75-6D5D7DEFCEB2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Content Placeholder 5">
            <a:extLst>
              <a:ext uri="{FF2B5EF4-FFF2-40B4-BE49-F238E27FC236}">
                <a16:creationId xmlns:a16="http://schemas.microsoft.com/office/drawing/2014/main" id="{6F980866-4254-4D12-9EAB-D759AB015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350" y="1579563"/>
            <a:ext cx="8705850" cy="1150937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program is this lab should display the pattern of numbers shown in Figure 8-19 below.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Follow the instructions for starting C++ and opening the Lab8-4.cpp file. Put the C++ instructions in the proper order, and then determine the one or more missing instructions.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Test the program appropriately.</a:t>
            </a: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427434A4-A687-4374-9BF7-48BC29C5CA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8-4: What’s missing?</a:t>
            </a:r>
          </a:p>
        </p:txBody>
      </p:sp>
      <p:sp>
        <p:nvSpPr>
          <p:cNvPr id="80900" name="Footer Placeholder 3">
            <a:extLst>
              <a:ext uri="{FF2B5EF4-FFF2-40B4-BE49-F238E27FC236}">
                <a16:creationId xmlns:a16="http://schemas.microsoft.com/office/drawing/2014/main" id="{0B2B49CD-C3F4-4F14-9EE5-74CCE5E8BC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0901" name="Slide Number Placeholder 4">
            <a:extLst>
              <a:ext uri="{FF2B5EF4-FFF2-40B4-BE49-F238E27FC236}">
                <a16:creationId xmlns:a16="http://schemas.microsoft.com/office/drawing/2014/main" id="{80DAF92F-41D1-4D30-899F-5CD03E7086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D34A97-4153-4C0C-BB04-006075F16143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0902" name="TextBox 7">
            <a:extLst>
              <a:ext uri="{FF2B5EF4-FFF2-40B4-BE49-F238E27FC236}">
                <a16:creationId xmlns:a16="http://schemas.microsoft.com/office/drawing/2014/main" id="{93B27CE7-34F0-454A-95B0-9747F23D0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5200" y="5767388"/>
            <a:ext cx="42545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8-19 Sample output for Lab 8-4</a:t>
            </a:r>
          </a:p>
        </p:txBody>
      </p:sp>
      <p:pic>
        <p:nvPicPr>
          <p:cNvPr id="80903" name="Picture 8">
            <a:extLst>
              <a:ext uri="{FF2B5EF4-FFF2-40B4-BE49-F238E27FC236}">
                <a16:creationId xmlns:a16="http://schemas.microsoft.com/office/drawing/2014/main" id="{9C1B283F-9C42-4277-B10F-16F5D9ED9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" y="4330700"/>
            <a:ext cx="8788400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Content Placeholder 5">
            <a:extLst>
              <a:ext uri="{FF2B5EF4-FFF2-40B4-BE49-F238E27FC236}">
                <a16:creationId xmlns:a16="http://schemas.microsoft.com/office/drawing/2014/main" id="{CC94D863-9468-43D3-8D3C-F9CF078E5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350" y="1579563"/>
            <a:ext cx="8705850" cy="1150937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Desk-check the code in Figure 8-20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What will the code display on the computer screen?</a:t>
            </a: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C1ACEB17-20FD-46FD-BB8F-F705C4D460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8-5: Desk-Check</a:t>
            </a:r>
          </a:p>
        </p:txBody>
      </p:sp>
      <p:sp>
        <p:nvSpPr>
          <p:cNvPr id="82948" name="Footer Placeholder 3">
            <a:extLst>
              <a:ext uri="{FF2B5EF4-FFF2-40B4-BE49-F238E27FC236}">
                <a16:creationId xmlns:a16="http://schemas.microsoft.com/office/drawing/2014/main" id="{07F6405F-4D8D-4B99-9762-9932BA8D6E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2949" name="Slide Number Placeholder 4">
            <a:extLst>
              <a:ext uri="{FF2B5EF4-FFF2-40B4-BE49-F238E27FC236}">
                <a16:creationId xmlns:a16="http://schemas.microsoft.com/office/drawing/2014/main" id="{99B05682-5384-46A8-9D94-B710B4D683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18421A-A4BB-47B4-AE62-210A176FF4DF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2950" name="TextBox 7">
            <a:extLst>
              <a:ext uri="{FF2B5EF4-FFF2-40B4-BE49-F238E27FC236}">
                <a16:creationId xmlns:a16="http://schemas.microsoft.com/office/drawing/2014/main" id="{CE186E28-1097-480F-9402-A0B6F2074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0825" y="5767388"/>
            <a:ext cx="3303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8-20 Code for Lab 8-5</a:t>
            </a:r>
          </a:p>
        </p:txBody>
      </p:sp>
      <p:pic>
        <p:nvPicPr>
          <p:cNvPr id="82951" name="Picture 2">
            <a:extLst>
              <a:ext uri="{FF2B5EF4-FFF2-40B4-BE49-F238E27FC236}">
                <a16:creationId xmlns:a16="http://schemas.microsoft.com/office/drawing/2014/main" id="{A1517290-EF69-4C91-8759-EDB005657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2705100"/>
            <a:ext cx="5689600" cy="299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Content Placeholder 5">
            <a:extLst>
              <a:ext uri="{FF2B5EF4-FFF2-40B4-BE49-F238E27FC236}">
                <a16:creationId xmlns:a16="http://schemas.microsoft.com/office/drawing/2014/main" id="{C0808DD7-B1DA-4D5A-B11F-7D981EBA7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676400"/>
            <a:ext cx="8223250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Follow the instructions for starting C++ and opening the Lab8-6.cpp file.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program should display a store’s quarterly sales, but it is not working properly.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Debug the program.</a:t>
            </a: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F491BD57-4BB4-49C1-8D24-FD516C6C10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8-6: Debug</a:t>
            </a:r>
          </a:p>
        </p:txBody>
      </p:sp>
      <p:sp>
        <p:nvSpPr>
          <p:cNvPr id="84996" name="Footer Placeholder 3">
            <a:extLst>
              <a:ext uri="{FF2B5EF4-FFF2-40B4-BE49-F238E27FC236}">
                <a16:creationId xmlns:a16="http://schemas.microsoft.com/office/drawing/2014/main" id="{AC83677F-9E03-4BC4-96E1-B4B3576CFD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4997" name="Slide Number Placeholder 4">
            <a:extLst>
              <a:ext uri="{FF2B5EF4-FFF2-40B4-BE49-F238E27FC236}">
                <a16:creationId xmlns:a16="http://schemas.microsoft.com/office/drawing/2014/main" id="{E8490A5E-BDAC-4FA7-A953-7722FDE673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19FFFA-0F82-48EF-8200-A877C46BBAEB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gular Page">
  <a:themeElements>
    <a:clrScheme name="Default Design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Mod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Regular Page</Template>
  <TotalTime>0</TotalTime>
  <Words>1595</Words>
  <Application>Microsoft Office PowerPoint</Application>
  <PresentationFormat>On-screen Show (4:3)</PresentationFormat>
  <Paragraphs>233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ＭＳ Ｐゴシック</vt:lpstr>
      <vt:lpstr>Arial</vt:lpstr>
      <vt:lpstr>Calibri</vt:lpstr>
      <vt:lpstr>Courier New</vt:lpstr>
      <vt:lpstr>Times New Roman</vt:lpstr>
      <vt:lpstr>Trebuchet MS</vt:lpstr>
      <vt:lpstr>Regular Page</vt:lpstr>
      <vt:lpstr>Chapter 8: More on the Repetition Structure</vt:lpstr>
      <vt:lpstr>Objectives</vt:lpstr>
      <vt:lpstr>Posttest Loops</vt:lpstr>
      <vt:lpstr>Posttest Loops (cont’d.)</vt:lpstr>
      <vt:lpstr>Posttest Loops (cont’d.)</vt:lpstr>
      <vt:lpstr>Flowcharting a Posttest Loop</vt:lpstr>
      <vt:lpstr>Flowcharting a Posttest Loop (cont’d.)</vt:lpstr>
      <vt:lpstr>Flowcharting a Posttest Loop (cont’d.)</vt:lpstr>
      <vt:lpstr>The do while Statement</vt:lpstr>
      <vt:lpstr>The do while Statement (cont’d.)</vt:lpstr>
      <vt:lpstr>The do while Statement (cont’d.)</vt:lpstr>
      <vt:lpstr>The do while Statement (cont’d.)</vt:lpstr>
      <vt:lpstr>Nested Repetition Structures</vt:lpstr>
      <vt:lpstr>Nested Repetition Structures (cont’d.)</vt:lpstr>
      <vt:lpstr>Nested Repetition Structures (cont’d.)</vt:lpstr>
      <vt:lpstr>The Clock Program</vt:lpstr>
      <vt:lpstr>The Clock Program (cont’d.)</vt:lpstr>
      <vt:lpstr>The Clock Program (cont’d.)</vt:lpstr>
      <vt:lpstr>The Car Depreciation Program</vt:lpstr>
      <vt:lpstr>Car Depreciation Program (cont’d.)</vt:lpstr>
      <vt:lpstr>Car Depreciation Program (cont’d.)</vt:lpstr>
      <vt:lpstr>Car Depreciation Program (cont’d.)</vt:lpstr>
      <vt:lpstr>Car Depreciation Program (cont’d.)</vt:lpstr>
      <vt:lpstr>Car Depreciation Program (cont’d.)</vt:lpstr>
      <vt:lpstr>Car Depreciation Program (cont’d.)</vt:lpstr>
      <vt:lpstr>Summary</vt:lpstr>
      <vt:lpstr>Summary (cont’d.)</vt:lpstr>
      <vt:lpstr>Lab 8-1: Stop and Analyze</vt:lpstr>
      <vt:lpstr>Lab 8-2: Plan and Create</vt:lpstr>
      <vt:lpstr>Lab 8-2: Plan and Create (cont’d.)</vt:lpstr>
      <vt:lpstr>Lab 8-2: Plan and Create (cont’d.)</vt:lpstr>
      <vt:lpstr>Lab 8-2: Plan and Create (cont’d.)</vt:lpstr>
      <vt:lpstr>Lab 8-2: Plan and Create (cont’d.)</vt:lpstr>
      <vt:lpstr>Lab 8-2: Plan and Create (cont’d.)</vt:lpstr>
      <vt:lpstr>Lab 8-2: Plan and Create (cont’d.)</vt:lpstr>
      <vt:lpstr>Lab 8-3: Modify</vt:lpstr>
      <vt:lpstr>Lab 8-4: What’s missing?</vt:lpstr>
      <vt:lpstr>Lab 8-5: Desk-Check</vt:lpstr>
      <vt:lpstr>Lab 8-6: Debug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2012-08-07T19:16:52Z</dcterms:created>
  <dcterms:modified xsi:type="dcterms:W3CDTF">2020-07-14T21:23:44Z</dcterms:modified>
</cp:coreProperties>
</file>