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8" r:id="rId9"/>
    <p:sldId id="263" r:id="rId10"/>
    <p:sldId id="264" r:id="rId11"/>
    <p:sldId id="266" r:id="rId12"/>
    <p:sldId id="265" r:id="rId13"/>
    <p:sldId id="267" r:id="rId14"/>
    <p:sldId id="270" r:id="rId15"/>
    <p:sldId id="269" r:id="rId16"/>
    <p:sldId id="268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52D01708-918C-41F3-BB43-E59C4735540F}"/>
    <pc:docChg chg="custSel addSld delSld modSld">
      <pc:chgData name="" userId="97c7b900f41abbbd" providerId="LiveId" clId="{52D01708-918C-41F3-BB43-E59C4735540F}" dt="2020-07-15T20:00:24.781" v="341" actId="20577"/>
      <pc:docMkLst>
        <pc:docMk/>
      </pc:docMkLst>
      <pc:sldChg chg="modSp">
        <pc:chgData name="" userId="97c7b900f41abbbd" providerId="LiveId" clId="{52D01708-918C-41F3-BB43-E59C4735540F}" dt="2020-07-15T19:54:07.771" v="195" actId="20577"/>
        <pc:sldMkLst>
          <pc:docMk/>
          <pc:sldMk cId="3983474628" sldId="258"/>
        </pc:sldMkLst>
        <pc:spChg chg="mod">
          <ac:chgData name="" userId="97c7b900f41abbbd" providerId="LiveId" clId="{52D01708-918C-41F3-BB43-E59C4735540F}" dt="2020-07-15T19:54:07.771" v="195" actId="20577"/>
          <ac:spMkLst>
            <pc:docMk/>
            <pc:sldMk cId="3983474628" sldId="258"/>
            <ac:spMk id="2" creationId="{00000000-0000-0000-0000-000000000000}"/>
          </ac:spMkLst>
        </pc:spChg>
        <pc:picChg chg="mod">
          <ac:chgData name="" userId="97c7b900f41abbbd" providerId="LiveId" clId="{52D01708-918C-41F3-BB43-E59C4735540F}" dt="2020-07-15T19:50:03.031" v="19" actId="962"/>
          <ac:picMkLst>
            <pc:docMk/>
            <pc:sldMk cId="3983474628" sldId="258"/>
            <ac:picMk id="4" creationId="{00000000-0000-0000-0000-000000000000}"/>
          </ac:picMkLst>
        </pc:picChg>
      </pc:sldChg>
      <pc:sldChg chg="modSp">
        <pc:chgData name="" userId="97c7b900f41abbbd" providerId="LiveId" clId="{52D01708-918C-41F3-BB43-E59C4735540F}" dt="2020-07-15T19:50:35.101" v="42" actId="20577"/>
        <pc:sldMkLst>
          <pc:docMk/>
          <pc:sldMk cId="1807015747" sldId="259"/>
        </pc:sldMkLst>
        <pc:spChg chg="mod">
          <ac:chgData name="" userId="97c7b900f41abbbd" providerId="LiveId" clId="{52D01708-918C-41F3-BB43-E59C4735540F}" dt="2020-07-15T19:50:35.101" v="42" actId="20577"/>
          <ac:spMkLst>
            <pc:docMk/>
            <pc:sldMk cId="1807015747" sldId="259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0:38.271" v="45" actId="20577"/>
        <pc:sldMkLst>
          <pc:docMk/>
          <pc:sldMk cId="2315008891" sldId="260"/>
        </pc:sldMkLst>
        <pc:spChg chg="mod">
          <ac:chgData name="" userId="97c7b900f41abbbd" providerId="LiveId" clId="{52D01708-918C-41F3-BB43-E59C4735540F}" dt="2020-07-15T19:50:38.271" v="45" actId="20577"/>
          <ac:spMkLst>
            <pc:docMk/>
            <pc:sldMk cId="2315008891" sldId="260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0:49.351" v="48" actId="20577"/>
        <pc:sldMkLst>
          <pc:docMk/>
          <pc:sldMk cId="39584916" sldId="261"/>
        </pc:sldMkLst>
        <pc:spChg chg="mod">
          <ac:chgData name="" userId="97c7b900f41abbbd" providerId="LiveId" clId="{52D01708-918C-41F3-BB43-E59C4735540F}" dt="2020-07-15T19:50:49.351" v="48" actId="20577"/>
          <ac:spMkLst>
            <pc:docMk/>
            <pc:sldMk cId="39584916" sldId="261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4:37.991" v="197" actId="20577"/>
        <pc:sldMkLst>
          <pc:docMk/>
          <pc:sldMk cId="1201234151" sldId="262"/>
        </pc:sldMkLst>
        <pc:spChg chg="mod">
          <ac:chgData name="" userId="97c7b900f41abbbd" providerId="LiveId" clId="{52D01708-918C-41F3-BB43-E59C4735540F}" dt="2020-07-15T19:54:37.991" v="197" actId="20577"/>
          <ac:spMkLst>
            <pc:docMk/>
            <pc:sldMk cId="1201234151" sldId="262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0:12.821" v="39" actId="962"/>
        <pc:sldMkLst>
          <pc:docMk/>
          <pc:sldMk cId="1506226533" sldId="263"/>
        </pc:sldMkLst>
        <pc:picChg chg="mod">
          <ac:chgData name="" userId="97c7b900f41abbbd" providerId="LiveId" clId="{52D01708-918C-41F3-BB43-E59C4735540F}" dt="2020-07-15T19:50:12.821" v="39" actId="962"/>
          <ac:picMkLst>
            <pc:docMk/>
            <pc:sldMk cId="1506226533" sldId="263"/>
            <ac:picMk id="4" creationId="{00000000-0000-0000-0000-000000000000}"/>
          </ac:picMkLst>
        </pc:picChg>
      </pc:sldChg>
      <pc:sldChg chg="modSp">
        <pc:chgData name="" userId="97c7b900f41abbbd" providerId="LiveId" clId="{52D01708-918C-41F3-BB43-E59C4735540F}" dt="2020-07-15T19:51:14.191" v="54" actId="20577"/>
        <pc:sldMkLst>
          <pc:docMk/>
          <pc:sldMk cId="1564137716" sldId="264"/>
        </pc:sldMkLst>
        <pc:spChg chg="mod">
          <ac:chgData name="" userId="97c7b900f41abbbd" providerId="LiveId" clId="{52D01708-918C-41F3-BB43-E59C4735540F}" dt="2020-07-15T19:51:14.191" v="54" actId="20577"/>
          <ac:spMkLst>
            <pc:docMk/>
            <pc:sldMk cId="1564137716" sldId="264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1:18.902" v="59" actId="20577"/>
        <pc:sldMkLst>
          <pc:docMk/>
          <pc:sldMk cId="1553077995" sldId="265"/>
        </pc:sldMkLst>
        <pc:spChg chg="mod">
          <ac:chgData name="" userId="97c7b900f41abbbd" providerId="LiveId" clId="{52D01708-918C-41F3-BB43-E59C4735540F}" dt="2020-07-15T19:51:18.902" v="59" actId="20577"/>
          <ac:spMkLst>
            <pc:docMk/>
            <pc:sldMk cId="1553077995" sldId="265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1:16.662" v="57" actId="20577"/>
        <pc:sldMkLst>
          <pc:docMk/>
          <pc:sldMk cId="2797589556" sldId="266"/>
        </pc:sldMkLst>
        <pc:spChg chg="mod">
          <ac:chgData name="" userId="97c7b900f41abbbd" providerId="LiveId" clId="{52D01708-918C-41F3-BB43-E59C4735540F}" dt="2020-07-15T19:51:16.662" v="57" actId="20577"/>
          <ac:spMkLst>
            <pc:docMk/>
            <pc:sldMk cId="2797589556" sldId="266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1:22.436" v="62" actId="20577"/>
        <pc:sldMkLst>
          <pc:docMk/>
          <pc:sldMk cId="130701455" sldId="267"/>
        </pc:sldMkLst>
        <pc:spChg chg="mod">
          <ac:chgData name="" userId="97c7b900f41abbbd" providerId="LiveId" clId="{52D01708-918C-41F3-BB43-E59C4735540F}" dt="2020-07-15T19:51:22.436" v="62" actId="20577"/>
          <ac:spMkLst>
            <pc:docMk/>
            <pc:sldMk cId="130701455" sldId="267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1:32.326" v="69" actId="20577"/>
        <pc:sldMkLst>
          <pc:docMk/>
          <pc:sldMk cId="2684179447" sldId="268"/>
        </pc:sldMkLst>
        <pc:spChg chg="mod">
          <ac:chgData name="" userId="97c7b900f41abbbd" providerId="LiveId" clId="{52D01708-918C-41F3-BB43-E59C4735540F}" dt="2020-07-15T19:51:32.326" v="69" actId="20577"/>
          <ac:spMkLst>
            <pc:docMk/>
            <pc:sldMk cId="2684179447" sldId="268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1:29.901" v="67" actId="20577"/>
        <pc:sldMkLst>
          <pc:docMk/>
          <pc:sldMk cId="909520179" sldId="269"/>
        </pc:sldMkLst>
        <pc:spChg chg="mod">
          <ac:chgData name="" userId="97c7b900f41abbbd" providerId="LiveId" clId="{52D01708-918C-41F3-BB43-E59C4735540F}" dt="2020-07-15T19:51:29.901" v="67" actId="20577"/>
          <ac:spMkLst>
            <pc:docMk/>
            <pc:sldMk cId="909520179" sldId="269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1:25.231" v="64" actId="20577"/>
        <pc:sldMkLst>
          <pc:docMk/>
          <pc:sldMk cId="2380996191" sldId="270"/>
        </pc:sldMkLst>
        <pc:spChg chg="mod">
          <ac:chgData name="" userId="97c7b900f41abbbd" providerId="LiveId" clId="{52D01708-918C-41F3-BB43-E59C4735540F}" dt="2020-07-15T19:51:25.231" v="64" actId="20577"/>
          <ac:spMkLst>
            <pc:docMk/>
            <pc:sldMk cId="2380996191" sldId="270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1:36.422" v="72" actId="20577"/>
        <pc:sldMkLst>
          <pc:docMk/>
          <pc:sldMk cId="2833338115" sldId="271"/>
        </pc:sldMkLst>
        <pc:spChg chg="mod">
          <ac:chgData name="" userId="97c7b900f41abbbd" providerId="LiveId" clId="{52D01708-918C-41F3-BB43-E59C4735540F}" dt="2020-07-15T19:51:36.422" v="72" actId="20577"/>
          <ac:spMkLst>
            <pc:docMk/>
            <pc:sldMk cId="2833338115" sldId="271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3:40.421" v="176" actId="20577"/>
        <pc:sldMkLst>
          <pc:docMk/>
          <pc:sldMk cId="3572809008" sldId="273"/>
        </pc:sldMkLst>
        <pc:spChg chg="mod">
          <ac:chgData name="" userId="97c7b900f41abbbd" providerId="LiveId" clId="{52D01708-918C-41F3-BB43-E59C4735540F}" dt="2020-07-15T19:53:40.421" v="176" actId="20577"/>
          <ac:spMkLst>
            <pc:docMk/>
            <pc:sldMk cId="3572809008" sldId="273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7:01.301" v="323" actId="6549"/>
        <pc:sldMkLst>
          <pc:docMk/>
          <pc:sldMk cId="664700612" sldId="275"/>
        </pc:sldMkLst>
        <pc:spChg chg="mod">
          <ac:chgData name="" userId="97c7b900f41abbbd" providerId="LiveId" clId="{52D01708-918C-41F3-BB43-E59C4735540F}" dt="2020-07-15T19:57:01.301" v="323" actId="6549"/>
          <ac:spMkLst>
            <pc:docMk/>
            <pc:sldMk cId="664700612" sldId="275"/>
            <ac:spMk id="5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7:15.361" v="324" actId="20577"/>
        <pc:sldMkLst>
          <pc:docMk/>
          <pc:sldMk cId="219995544" sldId="277"/>
        </pc:sldMkLst>
        <pc:spChg chg="mod">
          <ac:chgData name="" userId="97c7b900f41abbbd" providerId="LiveId" clId="{52D01708-918C-41F3-BB43-E59C4735540F}" dt="2020-07-15T19:51:57.441" v="82" actId="20577"/>
          <ac:spMkLst>
            <pc:docMk/>
            <pc:sldMk cId="219995544" sldId="277"/>
            <ac:spMk id="2" creationId="{00000000-0000-0000-0000-000000000000}"/>
          </ac:spMkLst>
        </pc:spChg>
        <pc:spChg chg="mod">
          <ac:chgData name="" userId="97c7b900f41abbbd" providerId="LiveId" clId="{52D01708-918C-41F3-BB43-E59C4735540F}" dt="2020-07-15T19:57:15.361" v="324" actId="20577"/>
          <ac:spMkLst>
            <pc:docMk/>
            <pc:sldMk cId="219995544" sldId="277"/>
            <ac:spMk id="3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2:01.346" v="85" actId="20577"/>
        <pc:sldMkLst>
          <pc:docMk/>
          <pc:sldMk cId="40101006" sldId="278"/>
        </pc:sldMkLst>
        <pc:spChg chg="mod">
          <ac:chgData name="" userId="97c7b900f41abbbd" providerId="LiveId" clId="{52D01708-918C-41F3-BB43-E59C4735540F}" dt="2020-07-15T19:52:01.346" v="85" actId="20577"/>
          <ac:spMkLst>
            <pc:docMk/>
            <pc:sldMk cId="40101006" sldId="278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8:34.552" v="334" actId="113"/>
        <pc:sldMkLst>
          <pc:docMk/>
          <pc:sldMk cId="1898255076" sldId="279"/>
        </pc:sldMkLst>
        <pc:spChg chg="mod">
          <ac:chgData name="" userId="97c7b900f41abbbd" providerId="LiveId" clId="{52D01708-918C-41F3-BB43-E59C4735540F}" dt="2020-07-15T19:52:08.062" v="89" actId="20577"/>
          <ac:spMkLst>
            <pc:docMk/>
            <pc:sldMk cId="1898255076" sldId="279"/>
            <ac:spMk id="2" creationId="{00000000-0000-0000-0000-000000000000}"/>
          </ac:spMkLst>
        </pc:spChg>
        <pc:spChg chg="mod">
          <ac:chgData name="" userId="97c7b900f41abbbd" providerId="LiveId" clId="{52D01708-918C-41F3-BB43-E59C4735540F}" dt="2020-07-15T19:58:34.552" v="334" actId="113"/>
          <ac:spMkLst>
            <pc:docMk/>
            <pc:sldMk cId="1898255076" sldId="279"/>
            <ac:spMk id="3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2:12.416" v="93" actId="20577"/>
        <pc:sldMkLst>
          <pc:docMk/>
          <pc:sldMk cId="960477977" sldId="280"/>
        </pc:sldMkLst>
        <pc:spChg chg="mod">
          <ac:chgData name="" userId="97c7b900f41abbbd" providerId="LiveId" clId="{52D01708-918C-41F3-BB43-E59C4735540F}" dt="2020-07-15T19:52:12.416" v="93" actId="20577"/>
          <ac:spMkLst>
            <pc:docMk/>
            <pc:sldMk cId="960477977" sldId="280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2:33.271" v="127" actId="20577"/>
        <pc:sldMkLst>
          <pc:docMk/>
          <pc:sldMk cId="2686291384" sldId="284"/>
        </pc:sldMkLst>
        <pc:spChg chg="mod">
          <ac:chgData name="" userId="97c7b900f41abbbd" providerId="LiveId" clId="{52D01708-918C-41F3-BB43-E59C4735540F}" dt="2020-07-15T19:52:33.271" v="127" actId="20577"/>
          <ac:spMkLst>
            <pc:docMk/>
            <pc:sldMk cId="2686291384" sldId="284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9:40.941" v="338" actId="404"/>
        <pc:sldMkLst>
          <pc:docMk/>
          <pc:sldMk cId="3451951165" sldId="285"/>
        </pc:sldMkLst>
        <pc:spChg chg="mod">
          <ac:chgData name="" userId="97c7b900f41abbbd" providerId="LiveId" clId="{52D01708-918C-41F3-BB43-E59C4735540F}" dt="2020-07-15T19:59:40.941" v="338" actId="404"/>
          <ac:spMkLst>
            <pc:docMk/>
            <pc:sldMk cId="3451951165" sldId="285"/>
            <ac:spMk id="3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2:47.221" v="147" actId="20577"/>
        <pc:sldMkLst>
          <pc:docMk/>
          <pc:sldMk cId="3983923821" sldId="286"/>
        </pc:sldMkLst>
        <pc:spChg chg="mod">
          <ac:chgData name="" userId="97c7b900f41abbbd" providerId="LiveId" clId="{52D01708-918C-41F3-BB43-E59C4735540F}" dt="2020-07-15T19:52:47.221" v="147" actId="20577"/>
          <ac:spMkLst>
            <pc:docMk/>
            <pc:sldMk cId="3983923821" sldId="286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2:50.952" v="150" actId="20577"/>
        <pc:sldMkLst>
          <pc:docMk/>
          <pc:sldMk cId="2801185881" sldId="287"/>
        </pc:sldMkLst>
        <pc:spChg chg="mod">
          <ac:chgData name="" userId="97c7b900f41abbbd" providerId="LiveId" clId="{52D01708-918C-41F3-BB43-E59C4735540F}" dt="2020-07-15T19:52:50.952" v="150" actId="20577"/>
          <ac:spMkLst>
            <pc:docMk/>
            <pc:sldMk cId="2801185881" sldId="287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2:54.482" v="154" actId="20577"/>
        <pc:sldMkLst>
          <pc:docMk/>
          <pc:sldMk cId="2558987925" sldId="288"/>
        </pc:sldMkLst>
        <pc:spChg chg="mod">
          <ac:chgData name="" userId="97c7b900f41abbbd" providerId="LiveId" clId="{52D01708-918C-41F3-BB43-E59C4735540F}" dt="2020-07-15T19:52:54.482" v="154" actId="20577"/>
          <ac:spMkLst>
            <pc:docMk/>
            <pc:sldMk cId="2558987925" sldId="288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2:58.775" v="158" actId="20577"/>
        <pc:sldMkLst>
          <pc:docMk/>
          <pc:sldMk cId="1758813171" sldId="289"/>
        </pc:sldMkLst>
        <pc:spChg chg="mod">
          <ac:chgData name="" userId="97c7b900f41abbbd" providerId="LiveId" clId="{52D01708-918C-41F3-BB43-E59C4735540F}" dt="2020-07-15T19:52:58.775" v="158" actId="20577"/>
          <ac:spMkLst>
            <pc:docMk/>
            <pc:sldMk cId="1758813171" sldId="289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3:02.941" v="162" actId="20577"/>
        <pc:sldMkLst>
          <pc:docMk/>
          <pc:sldMk cId="3998677167" sldId="290"/>
        </pc:sldMkLst>
        <pc:spChg chg="mod">
          <ac:chgData name="" userId="97c7b900f41abbbd" providerId="LiveId" clId="{52D01708-918C-41F3-BB43-E59C4735540F}" dt="2020-07-15T19:53:02.941" v="162" actId="20577"/>
          <ac:spMkLst>
            <pc:docMk/>
            <pc:sldMk cId="3998677167" sldId="290"/>
            <ac:spMk id="2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20:00:24.781" v="341" actId="20577"/>
        <pc:sldMkLst>
          <pc:docMk/>
          <pc:sldMk cId="3822942455" sldId="291"/>
        </pc:sldMkLst>
        <pc:spChg chg="mod">
          <ac:chgData name="" userId="97c7b900f41abbbd" providerId="LiveId" clId="{52D01708-918C-41F3-BB43-E59C4735540F}" dt="2020-07-15T20:00:24.781" v="341" actId="20577"/>
          <ac:spMkLst>
            <pc:docMk/>
            <pc:sldMk cId="3822942455" sldId="291"/>
            <ac:spMk id="3" creationId="{00000000-0000-0000-0000-000000000000}"/>
          </ac:spMkLst>
        </pc:spChg>
      </pc:sldChg>
      <pc:sldChg chg="modSp">
        <pc:chgData name="" userId="97c7b900f41abbbd" providerId="LiveId" clId="{52D01708-918C-41F3-BB43-E59C4735540F}" dt="2020-07-15T19:53:22.172" v="174" actId="20577"/>
        <pc:sldMkLst>
          <pc:docMk/>
          <pc:sldMk cId="1865967928" sldId="297"/>
        </pc:sldMkLst>
        <pc:spChg chg="mod">
          <ac:chgData name="" userId="97c7b900f41abbbd" providerId="LiveId" clId="{52D01708-918C-41F3-BB43-E59C4735540F}" dt="2020-07-15T19:53:22.172" v="174" actId="20577"/>
          <ac:spMkLst>
            <pc:docMk/>
            <pc:sldMk cId="1865967928" sldId="297"/>
            <ac:spMk id="2" creationId="{00000000-0000-0000-0000-000000000000}"/>
          </ac:spMkLst>
        </pc:spChg>
      </pc:sldChg>
      <pc:sldChg chg="del">
        <pc:chgData name="" userId="97c7b900f41abbbd" providerId="LiveId" clId="{52D01708-918C-41F3-BB43-E59C4735540F}" dt="2020-07-15T19:51:07.087" v="52" actId="2696"/>
        <pc:sldMkLst>
          <pc:docMk/>
          <pc:sldMk cId="141210600" sldId="298"/>
        </pc:sldMkLst>
      </pc:sldChg>
      <pc:sldChg chg="modSp add">
        <pc:chgData name="" userId="97c7b900f41abbbd" providerId="LiveId" clId="{52D01708-918C-41F3-BB43-E59C4735540F}" dt="2020-07-15T19:55:25.822" v="322" actId="20577"/>
        <pc:sldMkLst>
          <pc:docMk/>
          <pc:sldMk cId="2705415128" sldId="298"/>
        </pc:sldMkLst>
        <pc:spChg chg="mod">
          <ac:chgData name="" userId="97c7b900f41abbbd" providerId="LiveId" clId="{52D01708-918C-41F3-BB43-E59C4735540F}" dt="2020-07-15T19:54:41.706" v="198" actId="20577"/>
          <ac:spMkLst>
            <pc:docMk/>
            <pc:sldMk cId="2705415128" sldId="298"/>
            <ac:spMk id="2" creationId="{00000000-0000-0000-0000-000000000000}"/>
          </ac:spMkLst>
        </pc:spChg>
        <pc:spChg chg="mod">
          <ac:chgData name="" userId="97c7b900f41abbbd" providerId="LiveId" clId="{52D01708-918C-41F3-BB43-E59C4735540F}" dt="2020-07-15T19:55:25.822" v="322" actId="20577"/>
          <ac:spMkLst>
            <pc:docMk/>
            <pc:sldMk cId="2705415128" sldId="29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More repetition</a:t>
            </a:r>
          </a:p>
        </p:txBody>
      </p:sp>
    </p:spTree>
    <p:extLst>
      <p:ext uri="{BB962C8B-B14F-4D97-AF65-F5344CB8AC3E}">
        <p14:creationId xmlns:p14="http://schemas.microsoft.com/office/powerpoint/2010/main" val="4234397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begin ……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What is the </a:t>
            </a:r>
            <a:r>
              <a:rPr lang="en-US" sz="4400" b="1" dirty="0"/>
              <a:t>assignment operator</a:t>
            </a:r>
            <a:r>
              <a:rPr lang="en-US" sz="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7496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The equal sign</a:t>
            </a:r>
          </a:p>
        </p:txBody>
      </p:sp>
      <p:pic>
        <p:nvPicPr>
          <p:cNvPr id="4" name="Content Placeholder 3" descr="equal sig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363" y="2028825"/>
            <a:ext cx="3657600" cy="3657600"/>
          </a:xfrm>
        </p:spPr>
      </p:pic>
    </p:spTree>
    <p:extLst>
      <p:ext uri="{BB962C8B-B14F-4D97-AF65-F5344CB8AC3E}">
        <p14:creationId xmlns:p14="http://schemas.microsoft.com/office/powerpoint/2010/main" val="3983474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What is an </a:t>
            </a:r>
            <a:r>
              <a:rPr lang="en-US" sz="4400" b="1" dirty="0"/>
              <a:t>assignment statement</a:t>
            </a:r>
            <a:r>
              <a:rPr lang="en-US" sz="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0701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statement used to assign a value to a variable while a program is running.</a:t>
            </a:r>
          </a:p>
          <a:p>
            <a:endParaRPr lang="en-US" sz="3600" dirty="0"/>
          </a:p>
          <a:p>
            <a:r>
              <a:rPr lang="en-US" sz="3600" dirty="0"/>
              <a:t>Example:</a:t>
            </a:r>
          </a:p>
          <a:p>
            <a:r>
              <a:rPr lang="en-US" sz="3600" dirty="0"/>
              <a:t>age = age + 10;</a:t>
            </a:r>
          </a:p>
        </p:txBody>
      </p:sp>
    </p:spTree>
    <p:extLst>
      <p:ext uri="{BB962C8B-B14F-4D97-AF65-F5344CB8AC3E}">
        <p14:creationId xmlns:p14="http://schemas.microsoft.com/office/powerpoint/2010/main" val="2315008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When can you </a:t>
            </a:r>
            <a:r>
              <a:rPr lang="en-US" sz="4400" b="1" dirty="0"/>
              <a:t>not</a:t>
            </a:r>
            <a:r>
              <a:rPr lang="en-US" sz="4400" dirty="0"/>
              <a:t> use an assignment statement?</a:t>
            </a:r>
          </a:p>
        </p:txBody>
      </p:sp>
    </p:spTree>
    <p:extLst>
      <p:ext uri="{BB962C8B-B14F-4D97-AF65-F5344CB8AC3E}">
        <p14:creationId xmlns:p14="http://schemas.microsoft.com/office/powerpoint/2010/main" val="3958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3a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You </a:t>
            </a:r>
            <a:r>
              <a:rPr lang="en-US" sz="4400" b="1" dirty="0"/>
              <a:t>cannot</a:t>
            </a:r>
            <a:r>
              <a:rPr lang="en-US" sz="4400" dirty="0"/>
              <a:t> use an assignment statement to assign a value to a </a:t>
            </a:r>
            <a:r>
              <a:rPr lang="en-US" sz="4400" b="1" dirty="0"/>
              <a:t>named constant </a:t>
            </a:r>
            <a:r>
              <a:rPr lang="en-US" sz="4400" dirty="0"/>
              <a:t>because the contents of a named constant cannot be changed during runtime.</a:t>
            </a:r>
          </a:p>
        </p:txBody>
      </p:sp>
    </p:spTree>
    <p:extLst>
      <p:ext uri="{BB962C8B-B14F-4D97-AF65-F5344CB8AC3E}">
        <p14:creationId xmlns:p14="http://schemas.microsoft.com/office/powerpoint/2010/main" val="1201234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3b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You </a:t>
            </a:r>
            <a:r>
              <a:rPr lang="en-US" sz="4400" b="1" dirty="0"/>
              <a:t>cannot</a:t>
            </a:r>
            <a:r>
              <a:rPr lang="en-US" sz="4400" dirty="0"/>
              <a:t> use an assignment statement when you should be using an comparison. For example, </a:t>
            </a:r>
          </a:p>
          <a:p>
            <a:r>
              <a:rPr lang="en-US" sz="4400" dirty="0"/>
              <a:t>While (x == 1)</a:t>
            </a:r>
          </a:p>
          <a:p>
            <a:r>
              <a:rPr lang="en-US" sz="4400" dirty="0"/>
              <a:t>This is a comparison, not an assignment.</a:t>
            </a:r>
          </a:p>
        </p:txBody>
      </p:sp>
    </p:spTree>
    <p:extLst>
      <p:ext uri="{BB962C8B-B14F-4D97-AF65-F5344CB8AC3E}">
        <p14:creationId xmlns:p14="http://schemas.microsoft.com/office/powerpoint/2010/main" val="2705415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8 – more on the </a:t>
            </a:r>
            <a:r>
              <a:rPr lang="en-US" b="1" dirty="0"/>
              <a:t>repetition</a:t>
            </a:r>
            <a:r>
              <a:rPr lang="en-US" dirty="0"/>
              <a:t> </a:t>
            </a:r>
            <a:r>
              <a:rPr lang="en-US" b="1" dirty="0"/>
              <a:t>structure</a:t>
            </a:r>
          </a:p>
        </p:txBody>
      </p:sp>
      <p:pic>
        <p:nvPicPr>
          <p:cNvPr id="4" name="Content Placeholder 3" descr="dart board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113" y="1884900"/>
            <a:ext cx="4583821" cy="4022725"/>
          </a:xfrm>
        </p:spPr>
      </p:pic>
    </p:spTree>
    <p:extLst>
      <p:ext uri="{BB962C8B-B14F-4D97-AF65-F5344CB8AC3E}">
        <p14:creationId xmlns:p14="http://schemas.microsoft.com/office/powerpoint/2010/main" val="1506226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you enter 5, 8, 9 and -1, how many times will the </a:t>
            </a:r>
            <a:r>
              <a:rPr lang="en-US" sz="3200" b="1" dirty="0"/>
              <a:t>condition</a:t>
            </a:r>
            <a:r>
              <a:rPr lang="en-US" sz="3200" dirty="0"/>
              <a:t> in the algorithm below be evaluated?</a:t>
            </a:r>
          </a:p>
          <a:p>
            <a:r>
              <a:rPr lang="en-US" sz="3200" dirty="0"/>
              <a:t>1. enter number</a:t>
            </a:r>
          </a:p>
          <a:p>
            <a:r>
              <a:rPr lang="en-US" sz="3200" dirty="0"/>
              <a:t>2. repeat while (</a:t>
            </a:r>
            <a:r>
              <a:rPr lang="en-US" sz="3200" b="1" dirty="0"/>
              <a:t>number is greater than or equal to 0</a:t>
            </a:r>
            <a:r>
              <a:rPr lang="en-US" sz="3200" dirty="0"/>
              <a:t>)</a:t>
            </a:r>
          </a:p>
          <a:p>
            <a:pPr lvl="2"/>
            <a:r>
              <a:rPr lang="en-US" sz="3200" dirty="0"/>
              <a:t>Display number</a:t>
            </a:r>
          </a:p>
          <a:p>
            <a:pPr lvl="2"/>
            <a:r>
              <a:rPr lang="en-US" sz="3200" dirty="0"/>
              <a:t>Enter number</a:t>
            </a:r>
          </a:p>
          <a:p>
            <a:pPr lvl="2"/>
            <a:r>
              <a:rPr lang="en-US" sz="3200" dirty="0"/>
              <a:t>End repeat</a:t>
            </a:r>
          </a:p>
        </p:txBody>
      </p:sp>
    </p:spTree>
    <p:extLst>
      <p:ext uri="{BB962C8B-B14F-4D97-AF65-F5344CB8AC3E}">
        <p14:creationId xmlns:p14="http://schemas.microsoft.com/office/powerpoint/2010/main" val="1564137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97589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you enter -4, how many times will the </a:t>
            </a:r>
            <a:r>
              <a:rPr lang="en-US" sz="3200" b="1" dirty="0"/>
              <a:t>condition</a:t>
            </a:r>
            <a:r>
              <a:rPr lang="en-US" sz="3200" dirty="0"/>
              <a:t> in the algorithm below be evaluated?</a:t>
            </a:r>
          </a:p>
          <a:p>
            <a:r>
              <a:rPr lang="en-US" sz="3200" dirty="0"/>
              <a:t>1. enter number</a:t>
            </a:r>
          </a:p>
          <a:p>
            <a:r>
              <a:rPr lang="en-US" sz="3200" dirty="0"/>
              <a:t>2. repeat while (</a:t>
            </a:r>
            <a:r>
              <a:rPr lang="en-US" sz="3200" b="1" dirty="0"/>
              <a:t>number is greater than or equal to 0</a:t>
            </a:r>
            <a:r>
              <a:rPr lang="en-US" sz="3200" dirty="0"/>
              <a:t>)</a:t>
            </a:r>
          </a:p>
          <a:p>
            <a:pPr lvl="2"/>
            <a:r>
              <a:rPr lang="en-US" sz="3200" dirty="0"/>
              <a:t>Display number</a:t>
            </a:r>
          </a:p>
          <a:p>
            <a:pPr lvl="2"/>
            <a:r>
              <a:rPr lang="en-US" sz="3200" dirty="0"/>
              <a:t>Enter number</a:t>
            </a:r>
          </a:p>
          <a:p>
            <a:pPr lvl="2"/>
            <a:r>
              <a:rPr lang="en-US" sz="3200" dirty="0"/>
              <a:t>End repeat</a:t>
            </a:r>
          </a:p>
        </p:txBody>
      </p:sp>
    </p:spTree>
    <p:extLst>
      <p:ext uri="{BB962C8B-B14F-4D97-AF65-F5344CB8AC3E}">
        <p14:creationId xmlns:p14="http://schemas.microsoft.com/office/powerpoint/2010/main" val="155307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0701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you enter 5, 8, 9 and -1, how many times will the </a:t>
            </a:r>
            <a:r>
              <a:rPr lang="en-US" sz="3200" b="1" dirty="0"/>
              <a:t>condition</a:t>
            </a:r>
            <a:r>
              <a:rPr lang="en-US" sz="3200" dirty="0"/>
              <a:t> in the algorithm below be evaluated?</a:t>
            </a:r>
          </a:p>
          <a:p>
            <a:r>
              <a:rPr lang="en-US" sz="3200" dirty="0"/>
              <a:t>1. enter number</a:t>
            </a:r>
          </a:p>
          <a:p>
            <a:r>
              <a:rPr lang="en-US" sz="3200" dirty="0"/>
              <a:t>2. repeat </a:t>
            </a:r>
          </a:p>
          <a:p>
            <a:pPr lvl="2"/>
            <a:r>
              <a:rPr lang="en-US" sz="3200" dirty="0"/>
              <a:t>Display number</a:t>
            </a:r>
          </a:p>
          <a:p>
            <a:pPr lvl="2"/>
            <a:r>
              <a:rPr lang="en-US" sz="3200" dirty="0"/>
              <a:t>Enter number</a:t>
            </a:r>
          </a:p>
          <a:p>
            <a:pPr lvl="2"/>
            <a:r>
              <a:rPr lang="en-US" sz="3200" dirty="0"/>
              <a:t>End repeat while (</a:t>
            </a:r>
            <a:r>
              <a:rPr lang="en-US" sz="3200" b="1" dirty="0"/>
              <a:t>number is greater than or equal to 0</a:t>
            </a:r>
            <a:r>
              <a:rPr lang="en-US" sz="3200" dirty="0"/>
              <a:t>)</a:t>
            </a:r>
          </a:p>
          <a:p>
            <a:pPr lvl="2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80996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09520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you enter 0 and -4, how many times will the </a:t>
            </a:r>
            <a:r>
              <a:rPr lang="en-US" sz="3200" b="1" dirty="0"/>
              <a:t>condition</a:t>
            </a:r>
            <a:r>
              <a:rPr lang="en-US" sz="3200" dirty="0"/>
              <a:t> in the algorithm below be evaluated?</a:t>
            </a:r>
          </a:p>
          <a:p>
            <a:r>
              <a:rPr lang="en-US" sz="3200" dirty="0"/>
              <a:t>1. enter number</a:t>
            </a:r>
          </a:p>
          <a:p>
            <a:r>
              <a:rPr lang="en-US" sz="3200" dirty="0"/>
              <a:t>2. repeat </a:t>
            </a:r>
          </a:p>
          <a:p>
            <a:pPr lvl="2"/>
            <a:r>
              <a:rPr lang="en-US" sz="3200" dirty="0"/>
              <a:t>Display number</a:t>
            </a:r>
          </a:p>
          <a:p>
            <a:pPr lvl="2"/>
            <a:r>
              <a:rPr lang="en-US" sz="3200" dirty="0"/>
              <a:t>Enter number</a:t>
            </a:r>
          </a:p>
          <a:p>
            <a:pPr lvl="2"/>
            <a:r>
              <a:rPr lang="en-US" sz="3200" dirty="0"/>
              <a:t>End repeat while (</a:t>
            </a:r>
            <a:r>
              <a:rPr lang="en-US" sz="3200" b="1" dirty="0"/>
              <a:t>number is greater than or equal to 0</a:t>
            </a:r>
            <a:r>
              <a:rPr lang="en-US" sz="3200" dirty="0"/>
              <a:t>)</a:t>
            </a:r>
          </a:p>
          <a:p>
            <a:pPr lvl="2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84179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3338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the difference in the condition evaluation between the previous loops?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ln w="76200">
            <a:solidFill>
              <a:schemeClr val="tx1"/>
            </a:solidFill>
          </a:ln>
        </p:spPr>
        <p:txBody>
          <a:bodyPr/>
          <a:lstStyle/>
          <a:p>
            <a:r>
              <a:rPr lang="en-US" sz="3200" dirty="0"/>
              <a:t>enter number</a:t>
            </a:r>
          </a:p>
          <a:p>
            <a:r>
              <a:rPr lang="en-US" sz="3200" dirty="0"/>
              <a:t>repeat while (</a:t>
            </a:r>
            <a:r>
              <a:rPr lang="en-US" sz="3200" b="1" dirty="0"/>
              <a:t>number is greater than or equal to 0</a:t>
            </a:r>
            <a:r>
              <a:rPr lang="en-US" sz="3200" dirty="0"/>
              <a:t>)</a:t>
            </a:r>
          </a:p>
          <a:p>
            <a:pPr lvl="2"/>
            <a:r>
              <a:rPr lang="en-US" sz="3200" dirty="0"/>
              <a:t>Display number</a:t>
            </a:r>
          </a:p>
          <a:p>
            <a:pPr lvl="2"/>
            <a:r>
              <a:rPr lang="en-US" sz="3200" dirty="0"/>
              <a:t>Enter number</a:t>
            </a:r>
          </a:p>
          <a:p>
            <a:pPr lvl="2"/>
            <a:r>
              <a:rPr lang="en-US" sz="3200" dirty="0"/>
              <a:t>End repeat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ln w="57150">
            <a:solidFill>
              <a:srgbClr val="0070C0"/>
            </a:solidFill>
          </a:ln>
        </p:spPr>
        <p:txBody>
          <a:bodyPr/>
          <a:lstStyle/>
          <a:p>
            <a:r>
              <a:rPr lang="en-US" sz="3200" dirty="0"/>
              <a:t>enter number</a:t>
            </a:r>
          </a:p>
          <a:p>
            <a:r>
              <a:rPr lang="en-US" sz="3200" dirty="0"/>
              <a:t>repeat </a:t>
            </a:r>
          </a:p>
          <a:p>
            <a:pPr lvl="2"/>
            <a:r>
              <a:rPr lang="en-US" sz="3200" dirty="0"/>
              <a:t>Display number</a:t>
            </a:r>
          </a:p>
          <a:p>
            <a:pPr lvl="2"/>
            <a:r>
              <a:rPr lang="en-US" sz="3200" dirty="0"/>
              <a:t>Enter number</a:t>
            </a:r>
          </a:p>
          <a:p>
            <a:pPr lvl="2"/>
            <a:r>
              <a:rPr lang="en-US" sz="3200" dirty="0"/>
              <a:t>End repeat while (</a:t>
            </a:r>
            <a:r>
              <a:rPr lang="en-US" sz="3200" b="1" dirty="0"/>
              <a:t>number is greater than or equal to 0</a:t>
            </a:r>
            <a:r>
              <a:rPr lang="en-US" sz="32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28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63526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dirty="0"/>
              <a:t>Answer: What was the </a:t>
            </a:r>
            <a:r>
              <a:rPr lang="en-US" b="1" dirty="0"/>
              <a:t>difference</a:t>
            </a:r>
            <a:r>
              <a:rPr lang="en-US" dirty="0"/>
              <a:t> in the condition evaluation between the previous loops?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ln w="76200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enter number</a:t>
            </a:r>
          </a:p>
          <a:p>
            <a:r>
              <a:rPr lang="en-US" sz="3200" dirty="0"/>
              <a:t>repeat while (</a:t>
            </a:r>
            <a:r>
              <a:rPr lang="en-US" sz="3200" b="1" dirty="0"/>
              <a:t>number is greater than or equal to 0</a:t>
            </a:r>
            <a:r>
              <a:rPr lang="en-US" sz="3200" dirty="0"/>
              <a:t>)</a:t>
            </a:r>
          </a:p>
          <a:p>
            <a:pPr lvl="2"/>
            <a:r>
              <a:rPr lang="en-US" sz="3200" dirty="0"/>
              <a:t>Display number</a:t>
            </a:r>
          </a:p>
          <a:p>
            <a:pPr lvl="2"/>
            <a:r>
              <a:rPr lang="en-US" sz="3200" dirty="0"/>
              <a:t>Enter number</a:t>
            </a:r>
          </a:p>
          <a:p>
            <a:pPr lvl="2"/>
            <a:r>
              <a:rPr lang="en-US" sz="3200" dirty="0"/>
              <a:t>End repeat</a:t>
            </a:r>
          </a:p>
          <a:p>
            <a:r>
              <a:rPr lang="en-US" dirty="0"/>
              <a:t> </a:t>
            </a:r>
          </a:p>
          <a:p>
            <a:r>
              <a:rPr lang="en-US" sz="5400" b="1" u="sng" dirty="0">
                <a:solidFill>
                  <a:srgbClr val="FF0000"/>
                </a:solidFill>
              </a:rPr>
              <a:t>Pretest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ln w="57150">
            <a:solidFill>
              <a:srgbClr val="0070C0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enter number</a:t>
            </a:r>
          </a:p>
          <a:p>
            <a:r>
              <a:rPr lang="en-US" sz="3200" dirty="0"/>
              <a:t>repeat </a:t>
            </a:r>
          </a:p>
          <a:p>
            <a:pPr lvl="2"/>
            <a:r>
              <a:rPr lang="en-US" sz="3200" dirty="0"/>
              <a:t>Display number</a:t>
            </a:r>
          </a:p>
          <a:p>
            <a:pPr lvl="2"/>
            <a:r>
              <a:rPr lang="en-US" sz="3200" dirty="0"/>
              <a:t>Enter number</a:t>
            </a:r>
          </a:p>
          <a:p>
            <a:pPr lvl="2"/>
            <a:r>
              <a:rPr lang="en-US" sz="3200" dirty="0"/>
              <a:t>End repeat while (</a:t>
            </a:r>
            <a:r>
              <a:rPr lang="en-US" sz="3200" b="1" dirty="0"/>
              <a:t>number is greater than or equal to 0</a:t>
            </a:r>
            <a:r>
              <a:rPr lang="en-US" sz="3200" dirty="0"/>
              <a:t>)</a:t>
            </a:r>
          </a:p>
          <a:p>
            <a:r>
              <a:rPr lang="en-US" sz="5200" b="1" u="sng" dirty="0">
                <a:solidFill>
                  <a:srgbClr val="FF0000"/>
                </a:solidFill>
              </a:rPr>
              <a:t>Posttest</a:t>
            </a:r>
          </a:p>
        </p:txBody>
      </p:sp>
    </p:spTree>
    <p:extLst>
      <p:ext uri="{BB962C8B-B14F-4D97-AF65-F5344CB8AC3E}">
        <p14:creationId xmlns:p14="http://schemas.microsoft.com/office/powerpoint/2010/main" val="3572809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called: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00B050"/>
                </a:solidFill>
              </a:rPr>
              <a:t>Top driven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7030A0"/>
                </a:solidFill>
              </a:rPr>
              <a:t>Bottom driven</a:t>
            </a:r>
          </a:p>
        </p:txBody>
      </p:sp>
    </p:spTree>
    <p:extLst>
      <p:ext uri="{BB962C8B-B14F-4D97-AF65-F5344CB8AC3E}">
        <p14:creationId xmlns:p14="http://schemas.microsoft.com/office/powerpoint/2010/main" val="210261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now we have -----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Pretest loops (top driven)</a:t>
            </a:r>
          </a:p>
          <a:p>
            <a:r>
              <a:rPr lang="en-US" sz="3200" dirty="0"/>
              <a:t>Posttest loops (bottom driven)</a:t>
            </a:r>
          </a:p>
          <a:p>
            <a:r>
              <a:rPr lang="en-US" sz="3200" dirty="0"/>
              <a:t>While statements</a:t>
            </a:r>
          </a:p>
          <a:p>
            <a:r>
              <a:rPr lang="en-US" sz="3200" dirty="0"/>
              <a:t>For statements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And now a new statement ---------</a:t>
            </a:r>
          </a:p>
        </p:txBody>
      </p:sp>
    </p:spTree>
    <p:extLst>
      <p:ext uri="{BB962C8B-B14F-4D97-AF65-F5344CB8AC3E}">
        <p14:creationId xmlns:p14="http://schemas.microsoft.com/office/powerpoint/2010/main" val="664700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while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This is for a posttest loop only!</a:t>
            </a:r>
          </a:p>
          <a:p>
            <a:endParaRPr lang="en-US" sz="3600" dirty="0"/>
          </a:p>
          <a:p>
            <a:r>
              <a:rPr lang="en-US" sz="3600" dirty="0"/>
              <a:t>do   //begin loop</a:t>
            </a:r>
          </a:p>
          <a:p>
            <a:r>
              <a:rPr lang="en-US" sz="3600" dirty="0"/>
              <a:t>{</a:t>
            </a:r>
          </a:p>
          <a:p>
            <a:r>
              <a:rPr lang="en-US" sz="3600" dirty="0"/>
              <a:t>}</a:t>
            </a:r>
          </a:p>
          <a:p>
            <a:r>
              <a:rPr lang="en-US" sz="3600" dirty="0"/>
              <a:t>  while (condition);</a:t>
            </a:r>
          </a:p>
        </p:txBody>
      </p:sp>
    </p:spTree>
    <p:extLst>
      <p:ext uri="{BB962C8B-B14F-4D97-AF65-F5344CB8AC3E}">
        <p14:creationId xmlns:p14="http://schemas.microsoft.com/office/powerpoint/2010/main" val="2422124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9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Write a C++ </a:t>
            </a:r>
            <a:r>
              <a:rPr lang="en-US" sz="4000" i="1" dirty="0"/>
              <a:t>while</a:t>
            </a:r>
            <a:r>
              <a:rPr lang="en-US" sz="4000" dirty="0"/>
              <a:t> statement that process the body of a posttest loop as long as the value in the </a:t>
            </a:r>
            <a:r>
              <a:rPr lang="en-US" sz="4000" b="1" i="1" dirty="0"/>
              <a:t>inStock</a:t>
            </a:r>
            <a:r>
              <a:rPr lang="en-US" sz="4000" dirty="0"/>
              <a:t> variable is greater than the value in the </a:t>
            </a:r>
            <a:r>
              <a:rPr lang="en-US" sz="4000" b="1" i="1" dirty="0"/>
              <a:t>reorder</a:t>
            </a:r>
            <a:r>
              <a:rPr lang="en-US" sz="4000" dirty="0"/>
              <a:t> variable.</a:t>
            </a:r>
          </a:p>
        </p:txBody>
      </p:sp>
    </p:spTree>
    <p:extLst>
      <p:ext uri="{BB962C8B-B14F-4D97-AF65-F5344CB8AC3E}">
        <p14:creationId xmlns:p14="http://schemas.microsoft.com/office/powerpoint/2010/main" val="219995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do</a:t>
            </a:r>
          </a:p>
          <a:p>
            <a:r>
              <a:rPr lang="en-US" sz="4000" dirty="0"/>
              <a:t>{</a:t>
            </a:r>
          </a:p>
          <a:p>
            <a:r>
              <a:rPr lang="en-US" sz="4000" dirty="0"/>
              <a:t>}</a:t>
            </a:r>
          </a:p>
          <a:p>
            <a:r>
              <a:rPr lang="en-US" sz="4000" dirty="0"/>
              <a:t>while (inStock &gt; reorder);</a:t>
            </a:r>
          </a:p>
        </p:txBody>
      </p:sp>
    </p:spTree>
    <p:extLst>
      <p:ext uri="{BB962C8B-B14F-4D97-AF65-F5344CB8AC3E}">
        <p14:creationId xmlns:p14="http://schemas.microsoft.com/office/powerpoint/2010/main" val="40101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Write a C++ </a:t>
            </a:r>
            <a:r>
              <a:rPr lang="en-US" sz="5400" b="1" i="1" dirty="0"/>
              <a:t>while</a:t>
            </a:r>
            <a:r>
              <a:rPr lang="en-US" sz="5400" dirty="0"/>
              <a:t> clause that processes the body of a posttest loop as long as the value in a char variable named </a:t>
            </a:r>
            <a:r>
              <a:rPr lang="en-US" sz="5400" b="1" i="1" dirty="0"/>
              <a:t>letter</a:t>
            </a:r>
            <a:r>
              <a:rPr lang="en-US" sz="5400" dirty="0"/>
              <a:t> is either Y or y. Use the toupper function.</a:t>
            </a:r>
          </a:p>
        </p:txBody>
      </p:sp>
    </p:spTree>
    <p:extLst>
      <p:ext uri="{BB962C8B-B14F-4D97-AF65-F5344CB8AC3E}">
        <p14:creationId xmlns:p14="http://schemas.microsoft.com/office/powerpoint/2010/main" val="1898255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56" y="1845734"/>
            <a:ext cx="10058400" cy="4023360"/>
          </a:xfrm>
        </p:spPr>
        <p:txBody>
          <a:bodyPr>
            <a:normAutofit/>
          </a:bodyPr>
          <a:lstStyle/>
          <a:p>
            <a:r>
              <a:rPr lang="en-US" sz="4400" dirty="0"/>
              <a:t>do</a:t>
            </a:r>
          </a:p>
          <a:p>
            <a:r>
              <a:rPr lang="en-US" sz="4400" dirty="0"/>
              <a:t>{</a:t>
            </a:r>
          </a:p>
          <a:p>
            <a:r>
              <a:rPr lang="en-US" sz="4400" dirty="0"/>
              <a:t>}</a:t>
            </a:r>
          </a:p>
          <a:p>
            <a:r>
              <a:rPr lang="en-US" sz="4400" dirty="0"/>
              <a:t>while (toupper(letter) == ‘Y’);</a:t>
            </a:r>
          </a:p>
        </p:txBody>
      </p:sp>
    </p:spTree>
    <p:extLst>
      <p:ext uri="{BB962C8B-B14F-4D97-AF65-F5344CB8AC3E}">
        <p14:creationId xmlns:p14="http://schemas.microsoft.com/office/powerpoint/2010/main" val="960477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Repetition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You can place a loop within a loop.</a:t>
            </a:r>
          </a:p>
          <a:p>
            <a:r>
              <a:rPr lang="en-US" sz="4800" dirty="0"/>
              <a:t>You will have an outer loop and an inner loop.</a:t>
            </a:r>
          </a:p>
          <a:p>
            <a:r>
              <a:rPr lang="en-US" sz="4800" dirty="0"/>
              <a:t>You can mix pretest and posttest loops!</a:t>
            </a:r>
          </a:p>
        </p:txBody>
      </p:sp>
    </p:spTree>
    <p:extLst>
      <p:ext uri="{BB962C8B-B14F-4D97-AF65-F5344CB8AC3E}">
        <p14:creationId xmlns:p14="http://schemas.microsoft.com/office/powerpoint/2010/main" val="3829536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decides what to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The programmer decides after studying the problem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2671676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for (int line = 1; line &lt; 4; line += 1)</a:t>
            </a:r>
          </a:p>
          <a:p>
            <a:r>
              <a:rPr lang="en-US" sz="4400" dirty="0"/>
              <a:t>{</a:t>
            </a:r>
          </a:p>
          <a:p>
            <a:r>
              <a:rPr lang="en-US" sz="4400" dirty="0"/>
              <a:t>cout &lt;&lt; “*” &lt;&lt; endl;</a:t>
            </a:r>
          </a:p>
          <a:p>
            <a:r>
              <a:rPr lang="en-US" sz="4400" dirty="0"/>
              <a:t>}</a:t>
            </a:r>
          </a:p>
          <a:p>
            <a:r>
              <a:rPr lang="en-US" sz="4400" dirty="0"/>
              <a:t>//endfor</a:t>
            </a:r>
          </a:p>
        </p:txBody>
      </p:sp>
    </p:spTree>
    <p:extLst>
      <p:ext uri="{BB962C8B-B14F-4D97-AF65-F5344CB8AC3E}">
        <p14:creationId xmlns:p14="http://schemas.microsoft.com/office/powerpoint/2010/main" val="1737880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for Previous How does this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*</a:t>
            </a:r>
          </a:p>
          <a:p>
            <a:r>
              <a:rPr lang="en-US" sz="5400" dirty="0"/>
              <a:t>*</a:t>
            </a:r>
          </a:p>
          <a:p>
            <a:r>
              <a:rPr lang="en-US" sz="54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686291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19179"/>
            <a:ext cx="10058400" cy="975526"/>
          </a:xfrm>
        </p:spPr>
        <p:txBody>
          <a:bodyPr/>
          <a:lstStyle/>
          <a:p>
            <a:r>
              <a:rPr lang="en-US" dirty="0"/>
              <a:t>Now a twist! What is this doing?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062" y="1094705"/>
            <a:ext cx="11985938" cy="5203064"/>
          </a:xfrm>
        </p:spPr>
        <p:txBody>
          <a:bodyPr>
            <a:noAutofit/>
          </a:bodyPr>
          <a:lstStyle/>
          <a:p>
            <a:r>
              <a:rPr lang="en-US" sz="2800" dirty="0"/>
              <a:t>for (int line = 1; line &lt; 5; line = line +1);</a:t>
            </a:r>
          </a:p>
          <a:p>
            <a:r>
              <a:rPr lang="en-US" sz="2800" dirty="0"/>
              <a:t>{</a:t>
            </a:r>
          </a:p>
          <a:p>
            <a:pPr marL="384048" lvl="2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for (int numAsterisks = 1; numAsterisks &lt; 4; numAsterisks += 1)</a:t>
            </a:r>
          </a:p>
          <a:p>
            <a:pPr marL="384048" lvl="2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{</a:t>
            </a:r>
          </a:p>
          <a:p>
            <a:pPr marL="917120" lvl="5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cout &lt;&lt; “*”;</a:t>
            </a:r>
          </a:p>
          <a:p>
            <a:pPr marL="384048" lvl="2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  <a:p>
            <a:pPr marL="384048" lvl="2" indent="0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//end for</a:t>
            </a:r>
          </a:p>
          <a:p>
            <a:pPr marL="384048" lvl="2" indent="0">
              <a:buNone/>
            </a:pPr>
            <a:r>
              <a:rPr lang="en-US" sz="2800" dirty="0"/>
              <a:t>cout &lt;&lt; endl;</a:t>
            </a:r>
          </a:p>
          <a:p>
            <a:pPr marL="0">
              <a:buNone/>
            </a:pPr>
            <a:r>
              <a:rPr lang="en-US" sz="2800" dirty="0"/>
              <a:t>} // end for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51951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for Previous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***</a:t>
            </a:r>
          </a:p>
          <a:p>
            <a:r>
              <a:rPr lang="en-US" sz="3600" dirty="0"/>
              <a:t>***</a:t>
            </a:r>
          </a:p>
          <a:p>
            <a:r>
              <a:rPr lang="en-US" sz="3600" dirty="0"/>
              <a:t>***</a:t>
            </a:r>
          </a:p>
          <a:p>
            <a:r>
              <a:rPr lang="en-US" sz="3600" dirty="0"/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3983923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11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nested loop can be a pretest loop only?</a:t>
            </a:r>
          </a:p>
          <a:p>
            <a:r>
              <a:rPr lang="en-US" sz="4800" dirty="0"/>
              <a:t>True or false?</a:t>
            </a:r>
          </a:p>
        </p:txBody>
      </p:sp>
    </p:spTree>
    <p:extLst>
      <p:ext uri="{BB962C8B-B14F-4D97-AF65-F5344CB8AC3E}">
        <p14:creationId xmlns:p14="http://schemas.microsoft.com/office/powerpoint/2010/main" val="2801185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558987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800" dirty="0"/>
              <a:t>Consider a clock’s hour and minute hands only. The hour hand is controlled by a(n) _________ loop, while the minute hand is controlled by a(n) ________loop.</a:t>
            </a:r>
          </a:p>
          <a:p>
            <a:r>
              <a:rPr lang="en-US" sz="4800" dirty="0"/>
              <a:t>a. outer, nested   b. nested, outer</a:t>
            </a:r>
          </a:p>
        </p:txBody>
      </p:sp>
    </p:spTree>
    <p:extLst>
      <p:ext uri="{BB962C8B-B14F-4D97-AF65-F5344CB8AC3E}">
        <p14:creationId xmlns:p14="http://schemas.microsoft.com/office/powerpoint/2010/main" val="1758813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Consider a clock’s hour and minute hands only. The hour hand is controlled by a(n) </a:t>
            </a:r>
            <a:r>
              <a:rPr lang="en-US" sz="4800" i="1" u="sng" dirty="0">
                <a:solidFill>
                  <a:schemeClr val="accent1">
                    <a:lumMod val="75000"/>
                  </a:schemeClr>
                </a:solidFill>
              </a:rPr>
              <a:t>outer</a:t>
            </a:r>
            <a:r>
              <a:rPr lang="en-US" sz="4800" dirty="0"/>
              <a:t> loop, while the minute hand is controlled by a(n) </a:t>
            </a:r>
            <a:r>
              <a:rPr lang="en-US" sz="4800" i="1" u="sng" dirty="0">
                <a:solidFill>
                  <a:schemeClr val="accent1">
                    <a:lumMod val="75000"/>
                  </a:schemeClr>
                </a:solidFill>
              </a:rPr>
              <a:t>nested</a:t>
            </a:r>
            <a:r>
              <a:rPr lang="en-US" sz="4800" dirty="0"/>
              <a:t> loop.</a:t>
            </a:r>
          </a:p>
        </p:txBody>
      </p:sp>
    </p:spTree>
    <p:extLst>
      <p:ext uri="{BB962C8B-B14F-4D97-AF65-F5344CB8AC3E}">
        <p14:creationId xmlns:p14="http://schemas.microsoft.com/office/powerpoint/2010/main" val="3998677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function for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pow</a:t>
            </a:r>
            <a:r>
              <a:rPr lang="en-US" sz="4000" dirty="0"/>
              <a:t> function</a:t>
            </a:r>
          </a:p>
          <a:p>
            <a:r>
              <a:rPr lang="en-US" sz="4000" dirty="0"/>
              <a:t>For exponentiation</a:t>
            </a:r>
          </a:p>
          <a:p>
            <a:r>
              <a:rPr lang="en-US" sz="4000" dirty="0"/>
              <a:t>Raises a number to a power and returns the result as a double number.</a:t>
            </a:r>
          </a:p>
        </p:txBody>
      </p:sp>
    </p:spTree>
    <p:extLst>
      <p:ext uri="{BB962C8B-B14F-4D97-AF65-F5344CB8AC3E}">
        <p14:creationId xmlns:p14="http://schemas.microsoft.com/office/powerpoint/2010/main" val="3822942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Looks like this!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pow(x, y)</a:t>
            </a:r>
          </a:p>
          <a:p>
            <a:endParaRPr lang="en-US" sz="3200" dirty="0"/>
          </a:p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double cube = 0.0;</a:t>
            </a:r>
          </a:p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cube = pow(4.0, 3);</a:t>
            </a:r>
          </a:p>
          <a:p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Therefore, cube = 64</a:t>
            </a:r>
          </a:p>
        </p:txBody>
      </p:sp>
    </p:spTree>
    <p:extLst>
      <p:ext uri="{BB962C8B-B14F-4D97-AF65-F5344CB8AC3E}">
        <p14:creationId xmlns:p14="http://schemas.microsoft.com/office/powerpoint/2010/main" val="3343042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function, new 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#include &lt;cmath&gt;</a:t>
            </a:r>
          </a:p>
        </p:txBody>
      </p:sp>
    </p:spTree>
    <p:extLst>
      <p:ext uri="{BB962C8B-B14F-4D97-AF65-F5344CB8AC3E}">
        <p14:creationId xmlns:p14="http://schemas.microsoft.com/office/powerpoint/2010/main" val="27823321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know 3 includes: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#include &lt;iostream&gt;</a:t>
            </a:r>
          </a:p>
          <a:p>
            <a:r>
              <a:rPr lang="en-US" sz="6600" dirty="0"/>
              <a:t>#include &lt;iomanip&gt;</a:t>
            </a:r>
          </a:p>
          <a:p>
            <a:r>
              <a:rPr lang="en-US" sz="6600" dirty="0"/>
              <a:t>#include &lt;cmath&gt;</a:t>
            </a:r>
          </a:p>
        </p:txBody>
      </p:sp>
    </p:spTree>
    <p:extLst>
      <p:ext uri="{BB962C8B-B14F-4D97-AF65-F5344CB8AC3E}">
        <p14:creationId xmlns:p14="http://schemas.microsoft.com/office/powerpoint/2010/main" val="14388289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advice?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Put all the </a:t>
            </a:r>
            <a:r>
              <a:rPr lang="en-US" sz="5400" i="1" dirty="0"/>
              <a:t>includes</a:t>
            </a:r>
            <a:r>
              <a:rPr lang="en-US" sz="5400" dirty="0"/>
              <a:t> in your programs whether you need them or not.</a:t>
            </a:r>
          </a:p>
        </p:txBody>
      </p:sp>
    </p:spTree>
    <p:extLst>
      <p:ext uri="{BB962C8B-B14F-4D97-AF65-F5344CB8AC3E}">
        <p14:creationId xmlns:p14="http://schemas.microsoft.com/office/powerpoint/2010/main" val="3804859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of the 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What are </a:t>
            </a:r>
            <a:r>
              <a:rPr lang="en-US" sz="5400" i="1" dirty="0">
                <a:solidFill>
                  <a:schemeClr val="accent1">
                    <a:lumMod val="75000"/>
                  </a:schemeClr>
                </a:solidFill>
              </a:rPr>
              <a:t>fundamental data types</a:t>
            </a:r>
            <a:r>
              <a:rPr lang="en-US" sz="5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84379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of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/>
              <a:t>Fundamental data types are the basic data types built into the C++ language. </a:t>
            </a:r>
          </a:p>
          <a:p>
            <a:r>
              <a:rPr lang="en-US" sz="3200" dirty="0"/>
              <a:t>Sometimes called primitive data types.</a:t>
            </a:r>
          </a:p>
          <a:p>
            <a:endParaRPr lang="en-US" sz="3200" dirty="0"/>
          </a:p>
          <a:p>
            <a:r>
              <a:rPr lang="en-US" sz="3200" dirty="0"/>
              <a:t>Examples: int, double, float, char, bool,  short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String is not one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659679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104</TotalTime>
  <Words>1028</Words>
  <Application>Microsoft Office PowerPoint</Application>
  <PresentationFormat>Widescreen</PresentationFormat>
  <Paragraphs>184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Retrospect</vt:lpstr>
      <vt:lpstr>Chapter 8</vt:lpstr>
      <vt:lpstr>Before we begin ……</vt:lpstr>
      <vt:lpstr>Answer: The equal sign</vt:lpstr>
      <vt:lpstr>Question 2</vt:lpstr>
      <vt:lpstr>Answer 2</vt:lpstr>
      <vt:lpstr>Question 3</vt:lpstr>
      <vt:lpstr>Answer 3a</vt:lpstr>
      <vt:lpstr>Answer 3b</vt:lpstr>
      <vt:lpstr>Chapter 8 – more on the repetition structure</vt:lpstr>
      <vt:lpstr>Question 4 </vt:lpstr>
      <vt:lpstr>Answer 4</vt:lpstr>
      <vt:lpstr>Question 5 </vt:lpstr>
      <vt:lpstr>Answer 5</vt:lpstr>
      <vt:lpstr>Question 6 </vt:lpstr>
      <vt:lpstr>Answer 6</vt:lpstr>
      <vt:lpstr>Question 7 </vt:lpstr>
      <vt:lpstr>Answer 7</vt:lpstr>
      <vt:lpstr>What was the difference in the condition evaluation between the previous loops?</vt:lpstr>
      <vt:lpstr>Answer: What was the difference in the condition evaluation between the previous loops?</vt:lpstr>
      <vt:lpstr>Also called:</vt:lpstr>
      <vt:lpstr>So, now we have -----</vt:lpstr>
      <vt:lpstr>do while statement</vt:lpstr>
      <vt:lpstr>Question 9 </vt:lpstr>
      <vt:lpstr>Answer 9</vt:lpstr>
      <vt:lpstr>Question 10</vt:lpstr>
      <vt:lpstr>Answer 10</vt:lpstr>
      <vt:lpstr>Nested Repetition Structures</vt:lpstr>
      <vt:lpstr>Who decides what to use?</vt:lpstr>
      <vt:lpstr>How does this work?</vt:lpstr>
      <vt:lpstr>Answer for Previous How does this work?</vt:lpstr>
      <vt:lpstr>Now a twist! What is this doing?</vt:lpstr>
      <vt:lpstr>Answer for Previous Slide</vt:lpstr>
      <vt:lpstr>Question 11  </vt:lpstr>
      <vt:lpstr>Answer 11</vt:lpstr>
      <vt:lpstr>Question 12</vt:lpstr>
      <vt:lpstr>Answer 12</vt:lpstr>
      <vt:lpstr>New function for you!</vt:lpstr>
      <vt:lpstr>Looks like this!</vt:lpstr>
      <vt:lpstr>New function, new include</vt:lpstr>
      <vt:lpstr>Now you know 3 includes:</vt:lpstr>
      <vt:lpstr>My advice?</vt:lpstr>
      <vt:lpstr>Question of the day?</vt:lpstr>
      <vt:lpstr>Answer of the day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laptop</dc:creator>
  <cp:lastModifiedBy>Kelly Hinson</cp:lastModifiedBy>
  <cp:revision>14</cp:revision>
  <dcterms:created xsi:type="dcterms:W3CDTF">2014-03-29T21:55:44Z</dcterms:created>
  <dcterms:modified xsi:type="dcterms:W3CDTF">2020-07-15T20:00:50Z</dcterms:modified>
</cp:coreProperties>
</file>