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67" r:id="rId15"/>
    <p:sldId id="268" r:id="rId16"/>
    <p:sldId id="269" r:id="rId17"/>
    <p:sldId id="270" r:id="rId18"/>
    <p:sldId id="271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E817F4B4-5D52-4DFC-85EC-2D4FAE2FB7BD}"/>
    <pc:docChg chg="modSld">
      <pc:chgData name="" userId="97c7b900f41abbbd" providerId="LiveId" clId="{E817F4B4-5D52-4DFC-85EC-2D4FAE2FB7BD}" dt="2020-07-15T17:21:40.898" v="2" actId="115"/>
      <pc:docMkLst>
        <pc:docMk/>
      </pc:docMkLst>
      <pc:sldChg chg="modSp">
        <pc:chgData name="" userId="97c7b900f41abbbd" providerId="LiveId" clId="{E817F4B4-5D52-4DFC-85EC-2D4FAE2FB7BD}" dt="2020-07-15T17:21:40.898" v="2" actId="115"/>
        <pc:sldMkLst>
          <pc:docMk/>
          <pc:sldMk cId="2480638249" sldId="266"/>
        </pc:sldMkLst>
        <pc:spChg chg="mod">
          <ac:chgData name="" userId="97c7b900f41abbbd" providerId="LiveId" clId="{E817F4B4-5D52-4DFC-85EC-2D4FAE2FB7BD}" dt="2020-07-15T17:21:40.898" v="2" actId="115"/>
          <ac:spMkLst>
            <pc:docMk/>
            <pc:sldMk cId="2480638249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49384345/what-is-difference-between-toupperinvariant-and-touppernew-cultureinfoen-u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49384345/what-is-difference-between-toupperinvariant-and-touppernew-cultureinfoen-u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7" y="1298448"/>
            <a:ext cx="7833083" cy="325526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 to Chapter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Kelly Hinson</a:t>
            </a:r>
          </a:p>
        </p:txBody>
      </p:sp>
    </p:spTree>
    <p:extLst>
      <p:ext uri="{BB962C8B-B14F-4D97-AF65-F5344CB8AC3E}">
        <p14:creationId xmlns:p14="http://schemas.microsoft.com/office/powerpoint/2010/main" val="77336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Question: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What are the 3 programming structures?</a:t>
            </a:r>
          </a:p>
        </p:txBody>
      </p:sp>
      <p:pic>
        <p:nvPicPr>
          <p:cNvPr id="4" name="Content Placeholder 3" descr="bridg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900237"/>
            <a:ext cx="73152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08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Answer: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What are the 3 programming structures?</a:t>
            </a:r>
          </a:p>
        </p:txBody>
      </p:sp>
      <p:pic>
        <p:nvPicPr>
          <p:cNvPr id="5" name="Content Placeholder 4" descr="apples&#10;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774" y="222853"/>
            <a:ext cx="6096000" cy="1464632"/>
          </a:xfrm>
        </p:spPr>
      </p:pic>
      <p:sp>
        <p:nvSpPr>
          <p:cNvPr id="10" name="TextBox 9"/>
          <p:cNvSpPr txBox="1"/>
          <p:nvPr/>
        </p:nvSpPr>
        <p:spPr>
          <a:xfrm>
            <a:off x="4436774" y="1486573"/>
            <a:ext cx="2959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Sequence</a:t>
            </a:r>
          </a:p>
        </p:txBody>
      </p:sp>
      <p:pic>
        <p:nvPicPr>
          <p:cNvPr id="8" name="Picture 7" descr="people in a 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417" y="2346353"/>
            <a:ext cx="6400714" cy="1533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36774" y="3967743"/>
            <a:ext cx="2161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Selection</a:t>
            </a:r>
          </a:p>
        </p:txBody>
      </p:sp>
      <p:pic>
        <p:nvPicPr>
          <p:cNvPr id="9" name="Picture 8" descr="loop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417" y="4586050"/>
            <a:ext cx="6400714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74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434" y="1128408"/>
            <a:ext cx="2947482" cy="460118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Selection</a:t>
            </a:r>
          </a:p>
        </p:txBody>
      </p:sp>
      <p:pic>
        <p:nvPicPr>
          <p:cNvPr id="5" name="Content Placeholder 4" descr="Selecting one person from a group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1799" y="840278"/>
            <a:ext cx="4282325" cy="1743075"/>
          </a:xfrm>
          <a:prstGeom prst="rect">
            <a:avLst/>
          </a:prstGeom>
        </p:spPr>
      </p:pic>
      <p:pic>
        <p:nvPicPr>
          <p:cNvPr id="6" name="Picture 5" descr="Deci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594" y="3327428"/>
            <a:ext cx="327660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47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if	(</a:t>
            </a:r>
            <a:r>
              <a:rPr lang="en-US" sz="7200" i="1" dirty="0"/>
              <a:t>condition</a:t>
            </a:r>
            <a:r>
              <a:rPr lang="en-US" sz="7200" dirty="0"/>
              <a:t>)</a:t>
            </a:r>
          </a:p>
          <a:p>
            <a:pPr marL="502920" lvl="1" indent="0">
              <a:buNone/>
            </a:pPr>
            <a:r>
              <a:rPr lang="en-US" sz="7200" i="1" dirty="0"/>
              <a:t>statement</a:t>
            </a:r>
            <a:r>
              <a:rPr lang="en-US" sz="7200" dirty="0"/>
              <a:t>;</a:t>
            </a:r>
          </a:p>
          <a:p>
            <a:pPr marL="0" indent="0">
              <a:buNone/>
            </a:pPr>
            <a:r>
              <a:rPr lang="en-US" sz="7200" dirty="0"/>
              <a:t>//endif</a:t>
            </a:r>
            <a:endParaRPr lang="en-US" sz="11500" dirty="0"/>
          </a:p>
        </p:txBody>
      </p:sp>
    </p:spTree>
    <p:extLst>
      <p:ext uri="{BB962C8B-B14F-4D97-AF65-F5344CB8AC3E}">
        <p14:creationId xmlns:p14="http://schemas.microsoft.com/office/powerpoint/2010/main" val="357095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9781" y="864108"/>
            <a:ext cx="8379229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dirty="0"/>
              <a:t>if	(</a:t>
            </a:r>
            <a:r>
              <a:rPr lang="en-US" sz="7200" i="1" dirty="0"/>
              <a:t>condition</a:t>
            </a:r>
            <a:r>
              <a:rPr lang="en-US" sz="7200" dirty="0"/>
              <a:t>)</a:t>
            </a:r>
          </a:p>
          <a:p>
            <a:pPr marL="0" indent="0">
              <a:buNone/>
            </a:pPr>
            <a:r>
              <a:rPr lang="en-US" sz="7200" dirty="0"/>
              <a:t>{ </a:t>
            </a:r>
            <a:r>
              <a:rPr lang="en-US" sz="4000" i="1" dirty="0"/>
              <a:t>more than one statement</a:t>
            </a:r>
            <a:r>
              <a:rPr lang="en-US" sz="7200" i="1" dirty="0"/>
              <a:t>;</a:t>
            </a:r>
          </a:p>
          <a:p>
            <a:pPr marL="502920" lvl="1" indent="0">
              <a:buNone/>
            </a:pPr>
            <a:r>
              <a:rPr lang="en-US" sz="7200" dirty="0"/>
              <a:t>}</a:t>
            </a:r>
          </a:p>
          <a:p>
            <a:pPr marL="502920" lvl="1" indent="0">
              <a:buNone/>
            </a:pPr>
            <a:r>
              <a:rPr lang="en-US" sz="7200" dirty="0"/>
              <a:t>//endif</a:t>
            </a:r>
          </a:p>
        </p:txBody>
      </p:sp>
    </p:spTree>
    <p:extLst>
      <p:ext uri="{BB962C8B-B14F-4D97-AF65-F5344CB8AC3E}">
        <p14:creationId xmlns:p14="http://schemas.microsoft.com/office/powerpoint/2010/main" val="336354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18" y="1123837"/>
            <a:ext cx="3035565" cy="491623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Question: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 the selection structure, does the </a:t>
            </a:r>
            <a:r>
              <a:rPr lang="en-US" dirty="0">
                <a:solidFill>
                  <a:srgbClr val="C00000"/>
                </a:solidFill>
              </a:rPr>
              <a:t>;</a:t>
            </a:r>
            <a:r>
              <a:rPr lang="en-US" dirty="0">
                <a:solidFill>
                  <a:schemeClr val="tx1"/>
                </a:solidFill>
              </a:rPr>
              <a:t> go at the end of the </a:t>
            </a:r>
            <a:r>
              <a:rPr lang="en-US" i="1" dirty="0">
                <a:solidFill>
                  <a:srgbClr val="C00000"/>
                </a:solidFill>
              </a:rPr>
              <a:t>if </a:t>
            </a:r>
            <a:r>
              <a:rPr lang="en-US" dirty="0">
                <a:solidFill>
                  <a:schemeClr val="tx1"/>
                </a:solidFill>
              </a:rPr>
              <a:t>statement condition</a:t>
            </a:r>
            <a:r>
              <a:rPr lang="en-US" dirty="0"/>
              <a:t>?</a:t>
            </a:r>
          </a:p>
        </p:txBody>
      </p:sp>
      <p:pic>
        <p:nvPicPr>
          <p:cNvPr id="4" name="Content Placeholder 3" descr="question mark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4589" y="1787235"/>
            <a:ext cx="4192724" cy="335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46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Answer: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 the selection structure,  the </a:t>
            </a:r>
            <a:r>
              <a:rPr lang="en-US" dirty="0">
                <a:solidFill>
                  <a:srgbClr val="FF0000"/>
                </a:solidFill>
              </a:rPr>
              <a:t>; does not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go at the end of the </a:t>
            </a:r>
            <a:r>
              <a:rPr lang="en-US" i="1" dirty="0">
                <a:solidFill>
                  <a:srgbClr val="FF0000"/>
                </a:solidFill>
              </a:rPr>
              <a:t>if </a:t>
            </a:r>
            <a:r>
              <a:rPr lang="en-US" dirty="0">
                <a:solidFill>
                  <a:schemeClr val="tx1"/>
                </a:solidFill>
              </a:rPr>
              <a:t>statement condition.</a:t>
            </a:r>
          </a:p>
        </p:txBody>
      </p:sp>
      <p:pic>
        <p:nvPicPr>
          <p:cNvPr id="4" name="Picture 3" descr="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692" y="1363288"/>
            <a:ext cx="5444836" cy="399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95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Question: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 the selection structure,   does the </a:t>
            </a:r>
            <a:r>
              <a:rPr lang="en-US" dirty="0">
                <a:solidFill>
                  <a:srgbClr val="FF0000"/>
                </a:solidFill>
              </a:rPr>
              <a:t>;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go at the end of the </a:t>
            </a:r>
            <a:r>
              <a:rPr lang="en-US" i="1" dirty="0">
                <a:solidFill>
                  <a:srgbClr val="FF0000"/>
                </a:solidFill>
              </a:rPr>
              <a:t>each </a:t>
            </a:r>
            <a:r>
              <a:rPr lang="en-US" dirty="0">
                <a:solidFill>
                  <a:schemeClr val="tx1"/>
                </a:solidFill>
              </a:rPr>
              <a:t>statement after the condition?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25791" y="669828"/>
            <a:ext cx="64071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if ( the shirt is red)</a:t>
            </a:r>
          </a:p>
          <a:p>
            <a:r>
              <a:rPr lang="en-US" sz="3200" dirty="0"/>
              <a:t>	wash it</a:t>
            </a:r>
            <a:r>
              <a:rPr lang="en-US" sz="3200" dirty="0">
                <a:solidFill>
                  <a:srgbClr val="FF0000"/>
                </a:solidFill>
              </a:rPr>
              <a:t>;</a:t>
            </a:r>
          </a:p>
          <a:p>
            <a:r>
              <a:rPr lang="en-US" sz="3200" dirty="0"/>
              <a:t>//endif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if (count &lt; 10)</a:t>
            </a:r>
          </a:p>
          <a:p>
            <a:r>
              <a:rPr lang="en-US" sz="3200" dirty="0"/>
              <a:t>       cout&lt;&lt;“The count is “ &lt;&lt; count</a:t>
            </a:r>
            <a:r>
              <a:rPr lang="en-US" sz="3200" dirty="0">
                <a:solidFill>
                  <a:srgbClr val="FF0000"/>
                </a:solidFill>
              </a:rPr>
              <a:t>;</a:t>
            </a:r>
          </a:p>
          <a:p>
            <a:endParaRPr lang="en-US" sz="3200" dirty="0"/>
          </a:p>
          <a:p>
            <a:r>
              <a:rPr lang="en-US" sz="3200" dirty="0"/>
              <a:t>//endif</a:t>
            </a:r>
          </a:p>
        </p:txBody>
      </p:sp>
    </p:spTree>
    <p:extLst>
      <p:ext uri="{BB962C8B-B14F-4D97-AF65-F5344CB8AC3E}">
        <p14:creationId xmlns:p14="http://schemas.microsoft.com/office/powerpoint/2010/main" val="173958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Answer: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 the selection structure,   the </a:t>
            </a:r>
            <a:r>
              <a:rPr lang="en-US" dirty="0">
                <a:solidFill>
                  <a:srgbClr val="FF0000"/>
                </a:solidFill>
              </a:rPr>
              <a:t>;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goes at the end of the </a:t>
            </a:r>
            <a:r>
              <a:rPr lang="en-US" i="1" dirty="0">
                <a:solidFill>
                  <a:srgbClr val="FF0000"/>
                </a:solidFill>
              </a:rPr>
              <a:t>each </a:t>
            </a:r>
            <a:r>
              <a:rPr lang="en-US" dirty="0">
                <a:solidFill>
                  <a:schemeClr val="tx1"/>
                </a:solidFill>
              </a:rPr>
              <a:t>statement after the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7704" y="1256841"/>
            <a:ext cx="765217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4000" dirty="0"/>
              <a:t>if (count &lt; 10)</a:t>
            </a:r>
          </a:p>
          <a:p>
            <a:r>
              <a:rPr lang="en-US" sz="4000" dirty="0"/>
              <a:t>{     count = count +1</a:t>
            </a:r>
            <a:r>
              <a:rPr lang="en-US" sz="4000" dirty="0">
                <a:solidFill>
                  <a:srgbClr val="FF0000"/>
                </a:solidFill>
              </a:rPr>
              <a:t>;</a:t>
            </a:r>
          </a:p>
          <a:p>
            <a:r>
              <a:rPr lang="en-US" sz="4000" dirty="0"/>
              <a:t>       cout&lt;&lt;“The count is “ &lt;&lt; count</a:t>
            </a:r>
            <a:r>
              <a:rPr lang="en-US" sz="4000" dirty="0">
                <a:solidFill>
                  <a:srgbClr val="FF0000"/>
                </a:solidFill>
              </a:rPr>
              <a:t>;</a:t>
            </a:r>
          </a:p>
          <a:p>
            <a:r>
              <a:rPr lang="en-US" sz="4000" dirty="0"/>
              <a:t>}</a:t>
            </a:r>
          </a:p>
          <a:p>
            <a:r>
              <a:rPr lang="en-US" sz="4000" dirty="0"/>
              <a:t>//endif</a:t>
            </a:r>
          </a:p>
        </p:txBody>
      </p:sp>
      <p:sp>
        <p:nvSpPr>
          <p:cNvPr id="4" name="Oval Callout 3"/>
          <p:cNvSpPr/>
          <p:nvPr/>
        </p:nvSpPr>
        <p:spPr>
          <a:xfrm>
            <a:off x="6543260" y="921721"/>
            <a:ext cx="2019993" cy="1346662"/>
          </a:xfrm>
          <a:prstGeom prst="wedgeEllipseCallou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the condition statement.</a:t>
            </a:r>
          </a:p>
        </p:txBody>
      </p:sp>
    </p:spTree>
    <p:extLst>
      <p:ext uri="{BB962C8B-B14F-4D97-AF65-F5344CB8AC3E}">
        <p14:creationId xmlns:p14="http://schemas.microsoft.com/office/powerpoint/2010/main" val="1948102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toupper or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tolower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Converts a character variable (char) to upper or lower case, no matter what the user enters on the screen.</a:t>
            </a:r>
          </a:p>
          <a:p>
            <a:r>
              <a:rPr lang="en-US" sz="2800" dirty="0">
                <a:solidFill>
                  <a:schemeClr val="tx1"/>
                </a:solidFill>
              </a:rPr>
              <a:t>Functions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Example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toupper(letter)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tolower(letter</a:t>
            </a:r>
          </a:p>
          <a:p>
            <a:r>
              <a:rPr lang="en-US" sz="2600" dirty="0">
                <a:solidFill>
                  <a:schemeClr val="tx1"/>
                </a:solidFill>
              </a:rPr>
              <a:t>Example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toupper(variable name)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tolower(variable name)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63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2187-E1E7-48EE-A0A7-41092005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Question:</a:t>
            </a:r>
            <a:br>
              <a:rPr lang="en-US" sz="4400" dirty="0">
                <a:solidFill>
                  <a:schemeClr val="tx1"/>
                </a:solidFill>
              </a:rPr>
            </a:b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 Why use toupper or tolower?</a:t>
            </a:r>
          </a:p>
        </p:txBody>
      </p:sp>
      <p:pic>
        <p:nvPicPr>
          <p:cNvPr id="5" name="Content Placeholder 4" descr="toupper function">
            <a:extLst>
              <a:ext uri="{FF2B5EF4-FFF2-40B4-BE49-F238E27FC236}">
                <a16:creationId xmlns:a16="http://schemas.microsoft.com/office/drawing/2014/main" id="{3F97EB14-876A-4284-9AC1-8B6D31455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27074" y="986493"/>
            <a:ext cx="3162300" cy="1419225"/>
          </a:xfrm>
        </p:spPr>
      </p:pic>
    </p:spTree>
    <p:extLst>
      <p:ext uri="{BB962C8B-B14F-4D97-AF65-F5344CB8AC3E}">
        <p14:creationId xmlns:p14="http://schemas.microsoft.com/office/powerpoint/2010/main" val="4209464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2187-E1E7-48EE-A0A7-41092005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Answer:</a:t>
            </a:r>
            <a:br>
              <a:rPr lang="en-US" sz="4400" dirty="0">
                <a:solidFill>
                  <a:schemeClr val="tx1"/>
                </a:solidFill>
              </a:rPr>
            </a:b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 To have control over incoming data.</a:t>
            </a:r>
          </a:p>
        </p:txBody>
      </p:sp>
      <p:pic>
        <p:nvPicPr>
          <p:cNvPr id="5" name="Content Placeholder 4" descr="toupper function&#10;">
            <a:extLst>
              <a:ext uri="{FF2B5EF4-FFF2-40B4-BE49-F238E27FC236}">
                <a16:creationId xmlns:a16="http://schemas.microsoft.com/office/drawing/2014/main" id="{3F97EB14-876A-4284-9AC1-8B6D31455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27074" y="986493"/>
            <a:ext cx="3162300" cy="141922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9C318E-0F83-4191-AE41-837B7B23C9CC}"/>
              </a:ext>
            </a:extLst>
          </p:cNvPr>
          <p:cNvSpPr txBox="1"/>
          <p:nvPr/>
        </p:nvSpPr>
        <p:spPr>
          <a:xfrm>
            <a:off x="4379053" y="2973897"/>
            <a:ext cx="52347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the user enters a letter on the screen, do you want to have to ask every time if it is a capital or lowercase?</a:t>
            </a:r>
          </a:p>
          <a:p>
            <a:endParaRPr lang="en-US" sz="2800" dirty="0"/>
          </a:p>
          <a:p>
            <a:r>
              <a:rPr lang="en-US" sz="2800" dirty="0"/>
              <a:t>Use toupper or tolower to make comparisons easier.</a:t>
            </a:r>
          </a:p>
        </p:txBody>
      </p:sp>
    </p:spTree>
    <p:extLst>
      <p:ext uri="{BB962C8B-B14F-4D97-AF65-F5344CB8AC3E}">
        <p14:creationId xmlns:p14="http://schemas.microsoft.com/office/powerpoint/2010/main" val="2015420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#include &lt;iomanip&gt;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This is a new directive to put in your program when you are going to use setprecision or fixed or scientific stream manipulators.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55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setprecision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&amp;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fixed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Are stream manipulators</a:t>
            </a:r>
          </a:p>
          <a:p>
            <a:r>
              <a:rPr lang="en-US" sz="2800" dirty="0"/>
              <a:t>Allows you to control the number of decimal points displayed on the screen.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double sales = 3500.6;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cout &lt;&lt;fixed;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cout &lt;&lt;setprecision (2);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cout&lt;&lt; sales;</a:t>
            </a:r>
          </a:p>
          <a:p>
            <a:pPr marL="0" indent="0">
              <a:buNone/>
            </a:pPr>
            <a:r>
              <a:rPr lang="en-US" sz="2800" dirty="0"/>
              <a:t>Sales will display as  3500.60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989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9C5B-1487-4D40-A705-8017170B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Question: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If you have more than one statement under the if condition, what else is required?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01276-4A81-4CE4-8EBC-35D923CD7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if (sales &lt;= 16.67)</a:t>
            </a:r>
          </a:p>
          <a:p>
            <a:pPr marL="0" indent="0">
              <a:buNone/>
            </a:pPr>
            <a:r>
              <a:rPr lang="en-US" sz="3600" dirty="0"/>
              <a:t> </a:t>
            </a:r>
          </a:p>
          <a:p>
            <a:pPr marL="502920" lvl="1" indent="0">
              <a:buNone/>
            </a:pPr>
            <a:r>
              <a:rPr lang="en-US" sz="3200" dirty="0"/>
              <a:t>sales = 16.67;</a:t>
            </a:r>
          </a:p>
          <a:p>
            <a:pPr marL="502920" lvl="1" indent="0">
              <a:buNone/>
            </a:pPr>
            <a:r>
              <a:rPr lang="en-US" sz="3200" dirty="0"/>
              <a:t>Cout &lt;&lt; “You did not make many sales!” &lt;&lt; endl;</a:t>
            </a:r>
          </a:p>
          <a:p>
            <a:pPr marL="502920" lvl="1" indent="0">
              <a:buNone/>
            </a:pP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9390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9C5B-1487-4D40-A705-8017170B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Answer: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u="sng" dirty="0">
                <a:solidFill>
                  <a:schemeClr val="tx1"/>
                </a:solidFill>
              </a:rPr>
              <a:t>You need brackets!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01276-4A81-4CE4-8EBC-35D923CD7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if (sales &lt;= 16.67)</a:t>
            </a:r>
          </a:p>
          <a:p>
            <a:pPr marL="0" indent="0">
              <a:buNone/>
            </a:pPr>
            <a:r>
              <a:rPr lang="en-US" sz="3600" dirty="0"/>
              <a:t> {</a:t>
            </a:r>
          </a:p>
          <a:p>
            <a:pPr marL="502920" lvl="1" indent="0">
              <a:buNone/>
            </a:pPr>
            <a:r>
              <a:rPr lang="en-US" sz="3200" dirty="0"/>
              <a:t>sales = 16.67;</a:t>
            </a:r>
          </a:p>
          <a:p>
            <a:pPr marL="502920" lvl="1" indent="0">
              <a:buNone/>
            </a:pPr>
            <a:r>
              <a:rPr lang="en-US" sz="3200" dirty="0"/>
              <a:t>Cout &lt;&lt; “You did not make many sales!” &lt;&lt; endl;</a:t>
            </a:r>
          </a:p>
          <a:p>
            <a:pPr marL="502920" lvl="1" indent="0">
              <a:buNone/>
            </a:pPr>
            <a:r>
              <a:rPr lang="en-US" sz="320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70623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F7E4B0-EAD1-45CA-BC98-6296653F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Question: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Which of the following statements is correct?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8A2FE-7713-4F19-B6B9-1AACC9CBB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Example 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DF9B4-7C31-474D-994B-75A9FE2495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7030A0"/>
                </a:solidFill>
              </a:rPr>
              <a:t>if (a = 100)</a:t>
            </a:r>
          </a:p>
          <a:p>
            <a:pPr marL="502920" lvl="1" indent="0">
              <a:buNone/>
            </a:pPr>
            <a:r>
              <a:rPr lang="en-US" sz="3600" dirty="0">
                <a:solidFill>
                  <a:srgbClr val="7030A0"/>
                </a:solidFill>
              </a:rPr>
              <a:t>cout &lt;&lt;  “Great Job!”;</a:t>
            </a:r>
          </a:p>
          <a:p>
            <a:pPr marL="502920" lvl="1" indent="0">
              <a:buNone/>
            </a:pPr>
            <a:r>
              <a:rPr lang="en-US" sz="3600" dirty="0">
                <a:solidFill>
                  <a:srgbClr val="7030A0"/>
                </a:solidFill>
              </a:rPr>
              <a:t>//endif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688665-B321-4FD2-BDEB-F46041195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Example B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759A99-714A-4116-8F5A-5861A3AA1B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/>
              <a:t>if (a == 100)</a:t>
            </a:r>
          </a:p>
          <a:p>
            <a:pPr marL="502920" lvl="1" indent="0">
              <a:buNone/>
            </a:pPr>
            <a:r>
              <a:rPr lang="en-US" sz="3600" dirty="0"/>
              <a:t>cout &lt;&lt;  “Great Job!”;</a:t>
            </a:r>
          </a:p>
          <a:p>
            <a:pPr marL="502920" lvl="1" indent="0">
              <a:buNone/>
            </a:pPr>
            <a:r>
              <a:rPr lang="en-US" sz="3600" dirty="0"/>
              <a:t>//endif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8970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F7E4B0-EAD1-45CA-BC98-6296653FE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Answer: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Which of the following statements is correct?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B, because it is a comparison.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B8A2FE-7713-4F19-B6B9-1AACC9CBB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Example 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DF9B4-7C31-474D-994B-75A9FE2495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7030A0"/>
                </a:solidFill>
              </a:rPr>
              <a:t>if (a = 100)</a:t>
            </a:r>
          </a:p>
          <a:p>
            <a:pPr marL="502920" lvl="1" indent="0">
              <a:buNone/>
            </a:pPr>
            <a:r>
              <a:rPr lang="en-US" sz="3600" dirty="0">
                <a:solidFill>
                  <a:srgbClr val="7030A0"/>
                </a:solidFill>
              </a:rPr>
              <a:t>cout &lt;&lt;  “Great Job!”;</a:t>
            </a:r>
          </a:p>
          <a:p>
            <a:pPr marL="502920" lvl="1" indent="0">
              <a:buNone/>
            </a:pPr>
            <a:r>
              <a:rPr lang="en-US" sz="3600" dirty="0">
                <a:solidFill>
                  <a:srgbClr val="7030A0"/>
                </a:solidFill>
              </a:rPr>
              <a:t>//endif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688665-B321-4FD2-BDEB-F46041195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Example B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759A99-714A-4116-8F5A-5861A3AA1B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>
                <a:solidFill>
                  <a:srgbClr val="FF0000"/>
                </a:solidFill>
              </a:rPr>
              <a:t>if (a == 100)</a:t>
            </a:r>
          </a:p>
          <a:p>
            <a:pPr marL="502920" lvl="1"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cout &lt;&lt;  “Great Job!”;</a:t>
            </a:r>
          </a:p>
          <a:p>
            <a:pPr marL="502920" lvl="1" indent="0">
              <a:buNone/>
            </a:pPr>
            <a:r>
              <a:rPr lang="en-US" sz="3600" dirty="0">
                <a:solidFill>
                  <a:srgbClr val="FF0000"/>
                </a:solidFill>
              </a:rPr>
              <a:t>//endif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775780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135</TotalTime>
  <Words>574</Words>
  <Application>Microsoft Office PowerPoint</Application>
  <PresentationFormat>Widescreen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Corbel</vt:lpstr>
      <vt:lpstr>Wingdings 2</vt:lpstr>
      <vt:lpstr>Frame</vt:lpstr>
      <vt:lpstr>Introduction to Chapter 5</vt:lpstr>
      <vt:lpstr>Question:  What are the 3 programming structures?</vt:lpstr>
      <vt:lpstr>Answer:    What are the 3 programming structures?</vt:lpstr>
      <vt:lpstr>Selection</vt:lpstr>
      <vt:lpstr>Example 1</vt:lpstr>
      <vt:lpstr>Example 2</vt:lpstr>
      <vt:lpstr>Question:   In the selection structure, does the ; go at the end of the if statement condition?</vt:lpstr>
      <vt:lpstr>Answer:   In the selection structure,  the ; does not go at the end of the if statement condition.</vt:lpstr>
      <vt:lpstr>Question:   In the selection structure,   does the ; go at the end of the each statement after the condition?</vt:lpstr>
      <vt:lpstr>Answer:   In the selection structure,   the ; goes at the end of the each statement after the condition.</vt:lpstr>
      <vt:lpstr>toupper or tolower</vt:lpstr>
      <vt:lpstr>Question:   Why use toupper or tolower?</vt:lpstr>
      <vt:lpstr>Answer:   To have control over incoming data.</vt:lpstr>
      <vt:lpstr>#include &lt;iomanip&gt;</vt:lpstr>
      <vt:lpstr>setprecision &amp; fixed</vt:lpstr>
      <vt:lpstr>Question:   If you have more than one statement under the if condition, what else is required?</vt:lpstr>
      <vt:lpstr>Answer:   You need brackets!</vt:lpstr>
      <vt:lpstr>Question:   Which of the following statements is correct?</vt:lpstr>
      <vt:lpstr>Answer:   Which of the following statements is correct? B, because it is a comparison.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Chapter 5</dc:title>
  <dc:creator>Kelly Hinson</dc:creator>
  <cp:lastModifiedBy>Kelly Hinson</cp:lastModifiedBy>
  <cp:revision>6</cp:revision>
  <dcterms:created xsi:type="dcterms:W3CDTF">2017-02-13T14:41:10Z</dcterms:created>
  <dcterms:modified xsi:type="dcterms:W3CDTF">2020-07-15T17:22:32Z</dcterms:modified>
</cp:coreProperties>
</file>