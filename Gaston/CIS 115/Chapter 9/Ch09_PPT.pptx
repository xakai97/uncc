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925" r:id="rId1"/>
  </p:sldMasterIdLst>
  <p:notesMasterIdLst>
    <p:notesMasterId r:id="rId69"/>
  </p:notesMasterIdLst>
  <p:handoutMasterIdLst>
    <p:handoutMasterId r:id="rId70"/>
  </p:handoutMasterIdLst>
  <p:sldIdLst>
    <p:sldId id="718" r:id="rId2"/>
    <p:sldId id="257" r:id="rId3"/>
    <p:sldId id="463" r:id="rId4"/>
    <p:sldId id="708" r:id="rId5"/>
    <p:sldId id="719" r:id="rId6"/>
    <p:sldId id="709" r:id="rId7"/>
    <p:sldId id="724" r:id="rId8"/>
    <p:sldId id="725" r:id="rId9"/>
    <p:sldId id="726" r:id="rId10"/>
    <p:sldId id="727" r:id="rId11"/>
    <p:sldId id="568" r:id="rId12"/>
    <p:sldId id="547" r:id="rId13"/>
    <p:sldId id="728" r:id="rId14"/>
    <p:sldId id="720" r:id="rId15"/>
    <p:sldId id="729" r:id="rId16"/>
    <p:sldId id="606" r:id="rId17"/>
    <p:sldId id="710" r:id="rId18"/>
    <p:sldId id="643" r:id="rId19"/>
    <p:sldId id="608" r:id="rId20"/>
    <p:sldId id="730" r:id="rId21"/>
    <p:sldId id="711" r:id="rId22"/>
    <p:sldId id="712" r:id="rId23"/>
    <p:sldId id="648" r:id="rId24"/>
    <p:sldId id="597" r:id="rId25"/>
    <p:sldId id="667" r:id="rId26"/>
    <p:sldId id="731" r:id="rId27"/>
    <p:sldId id="611" r:id="rId28"/>
    <p:sldId id="713" r:id="rId29"/>
    <p:sldId id="679" r:id="rId30"/>
    <p:sldId id="680" r:id="rId31"/>
    <p:sldId id="635" r:id="rId32"/>
    <p:sldId id="714" r:id="rId33"/>
    <p:sldId id="715" r:id="rId34"/>
    <p:sldId id="612" r:id="rId35"/>
    <p:sldId id="685" r:id="rId36"/>
    <p:sldId id="661" r:id="rId37"/>
    <p:sldId id="656" r:id="rId38"/>
    <p:sldId id="732" r:id="rId39"/>
    <p:sldId id="733" r:id="rId40"/>
    <p:sldId id="660" r:id="rId41"/>
    <p:sldId id="616" r:id="rId42"/>
    <p:sldId id="690" r:id="rId43"/>
    <p:sldId id="663" r:id="rId44"/>
    <p:sldId id="716" r:id="rId45"/>
    <p:sldId id="717" r:id="rId46"/>
    <p:sldId id="445" r:id="rId47"/>
    <p:sldId id="446" r:id="rId48"/>
    <p:sldId id="705" r:id="rId49"/>
    <p:sldId id="706" r:id="rId50"/>
    <p:sldId id="707" r:id="rId51"/>
    <p:sldId id="470" r:id="rId52"/>
    <p:sldId id="734" r:id="rId53"/>
    <p:sldId id="498" r:id="rId54"/>
    <p:sldId id="735" r:id="rId55"/>
    <p:sldId id="736" r:id="rId56"/>
    <p:sldId id="737" r:id="rId57"/>
    <p:sldId id="738" r:id="rId58"/>
    <p:sldId id="739" r:id="rId59"/>
    <p:sldId id="740" r:id="rId60"/>
    <p:sldId id="741" r:id="rId61"/>
    <p:sldId id="742" r:id="rId62"/>
    <p:sldId id="743" r:id="rId63"/>
    <p:sldId id="503" r:id="rId64"/>
    <p:sldId id="504" r:id="rId65"/>
    <p:sldId id="744" r:id="rId66"/>
    <p:sldId id="745" r:id="rId67"/>
    <p:sldId id="505" r:id="rId6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FF00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7" autoAdjust="0"/>
  </p:normalViewPr>
  <p:slideViewPr>
    <p:cSldViewPr snapToGrid="0">
      <p:cViewPr varScale="1">
        <p:scale>
          <a:sx n="108" d="100"/>
          <a:sy n="108" d="100"/>
        </p:scale>
        <p:origin x="106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B254BAF8-753A-4D13-B608-CE8AA1BAE4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9EA5BEB2-3AD9-43CF-B624-4744339B70E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968B91BF-9444-43D3-83FB-DF5AAD8B6C3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B8D34259-BBC9-4AAE-ABA0-673A327BB47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11C1F31-AF06-4EB0-BEB5-018D106251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6DAD3D4-8DB4-40E9-88B0-17A85DD45C9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53311D0B-2A11-488D-8CE7-5E8B89E3CCF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DF558A5-8992-493E-8AEE-92C7A557306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CF215D15-3FAE-493F-98ED-89D1595A6D4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2BF29974-E5D8-48D4-B351-063C3F07E12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C302E051-C389-4E8D-8DD1-74BDA608F1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8D6B360-A22F-41C5-810A-ED9DEF3A65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F3E5FF6-8825-4B36-A434-2F57254900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192949F-89E8-4F53-BEA3-DBB4F61CEB4A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5B05401-7386-4ED6-AFF9-96363C3CE5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496F1220-386A-4560-A9DC-09E4B694D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3A3B7B9A-788E-46EB-8600-A7B6565438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B04E201-C546-4F0C-A26E-B5C3F52C40C9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B7391BA-3FC9-4839-BF98-35844ADFD9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7ACAAB6B-E0AE-4184-931C-42375520C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F2FBB960-398C-4929-B610-D5549B4E36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6F9C3AD1-3CF4-414F-9E4E-14BEBA1F4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454C1D91-8ECA-440E-ABEC-F9243D5D4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F39D70D-E362-4A52-B3D2-FB76630B5C40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CDE3AB3D-36DA-4AAD-92D8-B0292A42FB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3CF804F9-BAFC-41F3-AE20-5336E1F8F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AF1C0B40-5482-475E-BDC9-C5F088C21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3DB2F01-F2A4-452E-B31A-1D704821DD29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700C944E-6AA0-4C6F-BBF1-91A2EC0B3A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E2B879D-84D1-41A7-A3CE-9F3D67464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B65A7D5A-F6E8-4E44-9C72-4753D3AB9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AB09F4B-E7A7-48C3-8E39-A3B2BB8879C7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5F8364E3-452C-429D-A785-140BA0B392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DBB6C31F-44FC-40F5-BEDB-077FD6AA9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BFBFDB6A-4DCB-4F26-85FB-59D561BDC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8A03F3E-50B4-4F73-B65A-AFE1B9ED681F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EFF09976-7472-4821-9F9B-B1D6609130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C4AA437A-9FD7-43DA-9518-D9E5331EA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CAA1F51F-6B5C-46DB-9C86-F962DC381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0FC1AB8-DED3-4AB4-BE3B-3EA6D7F91738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5A072C33-CD27-42B6-A32F-14136451DE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66BD562A-79F2-48A6-AEBA-ED6792C6C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DDD6C268-9179-40F9-A6DE-A5E7A61A8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1743326-1119-434F-A0AC-1172EBDF332E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2B9240F8-51B9-47E2-9803-685CDB4A17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A4EA496B-6B5B-47D1-904E-9D689F7FE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0C8C95C9-45E0-4416-B1CD-DE6AD8D83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A753461-70D5-4990-89BF-FDC754E80094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32A32454-F3BB-4B10-9E85-F841414271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709BC43A-C61E-43BE-A6ED-9A4436FFA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05856107-BD11-4FE8-93DB-37BF9ED00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156FF1-2B11-43FD-97DE-AA1652B6919D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4ED74F63-953F-4FF6-AC71-6D68E34AD3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E3AC3B22-FE6B-4655-974C-36B24DC72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ADE5B9C6-BB4D-4168-A82A-1F6B5B250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04D9208-E4EA-42B1-94B7-931A2515FF26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C6783A73-018C-4F21-A8EF-74F929B45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4DF5F9DF-D30B-4124-9034-B4E37CDF7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573A9108-B311-4A6E-A8EE-1C9A7EF22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3AC2507-57D3-4686-A46F-A5684BA821AB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23C364A7-1749-4C33-965F-4DA9C8A703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4BEA1F70-D87C-4473-A6D0-E9A15A8D6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DCF6AD7A-1C03-434C-8AEC-F3461197B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D8355F-AB65-4FC7-9B80-B2B3F6512E63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1DDA04EC-2816-4C8E-8506-E25F9146D4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F4DA43CA-1BAD-4291-806D-CB1384497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9C8B6423-2273-4118-AB1F-1877F509C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7ACEE9D-5D7F-4421-82B8-2BE260A40AD7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06F566C6-FE6D-4A3B-AB6D-043DB161A9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1A68142D-5E5E-4849-B3AB-D1AD72493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2896E40D-83DB-4B8B-B2B2-6469EA9B8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46CF47B-AE61-49ED-8D0D-BF3EE844A474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ABE1A303-F765-423A-96C7-AC5531DCD6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360B9015-F65A-4FEE-902C-527E65E2A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319A646F-938D-4D51-873B-969B9AB53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D44C5FD-21F1-4160-B7D2-2BBEF3636F25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DA4826C1-D4ED-46F5-B95B-9548BCA781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27D945CE-7091-4337-8C07-E0D663DBA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1D69C40E-6602-4502-BB0A-625D46A80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09AE42F-2709-494C-98D6-14C8CAFB1F4C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A9A92890-A5F6-4024-A272-6F9E530E2D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C0AC9BC2-0B1D-44F1-8E72-98560BE4D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0EF327CC-37E1-4FBC-ABB4-8525E43A0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E417EA9-C08D-4544-A8F8-5FE7FE1AE28A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4AA3DC83-695F-495E-9CC2-B836868401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B9A74D83-321D-441E-B453-BAB57E550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E1BF7520-2094-4C92-B6D2-640EA6E58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C19D781-9EB9-4A10-A271-74AAEEE49B62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8675BBE5-37E4-438E-8D9C-82F3F9001F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82C5ADDB-F2E7-4D4B-B786-875240C8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21513953-CA85-427F-9F58-D8FEB87DE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C02EACA-2B3D-4DAC-BC88-98F7533F85C1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E2464E25-4A49-4AB1-AB4A-A0D0F25ECD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8AD25AF3-AA73-4F99-AA0F-A236F4BB5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757AC826-0477-4A42-9700-9DB0A4CE4A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F50477D-0F87-4555-99DF-0194A2521970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70895941-FC90-4C5F-8FF0-6F5C6F822C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F27C9A9E-F12D-4034-8B40-B9B31BC96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3F4FD9FE-FCB7-4BB4-9BBC-62C5D9325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548C6F6-A0F3-4A8D-B94B-435F1330B0A4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764B0504-2FB2-4111-A554-B0977B3754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F608E207-D707-4813-B59E-1EBD245DB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09EE7B2A-8005-400E-9388-6691B72AD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51029FD-31A2-483C-99A4-6E497FFCF1D7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C02FBD6F-52EC-404E-BC1A-B2E797E61A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83BFCAD3-001E-473E-9295-67F67FD16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7A7FD4E1-8325-4DD1-8E65-CC5063F7B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EB2966B-FD73-4044-9C4C-8EF4EF7632C7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4004B7E8-579A-4D9C-AE04-4DFD98539D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EF9E0A8D-BF10-413F-A322-B1B6735A1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59BAE138-18D8-4478-9D5D-3FB80621E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303CB45-A8BC-465B-954F-C149EC62E64A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21748CD0-DDFC-4938-BF03-7604C2F48E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2B2E2FCD-4AC7-417F-8903-F109B99DA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9258BEF7-5759-4A32-9CE0-C2EC03280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9C9B3A1-7B9A-4EB5-B09D-62EA2345E31C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F16C3954-070E-436C-B9CE-6CA9D15E96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9478FED7-E987-4590-9694-FCF97A304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CD4F10D2-FBC3-4427-909E-66F69C749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8DCA674-E776-42A7-B1EB-17F5C69340CF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28244708-90D3-4BF2-818A-728F160016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AA8CA814-0774-45EB-B8C5-6853A306C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DA151717-BD9C-4B5D-AC61-4AA6C379C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9EDDFE-BD40-46DC-8320-89B7D597269C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4665ABC2-CAF5-4623-9053-3C9C791042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C4052A88-7066-416F-8217-C17A6DF4C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929A3214-DB8C-46FA-A82E-9A9CBE180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29B4CCC-EBFA-4C1E-8D00-9D803A26C389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A7A5C3B5-426E-48E5-8119-AE56C18D7E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E0E5EE92-6E34-455A-978B-E724C92D4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9DE60C8D-0056-4758-86BB-0B4A94EBD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A5E0B8-E894-4488-919F-7E4D61430B14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1B7E35EA-BA10-4288-AA1D-532EEF446C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D2A83790-B33C-4EC2-A420-FABE2C76D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F9A284A5-EC63-4B88-B49B-CFA9F7E9C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8798CF1-7DBD-4D0D-BAEF-F507B90C0CF7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6953BFF5-5512-4020-8D8A-D6979FB3D5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29408630-402F-4827-B496-E3EFC628D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97D80700-A34B-4E9E-B873-5364EFE92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77B426-26B8-4F61-B1C2-002918E6B797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3E0228AE-D01E-4638-956A-80DE6496DF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3C6A8363-E9CC-4C8B-A4C9-370A39962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0F0EF5A2-C14D-4784-BB01-2E095565A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A98D848-51C2-4FA0-AC7E-0ED17D98E7F4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2C725EC5-2EB2-4C79-BCB5-C6C415A601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D7C0481C-BC29-4AF4-A8CA-086E7C947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EF5E43AF-1CC8-4793-BD70-7F1197263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A96312-6091-4F8C-B125-BEA3D3D52C00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6EA9004C-8D01-473A-901E-2E3A3A53DC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B86054EB-6828-43F2-BD97-8586E2A2C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CBC8473C-1830-4054-A19C-43652BD57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403E5ED-5A68-4AB0-8628-1AC6E06F2C57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4C85DA02-7CD1-4A9F-967C-C966F7EA1C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AE050D36-793B-4B63-AADE-CC518477F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89FFC6B2-C9AB-463F-94B3-4F164412A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91636DD-904A-43C9-B655-902771EBFAEF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F844969F-7867-4A58-A32C-024563826A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D52861A6-D5E3-4B38-9EF6-4E9A1497F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5D23EE7A-308A-4B0F-8DD1-F5CA14516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9B51E37-C9B6-47A0-9B01-C407FC96CE97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6AA3EC5D-46BC-4CFF-A5A1-F1DC9B89A2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C42CEC1D-7C22-40B5-A92E-1D31D2675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24C106F7-3EC3-43AA-B44A-71686E041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A2B6C4-AB41-470B-854E-961A088874AA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292345D0-6ACD-470F-A13F-D792CA9D8B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F942022D-884D-46DB-A8F1-2508CA7DD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AC634DF5-BBDE-4472-A0FB-1318C0665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EA8693E-1FC1-44D3-879E-8FD3C86A0210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>
            <a:extLst>
              <a:ext uri="{FF2B5EF4-FFF2-40B4-BE49-F238E27FC236}">
                <a16:creationId xmlns:a16="http://schemas.microsoft.com/office/drawing/2014/main" id="{038EC93E-950A-4AF0-85ED-8DE983A8F0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>
            <a:extLst>
              <a:ext uri="{FF2B5EF4-FFF2-40B4-BE49-F238E27FC236}">
                <a16:creationId xmlns:a16="http://schemas.microsoft.com/office/drawing/2014/main" id="{5D3C2FB7-57FF-4475-A9F4-4EE321CF9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id="{25B21FEC-9F46-43CA-B53C-42DFBA549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028B4C1-A403-4EA0-8438-F42BC23F1C0E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EB0A09B7-0C2A-4F29-ADCD-F02244E671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E1460187-8DA6-44E2-A217-1959FE876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F90C4359-9868-42B3-A4D4-C6671A487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FAB5133-9F2F-4998-8980-D0EA76C14BEE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>
            <a:extLst>
              <a:ext uri="{FF2B5EF4-FFF2-40B4-BE49-F238E27FC236}">
                <a16:creationId xmlns:a16="http://schemas.microsoft.com/office/drawing/2014/main" id="{A69369CB-DE7F-443E-8A0E-B4D70235BD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>
            <a:extLst>
              <a:ext uri="{FF2B5EF4-FFF2-40B4-BE49-F238E27FC236}">
                <a16:creationId xmlns:a16="http://schemas.microsoft.com/office/drawing/2014/main" id="{65B56137-B5E7-4171-93F7-2C7AFF3DF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D3F4C634-D1A0-475D-96EF-1F2607C7F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E5F83F4-5709-4F8D-9B5C-1A68CD3E87E3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B7A0AB23-0253-493D-98D1-B3899673B5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F5AE6EB1-4352-4213-B842-6FA9DE5B5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8DAED5C8-C7C5-4ACE-BA77-57E1FCF39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0DA3106-236E-416F-BD01-F3DD7E667C9B}" type="slidenum">
              <a:rPr lang="en-US" altLang="en-US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>
            <a:extLst>
              <a:ext uri="{FF2B5EF4-FFF2-40B4-BE49-F238E27FC236}">
                <a16:creationId xmlns:a16="http://schemas.microsoft.com/office/drawing/2014/main" id="{65B221F5-ADE3-4ECD-BC03-521E2DF9C3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>
            <a:extLst>
              <a:ext uri="{FF2B5EF4-FFF2-40B4-BE49-F238E27FC236}">
                <a16:creationId xmlns:a16="http://schemas.microsoft.com/office/drawing/2014/main" id="{F5830A7B-49D9-471F-A325-AD80120F0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6260" name="Slide Number Placeholder 3">
            <a:extLst>
              <a:ext uri="{FF2B5EF4-FFF2-40B4-BE49-F238E27FC236}">
                <a16:creationId xmlns:a16="http://schemas.microsoft.com/office/drawing/2014/main" id="{D18E438A-A16C-4259-B7B0-C394454AA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467D070-FA9A-4B55-B114-06E7E161B633}" type="slidenum">
              <a:rPr lang="en-US" altLang="en-US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>
            <a:extLst>
              <a:ext uri="{FF2B5EF4-FFF2-40B4-BE49-F238E27FC236}">
                <a16:creationId xmlns:a16="http://schemas.microsoft.com/office/drawing/2014/main" id="{B4AB8AFB-D947-4B0B-8E24-0DA0BDDAA9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>
            <a:extLst>
              <a:ext uri="{FF2B5EF4-FFF2-40B4-BE49-F238E27FC236}">
                <a16:creationId xmlns:a16="http://schemas.microsoft.com/office/drawing/2014/main" id="{E0ED9572-EC6E-4F43-BC3D-D33700B94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8308" name="Slide Number Placeholder 3">
            <a:extLst>
              <a:ext uri="{FF2B5EF4-FFF2-40B4-BE49-F238E27FC236}">
                <a16:creationId xmlns:a16="http://schemas.microsoft.com/office/drawing/2014/main" id="{D9A9C66D-8490-4639-9EE9-6416C7497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BCA8877-A2A0-403C-8B6D-FC48C063B752}" type="slidenum">
              <a:rPr lang="en-US" altLang="en-US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1AEE6503-885D-4084-8768-4E213C4E07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AD1DECF-C6DD-45F9-90CC-46404F7A3CD4}" type="slidenum">
              <a:rPr lang="en-US" altLang="en-US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B1181D20-A496-4767-8C86-9F870DAF2E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93E0886-6FD5-4D71-BE09-48BE5073F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DC191022-801B-4B18-AB66-E8F52B6229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4758721-EE4D-4134-ABB7-297CAB10084E}" type="slidenum">
              <a:rPr lang="en-US" altLang="en-US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6673FB44-520F-4B55-A4DD-4EEFF1F561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B7037C95-369A-45EF-8AFE-90FF0C3B9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A7BDA398-4EB0-478C-AF07-D8115EC6B3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5E8F27-100B-49ED-905E-699353DFFC51}" type="slidenum">
              <a:rPr lang="en-US" altLang="en-US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076AAE30-923E-4A64-BDAE-5D6D1DE377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4A9F4C6F-D19E-4441-9ABA-513E98A8B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410212FC-7CEF-46AF-8512-B92DC4EC69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142B5D1-D12D-428F-9F02-6F4782469C53}" type="slidenum">
              <a:rPr lang="en-US" altLang="en-US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ECFED6CE-A256-4D1F-B735-2035AEBE7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6D69073-EED2-4E7D-8C74-4138B3AA86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A7FE4A90-77FD-4E35-A25D-408A53E242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493F9A-58EE-48D8-B805-2E538C353A4A}" type="slidenum">
              <a:rPr lang="en-US" altLang="en-US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29EF85A4-0E11-4D33-9714-9FD59FA667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F56593E6-5E1B-4998-9D9D-F44BB94C5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>
            <a:extLst>
              <a:ext uri="{FF2B5EF4-FFF2-40B4-BE49-F238E27FC236}">
                <a16:creationId xmlns:a16="http://schemas.microsoft.com/office/drawing/2014/main" id="{315C62C6-5155-45B5-A33F-A4A04EAFC5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>
            <a:extLst>
              <a:ext uri="{FF2B5EF4-FFF2-40B4-BE49-F238E27FC236}">
                <a16:creationId xmlns:a16="http://schemas.microsoft.com/office/drawing/2014/main" id="{63E0F521-A715-404F-8D0E-F14752159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0596" name="Slide Number Placeholder 3">
            <a:extLst>
              <a:ext uri="{FF2B5EF4-FFF2-40B4-BE49-F238E27FC236}">
                <a16:creationId xmlns:a16="http://schemas.microsoft.com/office/drawing/2014/main" id="{55ADADAB-C893-48F6-AA0E-232A47B93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4B487D9-76D7-4351-BCCE-91937B1AD588}" type="slidenum">
              <a:rPr lang="en-US" altLang="en-US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E3113422-4A8C-4DF4-AAF5-8784AAFE50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12AF29A6-D266-4ACD-ADDA-9B28C13A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BF0F1E37-0B77-44BE-9D0C-37F901F08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B037833-78BC-4D9A-A36C-58009A65B227}" type="slidenum">
              <a:rPr lang="en-US" altLang="en-US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00674006-1739-459C-A597-274A0124A7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3BC3C7A9-68AE-47CE-B7D4-8E3330FC6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E2700E16-B6BE-431E-B33C-CB4491EAF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0BAB1E-933C-4CA0-AD8E-330B05063125}" type="slidenum">
              <a:rPr lang="en-US" altLang="en-US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>
            <a:extLst>
              <a:ext uri="{FF2B5EF4-FFF2-40B4-BE49-F238E27FC236}">
                <a16:creationId xmlns:a16="http://schemas.microsoft.com/office/drawing/2014/main" id="{E06DE207-C864-4498-B88B-E27ED87291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>
            <a:extLst>
              <a:ext uri="{FF2B5EF4-FFF2-40B4-BE49-F238E27FC236}">
                <a16:creationId xmlns:a16="http://schemas.microsoft.com/office/drawing/2014/main" id="{CF06FAB2-0AD2-4145-816B-361FD7F29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6740" name="Slide Number Placeholder 3">
            <a:extLst>
              <a:ext uri="{FF2B5EF4-FFF2-40B4-BE49-F238E27FC236}">
                <a16:creationId xmlns:a16="http://schemas.microsoft.com/office/drawing/2014/main" id="{984C19F3-9F7B-4C3C-A630-EB1870232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1DDEF3-1736-4ADF-BC30-22A6F90309A2}" type="slidenum">
              <a:rPr lang="en-US" altLang="en-US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>
            <a:extLst>
              <a:ext uri="{FF2B5EF4-FFF2-40B4-BE49-F238E27FC236}">
                <a16:creationId xmlns:a16="http://schemas.microsoft.com/office/drawing/2014/main" id="{D3B59D3B-404D-4831-BA78-A5C74DB799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>
            <a:extLst>
              <a:ext uri="{FF2B5EF4-FFF2-40B4-BE49-F238E27FC236}">
                <a16:creationId xmlns:a16="http://schemas.microsoft.com/office/drawing/2014/main" id="{60B666D1-54FB-47C6-802D-F694E41B5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8788" name="Slide Number Placeholder 3">
            <a:extLst>
              <a:ext uri="{FF2B5EF4-FFF2-40B4-BE49-F238E27FC236}">
                <a16:creationId xmlns:a16="http://schemas.microsoft.com/office/drawing/2014/main" id="{F873013C-39FF-4BAC-83C4-EE52E2A73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D2CA85-5204-423C-9242-F686D3D0C2E0}" type="slidenum">
              <a:rPr lang="en-US" altLang="en-US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>
            <a:extLst>
              <a:ext uri="{FF2B5EF4-FFF2-40B4-BE49-F238E27FC236}">
                <a16:creationId xmlns:a16="http://schemas.microsoft.com/office/drawing/2014/main" id="{F0E1AB9F-A6F8-4AD7-BC72-73E886E7C5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>
            <a:extLst>
              <a:ext uri="{FF2B5EF4-FFF2-40B4-BE49-F238E27FC236}">
                <a16:creationId xmlns:a16="http://schemas.microsoft.com/office/drawing/2014/main" id="{79CC8B65-9A55-48EB-B4AA-82FBE82F7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B46C043D-6DCC-4384-A88B-627C21821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2F99309-14B6-467D-BC86-578D9078ABAA}" type="slidenum">
              <a:rPr lang="en-US" altLang="en-US"/>
              <a:pPr>
                <a:spcBef>
                  <a:spcPct val="0"/>
                </a:spcBef>
              </a:pPr>
              <a:t>56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>
            <a:extLst>
              <a:ext uri="{FF2B5EF4-FFF2-40B4-BE49-F238E27FC236}">
                <a16:creationId xmlns:a16="http://schemas.microsoft.com/office/drawing/2014/main" id="{9DF6E965-CDBA-412F-819D-31676FD790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>
            <a:extLst>
              <a:ext uri="{FF2B5EF4-FFF2-40B4-BE49-F238E27FC236}">
                <a16:creationId xmlns:a16="http://schemas.microsoft.com/office/drawing/2014/main" id="{5B217D4A-D905-49B9-899E-3D1F257B0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2884" name="Slide Number Placeholder 3">
            <a:extLst>
              <a:ext uri="{FF2B5EF4-FFF2-40B4-BE49-F238E27FC236}">
                <a16:creationId xmlns:a16="http://schemas.microsoft.com/office/drawing/2014/main" id="{FDD42E78-6F96-4CCA-B34C-1C72D635B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7D6446D-88B7-4998-83DD-950FD28699D7}" type="slidenum">
              <a:rPr lang="en-US" altLang="en-US"/>
              <a:pPr>
                <a:spcBef>
                  <a:spcPct val="0"/>
                </a:spcBef>
              </a:pPr>
              <a:t>57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>
            <a:extLst>
              <a:ext uri="{FF2B5EF4-FFF2-40B4-BE49-F238E27FC236}">
                <a16:creationId xmlns:a16="http://schemas.microsoft.com/office/drawing/2014/main" id="{077A457F-9DC2-4842-A3EE-6C22FE8495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>
            <a:extLst>
              <a:ext uri="{FF2B5EF4-FFF2-40B4-BE49-F238E27FC236}">
                <a16:creationId xmlns:a16="http://schemas.microsoft.com/office/drawing/2014/main" id="{691F4191-E0AD-4D60-8B91-F08EF26D7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4932" name="Slide Number Placeholder 3">
            <a:extLst>
              <a:ext uri="{FF2B5EF4-FFF2-40B4-BE49-F238E27FC236}">
                <a16:creationId xmlns:a16="http://schemas.microsoft.com/office/drawing/2014/main" id="{179A9AD2-D4EE-4503-B1E1-453CFBED2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6F5102A-5DEF-47CC-A684-7F4185C56443}" type="slidenum">
              <a:rPr lang="en-US" altLang="en-US"/>
              <a:pPr>
                <a:spcBef>
                  <a:spcPct val="0"/>
                </a:spcBef>
              </a:pPr>
              <a:t>58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4A6211D8-CE84-4B74-84A5-CAF2E9E594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EC696C1F-7F50-4C70-BD87-BBD74CEE7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8460B986-266D-406B-8737-8B6067416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64F56C4-4CF2-46ED-A634-322F37EB81FF}" type="slidenum">
              <a:rPr lang="en-US" altLang="en-US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>
            <a:extLst>
              <a:ext uri="{FF2B5EF4-FFF2-40B4-BE49-F238E27FC236}">
                <a16:creationId xmlns:a16="http://schemas.microsoft.com/office/drawing/2014/main" id="{77C3B3CE-5891-4FE2-B403-2A65B17AD0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>
            <a:extLst>
              <a:ext uri="{FF2B5EF4-FFF2-40B4-BE49-F238E27FC236}">
                <a16:creationId xmlns:a16="http://schemas.microsoft.com/office/drawing/2014/main" id="{4A454338-BFCD-4CBC-BEA1-62F8F6922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9028" name="Slide Number Placeholder 3">
            <a:extLst>
              <a:ext uri="{FF2B5EF4-FFF2-40B4-BE49-F238E27FC236}">
                <a16:creationId xmlns:a16="http://schemas.microsoft.com/office/drawing/2014/main" id="{AD8603FC-BE80-4111-8C5F-7FF1115FF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CDBB395-5446-479B-BEEA-DDE534B12ACE}" type="slidenum">
              <a:rPr lang="en-US" altLang="en-US"/>
              <a:pPr>
                <a:spcBef>
                  <a:spcPct val="0"/>
                </a:spcBef>
              </a:pPr>
              <a:t>60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F5C264E8-4B3F-4CAF-8648-DA2A3FFD97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7B1D33D7-96B7-4A29-AC03-81CB2126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A6DAA8D5-F42C-42C1-B02E-46E909827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A393492-9EC1-4299-8539-22A075E8631A}" type="slidenum">
              <a:rPr lang="en-US" altLang="en-US"/>
              <a:pPr>
                <a:spcBef>
                  <a:spcPct val="0"/>
                </a:spcBef>
              </a:pPr>
              <a:t>61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89366678-4CD7-42B4-A30C-38224F9EA4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8195DD1A-5942-429A-A94B-B92C24889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8B8A7EB1-685B-4BDC-9E63-C1C1E4745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3ECC66B-8495-480F-A91F-937DB4C57D44}" type="slidenum">
              <a:rPr lang="en-US" altLang="en-US"/>
              <a:pPr>
                <a:spcBef>
                  <a:spcPct val="0"/>
                </a:spcBef>
              </a:pPr>
              <a:t>62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>
            <a:extLst>
              <a:ext uri="{FF2B5EF4-FFF2-40B4-BE49-F238E27FC236}">
                <a16:creationId xmlns:a16="http://schemas.microsoft.com/office/drawing/2014/main" id="{F0C2AEBF-AA71-4B70-A066-3C029AA479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Notes Placeholder 2">
            <a:extLst>
              <a:ext uri="{FF2B5EF4-FFF2-40B4-BE49-F238E27FC236}">
                <a16:creationId xmlns:a16="http://schemas.microsoft.com/office/drawing/2014/main" id="{76ADD4E0-E9CC-4502-92A4-21D324D36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5172" name="Slide Number Placeholder 3">
            <a:extLst>
              <a:ext uri="{FF2B5EF4-FFF2-40B4-BE49-F238E27FC236}">
                <a16:creationId xmlns:a16="http://schemas.microsoft.com/office/drawing/2014/main" id="{4EA6AC44-A91F-47E4-9A01-632F7724B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997E67F-B23D-46CD-8A6A-B61148236D5E}" type="slidenum">
              <a:rPr lang="en-US" altLang="en-US"/>
              <a:pPr>
                <a:spcBef>
                  <a:spcPct val="0"/>
                </a:spcBef>
              </a:pPr>
              <a:t>63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>
            <a:extLst>
              <a:ext uri="{FF2B5EF4-FFF2-40B4-BE49-F238E27FC236}">
                <a16:creationId xmlns:a16="http://schemas.microsoft.com/office/drawing/2014/main" id="{E6085DB6-A4F7-4D47-ACDF-020404D1D0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9" name="Notes Placeholder 2">
            <a:extLst>
              <a:ext uri="{FF2B5EF4-FFF2-40B4-BE49-F238E27FC236}">
                <a16:creationId xmlns:a16="http://schemas.microsoft.com/office/drawing/2014/main" id="{481088D3-619C-430A-9A37-0F810B2FD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7220" name="Slide Number Placeholder 3">
            <a:extLst>
              <a:ext uri="{FF2B5EF4-FFF2-40B4-BE49-F238E27FC236}">
                <a16:creationId xmlns:a16="http://schemas.microsoft.com/office/drawing/2014/main" id="{C9112243-8EF0-42C9-BA80-8AB3265CE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1781771-211F-404F-975A-717993F66274}" type="slidenum">
              <a:rPr lang="en-US" altLang="en-US"/>
              <a:pPr>
                <a:spcBef>
                  <a:spcPct val="0"/>
                </a:spcBef>
              </a:pPr>
              <a:t>64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>
            <a:extLst>
              <a:ext uri="{FF2B5EF4-FFF2-40B4-BE49-F238E27FC236}">
                <a16:creationId xmlns:a16="http://schemas.microsoft.com/office/drawing/2014/main" id="{4EE2BB29-E898-4566-931A-A53FC5A08D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7" name="Notes Placeholder 2">
            <a:extLst>
              <a:ext uri="{FF2B5EF4-FFF2-40B4-BE49-F238E27FC236}">
                <a16:creationId xmlns:a16="http://schemas.microsoft.com/office/drawing/2014/main" id="{E8D4A1B2-80BD-4B3A-B33E-0DABBED07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9268" name="Slide Number Placeholder 3">
            <a:extLst>
              <a:ext uri="{FF2B5EF4-FFF2-40B4-BE49-F238E27FC236}">
                <a16:creationId xmlns:a16="http://schemas.microsoft.com/office/drawing/2014/main" id="{BE164C2F-C920-4978-958E-12C00D66D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3931F60-8654-4CDC-9C51-625638148D55}" type="slidenum">
              <a:rPr lang="en-US" altLang="en-US"/>
              <a:pPr>
                <a:spcBef>
                  <a:spcPct val="0"/>
                </a:spcBef>
              </a:pPr>
              <a:t>65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>
            <a:extLst>
              <a:ext uri="{FF2B5EF4-FFF2-40B4-BE49-F238E27FC236}">
                <a16:creationId xmlns:a16="http://schemas.microsoft.com/office/drawing/2014/main" id="{CC08BB3C-9489-4C9A-BC36-F96A516B40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1315" name="Notes Placeholder 2">
            <a:extLst>
              <a:ext uri="{FF2B5EF4-FFF2-40B4-BE49-F238E27FC236}">
                <a16:creationId xmlns:a16="http://schemas.microsoft.com/office/drawing/2014/main" id="{77330D18-D4BD-4F78-8800-2CC42B855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1316" name="Slide Number Placeholder 3">
            <a:extLst>
              <a:ext uri="{FF2B5EF4-FFF2-40B4-BE49-F238E27FC236}">
                <a16:creationId xmlns:a16="http://schemas.microsoft.com/office/drawing/2014/main" id="{24CFC335-6931-42F3-83E7-DF55CFAC5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A14EE15-58B9-4788-A4F3-99EC0AD0F704}" type="slidenum">
              <a:rPr lang="en-US" altLang="en-US"/>
              <a:pPr>
                <a:spcBef>
                  <a:spcPct val="0"/>
                </a:spcBef>
              </a:pPr>
              <a:t>66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>
            <a:extLst>
              <a:ext uri="{FF2B5EF4-FFF2-40B4-BE49-F238E27FC236}">
                <a16:creationId xmlns:a16="http://schemas.microsoft.com/office/drawing/2014/main" id="{04834915-7A22-4BAE-ABCF-A759649C5B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Notes Placeholder 2">
            <a:extLst>
              <a:ext uri="{FF2B5EF4-FFF2-40B4-BE49-F238E27FC236}">
                <a16:creationId xmlns:a16="http://schemas.microsoft.com/office/drawing/2014/main" id="{B343D339-7B36-475E-885B-53156AE1F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3364" name="Slide Number Placeholder 3">
            <a:extLst>
              <a:ext uri="{FF2B5EF4-FFF2-40B4-BE49-F238E27FC236}">
                <a16:creationId xmlns:a16="http://schemas.microsoft.com/office/drawing/2014/main" id="{4D3EAE7A-CAD2-4727-98BB-BF42F1F8D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78F0253-9E1B-4B54-999E-6DD7428DADAB}" type="slidenum">
              <a:rPr lang="en-US" altLang="en-US"/>
              <a:pPr>
                <a:spcBef>
                  <a:spcPct val="0"/>
                </a:spcBef>
              </a:pPr>
              <a:t>67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8BC519A0-CA94-46CA-A4CD-E4EC7F358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27228338-9011-4712-8F5F-0ECAE62CB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241C4B-4BB6-4430-86E2-4BFA2E2BB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95600"/>
            <a:ext cx="9144000" cy="10779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r>
              <a:rPr lang="en-US" sz="3200">
                <a:solidFill>
                  <a:srgbClr val="0045AD"/>
                </a:solidFill>
                <a:latin typeface="Arial" charset="0"/>
                <a:cs typeface="Arial" charset="0"/>
              </a:rPr>
              <a:t>Introduction to Programming in C++</a:t>
            </a:r>
          </a:p>
          <a:p>
            <a:pPr algn="ctr" eaLnBrk="1" hangingPunct="1">
              <a:defRPr/>
            </a:pPr>
            <a:r>
              <a:rPr lang="en-US" sz="3200">
                <a:solidFill>
                  <a:srgbClr val="0045AD"/>
                </a:solidFill>
                <a:latin typeface="Arial" charset="0"/>
                <a:cs typeface="Arial" charset="0"/>
              </a:rPr>
              <a:t>Seventh Edition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58C5DF-6110-4F6F-83F8-5ABC4D54E1E8}"/>
              </a:ext>
            </a:extLst>
          </p:cNvPr>
          <p:cNvCxnSpPr/>
          <p:nvPr/>
        </p:nvCxnSpPr>
        <p:spPr bwMode="auto">
          <a:xfrm>
            <a:off x="1828800" y="4343400"/>
            <a:ext cx="5486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/>
          <p:cNvSpPr>
            <a:spLocks noGrp="1"/>
          </p:cNvSpPr>
          <p:nvPr>
            <p:ph type="body" sz="quarter" idx="10"/>
          </p:nvPr>
        </p:nvSpPr>
        <p:spPr>
          <a:xfrm>
            <a:off x="914400" y="4724400"/>
            <a:ext cx="7315200" cy="1371600"/>
          </a:xfrm>
        </p:spPr>
        <p:txBody>
          <a:bodyPr/>
          <a:lstStyle>
            <a:lvl1pPr algn="ctr"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6929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64788B8-0DA3-405D-9755-D73E6F8C7A4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1CF5A6E-BACC-456A-96D9-15B7DA389A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0D77D-DABF-4DAD-B4CC-832C5E8BE9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44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6E97EE-0274-4D0D-9A1B-E492271A5003}"/>
              </a:ext>
            </a:extLst>
          </p:cNvPr>
          <p:cNvSpPr>
            <a:spLocks/>
          </p:cNvSpPr>
          <p:nvPr/>
        </p:nvSpPr>
        <p:spPr bwMode="auto">
          <a:xfrm>
            <a:off x="609600" y="152400"/>
            <a:ext cx="8077200" cy="1143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3600">
                <a:solidFill>
                  <a:schemeClr val="tx1"/>
                </a:solidFill>
                <a:latin typeface="Trebuchet MS" panose="020B0603020202020204" pitchFamily="34" charset="0"/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ound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7DE774-B8CE-4955-8927-8144C2532E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26A297-FB7F-4C4A-BC7F-AC0D74EA805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DB8A7FD-C038-41C6-877D-DC7094AADD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621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939A08-35D2-4F2A-BA89-1D7B929CEB0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12B38D-2EC6-487C-8BA4-BB956C40AB5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E2E42-66E5-4507-BEBD-37A1EB9046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55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FDA5B61-46ED-4655-A20F-154846DADC5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10891FA-426F-49E4-B8F4-99AC54A80E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89A92-24DA-4A95-9AEC-687D951770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16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4D1E6A2-ABB9-4BD4-A287-F2DC768BA8B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7EFB53F-25DD-4948-9C52-CDF7A8B177D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005FB-93D8-43D2-98A2-1028B4F045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6906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797B599-9151-4710-8724-C2D0BDA6CE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B37626F-6DCF-42FC-8AB2-9D7CC4CC3FF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EB0BC-32C1-411C-88FF-44056E1F54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575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47800"/>
            <a:ext cx="5111750" cy="46783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99108F-29F9-46E6-9411-1463AEFC5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B4F854-C39E-4486-85EA-EBD54B2EED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55AE16-9957-4B2A-A27B-AA3287ACC9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1152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ound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13ACB2-E68F-4B3F-A8E4-AB94C9643B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BEE383-8F61-4C11-8904-E10E514310C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8D7A0-CE6B-45A7-8128-6C82A8A270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182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rgbClr val="1648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CE0F1A8-C37E-483D-A298-926F827145E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F78477-F6DC-4274-BC6C-071E8D7D5D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7F44F-8EA4-42E1-B3C2-277F585984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366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  <a:prstGeom prst="round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4AD45AC-7FE9-4D1D-911D-EC47BA7D870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1AAF69C-893A-4BB2-B829-58745F0522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DB452-0116-49BF-B11D-9E4532C27D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5884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07DA901C-1173-41D8-9819-60539DAE7B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32E5C3AC-E11F-4DB9-9130-9F063B0280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9F1916-7838-4A3A-AABD-FE48E99F400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95600"/>
            <a:ext cx="9144000" cy="10779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r>
              <a:rPr lang="en-US" sz="3200" dirty="0">
                <a:solidFill>
                  <a:srgbClr val="0045AD"/>
                </a:solidFill>
                <a:latin typeface="Arial" charset="0"/>
                <a:cs typeface="Arial" charset="0"/>
              </a:rPr>
              <a:t>Introduction to Programming in C++</a:t>
            </a:r>
          </a:p>
          <a:p>
            <a:pPr algn="ctr" eaLnBrk="1" hangingPunct="1">
              <a:defRPr/>
            </a:pPr>
            <a:r>
              <a:rPr lang="en-US" sz="3200" dirty="0">
                <a:solidFill>
                  <a:srgbClr val="0045AD"/>
                </a:solidFill>
                <a:latin typeface="Arial" charset="0"/>
                <a:cs typeface="Arial" charset="0"/>
              </a:rPr>
              <a:t>Eighth Edition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FEEA87-7E66-40FF-BA3B-1BFDBEBA32EB}"/>
              </a:ext>
            </a:extLst>
          </p:cNvPr>
          <p:cNvCxnSpPr/>
          <p:nvPr userDrawn="1"/>
        </p:nvCxnSpPr>
        <p:spPr bwMode="auto">
          <a:xfrm>
            <a:off x="1828800" y="4343400"/>
            <a:ext cx="5486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A6ED65B-753F-43D9-85D8-3003B70FB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24152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985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>
            <a:extLst>
              <a:ext uri="{FF2B5EF4-FFF2-40B4-BE49-F238E27FC236}">
                <a16:creationId xmlns:a16="http://schemas.microsoft.com/office/drawing/2014/main" id="{F0DD9EC0-5F7C-49C6-AAF9-21F2D01E4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226107C-3CDD-4975-8D8E-BDB0398FC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24000"/>
            <a:ext cx="8077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EFB7427-7254-4656-8E59-A185ECA626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108A9B3-D9FE-42D0-AE9D-DEEF50258D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3C10276-F49C-46F4-A45F-FBD305E5E2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Placeholder 7">
            <a:extLst>
              <a:ext uri="{FF2B5EF4-FFF2-40B4-BE49-F238E27FC236}">
                <a16:creationId xmlns:a16="http://schemas.microsoft.com/office/drawing/2014/main" id="{8A58359E-EB52-4115-940D-0C87655FF40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TextBox 2">
            <a:extLst>
              <a:ext uri="{FF2B5EF4-FFF2-40B4-BE49-F238E27FC236}">
                <a16:creationId xmlns:a16="http://schemas.microsoft.com/office/drawing/2014/main" id="{2A2B468A-523F-429C-8AB3-E99296FDFA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84800" y="6324600"/>
            <a:ext cx="28448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pPr eaLnBrk="1" hangingPunct="1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61" r:id="rId2"/>
    <p:sldLayoutId id="214748407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  <p:sldLayoutId id="214748407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54375518-0E42-4DB3-AE99-DB1AD676F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82441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16489A"/>
                </a:solidFill>
                <a:latin typeface="Trebuchet MS" panose="020B0603020202020204" pitchFamily="34" charset="0"/>
              </a:rPr>
              <a:t>Chapter 9: Value-Returning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74D52FE3-DC0A-4835-BCB6-F525A69453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307388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Raise a number to a power using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pow</a:t>
            </a:r>
            <a:r>
              <a:rPr lang="en-US" altLang="en-US">
                <a:ea typeface="ＭＳ Ｐゴシック" panose="020B0600070205080204" pitchFamily="34" charset="-128"/>
              </a:rPr>
              <a:t> function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Return the square root of a number using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sqrt</a:t>
            </a:r>
            <a:r>
              <a:rPr lang="en-US" altLang="en-US">
                <a:ea typeface="ＭＳ Ｐゴシック" panose="020B0600070205080204" pitchFamily="34" charset="-128"/>
              </a:rPr>
              <a:t> function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Generate random numbers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Create and invoke a function that returns a value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Pass information 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by value </a:t>
            </a:r>
            <a:r>
              <a:rPr lang="en-US" altLang="en-US">
                <a:ea typeface="ＭＳ Ｐゴシック" panose="020B0600070205080204" pitchFamily="34" charset="-128"/>
              </a:rPr>
              <a:t>to a function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Write a function prototype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Understand a variable’s scope and lifetime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F8DC9FE-2884-47E3-9776-D028F5685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Objectives</a:t>
            </a:r>
          </a:p>
        </p:txBody>
      </p:sp>
      <p:sp>
        <p:nvSpPr>
          <p:cNvPr id="9220" name="Footer Placeholder 3">
            <a:extLst>
              <a:ext uri="{FF2B5EF4-FFF2-40B4-BE49-F238E27FC236}">
                <a16:creationId xmlns:a16="http://schemas.microsoft.com/office/drawing/2014/main" id="{9EF339C2-C9E5-4AC2-A8F2-74429E43CB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43D44258-8438-4BA3-BAD8-7B310B24B2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4F240F-5A27-414D-9511-35911876F8F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7845AA69-E7F9-4463-92E7-85C1141DEA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function is a block of code that performs a task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Every C++ program contains at least one function (main)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Most contain many functions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 functions are built-in functions (part of C++): defined in language libraries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Others, called program-defined functions, are written by programmers; defined in a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Functions allow for blocks of code to be used many times in a program without having to duplicate code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81592AB2-4476-44D6-88D7-96D18739C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Functions</a:t>
            </a:r>
          </a:p>
        </p:txBody>
      </p:sp>
      <p:sp>
        <p:nvSpPr>
          <p:cNvPr id="11268" name="Footer Placeholder 3">
            <a:extLst>
              <a:ext uri="{FF2B5EF4-FFF2-40B4-BE49-F238E27FC236}">
                <a16:creationId xmlns:a16="http://schemas.microsoft.com/office/drawing/2014/main" id="{6932B2A4-678F-4F94-BED9-F836A7F07E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2EDFFB99-FC70-4103-A98C-62D90BC15E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DA92C0-F45A-4512-A02F-B169192DE9D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DE23EF95-9401-4436-AE5B-BE1A8E78F4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4988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Functions also allow large, complex programs to be broken down into small, manageable sub-tasks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Each sub-task is solved by a function, and thus different people can write different functions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Many functions can then be combined into a single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Typically,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main</a:t>
            </a:r>
            <a:r>
              <a:rPr lang="en-US" altLang="en-US">
                <a:ea typeface="ＭＳ Ｐゴシック" panose="020B0600070205080204" pitchFamily="34" charset="-128"/>
              </a:rPr>
              <a:t> is used to call other functions, but any function can call any other function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21FFC26C-EE75-4828-9AA5-CD0B8BAC9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Functions (cont’d.)</a:t>
            </a:r>
          </a:p>
        </p:txBody>
      </p:sp>
      <p:sp>
        <p:nvSpPr>
          <p:cNvPr id="13316" name="Footer Placeholder 3">
            <a:extLst>
              <a:ext uri="{FF2B5EF4-FFF2-40B4-BE49-F238E27FC236}">
                <a16:creationId xmlns:a16="http://schemas.microsoft.com/office/drawing/2014/main" id="{E048BA96-340F-484A-B464-4A7FD736DD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1E13A73E-9661-4964-BD1A-1E94F05328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E5A64D-E7E8-4796-AF51-D05AA66CD37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A9CFC100-B884-44CD-9A08-B3D868C80C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363" name="Slide Number Placeholder 4">
            <a:extLst>
              <a:ext uri="{FF2B5EF4-FFF2-40B4-BE49-F238E27FC236}">
                <a16:creationId xmlns:a16="http://schemas.microsoft.com/office/drawing/2014/main" id="{5D2B1F1A-1C5B-4FE2-8A1F-9E48E39F9E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209142-B9FC-45F6-850E-EE80124D228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Rectangle 7">
            <a:extLst>
              <a:ext uri="{FF2B5EF4-FFF2-40B4-BE49-F238E27FC236}">
                <a16:creationId xmlns:a16="http://schemas.microsoft.com/office/drawing/2014/main" id="{5F60BAD6-3DA3-4744-A6BF-353267AA6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88" y="5721350"/>
            <a:ext cx="6284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 Illustrations of value-returning and void functions</a:t>
            </a:r>
          </a:p>
        </p:txBody>
      </p:sp>
      <p:sp>
        <p:nvSpPr>
          <p:cNvPr id="15365" name="Rectangle 2">
            <a:extLst>
              <a:ext uri="{FF2B5EF4-FFF2-40B4-BE49-F238E27FC236}">
                <a16:creationId xmlns:a16="http://schemas.microsoft.com/office/drawing/2014/main" id="{44D2CFEB-9213-46B4-B777-B3342670D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Functions (cont’d.)</a:t>
            </a:r>
          </a:p>
        </p:txBody>
      </p:sp>
      <p:pic>
        <p:nvPicPr>
          <p:cNvPr id="15366" name="Picture 2">
            <a:extLst>
              <a:ext uri="{FF2B5EF4-FFF2-40B4-BE49-F238E27FC236}">
                <a16:creationId xmlns:a16="http://schemas.microsoft.com/office/drawing/2014/main" id="{88250EB7-B48D-4251-A276-FDC3FEFE7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1323975"/>
            <a:ext cx="8651875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67655E36-F787-4E44-87AF-CE170C7523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4988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All functions are either value-returning or void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All </a:t>
            </a:r>
            <a:r>
              <a:rPr lang="en-US" altLang="en-US" b="1">
                <a:ea typeface="ＭＳ Ｐゴシック" panose="020B0600070205080204" pitchFamily="34" charset="-128"/>
              </a:rPr>
              <a:t>value-returning functions</a:t>
            </a:r>
            <a:r>
              <a:rPr lang="en-US" altLang="en-US">
                <a:ea typeface="ＭＳ Ｐゴシック" panose="020B0600070205080204" pitchFamily="34" charset="-128"/>
              </a:rPr>
              <a:t> perform a task and then return precisely one value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most cases, the value is returned to the statement that called the function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Typically, a statement that calls a function assigns the return value to a variable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However, a return value could also be used in a comparison or calculation or could be printed to the screen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89EC80F0-7962-4BCE-BB7F-18CE09CCA6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Value-Returning Functions</a:t>
            </a:r>
          </a:p>
        </p:txBody>
      </p:sp>
      <p:sp>
        <p:nvSpPr>
          <p:cNvPr id="17412" name="Footer Placeholder 3">
            <a:extLst>
              <a:ext uri="{FF2B5EF4-FFF2-40B4-BE49-F238E27FC236}">
                <a16:creationId xmlns:a16="http://schemas.microsoft.com/office/drawing/2014/main" id="{20B6ED1B-CB67-4480-AD6A-35B07C335C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7413" name="Slide Number Placeholder 4">
            <a:extLst>
              <a:ext uri="{FF2B5EF4-FFF2-40B4-BE49-F238E27FC236}">
                <a16:creationId xmlns:a16="http://schemas.microsoft.com/office/drawing/2014/main" id="{124C1752-5A84-4A2E-9382-C4906E4345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FAB90E-D77C-4BFB-B5B3-D31F232A9FE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A2565ECA-59E9-442F-9822-49883248E9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3075" y="1676400"/>
            <a:ext cx="8285163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pow</a:t>
            </a:r>
            <a:r>
              <a:rPr lang="en-US" altLang="en-US" b="1">
                <a:ea typeface="ＭＳ Ｐゴシック" panose="020B0600070205080204" pitchFamily="34" charset="-128"/>
              </a:rPr>
              <a:t> function</a:t>
            </a:r>
            <a:r>
              <a:rPr lang="en-US" altLang="en-US">
                <a:ea typeface="ＭＳ Ｐゴシック" panose="020B0600070205080204" pitchFamily="34" charset="-128"/>
              </a:rPr>
              <a:t> is a convenient tool to raise a number to a power (</a:t>
            </a:r>
            <a:r>
              <a:rPr lang="en-US" altLang="en-US" b="1">
                <a:ea typeface="ＭＳ Ｐゴシック" panose="020B0600070205080204" pitchFamily="34" charset="-128"/>
              </a:rPr>
              <a:t>exponentiation)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pow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function raises a number to a power and returns the result as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number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 is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pow(x, y)</a:t>
            </a:r>
            <a:r>
              <a:rPr lang="en-US" altLang="en-US">
                <a:ea typeface="ＭＳ Ｐゴシック" panose="020B0600070205080204" pitchFamily="34" charset="-128"/>
              </a:rPr>
              <a:t>, in which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x</a:t>
            </a:r>
            <a:r>
              <a:rPr lang="en-US" altLang="en-US">
                <a:ea typeface="ＭＳ Ｐゴシック" panose="020B0600070205080204" pitchFamily="34" charset="-128"/>
              </a:rPr>
              <a:t> is the base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y</a:t>
            </a:r>
            <a:r>
              <a:rPr lang="en-US" altLang="en-US">
                <a:ea typeface="ＭＳ Ｐゴシック" panose="020B0600070205080204" pitchFamily="34" charset="-128"/>
              </a:rPr>
              <a:t> is the exponent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At least one of the two arguments must be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 must contain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#include &lt;cmath&gt;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directive to use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pow</a:t>
            </a:r>
            <a:r>
              <a:rPr lang="en-US" altLang="en-US">
                <a:ea typeface="ＭＳ Ｐゴシック" panose="020B0600070205080204" pitchFamily="34" charset="-128"/>
              </a:rPr>
              <a:t> function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15B7D60-AD62-4FF2-A74D-EB7242DBB2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pow</a:t>
            </a:r>
            <a:r>
              <a:rPr lang="en-US" altLang="en-US">
                <a:ea typeface="ＭＳ Ｐゴシック" panose="020B0600070205080204" pitchFamily="34" charset="-128"/>
              </a:rPr>
              <a:t> Function</a:t>
            </a:r>
          </a:p>
        </p:txBody>
      </p:sp>
      <p:sp>
        <p:nvSpPr>
          <p:cNvPr id="19460" name="Footer Placeholder 3">
            <a:extLst>
              <a:ext uri="{FF2B5EF4-FFF2-40B4-BE49-F238E27FC236}">
                <a16:creationId xmlns:a16="http://schemas.microsoft.com/office/drawing/2014/main" id="{18AADF4F-8042-4C33-AD0C-390AF1BE6C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9461" name="Slide Number Placeholder 4">
            <a:extLst>
              <a:ext uri="{FF2B5EF4-FFF2-40B4-BE49-F238E27FC236}">
                <a16:creationId xmlns:a16="http://schemas.microsoft.com/office/drawing/2014/main" id="{0B04DD27-6F81-4C19-B654-064D3E64BD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D55FD7-13CB-4DC1-9634-A96DF91E281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905A695E-1793-41B3-9E9C-5132061A42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DDC2DD12-71EF-436B-A557-642999E7D4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BB3F5C-A6BD-40F4-BAEC-6FD1EC64FB9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508" name="TextBox 9">
            <a:extLst>
              <a:ext uri="{FF2B5EF4-FFF2-40B4-BE49-F238E27FC236}">
                <a16:creationId xmlns:a16="http://schemas.microsoft.com/office/drawing/2014/main" id="{59B3EE97-F5AE-4847-80EC-DD633882D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0775" y="5892800"/>
            <a:ext cx="4462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9-2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pow</a:t>
            </a:r>
            <a:r>
              <a:rPr lang="en-US" altLang="en-US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function</a:t>
            </a:r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CDE0D8FD-9F50-47E1-9724-3CDD85B7C0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pow</a:t>
            </a:r>
            <a:r>
              <a:rPr lang="en-US" altLang="en-US">
                <a:ea typeface="ＭＳ Ｐゴシック" panose="020B0600070205080204" pitchFamily="34" charset="-128"/>
              </a:rPr>
              <a:t> Function (cont’d.)</a:t>
            </a:r>
          </a:p>
        </p:txBody>
      </p:sp>
      <p:pic>
        <p:nvPicPr>
          <p:cNvPr id="21510" name="Picture 2">
            <a:extLst>
              <a:ext uri="{FF2B5EF4-FFF2-40B4-BE49-F238E27FC236}">
                <a16:creationId xmlns:a16="http://schemas.microsoft.com/office/drawing/2014/main" id="{666AFAEF-0BF4-4AB9-B8D6-9371A4042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320800"/>
            <a:ext cx="869950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D7EFA54E-CAF7-481F-95FD-306B7CAA1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sqrt</a:t>
            </a:r>
            <a:r>
              <a:rPr lang="en-US" altLang="en-US" b="1">
                <a:ea typeface="ＭＳ Ｐゴシック" panose="020B0600070205080204" pitchFamily="34" charset="-128"/>
                <a:cs typeface="Courier New" panose="02070309020205020404" pitchFamily="49" charset="0"/>
              </a:rPr>
              <a:t> function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is a built-in value-returning function that returns a number’s square root as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Definition contained in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cmath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library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Program must contain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#include &lt;cmath&gt;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to use it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Syntax: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sqrt(x)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, in which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x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is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or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float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Here,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x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is an </a:t>
            </a:r>
            <a:r>
              <a:rPr lang="en-US" altLang="en-US" b="1">
                <a:ea typeface="ＭＳ Ｐゴシック" panose="020B0600070205080204" pitchFamily="34" charset="-128"/>
                <a:cs typeface="Courier New" panose="02070309020205020404" pitchFamily="49" charset="0"/>
              </a:rPr>
              <a:t>actual argument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, which is an item of information a function needs to perform its task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Actual arguments are passed to a function when called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958397B-83C6-4D48-9C0C-DC0564F7C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sqrt</a:t>
            </a:r>
            <a:r>
              <a:rPr lang="en-US" altLang="en-US">
                <a:ea typeface="ＭＳ Ｐゴシック" panose="020B0600070205080204" pitchFamily="34" charset="-128"/>
              </a:rPr>
              <a:t> Function</a:t>
            </a:r>
          </a:p>
        </p:txBody>
      </p:sp>
      <p:sp>
        <p:nvSpPr>
          <p:cNvPr id="23556" name="Footer Placeholder 3">
            <a:extLst>
              <a:ext uri="{FF2B5EF4-FFF2-40B4-BE49-F238E27FC236}">
                <a16:creationId xmlns:a16="http://schemas.microsoft.com/office/drawing/2014/main" id="{0D39BE50-2E80-4D6B-AAEC-D983E95380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04D62F22-E533-4126-8290-B713168C27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57422F-3276-4BC5-991F-66C8D9353256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>
            <a:extLst>
              <a:ext uri="{FF2B5EF4-FFF2-40B4-BE49-F238E27FC236}">
                <a16:creationId xmlns:a16="http://schemas.microsoft.com/office/drawing/2014/main" id="{DD9D3378-91C5-47E9-8F25-C7630B8D19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5603" name="Slide Number Placeholder 4">
            <a:extLst>
              <a:ext uri="{FF2B5EF4-FFF2-40B4-BE49-F238E27FC236}">
                <a16:creationId xmlns:a16="http://schemas.microsoft.com/office/drawing/2014/main" id="{88D42F6E-0963-4537-9D7B-5508A6E12C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39A2C6-2890-4270-A110-64E614EA939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04" name="TextBox 9">
            <a:extLst>
              <a:ext uri="{FF2B5EF4-FFF2-40B4-BE49-F238E27FC236}">
                <a16:creationId xmlns:a16="http://schemas.microsoft.com/office/drawing/2014/main" id="{B36C5742-18A4-48A1-A1B3-FECE26DB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538" y="5788025"/>
            <a:ext cx="44211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9-3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function</a:t>
            </a:r>
          </a:p>
        </p:txBody>
      </p:sp>
      <p:sp>
        <p:nvSpPr>
          <p:cNvPr id="25605" name="Rectangle 9">
            <a:extLst>
              <a:ext uri="{FF2B5EF4-FFF2-40B4-BE49-F238E27FC236}">
                <a16:creationId xmlns:a16="http://schemas.microsoft.com/office/drawing/2014/main" id="{BD99ECCB-DCFE-4CB8-9138-8ECD37E1D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8" y="1354138"/>
            <a:ext cx="658812" cy="514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6" name="Rectangle 2">
            <a:extLst>
              <a:ext uri="{FF2B5EF4-FFF2-40B4-BE49-F238E27FC236}">
                <a16:creationId xmlns:a16="http://schemas.microsoft.com/office/drawing/2014/main" id="{5593F176-8EC9-4EF5-88CD-EB0F994681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sqrt</a:t>
            </a:r>
            <a:r>
              <a:rPr lang="en-US" altLang="en-US">
                <a:ea typeface="ＭＳ Ｐゴシック" panose="020B0600070205080204" pitchFamily="34" charset="-128"/>
              </a:rPr>
              <a:t> Function (cont’d.)</a:t>
            </a:r>
          </a:p>
        </p:txBody>
      </p:sp>
      <p:pic>
        <p:nvPicPr>
          <p:cNvPr id="25607" name="Picture 2">
            <a:extLst>
              <a:ext uri="{FF2B5EF4-FFF2-40B4-BE49-F238E27FC236}">
                <a16:creationId xmlns:a16="http://schemas.microsoft.com/office/drawing/2014/main" id="{2D02890F-7533-4EF3-87F1-67E658E3C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270000"/>
            <a:ext cx="87630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2DE4C269-4E45-488D-ABBD-C1DDD99A2B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 that calculates and displays the length of a right triangle hypotenuse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 uses Pythagorean theorem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Requires squaring and taking square root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pow</a:t>
            </a:r>
            <a:r>
              <a:rPr lang="en-US" altLang="en-US">
                <a:ea typeface="ＭＳ Ｐゴシック" panose="020B0600070205080204" pitchFamily="34" charset="-128"/>
              </a:rPr>
              <a:t> function can be used to square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sqrt</a:t>
            </a:r>
            <a:r>
              <a:rPr lang="en-US" altLang="en-US">
                <a:ea typeface="ＭＳ Ｐゴシック" panose="020B0600070205080204" pitchFamily="34" charset="-128"/>
              </a:rPr>
              <a:t> function can be used to take square root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Both are built-in value-returning functions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24B116F-A302-4A49-B67B-D79C75C28A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Hypotenuse Program</a:t>
            </a:r>
          </a:p>
        </p:txBody>
      </p:sp>
      <p:sp>
        <p:nvSpPr>
          <p:cNvPr id="27652" name="Footer Placeholder 3">
            <a:extLst>
              <a:ext uri="{FF2B5EF4-FFF2-40B4-BE49-F238E27FC236}">
                <a16:creationId xmlns:a16="http://schemas.microsoft.com/office/drawing/2014/main" id="{B5B1C538-1701-4BD6-A8C7-D15210D3DD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F06AD2CF-5387-4E7A-8C0D-FB96A00BE7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3E3227-DF47-4826-879F-5FDC2BB690C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>
            <a:extLst>
              <a:ext uri="{FF2B5EF4-FFF2-40B4-BE49-F238E27FC236}">
                <a16:creationId xmlns:a16="http://schemas.microsoft.com/office/drawing/2014/main" id="{FA45A002-209F-43BF-AF25-5319D60325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9699" name="Slide Number Placeholder 4">
            <a:extLst>
              <a:ext uri="{FF2B5EF4-FFF2-40B4-BE49-F238E27FC236}">
                <a16:creationId xmlns:a16="http://schemas.microsoft.com/office/drawing/2014/main" id="{2A14971E-D708-4F58-A4F0-AF1C7F2ACC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49538B-06D0-426B-A02D-C90894F0804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700" name="Rectangle 7">
            <a:extLst>
              <a:ext uri="{FF2B5EF4-FFF2-40B4-BE49-F238E27FC236}">
                <a16:creationId xmlns:a16="http://schemas.microsoft.com/office/drawing/2014/main" id="{BE7D4B89-78C2-4DEF-9333-55B6B40BA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5295900"/>
            <a:ext cx="5813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9-4 Pythagorean theorem</a:t>
            </a:r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A7B23026-F383-4964-B761-F175A427A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Hypotenuse Program (cont’d.)</a:t>
            </a:r>
          </a:p>
        </p:txBody>
      </p:sp>
      <p:pic>
        <p:nvPicPr>
          <p:cNvPr id="29702" name="Picture 2">
            <a:extLst>
              <a:ext uri="{FF2B5EF4-FFF2-40B4-BE49-F238E27FC236}">
                <a16:creationId xmlns:a16="http://schemas.microsoft.com/office/drawing/2014/main" id="{5A089258-4C40-4BEE-A576-1193D581A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804988"/>
            <a:ext cx="877570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>
            <a:extLst>
              <a:ext uri="{FF2B5EF4-FFF2-40B4-BE49-F238E27FC236}">
                <a16:creationId xmlns:a16="http://schemas.microsoft.com/office/drawing/2014/main" id="{BE29EF56-1541-48EC-95BC-D79243C4A8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1747" name="Slide Number Placeholder 4">
            <a:extLst>
              <a:ext uri="{FF2B5EF4-FFF2-40B4-BE49-F238E27FC236}">
                <a16:creationId xmlns:a16="http://schemas.microsoft.com/office/drawing/2014/main" id="{9B920176-D3B4-49F5-A7AF-6D9A5726EF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ADA38E-CD3E-4278-8998-4C1A1C1E643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7">
            <a:extLst>
              <a:ext uri="{FF2B5EF4-FFF2-40B4-BE49-F238E27FC236}">
                <a16:creationId xmlns:a16="http://schemas.microsoft.com/office/drawing/2014/main" id="{CE244321-A976-4300-9506-8A6F51451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" y="5626100"/>
            <a:ext cx="7023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9-5 Problem specification, IPO chart information, and C++ instructions for the Hypotenuse Program</a:t>
            </a:r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00C132EE-4CE1-4CB7-AADF-657911717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Hypotenuse Program (cont’d.)</a:t>
            </a:r>
          </a:p>
        </p:txBody>
      </p:sp>
      <p:pic>
        <p:nvPicPr>
          <p:cNvPr id="31750" name="Picture 2">
            <a:extLst>
              <a:ext uri="{FF2B5EF4-FFF2-40B4-BE49-F238E27FC236}">
                <a16:creationId xmlns:a16="http://schemas.microsoft.com/office/drawing/2014/main" id="{085F981C-12F7-4999-B48A-3A6C638EC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350" y="1422400"/>
            <a:ext cx="7099300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>
            <a:extLst>
              <a:ext uri="{FF2B5EF4-FFF2-40B4-BE49-F238E27FC236}">
                <a16:creationId xmlns:a16="http://schemas.microsoft.com/office/drawing/2014/main" id="{4BC791F3-60D5-4CA0-B015-33AAD910AD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3795" name="Slide Number Placeholder 4">
            <a:extLst>
              <a:ext uri="{FF2B5EF4-FFF2-40B4-BE49-F238E27FC236}">
                <a16:creationId xmlns:a16="http://schemas.microsoft.com/office/drawing/2014/main" id="{2F5EE879-A775-4F4C-8EE4-6B3D7B3BBE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89A8B5-0DE9-40B1-8733-0AFDBCD86AC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Rectangle 7">
            <a:extLst>
              <a:ext uri="{FF2B5EF4-FFF2-40B4-BE49-F238E27FC236}">
                <a16:creationId xmlns:a16="http://schemas.microsoft.com/office/drawing/2014/main" id="{87E1E0AB-3B72-4C97-8930-77708141E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5829300"/>
            <a:ext cx="5813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9-6 Beginning of Hypotenuse program</a:t>
            </a:r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156594C7-0721-486E-9B75-79BA5BA481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Hypotenuse Program (cont’d.)</a:t>
            </a:r>
          </a:p>
        </p:txBody>
      </p:sp>
      <p:pic>
        <p:nvPicPr>
          <p:cNvPr id="33798" name="Picture 2">
            <a:extLst>
              <a:ext uri="{FF2B5EF4-FFF2-40B4-BE49-F238E27FC236}">
                <a16:creationId xmlns:a16="http://schemas.microsoft.com/office/drawing/2014/main" id="{87320218-92FE-441F-BCA1-EAC615019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1358900"/>
            <a:ext cx="829945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>
            <a:extLst>
              <a:ext uri="{FF2B5EF4-FFF2-40B4-BE49-F238E27FC236}">
                <a16:creationId xmlns:a16="http://schemas.microsoft.com/office/drawing/2014/main" id="{3E642782-4288-4091-9CBF-9683230E98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5843" name="Slide Number Placeholder 4">
            <a:extLst>
              <a:ext uri="{FF2B5EF4-FFF2-40B4-BE49-F238E27FC236}">
                <a16:creationId xmlns:a16="http://schemas.microsoft.com/office/drawing/2014/main" id="{2900E914-B2E7-4A1E-B11F-DA0B7316CE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7A5979-3465-47FF-8A23-7CB0416C465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844" name="Rectangle 7">
            <a:extLst>
              <a:ext uri="{FF2B5EF4-FFF2-40B4-BE49-F238E27FC236}">
                <a16:creationId xmlns:a16="http://schemas.microsoft.com/office/drawing/2014/main" id="{695EA9E6-8571-422D-830F-3757128C9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5829300"/>
            <a:ext cx="6596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9-6 Completion of Hypotenuse Program and sample run</a:t>
            </a:r>
          </a:p>
        </p:txBody>
      </p:sp>
      <p:sp>
        <p:nvSpPr>
          <p:cNvPr id="35845" name="Rectangle 2">
            <a:extLst>
              <a:ext uri="{FF2B5EF4-FFF2-40B4-BE49-F238E27FC236}">
                <a16:creationId xmlns:a16="http://schemas.microsoft.com/office/drawing/2014/main" id="{8607B144-9795-4F0E-9B69-FB2AD68C7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Hypotenuse Program (cont’d.)</a:t>
            </a:r>
          </a:p>
        </p:txBody>
      </p:sp>
      <p:pic>
        <p:nvPicPr>
          <p:cNvPr id="35846" name="Picture 2">
            <a:extLst>
              <a:ext uri="{FF2B5EF4-FFF2-40B4-BE49-F238E27FC236}">
                <a16:creationId xmlns:a16="http://schemas.microsoft.com/office/drawing/2014/main" id="{9AF3FC82-6693-418B-9416-1E4BB6BF5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295400"/>
            <a:ext cx="8775700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8D10A432-8652-4E59-A25E-1913F7A0CB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C++ provides a pseudo-random number generator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Produces a sequence of numbers that meet certain statistical requirements for randomness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Numbers chosen uniformly from finite set of numbers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Not truly random but sufficient for practical purposes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Random number generator in C++: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</a:t>
            </a:r>
            <a:r>
              <a:rPr lang="en-US" altLang="en-US">
                <a:ea typeface="ＭＳ Ｐゴシック" panose="020B0600070205080204" pitchFamily="34" charset="-128"/>
              </a:rPr>
              <a:t> function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Returns an integer between 0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RAND_MAX</a:t>
            </a:r>
            <a:r>
              <a:rPr lang="en-US" altLang="en-US">
                <a:ea typeface="ＭＳ Ｐゴシック" panose="020B0600070205080204" pitchFamily="34" charset="-128"/>
              </a:rPr>
              <a:t>, inclusive</a:t>
            </a:r>
          </a:p>
          <a:p>
            <a:pPr lvl="1"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RAND_MAX</a:t>
            </a:r>
            <a:r>
              <a:rPr lang="en-US" altLang="en-US">
                <a:ea typeface="ＭＳ Ｐゴシック" panose="020B0600070205080204" pitchFamily="34" charset="-128"/>
              </a:rPr>
              <a:t> is a built-in constant (&gt;= 32767)</a:t>
            </a: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FAE6D4D-5027-4949-B145-33F505A51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6100" y="152400"/>
            <a:ext cx="8204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>
                <a:ea typeface="ＭＳ Ｐゴシック" panose="020B0600070205080204" pitchFamily="34" charset="-128"/>
              </a:rPr>
              <a:t> Functions</a:t>
            </a:r>
          </a:p>
        </p:txBody>
      </p:sp>
      <p:sp>
        <p:nvSpPr>
          <p:cNvPr id="37892" name="Footer Placeholder 3">
            <a:extLst>
              <a:ext uri="{FF2B5EF4-FFF2-40B4-BE49-F238E27FC236}">
                <a16:creationId xmlns:a16="http://schemas.microsoft.com/office/drawing/2014/main" id="{4F953E97-0C82-408E-A31A-2D163696A5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7893" name="Slide Number Placeholder 4">
            <a:extLst>
              <a:ext uri="{FF2B5EF4-FFF2-40B4-BE49-F238E27FC236}">
                <a16:creationId xmlns:a16="http://schemas.microsoft.com/office/drawing/2014/main" id="{3493A57F-F64D-4CAB-BFAA-30F9E22D1F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00971B-04D2-4481-B4CE-5A7C6EAA68D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3">
            <a:extLst>
              <a:ext uri="{FF2B5EF4-FFF2-40B4-BE49-F238E27FC236}">
                <a16:creationId xmlns:a16="http://schemas.microsoft.com/office/drawing/2014/main" id="{56BFDB0D-3170-4D52-A450-1C960C0DD8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55763"/>
            <a:ext cx="8293100" cy="4572000"/>
          </a:xfrm>
        </p:spPr>
        <p:txBody>
          <a:bodyPr/>
          <a:lstStyle/>
          <a:p>
            <a:pPr eaLnBrk="1" hangingPunct="1">
              <a:buFont typeface="Arial" pitchFamily="34" charset="0"/>
              <a:buChar char="•"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rand</a:t>
            </a:r>
            <a:r>
              <a:rPr lang="en-US" dirty="0"/>
              <a:t> function’s syntax: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rand()</a:t>
            </a:r>
          </a:p>
          <a:p>
            <a:pPr lvl="1" eaLnBrk="1" hangingPunct="1">
              <a:defRPr/>
            </a:pPr>
            <a:r>
              <a:rPr lang="en-US" dirty="0"/>
              <a:t>Doesn’t require any actual arguments, but parentheses are still required</a:t>
            </a:r>
          </a:p>
          <a:p>
            <a:pPr eaLnBrk="1" hangingPunct="1">
              <a:defRPr/>
            </a:pPr>
            <a:r>
              <a:rPr lang="en-US" dirty="0"/>
              <a:t>Expression: </a:t>
            </a:r>
          </a:p>
          <a:p>
            <a:pPr indent="4763" eaLnBrk="1" hangingPunct="1">
              <a:buFontTx/>
              <a:buNone/>
              <a:defRPr/>
            </a:pPr>
            <a:r>
              <a:rPr lang="en-US" sz="2000" i="1" dirty="0"/>
              <a:t>lowerBound</a:t>
            </a:r>
            <a:r>
              <a:rPr lang="en-US" sz="2000" i="1" dirty="0">
                <a:latin typeface="Courier New" charset="0"/>
                <a:cs typeface="Courier New" charset="0"/>
              </a:rPr>
              <a:t> </a:t>
            </a:r>
            <a:r>
              <a:rPr lang="en-US" sz="2000" b="1" dirty="0">
                <a:latin typeface="Courier New" charset="0"/>
                <a:cs typeface="Courier New" charset="0"/>
              </a:rPr>
              <a:t>+ </a:t>
            </a:r>
            <a:r>
              <a:rPr lang="en-US" sz="2000" dirty="0">
                <a:latin typeface="Courier New" charset="0"/>
                <a:cs typeface="Courier New" charset="0"/>
              </a:rPr>
              <a:t>rand() % (</a:t>
            </a:r>
            <a:r>
              <a:rPr lang="en-US" sz="2000" i="1" dirty="0"/>
              <a:t>upperBound</a:t>
            </a:r>
            <a:r>
              <a:rPr lang="en-US" sz="2000" i="1" dirty="0">
                <a:latin typeface="Courier New" charset="0"/>
                <a:cs typeface="Courier New" charset="0"/>
              </a:rPr>
              <a:t> </a:t>
            </a:r>
            <a:r>
              <a:rPr lang="en-US" sz="2000" b="1" dirty="0">
                <a:latin typeface="Courier New" charset="0"/>
                <a:cs typeface="Courier New" charset="0"/>
              </a:rPr>
              <a:t>– </a:t>
            </a:r>
            <a:r>
              <a:rPr lang="en-US" sz="2000" i="1" dirty="0"/>
              <a:t>lowerBound</a:t>
            </a:r>
            <a:r>
              <a:rPr lang="en-US" sz="2000" i="1" dirty="0">
                <a:latin typeface="Courier New" charset="0"/>
                <a:cs typeface="Courier New" charset="0"/>
              </a:rPr>
              <a:t> </a:t>
            </a:r>
            <a:r>
              <a:rPr lang="en-US" sz="2000" dirty="0">
                <a:latin typeface="Courier New" charset="0"/>
                <a:cs typeface="Courier New" charset="0"/>
              </a:rPr>
              <a:t>+ 1)</a:t>
            </a:r>
          </a:p>
          <a:p>
            <a:pPr lvl="1" eaLnBrk="1" hangingPunct="1">
              <a:defRPr/>
            </a:pPr>
            <a:r>
              <a:rPr lang="en-US" dirty="0"/>
              <a:t>Allows ranges other than 0 to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RAND_MAX</a:t>
            </a:r>
            <a:r>
              <a:rPr lang="en-US" dirty="0"/>
              <a:t> to be used</a:t>
            </a:r>
          </a:p>
          <a:p>
            <a:pPr lvl="1" eaLnBrk="1" hangingPunct="1">
              <a:defRPr/>
            </a:pPr>
            <a:r>
              <a:rPr lang="en-US" dirty="0"/>
              <a:t>Range is </a:t>
            </a:r>
            <a:r>
              <a:rPr lang="en-US" i="1" dirty="0"/>
              <a:t>upperBound</a:t>
            </a:r>
            <a:r>
              <a:rPr lang="en-US" dirty="0"/>
              <a:t> to </a:t>
            </a:r>
            <a:r>
              <a:rPr lang="en-US" i="1" dirty="0"/>
              <a:t>lowerBound</a:t>
            </a:r>
            <a:r>
              <a:rPr lang="en-US" dirty="0"/>
              <a:t> </a:t>
            </a:r>
          </a:p>
          <a:p>
            <a:pPr eaLnBrk="1" hangingPunct="1">
              <a:defRPr/>
            </a:pPr>
            <a:r>
              <a:rPr lang="en-US" dirty="0"/>
              <a:t>Initialize random number generator each time</a:t>
            </a:r>
          </a:p>
          <a:p>
            <a:pPr lvl="1" eaLnBrk="1" hangingPunct="1">
              <a:defRPr/>
            </a:pPr>
            <a:r>
              <a:rPr lang="en-US" dirty="0"/>
              <a:t>Otherwise, will produce the same sequence</a:t>
            </a: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A46A0FEC-5363-4968-BEFB-588517004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>
                <a:ea typeface="ＭＳ Ｐゴシック" panose="020B0600070205080204" pitchFamily="34" charset="-128"/>
              </a:rPr>
              <a:t> Functions (cont’d.)</a:t>
            </a:r>
          </a:p>
        </p:txBody>
      </p:sp>
      <p:sp>
        <p:nvSpPr>
          <p:cNvPr id="39940" name="Footer Placeholder 3">
            <a:extLst>
              <a:ext uri="{FF2B5EF4-FFF2-40B4-BE49-F238E27FC236}">
                <a16:creationId xmlns:a16="http://schemas.microsoft.com/office/drawing/2014/main" id="{66A52A2B-8556-4310-B0AB-0F38E4B932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9941" name="Slide Number Placeholder 4">
            <a:extLst>
              <a:ext uri="{FF2B5EF4-FFF2-40B4-BE49-F238E27FC236}">
                <a16:creationId xmlns:a16="http://schemas.microsoft.com/office/drawing/2014/main" id="{1C97CB12-9446-4862-99B9-04FA5363E5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F7B238-222B-4C2D-8CC6-8D4CCBF43EE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>
            <a:extLst>
              <a:ext uri="{FF2B5EF4-FFF2-40B4-BE49-F238E27FC236}">
                <a16:creationId xmlns:a16="http://schemas.microsoft.com/office/drawing/2014/main" id="{BBF5831E-2F89-44D2-B8E2-ADC8F6FA22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1987" name="Slide Number Placeholder 4">
            <a:extLst>
              <a:ext uri="{FF2B5EF4-FFF2-40B4-BE49-F238E27FC236}">
                <a16:creationId xmlns:a16="http://schemas.microsoft.com/office/drawing/2014/main" id="{59BF62DF-9A69-4D5E-95B1-E57CBADB42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CDBE66-6CB5-4229-BC4B-92044CFF0E0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1988" name="TextBox 13">
            <a:extLst>
              <a:ext uri="{FF2B5EF4-FFF2-40B4-BE49-F238E27FC236}">
                <a16:creationId xmlns:a16="http://schemas.microsoft.com/office/drawing/2014/main" id="{BB171DCC-F49E-4F91-AA4D-D1407E332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275" y="5937250"/>
            <a:ext cx="4843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9-7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function</a:t>
            </a:r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A357BB26-20EE-45C4-8821-F1A8C465F9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>
                <a:ea typeface="ＭＳ Ｐゴシック" panose="020B0600070205080204" pitchFamily="34" charset="-128"/>
              </a:rPr>
              <a:t> Functions (cont’d.)</a:t>
            </a:r>
          </a:p>
        </p:txBody>
      </p:sp>
      <p:pic>
        <p:nvPicPr>
          <p:cNvPr id="41990" name="Picture 2">
            <a:extLst>
              <a:ext uri="{FF2B5EF4-FFF2-40B4-BE49-F238E27FC236}">
                <a16:creationId xmlns:a16="http://schemas.microsoft.com/office/drawing/2014/main" id="{A0254FD3-4284-4D1C-AEB0-FEF2BF6D5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09700"/>
            <a:ext cx="87630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>
            <a:extLst>
              <a:ext uri="{FF2B5EF4-FFF2-40B4-BE49-F238E27FC236}">
                <a16:creationId xmlns:a16="http://schemas.microsoft.com/office/drawing/2014/main" id="{D4A80A6D-9AFE-4382-983F-A4CD328B8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4035" name="Slide Number Placeholder 4">
            <a:extLst>
              <a:ext uri="{FF2B5EF4-FFF2-40B4-BE49-F238E27FC236}">
                <a16:creationId xmlns:a16="http://schemas.microsoft.com/office/drawing/2014/main" id="{216B1611-A9CE-4EF2-BF3F-5788CB115E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2989CF-EB78-4F0C-8BA0-48A07EC8A56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4036" name="TextBox 6">
            <a:extLst>
              <a:ext uri="{FF2B5EF4-FFF2-40B4-BE49-F238E27FC236}">
                <a16:creationId xmlns:a16="http://schemas.microsoft.com/office/drawing/2014/main" id="{22152054-0857-4807-9726-B354B66A1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588" y="5080000"/>
            <a:ext cx="721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9-8 How to generate random integers within a specific range</a:t>
            </a:r>
          </a:p>
        </p:txBody>
      </p:sp>
      <p:sp>
        <p:nvSpPr>
          <p:cNvPr id="44037" name="Rectangle 2">
            <a:extLst>
              <a:ext uri="{FF2B5EF4-FFF2-40B4-BE49-F238E27FC236}">
                <a16:creationId xmlns:a16="http://schemas.microsoft.com/office/drawing/2014/main" id="{DCEB063D-8BC0-4183-86A1-CE897366F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>
                <a:ea typeface="ＭＳ Ｐゴシック" panose="020B0600070205080204" pitchFamily="34" charset="-128"/>
              </a:rPr>
              <a:t> Functions (cont’d.)</a:t>
            </a:r>
          </a:p>
        </p:txBody>
      </p:sp>
      <p:pic>
        <p:nvPicPr>
          <p:cNvPr id="44038" name="Picture 2">
            <a:extLst>
              <a:ext uri="{FF2B5EF4-FFF2-40B4-BE49-F238E27FC236}">
                <a16:creationId xmlns:a16="http://schemas.microsoft.com/office/drawing/2014/main" id="{1873BE43-D465-420E-BE56-52E3DD052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16138"/>
            <a:ext cx="8801100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>
            <a:extLst>
              <a:ext uri="{FF2B5EF4-FFF2-40B4-BE49-F238E27FC236}">
                <a16:creationId xmlns:a16="http://schemas.microsoft.com/office/drawing/2014/main" id="{AB3DE995-986D-4948-A33D-FE4B500B95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6083" name="Slide Number Placeholder 4">
            <a:extLst>
              <a:ext uri="{FF2B5EF4-FFF2-40B4-BE49-F238E27FC236}">
                <a16:creationId xmlns:a16="http://schemas.microsoft.com/office/drawing/2014/main" id="{7059D9BA-B63D-4BF1-9CDF-46F1A3858F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DF2A28-B4FF-4CE5-876B-B522BCC148C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084" name="TextBox 6">
            <a:extLst>
              <a:ext uri="{FF2B5EF4-FFF2-40B4-BE49-F238E27FC236}">
                <a16:creationId xmlns:a16="http://schemas.microsoft.com/office/drawing/2014/main" id="{6B5AD1B3-3F1D-49DC-9D8A-E0A872523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588" y="5829300"/>
            <a:ext cx="721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9-8 How to generate random integers within a specific range</a:t>
            </a: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9255D173-4BD4-49C7-979D-2D233C30E6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>
                <a:ea typeface="ＭＳ Ｐゴシック" panose="020B0600070205080204" pitchFamily="34" charset="-128"/>
              </a:rPr>
              <a:t> Functions (cont’d.)</a:t>
            </a:r>
          </a:p>
        </p:txBody>
      </p:sp>
      <p:pic>
        <p:nvPicPr>
          <p:cNvPr id="46086" name="Picture 2">
            <a:extLst>
              <a:ext uri="{FF2B5EF4-FFF2-40B4-BE49-F238E27FC236}">
                <a16:creationId xmlns:a16="http://schemas.microsoft.com/office/drawing/2014/main" id="{D8DD7367-22C1-4F0C-A1AD-B246457FE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1346200"/>
            <a:ext cx="61087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>
            <a:extLst>
              <a:ext uri="{FF2B5EF4-FFF2-40B4-BE49-F238E27FC236}">
                <a16:creationId xmlns:a16="http://schemas.microsoft.com/office/drawing/2014/main" id="{AD21F11D-4C92-45BC-80EF-3B4E81498F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48625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  <a:r>
              <a:rPr lang="en-US" altLang="en-US">
                <a:ea typeface="ＭＳ Ｐゴシック" panose="020B0600070205080204" pitchFamily="34" charset="-128"/>
              </a:rPr>
              <a:t> function (a void function) to initialize random number generator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srand(seed)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, in which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seed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is an integer actual argument that represents the starting point of the generator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Commonly initialized using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function</a:t>
            </a:r>
          </a:p>
          <a:p>
            <a:pPr lvl="2"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Ensures unique sequence of numbers for each program run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B9F38A33-5F5C-4878-AA12-3E1571392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>
                <a:ea typeface="ＭＳ Ｐゴシック" panose="020B0600070205080204" pitchFamily="34" charset="-128"/>
              </a:rPr>
              <a:t> Functions (cont’d.)</a:t>
            </a:r>
          </a:p>
        </p:txBody>
      </p:sp>
      <p:sp>
        <p:nvSpPr>
          <p:cNvPr id="48132" name="Footer Placeholder 3">
            <a:extLst>
              <a:ext uri="{FF2B5EF4-FFF2-40B4-BE49-F238E27FC236}">
                <a16:creationId xmlns:a16="http://schemas.microsoft.com/office/drawing/2014/main" id="{53A62237-672A-4214-B41E-D231409BE7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8133" name="Slide Number Placeholder 4">
            <a:extLst>
              <a:ext uri="{FF2B5EF4-FFF2-40B4-BE49-F238E27FC236}">
                <a16:creationId xmlns:a16="http://schemas.microsoft.com/office/drawing/2014/main" id="{D26C5A59-DEE6-4152-BB0A-073F2495B0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C08B4C-F0C4-4815-B983-BD6EEF121F7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36FDC7A6-FD9B-44EC-8316-A2173297A0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48625" cy="4572000"/>
          </a:xfrm>
        </p:spPr>
        <p:txBody>
          <a:bodyPr/>
          <a:lstStyle/>
          <a:p>
            <a:pPr eaLnBrk="1" hangingPunct="1"/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 b="1">
                <a:ea typeface="ＭＳ Ｐゴシック" panose="020B0600070205080204" pitchFamily="34" charset="-128"/>
                <a:cs typeface="Courier New" panose="02070309020205020404" pitchFamily="49" charset="0"/>
              </a:rPr>
              <a:t> function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is a value-returning function that returns current time in number of seconds since January 1, 1970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Returns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time_t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object, so must be cast to an integer before passing to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Program must contain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#include &lt;ctime&gt;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directive to use it</a:t>
            </a:r>
            <a:endParaRPr lang="en-US" altLang="en-US"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14ED2DFB-050F-4C27-9FAD-8F3583D9E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>
                <a:ea typeface="ＭＳ Ｐゴシック" panose="020B0600070205080204" pitchFamily="34" charset="-128"/>
              </a:rPr>
              <a:t> Functions (cont’d.)</a:t>
            </a:r>
          </a:p>
        </p:txBody>
      </p:sp>
      <p:sp>
        <p:nvSpPr>
          <p:cNvPr id="50180" name="Footer Placeholder 3">
            <a:extLst>
              <a:ext uri="{FF2B5EF4-FFF2-40B4-BE49-F238E27FC236}">
                <a16:creationId xmlns:a16="http://schemas.microsoft.com/office/drawing/2014/main" id="{E8C13E2A-DA8C-418F-B6FE-33FE201ABA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0181" name="Slide Number Placeholder 4">
            <a:extLst>
              <a:ext uri="{FF2B5EF4-FFF2-40B4-BE49-F238E27FC236}">
                <a16:creationId xmlns:a16="http://schemas.microsoft.com/office/drawing/2014/main" id="{18A81BA2-6116-460F-8D39-CA245E7ED6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21AB52-45F6-456D-980D-A0BCA095FCF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B978A0BC-A5AC-44CD-B759-5755A42C12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2227" name="Slide Number Placeholder 4">
            <a:extLst>
              <a:ext uri="{FF2B5EF4-FFF2-40B4-BE49-F238E27FC236}">
                <a16:creationId xmlns:a16="http://schemas.microsoft.com/office/drawing/2014/main" id="{71AFA3D9-237F-4D97-92C8-88CD6C45F2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82318B-B504-440F-BA40-1060905B792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2228" name="TextBox 10">
            <a:extLst>
              <a:ext uri="{FF2B5EF4-FFF2-40B4-BE49-F238E27FC236}">
                <a16:creationId xmlns:a16="http://schemas.microsoft.com/office/drawing/2014/main" id="{F5E6F0A1-A344-48D5-BB49-02EDE06C7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363" y="5907088"/>
            <a:ext cx="4765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9-9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srand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function</a:t>
            </a:r>
          </a:p>
        </p:txBody>
      </p:sp>
      <p:sp>
        <p:nvSpPr>
          <p:cNvPr id="52229" name="Rectangle 2">
            <a:extLst>
              <a:ext uri="{FF2B5EF4-FFF2-40B4-BE49-F238E27FC236}">
                <a16:creationId xmlns:a16="http://schemas.microsoft.com/office/drawing/2014/main" id="{2CD9869C-0578-4448-81B8-01A470F2B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>
                <a:ea typeface="ＭＳ Ｐゴシック" panose="020B0600070205080204" pitchFamily="34" charset="-128"/>
              </a:rPr>
              <a:t> Functions (cont’d.)</a:t>
            </a:r>
          </a:p>
        </p:txBody>
      </p:sp>
      <p:pic>
        <p:nvPicPr>
          <p:cNvPr id="52230" name="Picture 2">
            <a:extLst>
              <a:ext uri="{FF2B5EF4-FFF2-40B4-BE49-F238E27FC236}">
                <a16:creationId xmlns:a16="http://schemas.microsoft.com/office/drawing/2014/main" id="{1A552C71-B947-469F-85B2-BB7CC7C72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1371600"/>
            <a:ext cx="70485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>
            <a:extLst>
              <a:ext uri="{FF2B5EF4-FFF2-40B4-BE49-F238E27FC236}">
                <a16:creationId xmlns:a16="http://schemas.microsoft.com/office/drawing/2014/main" id="{2977EC30-5711-494D-ABF6-8DD2098931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 generates a random number from 1 to 10 and then allows the user as many choices as needed to guess the number.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</a:t>
            </a:r>
            <a:r>
              <a:rPr lang="en-US" altLang="en-US">
                <a:ea typeface="ＭＳ Ｐゴシック" panose="020B0600070205080204" pitchFamily="34" charset="-128"/>
              </a:rPr>
              <a:t> functions are all utilized in the program.</a:t>
            </a: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62292555-2793-4875-B498-969F2EE70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Guessing Game Program</a:t>
            </a:r>
          </a:p>
        </p:txBody>
      </p:sp>
      <p:sp>
        <p:nvSpPr>
          <p:cNvPr id="54276" name="Footer Placeholder 3">
            <a:extLst>
              <a:ext uri="{FF2B5EF4-FFF2-40B4-BE49-F238E27FC236}">
                <a16:creationId xmlns:a16="http://schemas.microsoft.com/office/drawing/2014/main" id="{99D4F66B-ABE3-40B0-BA49-749C7A02F9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4277" name="Slide Number Placeholder 4">
            <a:extLst>
              <a:ext uri="{FF2B5EF4-FFF2-40B4-BE49-F238E27FC236}">
                <a16:creationId xmlns:a16="http://schemas.microsoft.com/office/drawing/2014/main" id="{7415881E-E7E9-4742-ACCD-E7FEAB421F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FC526D-8A6D-4C78-9595-7326FE9DCDB1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486713E-0098-45B0-9075-2DCEA1F42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Guessing Game Program(cont’d.)</a:t>
            </a:r>
          </a:p>
        </p:txBody>
      </p:sp>
      <p:sp>
        <p:nvSpPr>
          <p:cNvPr id="56323" name="Footer Placeholder 3">
            <a:extLst>
              <a:ext uri="{FF2B5EF4-FFF2-40B4-BE49-F238E27FC236}">
                <a16:creationId xmlns:a16="http://schemas.microsoft.com/office/drawing/2014/main" id="{F711EE4B-97A0-46BB-B81C-A2F054C425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6324" name="Slide Number Placeholder 4">
            <a:extLst>
              <a:ext uri="{FF2B5EF4-FFF2-40B4-BE49-F238E27FC236}">
                <a16:creationId xmlns:a16="http://schemas.microsoft.com/office/drawing/2014/main" id="{C5334102-DAB4-4031-A5A7-69A604E8E6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FC85E7-2474-4C5C-A447-C972A1B6D96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6325" name="TextBox 9">
            <a:extLst>
              <a:ext uri="{FF2B5EF4-FFF2-40B4-BE49-F238E27FC236}">
                <a16:creationId xmlns:a16="http://schemas.microsoft.com/office/drawing/2014/main" id="{1F54A9B3-4EC7-418F-A067-6FEB8C556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638800"/>
            <a:ext cx="6896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9-10 Problem specification, IPO chart information, and C++ instructions for the Guessing Game Program</a:t>
            </a:r>
          </a:p>
        </p:txBody>
      </p:sp>
      <p:pic>
        <p:nvPicPr>
          <p:cNvPr id="56326" name="Picture 2">
            <a:extLst>
              <a:ext uri="{FF2B5EF4-FFF2-40B4-BE49-F238E27FC236}">
                <a16:creationId xmlns:a16="http://schemas.microsoft.com/office/drawing/2014/main" id="{A950A926-5B29-44D6-8E76-E70155480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075" y="1333500"/>
            <a:ext cx="6673850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DF78ACA-DB2B-4735-A3A1-40020E0F4E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Guessing Game Program(cont’d.)</a:t>
            </a:r>
          </a:p>
        </p:txBody>
      </p:sp>
      <p:sp>
        <p:nvSpPr>
          <p:cNvPr id="58371" name="Footer Placeholder 3">
            <a:extLst>
              <a:ext uri="{FF2B5EF4-FFF2-40B4-BE49-F238E27FC236}">
                <a16:creationId xmlns:a16="http://schemas.microsoft.com/office/drawing/2014/main" id="{D44A1415-6F31-4E7A-8925-5FFB0A6C3E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8372" name="Slide Number Placeholder 4">
            <a:extLst>
              <a:ext uri="{FF2B5EF4-FFF2-40B4-BE49-F238E27FC236}">
                <a16:creationId xmlns:a16="http://schemas.microsoft.com/office/drawing/2014/main" id="{12070BBB-2D72-4E9B-974F-FAA8F78439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B84533-63C1-483A-BE68-C3633E441E9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8373" name="TextBox 9">
            <a:extLst>
              <a:ext uri="{FF2B5EF4-FFF2-40B4-BE49-F238E27FC236}">
                <a16:creationId xmlns:a16="http://schemas.microsoft.com/office/drawing/2014/main" id="{B15B5651-92DB-4FF2-895F-C853307C8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854700"/>
            <a:ext cx="6667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9-11 Guessing Game Program and sample run</a:t>
            </a:r>
          </a:p>
        </p:txBody>
      </p:sp>
      <p:pic>
        <p:nvPicPr>
          <p:cNvPr id="58374" name="Picture 2">
            <a:extLst>
              <a:ext uri="{FF2B5EF4-FFF2-40B4-BE49-F238E27FC236}">
                <a16:creationId xmlns:a16="http://schemas.microsoft.com/office/drawing/2014/main" id="{64DA0251-617F-4559-87BB-B1AE87D41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0" y="1270000"/>
            <a:ext cx="438150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3904E371-5955-4A5A-8071-E66DE9CBC1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program-defined value-returning function definition is composed of a header and a body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Header (first line) contains return data type, name of function, and an optional </a:t>
            </a:r>
            <a:r>
              <a:rPr lang="en-US" altLang="en-US" i="1">
                <a:ea typeface="ＭＳ Ｐゴシック" panose="020B0600070205080204" pitchFamily="34" charset="-128"/>
              </a:rPr>
              <a:t>parameterList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Rules for function names are same as for variables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Good idea to use meaningful names that describe function’s purpose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Memory locations in </a:t>
            </a:r>
            <a:r>
              <a:rPr lang="en-US" altLang="en-US" i="1">
                <a:ea typeface="ＭＳ Ｐゴシック" panose="020B0600070205080204" pitchFamily="34" charset="-128"/>
              </a:rPr>
              <a:t>parameterList</a:t>
            </a:r>
            <a:r>
              <a:rPr lang="en-US" altLang="en-US">
                <a:ea typeface="ＭＳ Ｐゴシック" panose="020B0600070205080204" pitchFamily="34" charset="-128"/>
              </a:rPr>
              <a:t> are called </a:t>
            </a:r>
            <a:r>
              <a:rPr lang="en-US" altLang="en-US" b="1">
                <a:ea typeface="ＭＳ Ｐゴシック" panose="020B0600070205080204" pitchFamily="34" charset="-128"/>
              </a:rPr>
              <a:t>formal parameters</a:t>
            </a:r>
          </a:p>
          <a:p>
            <a:pPr lvl="2" eaLnBrk="1" hangingPunct="1"/>
            <a:r>
              <a:rPr lang="en-US" altLang="en-US">
                <a:ea typeface="ＭＳ Ｐゴシック" panose="020B0600070205080204" pitchFamily="34" charset="-128"/>
              </a:rPr>
              <a:t>Each stores an item of information passed to the function when it is called</a:t>
            </a: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CFF98DE7-F0A0-4858-984B-595AFF8138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Creating Program-Defined Value-Returning Functions</a:t>
            </a:r>
          </a:p>
        </p:txBody>
      </p:sp>
      <p:sp>
        <p:nvSpPr>
          <p:cNvPr id="60420" name="Footer Placeholder 3">
            <a:extLst>
              <a:ext uri="{FF2B5EF4-FFF2-40B4-BE49-F238E27FC236}">
                <a16:creationId xmlns:a16="http://schemas.microsoft.com/office/drawing/2014/main" id="{2D12C5C8-40EA-47F0-8019-3C76FAE04D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0421" name="Slide Number Placeholder 4">
            <a:extLst>
              <a:ext uri="{FF2B5EF4-FFF2-40B4-BE49-F238E27FC236}">
                <a16:creationId xmlns:a16="http://schemas.microsoft.com/office/drawing/2014/main" id="{1888A114-F698-4854-8BD0-E9B643B187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EE002E-E780-4A95-9F53-1882BF4634E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>
            <a:extLst>
              <a:ext uri="{FF2B5EF4-FFF2-40B4-BE49-F238E27FC236}">
                <a16:creationId xmlns:a16="http://schemas.microsoft.com/office/drawing/2014/main" id="{F91264F4-D947-4710-A9B1-0083533BC5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Function body contains instructions for performing the function’s assigned task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Surrounded by braces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{}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Last statement is usually the </a:t>
            </a:r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return</a:t>
            </a:r>
            <a:r>
              <a:rPr lang="en-US" altLang="en-US" b="1">
                <a:ea typeface="ＭＳ Ｐゴシック" panose="020B0600070205080204" pitchFamily="34" charset="-128"/>
              </a:rPr>
              <a:t> statement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Returns one value (must match return data type in function header)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After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return</a:t>
            </a:r>
            <a:r>
              <a:rPr lang="en-US" altLang="en-US">
                <a:ea typeface="ＭＳ Ｐゴシック" panose="020B0600070205080204" pitchFamily="34" charset="-128"/>
              </a:rPr>
              <a:t> statement is processed, program execution continues in calling function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Good idea to include comment (such as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//end of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functionName</a:t>
            </a:r>
            <a:r>
              <a:rPr lang="en-US" altLang="en-US">
                <a:ea typeface="ＭＳ Ｐゴシック" panose="020B0600070205080204" pitchFamily="34" charset="-128"/>
              </a:rPr>
              <a:t>) to mark end of function</a:t>
            </a: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FD07F766-6CDF-4827-B4EF-F5A40DDAE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Creating Program-Defined Value-Returning Functions (cont’d.)</a:t>
            </a:r>
          </a:p>
        </p:txBody>
      </p:sp>
      <p:sp>
        <p:nvSpPr>
          <p:cNvPr id="62468" name="Footer Placeholder 3">
            <a:extLst>
              <a:ext uri="{FF2B5EF4-FFF2-40B4-BE49-F238E27FC236}">
                <a16:creationId xmlns:a16="http://schemas.microsoft.com/office/drawing/2014/main" id="{DB1F05D5-9E94-4989-B76F-4E2D8C39C7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2469" name="Slide Number Placeholder 4">
            <a:extLst>
              <a:ext uri="{FF2B5EF4-FFF2-40B4-BE49-F238E27FC236}">
                <a16:creationId xmlns:a16="http://schemas.microsoft.com/office/drawing/2014/main" id="{0B1CD586-D3DF-4B35-9AA7-B954DA5CC7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A92E72-1168-47B3-BA17-FC555039443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3">
            <a:extLst>
              <a:ext uri="{FF2B5EF4-FFF2-40B4-BE49-F238E27FC236}">
                <a16:creationId xmlns:a16="http://schemas.microsoft.com/office/drawing/2014/main" id="{57032C78-07E4-4291-A448-FDDBF7DEAA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4515" name="Slide Number Placeholder 4">
            <a:extLst>
              <a:ext uri="{FF2B5EF4-FFF2-40B4-BE49-F238E27FC236}">
                <a16:creationId xmlns:a16="http://schemas.microsoft.com/office/drawing/2014/main" id="{7E117646-0A6B-4415-9736-C58874B23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13CF88-5E74-44DF-8D92-850383ECCE0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4516" name="TextBox 10">
            <a:extLst>
              <a:ext uri="{FF2B5EF4-FFF2-40B4-BE49-F238E27FC236}">
                <a16:creationId xmlns:a16="http://schemas.microsoft.com/office/drawing/2014/main" id="{AE295102-3E8F-41F4-A2EA-1E836C92B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213" y="5092700"/>
            <a:ext cx="7289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9-12 How to create a program-defined value-returning function</a:t>
            </a:r>
          </a:p>
        </p:txBody>
      </p:sp>
      <p:sp>
        <p:nvSpPr>
          <p:cNvPr id="64517" name="Rectangle 2">
            <a:extLst>
              <a:ext uri="{FF2B5EF4-FFF2-40B4-BE49-F238E27FC236}">
                <a16:creationId xmlns:a16="http://schemas.microsoft.com/office/drawing/2014/main" id="{5A10F62A-85C3-4200-8331-725728D9D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Creating Program-Defined Value-Returning Functions (cont’d.)</a:t>
            </a:r>
          </a:p>
        </p:txBody>
      </p:sp>
      <p:pic>
        <p:nvPicPr>
          <p:cNvPr id="64518" name="Picture 2">
            <a:extLst>
              <a:ext uri="{FF2B5EF4-FFF2-40B4-BE49-F238E27FC236}">
                <a16:creationId xmlns:a16="http://schemas.microsoft.com/office/drawing/2014/main" id="{6FA88AC1-B9F2-4B42-8F05-A135BD39C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41538"/>
            <a:ext cx="8813800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0F117-E18A-4E04-8605-13B21DC30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5C1A80DE-1B65-48B2-922E-13563C19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6563" name="Slide Number Placeholder 4">
            <a:extLst>
              <a:ext uri="{FF2B5EF4-FFF2-40B4-BE49-F238E27FC236}">
                <a16:creationId xmlns:a16="http://schemas.microsoft.com/office/drawing/2014/main" id="{4AF0C2DC-48E4-4E34-897D-0997C04355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C31D54-2C2D-4452-9F1B-1AD00DB20F61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6564" name="TextBox 10">
            <a:extLst>
              <a:ext uri="{FF2B5EF4-FFF2-40B4-BE49-F238E27FC236}">
                <a16:creationId xmlns:a16="http://schemas.microsoft.com/office/drawing/2014/main" id="{A2B0A5A7-1C48-427D-918C-C5FA7056E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00" y="5753100"/>
            <a:ext cx="7594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9-12 How to create a program-defined value-returning function </a:t>
            </a:r>
          </a:p>
        </p:txBody>
      </p:sp>
      <p:pic>
        <p:nvPicPr>
          <p:cNvPr id="66566" name="Picture 2">
            <a:extLst>
              <a:ext uri="{FF2B5EF4-FFF2-40B4-BE49-F238E27FC236}">
                <a16:creationId xmlns:a16="http://schemas.microsoft.com/office/drawing/2014/main" id="{85F89186-5B72-4B04-A557-BBFA9AC55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1384300"/>
            <a:ext cx="87249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9BA4525E-2283-40E2-AA6F-0778AD1066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8077200" cy="1143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chemeClr val="tx1"/>
                </a:solidFill>
                <a:latin typeface="Trebuchet MS" panose="020B0603020202020204" pitchFamily="34" charset="0"/>
              </a:rPr>
              <a:t>Creating Program-Defined Value-Returning Functions (cont’d.)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>
            <a:extLst>
              <a:ext uri="{FF2B5EF4-FFF2-40B4-BE49-F238E27FC236}">
                <a16:creationId xmlns:a16="http://schemas.microsoft.com/office/drawing/2014/main" id="{F1E7D7FC-06A2-4977-866B-57D1060BE4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3075" y="1676400"/>
            <a:ext cx="8416925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function must be called (invoked) to perform its task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main</a:t>
            </a:r>
            <a:r>
              <a:rPr lang="en-US" altLang="en-US">
                <a:ea typeface="ＭＳ Ｐゴシック" panose="020B0600070205080204" pitchFamily="34" charset="-128"/>
              </a:rPr>
              <a:t> is automatically called when program is run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Other functions must be called by a statement 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 for calling a function: 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functionName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</a:t>
            </a:r>
            <a:r>
              <a:rPr lang="en-US" altLang="en-US">
                <a:ea typeface="ＭＳ Ｐゴシック" panose="020B0600070205080204" pitchFamily="34" charset="-128"/>
              </a:rPr>
              <a:t>[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argumentList</a:t>
            </a:r>
            <a:r>
              <a:rPr lang="en-US" altLang="en-US">
                <a:ea typeface="ＭＳ Ｐゴシック" panose="020B0600070205080204" pitchFamily="34" charset="-128"/>
              </a:rPr>
              <a:t>]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);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argumentList</a:t>
            </a:r>
            <a:r>
              <a:rPr lang="en-US" altLang="en-US">
                <a:ea typeface="ＭＳ Ｐゴシック" panose="020B0600070205080204" pitchFamily="34" charset="-128"/>
              </a:rPr>
              <a:t> is list of actual arguments (if any)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An actual argument can be a variable, named constant, literal constant, or keyword</a:t>
            </a: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220D4976-B163-4479-AA8C-50E8BCB7F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Calling a Function</a:t>
            </a:r>
          </a:p>
        </p:txBody>
      </p:sp>
      <p:sp>
        <p:nvSpPr>
          <p:cNvPr id="68612" name="Footer Placeholder 3">
            <a:extLst>
              <a:ext uri="{FF2B5EF4-FFF2-40B4-BE49-F238E27FC236}">
                <a16:creationId xmlns:a16="http://schemas.microsoft.com/office/drawing/2014/main" id="{68776B32-7B18-4C7C-BCB9-3EF8A78442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8613" name="Slide Number Placeholder 4">
            <a:extLst>
              <a:ext uri="{FF2B5EF4-FFF2-40B4-BE49-F238E27FC236}">
                <a16:creationId xmlns:a16="http://schemas.microsoft.com/office/drawing/2014/main" id="{2478B2BD-EB55-4BEC-B486-D8C0D1D01D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EF7C94-A999-402F-8FFC-A6B97485841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>
            <a:extLst>
              <a:ext uri="{FF2B5EF4-FFF2-40B4-BE49-F238E27FC236}">
                <a16:creationId xmlns:a16="http://schemas.microsoft.com/office/drawing/2014/main" id="{DFD24F17-5DEA-4AB1-86C1-171DA7528F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3075" y="1676400"/>
            <a:ext cx="8416925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Value-returning functions are typically called from statements that: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Assign the return value to a variable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Use the return value in a calculation or comparison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Display the return value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call to a void function is an independent statement because void functions do not return values</a:t>
            </a: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38B68804-6626-42BF-BC58-B58508ED5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Calling a Function (cont’d.)</a:t>
            </a:r>
          </a:p>
        </p:txBody>
      </p:sp>
      <p:sp>
        <p:nvSpPr>
          <p:cNvPr id="70660" name="Footer Placeholder 3">
            <a:extLst>
              <a:ext uri="{FF2B5EF4-FFF2-40B4-BE49-F238E27FC236}">
                <a16:creationId xmlns:a16="http://schemas.microsoft.com/office/drawing/2014/main" id="{650B9373-922E-4B7E-A541-CFF1FFE7DE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0661" name="Slide Number Placeholder 4">
            <a:extLst>
              <a:ext uri="{FF2B5EF4-FFF2-40B4-BE49-F238E27FC236}">
                <a16:creationId xmlns:a16="http://schemas.microsoft.com/office/drawing/2014/main" id="{B0564A87-828F-445B-9B4F-5B016B422B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F53FF2-77AD-4B99-805F-1AC4E49DD1C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>
            <a:extLst>
              <a:ext uri="{FF2B5EF4-FFF2-40B4-BE49-F238E27FC236}">
                <a16:creationId xmlns:a16="http://schemas.microsoft.com/office/drawing/2014/main" id="{66E53D6F-3724-4058-AB67-730F07F461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0350" y="1676400"/>
            <a:ext cx="862965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C++ allows you to pass either a variable’s value or its address to a function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Passing a variable’s value is referred to as </a:t>
            </a:r>
            <a:r>
              <a:rPr lang="en-US" altLang="en-US" b="1">
                <a:ea typeface="ＭＳ Ｐゴシック" panose="020B0600070205080204" pitchFamily="34" charset="-128"/>
              </a:rPr>
              <a:t>passing </a:t>
            </a:r>
            <a:r>
              <a:rPr lang="en-US" altLang="en-US" b="1" i="1">
                <a:ea typeface="ＭＳ Ｐゴシック" panose="020B0600070205080204" pitchFamily="34" charset="-128"/>
              </a:rPr>
              <a:t>by value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Passing a variable’s address is referred to as </a:t>
            </a:r>
            <a:r>
              <a:rPr lang="en-US" altLang="en-US" b="1">
                <a:ea typeface="ＭＳ Ｐゴシック" panose="020B0600070205080204" pitchFamily="34" charset="-128"/>
              </a:rPr>
              <a:t>passing </a:t>
            </a:r>
            <a:r>
              <a:rPr lang="en-US" altLang="en-US" b="1" i="1">
                <a:ea typeface="ＭＳ Ｐゴシック" panose="020B0600070205080204" pitchFamily="34" charset="-128"/>
              </a:rPr>
              <a:t>by reference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Default is passing </a:t>
            </a:r>
            <a:r>
              <a:rPr lang="en-US" altLang="en-US" i="1">
                <a:ea typeface="ＭＳ Ｐゴシック" panose="020B0600070205080204" pitchFamily="34" charset="-128"/>
              </a:rPr>
              <a:t>by value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Number, data type, and ordering of actual arguments must match the formal parameters in function header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Names do not need to match (different names are better)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7C604DD-66AF-43F8-9E70-79C2BFCD4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Calling a Function (cont’d.)</a:t>
            </a:r>
          </a:p>
        </p:txBody>
      </p:sp>
      <p:sp>
        <p:nvSpPr>
          <p:cNvPr id="72708" name="Footer Placeholder 3">
            <a:extLst>
              <a:ext uri="{FF2B5EF4-FFF2-40B4-BE49-F238E27FC236}">
                <a16:creationId xmlns:a16="http://schemas.microsoft.com/office/drawing/2014/main" id="{87FE80B9-3247-4254-87BB-B85B81F83C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2709" name="Slide Number Placeholder 4">
            <a:extLst>
              <a:ext uri="{FF2B5EF4-FFF2-40B4-BE49-F238E27FC236}">
                <a16:creationId xmlns:a16="http://schemas.microsoft.com/office/drawing/2014/main" id="{DD8DD24B-4B90-4C00-A97A-755016493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64446B-4881-4D9F-97A0-23D97181860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3">
            <a:extLst>
              <a:ext uri="{FF2B5EF4-FFF2-40B4-BE49-F238E27FC236}">
                <a16:creationId xmlns:a16="http://schemas.microsoft.com/office/drawing/2014/main" id="{3D98F288-B2A4-4FD2-AE82-C0962ABE7E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4755" name="Slide Number Placeholder 4">
            <a:extLst>
              <a:ext uri="{FF2B5EF4-FFF2-40B4-BE49-F238E27FC236}">
                <a16:creationId xmlns:a16="http://schemas.microsoft.com/office/drawing/2014/main" id="{53115A98-D301-4A79-8441-3BBEBA4CA8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D38735-E135-4B50-91EB-CC375E1CC29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4756" name="TextBox 9">
            <a:extLst>
              <a:ext uri="{FF2B5EF4-FFF2-40B4-BE49-F238E27FC236}">
                <a16:creationId xmlns:a16="http://schemas.microsoft.com/office/drawing/2014/main" id="{A65FD3B1-3E7D-477E-96D3-5D13FB3A0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5867400"/>
            <a:ext cx="6921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9-13 How to call (invoke) a value-returning function</a:t>
            </a:r>
          </a:p>
        </p:txBody>
      </p:sp>
      <p:sp>
        <p:nvSpPr>
          <p:cNvPr id="74757" name="Rectangle 2">
            <a:extLst>
              <a:ext uri="{FF2B5EF4-FFF2-40B4-BE49-F238E27FC236}">
                <a16:creationId xmlns:a16="http://schemas.microsoft.com/office/drawing/2014/main" id="{1437B205-2671-4559-A4AA-F954743C8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Calling a Function (cont’d.)</a:t>
            </a:r>
          </a:p>
        </p:txBody>
      </p:sp>
      <p:pic>
        <p:nvPicPr>
          <p:cNvPr id="74758" name="Picture 7">
            <a:extLst>
              <a:ext uri="{FF2B5EF4-FFF2-40B4-BE49-F238E27FC236}">
                <a16:creationId xmlns:a16="http://schemas.microsoft.com/office/drawing/2014/main" id="{9921D5E4-FC71-4B04-8B50-0E34527D3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1282700"/>
            <a:ext cx="776605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3">
            <a:extLst>
              <a:ext uri="{FF2B5EF4-FFF2-40B4-BE49-F238E27FC236}">
                <a16:creationId xmlns:a16="http://schemas.microsoft.com/office/drawing/2014/main" id="{0190901F-A88D-4CAC-84A4-441083E51D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6803" name="Slide Number Placeholder 4">
            <a:extLst>
              <a:ext uri="{FF2B5EF4-FFF2-40B4-BE49-F238E27FC236}">
                <a16:creationId xmlns:a16="http://schemas.microsoft.com/office/drawing/2014/main" id="{F883510B-ADC9-47DE-9B0B-D672F30B37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826B35-2EEE-4B12-99E0-7456E902545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6804" name="TextBox 9">
            <a:extLst>
              <a:ext uri="{FF2B5EF4-FFF2-40B4-BE49-F238E27FC236}">
                <a16:creationId xmlns:a16="http://schemas.microsoft.com/office/drawing/2014/main" id="{8A7548EE-F1FC-4E94-A205-282F0ED85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5118100"/>
            <a:ext cx="7485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9-14 Function call and function definition</a:t>
            </a:r>
          </a:p>
        </p:txBody>
      </p:sp>
      <p:sp>
        <p:nvSpPr>
          <p:cNvPr id="76805" name="Rectangle 2">
            <a:extLst>
              <a:ext uri="{FF2B5EF4-FFF2-40B4-BE49-F238E27FC236}">
                <a16:creationId xmlns:a16="http://schemas.microsoft.com/office/drawing/2014/main" id="{3FD0BD12-3221-492F-9535-13A963764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Calling a Function (cont’d.)</a:t>
            </a:r>
          </a:p>
        </p:txBody>
      </p:sp>
      <p:pic>
        <p:nvPicPr>
          <p:cNvPr id="76806" name="Picture 7">
            <a:extLst>
              <a:ext uri="{FF2B5EF4-FFF2-40B4-BE49-F238E27FC236}">
                <a16:creationId xmlns:a16="http://schemas.microsoft.com/office/drawing/2014/main" id="{260A1070-6B59-436E-9572-9D4C098EA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2044700"/>
            <a:ext cx="7324725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>
            <a:extLst>
              <a:ext uri="{FF2B5EF4-FFF2-40B4-BE49-F238E27FC236}">
                <a16:creationId xmlns:a16="http://schemas.microsoft.com/office/drawing/2014/main" id="{96779D1B-0F47-4571-9EF6-57D3114282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3075" y="1676400"/>
            <a:ext cx="8285163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program allows the user to enter the initial deposit made into a savings account and the annual interest rate.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program displays the amount of money in the account at the end of 1 through 3 years, assuming no additional deposits or withdrawals are made.</a:t>
            </a: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F1060C16-B791-4B1F-BAF2-996785667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Savings Account Program</a:t>
            </a:r>
          </a:p>
        </p:txBody>
      </p:sp>
      <p:sp>
        <p:nvSpPr>
          <p:cNvPr id="78852" name="Footer Placeholder 3">
            <a:extLst>
              <a:ext uri="{FF2B5EF4-FFF2-40B4-BE49-F238E27FC236}">
                <a16:creationId xmlns:a16="http://schemas.microsoft.com/office/drawing/2014/main" id="{656EB342-E7F0-4DDA-B485-66D16FE550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8853" name="Slide Number Placeholder 4">
            <a:extLst>
              <a:ext uri="{FF2B5EF4-FFF2-40B4-BE49-F238E27FC236}">
                <a16:creationId xmlns:a16="http://schemas.microsoft.com/office/drawing/2014/main" id="{D173C1D8-3058-47B6-B009-FC7E72D89E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399277-E492-47DE-B9C0-A8BD55DEC57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3">
            <a:extLst>
              <a:ext uri="{FF2B5EF4-FFF2-40B4-BE49-F238E27FC236}">
                <a16:creationId xmlns:a16="http://schemas.microsoft.com/office/drawing/2014/main" id="{104F3C6A-EE22-4342-8979-1C82CB7FDF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0899" name="Slide Number Placeholder 4">
            <a:extLst>
              <a:ext uri="{FF2B5EF4-FFF2-40B4-BE49-F238E27FC236}">
                <a16:creationId xmlns:a16="http://schemas.microsoft.com/office/drawing/2014/main" id="{85469D4B-DDB1-46BF-9119-DC395CAF9D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4CB90A-0CA5-4EFF-AF3D-A770EB7448A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0900" name="TextBox 9">
            <a:extLst>
              <a:ext uri="{FF2B5EF4-FFF2-40B4-BE49-F238E27FC236}">
                <a16:creationId xmlns:a16="http://schemas.microsoft.com/office/drawing/2014/main" id="{E8CD7351-B219-4832-B247-0C838C6E7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5613400"/>
            <a:ext cx="6172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9-15 Problem specification, IPO chart information, and C++ instructions for the Savings Account Program</a:t>
            </a:r>
          </a:p>
        </p:txBody>
      </p:sp>
      <p:sp>
        <p:nvSpPr>
          <p:cNvPr id="80901" name="Rectangle 2">
            <a:extLst>
              <a:ext uri="{FF2B5EF4-FFF2-40B4-BE49-F238E27FC236}">
                <a16:creationId xmlns:a16="http://schemas.microsoft.com/office/drawing/2014/main" id="{20262EEC-6DF5-48A6-8284-F8A7BB928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Savings Account Program (cont’d.)</a:t>
            </a:r>
          </a:p>
        </p:txBody>
      </p:sp>
      <p:pic>
        <p:nvPicPr>
          <p:cNvPr id="80902" name="Picture 7">
            <a:extLst>
              <a:ext uri="{FF2B5EF4-FFF2-40B4-BE49-F238E27FC236}">
                <a16:creationId xmlns:a16="http://schemas.microsoft.com/office/drawing/2014/main" id="{AD74F058-1ED7-4B4A-8EF2-FD432373C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295400"/>
            <a:ext cx="6159500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3">
            <a:extLst>
              <a:ext uri="{FF2B5EF4-FFF2-40B4-BE49-F238E27FC236}">
                <a16:creationId xmlns:a16="http://schemas.microsoft.com/office/drawing/2014/main" id="{2A95BC6E-E7B3-4B63-B8CC-413C45D5C5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2947" name="Slide Number Placeholder 4">
            <a:extLst>
              <a:ext uri="{FF2B5EF4-FFF2-40B4-BE49-F238E27FC236}">
                <a16:creationId xmlns:a16="http://schemas.microsoft.com/office/drawing/2014/main" id="{7C981ADB-20FD-494D-A037-AD4115E9D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8F4C02-5C8C-4986-919A-F6A718BEDCE1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2948" name="TextBox 9">
            <a:extLst>
              <a:ext uri="{FF2B5EF4-FFF2-40B4-BE49-F238E27FC236}">
                <a16:creationId xmlns:a16="http://schemas.microsoft.com/office/drawing/2014/main" id="{32B3A084-9F9E-43A6-AA20-8C7E78EF3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5613400"/>
            <a:ext cx="6172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9-15 Problem specification, IPO chart information, and C++ instructions for the Savings Account Program</a:t>
            </a:r>
          </a:p>
        </p:txBody>
      </p:sp>
      <p:sp>
        <p:nvSpPr>
          <p:cNvPr id="82949" name="Rectangle 2">
            <a:extLst>
              <a:ext uri="{FF2B5EF4-FFF2-40B4-BE49-F238E27FC236}">
                <a16:creationId xmlns:a16="http://schemas.microsoft.com/office/drawing/2014/main" id="{C97E21CB-991B-461E-B59A-7491932F1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Savings Account Program (cont’d.)</a:t>
            </a:r>
          </a:p>
        </p:txBody>
      </p:sp>
      <p:pic>
        <p:nvPicPr>
          <p:cNvPr id="82950" name="Picture 2">
            <a:extLst>
              <a:ext uri="{FF2B5EF4-FFF2-40B4-BE49-F238E27FC236}">
                <a16:creationId xmlns:a16="http://schemas.microsoft.com/office/drawing/2014/main" id="{248C5C58-F9B0-4DD6-AD73-3608FB892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320800"/>
            <a:ext cx="8775700" cy="424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3">
            <a:extLst>
              <a:ext uri="{FF2B5EF4-FFF2-40B4-BE49-F238E27FC236}">
                <a16:creationId xmlns:a16="http://schemas.microsoft.com/office/drawing/2014/main" id="{2202E850-7F6A-49AF-BB74-DE36417E98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4995" name="Slide Number Placeholder 4">
            <a:extLst>
              <a:ext uri="{FF2B5EF4-FFF2-40B4-BE49-F238E27FC236}">
                <a16:creationId xmlns:a16="http://schemas.microsoft.com/office/drawing/2014/main" id="{33925782-6F36-4028-A8AC-8C237395DF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8A20CC-08CC-43C0-A992-D9280C5E23A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4996" name="TextBox 9">
            <a:extLst>
              <a:ext uri="{FF2B5EF4-FFF2-40B4-BE49-F238E27FC236}">
                <a16:creationId xmlns:a16="http://schemas.microsoft.com/office/drawing/2014/main" id="{45EEA580-6AFA-4C7C-AEEE-49636433E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5803900"/>
            <a:ext cx="6172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9-16 Flowcharts for the Savings Account Program</a:t>
            </a:r>
          </a:p>
        </p:txBody>
      </p:sp>
      <p:sp>
        <p:nvSpPr>
          <p:cNvPr id="84997" name="Rectangle 2">
            <a:extLst>
              <a:ext uri="{FF2B5EF4-FFF2-40B4-BE49-F238E27FC236}">
                <a16:creationId xmlns:a16="http://schemas.microsoft.com/office/drawing/2014/main" id="{7FB9DE94-976A-4BD5-8342-55DEE2B4D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Savings Account Program (cont’d.)</a:t>
            </a:r>
          </a:p>
        </p:txBody>
      </p:sp>
      <p:pic>
        <p:nvPicPr>
          <p:cNvPr id="84998" name="Picture 2">
            <a:extLst>
              <a:ext uri="{FF2B5EF4-FFF2-40B4-BE49-F238E27FC236}">
                <a16:creationId xmlns:a16="http://schemas.microsoft.com/office/drawing/2014/main" id="{D7B44121-D09D-4FD9-8BFF-8182F18E2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" y="1346200"/>
            <a:ext cx="8902700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>
            <a:extLst>
              <a:ext uri="{FF2B5EF4-FFF2-40B4-BE49-F238E27FC236}">
                <a16:creationId xmlns:a16="http://schemas.microsoft.com/office/drawing/2014/main" id="{27C562D4-E85F-432B-8BEA-A5CD3BB0D0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3075" y="1676400"/>
            <a:ext cx="8285163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When a function definition appears below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main</a:t>
            </a:r>
            <a:r>
              <a:rPr lang="en-US" altLang="en-US">
                <a:ea typeface="ＭＳ Ｐゴシック" panose="020B0600070205080204" pitchFamily="34" charset="-128"/>
              </a:rPr>
              <a:t> function, you must enter a function prototype above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main</a:t>
            </a:r>
            <a:r>
              <a:rPr lang="en-US" altLang="en-US">
                <a:ea typeface="ＭＳ Ｐゴシック" panose="020B0600070205080204" pitchFamily="34" charset="-128"/>
              </a:rPr>
              <a:t> function 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 b="1">
                <a:ea typeface="ＭＳ Ｐゴシック" panose="020B0600070205080204" pitchFamily="34" charset="-128"/>
              </a:rPr>
              <a:t>function prototype</a:t>
            </a:r>
            <a:r>
              <a:rPr lang="en-US" altLang="en-US">
                <a:ea typeface="ＭＳ Ｐゴシック" panose="020B0600070205080204" pitchFamily="34" charset="-128"/>
              </a:rPr>
              <a:t> is a statement that specifies the function’s name, data type of its return value, and data type of each of its formal parameters (if any)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Names for the formal parameters are not required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Programmers usually place function prototypes at beginning of program, after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#include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directives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1556EEF0-F8DE-4098-8BB6-6871E56A6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Function Prototypes</a:t>
            </a:r>
          </a:p>
        </p:txBody>
      </p:sp>
      <p:sp>
        <p:nvSpPr>
          <p:cNvPr id="87044" name="Footer Placeholder 3">
            <a:extLst>
              <a:ext uri="{FF2B5EF4-FFF2-40B4-BE49-F238E27FC236}">
                <a16:creationId xmlns:a16="http://schemas.microsoft.com/office/drawing/2014/main" id="{9D0577D4-4CDF-4302-B3EF-6DEC77DDB2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7045" name="Slide Number Placeholder 4">
            <a:extLst>
              <a:ext uri="{FF2B5EF4-FFF2-40B4-BE49-F238E27FC236}">
                <a16:creationId xmlns:a16="http://schemas.microsoft.com/office/drawing/2014/main" id="{AB505FB7-3EB9-4E99-BC93-738DBBB82D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95ECD6-C914-4130-B13D-CF7A6996B89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3">
            <a:extLst>
              <a:ext uri="{FF2B5EF4-FFF2-40B4-BE49-F238E27FC236}">
                <a16:creationId xmlns:a16="http://schemas.microsoft.com/office/drawing/2014/main" id="{FE9D9356-505C-45CD-A9E2-D70992448E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9091" name="Slide Number Placeholder 4">
            <a:extLst>
              <a:ext uri="{FF2B5EF4-FFF2-40B4-BE49-F238E27FC236}">
                <a16:creationId xmlns:a16="http://schemas.microsoft.com/office/drawing/2014/main" id="{265EFD53-916C-4BFC-9CD1-D87148E315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E86D56-CE5C-4AB7-BBDD-EAC9254087B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9092" name="TextBox 9">
            <a:extLst>
              <a:ext uri="{FF2B5EF4-FFF2-40B4-BE49-F238E27FC236}">
                <a16:creationId xmlns:a16="http://schemas.microsoft.com/office/drawing/2014/main" id="{617F779F-261F-4D6B-9C8F-C175E315E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113" y="5486400"/>
            <a:ext cx="49069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9-17 How to write a function prototype</a:t>
            </a:r>
          </a:p>
        </p:txBody>
      </p:sp>
      <p:sp>
        <p:nvSpPr>
          <p:cNvPr id="89093" name="Rectangle 2">
            <a:extLst>
              <a:ext uri="{FF2B5EF4-FFF2-40B4-BE49-F238E27FC236}">
                <a16:creationId xmlns:a16="http://schemas.microsoft.com/office/drawing/2014/main" id="{081C00E2-F34C-45CD-8826-92C274C3D0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Function Prototypes (cont’d.)</a:t>
            </a:r>
          </a:p>
        </p:txBody>
      </p:sp>
      <p:pic>
        <p:nvPicPr>
          <p:cNvPr id="89094" name="Picture 7">
            <a:extLst>
              <a:ext uri="{FF2B5EF4-FFF2-40B4-BE49-F238E27FC236}">
                <a16:creationId xmlns:a16="http://schemas.microsoft.com/office/drawing/2014/main" id="{EDAB278B-9DE7-49F8-AC04-F390ECB10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703388"/>
            <a:ext cx="8674100" cy="345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3">
            <a:extLst>
              <a:ext uri="{FF2B5EF4-FFF2-40B4-BE49-F238E27FC236}">
                <a16:creationId xmlns:a16="http://schemas.microsoft.com/office/drawing/2014/main" id="{0876A31B-0DFD-4E62-AB23-D9B9547B5A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1139" name="Slide Number Placeholder 4">
            <a:extLst>
              <a:ext uri="{FF2B5EF4-FFF2-40B4-BE49-F238E27FC236}">
                <a16:creationId xmlns:a16="http://schemas.microsoft.com/office/drawing/2014/main" id="{07B43BFC-C001-4408-8F9D-0AEC125BC0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C2378F-C464-41E0-B7D2-915DE97CBC8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1140" name="TextBox 9">
            <a:extLst>
              <a:ext uri="{FF2B5EF4-FFF2-40B4-BE49-F238E27FC236}">
                <a16:creationId xmlns:a16="http://schemas.microsoft.com/office/drawing/2014/main" id="{C8499C40-4A4D-41D3-BD8D-9904DC1FC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800" y="5918200"/>
            <a:ext cx="5029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9-18 Savings Account Program</a:t>
            </a:r>
          </a:p>
        </p:txBody>
      </p:sp>
      <p:sp>
        <p:nvSpPr>
          <p:cNvPr id="91141" name="Rectangle 2">
            <a:extLst>
              <a:ext uri="{FF2B5EF4-FFF2-40B4-BE49-F238E27FC236}">
                <a16:creationId xmlns:a16="http://schemas.microsoft.com/office/drawing/2014/main" id="{D21D2C82-7F70-4E32-B5AE-EF03FA872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152400"/>
            <a:ext cx="8177212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Completing the Savings Account Program</a:t>
            </a:r>
          </a:p>
        </p:txBody>
      </p:sp>
      <p:pic>
        <p:nvPicPr>
          <p:cNvPr id="91142" name="Picture 7">
            <a:extLst>
              <a:ext uri="{FF2B5EF4-FFF2-40B4-BE49-F238E27FC236}">
                <a16:creationId xmlns:a16="http://schemas.microsoft.com/office/drawing/2014/main" id="{12E20191-9577-40EE-9873-2EAF62F80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1320800"/>
            <a:ext cx="4953000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>
            <a:extLst>
              <a:ext uri="{FF2B5EF4-FFF2-40B4-BE49-F238E27FC236}">
                <a16:creationId xmlns:a16="http://schemas.microsoft.com/office/drawing/2014/main" id="{872DD7BC-518B-4C42-A40D-F9B31862E9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3075" y="1676400"/>
            <a:ext cx="8285163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variable’s </a:t>
            </a:r>
            <a:r>
              <a:rPr lang="en-US" altLang="en-US" b="1">
                <a:ea typeface="ＭＳ Ｐゴシック" panose="020B0600070205080204" pitchFamily="34" charset="-128"/>
              </a:rPr>
              <a:t>scope</a:t>
            </a:r>
            <a:r>
              <a:rPr lang="en-US" altLang="en-US">
                <a:ea typeface="ＭＳ Ｐゴシック" panose="020B0600070205080204" pitchFamily="34" charset="-128"/>
              </a:rPr>
              <a:t> indicates where in the program the variable can be used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variable’s </a:t>
            </a:r>
            <a:r>
              <a:rPr lang="en-US" altLang="en-US" b="1">
                <a:ea typeface="ＭＳ Ｐゴシック" panose="020B0600070205080204" pitchFamily="34" charset="-128"/>
              </a:rPr>
              <a:t>lifetime</a:t>
            </a:r>
            <a:r>
              <a:rPr lang="en-US" altLang="en-US">
                <a:ea typeface="ＭＳ Ｐゴシック" panose="020B0600070205080204" pitchFamily="34" charset="-128"/>
              </a:rPr>
              <a:t> indicates how long the variable remains in the computer’s internal memory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Both scope and lifetime are determined by where you declare the variable in the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Variables declared within a function and those that appear in a function’s </a:t>
            </a:r>
            <a:r>
              <a:rPr lang="en-US" altLang="en-US" i="1">
                <a:ea typeface="ＭＳ Ｐゴシック" panose="020B0600070205080204" pitchFamily="34" charset="-128"/>
              </a:rPr>
              <a:t>parameterList</a:t>
            </a:r>
            <a:r>
              <a:rPr lang="en-US" altLang="en-US">
                <a:ea typeface="ＭＳ Ｐゴシック" panose="020B0600070205080204" pitchFamily="34" charset="-128"/>
              </a:rPr>
              <a:t> have a local scope and are referred to as local variables</a:t>
            </a: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DA03A10-AF0F-43DD-9306-4E5EE0E16D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Scope and Lifetime of a Variable</a:t>
            </a:r>
          </a:p>
        </p:txBody>
      </p:sp>
      <p:sp>
        <p:nvSpPr>
          <p:cNvPr id="93188" name="Footer Placeholder 3">
            <a:extLst>
              <a:ext uri="{FF2B5EF4-FFF2-40B4-BE49-F238E27FC236}">
                <a16:creationId xmlns:a16="http://schemas.microsoft.com/office/drawing/2014/main" id="{05660B90-E0B7-4E15-9638-4E7177FF4C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3189" name="Slide Number Placeholder 4">
            <a:extLst>
              <a:ext uri="{FF2B5EF4-FFF2-40B4-BE49-F238E27FC236}">
                <a16:creationId xmlns:a16="http://schemas.microsoft.com/office/drawing/2014/main" id="{2A79A3EA-7651-494E-8EEA-4C02BA4C8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03A9C6-2263-44AB-9614-A6CCD3C9BA2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>
            <a:extLst>
              <a:ext uri="{FF2B5EF4-FFF2-40B4-BE49-F238E27FC236}">
                <a16:creationId xmlns:a16="http://schemas.microsoft.com/office/drawing/2014/main" id="{20F2B4FF-4257-4626-87F5-0A6DDE0E64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3075" y="1676400"/>
            <a:ext cx="8285163" cy="4572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Local variables</a:t>
            </a:r>
            <a:r>
              <a:rPr lang="en-US" altLang="en-US">
                <a:ea typeface="ＭＳ Ｐゴシック" panose="020B0600070205080204" pitchFamily="34" charset="-128"/>
              </a:rPr>
              <a:t> can be used only by the function in which they are declared or in whose </a:t>
            </a:r>
            <a:r>
              <a:rPr lang="en-US" altLang="en-US" i="1">
                <a:ea typeface="ＭＳ Ｐゴシック" panose="020B0600070205080204" pitchFamily="34" charset="-128"/>
              </a:rPr>
              <a:t>parameterList</a:t>
            </a:r>
            <a:r>
              <a:rPr lang="en-US" altLang="en-US">
                <a:ea typeface="ＭＳ Ｐゴシック" panose="020B0600070205080204" pitchFamily="34" charset="-128"/>
              </a:rPr>
              <a:t> they appear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Remain in internal memory until the function ends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Global variables</a:t>
            </a:r>
            <a:r>
              <a:rPr lang="en-US" altLang="en-US">
                <a:ea typeface="ＭＳ Ｐゴシック" panose="020B0600070205080204" pitchFamily="34" charset="-128"/>
              </a:rPr>
              <a:t> are declared outside of any function in the program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Remain in memory until the program ends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Any statement can use a global variable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ECA04EE6-B9F3-4A5F-9AA4-C5C0DC5CF7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Scope and Lifetime of a Variable (cont’d.)</a:t>
            </a:r>
          </a:p>
        </p:txBody>
      </p:sp>
      <p:sp>
        <p:nvSpPr>
          <p:cNvPr id="95236" name="Footer Placeholder 3">
            <a:extLst>
              <a:ext uri="{FF2B5EF4-FFF2-40B4-BE49-F238E27FC236}">
                <a16:creationId xmlns:a16="http://schemas.microsoft.com/office/drawing/2014/main" id="{871D8B85-9ADC-4ADB-BDD2-4281B50810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5237" name="Slide Number Placeholder 4">
            <a:extLst>
              <a:ext uri="{FF2B5EF4-FFF2-40B4-BE49-F238E27FC236}">
                <a16:creationId xmlns:a16="http://schemas.microsoft.com/office/drawing/2014/main" id="{1332D056-185F-4116-AD7A-EB3BDE66F3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80C090-089D-4B70-AE42-DDDBD8D2AB2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">
            <a:extLst>
              <a:ext uri="{FF2B5EF4-FFF2-40B4-BE49-F238E27FC236}">
                <a16:creationId xmlns:a16="http://schemas.microsoft.com/office/drawing/2014/main" id="{9E504753-94EB-4FB7-98EC-6ACCA64299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3075" y="1676400"/>
            <a:ext cx="8285163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Declaring a variable as global can allow unintentional errors to occur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e.g., a function that should not have access to the variable inadvertently changes the variable’s contents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should avoid using global variables unless necessary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more than one function needs to access the same variable, it is better to create a local variable in one function and pass it to other functions that need it</a:t>
            </a: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6B0E1A41-0B32-44DE-B036-6DAEAE38B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Scope and Lifetime of a Variable (cont’d.)</a:t>
            </a:r>
          </a:p>
        </p:txBody>
      </p:sp>
      <p:sp>
        <p:nvSpPr>
          <p:cNvPr id="97284" name="Footer Placeholder 3">
            <a:extLst>
              <a:ext uri="{FF2B5EF4-FFF2-40B4-BE49-F238E27FC236}">
                <a16:creationId xmlns:a16="http://schemas.microsoft.com/office/drawing/2014/main" id="{68692E25-84E3-48EA-ACA1-295EB71C06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7285" name="Slide Number Placeholder 4">
            <a:extLst>
              <a:ext uri="{FF2B5EF4-FFF2-40B4-BE49-F238E27FC236}">
                <a16:creationId xmlns:a16="http://schemas.microsoft.com/office/drawing/2014/main" id="{7D6478F4-4139-498A-8444-AA443BFE8D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2F142A-0164-43E8-A4C0-74ADBB39BD0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3">
            <a:extLst>
              <a:ext uri="{FF2B5EF4-FFF2-40B4-BE49-F238E27FC236}">
                <a16:creationId xmlns:a16="http://schemas.microsoft.com/office/drawing/2014/main" id="{8746FD23-5D20-479B-AAA6-0640B4ED76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Functions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Allow programmers to avoid duplicating code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Allow for large, complex programs to be broken into small, manageable tasks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 functions are built into the language, and others are program-defined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All functions are either value-returning or void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value-returning function returns one value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Value returned to statement that called the function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void function returns no value</a:t>
            </a: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44CFF941-1627-4BAF-BE8C-704A23643E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</a:t>
            </a:r>
          </a:p>
        </p:txBody>
      </p:sp>
      <p:sp>
        <p:nvSpPr>
          <p:cNvPr id="99332" name="Footer Placeholder 3">
            <a:extLst>
              <a:ext uri="{FF2B5EF4-FFF2-40B4-BE49-F238E27FC236}">
                <a16:creationId xmlns:a16="http://schemas.microsoft.com/office/drawing/2014/main" id="{25245584-CDCA-4AD6-BCEA-6BF7EA5700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9333" name="Slide Number Placeholder 4">
            <a:extLst>
              <a:ext uri="{FF2B5EF4-FFF2-40B4-BE49-F238E27FC236}">
                <a16:creationId xmlns:a16="http://schemas.microsoft.com/office/drawing/2014/main" id="{BABA0CCE-C7C0-41F4-BDBB-6C4243B420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16F55A-DD9B-4B0E-B150-AF5A1899C0D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>
            <a:extLst>
              <a:ext uri="{FF2B5EF4-FFF2-40B4-BE49-F238E27FC236}">
                <a16:creationId xmlns:a16="http://schemas.microsoft.com/office/drawing/2014/main" id="{7B44DF96-16F8-4764-A736-FA8D946FDC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sqrt</a:t>
            </a:r>
            <a:r>
              <a:rPr lang="en-US" altLang="en-US">
                <a:ea typeface="ＭＳ Ｐゴシック" panose="020B0600070205080204" pitchFamily="34" charset="-128"/>
              </a:rPr>
              <a:t> function to find the square root of a number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pow</a:t>
            </a:r>
            <a:r>
              <a:rPr lang="en-US" altLang="en-US">
                <a:ea typeface="ＭＳ Ｐゴシック" panose="020B0600070205080204" pitchFamily="34" charset="-128"/>
              </a:rPr>
              <a:t> function to raise a number to a power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Items in parentheses in a function call are called actual arguments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</a:t>
            </a:r>
            <a:r>
              <a:rPr lang="en-US" altLang="en-US">
                <a:ea typeface="ＭＳ Ｐゴシック" panose="020B0600070205080204" pitchFamily="34" charset="-128"/>
              </a:rPr>
              <a:t> function is used to generate random numbers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Returns an integer between 0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RAND_MAX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srand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function is used to initialize rand function</a:t>
            </a:r>
          </a:p>
          <a:p>
            <a:pPr lvl="1"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function usually used as seed (starting point)</a:t>
            </a: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95159457-2713-4931-84DE-8642209C6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01380" name="Footer Placeholder 3">
            <a:extLst>
              <a:ext uri="{FF2B5EF4-FFF2-40B4-BE49-F238E27FC236}">
                <a16:creationId xmlns:a16="http://schemas.microsoft.com/office/drawing/2014/main" id="{F80E444E-2363-4CE4-98D9-1AE20C770B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1381" name="Slide Number Placeholder 4">
            <a:extLst>
              <a:ext uri="{FF2B5EF4-FFF2-40B4-BE49-F238E27FC236}">
                <a16:creationId xmlns:a16="http://schemas.microsoft.com/office/drawing/2014/main" id="{825E0E23-FF1F-4C4D-81D8-323D29E79C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58867C-54A1-46DD-A285-44500CF8199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3">
            <a:extLst>
              <a:ext uri="{FF2B5EF4-FFF2-40B4-BE49-F238E27FC236}">
                <a16:creationId xmlns:a16="http://schemas.microsoft.com/office/drawing/2014/main" id="{47659408-2538-4972-AF3D-97E1258EB7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Function definition composed of header and body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Header specifies function name, return data type, and formal parameter names and types (if any)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Data types and ordering of formal parameters must match data types and ordering of actual arguments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Body contains instructions for performing the function’s assigned task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Surrounded by braces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{}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)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return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statement returns the result of an expression to the calling function</a:t>
            </a: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C08AB76E-D1A3-43AA-8E2B-1D7114119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03428" name="Footer Placeholder 3">
            <a:extLst>
              <a:ext uri="{FF2B5EF4-FFF2-40B4-BE49-F238E27FC236}">
                <a16:creationId xmlns:a16="http://schemas.microsoft.com/office/drawing/2014/main" id="{438E95F2-E4BA-4F81-819F-543D4678B7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3429" name="Slide Number Placeholder 4">
            <a:extLst>
              <a:ext uri="{FF2B5EF4-FFF2-40B4-BE49-F238E27FC236}">
                <a16:creationId xmlns:a16="http://schemas.microsoft.com/office/drawing/2014/main" id="{81342E7C-62FC-400E-9893-4195A50637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8E361B-8919-4FF9-95A8-8B616C4C990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3">
            <a:extLst>
              <a:ext uri="{FF2B5EF4-FFF2-40B4-BE49-F238E27FC236}">
                <a16:creationId xmlns:a16="http://schemas.microsoft.com/office/drawing/2014/main" id="{5590CB09-5A2A-4D18-9242-C2C34F9AC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You call a function by including its name and actual arguments (if any) in a statement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Variables in C++ are passed </a:t>
            </a:r>
            <a:r>
              <a:rPr lang="en-US" altLang="en-US" i="1">
                <a:ea typeface="ＭＳ Ｐゴシック" panose="020B0600070205080204" pitchFamily="34" charset="-128"/>
                <a:cs typeface="Courier New" panose="02070309020205020404" pitchFamily="49" charset="0"/>
              </a:rPr>
              <a:t>by value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by default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A function prototype must be provided for each function defined below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main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function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Scope of a variable indicates where in the program it can be used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Lifetime of a variable indicates how long it will stay in internal memory</a:t>
            </a: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8A8CBF48-C117-402B-8AD1-12D295F21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05476" name="Footer Placeholder 3">
            <a:extLst>
              <a:ext uri="{FF2B5EF4-FFF2-40B4-BE49-F238E27FC236}">
                <a16:creationId xmlns:a16="http://schemas.microsoft.com/office/drawing/2014/main" id="{22D2FB03-2B50-44B3-94C8-D9DD3DA50B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5477" name="Slide Number Placeholder 4">
            <a:extLst>
              <a:ext uri="{FF2B5EF4-FFF2-40B4-BE49-F238E27FC236}">
                <a16:creationId xmlns:a16="http://schemas.microsoft.com/office/drawing/2014/main" id="{D991FBE6-20A5-4BC5-A1E9-DB78E1BC52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356E42-F24A-48BC-89F2-3B1CD72668E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3">
            <a:extLst>
              <a:ext uri="{FF2B5EF4-FFF2-40B4-BE49-F238E27FC236}">
                <a16:creationId xmlns:a16="http://schemas.microsoft.com/office/drawing/2014/main" id="{8803ED30-E49B-412C-80A1-B61C53ACB4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Local variables can be used only within the function in which they are declared or in whose </a:t>
            </a:r>
            <a:r>
              <a:rPr lang="en-US" altLang="en-US" i="1">
                <a:ea typeface="ＭＳ Ｐゴシック" panose="020B0600070205080204" pitchFamily="34" charset="-128"/>
                <a:cs typeface="Courier New" panose="02070309020205020404" pitchFamily="49" charset="0"/>
              </a:rPr>
              <a:t>parameterList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they appear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Remain in memory until the function ends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Global variables can be used anywhere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Remain in memory until the program ends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If more than one memory location have the same name, position of the statement in which the name is used determines which location is used</a:t>
            </a: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7ABFCE4D-AAD1-480E-9B75-73BEDA268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07524" name="Footer Placeholder 3">
            <a:extLst>
              <a:ext uri="{FF2B5EF4-FFF2-40B4-BE49-F238E27FC236}">
                <a16:creationId xmlns:a16="http://schemas.microsoft.com/office/drawing/2014/main" id="{8666D15B-3F76-4940-A729-3368C22B64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7525" name="Slide Number Placeholder 4">
            <a:extLst>
              <a:ext uri="{FF2B5EF4-FFF2-40B4-BE49-F238E27FC236}">
                <a16:creationId xmlns:a16="http://schemas.microsoft.com/office/drawing/2014/main" id="{F6CE0693-4664-42E6-BBCD-26DD322B1D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BCD3C4-A541-4664-B3AA-3F7986AB76B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Content Placeholder 5">
            <a:extLst>
              <a:ext uri="{FF2B5EF4-FFF2-40B4-BE49-F238E27FC236}">
                <a16:creationId xmlns:a16="http://schemas.microsoft.com/office/drawing/2014/main" id="{E8B51BFF-DB70-4016-B2F8-76F998F0D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Study the program in Figure 9-26, and then answer the questions</a:t>
            </a: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6B671045-944A-41E2-87FD-D97328C86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9-1: Stop and Analyze</a:t>
            </a:r>
          </a:p>
        </p:txBody>
      </p:sp>
      <p:sp>
        <p:nvSpPr>
          <p:cNvPr id="109572" name="Footer Placeholder 3">
            <a:extLst>
              <a:ext uri="{FF2B5EF4-FFF2-40B4-BE49-F238E27FC236}">
                <a16:creationId xmlns:a16="http://schemas.microsoft.com/office/drawing/2014/main" id="{9482B1C3-985B-4F4D-8D1D-7CC71FD062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9573" name="Slide Number Placeholder 4">
            <a:extLst>
              <a:ext uri="{FF2B5EF4-FFF2-40B4-BE49-F238E27FC236}">
                <a16:creationId xmlns:a16="http://schemas.microsoft.com/office/drawing/2014/main" id="{A8B255B9-DC86-4238-A4AC-421F581238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D6A503-B4B9-4CD2-84F1-5550D49911C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09574" name="Picture 6">
            <a:extLst>
              <a:ext uri="{FF2B5EF4-FFF2-40B4-BE49-F238E27FC236}">
                <a16:creationId xmlns:a16="http://schemas.microsoft.com/office/drawing/2014/main" id="{4C1A2C7F-914C-4B88-83E6-599192CAD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2447925"/>
            <a:ext cx="8280400" cy="320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5" name="TextBox 9">
            <a:extLst>
              <a:ext uri="{FF2B5EF4-FFF2-40B4-BE49-F238E27FC236}">
                <a16:creationId xmlns:a16="http://schemas.microsoft.com/office/drawing/2014/main" id="{861B5F77-20CB-438A-831B-A52DC5A57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8" y="5918200"/>
            <a:ext cx="8234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9-26 Code for Lab 9-1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6F770B47-B85F-4306-B3E9-67FC3EDB8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9-1: Stop and Analyze (cont’d.)</a:t>
            </a:r>
          </a:p>
        </p:txBody>
      </p:sp>
      <p:sp>
        <p:nvSpPr>
          <p:cNvPr id="111619" name="Footer Placeholder 3">
            <a:extLst>
              <a:ext uri="{FF2B5EF4-FFF2-40B4-BE49-F238E27FC236}">
                <a16:creationId xmlns:a16="http://schemas.microsoft.com/office/drawing/2014/main" id="{4020DFCC-4A5B-4C64-B53A-1E846893B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1620" name="Slide Number Placeholder 4">
            <a:extLst>
              <a:ext uri="{FF2B5EF4-FFF2-40B4-BE49-F238E27FC236}">
                <a16:creationId xmlns:a16="http://schemas.microsoft.com/office/drawing/2014/main" id="{6F62E912-1F02-4198-AA6F-4C8161B85D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CF75B1-25CA-40B5-AAAE-339DCCBC6A0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1621" name="TextBox 9">
            <a:extLst>
              <a:ext uri="{FF2B5EF4-FFF2-40B4-BE49-F238E27FC236}">
                <a16:creationId xmlns:a16="http://schemas.microsoft.com/office/drawing/2014/main" id="{669BCA2F-D364-45B6-BD0B-2F1DD9B4F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8" y="5918200"/>
            <a:ext cx="8234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9-26 Code for Lab 9-1</a:t>
            </a:r>
          </a:p>
        </p:txBody>
      </p:sp>
      <p:pic>
        <p:nvPicPr>
          <p:cNvPr id="111622" name="Picture 2">
            <a:extLst>
              <a:ext uri="{FF2B5EF4-FFF2-40B4-BE49-F238E27FC236}">
                <a16:creationId xmlns:a16="http://schemas.microsoft.com/office/drawing/2014/main" id="{7982C1CB-65CA-4496-A9BF-F74FB0BD6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4100" y="1333500"/>
            <a:ext cx="7162800" cy="4610100"/>
          </a:xfr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4C641DBD-DE96-43AF-B268-966825EA59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9-2: Plan and Create</a:t>
            </a:r>
          </a:p>
        </p:txBody>
      </p:sp>
      <p:sp>
        <p:nvSpPr>
          <p:cNvPr id="113667" name="Footer Placeholder 3">
            <a:extLst>
              <a:ext uri="{FF2B5EF4-FFF2-40B4-BE49-F238E27FC236}">
                <a16:creationId xmlns:a16="http://schemas.microsoft.com/office/drawing/2014/main" id="{82F83D8B-B922-42E0-AD1E-B52826164D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3668" name="Slide Number Placeholder 4">
            <a:extLst>
              <a:ext uri="{FF2B5EF4-FFF2-40B4-BE49-F238E27FC236}">
                <a16:creationId xmlns:a16="http://schemas.microsoft.com/office/drawing/2014/main" id="{0B392838-FAE4-477A-A72B-FDA202F784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A5D74A-58F3-4542-B888-CA481E50FBC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3669" name="TextBox 12">
            <a:extLst>
              <a:ext uri="{FF2B5EF4-FFF2-40B4-BE49-F238E27FC236}">
                <a16:creationId xmlns:a16="http://schemas.microsoft.com/office/drawing/2014/main" id="{D81D32EE-CB2E-475D-80F9-637D71B6A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88" y="5810250"/>
            <a:ext cx="487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9-27 Problem specification for Lab 9-2</a:t>
            </a:r>
          </a:p>
        </p:txBody>
      </p:sp>
      <p:pic>
        <p:nvPicPr>
          <p:cNvPr id="113670" name="Picture 7">
            <a:extLst>
              <a:ext uri="{FF2B5EF4-FFF2-40B4-BE49-F238E27FC236}">
                <a16:creationId xmlns:a16="http://schemas.microsoft.com/office/drawing/2014/main" id="{9DD436E1-7571-4C02-9663-4719C8543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1346200"/>
            <a:ext cx="688340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7270F514-6F7E-4EF3-BA03-3EC5B124B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9-2: Plan and Create (cont’d.)</a:t>
            </a:r>
          </a:p>
        </p:txBody>
      </p:sp>
      <p:sp>
        <p:nvSpPr>
          <p:cNvPr id="115715" name="Footer Placeholder 3">
            <a:extLst>
              <a:ext uri="{FF2B5EF4-FFF2-40B4-BE49-F238E27FC236}">
                <a16:creationId xmlns:a16="http://schemas.microsoft.com/office/drawing/2014/main" id="{AE6EAE80-8147-4872-BC1D-6183B9E81E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5716" name="Slide Number Placeholder 4">
            <a:extLst>
              <a:ext uri="{FF2B5EF4-FFF2-40B4-BE49-F238E27FC236}">
                <a16:creationId xmlns:a16="http://schemas.microsoft.com/office/drawing/2014/main" id="{B4F5B170-7821-4732-B6BD-D374FF9F57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E9A95C-A629-4BFD-913A-9AD041DFD15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5717" name="TextBox 12">
            <a:extLst>
              <a:ext uri="{FF2B5EF4-FFF2-40B4-BE49-F238E27FC236}">
                <a16:creationId xmlns:a16="http://schemas.microsoft.com/office/drawing/2014/main" id="{7A19894E-30CF-42E6-9763-524005DF7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88" y="4737100"/>
            <a:ext cx="487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9-27 Problem specification for Lab 9-2</a:t>
            </a:r>
          </a:p>
        </p:txBody>
      </p:sp>
      <p:pic>
        <p:nvPicPr>
          <p:cNvPr id="115718" name="Picture 2">
            <a:extLst>
              <a:ext uri="{FF2B5EF4-FFF2-40B4-BE49-F238E27FC236}">
                <a16:creationId xmlns:a16="http://schemas.microsoft.com/office/drawing/2014/main" id="{0CE862A6-4006-4C06-9DB0-FB4D9221C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89200"/>
            <a:ext cx="9144000" cy="18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58CF1A5-45AB-4608-AA89-9563551A7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9-2: Plan and Create (cont’d.)</a:t>
            </a:r>
          </a:p>
        </p:txBody>
      </p:sp>
      <p:sp>
        <p:nvSpPr>
          <p:cNvPr id="117763" name="Footer Placeholder 3">
            <a:extLst>
              <a:ext uri="{FF2B5EF4-FFF2-40B4-BE49-F238E27FC236}">
                <a16:creationId xmlns:a16="http://schemas.microsoft.com/office/drawing/2014/main" id="{EAE15827-EF82-4040-961C-FAA73A31F2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7764" name="Slide Number Placeholder 4">
            <a:extLst>
              <a:ext uri="{FF2B5EF4-FFF2-40B4-BE49-F238E27FC236}">
                <a16:creationId xmlns:a16="http://schemas.microsoft.com/office/drawing/2014/main" id="{1B0BB55E-9C55-4F4C-9925-D077748CCD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A279D7-0A68-44B6-83B3-8D103786B1A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7765" name="TextBox 12">
            <a:extLst>
              <a:ext uri="{FF2B5EF4-FFF2-40B4-BE49-F238E27FC236}">
                <a16:creationId xmlns:a16="http://schemas.microsoft.com/office/drawing/2014/main" id="{839367BE-99BD-4448-A5A8-4876A7BC6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88" y="5716588"/>
            <a:ext cx="487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9-28 IPO chart for the main function</a:t>
            </a:r>
          </a:p>
        </p:txBody>
      </p:sp>
      <p:pic>
        <p:nvPicPr>
          <p:cNvPr id="117766" name="Picture 2">
            <a:extLst>
              <a:ext uri="{FF2B5EF4-FFF2-40B4-BE49-F238E27FC236}">
                <a16:creationId xmlns:a16="http://schemas.microsoft.com/office/drawing/2014/main" id="{40DDA145-32B6-4C91-8412-00F71F78C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358900"/>
            <a:ext cx="8572500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C10C84A5-82CA-4977-95D8-EF5BD7C4A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9-2: Plan and Create (cont’d.)</a:t>
            </a:r>
          </a:p>
        </p:txBody>
      </p:sp>
      <p:sp>
        <p:nvSpPr>
          <p:cNvPr id="119811" name="Footer Placeholder 3">
            <a:extLst>
              <a:ext uri="{FF2B5EF4-FFF2-40B4-BE49-F238E27FC236}">
                <a16:creationId xmlns:a16="http://schemas.microsoft.com/office/drawing/2014/main" id="{695F1AB5-36BA-4583-BA54-368EEB341E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9812" name="Slide Number Placeholder 4">
            <a:extLst>
              <a:ext uri="{FF2B5EF4-FFF2-40B4-BE49-F238E27FC236}">
                <a16:creationId xmlns:a16="http://schemas.microsoft.com/office/drawing/2014/main" id="{968A53C5-1AD2-498F-BEEB-B357634041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167B53-E150-41F6-AF08-39707B99986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9813" name="TextBox 12">
            <a:extLst>
              <a:ext uri="{FF2B5EF4-FFF2-40B4-BE49-F238E27FC236}">
                <a16:creationId xmlns:a16="http://schemas.microsoft.com/office/drawing/2014/main" id="{097D1AF1-6586-477D-922A-46E28BC0D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88" y="5716588"/>
            <a:ext cx="487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9-28 IPO chart for the main function</a:t>
            </a:r>
          </a:p>
        </p:txBody>
      </p:sp>
      <p:pic>
        <p:nvPicPr>
          <p:cNvPr id="119814" name="Picture 2">
            <a:extLst>
              <a:ext uri="{FF2B5EF4-FFF2-40B4-BE49-F238E27FC236}">
                <a16:creationId xmlns:a16="http://schemas.microsoft.com/office/drawing/2014/main" id="{17EDDE2A-D31D-4101-B339-80FAD7D43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1384300"/>
            <a:ext cx="7153275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639E9230-6CDF-4392-A116-76E062A60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9-2: Plan and Create (cont’d.)</a:t>
            </a:r>
          </a:p>
        </p:txBody>
      </p:sp>
      <p:sp>
        <p:nvSpPr>
          <p:cNvPr id="121859" name="Footer Placeholder 3">
            <a:extLst>
              <a:ext uri="{FF2B5EF4-FFF2-40B4-BE49-F238E27FC236}">
                <a16:creationId xmlns:a16="http://schemas.microsoft.com/office/drawing/2014/main" id="{84CAA0FD-D808-41F2-B873-14C77116ED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1860" name="Slide Number Placeholder 4">
            <a:extLst>
              <a:ext uri="{FF2B5EF4-FFF2-40B4-BE49-F238E27FC236}">
                <a16:creationId xmlns:a16="http://schemas.microsoft.com/office/drawing/2014/main" id="{FB88B5A0-D488-48FD-AEE9-469B1FF243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BD269B-C69C-4300-9FF2-001BAE20411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1861" name="TextBox 12">
            <a:extLst>
              <a:ext uri="{FF2B5EF4-FFF2-40B4-BE49-F238E27FC236}">
                <a16:creationId xmlns:a16="http://schemas.microsoft.com/office/drawing/2014/main" id="{96B9EE5F-D557-44D9-93CB-C495FAEA9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156200"/>
            <a:ext cx="712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9-29 IPO chart for the getPayment function</a:t>
            </a:r>
          </a:p>
        </p:txBody>
      </p:sp>
      <p:pic>
        <p:nvPicPr>
          <p:cNvPr id="121862" name="Picture 2">
            <a:extLst>
              <a:ext uri="{FF2B5EF4-FFF2-40B4-BE49-F238E27FC236}">
                <a16:creationId xmlns:a16="http://schemas.microsoft.com/office/drawing/2014/main" id="{A58BF697-EB79-4025-A0F0-3A0DC13F3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831975"/>
            <a:ext cx="8737600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660F29C6-4360-4369-A2DA-D8C2E963A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9-2: Plan and Create (cont’d.)</a:t>
            </a:r>
          </a:p>
        </p:txBody>
      </p:sp>
      <p:sp>
        <p:nvSpPr>
          <p:cNvPr id="123907" name="Footer Placeholder 3">
            <a:extLst>
              <a:ext uri="{FF2B5EF4-FFF2-40B4-BE49-F238E27FC236}">
                <a16:creationId xmlns:a16="http://schemas.microsoft.com/office/drawing/2014/main" id="{D53979A1-4295-4BE1-A339-0D2CD57DA9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3908" name="Slide Number Placeholder 4">
            <a:extLst>
              <a:ext uri="{FF2B5EF4-FFF2-40B4-BE49-F238E27FC236}">
                <a16:creationId xmlns:a16="http://schemas.microsoft.com/office/drawing/2014/main" id="{A2146A9F-59DC-4BA9-948F-BA5362F23A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2948E4-2064-4031-BFD7-EA167E22F4E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3909" name="TextBox 12">
            <a:extLst>
              <a:ext uri="{FF2B5EF4-FFF2-40B4-BE49-F238E27FC236}">
                <a16:creationId xmlns:a16="http://schemas.microsoft.com/office/drawing/2014/main" id="{7F5F59C1-F561-420C-91D7-F9692FD62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613400"/>
            <a:ext cx="712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9-29 IPO chart for the getPayment function</a:t>
            </a:r>
          </a:p>
        </p:txBody>
      </p:sp>
      <p:pic>
        <p:nvPicPr>
          <p:cNvPr id="123910" name="Picture 2">
            <a:extLst>
              <a:ext uri="{FF2B5EF4-FFF2-40B4-BE49-F238E27FC236}">
                <a16:creationId xmlns:a16="http://schemas.microsoft.com/office/drawing/2014/main" id="{BE3780FE-E123-4833-A92B-F13916D1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35100"/>
            <a:ext cx="86487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A22CEA50-AA9A-4417-963F-3A134E100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9-2: Plan and Create (cont’d.)</a:t>
            </a:r>
          </a:p>
        </p:txBody>
      </p:sp>
      <p:sp>
        <p:nvSpPr>
          <p:cNvPr id="125955" name="Footer Placeholder 3">
            <a:extLst>
              <a:ext uri="{FF2B5EF4-FFF2-40B4-BE49-F238E27FC236}">
                <a16:creationId xmlns:a16="http://schemas.microsoft.com/office/drawing/2014/main" id="{40BF6D51-13FE-447B-9381-92D4FBDF60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5956" name="Slide Number Placeholder 4">
            <a:extLst>
              <a:ext uri="{FF2B5EF4-FFF2-40B4-BE49-F238E27FC236}">
                <a16:creationId xmlns:a16="http://schemas.microsoft.com/office/drawing/2014/main" id="{8D419C2B-A676-4AC0-B05F-6F09FA7113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E2889-6E55-44AF-8DC5-DEE9DE3ACD7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5957" name="TextBox 12">
            <a:extLst>
              <a:ext uri="{FF2B5EF4-FFF2-40B4-BE49-F238E27FC236}">
                <a16:creationId xmlns:a16="http://schemas.microsoft.com/office/drawing/2014/main" id="{9C763C90-1250-4BBB-903E-9471D65C9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613400"/>
            <a:ext cx="57785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9-31 IPO chart information and C++ instructions for the main function</a:t>
            </a:r>
          </a:p>
        </p:txBody>
      </p:sp>
      <p:pic>
        <p:nvPicPr>
          <p:cNvPr id="125958" name="Picture 2">
            <a:extLst>
              <a:ext uri="{FF2B5EF4-FFF2-40B4-BE49-F238E27FC236}">
                <a16:creationId xmlns:a16="http://schemas.microsoft.com/office/drawing/2014/main" id="{0F9305D8-981F-40AE-84B8-D69B8F624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100" y="1282700"/>
            <a:ext cx="5765800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6252D19B-B151-453A-91A5-01A0F036F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9-2: Plan and Create (cont’d.)</a:t>
            </a:r>
          </a:p>
        </p:txBody>
      </p:sp>
      <p:sp>
        <p:nvSpPr>
          <p:cNvPr id="128003" name="Footer Placeholder 3">
            <a:extLst>
              <a:ext uri="{FF2B5EF4-FFF2-40B4-BE49-F238E27FC236}">
                <a16:creationId xmlns:a16="http://schemas.microsoft.com/office/drawing/2014/main" id="{4FE7485B-ADFB-4947-822F-F7C972CEDC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8004" name="Slide Number Placeholder 4">
            <a:extLst>
              <a:ext uri="{FF2B5EF4-FFF2-40B4-BE49-F238E27FC236}">
                <a16:creationId xmlns:a16="http://schemas.microsoft.com/office/drawing/2014/main" id="{3F37CD42-EEC4-4709-9C21-813DC1EE35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3D2B35-1310-46F1-9BDA-7CF0BA97C56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8005" name="TextBox 12">
            <a:extLst>
              <a:ext uri="{FF2B5EF4-FFF2-40B4-BE49-F238E27FC236}">
                <a16:creationId xmlns:a16="http://schemas.microsoft.com/office/drawing/2014/main" id="{A6DCBB1A-E417-4D9C-B112-58A1031C5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613400"/>
            <a:ext cx="57785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9-32 IPO chart information and C++ instructions for the getPayment function</a:t>
            </a:r>
          </a:p>
        </p:txBody>
      </p:sp>
      <p:pic>
        <p:nvPicPr>
          <p:cNvPr id="128006" name="Picture 2">
            <a:extLst>
              <a:ext uri="{FF2B5EF4-FFF2-40B4-BE49-F238E27FC236}">
                <a16:creationId xmlns:a16="http://schemas.microsoft.com/office/drawing/2014/main" id="{6FA759FA-D25B-4C0C-AA36-3A3A5E45C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33500"/>
            <a:ext cx="8686800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83BFF4D1-DAFD-4C4F-9104-24F4523AF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9-2: Plan and Create (cont’d.)</a:t>
            </a:r>
          </a:p>
        </p:txBody>
      </p:sp>
      <p:sp>
        <p:nvSpPr>
          <p:cNvPr id="130051" name="Footer Placeholder 3">
            <a:extLst>
              <a:ext uri="{FF2B5EF4-FFF2-40B4-BE49-F238E27FC236}">
                <a16:creationId xmlns:a16="http://schemas.microsoft.com/office/drawing/2014/main" id="{DA912D49-B8D3-4C3B-8704-A6DAB78A88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0052" name="Slide Number Placeholder 4">
            <a:extLst>
              <a:ext uri="{FF2B5EF4-FFF2-40B4-BE49-F238E27FC236}">
                <a16:creationId xmlns:a16="http://schemas.microsoft.com/office/drawing/2014/main" id="{2A7EEA91-AD18-4835-A869-FF9386523B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2501F4-2C5F-4021-BF13-9C98A760651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0053" name="TextBox 12">
            <a:extLst>
              <a:ext uri="{FF2B5EF4-FFF2-40B4-BE49-F238E27FC236}">
                <a16:creationId xmlns:a16="http://schemas.microsoft.com/office/drawing/2014/main" id="{2613849E-0F4B-4F05-B306-36FA43C01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0" y="5753100"/>
            <a:ext cx="6197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9-34 Beginning of finalized Car Payment Program</a:t>
            </a:r>
          </a:p>
        </p:txBody>
      </p:sp>
      <p:pic>
        <p:nvPicPr>
          <p:cNvPr id="130054" name="Picture 2">
            <a:extLst>
              <a:ext uri="{FF2B5EF4-FFF2-40B4-BE49-F238E27FC236}">
                <a16:creationId xmlns:a16="http://schemas.microsoft.com/office/drawing/2014/main" id="{C63D2740-6E12-42CE-B4FD-FE67228EE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850" y="1320800"/>
            <a:ext cx="4178300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FF27F159-8D73-49FA-B2D2-F72C5D08B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9-2: Plan and Create (cont’d.)</a:t>
            </a:r>
          </a:p>
        </p:txBody>
      </p:sp>
      <p:sp>
        <p:nvSpPr>
          <p:cNvPr id="132099" name="Footer Placeholder 3">
            <a:extLst>
              <a:ext uri="{FF2B5EF4-FFF2-40B4-BE49-F238E27FC236}">
                <a16:creationId xmlns:a16="http://schemas.microsoft.com/office/drawing/2014/main" id="{001C67E2-FE62-4854-9090-BDE2D4B36A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2100" name="Slide Number Placeholder 4">
            <a:extLst>
              <a:ext uri="{FF2B5EF4-FFF2-40B4-BE49-F238E27FC236}">
                <a16:creationId xmlns:a16="http://schemas.microsoft.com/office/drawing/2014/main" id="{70A1229D-F015-4EC9-BE5D-825B41F91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FBD559-F4A9-44BC-9E91-C94B21FCB4E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2101" name="TextBox 12">
            <a:extLst>
              <a:ext uri="{FF2B5EF4-FFF2-40B4-BE49-F238E27FC236}">
                <a16:creationId xmlns:a16="http://schemas.microsoft.com/office/drawing/2014/main" id="{467E4AB9-12EC-41C4-842D-99706FB21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0" y="5600700"/>
            <a:ext cx="6197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9-34 Completion of finalized Car Payment Program</a:t>
            </a:r>
          </a:p>
        </p:txBody>
      </p:sp>
      <p:pic>
        <p:nvPicPr>
          <p:cNvPr id="132102" name="Picture 2">
            <a:extLst>
              <a:ext uri="{FF2B5EF4-FFF2-40B4-BE49-F238E27FC236}">
                <a16:creationId xmlns:a16="http://schemas.microsoft.com/office/drawing/2014/main" id="{0681ED35-D230-4AFC-AF40-FDE8E73C1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508125"/>
            <a:ext cx="7645400" cy="384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Content Placeholder 5">
            <a:extLst>
              <a:ext uri="{FF2B5EF4-FFF2-40B4-BE49-F238E27FC236}">
                <a16:creationId xmlns:a16="http://schemas.microsoft.com/office/drawing/2014/main" id="{A9077423-B00A-4D40-B493-40F5D1D19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Modify the program in Lab9-2.cpp. Make the changes listed in Figure 9-35 below.  Save the modified program as Lab9-3.cpp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Save, run, and test the program.</a:t>
            </a: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2044923B-33E5-494E-A8FC-89BC991E5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9-3: Modify</a:t>
            </a:r>
          </a:p>
        </p:txBody>
      </p:sp>
      <p:sp>
        <p:nvSpPr>
          <p:cNvPr id="134148" name="Footer Placeholder 3">
            <a:extLst>
              <a:ext uri="{FF2B5EF4-FFF2-40B4-BE49-F238E27FC236}">
                <a16:creationId xmlns:a16="http://schemas.microsoft.com/office/drawing/2014/main" id="{B74147D0-393D-4203-B754-A898368239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4149" name="Slide Number Placeholder 4">
            <a:extLst>
              <a:ext uri="{FF2B5EF4-FFF2-40B4-BE49-F238E27FC236}">
                <a16:creationId xmlns:a16="http://schemas.microsoft.com/office/drawing/2014/main" id="{EAD9BB24-8313-491E-A49F-6E7641071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4746B9-76A5-4838-8F85-DE7D047D474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34150" name="Picture 6">
            <a:extLst>
              <a:ext uri="{FF2B5EF4-FFF2-40B4-BE49-F238E27FC236}">
                <a16:creationId xmlns:a16="http://schemas.microsoft.com/office/drawing/2014/main" id="{5FE331FF-6331-4242-B2CA-493FE4E7B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3319463"/>
            <a:ext cx="8712200" cy="242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151" name="TextBox 12">
            <a:extLst>
              <a:ext uri="{FF2B5EF4-FFF2-40B4-BE49-F238E27FC236}">
                <a16:creationId xmlns:a16="http://schemas.microsoft.com/office/drawing/2014/main" id="{10CB60F3-4C58-44EB-A3E0-180BE4D08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5778500"/>
            <a:ext cx="868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9-35 Modifications for Lab 9-3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Content Placeholder 5">
            <a:extLst>
              <a:ext uri="{FF2B5EF4-FFF2-40B4-BE49-F238E27FC236}">
                <a16:creationId xmlns:a16="http://schemas.microsoft.com/office/drawing/2014/main" id="{F34AEA60-451B-46F7-8035-C6A505A15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program is this lab should display the total due, given the quantity purchased and the item price.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Follow the instructions for starting C++ and opening the Lab9-4.cpp file. Put the C++ instructions in the proper order, and then determine the one or more missing instructions.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Test the program appropriately.</a:t>
            </a: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E3541A72-810D-4018-A317-94125B276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9-4: What’s Missing?</a:t>
            </a:r>
          </a:p>
        </p:txBody>
      </p:sp>
      <p:sp>
        <p:nvSpPr>
          <p:cNvPr id="136196" name="Footer Placeholder 3">
            <a:extLst>
              <a:ext uri="{FF2B5EF4-FFF2-40B4-BE49-F238E27FC236}">
                <a16:creationId xmlns:a16="http://schemas.microsoft.com/office/drawing/2014/main" id="{E20BA6A1-AC0D-4F25-8633-F9DC120634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6197" name="Slide Number Placeholder 4">
            <a:extLst>
              <a:ext uri="{FF2B5EF4-FFF2-40B4-BE49-F238E27FC236}">
                <a16:creationId xmlns:a16="http://schemas.microsoft.com/office/drawing/2014/main" id="{15364BC0-5CAE-419F-AD20-F83B580B49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6498FC-7077-4A59-B588-603AFB6314F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Content Placeholder 5">
            <a:extLst>
              <a:ext uri="{FF2B5EF4-FFF2-40B4-BE49-F238E27FC236}">
                <a16:creationId xmlns:a16="http://schemas.microsoft.com/office/drawing/2014/main" id="{CAEA3E5F-2EAD-4363-B949-994B8AAEF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 the data shown in Figure 9-36 to desk-check the figure’s code. What current total will the code display on the screen?</a:t>
            </a: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072ABBF0-A945-4921-8560-E7479F9F9E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9-5: Desk-Check</a:t>
            </a:r>
          </a:p>
        </p:txBody>
      </p:sp>
      <p:sp>
        <p:nvSpPr>
          <p:cNvPr id="138244" name="Footer Placeholder 3">
            <a:extLst>
              <a:ext uri="{FF2B5EF4-FFF2-40B4-BE49-F238E27FC236}">
                <a16:creationId xmlns:a16="http://schemas.microsoft.com/office/drawing/2014/main" id="{88E666FA-667A-49E7-8189-3E1FB40434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8245" name="Slide Number Placeholder 4">
            <a:extLst>
              <a:ext uri="{FF2B5EF4-FFF2-40B4-BE49-F238E27FC236}">
                <a16:creationId xmlns:a16="http://schemas.microsoft.com/office/drawing/2014/main" id="{320C3AED-AB80-4E9D-846F-8234130DC7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565988-8BC9-49F2-AFCF-2AE7D25B12A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8B8D3001-2402-4EEE-894B-96E9B5273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9-5: Desk-Check (cont’d.)</a:t>
            </a:r>
          </a:p>
        </p:txBody>
      </p:sp>
      <p:sp>
        <p:nvSpPr>
          <p:cNvPr id="140291" name="Footer Placeholder 3">
            <a:extLst>
              <a:ext uri="{FF2B5EF4-FFF2-40B4-BE49-F238E27FC236}">
                <a16:creationId xmlns:a16="http://schemas.microsoft.com/office/drawing/2014/main" id="{AEDA3151-1BFB-40D1-B107-9121B5D34B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40292" name="Slide Number Placeholder 4">
            <a:extLst>
              <a:ext uri="{FF2B5EF4-FFF2-40B4-BE49-F238E27FC236}">
                <a16:creationId xmlns:a16="http://schemas.microsoft.com/office/drawing/2014/main" id="{77A76E89-7E24-429D-AA32-F1538699A3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8CAC43-9537-44E1-B6DD-5AF5569AC7E1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0293" name="TextBox 12">
            <a:extLst>
              <a:ext uri="{FF2B5EF4-FFF2-40B4-BE49-F238E27FC236}">
                <a16:creationId xmlns:a16="http://schemas.microsoft.com/office/drawing/2014/main" id="{4A2B1FB8-D15A-4D06-BC9D-61E8F6056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8077200" cy="3360738"/>
          </a:xfrm>
        </p:spPr>
        <p:txBody>
          <a:bodyPr>
            <a:spAutoFit/>
          </a:bodyPr>
          <a:lstStyle/>
          <a:p>
            <a:pPr algn="ctr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/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0294" name="TextBox 12">
            <a:extLst>
              <a:ext uri="{FF2B5EF4-FFF2-40B4-BE49-F238E27FC236}">
                <a16:creationId xmlns:a16="http://schemas.microsoft.com/office/drawing/2014/main" id="{E4F98A34-E738-445D-801A-F9F3B7F94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5778500"/>
            <a:ext cx="868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9-36 Test data and code for Lab 9-5</a:t>
            </a:r>
          </a:p>
        </p:txBody>
      </p:sp>
      <p:pic>
        <p:nvPicPr>
          <p:cNvPr id="140295" name="Picture 2">
            <a:extLst>
              <a:ext uri="{FF2B5EF4-FFF2-40B4-BE49-F238E27FC236}">
                <a16:creationId xmlns:a16="http://schemas.microsoft.com/office/drawing/2014/main" id="{087C4D83-3BFC-461A-94C3-0965399C0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3" y="1308100"/>
            <a:ext cx="554037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Content Placeholder 5">
            <a:extLst>
              <a:ext uri="{FF2B5EF4-FFF2-40B4-BE49-F238E27FC236}">
                <a16:creationId xmlns:a16="http://schemas.microsoft.com/office/drawing/2014/main" id="{C95C2FCA-AED7-4BD8-8695-FF4920A8E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676400"/>
            <a:ext cx="822325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Test the program in the Lab9-6.cpp file using the data 20500, 3500, and 10 as the asset cost, salvage value, and useful life, respectively.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depreciation should be $1700.00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Debug the program</a:t>
            </a: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2BB3D947-FFA4-4BE2-975D-5FA67AD1EB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9-6: Debug</a:t>
            </a:r>
          </a:p>
        </p:txBody>
      </p:sp>
      <p:sp>
        <p:nvSpPr>
          <p:cNvPr id="142340" name="Footer Placeholder 3">
            <a:extLst>
              <a:ext uri="{FF2B5EF4-FFF2-40B4-BE49-F238E27FC236}">
                <a16:creationId xmlns:a16="http://schemas.microsoft.com/office/drawing/2014/main" id="{C0E7E9BE-4D01-4781-8994-C70A9700F5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42341" name="Slide Number Placeholder 4">
            <a:extLst>
              <a:ext uri="{FF2B5EF4-FFF2-40B4-BE49-F238E27FC236}">
                <a16:creationId xmlns:a16="http://schemas.microsoft.com/office/drawing/2014/main" id="{BE18B9C1-E2F0-4B7C-9512-D347C55E82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A992C9-7B1B-4747-9954-D0669F6359D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ular Page">
  <a:themeElements>
    <a:clrScheme name="Default Design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Mod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Regular Page</Template>
  <TotalTime>0</TotalTime>
  <Words>3336</Words>
  <Application>Microsoft Office PowerPoint</Application>
  <PresentationFormat>On-screen Show (4:3)</PresentationFormat>
  <Paragraphs>462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ＭＳ Ｐゴシック</vt:lpstr>
      <vt:lpstr>Arial</vt:lpstr>
      <vt:lpstr>Calibri</vt:lpstr>
      <vt:lpstr>Courier New</vt:lpstr>
      <vt:lpstr>Times New Roman</vt:lpstr>
      <vt:lpstr>Trebuchet MS</vt:lpstr>
      <vt:lpstr>Regular Page</vt:lpstr>
      <vt:lpstr>Chapter 9: Value-Returning Functions</vt:lpstr>
      <vt:lpstr>Objectives</vt:lpstr>
      <vt:lpstr>Functions</vt:lpstr>
      <vt:lpstr>Functions (cont’d.)</vt:lpstr>
      <vt:lpstr>Functions (cont’d.)</vt:lpstr>
      <vt:lpstr>Value-Returning Functions</vt:lpstr>
      <vt:lpstr>The pow Function</vt:lpstr>
      <vt:lpstr>The pow Function (cont’d.)</vt:lpstr>
      <vt:lpstr>The sqrt Function</vt:lpstr>
      <vt:lpstr>The sqrt Function (cont’d.)</vt:lpstr>
      <vt:lpstr>The Hypotenuse Program</vt:lpstr>
      <vt:lpstr>The Hypotenuse Program (cont’d.)</vt:lpstr>
      <vt:lpstr>The Hypotenuse Program (cont’d.)</vt:lpstr>
      <vt:lpstr>The Hypotenuse Program (cont’d.)</vt:lpstr>
      <vt:lpstr>The Hypotenuse Program (cont’d.)</vt:lpstr>
      <vt:lpstr>The rand, srand, and time Functions</vt:lpstr>
      <vt:lpstr>The rand, srand, and time Functions (cont’d.)</vt:lpstr>
      <vt:lpstr>The rand, srand, and time Functions (cont’d.)</vt:lpstr>
      <vt:lpstr>The rand, srand, and time Functions (cont’d.)</vt:lpstr>
      <vt:lpstr>The rand, srand, and time Functions (cont’d.)</vt:lpstr>
      <vt:lpstr>The rand, srand, and time Functions (cont’d.)</vt:lpstr>
      <vt:lpstr>The rand, srand, and time Functions (cont’d.)</vt:lpstr>
      <vt:lpstr>The rand, srand, and time Functions (cont’d.)</vt:lpstr>
      <vt:lpstr>The Guessing Game Program</vt:lpstr>
      <vt:lpstr>The Guessing Game Program(cont’d.)</vt:lpstr>
      <vt:lpstr>The Guessing Game Program(cont’d.)</vt:lpstr>
      <vt:lpstr>Creating Program-Defined Value-Returning Functions</vt:lpstr>
      <vt:lpstr>Creating Program-Defined Value-Returning Functions (cont’d.)</vt:lpstr>
      <vt:lpstr>Creating Program-Defined Value-Returning Functions (cont’d.)</vt:lpstr>
      <vt:lpstr>Creating Program-Defined Value-Returning Functions (cont’d.)</vt:lpstr>
      <vt:lpstr>Calling a Function</vt:lpstr>
      <vt:lpstr>Calling a Function (cont’d.)</vt:lpstr>
      <vt:lpstr>Calling a Function (cont’d.)</vt:lpstr>
      <vt:lpstr>Calling a Function (cont’d.)</vt:lpstr>
      <vt:lpstr>Calling a Function (cont’d.)</vt:lpstr>
      <vt:lpstr>The Savings Account Program</vt:lpstr>
      <vt:lpstr>The Savings Account Program (cont’d.)</vt:lpstr>
      <vt:lpstr>The Savings Account Program (cont’d.)</vt:lpstr>
      <vt:lpstr>The Savings Account Program (cont’d.)</vt:lpstr>
      <vt:lpstr>Function Prototypes</vt:lpstr>
      <vt:lpstr>Function Prototypes (cont’d.)</vt:lpstr>
      <vt:lpstr>Completing the Savings Account Program</vt:lpstr>
      <vt:lpstr>The Scope and Lifetime of a Variable</vt:lpstr>
      <vt:lpstr>The Scope and Lifetime of a Variable (cont’d.)</vt:lpstr>
      <vt:lpstr>The Scope and Lifetime of a Variable (cont’d.)</vt:lpstr>
      <vt:lpstr>Summary</vt:lpstr>
      <vt:lpstr>Summary (cont’d.)</vt:lpstr>
      <vt:lpstr>Summary (cont’d.)</vt:lpstr>
      <vt:lpstr>Summary (cont’d.)</vt:lpstr>
      <vt:lpstr>Summary (cont’d.)</vt:lpstr>
      <vt:lpstr>Lab 9-1: Stop and Analyze</vt:lpstr>
      <vt:lpstr>Lab 9-1: Stop and Analyze (cont’d.)</vt:lpstr>
      <vt:lpstr>Lab 9-2: Plan and Create</vt:lpstr>
      <vt:lpstr>Lab 9-2: Plan and Create (cont’d.)</vt:lpstr>
      <vt:lpstr>Lab 9-2: Plan and Create (cont’d.)</vt:lpstr>
      <vt:lpstr>Lab 9-2: Plan and Create (cont’d.)</vt:lpstr>
      <vt:lpstr>Lab 9-2: Plan and Create (cont’d.)</vt:lpstr>
      <vt:lpstr>Lab 9-2: Plan and Create (cont’d.)</vt:lpstr>
      <vt:lpstr>Lab 9-2: Plan and Create (cont’d.)</vt:lpstr>
      <vt:lpstr>Lab 9-2: Plan and Create (cont’d.)</vt:lpstr>
      <vt:lpstr>Lab 9-2: Plan and Create (cont’d.)</vt:lpstr>
      <vt:lpstr>Lab 9-2: Plan and Create (cont’d.)</vt:lpstr>
      <vt:lpstr>Lab 9-3: Modify</vt:lpstr>
      <vt:lpstr>Lab 9-4: What’s Missing?</vt:lpstr>
      <vt:lpstr>Lab 9-5: Desk-Check</vt:lpstr>
      <vt:lpstr>Lab 9-5: Desk-Check (cont’d.)</vt:lpstr>
      <vt:lpstr>Lab 9-6: Debug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2012-08-08T17:59:59Z</dcterms:created>
  <dcterms:modified xsi:type="dcterms:W3CDTF">2020-07-14T21:27:42Z</dcterms:modified>
</cp:coreProperties>
</file>