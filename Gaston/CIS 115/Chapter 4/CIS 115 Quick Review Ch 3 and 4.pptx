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</p:sldMasterIdLst>
  <p:notesMasterIdLst>
    <p:notesMasterId r:id="rId70"/>
  </p:notesMasterIdLst>
  <p:sldIdLst>
    <p:sldId id="256" r:id="rId2"/>
    <p:sldId id="274" r:id="rId3"/>
    <p:sldId id="324" r:id="rId4"/>
    <p:sldId id="275" r:id="rId5"/>
    <p:sldId id="325" r:id="rId6"/>
    <p:sldId id="276" r:id="rId7"/>
    <p:sldId id="326" r:id="rId8"/>
    <p:sldId id="277" r:id="rId9"/>
    <p:sldId id="327" r:id="rId10"/>
    <p:sldId id="278" r:id="rId11"/>
    <p:sldId id="328" r:id="rId12"/>
    <p:sldId id="279" r:id="rId13"/>
    <p:sldId id="329" r:id="rId14"/>
    <p:sldId id="280" r:id="rId15"/>
    <p:sldId id="330" r:id="rId16"/>
    <p:sldId id="281" r:id="rId17"/>
    <p:sldId id="331" r:id="rId18"/>
    <p:sldId id="282" r:id="rId19"/>
    <p:sldId id="332" r:id="rId20"/>
    <p:sldId id="283" r:id="rId21"/>
    <p:sldId id="333" r:id="rId22"/>
    <p:sldId id="284" r:id="rId23"/>
    <p:sldId id="334" r:id="rId24"/>
    <p:sldId id="285" r:id="rId25"/>
    <p:sldId id="335" r:id="rId26"/>
    <p:sldId id="286" r:id="rId27"/>
    <p:sldId id="336" r:id="rId28"/>
    <p:sldId id="287" r:id="rId29"/>
    <p:sldId id="337" r:id="rId30"/>
    <p:sldId id="288" r:id="rId31"/>
    <p:sldId id="323" r:id="rId32"/>
    <p:sldId id="289" r:id="rId33"/>
    <p:sldId id="33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39" r:id="rId65"/>
    <p:sldId id="320" r:id="rId66"/>
    <p:sldId id="340" r:id="rId67"/>
    <p:sldId id="322" r:id="rId68"/>
    <p:sldId id="321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EF7323-5E49-4CAF-8D9A-DFF10C9C940A}">
          <p14:sldIdLst>
            <p14:sldId id="256"/>
            <p14:sldId id="274"/>
            <p14:sldId id="324"/>
            <p14:sldId id="275"/>
            <p14:sldId id="325"/>
            <p14:sldId id="276"/>
            <p14:sldId id="326"/>
            <p14:sldId id="277"/>
            <p14:sldId id="327"/>
            <p14:sldId id="278"/>
            <p14:sldId id="328"/>
            <p14:sldId id="279"/>
            <p14:sldId id="329"/>
            <p14:sldId id="280"/>
            <p14:sldId id="330"/>
            <p14:sldId id="281"/>
            <p14:sldId id="331"/>
            <p14:sldId id="282"/>
            <p14:sldId id="332"/>
            <p14:sldId id="283"/>
            <p14:sldId id="333"/>
            <p14:sldId id="284"/>
            <p14:sldId id="334"/>
            <p14:sldId id="285"/>
            <p14:sldId id="335"/>
            <p14:sldId id="286"/>
            <p14:sldId id="336"/>
            <p14:sldId id="287"/>
            <p14:sldId id="337"/>
            <p14:sldId id="288"/>
            <p14:sldId id="323"/>
            <p14:sldId id="289"/>
            <p14:sldId id="338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Untitled Section" id="{40F80B70-81DE-41A7-84C3-4C865977E9A9}">
          <p14:sldIdLst>
            <p14:sldId id="339"/>
            <p14:sldId id="320"/>
            <p14:sldId id="340"/>
            <p14:sldId id="322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Hinson" userId="97c7b900f41abbbd" providerId="LiveId" clId="{DB3B8386-D307-48C4-B05F-12151AB23DDF}"/>
  </pc:docChgLst>
  <pc:docChgLst>
    <pc:chgData userId="97c7b900f41abbbd" providerId="LiveId" clId="{A8BEF8F9-B691-475A-B966-E595FDCAF012}"/>
    <pc:docChg chg="custSel addSld modSld">
      <pc:chgData name="" userId="97c7b900f41abbbd" providerId="LiveId" clId="{A8BEF8F9-B691-475A-B966-E595FDCAF012}" dt="2020-07-15T17:08:50.616" v="354" actId="20577"/>
      <pc:docMkLst>
        <pc:docMk/>
      </pc:docMkLst>
      <pc:sldChg chg="delSp modSp">
        <pc:chgData name="" userId="97c7b900f41abbbd" providerId="LiveId" clId="{A8BEF8F9-B691-475A-B966-E595FDCAF012}" dt="2020-07-15T17:05:02.389" v="169" actId="1076"/>
        <pc:sldMkLst>
          <pc:docMk/>
          <pc:sldMk cId="557434708" sldId="323"/>
        </pc:sldMkLst>
        <pc:spChg chg="del">
          <ac:chgData name="" userId="97c7b900f41abbbd" providerId="LiveId" clId="{A8BEF8F9-B691-475A-B966-E595FDCAF012}" dt="2020-07-15T17:05:00.272" v="168"/>
          <ac:spMkLst>
            <pc:docMk/>
            <pc:sldMk cId="557434708" sldId="323"/>
            <ac:spMk id="3" creationId="{00000000-0000-0000-0000-000000000000}"/>
          </ac:spMkLst>
        </pc:spChg>
        <pc:picChg chg="mod">
          <ac:chgData name="" userId="97c7b900f41abbbd" providerId="LiveId" clId="{A8BEF8F9-B691-475A-B966-E595FDCAF012}" dt="2020-07-15T17:05:02.389" v="169" actId="1076"/>
          <ac:picMkLst>
            <pc:docMk/>
            <pc:sldMk cId="557434708" sldId="323"/>
            <ac:picMk id="4" creationId="{00000000-0000-0000-0000-000000000000}"/>
          </ac:picMkLst>
        </pc:picChg>
      </pc:sldChg>
      <pc:sldChg chg="modSp add">
        <pc:chgData name="" userId="97c7b900f41abbbd" providerId="LiveId" clId="{A8BEF8F9-B691-475A-B966-E595FDCAF012}" dt="2020-07-15T17:01:54.965" v="9" actId="6549"/>
        <pc:sldMkLst>
          <pc:docMk/>
          <pc:sldMk cId="799751208" sldId="324"/>
        </pc:sldMkLst>
        <pc:spChg chg="mod">
          <ac:chgData name="" userId="97c7b900f41abbbd" providerId="LiveId" clId="{A8BEF8F9-B691-475A-B966-E595FDCAF012}" dt="2020-07-15T17:01:54.965" v="9" actId="6549"/>
          <ac:spMkLst>
            <pc:docMk/>
            <pc:sldMk cId="799751208" sldId="324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2:20.117" v="34" actId="20577"/>
        <pc:sldMkLst>
          <pc:docMk/>
          <pc:sldMk cId="1970343700" sldId="325"/>
        </pc:sldMkLst>
        <pc:spChg chg="mod">
          <ac:chgData name="" userId="97c7b900f41abbbd" providerId="LiveId" clId="{A8BEF8F9-B691-475A-B966-E595FDCAF012}" dt="2020-07-15T17:02:20.117" v="34" actId="20577"/>
          <ac:spMkLst>
            <pc:docMk/>
            <pc:sldMk cId="1970343700" sldId="325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2:34.700" v="49" actId="20577"/>
        <pc:sldMkLst>
          <pc:docMk/>
          <pc:sldMk cId="551673511" sldId="326"/>
        </pc:sldMkLst>
        <pc:spChg chg="mod">
          <ac:chgData name="" userId="97c7b900f41abbbd" providerId="LiveId" clId="{A8BEF8F9-B691-475A-B966-E595FDCAF012}" dt="2020-07-15T17:02:34.700" v="49" actId="20577"/>
          <ac:spMkLst>
            <pc:docMk/>
            <pc:sldMk cId="551673511" sldId="326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2:47.631" v="57" actId="20577"/>
        <pc:sldMkLst>
          <pc:docMk/>
          <pc:sldMk cId="2564611204" sldId="327"/>
        </pc:sldMkLst>
        <pc:spChg chg="mod">
          <ac:chgData name="" userId="97c7b900f41abbbd" providerId="LiveId" clId="{A8BEF8F9-B691-475A-B966-E595FDCAF012}" dt="2020-07-15T17:02:47.631" v="57" actId="20577"/>
          <ac:spMkLst>
            <pc:docMk/>
            <pc:sldMk cId="2564611204" sldId="327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2:59.800" v="67" actId="20577"/>
        <pc:sldMkLst>
          <pc:docMk/>
          <pc:sldMk cId="2759831072" sldId="328"/>
        </pc:sldMkLst>
        <pc:spChg chg="mod">
          <ac:chgData name="" userId="97c7b900f41abbbd" providerId="LiveId" clId="{A8BEF8F9-B691-475A-B966-E595FDCAF012}" dt="2020-07-15T17:02:59.800" v="67" actId="20577"/>
          <ac:spMkLst>
            <pc:docMk/>
            <pc:sldMk cId="2759831072" sldId="328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3:14.658" v="85" actId="20577"/>
        <pc:sldMkLst>
          <pc:docMk/>
          <pc:sldMk cId="1819185145" sldId="329"/>
        </pc:sldMkLst>
        <pc:spChg chg="mod">
          <ac:chgData name="" userId="97c7b900f41abbbd" providerId="LiveId" clId="{A8BEF8F9-B691-475A-B966-E595FDCAF012}" dt="2020-07-15T17:03:14.658" v="85" actId="20577"/>
          <ac:spMkLst>
            <pc:docMk/>
            <pc:sldMk cId="1819185145" sldId="329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3:25.010" v="92" actId="20577"/>
        <pc:sldMkLst>
          <pc:docMk/>
          <pc:sldMk cId="1492819265" sldId="330"/>
        </pc:sldMkLst>
        <pc:spChg chg="mod">
          <ac:chgData name="" userId="97c7b900f41abbbd" providerId="LiveId" clId="{A8BEF8F9-B691-475A-B966-E595FDCAF012}" dt="2020-07-15T17:03:25.010" v="92" actId="20577"/>
          <ac:spMkLst>
            <pc:docMk/>
            <pc:sldMk cId="1492819265" sldId="330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3:39.337" v="112" actId="20577"/>
        <pc:sldMkLst>
          <pc:docMk/>
          <pc:sldMk cId="3711035614" sldId="331"/>
        </pc:sldMkLst>
        <pc:spChg chg="mod">
          <ac:chgData name="" userId="97c7b900f41abbbd" providerId="LiveId" clId="{A8BEF8F9-B691-475A-B966-E595FDCAF012}" dt="2020-07-15T17:03:39.337" v="112" actId="20577"/>
          <ac:spMkLst>
            <pc:docMk/>
            <pc:sldMk cId="3711035614" sldId="331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3:49.124" v="117" actId="20577"/>
        <pc:sldMkLst>
          <pc:docMk/>
          <pc:sldMk cId="4220677293" sldId="332"/>
        </pc:sldMkLst>
        <pc:spChg chg="mod">
          <ac:chgData name="" userId="97c7b900f41abbbd" providerId="LiveId" clId="{A8BEF8F9-B691-475A-B966-E595FDCAF012}" dt="2020-07-15T17:03:49.124" v="117" actId="20577"/>
          <ac:spMkLst>
            <pc:docMk/>
            <pc:sldMk cId="4220677293" sldId="332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4:01.304" v="125" actId="20577"/>
        <pc:sldMkLst>
          <pc:docMk/>
          <pc:sldMk cId="86220981" sldId="333"/>
        </pc:sldMkLst>
        <pc:spChg chg="mod">
          <ac:chgData name="" userId="97c7b900f41abbbd" providerId="LiveId" clId="{A8BEF8F9-B691-475A-B966-E595FDCAF012}" dt="2020-07-15T17:04:01.304" v="125" actId="20577"/>
          <ac:spMkLst>
            <pc:docMk/>
            <pc:sldMk cId="86220981" sldId="333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4:11.920" v="132" actId="20577"/>
        <pc:sldMkLst>
          <pc:docMk/>
          <pc:sldMk cId="891825468" sldId="334"/>
        </pc:sldMkLst>
        <pc:spChg chg="mod">
          <ac:chgData name="" userId="97c7b900f41abbbd" providerId="LiveId" clId="{A8BEF8F9-B691-475A-B966-E595FDCAF012}" dt="2020-07-15T17:04:11.920" v="132" actId="20577"/>
          <ac:spMkLst>
            <pc:docMk/>
            <pc:sldMk cId="891825468" sldId="334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4:20.746" v="139" actId="20577"/>
        <pc:sldMkLst>
          <pc:docMk/>
          <pc:sldMk cId="2443832025" sldId="335"/>
        </pc:sldMkLst>
        <pc:spChg chg="mod">
          <ac:chgData name="" userId="97c7b900f41abbbd" providerId="LiveId" clId="{A8BEF8F9-B691-475A-B966-E595FDCAF012}" dt="2020-07-15T17:04:20.746" v="139" actId="20577"/>
          <ac:spMkLst>
            <pc:docMk/>
            <pc:sldMk cId="2443832025" sldId="335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4:36.786" v="157" actId="20577"/>
        <pc:sldMkLst>
          <pc:docMk/>
          <pc:sldMk cId="526630272" sldId="336"/>
        </pc:sldMkLst>
        <pc:spChg chg="mod">
          <ac:chgData name="" userId="97c7b900f41abbbd" providerId="LiveId" clId="{A8BEF8F9-B691-475A-B966-E595FDCAF012}" dt="2020-07-15T17:04:36.786" v="157" actId="20577"/>
          <ac:spMkLst>
            <pc:docMk/>
            <pc:sldMk cId="526630272" sldId="336"/>
            <ac:spMk id="2" creationId="{00000000-0000-0000-0000-000000000000}"/>
          </ac:spMkLst>
        </pc:spChg>
      </pc:sldChg>
      <pc:sldChg chg="modSp add">
        <pc:chgData name="" userId="97c7b900f41abbbd" providerId="LiveId" clId="{A8BEF8F9-B691-475A-B966-E595FDCAF012}" dt="2020-07-15T17:04:47.153" v="167" actId="20577"/>
        <pc:sldMkLst>
          <pc:docMk/>
          <pc:sldMk cId="1896170673" sldId="337"/>
        </pc:sldMkLst>
        <pc:spChg chg="mod">
          <ac:chgData name="" userId="97c7b900f41abbbd" providerId="LiveId" clId="{A8BEF8F9-B691-475A-B966-E595FDCAF012}" dt="2020-07-15T17:04:47.153" v="167" actId="20577"/>
          <ac:spMkLst>
            <pc:docMk/>
            <pc:sldMk cId="1896170673" sldId="337"/>
            <ac:spMk id="2" creationId="{00000000-0000-0000-0000-000000000000}"/>
          </ac:spMkLst>
        </pc:spChg>
      </pc:sldChg>
      <pc:sldChg chg="delSp modSp add">
        <pc:chgData name="" userId="97c7b900f41abbbd" providerId="LiveId" clId="{A8BEF8F9-B691-475A-B966-E595FDCAF012}" dt="2020-07-15T17:06:02.495" v="322" actId="20577"/>
        <pc:sldMkLst>
          <pc:docMk/>
          <pc:sldMk cId="901616954" sldId="338"/>
        </pc:sldMkLst>
        <pc:spChg chg="mod">
          <ac:chgData name="" userId="97c7b900f41abbbd" providerId="LiveId" clId="{A8BEF8F9-B691-475A-B966-E595FDCAF012}" dt="2020-07-15T17:05:18.286" v="183" actId="20577"/>
          <ac:spMkLst>
            <pc:docMk/>
            <pc:sldMk cId="901616954" sldId="338"/>
            <ac:spMk id="2" creationId="{00000000-0000-0000-0000-000000000000}"/>
          </ac:spMkLst>
        </pc:spChg>
        <pc:spChg chg="mod">
          <ac:chgData name="" userId="97c7b900f41abbbd" providerId="LiveId" clId="{A8BEF8F9-B691-475A-B966-E595FDCAF012}" dt="2020-07-15T17:06:02.495" v="322" actId="20577"/>
          <ac:spMkLst>
            <pc:docMk/>
            <pc:sldMk cId="901616954" sldId="338"/>
            <ac:spMk id="3" creationId="{00000000-0000-0000-0000-000000000000}"/>
          </ac:spMkLst>
        </pc:spChg>
        <pc:picChg chg="del">
          <ac:chgData name="" userId="97c7b900f41abbbd" providerId="LiveId" clId="{A8BEF8F9-B691-475A-B966-E595FDCAF012}" dt="2020-07-15T17:05:27.181" v="184"/>
          <ac:picMkLst>
            <pc:docMk/>
            <pc:sldMk cId="901616954" sldId="338"/>
            <ac:picMk id="4" creationId="{00000000-0000-0000-0000-000000000000}"/>
          </ac:picMkLst>
        </pc:picChg>
      </pc:sldChg>
      <pc:sldChg chg="addSp delSp modSp add">
        <pc:chgData name="" userId="97c7b900f41abbbd" providerId="LiveId" clId="{A8BEF8F9-B691-475A-B966-E595FDCAF012}" dt="2020-07-15T17:08:50.616" v="354" actId="20577"/>
        <pc:sldMkLst>
          <pc:docMk/>
          <pc:sldMk cId="1930903807" sldId="339"/>
        </pc:sldMkLst>
        <pc:spChg chg="mod">
          <ac:chgData name="" userId="97c7b900f41abbbd" providerId="LiveId" clId="{A8BEF8F9-B691-475A-B966-E595FDCAF012}" dt="2020-07-15T17:07:42.419" v="332" actId="20577"/>
          <ac:spMkLst>
            <pc:docMk/>
            <pc:sldMk cId="1930903807" sldId="339"/>
            <ac:spMk id="2" creationId="{00000000-0000-0000-0000-000000000000}"/>
          </ac:spMkLst>
        </pc:spChg>
        <pc:spChg chg="add mod">
          <ac:chgData name="" userId="97c7b900f41abbbd" providerId="LiveId" clId="{A8BEF8F9-B691-475A-B966-E595FDCAF012}" dt="2020-07-15T17:08:50.616" v="354" actId="20577"/>
          <ac:spMkLst>
            <pc:docMk/>
            <pc:sldMk cId="1930903807" sldId="339"/>
            <ac:spMk id="3" creationId="{16C2DB99-987D-43E1-AE8F-689F19936E3E}"/>
          </ac:spMkLst>
        </pc:spChg>
        <pc:picChg chg="del">
          <ac:chgData name="" userId="97c7b900f41abbbd" providerId="LiveId" clId="{A8BEF8F9-B691-475A-B966-E595FDCAF012}" dt="2020-07-15T17:07:37.025" v="324"/>
          <ac:picMkLst>
            <pc:docMk/>
            <pc:sldMk cId="1930903807" sldId="339"/>
            <ac:picMk id="4" creationId="{00000000-0000-0000-0000-000000000000}"/>
          </ac:picMkLst>
        </pc:picChg>
      </pc:sldChg>
      <pc:sldChg chg="addSp delSp modSp add">
        <pc:chgData name="" userId="97c7b900f41abbbd" providerId="LiveId" clId="{A8BEF8F9-B691-475A-B966-E595FDCAF012}" dt="2020-07-15T17:08:14.333" v="352" actId="20577"/>
        <pc:sldMkLst>
          <pc:docMk/>
          <pc:sldMk cId="3925087281" sldId="340"/>
        </pc:sldMkLst>
        <pc:spChg chg="mod">
          <ac:chgData name="" userId="97c7b900f41abbbd" providerId="LiveId" clId="{A8BEF8F9-B691-475A-B966-E595FDCAF012}" dt="2020-07-15T17:08:09.052" v="349" actId="20577"/>
          <ac:spMkLst>
            <pc:docMk/>
            <pc:sldMk cId="3925087281" sldId="340"/>
            <ac:spMk id="2" creationId="{00000000-0000-0000-0000-000000000000}"/>
          </ac:spMkLst>
        </pc:spChg>
        <pc:spChg chg="add mod">
          <ac:chgData name="" userId="97c7b900f41abbbd" providerId="LiveId" clId="{A8BEF8F9-B691-475A-B966-E595FDCAF012}" dt="2020-07-15T17:08:14.333" v="352" actId="20577"/>
          <ac:spMkLst>
            <pc:docMk/>
            <pc:sldMk cId="3925087281" sldId="340"/>
            <ac:spMk id="3" creationId="{FBACE09E-6F1F-4096-B47B-83EAC1269F32}"/>
          </ac:spMkLst>
        </pc:spChg>
        <pc:picChg chg="del">
          <ac:chgData name="" userId="97c7b900f41abbbd" providerId="LiveId" clId="{A8BEF8F9-B691-475A-B966-E595FDCAF012}" dt="2020-07-15T17:08:12.114" v="350"/>
          <ac:picMkLst>
            <pc:docMk/>
            <pc:sldMk cId="3925087281" sldId="34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05C02-883A-4940-A0BA-09CE5E15D54D}" type="datetimeFigureOut">
              <a:rPr lang="en-US" smtClean="0"/>
              <a:t>7/15/2020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1C5A-2BA8-49F4-9D8E-09DD56C44C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35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751C5A-2BA8-49F4-9D8E-09DD56C44CD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01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BEF4BC8-F457-47C2-9162-C0B9203F01C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43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1717-6659-4906-9A88-76A74CBC821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86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E5A41-04E8-42BA-BC3F-C6ADBA8E8408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5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0715-8257-4058-882D-A3BBF02D99FE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D327A-33CE-4D49-8173-0FECC4D5F211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34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ECDAF-0699-463F-9ADF-5B320B1C7F10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569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3E28-CDA8-45C1-B31A-F83A8E61B783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3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6145-9A9B-4CB9-A1BC-7ADFA7AC94C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6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8C2E-8552-4235-AC7F-8E22970CE9F6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8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CAFFE-54C7-45AB-AA69-535098D586B5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5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A752-2D8D-4929-A6F0-3CC1911B3E81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39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6D826-5678-4E70-A0CF-C1F1F862D72B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966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86A47-04DB-49AB-99F4-237706EB4412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6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3BE03-5F4C-492D-AEF0-2CA40FE84756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14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38D2-9396-45CE-A876-1AB8B8188804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957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4B347-4449-4B54-8C0C-AD622871250C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544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B2EC-88C2-40B9-8379-5A609979B44A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3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37C2A7-8C4C-423C-8C4D-27AFFE9E4BE4}" type="datetime1">
              <a:rPr lang="en-US" smtClean="0"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10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 115 Quick Review and Quick Start	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Chapters 3 and 4</a:t>
            </a:r>
          </a:p>
        </p:txBody>
      </p:sp>
    </p:spTree>
    <p:extLst>
      <p:ext uri="{BB962C8B-B14F-4D97-AF65-F5344CB8AC3E}">
        <p14:creationId xmlns:p14="http://schemas.microsoft.com/office/powerpoint/2010/main" val="86967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610" y="953037"/>
            <a:ext cx="10825197" cy="95610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After naming the item in an IPO chart, a(n) __________ must be chosen.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datatypes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183" y="2763525"/>
            <a:ext cx="3317875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3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610" y="953037"/>
            <a:ext cx="10825197" cy="95610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After naming the item in an IPO chart, a(n) Datatype must be chosen.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datatypes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183" y="2763525"/>
            <a:ext cx="3317875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5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3791"/>
            <a:ext cx="11029616" cy="2240923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In C++, the two types of memory locations available for you to temporarily store data are __________ and __________  __________.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56" y="2924303"/>
            <a:ext cx="3820058" cy="2810267"/>
          </a:xfrm>
        </p:spPr>
      </p:pic>
      <p:pic>
        <p:nvPicPr>
          <p:cNvPr id="5" name="Picture 4" descr="Hello my name i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555" y="2431960"/>
            <a:ext cx="3601792" cy="3601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232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3791"/>
            <a:ext cx="11029616" cy="2240923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In C++, the two types of memory locations available for you to temporarily store data are variables and named constants.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56" y="2924303"/>
            <a:ext cx="3820058" cy="2810267"/>
          </a:xfrm>
        </p:spPr>
      </p:pic>
      <p:pic>
        <p:nvPicPr>
          <p:cNvPr id="5" name="Picture 4" descr="Hello my name i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555" y="2431960"/>
            <a:ext cx="3601792" cy="36017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4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579548"/>
            <a:ext cx="11029616" cy="186743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value of a(n) __________ is permitted to change during the execution of a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859088"/>
            <a:ext cx="3810000" cy="271462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712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579548"/>
            <a:ext cx="11029616" cy="186743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value of a(n) variable is permitted to change during the execution of a program.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variab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2859088"/>
            <a:ext cx="3810000" cy="271462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73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A(n) __________ is also known as a reserved word.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ke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997200"/>
            <a:ext cx="2438400" cy="24384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A(n) keyword is also known as a reserved word.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ke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997200"/>
            <a:ext cx="2438400" cy="24384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1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91673"/>
            <a:ext cx="11029616" cy="125231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last rule in naming identifiers/variables in C++ is that all identifiers/variables are case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nsitiv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787650"/>
            <a:ext cx="2857500" cy="2857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585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91673"/>
            <a:ext cx="11029616" cy="125231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last rule in naming identifiers/variables in C++ is that all identifiers/variables are case sensitive.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nsitiv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787650"/>
            <a:ext cx="2857500" cy="2857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31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14400"/>
            <a:ext cx="11029616" cy="134246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string data type is not one of the __________ data types in C++.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undament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0" y="2787650"/>
            <a:ext cx="2209800" cy="2857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85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14400"/>
            <a:ext cx="11029616" cy="134246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string data type is not one of the fundamental data types in C++.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fundament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0" y="2787650"/>
            <a:ext cx="2209800" cy="28575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185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55" y="1062763"/>
            <a:ext cx="11029616" cy="1165281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Numbers are represented in internal memory using the __________ number system.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binar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633" y="2530688"/>
            <a:ext cx="3464417" cy="3464417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058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555" y="1062763"/>
            <a:ext cx="11029616" cy="1165281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Numbers are represented in internal memory using the binary number system.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binary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633" y="2530688"/>
            <a:ext cx="3464417" cy="3464417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19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1004552"/>
            <a:ext cx="11029616" cy="121368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Variables of type __________ can take on the values of true and false.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boole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298" y="2557463"/>
            <a:ext cx="2407403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438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1004552"/>
            <a:ext cx="11029616" cy="121368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Variables of type Boolean datatype can take on the values of true and false.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boolea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298" y="2557463"/>
            <a:ext cx="2407403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035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The float and double data types store __________ numbers.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re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520" y="2997200"/>
            <a:ext cx="2346960" cy="24384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653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The float and double data types store real numbers.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re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520" y="2997200"/>
            <a:ext cx="2346960" cy="24384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677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88642"/>
            <a:ext cx="11029616" cy="131671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Unlike variables and named constants, __________ constants are not memory locations.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liter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778" y="2557463"/>
            <a:ext cx="5898444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289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88642"/>
            <a:ext cx="11029616" cy="1316710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Unlike variables and named constants, literal constants are not memory locations. 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liter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778" y="2557463"/>
            <a:ext cx="5898444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20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1043189"/>
            <a:ext cx="11029616" cy="118792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string</a:t>
            </a:r>
            <a:r>
              <a:rPr lang="en-US" dirty="0"/>
              <a:t> literal constant is zero or more characters enclosed in __________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ouble quot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50" y="2557463"/>
            <a:ext cx="2733099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8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1" y="1043189"/>
            <a:ext cx="11029616" cy="118792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string</a:t>
            </a:r>
            <a:r>
              <a:rPr lang="en-US" dirty="0"/>
              <a:t> literal constant is zero or more characters enclosed in _double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double quot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450" y="2557463"/>
            <a:ext cx="2733099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25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01520"/>
            <a:ext cx="11029616" cy="127500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character</a:t>
            </a:r>
            <a:r>
              <a:rPr lang="en-US" dirty="0"/>
              <a:t> literal constant is a single character enclosed in __________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ing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084" y="3302000"/>
            <a:ext cx="2465832" cy="18288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343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01520"/>
            <a:ext cx="11029616" cy="1275009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character</a:t>
            </a:r>
            <a:r>
              <a:rPr lang="en-US" dirty="0"/>
              <a:t> literal constant is a single character enclosed in single quotation marks.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ingle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084" y="3302000"/>
            <a:ext cx="2465832" cy="18288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32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53036"/>
            <a:ext cx="11029616" cy="127807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__________ keyword is used to indicate that a memory location is a named constant.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ns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792413"/>
            <a:ext cx="1905000" cy="28479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80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953036"/>
            <a:ext cx="11029616" cy="1278075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The constant keyword is used to indicate that a memory location is a named constant.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cons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792413"/>
            <a:ext cx="1905000" cy="28479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630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All statements in C++ must end with a(n) __________.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semicol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41" y="2557463"/>
            <a:ext cx="3172717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90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All statements in C++ must end with a(n) _semicolon.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semicol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41" y="2557463"/>
            <a:ext cx="3172717" cy="331787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70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428143"/>
            <a:ext cx="9601196" cy="3318936"/>
          </a:xfrm>
        </p:spPr>
        <p:txBody>
          <a:bodyPr>
            <a:normAutofit/>
          </a:bodyPr>
          <a:lstStyle/>
          <a:p>
            <a:r>
              <a:rPr lang="en-US" sz="3200" dirty="0"/>
              <a:t>Still in the 4</a:t>
            </a:r>
            <a:r>
              <a:rPr lang="en-US" sz="3200" baseline="30000" dirty="0"/>
              <a:t>th</a:t>
            </a:r>
            <a:r>
              <a:rPr lang="en-US" sz="3200" dirty="0"/>
              <a:t> step of the problem-solving process.</a:t>
            </a:r>
          </a:p>
          <a:p>
            <a:r>
              <a:rPr lang="en-US" sz="3200" dirty="0"/>
              <a:t>What is the 4</a:t>
            </a:r>
            <a:r>
              <a:rPr lang="en-US" sz="3200" baseline="30000" dirty="0"/>
              <a:t>th</a:t>
            </a:r>
            <a:r>
              <a:rPr lang="en-US" sz="3200" dirty="0"/>
              <a:t> step?</a:t>
            </a:r>
          </a:p>
        </p:txBody>
      </p:sp>
      <p:pic>
        <p:nvPicPr>
          <p:cNvPr id="4" name="Picture 3" descr="program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482" y="3060095"/>
            <a:ext cx="2099256" cy="314495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575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Coding</a:t>
            </a:r>
          </a:p>
        </p:txBody>
      </p:sp>
      <p:pic>
        <p:nvPicPr>
          <p:cNvPr id="4" name="Picture 3" descr="program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35" y="2555023"/>
            <a:ext cx="2099256" cy="314495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434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and Output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they are and how they work.</a:t>
            </a:r>
          </a:p>
        </p:txBody>
      </p:sp>
      <p:pic>
        <p:nvPicPr>
          <p:cNvPr id="4" name="Picture 3" descr="input and outpu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168202"/>
            <a:ext cx="7467600" cy="27076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628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and Output Statements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Input statements bring data from the screen into the program.</a:t>
            </a:r>
          </a:p>
          <a:p>
            <a:r>
              <a:rPr lang="en-US" sz="3200" dirty="0"/>
              <a:t>Output statements send data from the program to the screen.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616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Objects</a:t>
            </a:r>
            <a:r>
              <a:rPr lang="en-US" dirty="0"/>
              <a:t> Perform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and Output Operations</a:t>
            </a:r>
          </a:p>
          <a:p>
            <a:r>
              <a:rPr lang="en-US" dirty="0"/>
              <a:t>Called Stream Objects</a:t>
            </a:r>
          </a:p>
          <a:p>
            <a:r>
              <a:rPr lang="en-US" dirty="0"/>
              <a:t>A </a:t>
            </a:r>
            <a:r>
              <a:rPr lang="en-US" b="1" dirty="0"/>
              <a:t>stream</a:t>
            </a:r>
            <a:r>
              <a:rPr lang="en-US" dirty="0"/>
              <a:t> is a sequence of characters</a:t>
            </a:r>
          </a:p>
        </p:txBody>
      </p:sp>
      <p:pic>
        <p:nvPicPr>
          <p:cNvPr id="4" name="Picture 3" descr="stream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715" y="2948333"/>
            <a:ext cx="4385882" cy="292753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78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</a:t>
            </a:r>
            <a:r>
              <a:rPr lang="en-US" b="1" dirty="0"/>
              <a:t>Object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58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an </a:t>
            </a:r>
            <a:r>
              <a:rPr lang="en-US" b="1" dirty="0"/>
              <a:t>Object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Performs standard input and output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5755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they called </a:t>
            </a:r>
            <a:r>
              <a:rPr lang="en-US" b="1" dirty="0"/>
              <a:t>stream objects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93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Answer: Why are they called </a:t>
            </a:r>
            <a:r>
              <a:rPr lang="en-US" b="1" dirty="0"/>
              <a:t>stream objects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4987065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They handle streams of characters.</a:t>
            </a:r>
          </a:p>
        </p:txBody>
      </p:sp>
      <p:pic>
        <p:nvPicPr>
          <p:cNvPr id="4" name="Picture 3" descr="stream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443" y="2556932"/>
            <a:ext cx="4304336" cy="286507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475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b="1" dirty="0"/>
              <a:t>stream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567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a </a:t>
            </a:r>
            <a:r>
              <a:rPr lang="en-US" b="1" dirty="0"/>
              <a:t>stream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 sequence of characters</a:t>
            </a:r>
            <a:r>
              <a:rPr lang="en-US" dirty="0"/>
              <a:t>.</a:t>
            </a:r>
          </a:p>
        </p:txBody>
      </p:sp>
      <p:pic>
        <p:nvPicPr>
          <p:cNvPr id="4" name="Picture 3" descr="character sequenc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788" y="3290966"/>
            <a:ext cx="1441226" cy="2484872"/>
          </a:xfrm>
          <a:prstGeom prst="rect">
            <a:avLst/>
          </a:prstGeom>
        </p:spPr>
      </p:pic>
      <p:pic>
        <p:nvPicPr>
          <p:cNvPr id="5" name="Picture 4" descr="Minnie Mous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213" y="3280564"/>
            <a:ext cx="2239918" cy="2505754"/>
          </a:xfrm>
          <a:prstGeom prst="rect">
            <a:avLst/>
          </a:prstGeom>
        </p:spPr>
      </p:pic>
      <p:pic>
        <p:nvPicPr>
          <p:cNvPr id="6" name="Picture 5" descr="Goof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001" y="3669026"/>
            <a:ext cx="1865376" cy="1728752"/>
          </a:xfrm>
          <a:prstGeom prst="rect">
            <a:avLst/>
          </a:prstGeom>
        </p:spPr>
      </p:pic>
      <p:pic>
        <p:nvPicPr>
          <p:cNvPr id="7" name="Picture 6" descr="Taz Devi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248" y="3390996"/>
            <a:ext cx="2506806" cy="204095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3126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Created by a </a:t>
            </a:r>
            <a:r>
              <a:rPr lang="en-US" sz="2800" b="1" dirty="0"/>
              <a:t>Class</a:t>
            </a:r>
          </a:p>
          <a:p>
            <a:r>
              <a:rPr lang="en-US" sz="2800" dirty="0"/>
              <a:t>Resides in a special area of the computer’s internal memory</a:t>
            </a:r>
          </a:p>
          <a:p>
            <a:r>
              <a:rPr lang="en-US" sz="2800" dirty="0"/>
              <a:t>A </a:t>
            </a:r>
            <a:r>
              <a:rPr lang="en-US" sz="2800" b="1" dirty="0"/>
              <a:t>class</a:t>
            </a:r>
            <a:r>
              <a:rPr lang="en-US" sz="2800" dirty="0"/>
              <a:t> is simply a group of instructions used to create an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672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Objects Created?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0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How are Objects Created?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By a class</a:t>
            </a:r>
          </a:p>
        </p:txBody>
      </p:sp>
      <p:pic>
        <p:nvPicPr>
          <p:cNvPr id="4" name="Picture 3" descr="Clas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626" y="2622038"/>
            <a:ext cx="3716897" cy="277528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832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b="1" dirty="0"/>
              <a:t>class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a </a:t>
            </a:r>
            <a:r>
              <a:rPr lang="en-US" b="1" dirty="0"/>
              <a:t>class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 group of instructions used to create an object.</a:t>
            </a:r>
          </a:p>
        </p:txBody>
      </p:sp>
      <p:pic>
        <p:nvPicPr>
          <p:cNvPr id="4" name="Picture 3" descr="grou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221" y="3495329"/>
            <a:ext cx="2350673" cy="199380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90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Gets information </a:t>
            </a:r>
            <a:r>
              <a:rPr lang="en-US" sz="3200" b="1" dirty="0"/>
              <a:t>into</a:t>
            </a:r>
            <a:r>
              <a:rPr lang="en-US" sz="3200" dirty="0"/>
              <a:t> the program</a:t>
            </a:r>
          </a:p>
          <a:p>
            <a:r>
              <a:rPr lang="en-US" sz="3200" dirty="0"/>
              <a:t>Used with an </a:t>
            </a:r>
            <a:r>
              <a:rPr lang="en-US" sz="3200" b="1" dirty="0"/>
              <a:t>extraction</a:t>
            </a:r>
            <a:r>
              <a:rPr lang="en-US" sz="3200" dirty="0"/>
              <a:t> operator</a:t>
            </a:r>
          </a:p>
          <a:p>
            <a:r>
              <a:rPr lang="en-US" sz="3200" b="1" dirty="0"/>
              <a:t>&gt;&gt;</a:t>
            </a:r>
          </a:p>
          <a:p>
            <a:r>
              <a:rPr lang="en-US" sz="3200" dirty="0"/>
              <a:t>Allows the user to communicate with the program while it is running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269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does the extraction stop?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When the cin object encounters a </a:t>
            </a:r>
            <a:r>
              <a:rPr lang="en-US" sz="3200" b="1" dirty="0"/>
              <a:t>white-space character</a:t>
            </a:r>
            <a:r>
              <a:rPr lang="en-US" sz="3200" dirty="0"/>
              <a:t>.</a:t>
            </a:r>
          </a:p>
          <a:p>
            <a:r>
              <a:rPr lang="en-US" sz="3200" dirty="0"/>
              <a:t>A white-space character:</a:t>
            </a:r>
          </a:p>
          <a:p>
            <a:pPr lvl="1"/>
            <a:r>
              <a:rPr lang="en-US" sz="3200" dirty="0"/>
              <a:t>Newline (Enter)</a:t>
            </a:r>
          </a:p>
          <a:p>
            <a:pPr lvl="1"/>
            <a:r>
              <a:rPr lang="en-US" sz="3200" dirty="0"/>
              <a:t>Tab</a:t>
            </a:r>
          </a:p>
          <a:p>
            <a:pPr lvl="1"/>
            <a:r>
              <a:rPr lang="en-US" sz="3200" dirty="0"/>
              <a:t>Spacebar key (blank)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8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extraction operator?</a:t>
            </a:r>
          </a:p>
        </p:txBody>
      </p:sp>
      <p:pic>
        <p:nvPicPr>
          <p:cNvPr id="4" name="Content Placeholder 3" descr="extraction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608" y="2583220"/>
            <a:ext cx="3317875" cy="33178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0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What is the extraction operator?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879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a white-space character created?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573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Answer: How is a white-space character created?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Newline (Enter)</a:t>
            </a:r>
          </a:p>
          <a:p>
            <a:r>
              <a:rPr lang="en-US" sz="3200" dirty="0"/>
              <a:t>Tab</a:t>
            </a:r>
          </a:p>
          <a:p>
            <a:r>
              <a:rPr lang="en-US" sz="3200" dirty="0"/>
              <a:t>Spacebar (blank character)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600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cin &gt;&gt; item;</a:t>
            </a:r>
          </a:p>
          <a:p>
            <a:r>
              <a:rPr lang="en-US" dirty="0"/>
              <a:t>cin &gt;&gt; salary;</a:t>
            </a:r>
          </a:p>
          <a:p>
            <a:r>
              <a:rPr lang="en-US" dirty="0"/>
              <a:t>cin &gt;&gt; number;</a:t>
            </a:r>
          </a:p>
          <a:p>
            <a:r>
              <a:rPr lang="en-US" dirty="0"/>
              <a:t>cin &gt;&gt; letter;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52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after the </a:t>
            </a:r>
            <a:r>
              <a:rPr lang="en-US" b="1" dirty="0"/>
              <a:t>cin</a:t>
            </a:r>
            <a:r>
              <a:rPr lang="en-US" dirty="0"/>
              <a:t> statement?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computer waits for the user to enter something on the screen.</a:t>
            </a:r>
          </a:p>
          <a:p>
            <a:r>
              <a:rPr lang="en-US" dirty="0"/>
              <a:t>The cursor just sits and blinks until something is entered.</a:t>
            </a:r>
          </a:p>
          <a:p>
            <a:r>
              <a:rPr lang="en-US" dirty="0"/>
              <a:t>The program is on “pause”.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63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We can’t just say cin &gt;&gt;</a:t>
            </a:r>
          </a:p>
          <a:p>
            <a:r>
              <a:rPr lang="en-US" sz="4000" dirty="0"/>
              <a:t>Because the user will only see a blinking cursor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9526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</a:t>
            </a:r>
            <a:r>
              <a:rPr lang="en-US" b="1" dirty="0"/>
              <a:t>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</a:t>
            </a:r>
            <a:r>
              <a:rPr lang="en-US" sz="4000" b="1" dirty="0"/>
              <a:t>message</a:t>
            </a:r>
            <a:r>
              <a:rPr lang="en-US" sz="4000" dirty="0"/>
              <a:t> that tells the user what to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701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Used with an </a:t>
            </a:r>
            <a:r>
              <a:rPr lang="en-US" sz="3200" b="1" dirty="0"/>
              <a:t>insertion</a:t>
            </a:r>
            <a:r>
              <a:rPr lang="en-US" sz="3200" dirty="0"/>
              <a:t> operator</a:t>
            </a:r>
          </a:p>
          <a:p>
            <a:r>
              <a:rPr lang="en-US" sz="3200" dirty="0"/>
              <a:t>&lt;&lt;</a:t>
            </a:r>
          </a:p>
          <a:p>
            <a:r>
              <a:rPr lang="en-US" sz="3200" dirty="0"/>
              <a:t>Displays information on the screen</a:t>
            </a:r>
          </a:p>
          <a:p>
            <a:r>
              <a:rPr lang="en-US" sz="3200" dirty="0"/>
              <a:t>To “send out” information to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76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you use </a:t>
            </a:r>
            <a:r>
              <a:rPr lang="en-US" b="1" dirty="0"/>
              <a:t>cin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7221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When do you use </a:t>
            </a:r>
            <a:r>
              <a:rPr lang="en-US" b="1" dirty="0"/>
              <a:t>cin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To get information into the program from a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6544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you use </a:t>
            </a:r>
            <a:r>
              <a:rPr lang="en-US" b="1" dirty="0"/>
              <a:t>cout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391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When do you use </a:t>
            </a:r>
            <a:r>
              <a:rPr lang="en-US" b="1" dirty="0"/>
              <a:t>cout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To send information from the program to the screen.</a:t>
            </a:r>
          </a:p>
          <a:p>
            <a:endParaRPr lang="en-US" dirty="0"/>
          </a:p>
        </p:txBody>
      </p:sp>
      <p:pic>
        <p:nvPicPr>
          <p:cNvPr id="5" name="Picture 4" descr="scre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05" y="3484809"/>
            <a:ext cx="2569872" cy="256987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0245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Manipulator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Allows you to </a:t>
            </a:r>
            <a:r>
              <a:rPr lang="en-US" sz="3600" b="1" dirty="0"/>
              <a:t>manage</a:t>
            </a:r>
            <a:r>
              <a:rPr lang="en-US" sz="3600" dirty="0"/>
              <a:t> the characters in the input or output stream</a:t>
            </a:r>
          </a:p>
          <a:p>
            <a:r>
              <a:rPr lang="en-US" sz="3600" dirty="0"/>
              <a:t>We will use </a:t>
            </a:r>
            <a:r>
              <a:rPr lang="en-US" sz="3600" b="1" dirty="0"/>
              <a:t>endl</a:t>
            </a:r>
            <a:r>
              <a:rPr lang="en-US" sz="3600" dirty="0"/>
              <a:t> with cout</a:t>
            </a:r>
          </a:p>
          <a:p>
            <a:r>
              <a:rPr lang="en-US" sz="3600" b="1" dirty="0"/>
              <a:t>endl </a:t>
            </a:r>
            <a:r>
              <a:rPr lang="en-US" sz="3600" dirty="0"/>
              <a:t>moves the cursor to the next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8772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cout &lt;&lt; salary;</a:t>
            </a:r>
          </a:p>
          <a:p>
            <a:r>
              <a:rPr lang="en-US" dirty="0"/>
              <a:t>cout &lt;&lt; number;</a:t>
            </a:r>
          </a:p>
          <a:p>
            <a:r>
              <a:rPr lang="en-US" dirty="0"/>
              <a:t>cout &lt;&lt; amount &lt;&lt; endl;</a:t>
            </a:r>
          </a:p>
          <a:p>
            <a:r>
              <a:rPr lang="en-US" dirty="0"/>
              <a:t>cout &lt;&lt; “This is your salary ” &lt;&lt; salary;</a:t>
            </a:r>
          </a:p>
          <a:p>
            <a:r>
              <a:rPr lang="en-US" dirty="0"/>
              <a:t>cout &lt;&lt; “This is your number ” &lt;&lt; number;</a:t>
            </a:r>
          </a:p>
          <a:p>
            <a:r>
              <a:rPr lang="en-US" dirty="0"/>
              <a:t>cout &lt;&lt; “This is the amount “ &lt;&lt; amount &lt;&lt; endl;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834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</a:t>
            </a:r>
            <a:r>
              <a:rPr lang="en-US" b="1" dirty="0"/>
              <a:t>insertion operator </a:t>
            </a:r>
            <a:r>
              <a:rPr lang="en-US" dirty="0"/>
              <a:t>look like?</a:t>
            </a:r>
          </a:p>
        </p:txBody>
      </p:sp>
      <p:pic>
        <p:nvPicPr>
          <p:cNvPr id="4" name="Content Placeholder 3" descr="inser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040063"/>
            <a:ext cx="3048000" cy="23526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492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</a:t>
            </a:r>
            <a:r>
              <a:rPr lang="en-US" b="1" dirty="0"/>
              <a:t>insertion operator </a:t>
            </a:r>
            <a:r>
              <a:rPr lang="en-US" dirty="0"/>
              <a:t>look like? Answer: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2DB99-987D-43E1-AE8F-689F19936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&lt;&lt;</a:t>
            </a:r>
          </a:p>
        </p:txBody>
      </p:sp>
    </p:spTree>
    <p:extLst>
      <p:ext uri="{BB962C8B-B14F-4D97-AF65-F5344CB8AC3E}">
        <p14:creationId xmlns:p14="http://schemas.microsoft.com/office/powerpoint/2010/main" val="19309038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</a:t>
            </a:r>
            <a:r>
              <a:rPr lang="en-US" b="1" dirty="0"/>
              <a:t>extraction operator </a:t>
            </a:r>
            <a:r>
              <a:rPr lang="en-US" dirty="0"/>
              <a:t>look like?</a:t>
            </a:r>
          </a:p>
        </p:txBody>
      </p:sp>
      <p:pic>
        <p:nvPicPr>
          <p:cNvPr id="4" name="Content Placeholder 3" descr="extrac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062" y="2557463"/>
            <a:ext cx="3317875" cy="331787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967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does the </a:t>
            </a:r>
            <a:r>
              <a:rPr lang="en-US" b="1" dirty="0"/>
              <a:t>extraction operator </a:t>
            </a:r>
            <a:r>
              <a:rPr lang="en-US" dirty="0"/>
              <a:t>look like? Answer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CE09E-6F1F-4096-B47B-83EAC1269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39250872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//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comments</a:t>
            </a:r>
          </a:p>
          <a:p>
            <a:r>
              <a:rPr lang="en-US" dirty="0"/>
              <a:t>All good programmers use comments</a:t>
            </a:r>
          </a:p>
          <a:p>
            <a:r>
              <a:rPr lang="en-US" dirty="0"/>
              <a:t>//declare variables</a:t>
            </a:r>
          </a:p>
          <a:p>
            <a:r>
              <a:rPr lang="en-US" dirty="0"/>
              <a:t>//calculate the total</a:t>
            </a:r>
          </a:p>
          <a:p>
            <a:r>
              <a:rPr lang="en-US" dirty="0"/>
              <a:t>//display the output</a:t>
            </a:r>
          </a:p>
          <a:p>
            <a:r>
              <a:rPr lang="en-US" dirty="0"/>
              <a:t>//program name, purpose,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501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Integrated Development Environment</a:t>
            </a:r>
          </a:p>
          <a:p>
            <a:r>
              <a:rPr lang="en-US" sz="3200" b="1" dirty="0"/>
              <a:t>Visual Studio 2019</a:t>
            </a:r>
          </a:p>
        </p:txBody>
      </p:sp>
      <p:pic>
        <p:nvPicPr>
          <p:cNvPr id="4" name="Picture 3" descr="Visual Studio 20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31" y="3021169"/>
            <a:ext cx="3218645" cy="321864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1027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123</TotalTime>
  <Words>1141</Words>
  <Application>Microsoft Office PowerPoint</Application>
  <PresentationFormat>Widescreen</PresentationFormat>
  <Paragraphs>201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Arial</vt:lpstr>
      <vt:lpstr>Calibri</vt:lpstr>
      <vt:lpstr>Garamond</vt:lpstr>
      <vt:lpstr>Organic</vt:lpstr>
      <vt:lpstr>CIS 115 Quick Review and Quick Start  </vt:lpstr>
      <vt:lpstr>After naming the item in an IPO chart, a(n) __________ must be chosen. </vt:lpstr>
      <vt:lpstr>After naming the item in an IPO chart, a(n) Datatype must be chosen. </vt:lpstr>
      <vt:lpstr>In C++, the two types of memory locations available for you to temporarily store data are __________ and __________  __________.   </vt:lpstr>
      <vt:lpstr>In C++, the two types of memory locations available for you to temporarily store data are variables and named constants.   </vt:lpstr>
      <vt:lpstr>The value of a(n) __________ is permitted to change during the execution of a program. </vt:lpstr>
      <vt:lpstr>The value of a(n) variable is permitted to change during the execution of a program. </vt:lpstr>
      <vt:lpstr>A(n) __________ is also known as a reserved word. </vt:lpstr>
      <vt:lpstr>A(n) keyword is also known as a reserved word. </vt:lpstr>
      <vt:lpstr>The last rule in naming identifiers/variables in C++ is that all identifiers/variables are case __________. </vt:lpstr>
      <vt:lpstr>The last rule in naming identifiers/variables in C++ is that all identifiers/variables are case sensitive. </vt:lpstr>
      <vt:lpstr>The string data type is not one of the __________ data types in C++. </vt:lpstr>
      <vt:lpstr>The string data type is not one of the fundamental data types in C++. </vt:lpstr>
      <vt:lpstr>Numbers are represented in internal memory using the __________ number system.   </vt:lpstr>
      <vt:lpstr>Numbers are represented in internal memory using the binary number system.   </vt:lpstr>
      <vt:lpstr>Variables of type __________ can take on the values of true and false. </vt:lpstr>
      <vt:lpstr>Variables of type Boolean datatype can take on the values of true and false. </vt:lpstr>
      <vt:lpstr>The float and double data types store __________ numbers. </vt:lpstr>
      <vt:lpstr>The float and double data types store real numbers. </vt:lpstr>
      <vt:lpstr>Unlike variables and named constants, __________ constants are not memory locations.   </vt:lpstr>
      <vt:lpstr>Unlike variables and named constants, literal constants are not memory locations.   </vt:lpstr>
      <vt:lpstr>A string literal constant is zero or more characters enclosed in __________ quotation marks. </vt:lpstr>
      <vt:lpstr>A string literal constant is zero or more characters enclosed in _double quotation marks. </vt:lpstr>
      <vt:lpstr>A character literal constant is a single character enclosed in __________ quotation marks. </vt:lpstr>
      <vt:lpstr>A character literal constant is a single character enclosed in single quotation marks. </vt:lpstr>
      <vt:lpstr>The __________ keyword is used to indicate that a memory location is a named constant. </vt:lpstr>
      <vt:lpstr>The constant keyword is used to indicate that a memory location is a named constant. </vt:lpstr>
      <vt:lpstr>All statements in C++ must end with a(n) __________. </vt:lpstr>
      <vt:lpstr>All statements in C++ must end with a(n) _semicolon. </vt:lpstr>
      <vt:lpstr>Chapter 4</vt:lpstr>
      <vt:lpstr>Answer: Coding</vt:lpstr>
      <vt:lpstr>Input and Output Statements</vt:lpstr>
      <vt:lpstr>Input and Output Statements Answer</vt:lpstr>
      <vt:lpstr>Objects Perform …</vt:lpstr>
      <vt:lpstr>What is an Object?</vt:lpstr>
      <vt:lpstr>Answer: What is an Object?</vt:lpstr>
      <vt:lpstr>Why are they called stream objects?</vt:lpstr>
      <vt:lpstr>Answer: Why are they called stream objects?</vt:lpstr>
      <vt:lpstr>What is a stream?</vt:lpstr>
      <vt:lpstr>Answer: What is a stream?</vt:lpstr>
      <vt:lpstr>More About Objects</vt:lpstr>
      <vt:lpstr>How are Objects Created?</vt:lpstr>
      <vt:lpstr>Answer: How are Objects Created?</vt:lpstr>
      <vt:lpstr>What is a class?</vt:lpstr>
      <vt:lpstr>Answer: What is a class?</vt:lpstr>
      <vt:lpstr>cin </vt:lpstr>
      <vt:lpstr>When does the extraction stop?</vt:lpstr>
      <vt:lpstr>What is the extraction operator?</vt:lpstr>
      <vt:lpstr>Answer: What is the extraction operator?</vt:lpstr>
      <vt:lpstr>How is a white-space character created?</vt:lpstr>
      <vt:lpstr>Answer: How is a white-space character created?</vt:lpstr>
      <vt:lpstr>Examples</vt:lpstr>
      <vt:lpstr>What happens after the cin statement?</vt:lpstr>
      <vt:lpstr>But…</vt:lpstr>
      <vt:lpstr>We need a Prompt</vt:lpstr>
      <vt:lpstr>cout</vt:lpstr>
      <vt:lpstr>When do you use cin?</vt:lpstr>
      <vt:lpstr>Answer: When do you use cin?</vt:lpstr>
      <vt:lpstr>When do you use cout?</vt:lpstr>
      <vt:lpstr>Answer: When do you use cout?</vt:lpstr>
      <vt:lpstr>Stream Manipulator</vt:lpstr>
      <vt:lpstr>COUT Examples</vt:lpstr>
      <vt:lpstr>What does the insertion operator look like?</vt:lpstr>
      <vt:lpstr>What does the insertion operator look like? Answer:</vt:lpstr>
      <vt:lpstr>What does the extraction operator look like?</vt:lpstr>
      <vt:lpstr>What does the extraction operator look like? Answer</vt:lpstr>
      <vt:lpstr>//</vt:lpstr>
      <vt:lpstr>IDE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115 Quick review</dc:title>
  <dc:creator>laptop</dc:creator>
  <cp:lastModifiedBy>Kelly Hinson</cp:lastModifiedBy>
  <cp:revision>15</cp:revision>
  <dcterms:created xsi:type="dcterms:W3CDTF">2014-02-04T16:28:46Z</dcterms:created>
  <dcterms:modified xsi:type="dcterms:W3CDTF">2020-07-15T17:09:04Z</dcterms:modified>
</cp:coreProperties>
</file>