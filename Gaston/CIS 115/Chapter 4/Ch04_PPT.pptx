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76" r:id="rId1"/>
  </p:sldMasterIdLst>
  <p:notesMasterIdLst>
    <p:notesMasterId r:id="rId56"/>
  </p:notesMasterIdLst>
  <p:handoutMasterIdLst>
    <p:handoutMasterId r:id="rId57"/>
  </p:handoutMasterIdLst>
  <p:sldIdLst>
    <p:sldId id="319" r:id="rId2"/>
    <p:sldId id="257" r:id="rId3"/>
    <p:sldId id="463" r:id="rId4"/>
    <p:sldId id="530" r:id="rId5"/>
    <p:sldId id="464" r:id="rId6"/>
    <p:sldId id="484" r:id="rId7"/>
    <p:sldId id="531" r:id="rId8"/>
    <p:sldId id="532" r:id="rId9"/>
    <p:sldId id="506" r:id="rId10"/>
    <p:sldId id="543" r:id="rId11"/>
    <p:sldId id="533" r:id="rId12"/>
    <p:sldId id="471" r:id="rId13"/>
    <p:sldId id="520" r:id="rId14"/>
    <p:sldId id="544" r:id="rId15"/>
    <p:sldId id="509" r:id="rId16"/>
    <p:sldId id="534" r:id="rId17"/>
    <p:sldId id="466" r:id="rId18"/>
    <p:sldId id="522" r:id="rId19"/>
    <p:sldId id="523" r:id="rId20"/>
    <p:sldId id="486" r:id="rId21"/>
    <p:sldId id="535" r:id="rId22"/>
    <p:sldId id="488" r:id="rId23"/>
    <p:sldId id="545" r:id="rId24"/>
    <p:sldId id="489" r:id="rId25"/>
    <p:sldId id="511" r:id="rId26"/>
    <p:sldId id="476" r:id="rId27"/>
    <p:sldId id="542" r:id="rId28"/>
    <p:sldId id="524" r:id="rId29"/>
    <p:sldId id="513" r:id="rId30"/>
    <p:sldId id="537" r:id="rId31"/>
    <p:sldId id="538" r:id="rId32"/>
    <p:sldId id="525" r:id="rId33"/>
    <p:sldId id="546" r:id="rId34"/>
    <p:sldId id="547" r:id="rId35"/>
    <p:sldId id="514" r:id="rId36"/>
    <p:sldId id="552" r:id="rId37"/>
    <p:sldId id="548" r:id="rId38"/>
    <p:sldId id="553" r:id="rId39"/>
    <p:sldId id="554" r:id="rId40"/>
    <p:sldId id="539" r:id="rId41"/>
    <p:sldId id="541" r:id="rId42"/>
    <p:sldId id="445" r:id="rId43"/>
    <p:sldId id="446" r:id="rId44"/>
    <p:sldId id="518" r:id="rId45"/>
    <p:sldId id="549" r:id="rId46"/>
    <p:sldId id="550" r:id="rId47"/>
    <p:sldId id="551" r:id="rId48"/>
    <p:sldId id="470" r:id="rId49"/>
    <p:sldId id="498" r:id="rId50"/>
    <p:sldId id="555" r:id="rId51"/>
    <p:sldId id="503" r:id="rId52"/>
    <p:sldId id="504" r:id="rId53"/>
    <p:sldId id="505" r:id="rId54"/>
    <p:sldId id="556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 snapToGrid="0">
      <p:cViewPr varScale="1">
        <p:scale>
          <a:sx n="108" d="100"/>
          <a:sy n="108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66"/>
    </p:cViewPr>
  </p:sorterViewPr>
  <p:notesViewPr>
    <p:cSldViewPr snapToGrid="0"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5D565D97-72A5-4307-A5FA-7F7F74E902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6D012489-ACBA-4C6E-B4B7-CBB01A3B78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CE81465C-6C3E-45EB-947C-04E975C2092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38441C1E-8003-4715-9CA0-8975DAC7CF9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A98CDBA-F0BE-4402-BC10-A0E2B8F08D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AA95DFD-74BE-4BC6-A8E9-EB559DD758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7DA99C8-9ED6-49D0-B8DD-8312927902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934E817D-B7AD-4264-BE90-10B678F41BC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3E3C49D1-3D66-49CA-AB1A-7EAA5FEDBE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57943410-0EB4-4EE1-B663-720C60F31B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6A7D21C9-6D37-457C-8070-0CF8FC90F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03F47C8-04B0-4131-96B3-1A289DD1CE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9DBEF9F8-32BE-4582-912D-E4FC8FD28F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FDAE79-B179-4FDC-9E9D-DE2CE8A7CD01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01E1F68-F698-4861-A241-0B39419017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7E72C12-262C-4286-8EA7-CD22A171E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0E60D86-26B0-45AE-BE80-947D8D5D62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E022D9-E3CB-4C30-B5FA-65EA01EC84F4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0723817-E565-487C-BCE4-E9C4F9D77D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3029FEB-3502-4502-91BE-B2A496B76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E69BC51-CC4C-4D2F-8FF7-99C6F324D2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C79D1D6-B396-4385-B316-8F52F7AB8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2339DB0-A1A2-486C-93FE-9668ACD4F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0E9CE43-7FEB-4935-BC49-0EC59DE20A6E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ECCB1C5F-647A-4359-A934-A58D00C1D1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21DA52E7-8E70-41D8-B97D-6B7B58102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3DE5C86A-23A7-4B57-867E-932D16061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0D2194-FDC5-46F3-93F2-98C50EB00506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D9DC174B-23DB-40B7-AD9C-7C7199253C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7C14542-704E-4420-AD2E-8E0F55CE7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0A492CF1-D35D-4B84-80B4-AE3A49E17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5384DAA-89A5-43BF-9D21-85B866CB27D7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598195CB-44AC-4550-A357-67C1E7D4E6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5BEA963A-3AF7-493C-A89F-336478026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8736FC02-F7C2-4063-AF48-25DBD6520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3CEA07-DF5A-4647-B21D-CE14616FAEB8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9DB6B452-8242-47CC-ACB7-5B9F9FCB80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77438197-6550-4E46-B602-1A3982A9C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95D82EC4-8E75-493A-AE54-0812AA743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154C4E1-9243-4AA7-8142-6FFA110C8937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D6DAD505-2ADE-4289-9907-63BC674DCF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9A0A5371-2F1D-47F1-BDAA-6D6FAC0DA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6AB7A9D8-38A4-43D4-A00B-D330CAFFB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3FC22A6-3BC9-415C-9BED-02983FC93741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D39CB11-2C03-491A-A74A-1C006160EF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CB5A2BE-DF20-4EE7-9B51-F6AFE444C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3278628-4653-4799-BED4-A32A3608B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95E3380-8AF0-49AC-8024-17B837F2BF31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FA774FA2-D330-41C2-BD39-62E46EB8CE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7E19CA16-16FE-4E0E-8FFD-C46BF91F5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516D7CE0-EC9E-4024-8018-23FC0B09A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D7244A-989F-4745-91BA-2C0900F6A53E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7C073114-DE7A-4CFB-A774-E1A05BEC91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DE8D9DEC-4493-4290-8091-3C060A3B9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BA330250-829D-418B-BF9A-5F82D326B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B25E6E-6C71-478A-A36C-2627508E9DF6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9D1084A7-7664-457C-BD25-45777DDD6D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BC98FA67-35D0-4E62-9DD1-A3890FED5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1E4D47B-B203-4AC2-8C1C-DF780F313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4B6DA92-C715-456E-8348-B4ECDEABE2B9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4F2E045F-B126-4C68-8F2F-137EE6F122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1EE098F7-C292-4A80-8061-4A9071776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A6B8DB99-1B0D-4921-95AC-4BFD96356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F2AE53-343E-4B44-B081-C6881A4E1CB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5D70C77C-EBC7-43FD-95A3-C8BCFEDDA1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D32C9ADA-B34B-48BE-97D4-517CC4F56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847F272A-568C-4013-A6FD-A352DAA44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DC6CCB-255B-4305-A0FA-180EFC1E6EA5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CDC51BEB-7139-4D38-8FEB-9AC3E7BB6B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32101241-1C0E-4D7E-A09A-20DED1265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FB3F5F6D-47A4-4CAE-8D57-6F045C631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99EBB9-9BAB-4A4E-A409-44AF4AC6C637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D2A70FF0-B10E-486E-BFB8-2A23A71877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BFA15ED0-E506-4B0F-B81C-60725FF63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6D7E5E9E-004F-4613-BF56-A164AA46D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A939F5F-D57D-4090-921D-2CCE981D7744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EEA57762-CDC4-4D7D-9EAA-F042E752E0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08A40015-8A89-4034-BBD5-36E9A8F37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28C171AA-BCF4-4739-A2F0-6C5F1E5FD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F1868A-C08D-40CA-A661-B91240C2E4B1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C425971-8794-4470-8FB9-29DE115176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41A2F517-358C-436F-8A31-F7BA8B55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11CB42B3-41BF-4489-AC3F-64D24D657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7AE136-D721-4EE4-AF9D-0E0F1AB93283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422269E7-D515-4649-ADAE-7F2E3579B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F0C177DC-120A-4066-BE86-5B38E5678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CFD9624B-B9F7-4D02-8409-FFE56B4DF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73778A-B2C0-40BC-AD90-32B48DE89D78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2A74D437-C98B-4C92-A966-BE9EB60F96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A19D66E1-9BC8-494D-B90C-0E85C6F5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F7C2BA68-FDF8-40BC-9F0E-D4C5E2046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11B36A6-CDEA-4765-A977-0E9011B71AE9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1DF3CCDE-B796-47B2-AF74-14E2B336CC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87564488-58D9-4A2C-9278-5C51A133B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014784B6-ABDD-46CF-9928-6C2B222DD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095C34F-6F4C-4C23-A5B1-5E19CDEA620A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519E409A-FE00-445F-9909-7A28933BA4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4B590CC6-3E37-4E98-A61C-03D610B07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DE393C7B-1FF5-474C-9E45-6437D6455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F9B0E2-F391-40D3-8573-B60AFF463ACA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B9C96C47-3532-4F03-9082-3CCEAD7269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3849C186-848F-4033-B9BB-191740B30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6D749768-D8A0-41E3-99A1-8F0C48355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E292D3-6D42-44B2-89E7-FABC062A2BB5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E3C5E3A6-D613-4C87-BBE3-51589C464E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FD0D1E3B-1800-4079-A8DF-DFB03EEBC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9AE2F950-17E4-4E9D-8967-1B51BEBD7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FC92D8-78C0-4681-85D7-23CF970E23E0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31E70E86-D0EF-4427-AAF3-A713FF5957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DF426DFE-73F5-4A40-BFEA-1336E54EB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A69AB274-2179-4A9D-99F9-6B979C652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469D169-9A86-40C7-967F-ED66C048CC5D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3BA64764-AB8E-4B65-A9A0-8114966C8F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FCC1B2E4-02A9-4964-B856-1692F07F2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346C0916-A69D-4782-9C56-3EA4D2E5F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9F3269-45EE-4BFC-BE66-8028723281B8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046A5425-F00A-426D-A401-D5FF609E12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1DAAF9CB-0FA5-44D9-AB00-23D0F1733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282C1762-992A-4618-A87A-7F2694309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77E6B77-DB90-4C5E-90BE-0532212DBB6C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BAB10148-8E03-462C-B690-55E213FEAC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A1C6C808-DE61-497C-8DA1-5B225D0FB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6683B962-DB08-4704-9BB6-CBB80E2BC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BC0CB7-2868-4A91-9C40-EFC2554A7550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8D8597ED-82EA-4924-A662-691A50B192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2E2B9761-6F7F-44EB-9BDB-AA29E75FD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045B4A78-E547-40FC-9325-EE3B23BF8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3361FCD-893D-4C3C-9FE3-F902A650D620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7F648B50-928F-4C51-9855-018DCD2820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BAB53DD-4C85-42C4-8DBA-1D298A51B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F9DBBAB4-3283-4ADE-90C4-9F0EAB95E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32AB9E4-4357-4030-9EB4-1D99DC86838A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54A6AB0B-37C9-4EC7-9129-B83D6A151F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CB273E9F-9CB0-4FC6-8B45-F233080AB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361850A0-D5BB-4C67-8D16-17960EB7F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93175C-D834-4522-964B-570E68797364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943B92FA-A665-4BE8-B666-396DF8E235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8850BF34-7087-47AB-96A6-CB975BE7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CA2C4E15-75CC-429A-A9BF-3BB58B0F3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E35F9D-085B-4855-A203-A7A866E28CB4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C12F06FB-991C-4CC7-9B8F-F9BC7DC009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999651F8-6256-40DF-9AB5-9759501B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E669AFB5-916B-478C-AE3C-FA4715D5C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3E3AAF-BB87-4CE6-86C8-C73422690F14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72104A14-5CDB-4035-B467-1A97A53667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6BF2802C-84A2-4CEE-A3EA-D164FD16B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3779A09B-C8D9-4974-A3C8-8F0E5BD05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0337A63-5139-44C9-9493-5B495F3DA6A2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5EE974C0-305C-447B-AE9A-B7C97E45A7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2466BDEA-B1F9-4D42-85E1-758C1223C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C2801967-71D7-4E22-9845-D1053BCE2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B7FDAF1-669C-4BBB-8685-45A17262FD75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CF300CD3-7DB3-4CB7-857E-2060742B7B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CB73D90C-4B65-414D-8171-6FB153320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6DC07F2D-24F7-46FC-9AF5-70FC01595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76FA210-40D4-4ABC-B4FB-E7A2B0DF0D1D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656F932F-18D5-4E0C-9B6C-DC4CF5A9AD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376FA419-004F-4120-827B-DC2FD573A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6BCFBE27-0D5F-407F-B89B-9F0DF3BDD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BF6B51-506F-4B55-9A04-7BBC7BA9BDCF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82A6B723-F8BD-440B-9731-137DA79CC1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D4E8B476-D7B3-4D75-9250-C48A9D46A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1ED06201-C1F7-4245-BC12-26347B7EA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94992F-1FDA-49CA-B89C-19E471023CDB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60EB3C69-7CB4-4E8A-8DE4-18406760DD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81455243-9A3F-4680-8376-3D2E2230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02B4E162-A5FF-42B4-9AF4-443D4E573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1C3A7D0-50D0-414F-9246-EECE1370EED0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48202D62-BE07-468C-A9BA-55769E8BF6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B05D9492-5D2D-4F27-A475-5C0DFF9CC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D0A5B4A8-D591-4DBF-AD78-879E7CE78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4B5E27-7E46-4419-A213-01152DCE2F5A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D9BE3297-5A39-4C22-A9E0-3B52393B7E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022CA3D3-FCBC-4BAD-954F-B57E1ACE2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79AAA2FB-83EA-40DF-81F6-F747DBD95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94F701-AA9F-453C-AB32-72DD44007C2E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24AA35F5-196A-4365-9A2C-51ED2B1BBB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A48411-9991-4783-8E3D-7B4136192AA7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C1A51EE-03D0-47ED-A63A-D3A587DB07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4CD32C77-ECBC-40D5-8F5E-62EE0311CF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400E72AD-8728-46BE-9D14-CB1C74751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B32FF94-12B8-48EE-B773-6D188D5F01B1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9C10791-8712-4586-AEBC-3B654A276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D288393E-E9F3-459E-8EE5-F455C0EB4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4B6CB3C-1441-4B70-AD79-FE0918B26B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CB6BAAF-D24F-4E8D-8211-7E80CEF4229C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7BC0B0B2-2EF9-4238-93EB-6B856F0E4A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687AAD4E-0603-4171-A64A-3D2A329D0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BCC1BDA1-7DE8-4F1F-96BA-EF605AA11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3A13406-234C-45F2-9315-94C1BDA68254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FE4A652-AA3C-4835-ADF3-7906C9DA8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2C01D587-603E-40F0-8931-8FD41FE21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38B5E5DA-523A-4795-9AB8-543C1551F5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FB881A-3B84-4077-9693-19171B2DBDC2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5A07DE21-B480-46D4-8816-BD2789A98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237A1007-6977-44E7-A737-7CEE24480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940043E6-A750-47EC-9B4A-DF427F646C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1AEEAFE-794C-407C-B0B9-43E1F682B79C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E03BDD3F-D9A6-4B63-A30E-5B648AABF7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D09D735-15E0-4A70-A5DB-4E63A8875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>
            <a:extLst>
              <a:ext uri="{FF2B5EF4-FFF2-40B4-BE49-F238E27FC236}">
                <a16:creationId xmlns:a16="http://schemas.microsoft.com/office/drawing/2014/main" id="{BD899455-427F-4504-A830-5200121911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>
            <a:extLst>
              <a:ext uri="{FF2B5EF4-FFF2-40B4-BE49-F238E27FC236}">
                <a16:creationId xmlns:a16="http://schemas.microsoft.com/office/drawing/2014/main" id="{6ADB6604-81B8-46B1-8705-90B8C4EB6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1FE3EB7B-AC3C-4EBB-BF4A-8B4C93E6C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306AD3-6268-4444-B6FB-6AE9CE3EB55A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DD915A39-4059-4CC8-AB5F-0CE0A3151E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E58BEE3F-796E-4389-B44B-0355FD786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4DF80D19-D437-4239-B6D6-8EE1C829B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DCD84D-B203-47F5-AFAC-5B1E49B2815C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5DB66ED6-46B2-4BC0-BAB2-BB79A08C40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8F703796-0604-4954-97CD-D28B3D748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3439C5B2-E75F-4F14-93A0-3DA9EEC54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BC3524-D100-4B00-82ED-4CD647C6297A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14B698C6-BD4E-4C2F-BBAB-B6382836EF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05C64A9D-64EC-460E-9CA2-88FAA2A1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C6E81814-9EB5-4F71-A982-8F58B444D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2EFCFC-5691-46AF-9D0C-199C54990505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8D228FD3-124A-4062-B22B-6CA61DACB0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EDA3D7ED-141E-4536-AAE2-30B72B2B0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BC503924-0A39-43F3-966A-F38EE2E50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D1B4FF-D4ED-4A21-8C12-56BBCA75637A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A4C8F258-CE09-4665-81A0-970DE0274A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7BD8F8F8-5974-433C-9F36-8EDA2C533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EA769931-7EC0-4211-8C01-DF71DC590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C37E70-86E3-4E94-9B3F-3650C70971E9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70152F6A-F761-4062-8071-5C126BBD95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DA354557-0CC6-49BF-9878-C43AAFD33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B016D2E7-32C2-40BE-9462-6E38ED9BD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63686CA-AF98-4775-9131-9BF3C79CEFC0}" type="slidenum">
              <a:rPr lang="en-US" altLang="en-US" smtClean="0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A86ACD37-67B7-4DCF-968B-D1663640B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DF6314A4-83D0-4956-8F51-F03A58467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A521EF82-93A6-4D14-83FD-412D79A1C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Introduction to Programming with C++</a:t>
            </a:r>
          </a:p>
          <a:p>
            <a:pPr algn="ctr" eaLnBrk="1" hangingPunct="1">
              <a:defRPr/>
            </a:pPr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6AEFB1-3A3D-4E79-AE2C-A7C95AAFCD8B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912644B-FA54-47A0-A08F-186C9FDD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790902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3625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1C576CA-886E-4FD7-A111-31CBA9926E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7EFE51-C2F5-4326-9D6A-571CB85176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2115C-1BFD-402D-B017-A966AD4CAB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63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D37DFB-BEA1-4604-8A6A-BE69864B1338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4D0E8E-8C67-421D-9E19-B7038CDDC7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ECFA87-CE1C-49C2-A667-412AD6FC85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3CB99-5A4C-4BDE-93A2-8A8285961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03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300BF1-CD69-4099-A495-8DA1E395EC5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3828C5-2953-4E07-81EA-01FA6DF166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47330-00BC-4B0D-8982-B6D89C2AB7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351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5A0F532-B465-411A-AE17-20293BB400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4C61A62-4051-45D1-B9A0-5E74A74C93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EFC7A-3526-46AB-88D3-8647CB294B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35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6736CE1-8AD3-43E5-84D3-9D20578FF9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94F6155-4BB0-4FE5-BA30-C024D789A2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7B793-35DA-4F52-943B-2164657BEF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2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2A362BE-530B-4DB9-A652-9D75348988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B35169B-20A3-43C3-B5DA-728C8E1987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6230D-F0FE-4863-B7F7-923174590B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084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EA5D98-3AAD-4D7D-A425-327930D769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8D894A-AEA5-4F59-B3CC-AC3E798F7E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C8FAA-2620-45DF-85F4-622526E027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158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81CB64-C0A7-49B6-AA8C-4C5BF1CDB4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75D7FC-F8B5-4F43-9610-F9E9B2F5F9D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68557-91AE-4BC5-A22E-8031DED8CC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125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4901C1-D6E0-41AF-9450-38C15614E7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68436D-99FE-446A-A058-5CFE17D94E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22F25-2974-41C9-88A0-CDB9B88EAF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230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79DDBA-9DB5-4322-AFF9-016144FFF2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A2A462-52B4-44EC-A827-4C110C1E4C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235C16-73A5-4185-BCD7-CB91AF6570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526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62EFF5-5DC5-4EAC-95C1-A0A337FB44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D1D24D-7313-438D-9685-B0C3026F1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7C20BC-8D85-4E39-B444-4C474EBC97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0C70319-B64F-440D-BB64-6B8C64C708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1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87BAA32B-A865-4D94-A06F-9F6F1A1E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1652329-12D2-48CB-9542-CE4E9DB1A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85ED492-D92E-49D1-919C-A2B92FA1C5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7BE2A68-D9D0-4C5F-8DA3-E6D335552F5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B1E15BD-2841-4254-96D9-7AC2A5A9B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7D4AB1D1-A8F6-48BC-8403-F6E0D31C457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Box 2">
            <a:extLst>
              <a:ext uri="{FF2B5EF4-FFF2-40B4-BE49-F238E27FC236}">
                <a16:creationId xmlns:a16="http://schemas.microsoft.com/office/drawing/2014/main" id="{5B7E8B1D-28E5-403D-972D-CDF3DB81AC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4000" y="6324600"/>
            <a:ext cx="29083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800"/>
              <a:t>v</a:t>
            </a:r>
            <a:r>
              <a:rPr lang="en-US" altLang="en-US" sz="80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82" r:id="rId2"/>
    <p:sldLayoutId id="214748399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3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7D070417-B053-4670-9AE1-8E7B1B48F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791075"/>
            <a:ext cx="82296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Chapter 4: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Completing the Problem-Solving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ACC1E663-BF85-4083-9E17-F171747775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Get numeric and character data from the keyboard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Display information on the computer screen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Write arithmetic expressions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 cast a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Write an assignment 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Code the algorithm into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Desk-check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Evaluate and modify a program</a:t>
            </a:r>
          </a:p>
        </p:txBody>
      </p:sp>
      <p:sp>
        <p:nvSpPr>
          <p:cNvPr id="9219" name="Footer Placeholder 3">
            <a:extLst>
              <a:ext uri="{FF2B5EF4-FFF2-40B4-BE49-F238E27FC236}">
                <a16:creationId xmlns:a16="http://schemas.microsoft.com/office/drawing/2014/main" id="{96C1AC6F-CECF-4DB3-8CA1-26AE03EF18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25D19DDE-6F80-4216-95AA-2A93AFA38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479A53F4-10F3-4EB5-899A-0D2566F6A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49BBCC-952B-40E8-A6D7-AEE252E2DA87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D19FF064-5851-45B0-A28F-35874E3763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fourth step in the problem-solving process is to code algorithm into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Begin by declaring a memory location for each input, processing, and output value in IPO chart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Optionally initialize each value (highly preferred)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Next, you code the instructions for the algorithm</a:t>
            </a:r>
          </a:p>
        </p:txBody>
      </p:sp>
      <p:sp>
        <p:nvSpPr>
          <p:cNvPr id="11267" name="Footer Placeholder 3">
            <a:extLst>
              <a:ext uri="{FF2B5EF4-FFF2-40B4-BE49-F238E27FC236}">
                <a16:creationId xmlns:a16="http://schemas.microsoft.com/office/drawing/2014/main" id="{5A3BE98A-0C3C-4CA4-B517-01CC561880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B4993E6-37B2-409D-AD0D-38CCF0B5C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Finishing Step 4 in the Problem-Solving Process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3DCCF530-C483-49F5-8D5B-724C7C00F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901010-470B-40A2-B4FE-B1C3DCC69C6E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D7571FA5-E673-4EF4-B5FE-EDBFDE36EB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5" name="Rectangle 7">
            <a:extLst>
              <a:ext uri="{FF2B5EF4-FFF2-40B4-BE49-F238E27FC236}">
                <a16:creationId xmlns:a16="http://schemas.microsoft.com/office/drawing/2014/main" id="{11F96522-4065-4739-A68E-8CE523B1A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78488"/>
            <a:ext cx="838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4-1 Problem specification, IPO chart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information, and variable declaration</a:t>
            </a:r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98AADC66-3004-4464-98B1-EB09C7FE6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28FA62-D5CB-4611-A567-9EA233CBB140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054580-867C-4BB9-A7EA-380FB9421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Finishing Step 4 in the Problem-Solving Process (cont’d.)</a:t>
            </a:r>
          </a:p>
        </p:txBody>
      </p:sp>
      <p:pic>
        <p:nvPicPr>
          <p:cNvPr id="13318" name="Picture 7">
            <a:extLst>
              <a:ext uri="{FF2B5EF4-FFF2-40B4-BE49-F238E27FC236}">
                <a16:creationId xmlns:a16="http://schemas.microsoft.com/office/drawing/2014/main" id="{770CD0BF-DAA1-4998-8D5C-34CC2879A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371600"/>
            <a:ext cx="6756400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51DADC79-766F-4035-B5AE-C42EAC172E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C++ uses stream objects to perform input/output operations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stream </a:t>
            </a:r>
            <a:r>
              <a:rPr lang="en-US" altLang="en-US">
                <a:ea typeface="ＭＳ Ｐゴシック" panose="020B0600070205080204" pitchFamily="34" charset="-128"/>
              </a:rPr>
              <a:t>is a sequence of characters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cin</a:t>
            </a:r>
            <a:r>
              <a:rPr lang="en-US" altLang="en-US">
                <a:ea typeface="ＭＳ Ｐゴシック" panose="020B0600070205080204" pitchFamily="34" charset="-128"/>
              </a:rPr>
              <a:t> object is used to obtain information from the keyboard (program pauses while user enters data)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 b="1">
                <a:ea typeface="ＭＳ Ｐゴシック" panose="020B0600070205080204" pitchFamily="34" charset="-128"/>
              </a:rPr>
              <a:t>extraction operator 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&gt;&gt;</a:t>
            </a:r>
            <a:r>
              <a:rPr lang="en-US" altLang="en-US">
                <a:ea typeface="ＭＳ Ｐゴシック" panose="020B0600070205080204" pitchFamily="34" charset="-128"/>
              </a:rPr>
              <a:t>) takes information out of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cin</a:t>
            </a:r>
            <a:r>
              <a:rPr lang="en-US" altLang="en-US">
                <a:ea typeface="ＭＳ Ｐゴシック" panose="020B0600070205080204" pitchFamily="34" charset="-128"/>
              </a:rPr>
              <a:t> object and stores it in internal memory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Syntax: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cin &gt;&gt; </a:t>
            </a:r>
            <a:r>
              <a:rPr lang="en-US" altLang="en-US" i="1">
                <a:ea typeface="ＭＳ Ｐゴシック" panose="020B0600070205080204" pitchFamily="34" charset="-128"/>
                <a:cs typeface="Courier New" panose="02070309020205020404" pitchFamily="49" charset="0"/>
              </a:rPr>
              <a:t>variableName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55EF958F-A0ED-45D5-9456-61608084D9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39F022CD-C3E0-4A04-977C-0792B511D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Getting Data from the Keyboard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4BCDCA65-2453-450D-AD11-1D68A446B6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23F4C1-4A36-4708-9A29-803CE5676D3D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378FF382-244F-461C-A540-7C8273A496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194" name="Title 1">
            <a:extLst>
              <a:ext uri="{FF2B5EF4-FFF2-40B4-BE49-F238E27FC236}">
                <a16:creationId xmlns:a16="http://schemas.microsoft.com/office/drawing/2014/main" id="{5F45BDF9-F567-4679-AA66-361BB703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Getting Data from the Keyboard (cont’d.)</a:t>
            </a: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29705163-D36D-4EC0-8F63-5D46268E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687888"/>
            <a:ext cx="6096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4-2 Relationship among the keyboard,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cin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object, extraction operator, and internal memory</a:t>
            </a:r>
          </a:p>
        </p:txBody>
      </p:sp>
      <p:pic>
        <p:nvPicPr>
          <p:cNvPr id="17413" name="Picture 6">
            <a:extLst>
              <a:ext uri="{FF2B5EF4-FFF2-40B4-BE49-F238E27FC236}">
                <a16:creationId xmlns:a16="http://schemas.microsoft.com/office/drawing/2014/main" id="{BFCA6BEF-C0D7-4CBF-8FED-F871A6FE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92350"/>
            <a:ext cx="701040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Slide Number Placeholder 5">
            <a:extLst>
              <a:ext uri="{FF2B5EF4-FFF2-40B4-BE49-F238E27FC236}">
                <a16:creationId xmlns:a16="http://schemas.microsoft.com/office/drawing/2014/main" id="{BDCCA686-7585-4D8C-8236-6A35C91C8B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8E7D52-8117-4D7C-85E0-38F68075037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E9E4AA85-BD2B-4FBD-8E35-A22D7F5DA1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18" name="Title 1">
            <a:extLst>
              <a:ext uri="{FF2B5EF4-FFF2-40B4-BE49-F238E27FC236}">
                <a16:creationId xmlns:a16="http://schemas.microsoft.com/office/drawing/2014/main" id="{C78DADAC-A398-4C26-AAAE-B239CBF3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Getting Data from the Keyboard (cont’d.)</a:t>
            </a: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4909F05A-4476-41D2-9633-7164130A3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45113"/>
            <a:ext cx="7086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4-3 How to use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cin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&gt;&gt;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numeric or character data</a:t>
            </a:r>
          </a:p>
        </p:txBody>
      </p:sp>
      <p:sp>
        <p:nvSpPr>
          <p:cNvPr id="19461" name="Slide Number Placeholder 5">
            <a:extLst>
              <a:ext uri="{FF2B5EF4-FFF2-40B4-BE49-F238E27FC236}">
                <a16:creationId xmlns:a16="http://schemas.microsoft.com/office/drawing/2014/main" id="{7C3279A5-D571-4752-9C7E-4FA55C52EE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AF6691-FC06-4018-B361-BE07DB1183D8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9462" name="Picture 7">
            <a:extLst>
              <a:ext uri="{FF2B5EF4-FFF2-40B4-BE49-F238E27FC236}">
                <a16:creationId xmlns:a16="http://schemas.microsoft.com/office/drawing/2014/main" id="{3DD04F8B-BC67-46A9-B8A1-9DC1CCE9F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579563"/>
            <a:ext cx="8204200" cy="346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EDA7AA4D-B164-4ECE-8D3D-F4CF154BAD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D3D07D2C-4E11-4D48-A9AF-E1ACF0A00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54663"/>
            <a:ext cx="6324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4-4 Input statements for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Addison O’Reilly problem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7C6121BB-A097-4D8E-A78D-1B40E6B30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F2A9CA-05C7-4D66-A757-6DED4A9DB8BE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9BF9AC-67FF-4E24-B8C7-BB22A247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Getting Data from the Keyboard (cont’d.)</a:t>
            </a:r>
          </a:p>
        </p:txBody>
      </p:sp>
      <p:pic>
        <p:nvPicPr>
          <p:cNvPr id="21510" name="Picture 7">
            <a:extLst>
              <a:ext uri="{FF2B5EF4-FFF2-40B4-BE49-F238E27FC236}">
                <a16:creationId xmlns:a16="http://schemas.microsoft.com/office/drawing/2014/main" id="{87EF1B3B-BE25-4862-B5BC-B58ACAACE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341438"/>
            <a:ext cx="8305800" cy="41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2C0FF4E9-6734-45C0-BB00-3727974EEA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use a prompt (message) to let the user know what data is to be entered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cout</a:t>
            </a:r>
            <a:r>
              <a:rPr lang="en-US" altLang="en-US">
                <a:ea typeface="ＭＳ Ｐゴシック" panose="020B0600070205080204" pitchFamily="34" charset="-128"/>
              </a:rPr>
              <a:t> object is used with the </a:t>
            </a:r>
            <a:r>
              <a:rPr lang="en-US" altLang="en-US" b="1">
                <a:ea typeface="ＭＳ Ｐゴシック" panose="020B0600070205080204" pitchFamily="34" charset="-128"/>
              </a:rPr>
              <a:t>insertion operator 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&lt;&lt;</a:t>
            </a:r>
            <a:r>
              <a:rPr lang="en-US" altLang="en-US">
                <a:ea typeface="ＭＳ Ｐゴシック" panose="020B0600070205080204" pitchFamily="34" charset="-128"/>
              </a:rPr>
              <a:t>) to display information on the screen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Information can be any combination of literal constants, named constants, and variables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Multiple items can be printed in the same statement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Syntax: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cout &lt;&lt;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item1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[&lt;&lt;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item2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&lt;&lt;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itemN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];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Part in brackets is optional</a:t>
            </a: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2E0E7454-B26E-4535-B4C3-83BFF52410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CE437A8-7B84-4D24-B198-E6ED4E8A8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Displaying Messages on the Computer Screen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820DB326-2433-4B47-8C24-E75197577F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65249B-35D3-4ACD-A9F9-F7616A1D370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2150F23B-D72C-4A78-97B8-C06910AD3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stream manipulator is used to manipulate (manage) the characters in an input or output string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endl</a:t>
            </a:r>
            <a:r>
              <a:rPr lang="en-US" altLang="en-US">
                <a:ea typeface="ＭＳ Ｐゴシック" panose="020B0600070205080204" pitchFamily="34" charset="-128"/>
              </a:rPr>
              <a:t> is a stream manipulator that advances the cursor to the next line on the screen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Equivalent to pressing the Enter key</a:t>
            </a:r>
          </a:p>
          <a:p>
            <a:pPr lvl="1"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(carriage return and line feed)</a:t>
            </a:r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8DE4FD2E-7A42-420C-8F33-8F5AC1CD7E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A7F5B923-1ACA-40EB-9F39-5CF85C18B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Displaying Messages on the Computer Screen (cont’d.)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DC197D04-9B9D-428B-8D11-33E90DA03D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2B47D5-7EC8-48FA-BFF2-C9D02C873210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524D0DB2-7F9A-4AD8-A834-EA81DFF1B8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ECC56CD-B678-41D0-BB9F-E628EAD22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Displaying Messages on the Computer Screen (cont’d.)</a:t>
            </a:r>
          </a:p>
        </p:txBody>
      </p:sp>
      <p:sp>
        <p:nvSpPr>
          <p:cNvPr id="27652" name="Rectangle 7">
            <a:extLst>
              <a:ext uri="{FF2B5EF4-FFF2-40B4-BE49-F238E27FC236}">
                <a16:creationId xmlns:a16="http://schemas.microsoft.com/office/drawing/2014/main" id="{B10E6034-F5E2-48CE-925A-014413E1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181600"/>
            <a:ext cx="419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4-5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cout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</a:p>
        </p:txBody>
      </p:sp>
      <p:sp>
        <p:nvSpPr>
          <p:cNvPr id="27653" name="Slide Number Placeholder 5">
            <a:extLst>
              <a:ext uri="{FF2B5EF4-FFF2-40B4-BE49-F238E27FC236}">
                <a16:creationId xmlns:a16="http://schemas.microsoft.com/office/drawing/2014/main" id="{4B91A636-36D2-4B20-87DA-7AB41FDCBB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BD07D7-C11A-4AF7-8EB3-B390B9860EE4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7654" name="Picture 7">
            <a:extLst>
              <a:ext uri="{FF2B5EF4-FFF2-40B4-BE49-F238E27FC236}">
                <a16:creationId xmlns:a16="http://schemas.microsoft.com/office/drawing/2014/main" id="{B1AE4EC6-8936-4BA6-AF69-A7B14141F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360488"/>
            <a:ext cx="8305800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54BEF790-7C9B-41BF-B142-BC3B5375B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699" name="TextBox 6">
            <a:extLst>
              <a:ext uri="{FF2B5EF4-FFF2-40B4-BE49-F238E27FC236}">
                <a16:creationId xmlns:a16="http://schemas.microsoft.com/office/drawing/2014/main" id="{4601ECB2-33F0-4F0C-9B89-A64E23489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5619750"/>
            <a:ext cx="43910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4-6 Prompts and output statement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for the Addison O’Reilly problem</a:t>
            </a: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13C4D80A-C5A3-407E-B3CE-9C2415072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3DB29C-7B0C-4C47-A42E-DB20B141757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1DA90B-2C0D-4286-B1AD-3713AB99E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Displaying Messages on the Computer Screen (cont’d.)</a:t>
            </a:r>
          </a:p>
        </p:txBody>
      </p:sp>
      <p:pic>
        <p:nvPicPr>
          <p:cNvPr id="29702" name="Picture 7">
            <a:extLst>
              <a:ext uri="{FF2B5EF4-FFF2-40B4-BE49-F238E27FC236}">
                <a16:creationId xmlns:a16="http://schemas.microsoft.com/office/drawing/2014/main" id="{33026C56-C7DB-4AB4-90AF-3166BCC18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333500"/>
            <a:ext cx="84963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9DF1FDD2-06F8-4102-A7AD-0C9D67237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evaluate arithmetic expressions in C++ using arithmetic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Operators are negation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-</a:t>
            </a:r>
            <a:r>
              <a:rPr lang="en-US" altLang="en-US">
                <a:ea typeface="ＭＳ Ｐゴシック" panose="020B0600070205080204" pitchFamily="34" charset="-128"/>
              </a:rPr>
              <a:t>), addition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+</a:t>
            </a:r>
            <a:r>
              <a:rPr lang="en-US" altLang="en-US">
                <a:ea typeface="ＭＳ Ｐゴシック" panose="020B0600070205080204" pitchFamily="34" charset="-128"/>
              </a:rPr>
              <a:t>), subtraction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-</a:t>
            </a:r>
            <a:r>
              <a:rPr lang="en-US" altLang="en-US">
                <a:ea typeface="ＭＳ Ｐゴシック" panose="020B0600070205080204" pitchFamily="34" charset="-128"/>
              </a:rPr>
              <a:t>), multiplication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*</a:t>
            </a:r>
            <a:r>
              <a:rPr lang="en-US" altLang="en-US">
                <a:ea typeface="ＭＳ Ｐゴシック" panose="020B0600070205080204" pitchFamily="34" charset="-128"/>
              </a:rPr>
              <a:t>), division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</a:t>
            </a:r>
            <a:r>
              <a:rPr lang="en-US" altLang="en-US">
                <a:ea typeface="ＭＳ Ｐゴシック" panose="020B0600070205080204" pitchFamily="34" charset="-128"/>
              </a:rPr>
              <a:t>), and modulus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%</a:t>
            </a:r>
            <a:r>
              <a:rPr lang="en-US" altLang="en-US">
                <a:ea typeface="ＭＳ Ｐゴシック" panose="020B0600070205080204" pitchFamily="34" charset="-128"/>
              </a:rPr>
              <a:t>)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Negation and subtraction use the same symbol, but negation is a unary operator (one operand) and subtraction is a binary operator (two operands)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Modulus gives remainder when dividing two integers</a:t>
            </a:r>
          </a:p>
        </p:txBody>
      </p:sp>
      <p:sp>
        <p:nvSpPr>
          <p:cNvPr id="31747" name="Footer Placeholder 3">
            <a:extLst>
              <a:ext uri="{FF2B5EF4-FFF2-40B4-BE49-F238E27FC236}">
                <a16:creationId xmlns:a16="http://schemas.microsoft.com/office/drawing/2014/main" id="{41A6A8FB-F6D1-4853-9853-383E28D546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B612FB82-3912-4467-A5E5-C36232659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Arithmetic Operators in C++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24C20DD9-4A70-42AD-95FB-21C3EC6D09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34AA79-A0CC-4ECC-9A63-CFDF7833959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C93EBFFF-4685-41E0-B30F-3BEFEB3159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operator has a precedence: determines in which order operators in an expression are evaluated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Operators with lower-precedence numbers are evaluated before higher ones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Parentheses have lowest-precedence number, so they can be used to override precedence order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Operators with the same precedence number are evaluated from left to right</a:t>
            </a:r>
          </a:p>
        </p:txBody>
      </p:sp>
      <p:sp>
        <p:nvSpPr>
          <p:cNvPr id="33795" name="Footer Placeholder 3">
            <a:extLst>
              <a:ext uri="{FF2B5EF4-FFF2-40B4-BE49-F238E27FC236}">
                <a16:creationId xmlns:a16="http://schemas.microsoft.com/office/drawing/2014/main" id="{817950C0-E330-499B-A4AD-D0F6486D89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43C90C5F-DF1B-4182-AD3C-A9C589FA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Arithmetic Operators in C++ (cont’d.)</a:t>
            </a:r>
          </a:p>
        </p:txBody>
      </p:sp>
      <p:sp>
        <p:nvSpPr>
          <p:cNvPr id="33797" name="Slide Number Placeholder 4">
            <a:extLst>
              <a:ext uri="{FF2B5EF4-FFF2-40B4-BE49-F238E27FC236}">
                <a16:creationId xmlns:a16="http://schemas.microsoft.com/office/drawing/2014/main" id="{78BF6B18-4BFC-40DE-92BF-25A5CE8E3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4309B-7A6B-41BE-8CB6-385AE9A5AF9D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063B-36FE-4216-AC8A-6D1FA3EDE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9CC9F-B9B3-4770-B474-16043D06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in C++ (cont’d.)</a:t>
            </a:r>
            <a:br>
              <a:rPr lang="en-US" dirty="0"/>
            </a:br>
            <a:endParaRPr lang="en-US" dirty="0"/>
          </a:p>
        </p:txBody>
      </p:sp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DBBB0998-DD0B-4006-8119-960A9EF875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5" name="Slide Number Placeholder 5">
            <a:extLst>
              <a:ext uri="{FF2B5EF4-FFF2-40B4-BE49-F238E27FC236}">
                <a16:creationId xmlns:a16="http://schemas.microsoft.com/office/drawing/2014/main" id="{0AD6547B-4DF4-4551-AAD3-CED279DE07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DFBDCA-7CF6-4942-AFA1-B950700927C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TextBox 6">
            <a:extLst>
              <a:ext uri="{FF2B5EF4-FFF2-40B4-BE49-F238E27FC236}">
                <a16:creationId xmlns:a16="http://schemas.microsoft.com/office/drawing/2014/main" id="{40010A76-3EBA-4618-B67E-BA09D7BF8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4419600"/>
            <a:ext cx="7434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4-7 Standard arithmetic operators and their order of precedence</a:t>
            </a:r>
          </a:p>
        </p:txBody>
      </p:sp>
      <p:pic>
        <p:nvPicPr>
          <p:cNvPr id="35844" name="Picture 6">
            <a:extLst>
              <a:ext uri="{FF2B5EF4-FFF2-40B4-BE49-F238E27FC236}">
                <a16:creationId xmlns:a16="http://schemas.microsoft.com/office/drawing/2014/main" id="{3F665806-FF2A-4B0C-8850-5895DD443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14600"/>
            <a:ext cx="69723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04271907-6C66-4657-B810-CDB4AA6208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1" name="TextBox 6">
            <a:extLst>
              <a:ext uri="{FF2B5EF4-FFF2-40B4-BE49-F238E27FC236}">
                <a16:creationId xmlns:a16="http://schemas.microsoft.com/office/drawing/2014/main" id="{AC3F94CB-5F6E-4E98-90E5-4B605D7A0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5067300"/>
            <a:ext cx="5181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4-8 Expressions containing more than one operator having the same precedence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B6E85665-7E67-4534-8ABF-7A14A80DB5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D1AF15-7BA1-4041-9DEF-9EBBBAE0C8F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72E749C9-987B-40BD-A953-15C31EAEE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Arithmetic Operators in C++ (cont’d.)</a:t>
            </a:r>
          </a:p>
        </p:txBody>
      </p:sp>
      <p:pic>
        <p:nvPicPr>
          <p:cNvPr id="37894" name="Picture 7">
            <a:extLst>
              <a:ext uri="{FF2B5EF4-FFF2-40B4-BE49-F238E27FC236}">
                <a16:creationId xmlns:a16="http://schemas.microsoft.com/office/drawing/2014/main" id="{78A9F0DC-A7DE-4C20-BFDB-54AEF3A30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501775"/>
            <a:ext cx="8342313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3A181F9F-3F92-4BA8-A9F9-C9D892EC8B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Recall that the compiler will implicitly promote or demote data types to match when possible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Sometimes it is necessary to explicitly cast from one data type into another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dividing two integers gives the result of integer division (no remainder), but you would really like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result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one or both of the integers is a literal, you can cast it to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by adding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.0</a:t>
            </a:r>
            <a:r>
              <a:rPr lang="en-US" altLang="en-US">
                <a:ea typeface="ＭＳ Ｐゴシック" panose="020B0600070205080204" pitchFamily="34" charset="-128"/>
              </a:rPr>
              <a:t> to the end of it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both are variables, you must 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static_cast</a:t>
            </a:r>
            <a:r>
              <a:rPr lang="en-US" altLang="en-US">
                <a:ea typeface="ＭＳ Ｐゴシック" panose="020B0600070205080204" pitchFamily="34" charset="-128"/>
              </a:rPr>
              <a:t> operator</a:t>
            </a:r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50BFD23D-6D01-46B3-B160-C7E0588B79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BEC7B78-1563-4F87-9B45-AEF7C8C19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Type Conversions in Arithmetic Expressions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5BC95644-93C4-4F8F-8A68-88FAFCF7AF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8609DC-C3D7-4C42-95EA-5FF42955EA05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91E8236E-FBE9-43E7-87C7-FC06F17AC6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1987" name="TextBox 6">
            <a:extLst>
              <a:ext uri="{FF2B5EF4-FFF2-40B4-BE49-F238E27FC236}">
                <a16:creationId xmlns:a16="http://schemas.microsoft.com/office/drawing/2014/main" id="{DB2493CD-7BE2-4B8E-95A4-3DC91C734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5470525"/>
            <a:ext cx="76962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4-9 Examples of expressions that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require implicit type conversions</a:t>
            </a: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1E30C783-6BD0-4FC9-B85C-64271F0E95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92651D-F19B-42E7-9D0C-A00548321ABD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0C2BC2-4C59-4648-AEE3-FE3A3F238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Type Conversions in Arithmetic Expressions (cont’d.)</a:t>
            </a:r>
          </a:p>
        </p:txBody>
      </p:sp>
      <p:pic>
        <p:nvPicPr>
          <p:cNvPr id="41990" name="Picture 7">
            <a:extLst>
              <a:ext uri="{FF2B5EF4-FFF2-40B4-BE49-F238E27FC236}">
                <a16:creationId xmlns:a16="http://schemas.microsoft.com/office/drawing/2014/main" id="{63E0CA22-1C00-4FAA-8EFB-88212D071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335088"/>
            <a:ext cx="8382000" cy="403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101C4665-934A-45E1-9443-05199E629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Used to explicitly convert data from one data type to another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Called an </a:t>
            </a:r>
            <a:r>
              <a:rPr lang="en-US" altLang="en-US" b="1">
                <a:ea typeface="ＭＳ Ｐゴシック" panose="020B0600070205080204" pitchFamily="34" charset="-128"/>
              </a:rPr>
              <a:t>explicit type conversion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 b="1">
                <a:ea typeface="ＭＳ Ｐゴシック" panose="020B0600070205080204" pitchFamily="34" charset="-128"/>
              </a:rPr>
              <a:t>type cast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Syntax: 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static_cast&lt;</a:t>
            </a:r>
            <a:r>
              <a:rPr lang="en-US" altLang="en-US" i="1">
                <a:ea typeface="ＭＳ Ｐゴシック" panose="020B0600070205080204" pitchFamily="34" charset="-128"/>
              </a:rPr>
              <a:t>dataType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&gt;(</a:t>
            </a:r>
            <a:r>
              <a:rPr lang="en-US" altLang="en-US" i="1">
                <a:ea typeface="ＭＳ Ｐゴシック" panose="020B0600070205080204" pitchFamily="34" charset="-128"/>
              </a:rPr>
              <a:t>data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  <a:endParaRPr lang="en-US" altLang="en-US" sz="28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data</a:t>
            </a:r>
            <a:r>
              <a:rPr lang="en-US" altLang="en-US">
                <a:ea typeface="ＭＳ Ｐゴシック" panose="020B0600070205080204" pitchFamily="34" charset="-128"/>
              </a:rPr>
              <a:t> can be a literal constant, named constant, or variable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dataType</a:t>
            </a:r>
            <a:r>
              <a:rPr lang="en-US" altLang="en-US">
                <a:ea typeface="ＭＳ Ｐゴシック" panose="020B0600070205080204" pitchFamily="34" charset="-128"/>
              </a:rPr>
              <a:t> is the data type to which you want the </a:t>
            </a:r>
            <a:r>
              <a:rPr lang="en-US" altLang="en-US" i="1">
                <a:ea typeface="ＭＳ Ｐゴシック" panose="020B0600070205080204" pitchFamily="34" charset="-128"/>
              </a:rPr>
              <a:t>data</a:t>
            </a:r>
            <a:r>
              <a:rPr lang="en-US" altLang="en-US">
                <a:ea typeface="ＭＳ Ｐゴシック" panose="020B0600070205080204" pitchFamily="34" charset="-128"/>
              </a:rPr>
              <a:t> converted </a:t>
            </a: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D05F4502-CF1C-450F-8037-AE5C451EC6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ED8FEC94-AC54-4370-AFD1-12FE347CB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static_cast</a:t>
            </a:r>
            <a:r>
              <a:rPr lang="en-US" altLang="en-US">
                <a:ea typeface="ＭＳ Ｐゴシック" panose="020B0600070205080204" pitchFamily="34" charset="-128"/>
              </a:rPr>
              <a:t> Operator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6EA97C3A-EFCC-4596-B18B-7A728783A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9F27B3-D2FE-42C6-8937-631876460AF1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C576584F-A5D2-43F4-834D-97A974D5EA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6083" name="TextBox 8">
            <a:extLst>
              <a:ext uri="{FF2B5EF4-FFF2-40B4-BE49-F238E27FC236}">
                <a16:creationId xmlns:a16="http://schemas.microsoft.com/office/drawing/2014/main" id="{1BF4B633-2153-4F18-80ED-B08691CF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5867400"/>
            <a:ext cx="54816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4-10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operator</a:t>
            </a: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B02D8F4B-EA4C-460C-8D08-211657A2E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8AF236-C5E8-4EDD-9A74-67EC6581264C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85F15A04-EFAB-4513-BFA1-4EF2C5E91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ea typeface="ＭＳ Ｐゴシック" panose="020B0600070205080204" pitchFamily="34" charset="-128"/>
              </a:rPr>
              <a:t>The </a:t>
            </a:r>
            <a:r>
              <a:rPr lang="en-US" altLang="en-US" sz="32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static_cast</a:t>
            </a:r>
            <a:r>
              <a:rPr lang="en-US" altLang="en-US" sz="3200">
                <a:ea typeface="ＭＳ Ｐゴシック" panose="020B0600070205080204" pitchFamily="34" charset="-128"/>
              </a:rPr>
              <a:t> Operator (cont’d.)</a:t>
            </a:r>
          </a:p>
        </p:txBody>
      </p:sp>
      <p:pic>
        <p:nvPicPr>
          <p:cNvPr id="46086" name="Picture 7">
            <a:extLst>
              <a:ext uri="{FF2B5EF4-FFF2-40B4-BE49-F238E27FC236}">
                <a16:creationId xmlns:a16="http://schemas.microsoft.com/office/drawing/2014/main" id="{8321185D-814B-4CC7-BFCA-26BC8C395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346200"/>
            <a:ext cx="8551862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CCB35B15-6F72-4BD3-B027-69A3B45AFC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8131" name="TextBox 8">
            <a:extLst>
              <a:ext uri="{FF2B5EF4-FFF2-40B4-BE49-F238E27FC236}">
                <a16:creationId xmlns:a16="http://schemas.microsoft.com/office/drawing/2014/main" id="{CBB64669-BDF8-4FD0-90D7-91CC49D66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5638800"/>
            <a:ext cx="689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4-10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operator (cont’d.)</a:t>
            </a:r>
          </a:p>
        </p:txBody>
      </p:sp>
      <p:sp>
        <p:nvSpPr>
          <p:cNvPr id="48132" name="Slide Number Placeholder 4">
            <a:extLst>
              <a:ext uri="{FF2B5EF4-FFF2-40B4-BE49-F238E27FC236}">
                <a16:creationId xmlns:a16="http://schemas.microsoft.com/office/drawing/2014/main" id="{54695931-1472-40C1-AD90-166F6BA19B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C97D6A-C3BB-4AF4-8DF6-1580483B7F90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3" name="Rectangle 2">
            <a:extLst>
              <a:ext uri="{FF2B5EF4-FFF2-40B4-BE49-F238E27FC236}">
                <a16:creationId xmlns:a16="http://schemas.microsoft.com/office/drawing/2014/main" id="{8BBFE11E-B29E-4C42-A12F-797494CC5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ea typeface="ＭＳ Ｐゴシック" panose="020B0600070205080204" pitchFamily="34" charset="-128"/>
              </a:rPr>
              <a:t>The </a:t>
            </a:r>
            <a:r>
              <a:rPr lang="en-US" altLang="en-US" sz="32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static_cast</a:t>
            </a:r>
            <a:r>
              <a:rPr lang="en-US" altLang="en-US" sz="3200">
                <a:ea typeface="ＭＳ Ｐゴシック" panose="020B0600070205080204" pitchFamily="34" charset="-128"/>
              </a:rPr>
              <a:t> Operator (cont’d.)</a:t>
            </a:r>
          </a:p>
        </p:txBody>
      </p:sp>
      <p:pic>
        <p:nvPicPr>
          <p:cNvPr id="48134" name="Picture 7">
            <a:extLst>
              <a:ext uri="{FF2B5EF4-FFF2-40B4-BE49-F238E27FC236}">
                <a16:creationId xmlns:a16="http://schemas.microsoft.com/office/drawing/2014/main" id="{AC8527D4-8004-4D32-9DAC-FEC0D7EE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409700"/>
            <a:ext cx="8650287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6">
            <a:extLst>
              <a:ext uri="{FF2B5EF4-FFF2-40B4-BE49-F238E27FC236}">
                <a16:creationId xmlns:a16="http://schemas.microsoft.com/office/drawing/2014/main" id="{553C2EFD-6F0E-4426-8BCA-4CD562893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use an </a:t>
            </a:r>
            <a:r>
              <a:rPr lang="en-US" altLang="en-US" b="1">
                <a:ea typeface="ＭＳ Ｐゴシック" panose="020B0600070205080204" pitchFamily="34" charset="-128"/>
              </a:rPr>
              <a:t>assignment statement</a:t>
            </a:r>
            <a:r>
              <a:rPr lang="en-US" altLang="en-US">
                <a:ea typeface="ＭＳ Ｐゴシック" panose="020B0600070205080204" pitchFamily="34" charset="-128"/>
              </a:rPr>
              <a:t> to assign a value to a variable while a program is running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Syntax: </a:t>
            </a:r>
            <a:r>
              <a:rPr lang="en-US" altLang="en-US" i="1">
                <a:ea typeface="ＭＳ Ｐゴシック" panose="020B0600070205080204" pitchFamily="34" charset="-128"/>
              </a:rPr>
              <a:t>variableName </a:t>
            </a:r>
            <a:r>
              <a:rPr lang="en-US" altLang="en-US" i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</a:t>
            </a:r>
            <a:r>
              <a:rPr lang="en-US" altLang="en-US" i="1">
                <a:ea typeface="ＭＳ Ｐゴシック" panose="020B0600070205080204" pitchFamily="34" charset="-128"/>
              </a:rPr>
              <a:t> expression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</a:t>
            </a:r>
            <a:r>
              <a:rPr lang="en-US" altLang="en-US">
                <a:ea typeface="ＭＳ Ｐゴシック" panose="020B0600070205080204" pitchFamily="34" charset="-128"/>
              </a:rPr>
              <a:t> symbol is the </a:t>
            </a:r>
            <a:r>
              <a:rPr lang="en-US" altLang="en-US" b="1">
                <a:ea typeface="ＭＳ Ｐゴシック" panose="020B0600070205080204" pitchFamily="34" charset="-128"/>
              </a:rPr>
              <a:t>assignment operator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Tells computer to evaluate expression on right side of assignment operator and store result in variable on left side of the operator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expression </a:t>
            </a:r>
            <a:r>
              <a:rPr lang="en-US" altLang="en-US">
                <a:ea typeface="ＭＳ Ｐゴシック" panose="020B0600070205080204" pitchFamily="34" charset="-128"/>
              </a:rPr>
              <a:t>can include one or more literal constants, named constants, variables, or arithmetic operators </a:t>
            </a:r>
          </a:p>
        </p:txBody>
      </p:sp>
      <p:sp>
        <p:nvSpPr>
          <p:cNvPr id="50179" name="Footer Placeholder 3">
            <a:extLst>
              <a:ext uri="{FF2B5EF4-FFF2-40B4-BE49-F238E27FC236}">
                <a16:creationId xmlns:a16="http://schemas.microsoft.com/office/drawing/2014/main" id="{0D99B2F6-1B2F-4837-A26F-1F8708F776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0180" name="Title 1">
            <a:extLst>
              <a:ext uri="{FF2B5EF4-FFF2-40B4-BE49-F238E27FC236}">
                <a16:creationId xmlns:a16="http://schemas.microsoft.com/office/drawing/2014/main" id="{93D5C8AD-AD3A-4E96-930F-04FD132D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Assignment Statements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387AA1A7-0B07-4B3C-83E7-6613E42D51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3694FF-327C-4188-9C51-61AA665008A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6">
            <a:extLst>
              <a:ext uri="{FF2B5EF4-FFF2-40B4-BE49-F238E27FC236}">
                <a16:creationId xmlns:a16="http://schemas.microsoft.com/office/drawing/2014/main" id="{F78CCE69-34C8-4B25-9151-BDA9B2D8A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 type of expression in an assignment statement must match data type of the variable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they don’t match, compiler will use implicit type casting to get them to match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Doesn’t always produce correct result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Better to explicitly cast to correct data type yourself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Remember: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Declaration statement creates a new variable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Assignment statement assigns a new value to an existing variable</a:t>
            </a:r>
          </a:p>
        </p:txBody>
      </p:sp>
      <p:sp>
        <p:nvSpPr>
          <p:cNvPr id="52227" name="Footer Placeholder 3">
            <a:extLst>
              <a:ext uri="{FF2B5EF4-FFF2-40B4-BE49-F238E27FC236}">
                <a16:creationId xmlns:a16="http://schemas.microsoft.com/office/drawing/2014/main" id="{28A4FD4B-FD98-4583-8ECA-B2C98933C7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2228" name="Title 1">
            <a:extLst>
              <a:ext uri="{FF2B5EF4-FFF2-40B4-BE49-F238E27FC236}">
                <a16:creationId xmlns:a16="http://schemas.microsoft.com/office/drawing/2014/main" id="{D8AEA52E-AC54-4764-BB1D-25B2100F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Assignment Statements (cont’d.)</a:t>
            </a:r>
          </a:p>
        </p:txBody>
      </p:sp>
      <p:sp>
        <p:nvSpPr>
          <p:cNvPr id="52229" name="Slide Number Placeholder 4">
            <a:extLst>
              <a:ext uri="{FF2B5EF4-FFF2-40B4-BE49-F238E27FC236}">
                <a16:creationId xmlns:a16="http://schemas.microsoft.com/office/drawing/2014/main" id="{8A422AC5-C154-48F9-AE31-717DFB930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72576B-AFFF-4725-A012-2720ECF53B6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255B8CC7-6EDA-49D7-B756-FF9DEA3FE1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4275" name="Title 1">
            <a:extLst>
              <a:ext uri="{FF2B5EF4-FFF2-40B4-BE49-F238E27FC236}">
                <a16:creationId xmlns:a16="http://schemas.microsoft.com/office/drawing/2014/main" id="{D21BB664-0FA0-4E1A-8DBC-50F0B060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Assignment Statements (cont’d.)</a:t>
            </a:r>
          </a:p>
        </p:txBody>
      </p:sp>
      <p:sp>
        <p:nvSpPr>
          <p:cNvPr id="54276" name="TextBox 9">
            <a:extLst>
              <a:ext uri="{FF2B5EF4-FFF2-40B4-BE49-F238E27FC236}">
                <a16:creationId xmlns:a16="http://schemas.microsoft.com/office/drawing/2014/main" id="{22074814-C007-436E-B59F-0DCC44D72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91200"/>
            <a:ext cx="5453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4-11 How to write an assignment statement</a:t>
            </a:r>
          </a:p>
        </p:txBody>
      </p:sp>
      <p:sp>
        <p:nvSpPr>
          <p:cNvPr id="54277" name="Slide Number Placeholder 5">
            <a:extLst>
              <a:ext uri="{FF2B5EF4-FFF2-40B4-BE49-F238E27FC236}">
                <a16:creationId xmlns:a16="http://schemas.microsoft.com/office/drawing/2014/main" id="{60DBB55B-65B4-4221-A032-C49FE8DA10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615B8C-D198-4A44-8EAD-8AD698B3CC5C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4278" name="Picture 7">
            <a:extLst>
              <a:ext uri="{FF2B5EF4-FFF2-40B4-BE49-F238E27FC236}">
                <a16:creationId xmlns:a16="http://schemas.microsoft.com/office/drawing/2014/main" id="{71CEDEDC-2D00-4238-960B-B495B2AF1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1333500"/>
            <a:ext cx="6419850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03F0BFBA-0CC3-4224-A3B7-87D6D828E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6323" name="TextBox 9">
            <a:extLst>
              <a:ext uri="{FF2B5EF4-FFF2-40B4-BE49-F238E27FC236}">
                <a16:creationId xmlns:a16="http://schemas.microsoft.com/office/drawing/2014/main" id="{2CAA23DE-8920-49EA-90BB-ED1BA3180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5630863"/>
            <a:ext cx="4287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4-12 Calculation statements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for the Addison O’Reilly problem</a:t>
            </a:r>
          </a:p>
        </p:txBody>
      </p:sp>
      <p:sp>
        <p:nvSpPr>
          <p:cNvPr id="56324" name="Slide Number Placeholder 4">
            <a:extLst>
              <a:ext uri="{FF2B5EF4-FFF2-40B4-BE49-F238E27FC236}">
                <a16:creationId xmlns:a16="http://schemas.microsoft.com/office/drawing/2014/main" id="{85CB2614-68D9-459A-9792-5E8F6F775D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E0E83C-9BB9-4196-930D-00EE7F989ED0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6325" name="Title 1">
            <a:extLst>
              <a:ext uri="{FF2B5EF4-FFF2-40B4-BE49-F238E27FC236}">
                <a16:creationId xmlns:a16="http://schemas.microsoft.com/office/drawing/2014/main" id="{1DAA4C0D-4004-4236-B15F-C0379A2E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Assignment Statements (cont’d.)</a:t>
            </a: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149DC428-B0F0-491C-A419-1288F73D3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314450"/>
            <a:ext cx="8559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0CD66C4B-BD5D-4721-81DF-7C4CFE201C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6888" y="1676400"/>
            <a:ext cx="8201025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Allow you to abbreviate assignment statements that contain an arithmetic operator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Statement must be of the form </a:t>
            </a:r>
            <a:r>
              <a:rPr lang="en-US" altLang="en-US" i="1">
                <a:ea typeface="ＭＳ Ｐゴシック" panose="020B0600070205080204" pitchFamily="34" charset="-128"/>
              </a:rPr>
              <a:t>variableName = variableName arithmeticOperator value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Abbreviated as </a:t>
            </a:r>
            <a:r>
              <a:rPr lang="en-US" altLang="en-US" i="1">
                <a:ea typeface="ＭＳ Ｐゴシック" panose="020B0600070205080204" pitchFamily="34" charset="-128"/>
              </a:rPr>
              <a:t>variableName arithmeticOperator = value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price = price*1.05;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can be abbreviated as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price *= 1.05;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Most common operators are 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+=</a:t>
            </a:r>
            <a:r>
              <a:rPr lang="en-US" altLang="en-US" sz="2800">
                <a:ea typeface="ＭＳ Ｐゴシック" panose="020B0600070205080204" pitchFamily="34" charset="-128"/>
              </a:rPr>
              <a:t> ,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-=</a:t>
            </a:r>
            <a:r>
              <a:rPr lang="en-US" altLang="en-US" sz="2800">
                <a:ea typeface="ＭＳ Ｐゴシック" panose="020B0600070205080204" pitchFamily="34" charset="-128"/>
              </a:rPr>
              <a:t> ,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*=</a:t>
            </a:r>
            <a:r>
              <a:rPr lang="en-US" altLang="en-US" sz="2800">
                <a:ea typeface="ＭＳ Ｐゴシック" panose="020B0600070205080204" pitchFamily="34" charset="-128"/>
              </a:rPr>
              <a:t> ,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/=</a:t>
            </a:r>
            <a:r>
              <a:rPr lang="en-US" altLang="en-US" sz="2800">
                <a:ea typeface="ＭＳ Ｐゴシック" panose="020B0600070205080204" pitchFamily="34" charset="-128"/>
              </a:rPr>
              <a:t> ,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</a:rPr>
              <a:t>and </a:t>
            </a:r>
            <a:r>
              <a:rPr lang="en-US" altLang="en-US" sz="2800">
                <a:latin typeface="Courier New" panose="02070309020205020404" pitchFamily="49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%=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8371" name="Footer Placeholder 3">
            <a:extLst>
              <a:ext uri="{FF2B5EF4-FFF2-40B4-BE49-F238E27FC236}">
                <a16:creationId xmlns:a16="http://schemas.microsoft.com/office/drawing/2014/main" id="{5CBF568B-F204-4285-A3C9-85ACCD12F5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12F00CB9-3A08-4A68-B955-7B4BFF383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Arithmetic Assignment Operators</a:t>
            </a:r>
          </a:p>
        </p:txBody>
      </p:sp>
      <p:sp>
        <p:nvSpPr>
          <p:cNvPr id="58373" name="Slide Number Placeholder 4">
            <a:extLst>
              <a:ext uri="{FF2B5EF4-FFF2-40B4-BE49-F238E27FC236}">
                <a16:creationId xmlns:a16="http://schemas.microsoft.com/office/drawing/2014/main" id="{50F9F917-949F-4908-A48F-00F4A5176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2BF301-7FEB-449D-8BF5-2FC50440EC81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3">
            <a:extLst>
              <a:ext uri="{FF2B5EF4-FFF2-40B4-BE49-F238E27FC236}">
                <a16:creationId xmlns:a16="http://schemas.microsoft.com/office/drawing/2014/main" id="{87CCBBBB-EF6E-4AA3-A409-7A3158D29C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5674482A-E406-468C-832C-73485C62A7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4B5580-2DB9-47FB-BCD0-277061A8388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420" name="Rectangle 7">
            <a:extLst>
              <a:ext uri="{FF2B5EF4-FFF2-40B4-BE49-F238E27FC236}">
                <a16:creationId xmlns:a16="http://schemas.microsoft.com/office/drawing/2014/main" id="{F6F43A18-B9BA-4F66-9B61-70974DA11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5726113"/>
            <a:ext cx="7086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4-13 How to use an arithmetic assignment operator</a:t>
            </a:r>
          </a:p>
        </p:txBody>
      </p:sp>
      <p:sp>
        <p:nvSpPr>
          <p:cNvPr id="60421" name="Rectangle 2">
            <a:extLst>
              <a:ext uri="{FF2B5EF4-FFF2-40B4-BE49-F238E27FC236}">
                <a16:creationId xmlns:a16="http://schemas.microsoft.com/office/drawing/2014/main" id="{DAE45DC7-D245-4108-AC7F-2F0F59025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ea typeface="ＭＳ Ｐゴシック" panose="020B0600070205080204" pitchFamily="34" charset="-128"/>
              </a:rPr>
              <a:t>Arithmetic Assignment Operators (cont’d)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60422" name="Picture 7">
            <a:extLst>
              <a:ext uri="{FF2B5EF4-FFF2-40B4-BE49-F238E27FC236}">
                <a16:creationId xmlns:a16="http://schemas.microsoft.com/office/drawing/2014/main" id="{D561F27B-0939-4756-82C5-16DC7E4ED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1314450"/>
            <a:ext cx="80899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C817A7EE-5788-4DB5-BD3D-D0FE9B508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Fifth step is to desk-check the program to make sure instructions were translated correctly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should desk-check the program using sample data used to desk-check the algorithm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Results of both desk-checks should be the same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First, place names of the declared memory locations in a new desk-check table along with each memory location’s initial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Next, desk-check remaining C++ instructions in order, recording any changes made to the variables </a:t>
            </a:r>
          </a:p>
        </p:txBody>
      </p:sp>
      <p:sp>
        <p:nvSpPr>
          <p:cNvPr id="62467" name="Footer Placeholder 3">
            <a:extLst>
              <a:ext uri="{FF2B5EF4-FFF2-40B4-BE49-F238E27FC236}">
                <a16:creationId xmlns:a16="http://schemas.microsoft.com/office/drawing/2014/main" id="{1C20B054-B202-47D2-A700-929F59D8BC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6C2FA0ED-152F-425B-8D92-80C8634D2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Step 5–Desk-Check the Program</a:t>
            </a:r>
          </a:p>
        </p:txBody>
      </p:sp>
      <p:sp>
        <p:nvSpPr>
          <p:cNvPr id="62469" name="Slide Number Placeholder 4">
            <a:extLst>
              <a:ext uri="{FF2B5EF4-FFF2-40B4-BE49-F238E27FC236}">
                <a16:creationId xmlns:a16="http://schemas.microsoft.com/office/drawing/2014/main" id="{F3639CBA-1B3B-4800-9F3D-F4DB746A4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8B97C8-0F14-4C10-84D1-E7FA1BC2C2D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1C6D98C3-2543-4C91-8063-F292BE800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384C461-05C6-4FD4-AD06-610BA191A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Step 5–Desk-Check the Program (cont’d.)</a:t>
            </a:r>
          </a:p>
        </p:txBody>
      </p:sp>
      <p:sp>
        <p:nvSpPr>
          <p:cNvPr id="64516" name="TextBox 9">
            <a:extLst>
              <a:ext uri="{FF2B5EF4-FFF2-40B4-BE49-F238E27FC236}">
                <a16:creationId xmlns:a16="http://schemas.microsoft.com/office/drawing/2014/main" id="{5005E62C-CB4E-4DB5-BDA4-9FA998E28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5257800"/>
            <a:ext cx="62499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4-15 Variable names and initial values entered in the program’s desk-check table</a:t>
            </a:r>
          </a:p>
        </p:txBody>
      </p:sp>
      <p:sp>
        <p:nvSpPr>
          <p:cNvPr id="64517" name="TextBox 9">
            <a:extLst>
              <a:ext uri="{FF2B5EF4-FFF2-40B4-BE49-F238E27FC236}">
                <a16:creationId xmlns:a16="http://schemas.microsoft.com/office/drawing/2014/main" id="{74634F53-326D-4ECA-8167-BAD4328CF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52800"/>
            <a:ext cx="5953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4-14 Algorithm’s desk-check table from Chapter 2</a:t>
            </a:r>
          </a:p>
        </p:txBody>
      </p:sp>
      <p:sp>
        <p:nvSpPr>
          <p:cNvPr id="64518" name="Slide Number Placeholder 7">
            <a:extLst>
              <a:ext uri="{FF2B5EF4-FFF2-40B4-BE49-F238E27FC236}">
                <a16:creationId xmlns:a16="http://schemas.microsoft.com/office/drawing/2014/main" id="{50A0F65D-5997-4B54-AF37-999D159E4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7031FC-F97F-4D72-A552-46AB456DAE6E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4519" name="Picture 9">
            <a:extLst>
              <a:ext uri="{FF2B5EF4-FFF2-40B4-BE49-F238E27FC236}">
                <a16:creationId xmlns:a16="http://schemas.microsoft.com/office/drawing/2014/main" id="{65220504-210A-4BB8-8EDB-09AECA23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2165350"/>
            <a:ext cx="71342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0" name="Picture 10">
            <a:extLst>
              <a:ext uri="{FF2B5EF4-FFF2-40B4-BE49-F238E27FC236}">
                <a16:creationId xmlns:a16="http://schemas.microsoft.com/office/drawing/2014/main" id="{F591A311-ABD8-4945-B73C-5B1233C50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88" y="4235450"/>
            <a:ext cx="71342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A46E02BC-213B-4310-AB83-98C03E83F6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26D29F1-F5B8-4250-94D2-4C08F99F7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5–Desk-Check the Program (cont’d.)</a:t>
            </a:r>
          </a:p>
        </p:txBody>
      </p:sp>
      <p:sp>
        <p:nvSpPr>
          <p:cNvPr id="66564" name="TextBox 9">
            <a:extLst>
              <a:ext uri="{FF2B5EF4-FFF2-40B4-BE49-F238E27FC236}">
                <a16:creationId xmlns:a16="http://schemas.microsoft.com/office/drawing/2014/main" id="{F360275D-B7AA-4223-A601-2A92E1069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059113"/>
            <a:ext cx="7032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4-16 Input values entered in the program’s desk-check table</a:t>
            </a:r>
          </a:p>
        </p:txBody>
      </p:sp>
      <p:sp>
        <p:nvSpPr>
          <p:cNvPr id="66565" name="TextBox 13">
            <a:extLst>
              <a:ext uri="{FF2B5EF4-FFF2-40B4-BE49-F238E27FC236}">
                <a16:creationId xmlns:a16="http://schemas.microsoft.com/office/drawing/2014/main" id="{E5DD0CAD-A183-4302-BEEF-4A6244DA7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5181600"/>
            <a:ext cx="678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4-17 Sales tax amount entered in the desk-check table</a:t>
            </a:r>
          </a:p>
        </p:txBody>
      </p:sp>
      <p:sp>
        <p:nvSpPr>
          <p:cNvPr id="66566" name="Slide Number Placeholder 7">
            <a:extLst>
              <a:ext uri="{FF2B5EF4-FFF2-40B4-BE49-F238E27FC236}">
                <a16:creationId xmlns:a16="http://schemas.microsoft.com/office/drawing/2014/main" id="{FE782348-B29C-4173-A90D-F66298AD0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5A2FCA-1D19-4C5A-BBC7-0089A1FB889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6567" name="Picture 9">
            <a:extLst>
              <a:ext uri="{FF2B5EF4-FFF2-40B4-BE49-F238E27FC236}">
                <a16:creationId xmlns:a16="http://schemas.microsoft.com/office/drawing/2014/main" id="{0C3D0DF9-4098-49FC-AC79-994996F23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976438"/>
            <a:ext cx="71342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8" name="Picture 10">
            <a:extLst>
              <a:ext uri="{FF2B5EF4-FFF2-40B4-BE49-F238E27FC236}">
                <a16:creationId xmlns:a16="http://schemas.microsoft.com/office/drawing/2014/main" id="{57F096A9-4968-4311-8D1D-A5C9DB674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4035425"/>
            <a:ext cx="71405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3">
            <a:extLst>
              <a:ext uri="{FF2B5EF4-FFF2-40B4-BE49-F238E27FC236}">
                <a16:creationId xmlns:a16="http://schemas.microsoft.com/office/drawing/2014/main" id="{02118663-0212-4DE7-B661-C0A969C69C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DCF437F-879C-4D1F-AA63-864D3BDF3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5–Desk-Check the Program (cont’d.)</a:t>
            </a:r>
          </a:p>
        </p:txBody>
      </p:sp>
      <p:sp>
        <p:nvSpPr>
          <p:cNvPr id="68612" name="TextBox 9">
            <a:extLst>
              <a:ext uri="{FF2B5EF4-FFF2-40B4-BE49-F238E27FC236}">
                <a16:creationId xmlns:a16="http://schemas.microsoft.com/office/drawing/2014/main" id="{ABCC610C-AAB4-4671-9E8D-23D918EB2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3084513"/>
            <a:ext cx="6007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4-18 Cost amount entered in the desk-check table</a:t>
            </a:r>
          </a:p>
        </p:txBody>
      </p:sp>
      <p:sp>
        <p:nvSpPr>
          <p:cNvPr id="68613" name="TextBox 13">
            <a:extLst>
              <a:ext uri="{FF2B5EF4-FFF2-40B4-BE49-F238E27FC236}">
                <a16:creationId xmlns:a16="http://schemas.microsoft.com/office/drawing/2014/main" id="{A24BE573-FFDB-4CC2-A001-27A61FE10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297488"/>
            <a:ext cx="5562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4-19 Program’s desk-check table showing the results of the second desk-check</a:t>
            </a:r>
          </a:p>
        </p:txBody>
      </p:sp>
      <p:sp>
        <p:nvSpPr>
          <p:cNvPr id="68614" name="Slide Number Placeholder 7">
            <a:extLst>
              <a:ext uri="{FF2B5EF4-FFF2-40B4-BE49-F238E27FC236}">
                <a16:creationId xmlns:a16="http://schemas.microsoft.com/office/drawing/2014/main" id="{17F47976-8C1E-42BE-B14B-1DF5860B4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C02A80-4F5F-4667-A774-A8A540CE196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8615" name="Picture 9">
            <a:extLst>
              <a:ext uri="{FF2B5EF4-FFF2-40B4-BE49-F238E27FC236}">
                <a16:creationId xmlns:a16="http://schemas.microsoft.com/office/drawing/2014/main" id="{1AB7CFAF-49E3-4051-B313-EAEF312E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1984375"/>
            <a:ext cx="71342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10">
            <a:extLst>
              <a:ext uri="{FF2B5EF4-FFF2-40B4-BE49-F238E27FC236}">
                <a16:creationId xmlns:a16="http://schemas.microsoft.com/office/drawing/2014/main" id="{7EA18527-205E-4CC5-A86C-1206D591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88" y="3889375"/>
            <a:ext cx="7134225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>
            <a:extLst>
              <a:ext uri="{FF2B5EF4-FFF2-40B4-BE49-F238E27FC236}">
                <a16:creationId xmlns:a16="http://schemas.microsoft.com/office/drawing/2014/main" id="{870522E0-DBC6-42DE-A0B7-33B58731C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Final step in the problem-solving process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evaluate a program by running the program on the computer and entering the sample data used when desk-checking the program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evaluation reveals errors (known as </a:t>
            </a:r>
            <a:r>
              <a:rPr lang="en-US" altLang="en-US" b="1">
                <a:ea typeface="ＭＳ Ｐゴシック" panose="020B0600070205080204" pitchFamily="34" charset="-128"/>
              </a:rPr>
              <a:t>bugs</a:t>
            </a:r>
            <a:r>
              <a:rPr lang="en-US" altLang="en-US">
                <a:ea typeface="ＭＳ Ｐゴシック" panose="020B0600070205080204" pitchFamily="34" charset="-128"/>
              </a:rPr>
              <a:t>), they must be fixed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of locating and fixing errors is called </a:t>
            </a:r>
            <a:r>
              <a:rPr lang="en-US" altLang="en-US" b="1">
                <a:ea typeface="ＭＳ Ｐゴシック" panose="020B0600070205080204" pitchFamily="34" charset="-128"/>
              </a:rPr>
              <a:t>debugging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types of bugs: syntax errors and logic errors</a:t>
            </a:r>
          </a:p>
        </p:txBody>
      </p:sp>
      <p:sp>
        <p:nvSpPr>
          <p:cNvPr id="70659" name="Footer Placeholder 3">
            <a:extLst>
              <a:ext uri="{FF2B5EF4-FFF2-40B4-BE49-F238E27FC236}">
                <a16:creationId xmlns:a16="http://schemas.microsoft.com/office/drawing/2014/main" id="{5DE66DBA-FC37-40FF-8EEE-70ADD97D61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BE7E995-8B16-483E-802F-DE4F26ADE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</a:t>
            </a:r>
          </a:p>
        </p:txBody>
      </p:sp>
      <p:sp>
        <p:nvSpPr>
          <p:cNvPr id="70661" name="Slide Number Placeholder 4">
            <a:extLst>
              <a:ext uri="{FF2B5EF4-FFF2-40B4-BE49-F238E27FC236}">
                <a16:creationId xmlns:a16="http://schemas.microsoft.com/office/drawing/2014/main" id="{6E37B718-6F97-4789-B7BB-794200A999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F74094-ED57-4C2C-9375-637B157D3CA4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>
            <a:extLst>
              <a:ext uri="{FF2B5EF4-FFF2-40B4-BE49-F238E27FC236}">
                <a16:creationId xmlns:a16="http://schemas.microsoft.com/office/drawing/2014/main" id="{FF2BF7D0-79A2-41B8-AEBE-513184F25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Syntax errors </a:t>
            </a:r>
            <a:r>
              <a:rPr lang="en-US" altLang="en-US">
                <a:ea typeface="ＭＳ Ｐゴシック" panose="020B0600070205080204" pitchFamily="34" charset="-128"/>
              </a:rPr>
              <a:t>result from breaking programming language’s rules; cause compiler errors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Logic errors </a:t>
            </a:r>
            <a:r>
              <a:rPr lang="en-US" altLang="en-US">
                <a:ea typeface="ＭＳ Ｐゴシック" panose="020B0600070205080204" pitchFamily="34" charset="-128"/>
              </a:rPr>
              <a:t>don’t cause compiler errors; can be hard to identify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entering instructions in the wrong order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Need a text editor to enter C++ instructions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Instructions are called </a:t>
            </a:r>
            <a:r>
              <a:rPr lang="en-US" altLang="en-US" b="1">
                <a:ea typeface="ＭＳ Ｐゴシック" panose="020B0600070205080204" pitchFamily="34" charset="-128"/>
              </a:rPr>
              <a:t>source code </a:t>
            </a:r>
            <a:r>
              <a:rPr lang="en-US" altLang="en-US">
                <a:ea typeface="ＭＳ Ｐゴシック" panose="020B0600070205080204" pitchFamily="34" charset="-128"/>
              </a:rPr>
              <a:t>and are saved in source files with extension .cpp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Need a compiler to translate source code into machine code (also called </a:t>
            </a:r>
            <a:r>
              <a:rPr lang="en-US" altLang="en-US" b="1">
                <a:ea typeface="ＭＳ Ｐゴシック" panose="020B0600070205080204" pitchFamily="34" charset="-128"/>
              </a:rPr>
              <a:t>object code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72707" name="Footer Placeholder 3">
            <a:extLst>
              <a:ext uri="{FF2B5EF4-FFF2-40B4-BE49-F238E27FC236}">
                <a16:creationId xmlns:a16="http://schemas.microsoft.com/office/drawing/2014/main" id="{8948BD59-EBF1-4DFE-824A-12B3CBCC5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37EBACD-6165-4839-B386-AFD938EF0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</a:t>
            </a:r>
          </a:p>
        </p:txBody>
      </p:sp>
      <p:sp>
        <p:nvSpPr>
          <p:cNvPr id="72709" name="Slide Number Placeholder 4">
            <a:extLst>
              <a:ext uri="{FF2B5EF4-FFF2-40B4-BE49-F238E27FC236}">
                <a16:creationId xmlns:a16="http://schemas.microsoft.com/office/drawing/2014/main" id="{3066FCD9-C50C-43C9-BEF5-BE9DDE2AF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52DACB-7CDC-4E81-B03B-A57B0D6CAC5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>
            <a:extLst>
              <a:ext uri="{FF2B5EF4-FFF2-40B4-BE49-F238E27FC236}">
                <a16:creationId xmlns:a16="http://schemas.microsoft.com/office/drawing/2014/main" id="{85DF905F-D855-4B86-BFA9-CC7E1BF425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6888" y="1676400"/>
            <a:ext cx="8224837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Compiler saves object code in </a:t>
            </a:r>
            <a:r>
              <a:rPr lang="en-US" altLang="en-US" b="1">
                <a:ea typeface="ＭＳ Ｐゴシック" panose="020B0600070205080204" pitchFamily="34" charset="-128"/>
              </a:rPr>
              <a:t>object files</a:t>
            </a:r>
            <a:r>
              <a:rPr lang="en-US" altLang="en-US">
                <a:ea typeface="ＭＳ Ｐゴシック" panose="020B0600070205080204" pitchFamily="34" charset="-128"/>
              </a:rPr>
              <a:t> with extension .obj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Linker </a:t>
            </a:r>
            <a:r>
              <a:rPr lang="en-US" altLang="en-US">
                <a:ea typeface="ＭＳ Ｐゴシック" panose="020B0600070205080204" pitchFamily="34" charset="-128"/>
              </a:rPr>
              <a:t>combines .obj files with other machine code necessary to run the program and produces an executable file with extension .exe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</a:t>
            </a:r>
            <a:r>
              <a:rPr lang="en-US" altLang="en-US" b="1">
                <a:ea typeface="ＭＳ Ｐゴシック" panose="020B0600070205080204" pitchFamily="34" charset="-128"/>
              </a:rPr>
              <a:t>IDE </a:t>
            </a:r>
            <a:r>
              <a:rPr lang="en-US" altLang="en-US">
                <a:ea typeface="ＭＳ Ｐゴシック" panose="020B0600070205080204" pitchFamily="34" charset="-128"/>
              </a:rPr>
              <a:t>(</a:t>
            </a:r>
            <a:r>
              <a:rPr lang="en-US" altLang="en-US" b="1">
                <a:ea typeface="ＭＳ Ｐゴシック" panose="020B0600070205080204" pitchFamily="34" charset="-128"/>
              </a:rPr>
              <a:t>integrated development environment</a:t>
            </a:r>
            <a:r>
              <a:rPr lang="en-US" altLang="en-US">
                <a:ea typeface="ＭＳ Ｐゴシック" panose="020B0600070205080204" pitchFamily="34" charset="-128"/>
              </a:rPr>
              <a:t>) is a development tool that contains both an editor and compiler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command-line compiler contains only the compiler and requires a separate editor to enter source code </a:t>
            </a:r>
          </a:p>
        </p:txBody>
      </p:sp>
      <p:sp>
        <p:nvSpPr>
          <p:cNvPr id="74755" name="Footer Placeholder 3">
            <a:extLst>
              <a:ext uri="{FF2B5EF4-FFF2-40B4-BE49-F238E27FC236}">
                <a16:creationId xmlns:a16="http://schemas.microsoft.com/office/drawing/2014/main" id="{3A99B2C2-641B-4CE7-A261-BC18C0BEF5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5FCFA99-DCD6-4824-8786-01CAB8B3A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 </a:t>
            </a:r>
          </a:p>
        </p:txBody>
      </p:sp>
      <p:sp>
        <p:nvSpPr>
          <p:cNvPr id="74757" name="Slide Number Placeholder 4">
            <a:extLst>
              <a:ext uri="{FF2B5EF4-FFF2-40B4-BE49-F238E27FC236}">
                <a16:creationId xmlns:a16="http://schemas.microsoft.com/office/drawing/2014/main" id="{48C910E8-EB90-4ADD-AB6E-9D8C0CF33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8B5405-2EE0-4E9F-92E9-68E365C672F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1F58836D-F4BB-4E42-8649-EF2A9675C3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67B7232-A066-4A28-9F1D-E0652330B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</a:t>
            </a:r>
          </a:p>
        </p:txBody>
      </p:sp>
      <p:sp>
        <p:nvSpPr>
          <p:cNvPr id="76804" name="TextBox 9">
            <a:extLst>
              <a:ext uri="{FF2B5EF4-FFF2-40B4-BE49-F238E27FC236}">
                <a16:creationId xmlns:a16="http://schemas.microsoft.com/office/drawing/2014/main" id="{7E9017A3-9395-488B-9F41-C3D558047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5668963"/>
            <a:ext cx="45450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4-20 Process by which source code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is translated into executable code</a:t>
            </a:r>
          </a:p>
        </p:txBody>
      </p:sp>
      <p:sp>
        <p:nvSpPr>
          <p:cNvPr id="76805" name="Slide Number Placeholder 5">
            <a:extLst>
              <a:ext uri="{FF2B5EF4-FFF2-40B4-BE49-F238E27FC236}">
                <a16:creationId xmlns:a16="http://schemas.microsoft.com/office/drawing/2014/main" id="{B8CE3827-61E3-4E44-9EBE-8A0A9770AD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E311EB-704B-477B-AC1E-5B44F3A6AFEE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6806" name="Picture 7">
            <a:extLst>
              <a:ext uri="{FF2B5EF4-FFF2-40B4-BE49-F238E27FC236}">
                <a16:creationId xmlns:a16="http://schemas.microsoft.com/office/drawing/2014/main" id="{CBD820C2-A9EF-4B78-9A28-60504819A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550" y="1363663"/>
            <a:ext cx="3670300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0BADB60F-C296-403F-AA80-379AF865E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6888" y="1676400"/>
            <a:ext cx="8224837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comment</a:t>
            </a:r>
            <a:r>
              <a:rPr lang="en-US" altLang="en-US">
                <a:ea typeface="ＭＳ Ｐゴシック" panose="020B0600070205080204" pitchFamily="34" charset="-128"/>
              </a:rPr>
              <a:t> is a form of internal documentation; written by placing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</a:t>
            </a:r>
            <a:r>
              <a:rPr lang="en-US" altLang="en-US">
                <a:ea typeface="ＭＳ Ｐゴシック" panose="020B0600070205080204" pitchFamily="34" charset="-128"/>
              </a:rPr>
              <a:t> in front of the comment text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Ignored by the compiler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Considered good programming practice; makes code more readable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</a:t>
            </a:r>
            <a:r>
              <a:rPr lang="en-US" altLang="en-US" b="1">
                <a:ea typeface="ＭＳ Ｐゴシック" panose="020B0600070205080204" pitchFamily="34" charset="-128"/>
              </a:rPr>
              <a:t> directive</a:t>
            </a:r>
            <a:r>
              <a:rPr lang="en-US" altLang="en-US">
                <a:ea typeface="ＭＳ Ｐゴシック" panose="020B0600070205080204" pitchFamily="34" charset="-128"/>
              </a:rPr>
              <a:t> allows you to merge the source code in one file with that in another file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 &lt;iostream&gt;</a:t>
            </a:r>
            <a:r>
              <a:rPr lang="en-US" altLang="en-US">
                <a:ea typeface="ＭＳ Ｐゴシック" panose="020B0600070205080204" pitchFamily="34" charset="-128"/>
              </a:rPr>
              <a:t> is required when using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cin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cout</a:t>
            </a:r>
            <a:r>
              <a:rPr lang="en-US" altLang="en-US">
                <a:ea typeface="ＭＳ Ｐゴシック" panose="020B0600070205080204" pitchFamily="34" charset="-128"/>
              </a:rPr>
              <a:t> stream objects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Not a statement, so no semicolon needed at the end</a:t>
            </a:r>
          </a:p>
        </p:txBody>
      </p:sp>
      <p:sp>
        <p:nvSpPr>
          <p:cNvPr id="78851" name="Footer Placeholder 3">
            <a:extLst>
              <a:ext uri="{FF2B5EF4-FFF2-40B4-BE49-F238E27FC236}">
                <a16:creationId xmlns:a16="http://schemas.microsoft.com/office/drawing/2014/main" id="{2A2861BB-A08D-4302-B267-ED21E697F2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F8C6AF9-1A0E-4746-80B2-C5B40B168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 </a:t>
            </a:r>
          </a:p>
        </p:txBody>
      </p:sp>
      <p:sp>
        <p:nvSpPr>
          <p:cNvPr id="78853" name="Slide Number Placeholder 4">
            <a:extLst>
              <a:ext uri="{FF2B5EF4-FFF2-40B4-BE49-F238E27FC236}">
                <a16:creationId xmlns:a16="http://schemas.microsoft.com/office/drawing/2014/main" id="{A5B3E5AD-959C-4A17-B8C6-44A1D7240E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DAAF7E-A3B3-42A4-A452-9280B150FE1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>
            <a:extLst>
              <a:ext uri="{FF2B5EF4-FFF2-40B4-BE49-F238E27FC236}">
                <a16:creationId xmlns:a16="http://schemas.microsoft.com/office/drawing/2014/main" id="{07C069BB-96FE-48A9-A0DF-B31A271518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using</a:t>
            </a:r>
            <a:r>
              <a:rPr lang="en-US" altLang="en-US" b="1">
                <a:ea typeface="ＭＳ Ｐゴシック" panose="020B0600070205080204" pitchFamily="34" charset="-128"/>
              </a:rPr>
              <a:t> directive</a:t>
            </a:r>
            <a:r>
              <a:rPr lang="en-US" altLang="en-US">
                <a:ea typeface="ＭＳ Ｐゴシック" panose="020B0600070205080204" pitchFamily="34" charset="-128"/>
              </a:rPr>
              <a:t> tells the compiler where in internal memory it can find definitions of C++ keywords and classes like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string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using namespace std;</a:t>
            </a:r>
            <a:r>
              <a:rPr lang="en-US" altLang="en-US">
                <a:ea typeface="ＭＳ Ｐゴシック" panose="020B0600070205080204" pitchFamily="34" charset="-128"/>
              </a:rPr>
              <a:t> directive indicates that the definitions of the standard C++ keywords and classes are located in the std (standard) namespace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Is a statement, so semicolon required at the end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namespace is a special area in internal memory</a:t>
            </a:r>
          </a:p>
        </p:txBody>
      </p:sp>
      <p:sp>
        <p:nvSpPr>
          <p:cNvPr id="80899" name="Footer Placeholder 3">
            <a:extLst>
              <a:ext uri="{FF2B5EF4-FFF2-40B4-BE49-F238E27FC236}">
                <a16:creationId xmlns:a16="http://schemas.microsoft.com/office/drawing/2014/main" id="{B3F6FF89-1B7F-496B-9672-41B4493DA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E94F8DD-50B5-432F-BB44-7C2E7824F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</a:t>
            </a:r>
          </a:p>
        </p:txBody>
      </p:sp>
      <p:sp>
        <p:nvSpPr>
          <p:cNvPr id="80901" name="Slide Number Placeholder 4">
            <a:extLst>
              <a:ext uri="{FF2B5EF4-FFF2-40B4-BE49-F238E27FC236}">
                <a16:creationId xmlns:a16="http://schemas.microsoft.com/office/drawing/2014/main" id="{9D1CE4CF-D2D6-4565-B3F1-F0721BA159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92210F-022A-45A6-8B88-66B3356F52F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1A9DFD89-1094-4943-9BD6-6D304948A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function</a:t>
            </a:r>
            <a:r>
              <a:rPr lang="en-US" altLang="en-US">
                <a:ea typeface="ＭＳ Ｐゴシック" panose="020B0600070205080204" pitchFamily="34" charset="-128"/>
              </a:rPr>
              <a:t> is a block of code that performs a task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 have parentheses following their name (Example: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main()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functions require information between the parentheses; others do not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C++ program has one (and only one)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</a:t>
            </a:r>
            <a:r>
              <a:rPr lang="en-US" altLang="en-US">
                <a:ea typeface="ＭＳ Ｐゴシック" panose="020B0600070205080204" pitchFamily="34" charset="-128"/>
              </a:rPr>
              <a:t> function; this is where program execution begins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functions return a value, and the data type they return appears to the left of the function name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 main()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2947" name="Footer Placeholder 3">
            <a:extLst>
              <a:ext uri="{FF2B5EF4-FFF2-40B4-BE49-F238E27FC236}">
                <a16:creationId xmlns:a16="http://schemas.microsoft.com/office/drawing/2014/main" id="{36DEC6A1-DE19-4F15-AC1D-C247C8F7C1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7C6F506-DEB4-49DB-A17A-EDF6DB8A3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</a:t>
            </a:r>
          </a:p>
        </p:txBody>
      </p:sp>
      <p:sp>
        <p:nvSpPr>
          <p:cNvPr id="82949" name="Slide Number Placeholder 4">
            <a:extLst>
              <a:ext uri="{FF2B5EF4-FFF2-40B4-BE49-F238E27FC236}">
                <a16:creationId xmlns:a16="http://schemas.microsoft.com/office/drawing/2014/main" id="{7995FF87-D0F1-4063-B436-C32801C58E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1E425C-5C05-4CDE-BDF4-C2E813BD404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>
            <a:extLst>
              <a:ext uri="{FF2B5EF4-FFF2-40B4-BE49-F238E27FC236}">
                <a16:creationId xmlns:a16="http://schemas.microsoft.com/office/drawing/2014/main" id="{CC5DBDD9-8D8D-4705-A32B-8DB9860A9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4838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 functions do not return a value,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void</a:t>
            </a:r>
            <a:r>
              <a:rPr lang="en-US" altLang="en-US">
                <a:ea typeface="ＭＳ Ｐゴシック" panose="020B0600070205080204" pitchFamily="34" charset="-128"/>
              </a:rPr>
              <a:t> appears to the left of the function name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return type, name, and parameters (information in parentheses) constitute the </a:t>
            </a:r>
            <a:r>
              <a:rPr lang="en-US" altLang="en-US" b="1">
                <a:ea typeface="ＭＳ Ｐゴシック" panose="020B0600070205080204" pitchFamily="34" charset="-128"/>
              </a:rPr>
              <a:t>function header</a:t>
            </a:r>
            <a:r>
              <a:rPr lang="en-US" altLang="en-US">
                <a:ea typeface="ＭＳ Ｐゴシック" panose="020B0600070205080204" pitchFamily="34" charset="-128"/>
              </a:rPr>
              <a:t>, which marks the beginning of the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After the function header, you enter the function’s code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enclose a function’s code in a set of braces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{}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code between the braces is called the </a:t>
            </a:r>
            <a:r>
              <a:rPr lang="en-US" altLang="en-US" b="1">
                <a:ea typeface="ＭＳ Ｐゴシック" panose="020B0600070205080204" pitchFamily="34" charset="-128"/>
              </a:rPr>
              <a:t>function body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4995" name="Footer Placeholder 3">
            <a:extLst>
              <a:ext uri="{FF2B5EF4-FFF2-40B4-BE49-F238E27FC236}">
                <a16:creationId xmlns:a16="http://schemas.microsoft.com/office/drawing/2014/main" id="{49B08D4C-979D-441D-A840-8AA2563AEE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1865978-EA61-4E5C-AC0B-2CD4C0D8D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</a:t>
            </a:r>
          </a:p>
        </p:txBody>
      </p:sp>
      <p:sp>
        <p:nvSpPr>
          <p:cNvPr id="84997" name="Slide Number Placeholder 4">
            <a:extLst>
              <a:ext uri="{FF2B5EF4-FFF2-40B4-BE49-F238E27FC236}">
                <a16:creationId xmlns:a16="http://schemas.microsoft.com/office/drawing/2014/main" id="{E8BEEAF3-2B68-42E7-9FCF-9F23033D06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F4523B-4F5C-4D1C-A3B7-FB875C1D6617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>
            <a:extLst>
              <a:ext uri="{FF2B5EF4-FFF2-40B4-BE49-F238E27FC236}">
                <a16:creationId xmlns:a16="http://schemas.microsoft.com/office/drawing/2014/main" id="{3FCC68E0-C0C8-4F95-8719-4BBE217107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7A5F058-E430-4A10-B32F-F5467E5A0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Step 6–Evaluate and Modify the Program (cont’d.)</a:t>
            </a:r>
          </a:p>
        </p:txBody>
      </p:sp>
      <p:sp>
        <p:nvSpPr>
          <p:cNvPr id="87044" name="TextBox 9">
            <a:extLst>
              <a:ext uri="{FF2B5EF4-FFF2-40B4-BE49-F238E27FC236}">
                <a16:creationId xmlns:a16="http://schemas.microsoft.com/office/drawing/2014/main" id="{C827EB3B-BD33-416F-A909-FFC8C59BB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00" y="5880100"/>
            <a:ext cx="4032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4-21 Addison O’Reilly program</a:t>
            </a:r>
          </a:p>
        </p:txBody>
      </p:sp>
      <p:sp>
        <p:nvSpPr>
          <p:cNvPr id="87045" name="Slide Number Placeholder 6">
            <a:extLst>
              <a:ext uri="{FF2B5EF4-FFF2-40B4-BE49-F238E27FC236}">
                <a16:creationId xmlns:a16="http://schemas.microsoft.com/office/drawing/2014/main" id="{46A72103-2042-433D-A5F7-9BDBF6CFF1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3A611F-CB5B-4B82-BACA-0D746D39D3A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7046" name="Picture 8">
            <a:extLst>
              <a:ext uri="{FF2B5EF4-FFF2-40B4-BE49-F238E27FC236}">
                <a16:creationId xmlns:a16="http://schemas.microsoft.com/office/drawing/2014/main" id="{591C917B-EAD7-4C3E-A810-51EBB7B5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295400"/>
            <a:ext cx="4821237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3">
            <a:extLst>
              <a:ext uri="{FF2B5EF4-FFF2-40B4-BE49-F238E27FC236}">
                <a16:creationId xmlns:a16="http://schemas.microsoft.com/office/drawing/2014/main" id="{E963A8AD-DE36-4157-B741-7A42889C9B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9A6EDBC-1C42-43B4-A14F-7B8A24C43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Step 6–Evaluate and Modify the Program (cont’d.)</a:t>
            </a:r>
          </a:p>
        </p:txBody>
      </p:sp>
      <p:sp>
        <p:nvSpPr>
          <p:cNvPr id="89092" name="TextBox 9">
            <a:extLst>
              <a:ext uri="{FF2B5EF4-FFF2-40B4-BE49-F238E27FC236}">
                <a16:creationId xmlns:a16="http://schemas.microsoft.com/office/drawing/2014/main" id="{72316B31-D2B4-4D81-B2BC-5FA23638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5140325"/>
            <a:ext cx="412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4-22 Command Prompt window</a:t>
            </a:r>
          </a:p>
        </p:txBody>
      </p:sp>
      <p:sp>
        <p:nvSpPr>
          <p:cNvPr id="89093" name="Slide Number Placeholder 5">
            <a:extLst>
              <a:ext uri="{FF2B5EF4-FFF2-40B4-BE49-F238E27FC236}">
                <a16:creationId xmlns:a16="http://schemas.microsoft.com/office/drawing/2014/main" id="{4BF88776-5BE1-4857-AAB0-A60931447D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511C04-9427-4B31-AB97-A5951B74150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9094" name="Picture 7">
            <a:extLst>
              <a:ext uri="{FF2B5EF4-FFF2-40B4-BE49-F238E27FC236}">
                <a16:creationId xmlns:a16="http://schemas.microsoft.com/office/drawing/2014/main" id="{615F531C-8D11-4B16-A487-5AD91F578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2039938"/>
            <a:ext cx="8088312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>
            <a:extLst>
              <a:ext uri="{FF2B5EF4-FFF2-40B4-BE49-F238E27FC236}">
                <a16:creationId xmlns:a16="http://schemas.microsoft.com/office/drawing/2014/main" id="{3EDCB37F-47F8-4605-BFA6-D10F06F51C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Fourth step in problem-solving process is coding the algorithm into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C++ uses stream objects for standard input/output operations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cin</a:t>
            </a:r>
            <a:r>
              <a:rPr lang="en-US" altLang="en-US">
                <a:ea typeface="ＭＳ Ｐゴシック" panose="020B0600070205080204" pitchFamily="34" charset="-128"/>
              </a:rPr>
              <a:t> with extraction operator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&gt;&gt;</a:t>
            </a:r>
            <a:r>
              <a:rPr lang="en-US" altLang="en-US">
                <a:ea typeface="ＭＳ Ｐゴシック" panose="020B0600070205080204" pitchFamily="34" charset="-128"/>
              </a:rPr>
              <a:t>) to get numeric or character data from the keyboard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cout</a:t>
            </a:r>
            <a:r>
              <a:rPr lang="en-US" altLang="en-US">
                <a:ea typeface="ＭＳ Ｐゴシック" panose="020B0600070205080204" pitchFamily="34" charset="-128"/>
              </a:rPr>
              <a:t> with insertion operator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&lt;&lt;</a:t>
            </a:r>
            <a:r>
              <a:rPr lang="en-US" altLang="en-US">
                <a:ea typeface="ＭＳ Ｐゴシック" panose="020B0600070205080204" pitchFamily="34" charset="-128"/>
              </a:rPr>
              <a:t>) to display information on the screen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endl</a:t>
            </a:r>
            <a:r>
              <a:rPr lang="en-US" altLang="en-US">
                <a:ea typeface="ＭＳ Ｐゴシック" panose="020B0600070205080204" pitchFamily="34" charset="-128"/>
              </a:rPr>
              <a:t> stream manipulator advances cursor to next line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1139" name="Footer Placeholder 3">
            <a:extLst>
              <a:ext uri="{FF2B5EF4-FFF2-40B4-BE49-F238E27FC236}">
                <a16:creationId xmlns:a16="http://schemas.microsoft.com/office/drawing/2014/main" id="{901A7E6D-7E3C-400D-A160-A6B852D60D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5D2BFE3D-983D-4AAF-871F-F59116D46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91141" name="Slide Number Placeholder 4">
            <a:extLst>
              <a:ext uri="{FF2B5EF4-FFF2-40B4-BE49-F238E27FC236}">
                <a16:creationId xmlns:a16="http://schemas.microsoft.com/office/drawing/2014/main" id="{85377C36-D77C-47C8-AF93-764436DF0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ED1828-E07E-4729-8712-8F1C77276D3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>
            <a:extLst>
              <a:ext uri="{FF2B5EF4-FFF2-40B4-BE49-F238E27FC236}">
                <a16:creationId xmlns:a16="http://schemas.microsoft.com/office/drawing/2014/main" id="{EA13A220-5948-4B43-98D1-199A1293D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do calculations by writing arithmetic expressions using arithmetic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operator has a precedence: determines the order of evaluation in an expression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Parentheses are used to override this order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Compiler implicitly casts data types when possible, but you should explicitly cast to ensure correctness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static_cast</a:t>
            </a:r>
            <a:r>
              <a:rPr lang="en-US" altLang="en-US">
                <a:ea typeface="ＭＳ Ｐゴシック" panose="020B0600070205080204" pitchFamily="34" charset="-128"/>
              </a:rPr>
              <a:t> operator to explicitly cast variables from one data type to another</a:t>
            </a:r>
          </a:p>
        </p:txBody>
      </p:sp>
      <p:sp>
        <p:nvSpPr>
          <p:cNvPr id="93187" name="Footer Placeholder 3">
            <a:extLst>
              <a:ext uri="{FF2B5EF4-FFF2-40B4-BE49-F238E27FC236}">
                <a16:creationId xmlns:a16="http://schemas.microsoft.com/office/drawing/2014/main" id="{784E2915-2C91-4C70-8F05-7A95BD69BC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A664BC94-435B-4AF3-817C-EFC4E8AE3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93189" name="Slide Number Placeholder 4">
            <a:extLst>
              <a:ext uri="{FF2B5EF4-FFF2-40B4-BE49-F238E27FC236}">
                <a16:creationId xmlns:a16="http://schemas.microsoft.com/office/drawing/2014/main" id="{5EE4CF58-EF5E-4528-884C-F739B2C6A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D41BEF-C48A-4962-9E3A-BAFA5A5D4BE4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59AA56A8-8977-4C84-80B5-C658F41A0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assignment statement assigns a value to a variable during runtime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expression on the right side of the assignment operator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</a:t>
            </a:r>
            <a:r>
              <a:rPr lang="en-US" altLang="en-US">
                <a:ea typeface="ＭＳ Ｐゴシック" panose="020B0600070205080204" pitchFamily="34" charset="-128"/>
              </a:rPr>
              <a:t>) in an assignment statement is stored in the variable on its left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Fifth step of the problem-solving process is to desk-check the program using the same data used to desk-check the algorithm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sixth step is to evaluate and modify (if necessary) the program</a:t>
            </a:r>
          </a:p>
        </p:txBody>
      </p:sp>
      <p:sp>
        <p:nvSpPr>
          <p:cNvPr id="95235" name="Footer Placeholder 3">
            <a:extLst>
              <a:ext uri="{FF2B5EF4-FFF2-40B4-BE49-F238E27FC236}">
                <a16:creationId xmlns:a16="http://schemas.microsoft.com/office/drawing/2014/main" id="{24FF5A46-F8D4-49C8-8450-DE4A35F193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2CC1F230-7596-4F15-B5BE-008185229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95237" name="Slide Number Placeholder 4">
            <a:extLst>
              <a:ext uri="{FF2B5EF4-FFF2-40B4-BE49-F238E27FC236}">
                <a16:creationId xmlns:a16="http://schemas.microsoft.com/office/drawing/2014/main" id="{7588F1B7-8F56-47A0-A678-0A1177F1CD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ECEF29-C383-43DA-8F65-D97CD4B9BDC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>
            <a:extLst>
              <a:ext uri="{FF2B5EF4-FFF2-40B4-BE49-F238E27FC236}">
                <a16:creationId xmlns:a16="http://schemas.microsoft.com/office/drawing/2014/main" id="{5F5B41AC-07AD-49C3-B1A7-A395FB05DB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Errors (called bugs) can either be syntax errors or logic errors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need a text editor and compiler to enter C++ instructions and compile them into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C++ instructions are called source code and are saved in source files with the extension .cpp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compiler translates source code into machine code, also called object code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linker produces an executable file that contains all machine code necessary to run a C++ program </a:t>
            </a:r>
          </a:p>
        </p:txBody>
      </p:sp>
      <p:sp>
        <p:nvSpPr>
          <p:cNvPr id="97283" name="Footer Placeholder 3">
            <a:extLst>
              <a:ext uri="{FF2B5EF4-FFF2-40B4-BE49-F238E27FC236}">
                <a16:creationId xmlns:a16="http://schemas.microsoft.com/office/drawing/2014/main" id="{D3FA47D9-2D43-42BD-9478-22266B4834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BEC690AA-4393-4304-B1C1-D91AF9461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29E82444-C1A4-402E-8B21-06E3004620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CE7D5F-E199-4339-9954-2C731C7BBB0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>
            <a:extLst>
              <a:ext uri="{FF2B5EF4-FFF2-40B4-BE49-F238E27FC236}">
                <a16:creationId xmlns:a16="http://schemas.microsoft.com/office/drawing/2014/main" id="{C99448FD-796C-4901-9A8B-F8E931E369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Programmers use comments to document a program internally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Comments are not processed by the compiler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 &lt;</a:t>
            </a:r>
            <a:r>
              <a:rPr lang="en-US" altLang="en-US" i="1">
                <a:ea typeface="ＭＳ Ｐゴシック" panose="020B0600070205080204" pitchFamily="34" charset="-128"/>
                <a:cs typeface="Courier New" panose="02070309020205020404" pitchFamily="49" charset="0"/>
              </a:rPr>
              <a:t>filename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</a:t>
            </a:r>
            <a:r>
              <a:rPr lang="en-US" altLang="en-US">
                <a:ea typeface="ＭＳ Ｐゴシック" panose="020B0600070205080204" pitchFamily="34" charset="-128"/>
              </a:rPr>
              <a:t> directive allows you to include multiple source files in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using namespace std;</a:t>
            </a:r>
            <a:r>
              <a:rPr lang="en-US" altLang="en-US">
                <a:ea typeface="ＭＳ Ｐゴシック" panose="020B0600070205080204" pitchFamily="34" charset="-128"/>
              </a:rPr>
              <a:t> directive tells the compiler where definitions of standard C++ keywords and classes are in internal memory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namespace is a special area in the computer’s internal memory</a:t>
            </a:r>
          </a:p>
        </p:txBody>
      </p:sp>
      <p:sp>
        <p:nvSpPr>
          <p:cNvPr id="99331" name="Footer Placeholder 3">
            <a:extLst>
              <a:ext uri="{FF2B5EF4-FFF2-40B4-BE49-F238E27FC236}">
                <a16:creationId xmlns:a16="http://schemas.microsoft.com/office/drawing/2014/main" id="{7B92FD77-60B6-4B23-BC06-043283602F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1390B29C-0CDE-40EB-8D03-4EDA7DEC4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99333" name="Slide Number Placeholder 4">
            <a:extLst>
              <a:ext uri="{FF2B5EF4-FFF2-40B4-BE49-F238E27FC236}">
                <a16:creationId xmlns:a16="http://schemas.microsoft.com/office/drawing/2014/main" id="{9D71C380-B290-4D2D-B2A6-8C05B1689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8CE77C-49DA-4B70-9E49-A3D616D956E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>
            <a:extLst>
              <a:ext uri="{FF2B5EF4-FFF2-40B4-BE49-F238E27FC236}">
                <a16:creationId xmlns:a16="http://schemas.microsoft.com/office/drawing/2014/main" id="{56CF409A-90DA-4CFE-9FF7-17D52DBAD1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5775" y="1676400"/>
            <a:ext cx="82486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Execution of every C++ program begins with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main()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first line of a function is the function header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function body follows the header and is enclosed in braces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functions return a data type; others return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void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Arithmetic assignment operators can be used to abbreviate certain assignment statements with arithmetic operators in them 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1379" name="Footer Placeholder 3">
            <a:extLst>
              <a:ext uri="{FF2B5EF4-FFF2-40B4-BE49-F238E27FC236}">
                <a16:creationId xmlns:a16="http://schemas.microsoft.com/office/drawing/2014/main" id="{27D316F2-BF9D-4041-A2F7-83CDC5303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95DBC843-AE20-41C1-8D8D-DE8C9DBAF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1381" name="Slide Number Placeholder 4">
            <a:extLst>
              <a:ext uri="{FF2B5EF4-FFF2-40B4-BE49-F238E27FC236}">
                <a16:creationId xmlns:a16="http://schemas.microsoft.com/office/drawing/2014/main" id="{4CC03560-5364-432C-99C2-63EF0DB163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B9BC5D-A799-4F18-A32D-A1C219DF14C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6D6EA2B5-91DD-4DB6-BDFB-BC7C1A8428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C9BE092D-4AF6-4C10-BDDE-B3B1522B1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4525" y="16192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4-1: Stop and Analyze</a:t>
            </a:r>
          </a:p>
        </p:txBody>
      </p:sp>
      <p:sp>
        <p:nvSpPr>
          <p:cNvPr id="103428" name="TextBox 7">
            <a:extLst>
              <a:ext uri="{FF2B5EF4-FFF2-40B4-BE49-F238E27FC236}">
                <a16:creationId xmlns:a16="http://schemas.microsoft.com/office/drawing/2014/main" id="{B26DDEEB-8B08-49E3-8B60-55C22AF99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88" y="5943600"/>
            <a:ext cx="358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4-23 Examples for Lab 4-1</a:t>
            </a:r>
          </a:p>
        </p:txBody>
      </p:sp>
      <p:sp>
        <p:nvSpPr>
          <p:cNvPr id="103429" name="Slide Number Placeholder 5">
            <a:extLst>
              <a:ext uri="{FF2B5EF4-FFF2-40B4-BE49-F238E27FC236}">
                <a16:creationId xmlns:a16="http://schemas.microsoft.com/office/drawing/2014/main" id="{124C53D1-0ED4-4195-B3AE-0A5DC6AF01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B2903C-EC11-4729-B49F-507D68EC7135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3430" name="Picture 7">
            <a:extLst>
              <a:ext uri="{FF2B5EF4-FFF2-40B4-BE49-F238E27FC236}">
                <a16:creationId xmlns:a16="http://schemas.microsoft.com/office/drawing/2014/main" id="{AB4B7AE8-6DF2-45DF-A147-5158681F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1308100"/>
            <a:ext cx="59563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Content Placeholder 5">
            <a:extLst>
              <a:ext uri="{FF2B5EF4-FFF2-40B4-BE49-F238E27FC236}">
                <a16:creationId xmlns:a16="http://schemas.microsoft.com/office/drawing/2014/main" id="{4B24AFC3-AC3F-4EF8-A882-8C3E932C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In Chapter 3’s Lab 3-2, you planned, created, and desk-checked an algorithm that displays 10% commission on a sales amount. Figure 4-24 shows the algorithm, along with the input and output items and their corresponding C++ statements.  It also includes the desk-check table you completed in Lab 3-2.</a:t>
            </a:r>
          </a:p>
          <a:p>
            <a:pPr eaLnBrk="1" hangingPunct="1">
              <a:buFontTx/>
              <a:buNone/>
            </a:pPr>
            <a:endParaRPr lang="en-US" altLang="en-US" sz="120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Figure 4-25 shows the completed IPO chart and C++ instructions for Lab 4-2.</a:t>
            </a:r>
          </a:p>
          <a:p>
            <a:pPr eaLnBrk="1" hangingPunct="1">
              <a:buFontTx/>
              <a:buNone/>
            </a:pPr>
            <a:endParaRPr lang="en-US" altLang="en-US" sz="120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Figure 4-27 shows the completed commission program.</a:t>
            </a:r>
          </a:p>
        </p:txBody>
      </p:sp>
      <p:sp>
        <p:nvSpPr>
          <p:cNvPr id="105475" name="Footer Placeholder 3">
            <a:extLst>
              <a:ext uri="{FF2B5EF4-FFF2-40B4-BE49-F238E27FC236}">
                <a16:creationId xmlns:a16="http://schemas.microsoft.com/office/drawing/2014/main" id="{58FF3229-AEE3-42E9-98F8-512B083A71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6F261598-B5FB-45E5-87D5-9F4ECD682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4-2: Plan and Create</a:t>
            </a:r>
          </a:p>
        </p:txBody>
      </p:sp>
      <p:sp>
        <p:nvSpPr>
          <p:cNvPr id="105477" name="Slide Number Placeholder 6">
            <a:extLst>
              <a:ext uri="{FF2B5EF4-FFF2-40B4-BE49-F238E27FC236}">
                <a16:creationId xmlns:a16="http://schemas.microsoft.com/office/drawing/2014/main" id="{9B052B2F-7995-470F-81A0-464249C23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3A74B6-B81F-404D-8BBC-2523A3DF150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Content Placeholder 5">
            <a:extLst>
              <a:ext uri="{FF2B5EF4-FFF2-40B4-BE49-F238E27FC236}">
                <a16:creationId xmlns:a16="http://schemas.microsoft.com/office/drawing/2014/main" id="{9C117B67-B533-4141-982C-CF98D7FBD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0" y="5740400"/>
            <a:ext cx="5283200" cy="4699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    Figure 4-27  Commission program</a:t>
            </a:r>
          </a:p>
        </p:txBody>
      </p:sp>
      <p:sp>
        <p:nvSpPr>
          <p:cNvPr id="107523" name="Footer Placeholder 3">
            <a:extLst>
              <a:ext uri="{FF2B5EF4-FFF2-40B4-BE49-F238E27FC236}">
                <a16:creationId xmlns:a16="http://schemas.microsoft.com/office/drawing/2014/main" id="{D03DA7AB-2807-4278-AE2B-19BC82674B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E21F0D23-0967-456D-8850-B4FC2F625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4-2: Plan and Create (cont’d.)</a:t>
            </a:r>
          </a:p>
        </p:txBody>
      </p:sp>
      <p:sp>
        <p:nvSpPr>
          <p:cNvPr id="107525" name="Slide Number Placeholder 6">
            <a:extLst>
              <a:ext uri="{FF2B5EF4-FFF2-40B4-BE49-F238E27FC236}">
                <a16:creationId xmlns:a16="http://schemas.microsoft.com/office/drawing/2014/main" id="{878AA0FD-B039-4FE4-8ABF-DD8774E113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116451-5573-4E60-87B6-65095AEDD8CE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7526" name="Picture 3">
            <a:extLst>
              <a:ext uri="{FF2B5EF4-FFF2-40B4-BE49-F238E27FC236}">
                <a16:creationId xmlns:a16="http://schemas.microsoft.com/office/drawing/2014/main" id="{A11D372A-24D2-4465-BA39-5764FF935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1298575"/>
            <a:ext cx="5387975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Content Placeholder 5">
            <a:extLst>
              <a:ext uri="{FF2B5EF4-FFF2-40B4-BE49-F238E27FC236}">
                <a16:creationId xmlns:a16="http://schemas.microsoft.com/office/drawing/2014/main" id="{99E15804-263F-4E1E-8B1C-06F252C75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Modify the program in Lab 4-2 to allow the user to enter the commission rate (in decimal form).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twice. For the first test, use 1328.50 and .1 as the sales amount and commission rate.  For the second test, use 267.90 and .15.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9571" name="Footer Placeholder 3">
            <a:extLst>
              <a:ext uri="{FF2B5EF4-FFF2-40B4-BE49-F238E27FC236}">
                <a16:creationId xmlns:a16="http://schemas.microsoft.com/office/drawing/2014/main" id="{627812F4-4F1D-455A-9D32-1DC07F1B6B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BD6418F2-01B6-4BBA-997D-34815F19C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4-3: Modify</a:t>
            </a:r>
          </a:p>
        </p:txBody>
      </p:sp>
      <p:sp>
        <p:nvSpPr>
          <p:cNvPr id="109573" name="Slide Number Placeholder 4">
            <a:extLst>
              <a:ext uri="{FF2B5EF4-FFF2-40B4-BE49-F238E27FC236}">
                <a16:creationId xmlns:a16="http://schemas.microsoft.com/office/drawing/2014/main" id="{3480AB6D-F227-405B-8331-81C48E8EEC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76BFC4-48A0-4754-8040-221FEE6288F5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Content Placeholder 5">
            <a:extLst>
              <a:ext uri="{FF2B5EF4-FFF2-40B4-BE49-F238E27FC236}">
                <a16:creationId xmlns:a16="http://schemas.microsoft.com/office/drawing/2014/main" id="{7F105655-83DC-428C-9617-A85C26C15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0200"/>
            <a:ext cx="80772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The program in this lab should calculate and display the volume of a cylinder, given the cylinder’s radius (r) and height (h), and using 3.14 as the value of pi.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1619" name="Footer Placeholder 3">
            <a:extLst>
              <a:ext uri="{FF2B5EF4-FFF2-40B4-BE49-F238E27FC236}">
                <a16:creationId xmlns:a16="http://schemas.microsoft.com/office/drawing/2014/main" id="{080ECC4D-6CE3-4D55-A63C-BD2CBD6139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id="{61122FA4-8C5F-479C-BE96-D335A4293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4-4: What’s Missing?</a:t>
            </a:r>
          </a:p>
        </p:txBody>
      </p:sp>
      <p:sp>
        <p:nvSpPr>
          <p:cNvPr id="111621" name="Slide Number Placeholder 6">
            <a:extLst>
              <a:ext uri="{FF2B5EF4-FFF2-40B4-BE49-F238E27FC236}">
                <a16:creationId xmlns:a16="http://schemas.microsoft.com/office/drawing/2014/main" id="{D38F3046-2777-4ED1-ADA4-7AD8829D91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235647-48E2-4255-B939-2320CF2ED467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Content Placeholder 5">
            <a:extLst>
              <a:ext uri="{FF2B5EF4-FFF2-40B4-BE49-F238E27FC236}">
                <a16:creationId xmlns:a16="http://schemas.microsoft.com/office/drawing/2014/main" id="{2AE3CF12-FB6B-4FE4-B1BA-8324E951C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24000"/>
            <a:ext cx="8077200" cy="965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Desk-check the seven lines of code shown in Figure 4.28 below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                                      </a:t>
            </a:r>
          </a:p>
        </p:txBody>
      </p:sp>
      <p:sp>
        <p:nvSpPr>
          <p:cNvPr id="113667" name="Footer Placeholder 3">
            <a:extLst>
              <a:ext uri="{FF2B5EF4-FFF2-40B4-BE49-F238E27FC236}">
                <a16:creationId xmlns:a16="http://schemas.microsoft.com/office/drawing/2014/main" id="{1ACE261B-7E9B-4B7F-973A-F60867F86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60DBAB6-3D2C-4B22-8342-4F9F8EF38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4-5: Desk-Check</a:t>
            </a:r>
          </a:p>
        </p:txBody>
      </p:sp>
      <p:sp>
        <p:nvSpPr>
          <p:cNvPr id="113669" name="Slide Number Placeholder 4">
            <a:extLst>
              <a:ext uri="{FF2B5EF4-FFF2-40B4-BE49-F238E27FC236}">
                <a16:creationId xmlns:a16="http://schemas.microsoft.com/office/drawing/2014/main" id="{FE8A6D83-E370-4F67-9389-F8105CA11E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27C58B-0A0C-4D49-BEA6-C3352B7C5A6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13670" name="Picture 6">
            <a:extLst>
              <a:ext uri="{FF2B5EF4-FFF2-40B4-BE49-F238E27FC236}">
                <a16:creationId xmlns:a16="http://schemas.microsoft.com/office/drawing/2014/main" id="{7DD15222-0485-4F51-8902-73AF149CB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714625"/>
            <a:ext cx="3194050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Content Placeholder 5">
            <a:extLst>
              <a:ext uri="{FF2B5EF4-FFF2-40B4-BE49-F238E27FC236}">
                <a16:creationId xmlns:a16="http://schemas.microsoft.com/office/drawing/2014/main" id="{F15183F9-E96A-43F3-8CE0-FC78CB1E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24000"/>
            <a:ext cx="8077200" cy="14351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Following the instructions for Lab 4-6.  The program should calculate and display the area of a triangle, but it is not working properly.  Run and debug the program.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                                      </a:t>
            </a:r>
          </a:p>
        </p:txBody>
      </p:sp>
      <p:sp>
        <p:nvSpPr>
          <p:cNvPr id="115715" name="Footer Placeholder 3">
            <a:extLst>
              <a:ext uri="{FF2B5EF4-FFF2-40B4-BE49-F238E27FC236}">
                <a16:creationId xmlns:a16="http://schemas.microsoft.com/office/drawing/2014/main" id="{A27DB227-6681-4472-9FC6-682F9C8B5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6D68CA74-03AC-40EE-877D-2A1658F28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4-6: Debug</a:t>
            </a:r>
          </a:p>
        </p:txBody>
      </p:sp>
      <p:sp>
        <p:nvSpPr>
          <p:cNvPr id="115717" name="Slide Number Placeholder 4">
            <a:extLst>
              <a:ext uri="{FF2B5EF4-FFF2-40B4-BE49-F238E27FC236}">
                <a16:creationId xmlns:a16="http://schemas.microsoft.com/office/drawing/2014/main" id="{FABEAB97-9A2D-49EE-8182-C4A80BCB60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854789-89E5-45E0-A10D-809F37BDD8BC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ak C++ 7e PPT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Zak C++ 7e PPT</Template>
  <TotalTime>0</TotalTime>
  <Words>3101</Words>
  <Application>Microsoft Office PowerPoint</Application>
  <PresentationFormat>On-screen Show (4:3)</PresentationFormat>
  <Paragraphs>408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ＭＳ Ｐゴシック</vt:lpstr>
      <vt:lpstr>Arial</vt:lpstr>
      <vt:lpstr>Calibri</vt:lpstr>
      <vt:lpstr>Courier New</vt:lpstr>
      <vt:lpstr>Times New Roman</vt:lpstr>
      <vt:lpstr>Trebuchet MS</vt:lpstr>
      <vt:lpstr>Zak C++ 7e PPT</vt:lpstr>
      <vt:lpstr>Chapter 4: Completing the Problem-Solving Process</vt:lpstr>
      <vt:lpstr>Objectives</vt:lpstr>
      <vt:lpstr>Finishing Step 4 in the Problem-Solving Process</vt:lpstr>
      <vt:lpstr>Finishing Step 4 in the Problem-Solving Process (cont’d.)</vt:lpstr>
      <vt:lpstr>Getting Data from the Keyboard</vt:lpstr>
      <vt:lpstr>Getting Data from the Keyboard (cont’d.)</vt:lpstr>
      <vt:lpstr>Getting Data from the Keyboard (cont’d.)</vt:lpstr>
      <vt:lpstr>Getting Data from the Keyboard (cont’d.)</vt:lpstr>
      <vt:lpstr>Displaying Messages on the Computer Screen</vt:lpstr>
      <vt:lpstr>Displaying Messages on the Computer Screen (cont’d.)</vt:lpstr>
      <vt:lpstr>Displaying Messages on the Computer Screen (cont’d.)</vt:lpstr>
      <vt:lpstr>Displaying Messages on the Computer Screen (cont’d.)</vt:lpstr>
      <vt:lpstr>Arithmetic Operators in C++</vt:lpstr>
      <vt:lpstr>Arithmetic Operators in C++ (cont’d.)</vt:lpstr>
      <vt:lpstr>Arithmetic Operators in C++ (cont’d.) </vt:lpstr>
      <vt:lpstr>Arithmetic Operators in C++ (cont’d.)</vt:lpstr>
      <vt:lpstr>Type Conversions in Arithmetic Expressions</vt:lpstr>
      <vt:lpstr>Type Conversions in Arithmetic Expressions (cont’d.)</vt:lpstr>
      <vt:lpstr>The static_cast Operator</vt:lpstr>
      <vt:lpstr>The static_cast Operator (cont’d.)</vt:lpstr>
      <vt:lpstr>The static_cast Operator (cont’d.)</vt:lpstr>
      <vt:lpstr>Assignment Statements</vt:lpstr>
      <vt:lpstr>Assignment Statements (cont’d.)</vt:lpstr>
      <vt:lpstr>Assignment Statements (cont’d.)</vt:lpstr>
      <vt:lpstr>Assignment Statements (cont’d.)</vt:lpstr>
      <vt:lpstr>Arithmetic Assignment Operators</vt:lpstr>
      <vt:lpstr>Arithmetic Assignment Operators (cont’d)</vt:lpstr>
      <vt:lpstr>Step 5–Desk-Check the Program</vt:lpstr>
      <vt:lpstr>Step 5–Desk-Check the Program (cont’d.)</vt:lpstr>
      <vt:lpstr>Step 5–Desk-Check the Program (cont’d.)</vt:lpstr>
      <vt:lpstr>Step 5–Desk-Check the Program (cont’d.)</vt:lpstr>
      <vt:lpstr>Step 6–Evaluate and Modify the Program </vt:lpstr>
      <vt:lpstr>Step 6–Evaluate and Modify the Program (cont’d.)</vt:lpstr>
      <vt:lpstr>Step 6–Evaluate and Modify the Program (cont’d.) </vt:lpstr>
      <vt:lpstr>Step 6–Evaluate and Modify the Program (cont’d.)</vt:lpstr>
      <vt:lpstr>Step 6–Evaluate and Modify the Program (cont’d.) </vt:lpstr>
      <vt:lpstr>Step 6–Evaluate and Modify the Program (cont’d.)</vt:lpstr>
      <vt:lpstr>Step 6–Evaluate and Modify the Program (cont’d.)</vt:lpstr>
      <vt:lpstr>Step 6–Evaluate and Modify the Program (cont’d.)</vt:lpstr>
      <vt:lpstr>Step 6–Evaluate and Modify the Program (cont’d.)</vt:lpstr>
      <vt:lpstr>Step 6–Evaluate and Modify the Program (cont’d.)</vt:lpstr>
      <vt:lpstr>Summary</vt:lpstr>
      <vt:lpstr>Summary (cont’d.)</vt:lpstr>
      <vt:lpstr>Summary (cont’d.)</vt:lpstr>
      <vt:lpstr>Summary (cont’d.)</vt:lpstr>
      <vt:lpstr>Summary (cont’d.)</vt:lpstr>
      <vt:lpstr>Summary (cont’d.)</vt:lpstr>
      <vt:lpstr>Lab 4-1: Stop and Analyze</vt:lpstr>
      <vt:lpstr>Lab 4-2: Plan and Create</vt:lpstr>
      <vt:lpstr>Lab 4-2: Plan and Create (cont’d.)</vt:lpstr>
      <vt:lpstr>Lab 4-3: Modify</vt:lpstr>
      <vt:lpstr>Lab 4-4: What’s Missing?</vt:lpstr>
      <vt:lpstr>Lab 4-5: Desk-Check</vt:lpstr>
      <vt:lpstr>Lab 4-6: Debug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2012-07-19T19:34:52Z</dcterms:created>
  <dcterms:modified xsi:type="dcterms:W3CDTF">2020-07-14T20:59:36Z</dcterms:modified>
</cp:coreProperties>
</file>