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02" y="3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A800C-038D-4E2A-9381-276040FFD139}" type="datetimeFigureOut">
              <a:rPr lang="en-US" smtClean="0"/>
              <a:t>7/15/2020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9BABC-1D0D-4044-A34A-B5FD228318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595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29BABC-1D0D-4044-A34A-B5FD2283188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383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4B39C9-31FF-44E1-B202-807CBAA2F1A0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CC50-6A96-4F2E-89A6-82D37E64B651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6C154B-4502-4B53-9C86-4E5753E6FAC9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B0F4F-2DFB-49FC-88D1-10751B8D8BE4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D5F05-DC74-46AF-84F2-15CC44757885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4966A-E06F-4711-8B9D-A443EB714C40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528E-5F02-469D-8225-15EDE6E21412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093C50-0030-4A78-9F90-200D5F25C1AF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CD89-91F6-438F-8B47-AFF1FE6EFF1C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E9A49-A152-4511-BF41-FA9DE34204A9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97F7F03-65F4-4BF4-AEBE-4DC464840440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BBD0310-8C68-4ACC-8BE1-136B649CEFCD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4 Key terms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3538374"/>
            <a:ext cx="4114800" cy="26003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69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#include directive?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50" y="2558256"/>
            <a:ext cx="4381500" cy="29241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49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#include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375108" cy="3678303"/>
          </a:xfrm>
        </p:spPr>
        <p:txBody>
          <a:bodyPr>
            <a:normAutofit/>
          </a:bodyPr>
          <a:lstStyle/>
          <a:p>
            <a:r>
              <a:rPr lang="en-US" sz="2800" dirty="0"/>
              <a:t>Tells the computer to merge the source code from one file with the source code from another file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9" y="2497171"/>
            <a:ext cx="4572000" cy="3044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45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% - (not the percent sign!)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655" y="2181225"/>
            <a:ext cx="3476690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3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sz="3600" dirty="0"/>
              <a:t>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4854408" cy="3678303"/>
          </a:xfrm>
        </p:spPr>
        <p:txBody>
          <a:bodyPr>
            <a:normAutofit/>
          </a:bodyPr>
          <a:lstStyle/>
          <a:p>
            <a:r>
              <a:rPr lang="en-US" sz="3200" dirty="0"/>
              <a:t>Modulus (remainder) operator</a:t>
            </a:r>
          </a:p>
          <a:p>
            <a:r>
              <a:rPr lang="en-US" sz="3200" dirty="0"/>
              <a:t>Divides two integers and returns the remainder as an integer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878906"/>
            <a:ext cx="4848854" cy="544235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&lt;&lt;?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&lt;&lt;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4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&lt;&lt;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Insertion operator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255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&gt;&gt;?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Extraction operator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1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Arithmetic assignment operators?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174" y="2623518"/>
            <a:ext cx="2793651" cy="279365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49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40766"/>
          </a:xfrm>
        </p:spPr>
        <p:txBody>
          <a:bodyPr>
            <a:noAutofit/>
          </a:bodyPr>
          <a:lstStyle/>
          <a:p>
            <a:r>
              <a:rPr lang="en-US" sz="3200" b="1" dirty="0"/>
              <a:t>Have both the assignment and arithmetic operator together; </a:t>
            </a:r>
          </a:p>
          <a:p>
            <a:r>
              <a:rPr lang="en-US" sz="3200" b="1" dirty="0"/>
              <a:t>Used to shorten an assignment statement</a:t>
            </a:r>
          </a:p>
          <a:p>
            <a:r>
              <a:rPr lang="en-US" sz="3200" b="1" dirty="0"/>
              <a:t>+=</a:t>
            </a:r>
          </a:p>
          <a:p>
            <a:r>
              <a:rPr lang="en-US" sz="3200" b="1" dirty="0"/>
              <a:t>-=</a:t>
            </a:r>
          </a:p>
          <a:p>
            <a:r>
              <a:rPr lang="en-US" sz="3200" b="1" dirty="0"/>
              <a:t>*=</a:t>
            </a:r>
          </a:p>
          <a:p>
            <a:r>
              <a:rPr lang="en-US" sz="3200" b="1" dirty="0"/>
              <a:t>/=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0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Assignment operator?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81" y="2181225"/>
            <a:ext cx="3678238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72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 the equal 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81" y="2181225"/>
            <a:ext cx="3678238" cy="367823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65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Assignment statement?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768" y="2181225"/>
            <a:ext cx="2110464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143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Assigns a value to a variable during runtime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Assignment statement</a:t>
            </a:r>
          </a:p>
        </p:txBody>
      </p:sp>
    </p:spTree>
    <p:extLst>
      <p:ext uri="{BB962C8B-B14F-4D97-AF65-F5344CB8AC3E}">
        <p14:creationId xmlns:p14="http://schemas.microsoft.com/office/powerpoint/2010/main" val="1005364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bugs?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886" y="2787966"/>
            <a:ext cx="4224228" cy="316817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80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Errors in the program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900" y="1915171"/>
            <a:ext cx="3879850" cy="484981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523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390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cin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standard input stream object in C++</a:t>
            </a:r>
          </a:p>
          <a:p>
            <a:r>
              <a:rPr lang="en-US" sz="3200" dirty="0"/>
              <a:t>Tells the computer to paused while the user enters characters at the keyboard and then temporarily stores those characters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44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comment?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0" y="2335404"/>
            <a:ext cx="3454400" cy="380329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548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comment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//</a:t>
            </a:r>
          </a:p>
          <a:p>
            <a:r>
              <a:rPr lang="en-US" sz="3200" dirty="0"/>
              <a:t>Used to document a program internally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528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524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cout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Standard output stream object; </a:t>
            </a:r>
          </a:p>
          <a:p>
            <a:r>
              <a:rPr lang="en-US" sz="2800" dirty="0"/>
              <a:t>Used with the insertion operator to display information on the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47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debugging?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331" y="2110730"/>
            <a:ext cx="4027969" cy="402796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046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248108" cy="3678303"/>
          </a:xfrm>
        </p:spPr>
        <p:txBody>
          <a:bodyPr>
            <a:normAutofit/>
          </a:bodyPr>
          <a:lstStyle/>
          <a:p>
            <a:r>
              <a:rPr lang="en-US" sz="3600" dirty="0"/>
              <a:t>Process of locating and correcting any errors in a program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54" y="2146137"/>
            <a:ext cx="3810000" cy="3810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357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endl?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Content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322" y="2096255"/>
            <a:ext cx="2721356" cy="3859882"/>
          </a:xfrm>
        </p:spPr>
      </p:pic>
    </p:spTree>
    <p:extLst>
      <p:ext uri="{BB962C8B-B14F-4D97-AF65-F5344CB8AC3E}">
        <p14:creationId xmlns:p14="http://schemas.microsoft.com/office/powerpoint/2010/main" val="3304995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endl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070308" cy="3678303"/>
          </a:xfrm>
        </p:spPr>
        <p:txBody>
          <a:bodyPr>
            <a:normAutofit/>
          </a:bodyPr>
          <a:lstStyle/>
          <a:p>
            <a:r>
              <a:rPr lang="en-US" sz="3600" dirty="0"/>
              <a:t>A stream manipulator; advances the cursor to the next line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271" y="1715956"/>
            <a:ext cx="3428029" cy="514204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244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Executable file?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062" y="2282031"/>
            <a:ext cx="5857875" cy="34766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518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Executable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file that contains all of the machine code necessary to run a program; </a:t>
            </a:r>
          </a:p>
          <a:p>
            <a:r>
              <a:rPr lang="en-US" sz="3600" dirty="0"/>
              <a:t>Has a .exe extension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6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Explicit type conversion?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654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Explicit 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When the program specifically commands the conversion of data from one type to another;</a:t>
            </a:r>
          </a:p>
          <a:p>
            <a:r>
              <a:rPr lang="en-US" sz="3200" dirty="0"/>
              <a:t>Uses static_cast</a:t>
            </a:r>
          </a:p>
          <a:p>
            <a:r>
              <a:rPr lang="en-US" sz="3200" dirty="0"/>
              <a:t>Also called a type 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58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Extraction operator?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81" y="2181225"/>
            <a:ext cx="3678238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475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Extraction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&gt;&gt;</a:t>
            </a:r>
          </a:p>
          <a:p>
            <a:r>
              <a:rPr lang="en-US" sz="3600" dirty="0"/>
              <a:t>Removes characters from the cin object and sends them in to the computer’s internal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320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function?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0" y="2261394"/>
            <a:ext cx="4445000" cy="35179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579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235408" cy="3678303"/>
          </a:xfrm>
        </p:spPr>
        <p:txBody>
          <a:bodyPr>
            <a:normAutofit/>
          </a:bodyPr>
          <a:lstStyle/>
          <a:p>
            <a:r>
              <a:rPr lang="en-US" sz="4000" dirty="0"/>
              <a:t>A block of code that performs a task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300" y="2584200"/>
            <a:ext cx="2697000" cy="2876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63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Function body?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780" y="2371561"/>
            <a:ext cx="3502439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703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Function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Code contained between a function’s opening and closing braces 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745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Function header?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350" y="2413794"/>
            <a:ext cx="3289300" cy="32131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1903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Function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first line in a function</a:t>
            </a:r>
          </a:p>
          <a:p>
            <a:r>
              <a:rPr lang="en-US" sz="3600" dirty="0"/>
              <a:t>Marks the beginning of the function</a:t>
            </a:r>
          </a:p>
          <a:p>
            <a:r>
              <a:rPr lang="en-US" sz="3600" dirty="0"/>
              <a:t>Main 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214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IDE?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368" y="3089180"/>
            <a:ext cx="4779264" cy="186232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5331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Integrated development environment</a:t>
            </a:r>
          </a:p>
          <a:p>
            <a:r>
              <a:rPr lang="en-US" sz="5400" dirty="0"/>
              <a:t>Visual Studio 2019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760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Insertion operator?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841" y="2181225"/>
            <a:ext cx="4904317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42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Insertion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&lt;&lt;</a:t>
            </a:r>
          </a:p>
          <a:p>
            <a:r>
              <a:rPr lang="en-US" sz="4400" dirty="0"/>
              <a:t>Used with cout to display information on the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990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Integrated development environment?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4887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Integrated 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A system that includes both an editor and a compiler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0758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linker?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2036349"/>
            <a:ext cx="5511800" cy="393175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302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linker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 program that combines the code in a C++ program’s object file with other  machine code needed to run the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5139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Logic error?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538" y="2181225"/>
            <a:ext cx="3702924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712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Logic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error (bug) that occurs during the runtime of a program that causes bad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071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Modulus operator?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7" name="Content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71" y="2717800"/>
            <a:ext cx="2902857" cy="2641600"/>
          </a:xfrm>
        </p:spPr>
      </p:pic>
    </p:spTree>
    <p:extLst>
      <p:ext uri="{BB962C8B-B14F-4D97-AF65-F5344CB8AC3E}">
        <p14:creationId xmlns:p14="http://schemas.microsoft.com/office/powerpoint/2010/main" val="18740499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Modulus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%</a:t>
            </a:r>
          </a:p>
          <a:p>
            <a:r>
              <a:rPr lang="en-US" sz="6000" dirty="0"/>
              <a:t>Returns the remainder after dividing two integers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3852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Object code?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841" y="2181225"/>
            <a:ext cx="4904317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277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Object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Machine code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700" y="2965033"/>
            <a:ext cx="3532800" cy="299110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695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prompt?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826" y="2181225"/>
            <a:ext cx="3448348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365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 message displayed on the screen indicating the type of data the user should 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7800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611127"/>
            <a:ext cx="11029616" cy="1013800"/>
          </a:xfrm>
        </p:spPr>
        <p:txBody>
          <a:bodyPr/>
          <a:lstStyle/>
          <a:p>
            <a:r>
              <a:rPr lang="en-US" dirty="0"/>
              <a:t>What is Source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9132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The program instructions that you enter using an editor.</a:t>
            </a:r>
          </a:p>
          <a:p>
            <a:r>
              <a:rPr lang="en-US" sz="4800" dirty="0"/>
              <a:t>The instructions are saved in a source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4439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Source File?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650" y="2181225"/>
            <a:ext cx="3582699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1317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Source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The file that contains the program’s source code</a:t>
            </a:r>
          </a:p>
          <a:p>
            <a:r>
              <a:rPr lang="en-US" sz="4800" dirty="0"/>
              <a:t>.cpp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9865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Static_cast operator?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083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Static_cast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Used to explicitly convert one data type to another</a:t>
            </a:r>
          </a:p>
          <a:p>
            <a:r>
              <a:rPr lang="en-US" sz="5400" dirty="0"/>
              <a:t>Type 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2980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Stream?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321" y="2181225"/>
            <a:ext cx="5517357" cy="3678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6658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4816308" cy="3678303"/>
          </a:xfrm>
        </p:spPr>
        <p:txBody>
          <a:bodyPr>
            <a:normAutofit/>
          </a:bodyPr>
          <a:lstStyle/>
          <a:p>
            <a:r>
              <a:rPr lang="en-US" sz="4800" dirty="0"/>
              <a:t>A sequence of characters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901263"/>
            <a:ext cx="5893332" cy="441999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080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Stream manipulator?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644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Stream manipulator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Allows a C++ program to manipulate the characters in either the input or the output stream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0642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Stream objects?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1319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Stream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Objects used to perform standard input and output operations in C++</a:t>
            </a:r>
          </a:p>
          <a:p>
            <a:r>
              <a:rPr lang="en-US" sz="4000" dirty="0"/>
              <a:t>cin</a:t>
            </a:r>
          </a:p>
          <a:p>
            <a:r>
              <a:rPr lang="en-US" sz="4000" dirty="0"/>
              <a:t>cout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685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Syntax error?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9" name="Content Placehold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661" y="2181225"/>
            <a:ext cx="2758678" cy="3678238"/>
          </a:xfrm>
        </p:spPr>
      </p:pic>
    </p:spTree>
    <p:extLst>
      <p:ext uri="{BB962C8B-B14F-4D97-AF65-F5344CB8AC3E}">
        <p14:creationId xmlns:p14="http://schemas.microsoft.com/office/powerpoint/2010/main" val="28031592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Syntax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 error that occurs when a program instruction violates a programming languages syntax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3089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 Type cast?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336" y="2795048"/>
            <a:ext cx="3767328" cy="245059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3707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Type 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Explicit type conversion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6809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Using directive?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Using namespace std;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130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Using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 instruction that tells the computer where it can find the definitions of keywords and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523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White space character?</a:t>
            </a:r>
          </a:p>
        </p:txBody>
      </p:sp>
      <p:pic>
        <p:nvPicPr>
          <p:cNvPr id="5" name="Conten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870" y="2892655"/>
            <a:ext cx="3096260" cy="188678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7032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White space character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A newline character</a:t>
            </a:r>
          </a:p>
          <a:p>
            <a:r>
              <a:rPr lang="en-US" sz="6000" dirty="0"/>
              <a:t>A tab character</a:t>
            </a:r>
          </a:p>
          <a:p>
            <a:r>
              <a:rPr lang="en-US" sz="6000" dirty="0"/>
              <a:t>A blank space character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0648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TC103457464[[fn=Dividend]]</Template>
  <TotalTime>0</TotalTime>
  <Words>863</Words>
  <Application>Microsoft Office PowerPoint</Application>
  <PresentationFormat>Widescreen</PresentationFormat>
  <Paragraphs>214</Paragraphs>
  <Slides>74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9" baseType="lpstr">
      <vt:lpstr>Arial</vt:lpstr>
      <vt:lpstr>Calibri</vt:lpstr>
      <vt:lpstr>Gill Sans MT</vt:lpstr>
      <vt:lpstr>Wingdings 2</vt:lpstr>
      <vt:lpstr>Dividend</vt:lpstr>
      <vt:lpstr>Chapter 4 Key terms</vt:lpstr>
      <vt:lpstr>What is the #include directive?</vt:lpstr>
      <vt:lpstr>Answer: #include directive</vt:lpstr>
      <vt:lpstr>% - (not the percent sign!)</vt:lpstr>
      <vt:lpstr>%</vt:lpstr>
      <vt:lpstr>What is &lt;&lt;?</vt:lpstr>
      <vt:lpstr>Answer: &lt;&lt;</vt:lpstr>
      <vt:lpstr>What is &gt;&gt;?</vt:lpstr>
      <vt:lpstr>What are Arithmetic assignment operators?</vt:lpstr>
      <vt:lpstr>Arithmetic assignment operators</vt:lpstr>
      <vt:lpstr>What is An Assignment operator?</vt:lpstr>
      <vt:lpstr>Answer:  the equal sign</vt:lpstr>
      <vt:lpstr>What is an Assignment statement?</vt:lpstr>
      <vt:lpstr>Answer: Assignment statement</vt:lpstr>
      <vt:lpstr>What are bugs?</vt:lpstr>
      <vt:lpstr>Answer: bugs</vt:lpstr>
      <vt:lpstr>What is cin?</vt:lpstr>
      <vt:lpstr>Answer: cin</vt:lpstr>
      <vt:lpstr>What is a comment?</vt:lpstr>
      <vt:lpstr>Answer: comment</vt:lpstr>
      <vt:lpstr>What is cout?</vt:lpstr>
      <vt:lpstr>Answer: cout</vt:lpstr>
      <vt:lpstr>What is debugging?</vt:lpstr>
      <vt:lpstr>Answer: debugging</vt:lpstr>
      <vt:lpstr>What is endl?</vt:lpstr>
      <vt:lpstr>Answer: endl</vt:lpstr>
      <vt:lpstr>What is an Executable file?</vt:lpstr>
      <vt:lpstr>Answer: Executable file</vt:lpstr>
      <vt:lpstr>What is Explicit type conversion?</vt:lpstr>
      <vt:lpstr>Answer: Explicit type conversion</vt:lpstr>
      <vt:lpstr>What is an Extraction operator?</vt:lpstr>
      <vt:lpstr>Answer: Extraction operator</vt:lpstr>
      <vt:lpstr>What is a function?</vt:lpstr>
      <vt:lpstr>Answer: function</vt:lpstr>
      <vt:lpstr>What is a Function body?</vt:lpstr>
      <vt:lpstr>Answer: Function body</vt:lpstr>
      <vt:lpstr>What is a Function header?</vt:lpstr>
      <vt:lpstr>Answer: Function header</vt:lpstr>
      <vt:lpstr>What is an IDE?</vt:lpstr>
      <vt:lpstr>Answer: IDE</vt:lpstr>
      <vt:lpstr>What is an Insertion operator?</vt:lpstr>
      <vt:lpstr>Answer: Insertion operator</vt:lpstr>
      <vt:lpstr>What is an Integrated development environment?</vt:lpstr>
      <vt:lpstr>Answer: Integrated development environment</vt:lpstr>
      <vt:lpstr>What is a linker?</vt:lpstr>
      <vt:lpstr>Answer: linker</vt:lpstr>
      <vt:lpstr>What is a Logic error?</vt:lpstr>
      <vt:lpstr>Answer: Logic error</vt:lpstr>
      <vt:lpstr>What is a Modulus operator?</vt:lpstr>
      <vt:lpstr>Answer: Modulus operator</vt:lpstr>
      <vt:lpstr>What is Object code?</vt:lpstr>
      <vt:lpstr>Answer: Object code</vt:lpstr>
      <vt:lpstr>What is a prompt?</vt:lpstr>
      <vt:lpstr>Answer: prompt</vt:lpstr>
      <vt:lpstr>What is Source code?</vt:lpstr>
      <vt:lpstr>Answer: Source code</vt:lpstr>
      <vt:lpstr>What is a Source File?</vt:lpstr>
      <vt:lpstr>Answer: Source File</vt:lpstr>
      <vt:lpstr>What is a Static_cast operator?</vt:lpstr>
      <vt:lpstr>Answer: Static_cast operator</vt:lpstr>
      <vt:lpstr>What is a Stream?</vt:lpstr>
      <vt:lpstr>Answer: Stream</vt:lpstr>
      <vt:lpstr>What is a Stream manipulator?</vt:lpstr>
      <vt:lpstr>Answer: Stream manipulator</vt:lpstr>
      <vt:lpstr>What are Stream objects?</vt:lpstr>
      <vt:lpstr>Answer: Stream objects</vt:lpstr>
      <vt:lpstr>What is a Syntax error?</vt:lpstr>
      <vt:lpstr>Answer: Syntax error</vt:lpstr>
      <vt:lpstr>What is  Type cast?</vt:lpstr>
      <vt:lpstr>Answer: Type cast</vt:lpstr>
      <vt:lpstr>What is the Using directive?</vt:lpstr>
      <vt:lpstr>Answer: Using directive</vt:lpstr>
      <vt:lpstr>What is a White space character?</vt:lpstr>
      <vt:lpstr>Answer: White space character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2019-10-07T14:00:51Z</dcterms:created>
  <dcterms:modified xsi:type="dcterms:W3CDTF">2020-07-15T17:14:47Z</dcterms:modified>
</cp:coreProperties>
</file>