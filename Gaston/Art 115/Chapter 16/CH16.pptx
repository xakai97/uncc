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62"/>
  </p:notesMasterIdLst>
  <p:handoutMasterIdLst>
    <p:handoutMasterId r:id="rId63"/>
  </p:handoutMasterIdLst>
  <p:sldIdLst>
    <p:sldId id="621" r:id="rId3"/>
    <p:sldId id="507" r:id="rId4"/>
    <p:sldId id="511" r:id="rId5"/>
    <p:sldId id="512" r:id="rId6"/>
    <p:sldId id="513" r:id="rId7"/>
    <p:sldId id="514" r:id="rId8"/>
    <p:sldId id="516" r:id="rId9"/>
    <p:sldId id="517" r:id="rId10"/>
    <p:sldId id="518" r:id="rId11"/>
    <p:sldId id="519" r:id="rId12"/>
    <p:sldId id="520" r:id="rId13"/>
    <p:sldId id="521" r:id="rId14"/>
    <p:sldId id="522" r:id="rId15"/>
    <p:sldId id="523" r:id="rId16"/>
    <p:sldId id="524" r:id="rId17"/>
    <p:sldId id="525" r:id="rId18"/>
    <p:sldId id="526" r:id="rId19"/>
    <p:sldId id="527" r:id="rId20"/>
    <p:sldId id="528" r:id="rId21"/>
    <p:sldId id="529" r:id="rId22"/>
    <p:sldId id="530" r:id="rId23"/>
    <p:sldId id="531" r:id="rId24"/>
    <p:sldId id="532" r:id="rId25"/>
    <p:sldId id="533" r:id="rId26"/>
    <p:sldId id="534" r:id="rId27"/>
    <p:sldId id="535" r:id="rId28"/>
    <p:sldId id="536" r:id="rId29"/>
    <p:sldId id="537" r:id="rId30"/>
    <p:sldId id="538" r:id="rId31"/>
    <p:sldId id="539" r:id="rId32"/>
    <p:sldId id="540" r:id="rId33"/>
    <p:sldId id="541" r:id="rId34"/>
    <p:sldId id="542" r:id="rId35"/>
    <p:sldId id="543" r:id="rId36"/>
    <p:sldId id="544" r:id="rId37"/>
    <p:sldId id="545" r:id="rId38"/>
    <p:sldId id="546" r:id="rId39"/>
    <p:sldId id="548" r:id="rId40"/>
    <p:sldId id="547" r:id="rId41"/>
    <p:sldId id="549" r:id="rId42"/>
    <p:sldId id="550" r:id="rId43"/>
    <p:sldId id="551" r:id="rId44"/>
    <p:sldId id="552" r:id="rId45"/>
    <p:sldId id="553" r:id="rId46"/>
    <p:sldId id="554" r:id="rId47"/>
    <p:sldId id="555" r:id="rId48"/>
    <p:sldId id="556" r:id="rId49"/>
    <p:sldId id="557" r:id="rId50"/>
    <p:sldId id="558" r:id="rId51"/>
    <p:sldId id="559" r:id="rId52"/>
    <p:sldId id="560" r:id="rId53"/>
    <p:sldId id="561" r:id="rId54"/>
    <p:sldId id="562" r:id="rId55"/>
    <p:sldId id="563" r:id="rId56"/>
    <p:sldId id="564" r:id="rId57"/>
    <p:sldId id="565" r:id="rId58"/>
    <p:sldId id="566" r:id="rId59"/>
    <p:sldId id="567" r:id="rId60"/>
    <p:sldId id="568"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41" autoAdjust="0"/>
    <p:restoredTop sz="86524" autoAdjust="0"/>
  </p:normalViewPr>
  <p:slideViewPr>
    <p:cSldViewPr>
      <p:cViewPr varScale="1">
        <p:scale>
          <a:sx n="89" d="100"/>
          <a:sy n="89" d="100"/>
        </p:scale>
        <p:origin x="1179" y="66"/>
      </p:cViewPr>
      <p:guideLst>
        <p:guide orient="horz" pos="2160"/>
        <p:guide pos="2880"/>
      </p:guideLst>
    </p:cSldViewPr>
  </p:slideViewPr>
  <p:outlineViewPr>
    <p:cViewPr>
      <p:scale>
        <a:sx n="33" d="100"/>
        <a:sy n="33" d="100"/>
      </p:scale>
      <p:origin x="0" y="-63232"/>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6/19/2020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p:spPr>
      </p:sp>
      <p:sp>
        <p:nvSpPr>
          <p:cNvPr id="14338" name="Notes Placeholder 2"/>
          <p:cNvSpPr>
            <a:spLocks noGrp="1"/>
          </p:cNvSpPr>
          <p:nvPr>
            <p:ph type="body" idx="1"/>
          </p:nvPr>
        </p:nvSpPr>
        <p:spPr bwMode="auto">
          <a:noFill/>
        </p:spPr>
        <p:txBody>
          <a:bodyPr/>
          <a:lstStyle/>
          <a:p>
            <a:pPr>
              <a:spcBef>
                <a:spcPct val="0"/>
              </a:spcBef>
            </a:pPr>
            <a:r>
              <a:rPr lang="en-US" dirty="0"/>
              <a:t>Leonardo da Vinci MONA LISA</a:t>
            </a:r>
            <a:br>
              <a:rPr lang="en-US" dirty="0"/>
            </a:br>
            <a:r>
              <a:rPr lang="en-US" dirty="0"/>
              <a:t>c. 1503–1506. Oil on wood panel, 30-1/4</a:t>
            </a:r>
            <a:r>
              <a:rPr lang="ru-RU" dirty="0"/>
              <a:t>"</a:t>
            </a:r>
            <a:r>
              <a:rPr lang="en-US" dirty="0"/>
              <a:t> × 21</a:t>
            </a:r>
            <a:r>
              <a:rPr lang="ru-RU" dirty="0"/>
              <a:t>"</a:t>
            </a:r>
            <a:r>
              <a:rPr lang="en-US" dirty="0"/>
              <a:t> (77 × 53 cm).</a:t>
            </a:r>
            <a:br>
              <a:rPr lang="en-US" dirty="0"/>
            </a:br>
            <a:r>
              <a:rPr lang="en-US" dirty="0" err="1"/>
              <a:t>Musée</a:t>
            </a:r>
            <a:r>
              <a:rPr lang="en-US" dirty="0"/>
              <a:t> du Louvre, Paris. (INV. 779). Photo © RMN-Grand Palais (</a:t>
            </a:r>
            <a:r>
              <a:rPr lang="en-US" dirty="0" err="1"/>
              <a:t>musée</a:t>
            </a:r>
            <a:r>
              <a:rPr lang="en-US" dirty="0"/>
              <a:t> du Louvre)/Michel </a:t>
            </a:r>
            <a:r>
              <a:rPr lang="en-US" dirty="0" err="1"/>
              <a:t>Urtado</a:t>
            </a:r>
            <a:r>
              <a:rPr lang="en-US" dirty="0"/>
              <a:t> </a:t>
            </a:r>
          </a:p>
        </p:txBody>
      </p:sp>
      <p:sp>
        <p:nvSpPr>
          <p:cNvPr id="14339" name="Slide Number Placeholder 3"/>
          <p:cNvSpPr>
            <a:spLocks noGrp="1"/>
          </p:cNvSpPr>
          <p:nvPr>
            <p:ph type="sldNum" sz="quarter" idx="5"/>
          </p:nvPr>
        </p:nvSpPr>
        <p:spPr bwMode="auto">
          <a:noFill/>
          <a:ln>
            <a:miter lim="800000"/>
            <a:headEnd/>
            <a:tailEnd/>
          </a:ln>
        </p:spPr>
        <p:txBody>
          <a:bodyPr/>
          <a:lstStyle/>
          <a:p>
            <a:fld id="{25255A2E-B745-A64D-8857-52B919CFF7F7}" type="slidenum">
              <a:rPr lang="en-US"/>
              <a:pPr/>
              <a:t>3</a:t>
            </a:fld>
            <a:endParaRPr lang="en-US"/>
          </a:p>
        </p:txBody>
      </p:sp>
    </p:spTree>
    <p:extLst>
      <p:ext uri="{BB962C8B-B14F-4D97-AF65-F5344CB8AC3E}">
        <p14:creationId xmlns:p14="http://schemas.microsoft.com/office/powerpoint/2010/main" val="467279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p:spPr>
      </p:sp>
      <p:sp>
        <p:nvSpPr>
          <p:cNvPr id="20482"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RENAISSANCE AND EARLIER MONUMENTS IN ROME</a:t>
            </a:r>
            <a:endParaRPr lang="en-US" dirty="0"/>
          </a:p>
        </p:txBody>
      </p:sp>
      <p:sp>
        <p:nvSpPr>
          <p:cNvPr id="20483" name="Slide Number Placeholder 3"/>
          <p:cNvSpPr>
            <a:spLocks noGrp="1"/>
          </p:cNvSpPr>
          <p:nvPr>
            <p:ph type="sldNum" sz="quarter" idx="5"/>
          </p:nvPr>
        </p:nvSpPr>
        <p:spPr bwMode="auto">
          <a:noFill/>
          <a:ln>
            <a:miter lim="800000"/>
            <a:headEnd/>
            <a:tailEnd/>
          </a:ln>
        </p:spPr>
        <p:txBody>
          <a:bodyPr/>
          <a:lstStyle/>
          <a:p>
            <a:fld id="{83185706-8715-1940-A806-36F99B1CF9AC}" type="slidenum">
              <a:rPr lang="en-US"/>
              <a:pPr/>
              <a:t>7</a:t>
            </a:fld>
            <a:endParaRPr lang="en-US"/>
          </a:p>
        </p:txBody>
      </p:sp>
    </p:spTree>
    <p:extLst>
      <p:ext uri="{BB962C8B-B14F-4D97-AF65-F5344CB8AC3E}">
        <p14:creationId xmlns:p14="http://schemas.microsoft.com/office/powerpoint/2010/main" val="213951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noTextEdi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a:lstStyle/>
          <a:p>
            <a:pPr>
              <a:spcBef>
                <a:spcPct val="0"/>
              </a:spcBef>
            </a:pPr>
            <a:r>
              <a:rPr lang="en-US" dirty="0"/>
              <a:t>Leonardo da Vinci THE VIRGIN OF THE ROCKS</a:t>
            </a:r>
            <a:br>
              <a:rPr lang="en-US" dirty="0"/>
            </a:br>
            <a:r>
              <a:rPr lang="en-US" dirty="0"/>
              <a:t>c. 1485. Oil on wood panel (now transferred to canvas), 6</a:t>
            </a:r>
            <a:r>
              <a:rPr lang="uk-UA" dirty="0"/>
              <a:t>'</a:t>
            </a:r>
            <a:r>
              <a:rPr lang="en-US" dirty="0"/>
              <a:t>6</a:t>
            </a:r>
            <a:r>
              <a:rPr lang="ru-RU" dirty="0"/>
              <a:t>"</a:t>
            </a:r>
            <a:r>
              <a:rPr lang="en-US" dirty="0"/>
              <a:t> × 4</a:t>
            </a:r>
            <a:r>
              <a:rPr lang="uk-UA" dirty="0"/>
              <a:t>'</a:t>
            </a:r>
            <a:r>
              <a:rPr lang="en-US" dirty="0"/>
              <a:t> (1.9 × 1.2 m).</a:t>
            </a:r>
            <a:br>
              <a:rPr lang="en-US" dirty="0"/>
            </a:br>
            <a:r>
              <a:rPr lang="en-US" dirty="0" err="1"/>
              <a:t>Musée</a:t>
            </a:r>
            <a:r>
              <a:rPr lang="en-US" dirty="0"/>
              <a:t> du Louvre, Paris. Photo © Réunion des </a:t>
            </a:r>
            <a:r>
              <a:rPr lang="en-US" dirty="0" err="1"/>
              <a:t>Musés</a:t>
            </a:r>
            <a:r>
              <a:rPr lang="en-US" dirty="0"/>
              <a:t> </a:t>
            </a:r>
            <a:r>
              <a:rPr lang="en-US" dirty="0" err="1"/>
              <a:t>Nationaux</a:t>
            </a:r>
            <a:r>
              <a:rPr lang="en-US" dirty="0"/>
              <a:t>/</a:t>
            </a:r>
            <a:r>
              <a:rPr lang="en-US" dirty="0" err="1"/>
              <a:t>Musée</a:t>
            </a:r>
            <a:r>
              <a:rPr lang="en-US" dirty="0"/>
              <a:t> du Louvre, Paris.</a:t>
            </a:r>
          </a:p>
        </p:txBody>
      </p:sp>
      <p:sp>
        <p:nvSpPr>
          <p:cNvPr id="23555" name="Slide Number Placeholder 3"/>
          <p:cNvSpPr>
            <a:spLocks noGrp="1"/>
          </p:cNvSpPr>
          <p:nvPr>
            <p:ph type="sldNum" sz="quarter" idx="5"/>
          </p:nvPr>
        </p:nvSpPr>
        <p:spPr bwMode="auto">
          <a:noFill/>
          <a:ln>
            <a:miter lim="800000"/>
            <a:headEnd/>
            <a:tailEnd/>
          </a:ln>
        </p:spPr>
        <p:txBody>
          <a:bodyPr/>
          <a:lstStyle/>
          <a:p>
            <a:fld id="{1C2679E1-140E-304B-ADC8-7D0E42515AAB}" type="slidenum">
              <a:rPr lang="en-US"/>
              <a:pPr/>
              <a:t>9</a:t>
            </a:fld>
            <a:endParaRPr lang="en-US"/>
          </a:p>
        </p:txBody>
      </p:sp>
    </p:spTree>
    <p:extLst>
      <p:ext uri="{BB962C8B-B14F-4D97-AF65-F5344CB8AC3E}">
        <p14:creationId xmlns:p14="http://schemas.microsoft.com/office/powerpoint/2010/main" val="999890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a:lstStyle/>
          <a:p>
            <a:pPr>
              <a:spcBef>
                <a:spcPct val="0"/>
              </a:spcBef>
            </a:pPr>
            <a:r>
              <a:rPr lang="en-US" dirty="0">
                <a:latin typeface="Verdana" charset="0"/>
              </a:rPr>
              <a:t>Leonardo da Vinci VITRUVIAN MAN</a:t>
            </a:r>
            <a:br>
              <a:rPr lang="en-US" dirty="0">
                <a:latin typeface="Verdana" charset="0"/>
              </a:rPr>
            </a:br>
            <a:r>
              <a:rPr lang="en-US" dirty="0">
                <a:latin typeface="Verdana" charset="0"/>
              </a:rPr>
              <a:t>c. 1490. Ink, 13-1/2</a:t>
            </a:r>
            <a:r>
              <a:rPr lang="ru-RU" dirty="0">
                <a:latin typeface="Verdana" charset="0"/>
              </a:rPr>
              <a:t>"</a:t>
            </a:r>
            <a:r>
              <a:rPr lang="en-US" dirty="0">
                <a:latin typeface="Verdana" charset="0"/>
              </a:rPr>
              <a:t> × 9-5/8</a:t>
            </a:r>
            <a:r>
              <a:rPr lang="ru-RU" dirty="0">
                <a:latin typeface="Verdana" charset="0"/>
              </a:rPr>
              <a:t>"</a:t>
            </a:r>
            <a:r>
              <a:rPr lang="en-US" dirty="0">
                <a:latin typeface="Verdana" charset="0"/>
              </a:rPr>
              <a:t> (34.3 × 24.5 cm).</a:t>
            </a:r>
            <a:br>
              <a:rPr lang="en-US" dirty="0">
                <a:latin typeface="Verdana" charset="0"/>
              </a:rPr>
            </a:br>
            <a:r>
              <a:rPr lang="en-US" dirty="0">
                <a:latin typeface="Verdana" charset="0"/>
              </a:rPr>
              <a:t>Galleria dell</a:t>
            </a:r>
            <a:r>
              <a:rPr lang="uk-UA" dirty="0">
                <a:latin typeface="Verdana" charset="0"/>
              </a:rPr>
              <a:t>'</a:t>
            </a:r>
            <a:r>
              <a:rPr lang="en-US" dirty="0">
                <a:latin typeface="Verdana" charset="0"/>
              </a:rPr>
              <a:t>Accademia, Venice. © </a:t>
            </a:r>
            <a:r>
              <a:rPr lang="en-US" dirty="0" err="1">
                <a:latin typeface="Verdana" charset="0"/>
              </a:rPr>
              <a:t>Cameraphoto</a:t>
            </a:r>
            <a:r>
              <a:rPr lang="en-US" dirty="0">
                <a:latin typeface="Verdana" charset="0"/>
              </a:rPr>
              <a:t> </a:t>
            </a:r>
            <a:r>
              <a:rPr lang="en-US" dirty="0" err="1">
                <a:latin typeface="Verdana" charset="0"/>
              </a:rPr>
              <a:t>Arte</a:t>
            </a:r>
            <a:r>
              <a:rPr lang="en-US" dirty="0">
                <a:latin typeface="Verdana" charset="0"/>
              </a:rPr>
              <a:t>, Venice. </a:t>
            </a:r>
            <a:endParaRPr lang="en-US" dirty="0"/>
          </a:p>
        </p:txBody>
      </p:sp>
      <p:sp>
        <p:nvSpPr>
          <p:cNvPr id="26627" name="Slide Number Placeholder 3"/>
          <p:cNvSpPr>
            <a:spLocks noGrp="1"/>
          </p:cNvSpPr>
          <p:nvPr>
            <p:ph type="sldNum" sz="quarter" idx="5"/>
          </p:nvPr>
        </p:nvSpPr>
        <p:spPr bwMode="auto">
          <a:noFill/>
          <a:ln>
            <a:miter lim="800000"/>
            <a:headEnd/>
            <a:tailEnd/>
          </a:ln>
        </p:spPr>
        <p:txBody>
          <a:bodyPr/>
          <a:lstStyle/>
          <a:p>
            <a:fld id="{92574E82-0861-4C4A-8C5E-5C399C99685A}" type="slidenum">
              <a:rPr lang="en-US"/>
              <a:pPr/>
              <a:t>11</a:t>
            </a:fld>
            <a:endParaRPr lang="en-US"/>
          </a:p>
        </p:txBody>
      </p:sp>
    </p:spTree>
    <p:extLst>
      <p:ext uri="{BB962C8B-B14F-4D97-AF65-F5344CB8AC3E}">
        <p14:creationId xmlns:p14="http://schemas.microsoft.com/office/powerpoint/2010/main" val="1107843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bwMode="auto">
          <a:noFill/>
          <a:ln>
            <a:solidFill>
              <a:srgbClr val="000000"/>
            </a:solidFill>
            <a:miter lim="800000"/>
            <a:headEnd/>
            <a:tailEnd/>
          </a:ln>
        </p:spPr>
      </p:sp>
      <p:sp>
        <p:nvSpPr>
          <p:cNvPr id="29698" name="Notes Placeholder 2"/>
          <p:cNvSpPr>
            <a:spLocks noGrp="1"/>
          </p:cNvSpPr>
          <p:nvPr>
            <p:ph type="body" idx="1"/>
          </p:nvPr>
        </p:nvSpPr>
        <p:spPr bwMode="auto">
          <a:noFill/>
        </p:spPr>
        <p:txBody>
          <a:bodyPr/>
          <a:lstStyle/>
          <a:p>
            <a:pPr>
              <a:spcBef>
                <a:spcPct val="0"/>
              </a:spcBef>
            </a:pPr>
            <a:r>
              <a:rPr lang="en-US" dirty="0"/>
              <a:t>Leonardo da Vinci THE LAST SUPPER</a:t>
            </a:r>
            <a:br>
              <a:rPr lang="en-US" dirty="0"/>
            </a:br>
            <a:r>
              <a:rPr lang="en-US" dirty="0"/>
              <a:t>Refectory of the monastery of Santa Maria </a:t>
            </a:r>
            <a:r>
              <a:rPr lang="en-US" dirty="0" err="1"/>
              <a:t>delle</a:t>
            </a:r>
            <a:r>
              <a:rPr lang="en-US" dirty="0"/>
              <a:t> </a:t>
            </a:r>
            <a:r>
              <a:rPr lang="en-US" dirty="0" err="1"/>
              <a:t>Grazie</a:t>
            </a:r>
            <a:r>
              <a:rPr lang="en-US" dirty="0"/>
              <a:t>, Milan, Italy. 1495–1498.</a:t>
            </a:r>
            <a:br>
              <a:rPr lang="en-US" dirty="0"/>
            </a:br>
            <a:r>
              <a:rPr lang="en-US" dirty="0"/>
              <a:t>Tempera and oil on plaster, 15</a:t>
            </a:r>
            <a:r>
              <a:rPr lang="uk-UA" dirty="0"/>
              <a:t>'</a:t>
            </a:r>
            <a:r>
              <a:rPr lang="en-US" dirty="0"/>
              <a:t>2</a:t>
            </a:r>
            <a:r>
              <a:rPr lang="ru-RU" dirty="0"/>
              <a:t>"</a:t>
            </a:r>
            <a:r>
              <a:rPr lang="en-US" dirty="0"/>
              <a:t> × 28</a:t>
            </a:r>
            <a:r>
              <a:rPr lang="uk-UA" dirty="0"/>
              <a:t>'</a:t>
            </a:r>
            <a:r>
              <a:rPr lang="en-US" dirty="0"/>
              <a:t>10</a:t>
            </a:r>
            <a:r>
              <a:rPr lang="ru-RU" dirty="0"/>
              <a:t>"</a:t>
            </a:r>
            <a:r>
              <a:rPr lang="en-US" dirty="0"/>
              <a:t> (4.6 × 8.8 m).</a:t>
            </a:r>
            <a:br>
              <a:rPr lang="en-US" dirty="0"/>
            </a:br>
            <a:r>
              <a:rPr lang="en-US" dirty="0"/>
              <a:t>© Studio </a:t>
            </a:r>
            <a:r>
              <a:rPr lang="en-US" dirty="0" err="1"/>
              <a:t>Fotografico</a:t>
            </a:r>
            <a:r>
              <a:rPr lang="en-US" dirty="0"/>
              <a:t> </a:t>
            </a:r>
            <a:r>
              <a:rPr lang="en-US" dirty="0" err="1"/>
              <a:t>Quattrone</a:t>
            </a:r>
            <a:r>
              <a:rPr lang="en-US" dirty="0"/>
              <a:t>, Florence.</a:t>
            </a:r>
          </a:p>
        </p:txBody>
      </p:sp>
      <p:sp>
        <p:nvSpPr>
          <p:cNvPr id="29699" name="Slide Number Placeholder 3"/>
          <p:cNvSpPr>
            <a:spLocks noGrp="1"/>
          </p:cNvSpPr>
          <p:nvPr>
            <p:ph type="sldNum" sz="quarter" idx="5"/>
          </p:nvPr>
        </p:nvSpPr>
        <p:spPr bwMode="auto">
          <a:noFill/>
          <a:ln>
            <a:miter lim="800000"/>
            <a:headEnd/>
            <a:tailEnd/>
          </a:ln>
        </p:spPr>
        <p:txBody>
          <a:bodyPr/>
          <a:lstStyle/>
          <a:p>
            <a:fld id="{6A94A634-6219-8544-A4CF-2C743977AC63}" type="slidenum">
              <a:rPr lang="en-US"/>
              <a:pPr/>
              <a:t>13</a:t>
            </a:fld>
            <a:endParaRPr lang="en-US"/>
          </a:p>
        </p:txBody>
      </p:sp>
    </p:spTree>
    <p:extLst>
      <p:ext uri="{BB962C8B-B14F-4D97-AF65-F5344CB8AC3E}">
        <p14:creationId xmlns:p14="http://schemas.microsoft.com/office/powerpoint/2010/main" val="846720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noTextEdit="1"/>
          </p:cNvSpPr>
          <p:nvPr>
            <p:ph type="sldImg"/>
          </p:nvPr>
        </p:nvSpPr>
        <p:spPr bwMode="auto">
          <a:noFill/>
          <a:ln>
            <a:solidFill>
              <a:srgbClr val="000000"/>
            </a:solidFill>
            <a:miter lim="800000"/>
            <a:headEnd/>
            <a:tailEnd/>
          </a:ln>
        </p:spPr>
      </p:sp>
      <p:sp>
        <p:nvSpPr>
          <p:cNvPr id="31746" name="Notes Placeholder 2"/>
          <p:cNvSpPr>
            <a:spLocks noGrp="1"/>
          </p:cNvSpPr>
          <p:nvPr>
            <p:ph type="body" idx="1"/>
          </p:nvPr>
        </p:nvSpPr>
        <p:spPr bwMode="auto">
          <a:noFill/>
        </p:spPr>
        <p:txBody>
          <a:bodyPr/>
          <a:lstStyle/>
          <a:p>
            <a:pPr>
              <a:spcBef>
                <a:spcPct val="0"/>
              </a:spcBef>
            </a:pPr>
            <a:r>
              <a:rPr lang="en-US" dirty="0">
                <a:latin typeface="Verdana" charset="0"/>
              </a:rPr>
              <a:t>REFECTORY OF THE MONASTERY OF SANTA MARIA DELLE GRAZIE, SHOWING LEONARDO</a:t>
            </a:r>
            <a:r>
              <a:rPr lang="uk-UA" dirty="0">
                <a:latin typeface="Verdana" charset="0"/>
              </a:rPr>
              <a:t>'</a:t>
            </a:r>
            <a:r>
              <a:rPr lang="en-US" dirty="0">
                <a:latin typeface="Verdana" charset="0"/>
              </a:rPr>
              <a:t>S LAST SUPPER</a:t>
            </a:r>
            <a:br>
              <a:rPr lang="en-US" dirty="0">
                <a:latin typeface="Verdana" charset="0"/>
              </a:rPr>
            </a:br>
            <a:r>
              <a:rPr lang="en-US" dirty="0">
                <a:latin typeface="Verdana" charset="0"/>
              </a:rPr>
              <a:t>Milan, Italy. © Studio </a:t>
            </a:r>
            <a:r>
              <a:rPr lang="en-US" dirty="0" err="1">
                <a:latin typeface="Verdana" charset="0"/>
              </a:rPr>
              <a:t>Fotografico</a:t>
            </a:r>
            <a:r>
              <a:rPr lang="en-US" dirty="0">
                <a:latin typeface="Verdana" charset="0"/>
              </a:rPr>
              <a:t> </a:t>
            </a:r>
            <a:r>
              <a:rPr lang="en-US" dirty="0" err="1">
                <a:latin typeface="Verdana" charset="0"/>
              </a:rPr>
              <a:t>Quattrone</a:t>
            </a:r>
            <a:r>
              <a:rPr lang="en-US" dirty="0">
                <a:latin typeface="Verdana" charset="0"/>
              </a:rPr>
              <a:t>, Florence.</a:t>
            </a:r>
            <a:endParaRPr lang="en-US" dirty="0"/>
          </a:p>
        </p:txBody>
      </p:sp>
      <p:sp>
        <p:nvSpPr>
          <p:cNvPr id="31747" name="Slide Number Placeholder 3"/>
          <p:cNvSpPr>
            <a:spLocks noGrp="1"/>
          </p:cNvSpPr>
          <p:nvPr>
            <p:ph type="sldNum" sz="quarter" idx="5"/>
          </p:nvPr>
        </p:nvSpPr>
        <p:spPr bwMode="auto">
          <a:noFill/>
          <a:ln>
            <a:miter lim="800000"/>
            <a:headEnd/>
            <a:tailEnd/>
          </a:ln>
        </p:spPr>
        <p:txBody>
          <a:bodyPr/>
          <a:lstStyle/>
          <a:p>
            <a:fld id="{D2268B78-1F20-2E43-9579-A57D28898F6F}" type="slidenum">
              <a:rPr lang="en-US"/>
              <a:pPr/>
              <a:t>14</a:t>
            </a:fld>
            <a:endParaRPr lang="en-US"/>
          </a:p>
        </p:txBody>
      </p:sp>
    </p:spTree>
    <p:extLst>
      <p:ext uri="{BB962C8B-B14F-4D97-AF65-F5344CB8AC3E}">
        <p14:creationId xmlns:p14="http://schemas.microsoft.com/office/powerpoint/2010/main" val="1602680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a:lstStyle/>
          <a:p>
            <a:pPr>
              <a:spcBef>
                <a:spcPct val="0"/>
              </a:spcBef>
            </a:pPr>
            <a:r>
              <a:rPr lang="en-US" dirty="0">
                <a:latin typeface="Verdana" charset="0"/>
              </a:rPr>
              <a:t>Raphael THE SMALL COWPER MADONNA</a:t>
            </a:r>
            <a:br>
              <a:rPr lang="en-US" dirty="0">
                <a:latin typeface="Verdana" charset="0"/>
              </a:rPr>
            </a:br>
            <a:r>
              <a:rPr lang="en-US" dirty="0">
                <a:latin typeface="Verdana" charset="0"/>
              </a:rPr>
              <a:t>c. 1505. Oil on wood panel, 23-3/8</a:t>
            </a:r>
            <a:r>
              <a:rPr lang="ru-RU" dirty="0">
                <a:latin typeface="Verdana" charset="0"/>
              </a:rPr>
              <a:t>"</a:t>
            </a:r>
            <a:r>
              <a:rPr lang="en-US" dirty="0">
                <a:latin typeface="Verdana" charset="0"/>
              </a:rPr>
              <a:t> × 17-3/8</a:t>
            </a:r>
            <a:r>
              <a:rPr lang="ru-RU" dirty="0">
                <a:latin typeface="Verdana" charset="0"/>
              </a:rPr>
              <a:t>"</a:t>
            </a:r>
            <a:r>
              <a:rPr lang="en-US" dirty="0">
                <a:latin typeface="Verdana" charset="0"/>
              </a:rPr>
              <a:t> (59.5 × 44.1 cm).</a:t>
            </a:r>
            <a:br>
              <a:rPr lang="en-US" dirty="0">
                <a:latin typeface="Verdana" charset="0"/>
              </a:rPr>
            </a:br>
            <a:r>
              <a:rPr lang="en-US" dirty="0">
                <a:latin typeface="Verdana" charset="0"/>
              </a:rPr>
              <a:t>National Gallery of Art, Washington, DC. Widener Collection (1942.9.57). Image courtesy the National Gallery of Art, Washington.</a:t>
            </a:r>
            <a:endParaRPr lang="en-US" dirty="0"/>
          </a:p>
        </p:txBody>
      </p:sp>
      <p:sp>
        <p:nvSpPr>
          <p:cNvPr id="36867" name="Slide Number Placeholder 3"/>
          <p:cNvSpPr>
            <a:spLocks noGrp="1"/>
          </p:cNvSpPr>
          <p:nvPr>
            <p:ph type="sldNum" sz="quarter" idx="5"/>
          </p:nvPr>
        </p:nvSpPr>
        <p:spPr bwMode="auto">
          <a:noFill/>
          <a:ln>
            <a:miter lim="800000"/>
            <a:headEnd/>
            <a:tailEnd/>
          </a:ln>
        </p:spPr>
        <p:txBody>
          <a:bodyPr/>
          <a:lstStyle/>
          <a:p>
            <a:fld id="{209BFBFA-C724-9B42-BE4A-3FCA8748CDB1}" type="slidenum">
              <a:rPr lang="en-US"/>
              <a:pPr/>
              <a:t>18</a:t>
            </a:fld>
            <a:endParaRPr lang="en-US"/>
          </a:p>
        </p:txBody>
      </p:sp>
    </p:spTree>
    <p:extLst>
      <p:ext uri="{BB962C8B-B14F-4D97-AF65-F5344CB8AC3E}">
        <p14:creationId xmlns:p14="http://schemas.microsoft.com/office/powerpoint/2010/main" val="368754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Raphael MADONNA OF THE GOLDFINCH (MADONNA DEL CARDELLINO)</a:t>
            </a:r>
            <a:br>
              <a:rPr lang="en-US" dirty="0"/>
            </a:br>
            <a:r>
              <a:rPr lang="en-US" dirty="0"/>
              <a:t>1506. Oil on panel, 42 × 29-1⁄2″ (106.7 × 74.9 cm).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1382075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TextEdit="1"/>
          </p:cNvSpPr>
          <p:nvPr>
            <p:ph type="sldImg"/>
          </p:nvPr>
        </p:nvSpPr>
        <p:spPr bwMode="auto">
          <a:noFill/>
          <a:ln>
            <a:solidFill>
              <a:srgbClr val="000000"/>
            </a:solidFill>
            <a:miter lim="800000"/>
            <a:headEnd/>
            <a:tailEnd/>
          </a:ln>
        </p:spPr>
      </p:sp>
      <p:sp>
        <p:nvSpPr>
          <p:cNvPr id="39938" name="Notes Placeholder 2"/>
          <p:cNvSpPr>
            <a:spLocks noGrp="1"/>
          </p:cNvSpPr>
          <p:nvPr>
            <p:ph type="body" idx="1"/>
          </p:nvPr>
        </p:nvSpPr>
        <p:spPr bwMode="auto">
          <a:noFill/>
        </p:spPr>
        <p:txBody>
          <a:bodyPr/>
          <a:lstStyle/>
          <a:p>
            <a:pPr>
              <a:spcBef>
                <a:spcPct val="0"/>
              </a:spcBef>
            </a:pPr>
            <a:r>
              <a:rPr lang="en-US" dirty="0"/>
              <a:t>Raphael AGNELO DONI </a:t>
            </a:r>
            <a:br>
              <a:rPr lang="en-US" dirty="0"/>
            </a:br>
            <a:r>
              <a:rPr lang="en-US" dirty="0"/>
              <a:t>c. 1506. Oil on wood panel, each 24-1/2</a:t>
            </a:r>
            <a:r>
              <a:rPr lang="ru-RU" dirty="0"/>
              <a:t>"</a:t>
            </a:r>
            <a:r>
              <a:rPr lang="en-US" dirty="0"/>
              <a:t> × 17-1/4</a:t>
            </a:r>
            <a:r>
              <a:rPr lang="ru-RU" dirty="0"/>
              <a:t>"</a:t>
            </a:r>
            <a:r>
              <a:rPr lang="en-US" dirty="0"/>
              <a:t> (63 × 45 cm).</a:t>
            </a:r>
            <a:br>
              <a:rPr lang="en-US" dirty="0"/>
            </a:br>
            <a:r>
              <a:rPr lang="en-US" dirty="0"/>
              <a:t>Palazzo </a:t>
            </a:r>
            <a:r>
              <a:rPr lang="en-US" dirty="0" err="1"/>
              <a:t>Pitti</a:t>
            </a:r>
            <a:r>
              <a:rPr lang="en-US" dirty="0"/>
              <a:t>, Florence. © Studio </a:t>
            </a:r>
            <a:r>
              <a:rPr lang="en-US" dirty="0" err="1"/>
              <a:t>Fotografico</a:t>
            </a:r>
            <a:r>
              <a:rPr lang="en-US" dirty="0"/>
              <a:t> </a:t>
            </a:r>
            <a:r>
              <a:rPr lang="en-US" dirty="0" err="1"/>
              <a:t>Quattrone</a:t>
            </a:r>
            <a:r>
              <a:rPr lang="en-US" dirty="0"/>
              <a:t>, Florence. </a:t>
            </a:r>
          </a:p>
        </p:txBody>
      </p:sp>
      <p:sp>
        <p:nvSpPr>
          <p:cNvPr id="39939" name="Slide Number Placeholder 3"/>
          <p:cNvSpPr>
            <a:spLocks noGrp="1"/>
          </p:cNvSpPr>
          <p:nvPr>
            <p:ph type="sldNum" sz="quarter" idx="5"/>
          </p:nvPr>
        </p:nvSpPr>
        <p:spPr bwMode="auto">
          <a:noFill/>
          <a:ln>
            <a:miter lim="800000"/>
            <a:headEnd/>
            <a:tailEnd/>
          </a:ln>
        </p:spPr>
        <p:txBody>
          <a:bodyPr/>
          <a:lstStyle/>
          <a:p>
            <a:fld id="{CB62C888-BAF7-7E47-A582-CC08F1C68517}" type="slidenum">
              <a:rPr lang="en-US"/>
              <a:pPr/>
              <a:t>21</a:t>
            </a:fld>
            <a:endParaRPr lang="en-US"/>
          </a:p>
        </p:txBody>
      </p:sp>
    </p:spTree>
    <p:extLst>
      <p:ext uri="{BB962C8B-B14F-4D97-AF65-F5344CB8AC3E}">
        <p14:creationId xmlns:p14="http://schemas.microsoft.com/office/powerpoint/2010/main" val="11529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noTextEdit="1"/>
          </p:cNvSpPr>
          <p:nvPr>
            <p:ph type="sldImg"/>
          </p:nvPr>
        </p:nvSpPr>
        <p:spPr bwMode="auto">
          <a:noFill/>
          <a:ln>
            <a:solidFill>
              <a:srgbClr val="000000"/>
            </a:solidFill>
            <a:miter lim="800000"/>
            <a:headEnd/>
            <a:tailEnd/>
          </a:ln>
        </p:spPr>
      </p:sp>
      <p:sp>
        <p:nvSpPr>
          <p:cNvPr id="41986" name="Notes Placeholder 2"/>
          <p:cNvSpPr>
            <a:spLocks noGrp="1"/>
          </p:cNvSpPr>
          <p:nvPr>
            <p:ph type="body" idx="1"/>
          </p:nvPr>
        </p:nvSpPr>
        <p:spPr bwMode="auto">
          <a:noFill/>
        </p:spPr>
        <p:txBody>
          <a:bodyPr/>
          <a:lstStyle/>
          <a:p>
            <a:pPr>
              <a:spcBef>
                <a:spcPct val="0"/>
              </a:spcBef>
            </a:pPr>
            <a:r>
              <a:rPr lang="en-US" dirty="0"/>
              <a:t>Raphael MADDALENA STROZZI</a:t>
            </a:r>
            <a:br>
              <a:rPr lang="en-US" dirty="0"/>
            </a:br>
            <a:r>
              <a:rPr lang="en-US" dirty="0"/>
              <a:t>c. 1506. Oil on wood panel, each 24-1/2</a:t>
            </a:r>
            <a:r>
              <a:rPr lang="ru-RU" dirty="0"/>
              <a:t>"</a:t>
            </a:r>
            <a:r>
              <a:rPr lang="en-US" dirty="0"/>
              <a:t> × 17-1/4</a:t>
            </a:r>
            <a:r>
              <a:rPr lang="ru-RU" dirty="0"/>
              <a:t>"</a:t>
            </a:r>
            <a:r>
              <a:rPr lang="en-US" dirty="0"/>
              <a:t> (63 × 45 cm).</a:t>
            </a:r>
            <a:br>
              <a:rPr lang="en-US" dirty="0"/>
            </a:br>
            <a:r>
              <a:rPr lang="en-US" dirty="0"/>
              <a:t>Palazzo </a:t>
            </a:r>
            <a:r>
              <a:rPr lang="en-US" dirty="0" err="1"/>
              <a:t>Pitti</a:t>
            </a:r>
            <a:r>
              <a:rPr lang="en-US" dirty="0"/>
              <a:t>, Florence. © Studio </a:t>
            </a:r>
            <a:r>
              <a:rPr lang="en-US" dirty="0" err="1"/>
              <a:t>Fotografico</a:t>
            </a:r>
            <a:r>
              <a:rPr lang="en-US" dirty="0"/>
              <a:t> </a:t>
            </a:r>
            <a:r>
              <a:rPr lang="en-US" dirty="0" err="1"/>
              <a:t>Quattrone</a:t>
            </a:r>
            <a:r>
              <a:rPr lang="en-US" dirty="0"/>
              <a:t>, Florence. </a:t>
            </a:r>
          </a:p>
        </p:txBody>
      </p:sp>
      <p:sp>
        <p:nvSpPr>
          <p:cNvPr id="41987" name="Slide Number Placeholder 3"/>
          <p:cNvSpPr>
            <a:spLocks noGrp="1"/>
          </p:cNvSpPr>
          <p:nvPr>
            <p:ph type="sldNum" sz="quarter" idx="5"/>
          </p:nvPr>
        </p:nvSpPr>
        <p:spPr bwMode="auto">
          <a:noFill/>
          <a:ln>
            <a:miter lim="800000"/>
            <a:headEnd/>
            <a:tailEnd/>
          </a:ln>
        </p:spPr>
        <p:txBody>
          <a:bodyPr/>
          <a:lstStyle/>
          <a:p>
            <a:fld id="{55DEC45B-8727-8343-BE2A-27496CF3262E}" type="slidenum">
              <a:rPr lang="en-US"/>
              <a:pPr/>
              <a:t>22</a:t>
            </a:fld>
            <a:endParaRPr lang="en-US"/>
          </a:p>
        </p:txBody>
      </p:sp>
    </p:spTree>
    <p:extLst>
      <p:ext uri="{BB962C8B-B14F-4D97-AF65-F5344CB8AC3E}">
        <p14:creationId xmlns:p14="http://schemas.microsoft.com/office/powerpoint/2010/main" val="509753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p:spPr>
      </p:sp>
      <p:sp>
        <p:nvSpPr>
          <p:cNvPr id="45058" name="Notes Placeholder 2"/>
          <p:cNvSpPr>
            <a:spLocks noGrp="1"/>
          </p:cNvSpPr>
          <p:nvPr>
            <p:ph type="body" idx="1"/>
          </p:nvPr>
        </p:nvSpPr>
        <p:spPr bwMode="auto">
          <a:noFill/>
        </p:spPr>
        <p:txBody>
          <a:bodyPr/>
          <a:lstStyle/>
          <a:p>
            <a:pPr>
              <a:spcBef>
                <a:spcPct val="0"/>
              </a:spcBef>
            </a:pPr>
            <a:r>
              <a:rPr lang="en-US" dirty="0"/>
              <a:t>Raphael STANZA DELLA SEGNATURA</a:t>
            </a:r>
            <a:br>
              <a:rPr lang="en-US" dirty="0"/>
            </a:br>
            <a:r>
              <a:rPr lang="en-US" dirty="0"/>
              <a:t>Vatican, Rome. Fresco in the left lunette, </a:t>
            </a:r>
            <a:r>
              <a:rPr lang="en-US" i="1" dirty="0"/>
              <a:t>Parnassus</a:t>
            </a:r>
            <a:r>
              <a:rPr lang="en-US" dirty="0"/>
              <a:t>; in the right lunette, </a:t>
            </a:r>
            <a:r>
              <a:rPr lang="en-US" i="1" dirty="0"/>
              <a:t>The School of Athens</a:t>
            </a:r>
            <a:r>
              <a:rPr lang="en-US" dirty="0"/>
              <a:t>. 1510–1511. Photo © </a:t>
            </a:r>
            <a:r>
              <a:rPr lang="en-US" dirty="0" err="1"/>
              <a:t>Musei</a:t>
            </a:r>
            <a:r>
              <a:rPr lang="en-US" dirty="0"/>
              <a:t> </a:t>
            </a:r>
            <a:r>
              <a:rPr lang="en-US" dirty="0" err="1"/>
              <a:t>Vaticani</a:t>
            </a:r>
            <a:r>
              <a:rPr lang="en-US" dirty="0"/>
              <a:t>/IKONA. </a:t>
            </a:r>
          </a:p>
        </p:txBody>
      </p:sp>
      <p:sp>
        <p:nvSpPr>
          <p:cNvPr id="45059" name="Slide Number Placeholder 3"/>
          <p:cNvSpPr>
            <a:spLocks noGrp="1"/>
          </p:cNvSpPr>
          <p:nvPr>
            <p:ph type="sldNum" sz="quarter" idx="5"/>
          </p:nvPr>
        </p:nvSpPr>
        <p:spPr bwMode="auto">
          <a:noFill/>
          <a:ln>
            <a:miter lim="800000"/>
            <a:headEnd/>
            <a:tailEnd/>
          </a:ln>
        </p:spPr>
        <p:txBody>
          <a:bodyPr/>
          <a:lstStyle/>
          <a:p>
            <a:fld id="{3D339A2C-5F0D-534B-B954-396303F7B5E7}" type="slidenum">
              <a:rPr lang="en-US"/>
              <a:pPr/>
              <a:t>24</a:t>
            </a:fld>
            <a:endParaRPr lang="en-US"/>
          </a:p>
        </p:txBody>
      </p:sp>
    </p:spTree>
    <p:extLst>
      <p:ext uri="{BB962C8B-B14F-4D97-AF65-F5344CB8AC3E}">
        <p14:creationId xmlns:p14="http://schemas.microsoft.com/office/powerpoint/2010/main" val="1109344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p:spPr>
      </p:sp>
      <p:sp>
        <p:nvSpPr>
          <p:cNvPr id="47106" name="Notes Placeholder 2"/>
          <p:cNvSpPr>
            <a:spLocks noGrp="1"/>
          </p:cNvSpPr>
          <p:nvPr>
            <p:ph type="body" idx="1"/>
          </p:nvPr>
        </p:nvSpPr>
        <p:spPr bwMode="auto">
          <a:noFill/>
        </p:spPr>
        <p:txBody>
          <a:bodyPr/>
          <a:lstStyle/>
          <a:p>
            <a:pPr>
              <a:spcBef>
                <a:spcPct val="0"/>
              </a:spcBef>
            </a:pPr>
            <a:r>
              <a:rPr lang="en-US" dirty="0"/>
              <a:t>A CLOSER LOOK: The School of Athens by Raphael </a:t>
            </a:r>
            <a:br>
              <a:rPr lang="en-US" dirty="0"/>
            </a:br>
            <a:r>
              <a:rPr lang="en-US" dirty="0"/>
              <a:t>Fresco in the Stanza </a:t>
            </a:r>
            <a:r>
              <a:rPr lang="en-US" dirty="0" err="1"/>
              <a:t>della</a:t>
            </a:r>
            <a:r>
              <a:rPr lang="en-US" dirty="0"/>
              <a:t> </a:t>
            </a:r>
            <a:r>
              <a:rPr lang="en-US" dirty="0" err="1"/>
              <a:t>Segnatura</a:t>
            </a:r>
            <a:r>
              <a:rPr lang="en-US" dirty="0"/>
              <a:t>, Vatican, Rome.</a:t>
            </a:r>
            <a:br>
              <a:rPr lang="en-US" dirty="0"/>
            </a:br>
            <a:r>
              <a:rPr lang="en-US" dirty="0"/>
              <a:t>c. 1510–1511. 19</a:t>
            </a:r>
            <a:r>
              <a:rPr lang="uk-UA" dirty="0"/>
              <a:t>'</a:t>
            </a:r>
            <a:r>
              <a:rPr lang="en-US" dirty="0"/>
              <a:t> × 27</a:t>
            </a:r>
            <a:r>
              <a:rPr lang="uk-UA" dirty="0"/>
              <a:t>'</a:t>
            </a:r>
            <a:r>
              <a:rPr lang="en-US" dirty="0"/>
              <a:t> (5.79 × 8.24 m).</a:t>
            </a:r>
            <a:br>
              <a:rPr lang="en-US" dirty="0"/>
            </a:br>
            <a:r>
              <a:rPr lang="en-US" dirty="0"/>
              <a:t>Photo © </a:t>
            </a:r>
            <a:r>
              <a:rPr lang="en-US" dirty="0" err="1"/>
              <a:t>Musei</a:t>
            </a:r>
            <a:r>
              <a:rPr lang="en-US" dirty="0"/>
              <a:t> </a:t>
            </a:r>
            <a:r>
              <a:rPr lang="en-US" dirty="0" err="1"/>
              <a:t>Vaticani</a:t>
            </a:r>
            <a:r>
              <a:rPr lang="en-US" dirty="0"/>
              <a:t>/IKONA.</a:t>
            </a:r>
          </a:p>
        </p:txBody>
      </p:sp>
      <p:sp>
        <p:nvSpPr>
          <p:cNvPr id="47107" name="Slide Number Placeholder 3"/>
          <p:cNvSpPr>
            <a:spLocks noGrp="1"/>
          </p:cNvSpPr>
          <p:nvPr>
            <p:ph type="sldNum" sz="quarter" idx="5"/>
          </p:nvPr>
        </p:nvSpPr>
        <p:spPr bwMode="auto">
          <a:noFill/>
          <a:ln>
            <a:miter lim="800000"/>
            <a:headEnd/>
            <a:tailEnd/>
          </a:ln>
        </p:spPr>
        <p:txBody>
          <a:bodyPr/>
          <a:lstStyle/>
          <a:p>
            <a:fld id="{A8BC1CA7-0E5C-4347-99F9-BF968796253C}" type="slidenum">
              <a:rPr lang="en-US"/>
              <a:pPr/>
              <a:t>25</a:t>
            </a:fld>
            <a:endParaRPr lang="en-US"/>
          </a:p>
        </p:txBody>
      </p:sp>
    </p:spTree>
    <p:extLst>
      <p:ext uri="{BB962C8B-B14F-4D97-AF65-F5344CB8AC3E}">
        <p14:creationId xmlns:p14="http://schemas.microsoft.com/office/powerpoint/2010/main" val="297332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p:cNvSpPr>
            <a:spLocks noGrp="1" noRot="1" noChangeAspect="1" noTextEdit="1"/>
          </p:cNvSpPr>
          <p:nvPr>
            <p:ph type="sldImg"/>
          </p:nvPr>
        </p:nvSpPr>
        <p:spPr bwMode="auto">
          <a:noFill/>
          <a:ln>
            <a:solidFill>
              <a:srgbClr val="000000"/>
            </a:solidFill>
            <a:miter lim="800000"/>
            <a:headEnd/>
            <a:tailEnd/>
          </a:ln>
        </p:spPr>
      </p:sp>
      <p:sp>
        <p:nvSpPr>
          <p:cNvPr id="50178" name="Notes Placeholder 2"/>
          <p:cNvSpPr>
            <a:spLocks noGrp="1"/>
          </p:cNvSpPr>
          <p:nvPr>
            <p:ph type="body" idx="1"/>
          </p:nvPr>
        </p:nvSpPr>
        <p:spPr bwMode="auto">
          <a:noFill/>
        </p:spPr>
        <p:txBody>
          <a:bodyPr/>
          <a:lstStyle/>
          <a:p>
            <a:pPr>
              <a:spcBef>
                <a:spcPct val="0"/>
              </a:spcBef>
            </a:pPr>
            <a:r>
              <a:rPr lang="en-US" dirty="0">
                <a:latin typeface="Verdana" charset="0"/>
              </a:rPr>
              <a:t>Raphael STUDY FOR CHRIST</a:t>
            </a:r>
            <a:r>
              <a:rPr lang="uk-UA" dirty="0">
                <a:latin typeface="Verdana" charset="0"/>
              </a:rPr>
              <a:t>'</a:t>
            </a:r>
            <a:r>
              <a:rPr lang="en-US" dirty="0">
                <a:latin typeface="Verdana" charset="0"/>
              </a:rPr>
              <a:t>S CHARGE TO PETER</a:t>
            </a:r>
            <a:br>
              <a:rPr lang="en-US" dirty="0">
                <a:latin typeface="Verdana" charset="0"/>
              </a:rPr>
            </a:br>
            <a:r>
              <a:rPr lang="en-US" dirty="0">
                <a:latin typeface="Verdana" charset="0"/>
              </a:rPr>
              <a:t>c. 1515. Red chalk.</a:t>
            </a:r>
            <a:br>
              <a:rPr lang="en-US" dirty="0">
                <a:latin typeface="Verdana" charset="0"/>
              </a:rPr>
            </a:br>
            <a:r>
              <a:rPr lang="en-US" dirty="0">
                <a:latin typeface="Verdana" charset="0"/>
              </a:rPr>
              <a:t>Royal Library, Windsor Castle. Royal Collection Trust © Her Majesty Queen Elizabeth II, 2016/Bridgeman Images. </a:t>
            </a:r>
            <a:endParaRPr lang="en-US" dirty="0"/>
          </a:p>
        </p:txBody>
      </p:sp>
      <p:sp>
        <p:nvSpPr>
          <p:cNvPr id="50179" name="Slide Number Placeholder 3"/>
          <p:cNvSpPr>
            <a:spLocks noGrp="1"/>
          </p:cNvSpPr>
          <p:nvPr>
            <p:ph type="sldNum" sz="quarter" idx="5"/>
          </p:nvPr>
        </p:nvSpPr>
        <p:spPr bwMode="auto">
          <a:noFill/>
          <a:ln>
            <a:miter lim="800000"/>
            <a:headEnd/>
            <a:tailEnd/>
          </a:ln>
        </p:spPr>
        <p:txBody>
          <a:bodyPr/>
          <a:lstStyle/>
          <a:p>
            <a:fld id="{5E796C05-8CA6-8D48-B36B-C0713BD8EEC5}" type="slidenum">
              <a:rPr lang="en-US"/>
              <a:pPr/>
              <a:t>27</a:t>
            </a:fld>
            <a:endParaRPr lang="en-US"/>
          </a:p>
        </p:txBody>
      </p:sp>
    </p:spTree>
    <p:extLst>
      <p:ext uri="{BB962C8B-B14F-4D97-AF65-F5344CB8AC3E}">
        <p14:creationId xmlns:p14="http://schemas.microsoft.com/office/powerpoint/2010/main" val="76914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p:cNvSpPr>
            <a:spLocks noGrp="1" noRot="1" noChangeAspect="1" noTextEdit="1"/>
          </p:cNvSpPr>
          <p:nvPr>
            <p:ph type="sldImg"/>
          </p:nvPr>
        </p:nvSpPr>
        <p:spPr bwMode="auto">
          <a:noFill/>
          <a:ln>
            <a:solidFill>
              <a:srgbClr val="000000"/>
            </a:solidFill>
            <a:miter lim="800000"/>
            <a:headEnd/>
            <a:tailEnd/>
          </a:ln>
        </p:spPr>
      </p:sp>
      <p:sp>
        <p:nvSpPr>
          <p:cNvPr id="52226" name="Notes Placeholder 2"/>
          <p:cNvSpPr>
            <a:spLocks noGrp="1"/>
          </p:cNvSpPr>
          <p:nvPr>
            <p:ph type="body" idx="1"/>
          </p:nvPr>
        </p:nvSpPr>
        <p:spPr bwMode="auto">
          <a:noFill/>
        </p:spPr>
        <p:txBody>
          <a:bodyPr/>
          <a:lstStyle/>
          <a:p>
            <a:pPr>
              <a:spcBef>
                <a:spcPct val="0"/>
              </a:spcBef>
            </a:pPr>
            <a:r>
              <a:rPr lang="en-US" dirty="0"/>
              <a:t>Raphael and assistants CARTOON FOR TAPESTRY PORTRAYING</a:t>
            </a:r>
            <a:br>
              <a:rPr lang="en-US" dirty="0"/>
            </a:br>
            <a:r>
              <a:rPr lang="en-US" dirty="0"/>
              <a:t>CHRIST</a:t>
            </a:r>
            <a:r>
              <a:rPr lang="uk-UA" dirty="0"/>
              <a:t>'</a:t>
            </a:r>
            <a:r>
              <a:rPr lang="en-US" dirty="0"/>
              <a:t>S CHARGE TO PETER</a:t>
            </a:r>
            <a:br>
              <a:rPr lang="en-US" dirty="0"/>
            </a:br>
            <a:r>
              <a:rPr lang="en-US" dirty="0"/>
              <a:t>c. 1515–1516. Distemper on paper (now transferred to canvas),</a:t>
            </a:r>
            <a:br>
              <a:rPr lang="en-US" dirty="0"/>
            </a:br>
            <a:r>
              <a:rPr lang="en-US" dirty="0"/>
              <a:t>11</a:t>
            </a:r>
            <a:r>
              <a:rPr lang="uk-UA" dirty="0"/>
              <a:t>'</a:t>
            </a:r>
            <a:r>
              <a:rPr lang="en-US" dirty="0"/>
              <a:t>1</a:t>
            </a:r>
            <a:r>
              <a:rPr lang="ru-RU" dirty="0"/>
              <a:t>"</a:t>
            </a:r>
            <a:r>
              <a:rPr lang="en-US" dirty="0"/>
              <a:t> × 17</a:t>
            </a:r>
            <a:r>
              <a:rPr lang="uk-UA" dirty="0"/>
              <a:t>'</a:t>
            </a:r>
            <a:r>
              <a:rPr lang="en-US" dirty="0"/>
              <a:t>4</a:t>
            </a:r>
            <a:r>
              <a:rPr lang="ru-RU" dirty="0"/>
              <a:t>"</a:t>
            </a:r>
            <a:r>
              <a:rPr lang="en-US" dirty="0"/>
              <a:t> (3.4 × 5.3 m). Lent by Her Majesty the Queen to the Victoria &amp; Albert Museum, London. V&amp;A Images/Victoria and Albert Museum.</a:t>
            </a:r>
          </a:p>
        </p:txBody>
      </p:sp>
      <p:sp>
        <p:nvSpPr>
          <p:cNvPr id="52227" name="Slide Number Placeholder 3"/>
          <p:cNvSpPr>
            <a:spLocks noGrp="1"/>
          </p:cNvSpPr>
          <p:nvPr>
            <p:ph type="sldNum" sz="quarter" idx="5"/>
          </p:nvPr>
        </p:nvSpPr>
        <p:spPr bwMode="auto">
          <a:noFill/>
          <a:ln>
            <a:miter lim="800000"/>
            <a:headEnd/>
            <a:tailEnd/>
          </a:ln>
        </p:spPr>
        <p:txBody>
          <a:bodyPr/>
          <a:lstStyle/>
          <a:p>
            <a:fld id="{5FBEA33E-6469-C74B-AB93-3ADCC16FB78E}" type="slidenum">
              <a:rPr lang="en-US"/>
              <a:pPr/>
              <a:t>28</a:t>
            </a:fld>
            <a:endParaRPr lang="en-US"/>
          </a:p>
        </p:txBody>
      </p:sp>
    </p:spTree>
    <p:extLst>
      <p:ext uri="{BB962C8B-B14F-4D97-AF65-F5344CB8AC3E}">
        <p14:creationId xmlns:p14="http://schemas.microsoft.com/office/powerpoint/2010/main" val="2066195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bwMode="auto">
          <a:noFill/>
          <a:ln>
            <a:solidFill>
              <a:srgbClr val="000000"/>
            </a:solidFill>
            <a:miter lim="800000"/>
            <a:headEnd/>
            <a:tailEnd/>
          </a:ln>
        </p:spPr>
      </p:sp>
      <p:sp>
        <p:nvSpPr>
          <p:cNvPr id="54274" name="Notes Placeholder 2"/>
          <p:cNvSpPr>
            <a:spLocks noGrp="1"/>
          </p:cNvSpPr>
          <p:nvPr>
            <p:ph type="body" idx="1"/>
          </p:nvPr>
        </p:nvSpPr>
        <p:spPr bwMode="auto">
          <a:noFill/>
        </p:spPr>
        <p:txBody>
          <a:bodyPr/>
          <a:lstStyle/>
          <a:p>
            <a:pPr>
              <a:spcBef>
                <a:spcPct val="0"/>
              </a:spcBef>
            </a:pPr>
            <a:r>
              <a:rPr lang="en-US" dirty="0"/>
              <a:t>Shop of Pieter van </a:t>
            </a:r>
            <a:r>
              <a:rPr lang="en-US" dirty="0" err="1"/>
              <a:t>Aelst</a:t>
            </a:r>
            <a:r>
              <a:rPr lang="en-US" dirty="0"/>
              <a:t>, Brussels, after cartoons by Raphael and assistants</a:t>
            </a:r>
            <a:br>
              <a:rPr lang="en-US" dirty="0"/>
            </a:br>
            <a:r>
              <a:rPr lang="en-US" dirty="0"/>
              <a:t>CHRIST</a:t>
            </a:r>
            <a:r>
              <a:rPr lang="uk-UA" dirty="0"/>
              <a:t>'</a:t>
            </a:r>
            <a:r>
              <a:rPr lang="en-US" dirty="0"/>
              <a:t>S CHARGE TO PETER</a:t>
            </a:r>
            <a:br>
              <a:rPr lang="en-US" dirty="0"/>
            </a:br>
            <a:r>
              <a:rPr lang="en-US" dirty="0"/>
              <a:t>Woven 1517, installed 1519 in the Sistine Chapel.</a:t>
            </a:r>
            <a:br>
              <a:rPr lang="en-US" dirty="0"/>
            </a:br>
            <a:r>
              <a:rPr lang="en-US" dirty="0"/>
              <a:t>Wool and silk with silver-gilt-wrapped threads.</a:t>
            </a:r>
            <a:br>
              <a:rPr lang="en-US" dirty="0"/>
            </a:br>
            <a:r>
              <a:rPr lang="en-US" dirty="0" err="1"/>
              <a:t>Musei</a:t>
            </a:r>
            <a:r>
              <a:rPr lang="en-US" dirty="0"/>
              <a:t> </a:t>
            </a:r>
            <a:r>
              <a:rPr lang="en-US" dirty="0" err="1"/>
              <a:t>Vaticani</a:t>
            </a:r>
            <a:r>
              <a:rPr lang="en-US" dirty="0"/>
              <a:t>, Pinacoteca, Rome. Photo © </a:t>
            </a:r>
            <a:r>
              <a:rPr lang="en-US" dirty="0" err="1"/>
              <a:t>Musei</a:t>
            </a:r>
            <a:r>
              <a:rPr lang="en-US" dirty="0"/>
              <a:t> </a:t>
            </a:r>
            <a:r>
              <a:rPr lang="en-US" dirty="0" err="1"/>
              <a:t>Vaticani</a:t>
            </a:r>
            <a:r>
              <a:rPr lang="en-US" dirty="0"/>
              <a:t>/IKONA. </a:t>
            </a:r>
          </a:p>
        </p:txBody>
      </p:sp>
      <p:sp>
        <p:nvSpPr>
          <p:cNvPr id="54275" name="Slide Number Placeholder 3"/>
          <p:cNvSpPr>
            <a:spLocks noGrp="1"/>
          </p:cNvSpPr>
          <p:nvPr>
            <p:ph type="sldNum" sz="quarter" idx="5"/>
          </p:nvPr>
        </p:nvSpPr>
        <p:spPr bwMode="auto">
          <a:noFill/>
          <a:ln>
            <a:miter lim="800000"/>
            <a:headEnd/>
            <a:tailEnd/>
          </a:ln>
        </p:spPr>
        <p:txBody>
          <a:bodyPr/>
          <a:lstStyle/>
          <a:p>
            <a:fld id="{9FD560AA-F20C-3440-B394-4908ED809943}" type="slidenum">
              <a:rPr lang="en-US"/>
              <a:pPr/>
              <a:t>29</a:t>
            </a:fld>
            <a:endParaRPr lang="en-US"/>
          </a:p>
        </p:txBody>
      </p:sp>
    </p:spTree>
    <p:extLst>
      <p:ext uri="{BB962C8B-B14F-4D97-AF65-F5344CB8AC3E}">
        <p14:creationId xmlns:p14="http://schemas.microsoft.com/office/powerpoint/2010/main" val="17326586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p:spPr>
      </p:sp>
      <p:sp>
        <p:nvSpPr>
          <p:cNvPr id="57346" name="Notes Placeholder 2"/>
          <p:cNvSpPr>
            <a:spLocks noGrp="1"/>
          </p:cNvSpPr>
          <p:nvPr>
            <p:ph type="body" idx="1"/>
          </p:nvPr>
        </p:nvSpPr>
        <p:spPr bwMode="auto">
          <a:noFill/>
        </p:spPr>
        <p:txBody>
          <a:bodyPr/>
          <a:lstStyle/>
          <a:p>
            <a:pPr>
              <a:spcBef>
                <a:spcPct val="0"/>
              </a:spcBef>
            </a:pPr>
            <a:r>
              <a:rPr lang="en-US" dirty="0">
                <a:latin typeface="Verdana" charset="0"/>
              </a:rPr>
              <a:t>Michelangelo PIETÀ</a:t>
            </a:r>
            <a:br>
              <a:rPr lang="en-US" dirty="0">
                <a:latin typeface="Verdana" charset="0"/>
              </a:rPr>
            </a:br>
            <a:r>
              <a:rPr lang="en-US" dirty="0">
                <a:latin typeface="Verdana" charset="0"/>
              </a:rPr>
              <a:t>c. 1500. Marble, height 5</a:t>
            </a:r>
            <a:r>
              <a:rPr lang="uk-UA" dirty="0">
                <a:latin typeface="Verdana" charset="0"/>
              </a:rPr>
              <a:t>'</a:t>
            </a:r>
            <a:r>
              <a:rPr lang="en-US" dirty="0">
                <a:latin typeface="Verdana" charset="0"/>
              </a:rPr>
              <a:t>8-1/2</a:t>
            </a:r>
            <a:r>
              <a:rPr lang="ru-RU" dirty="0">
                <a:latin typeface="Verdana" charset="0"/>
              </a:rPr>
              <a:t>"</a:t>
            </a:r>
            <a:r>
              <a:rPr lang="en-US" dirty="0">
                <a:latin typeface="Verdana" charset="0"/>
              </a:rPr>
              <a:t> (1.74 m).</a:t>
            </a:r>
            <a:br>
              <a:rPr lang="en-US" dirty="0">
                <a:latin typeface="Verdana" charset="0"/>
              </a:rPr>
            </a:br>
            <a:r>
              <a:rPr lang="en-US" dirty="0">
                <a:latin typeface="Verdana" charset="0"/>
              </a:rPr>
              <a:t>St. Peter</a:t>
            </a:r>
            <a:r>
              <a:rPr lang="uk-UA" dirty="0">
                <a:latin typeface="Verdana" charset="0"/>
              </a:rPr>
              <a:t>'</a:t>
            </a:r>
            <a:r>
              <a:rPr lang="en-US" dirty="0">
                <a:latin typeface="Verdana" charset="0"/>
              </a:rPr>
              <a:t>s, Vatican, Rome. </a:t>
            </a:r>
            <a:r>
              <a:rPr lang="en-US" dirty="0" err="1">
                <a:latin typeface="Verdana" charset="0"/>
              </a:rPr>
              <a:t>Canali</a:t>
            </a:r>
            <a:r>
              <a:rPr lang="en-US" dirty="0">
                <a:latin typeface="Verdana" charset="0"/>
              </a:rPr>
              <a:t> Photobank, Milan, Italy.</a:t>
            </a:r>
            <a:endParaRPr lang="en-US" dirty="0"/>
          </a:p>
        </p:txBody>
      </p:sp>
      <p:sp>
        <p:nvSpPr>
          <p:cNvPr id="57347" name="Slide Number Placeholder 3"/>
          <p:cNvSpPr>
            <a:spLocks noGrp="1"/>
          </p:cNvSpPr>
          <p:nvPr>
            <p:ph type="sldNum" sz="quarter" idx="5"/>
          </p:nvPr>
        </p:nvSpPr>
        <p:spPr bwMode="auto">
          <a:noFill/>
          <a:ln>
            <a:miter lim="800000"/>
            <a:headEnd/>
            <a:tailEnd/>
          </a:ln>
        </p:spPr>
        <p:txBody>
          <a:bodyPr/>
          <a:lstStyle/>
          <a:p>
            <a:fld id="{1044E8FF-C545-1B46-B59A-ED2C72CA3CBD}" type="slidenum">
              <a:rPr lang="en-US"/>
              <a:pPr/>
              <a:t>31</a:t>
            </a:fld>
            <a:endParaRPr lang="en-US"/>
          </a:p>
        </p:txBody>
      </p:sp>
    </p:spTree>
    <p:extLst>
      <p:ext uri="{BB962C8B-B14F-4D97-AF65-F5344CB8AC3E}">
        <p14:creationId xmlns:p14="http://schemas.microsoft.com/office/powerpoint/2010/main" val="915173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noTextEdit="1"/>
          </p:cNvSpPr>
          <p:nvPr>
            <p:ph type="sldImg"/>
          </p:nvPr>
        </p:nvSpPr>
        <p:spPr bwMode="auto">
          <a:noFill/>
          <a:ln>
            <a:solidFill>
              <a:srgbClr val="000000"/>
            </a:solidFill>
            <a:miter lim="800000"/>
            <a:headEnd/>
            <a:tailEnd/>
          </a:ln>
        </p:spPr>
      </p:sp>
      <p:sp>
        <p:nvSpPr>
          <p:cNvPr id="60418" name="Notes Placeholder 2"/>
          <p:cNvSpPr>
            <a:spLocks noGrp="1"/>
          </p:cNvSpPr>
          <p:nvPr>
            <p:ph type="body" idx="1"/>
          </p:nvPr>
        </p:nvSpPr>
        <p:spPr bwMode="auto">
          <a:noFill/>
        </p:spPr>
        <p:txBody>
          <a:bodyPr/>
          <a:lstStyle/>
          <a:p>
            <a:pPr>
              <a:spcBef>
                <a:spcPct val="0"/>
              </a:spcBef>
            </a:pPr>
            <a:r>
              <a:rPr lang="en-US" dirty="0"/>
              <a:t>Michelangelo DAVID</a:t>
            </a:r>
            <a:br>
              <a:rPr lang="en-US" dirty="0"/>
            </a:br>
            <a:r>
              <a:rPr lang="en-US" dirty="0"/>
              <a:t>1501–1504. Marble, height 17</a:t>
            </a:r>
            <a:r>
              <a:rPr lang="uk-UA" dirty="0"/>
              <a:t>'</a:t>
            </a:r>
            <a:r>
              <a:rPr lang="en-US" dirty="0"/>
              <a:t> (5.18 m) without pedestal.</a:t>
            </a:r>
            <a:br>
              <a:rPr lang="en-US" dirty="0"/>
            </a:br>
            <a:r>
              <a:rPr lang="en-US" dirty="0"/>
              <a:t>Galleria dell</a:t>
            </a:r>
            <a:r>
              <a:rPr lang="uk-UA" dirty="0"/>
              <a:t>'</a:t>
            </a:r>
            <a:r>
              <a:rPr lang="en-US" dirty="0"/>
              <a:t>Accademia, Florence. © Studio </a:t>
            </a:r>
            <a:r>
              <a:rPr lang="en-US" dirty="0" err="1"/>
              <a:t>Fotografico</a:t>
            </a:r>
            <a:r>
              <a:rPr lang="en-US" dirty="0"/>
              <a:t> </a:t>
            </a:r>
            <a:r>
              <a:rPr lang="en-US" dirty="0" err="1"/>
              <a:t>Quattrone</a:t>
            </a:r>
            <a:r>
              <a:rPr lang="en-US" dirty="0"/>
              <a:t>, Florence.</a:t>
            </a:r>
          </a:p>
        </p:txBody>
      </p:sp>
      <p:sp>
        <p:nvSpPr>
          <p:cNvPr id="60419" name="Slide Number Placeholder 3"/>
          <p:cNvSpPr>
            <a:spLocks noGrp="1"/>
          </p:cNvSpPr>
          <p:nvPr>
            <p:ph type="sldNum" sz="quarter" idx="5"/>
          </p:nvPr>
        </p:nvSpPr>
        <p:spPr bwMode="auto">
          <a:noFill/>
          <a:ln>
            <a:miter lim="800000"/>
            <a:headEnd/>
            <a:tailEnd/>
          </a:ln>
        </p:spPr>
        <p:txBody>
          <a:bodyPr/>
          <a:lstStyle/>
          <a:p>
            <a:fld id="{3891F2E3-CB77-EF40-B07E-E64F51F4EBCD}" type="slidenum">
              <a:rPr lang="en-US"/>
              <a:pPr/>
              <a:t>33</a:t>
            </a:fld>
            <a:endParaRPr lang="en-US"/>
          </a:p>
        </p:txBody>
      </p:sp>
    </p:spTree>
    <p:extLst>
      <p:ext uri="{BB962C8B-B14F-4D97-AF65-F5344CB8AC3E}">
        <p14:creationId xmlns:p14="http://schemas.microsoft.com/office/powerpoint/2010/main" val="1035067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p:spPr>
      </p:sp>
      <p:sp>
        <p:nvSpPr>
          <p:cNvPr id="63490" name="Notes Placeholder 2"/>
          <p:cNvSpPr>
            <a:spLocks noGrp="1"/>
          </p:cNvSpPr>
          <p:nvPr>
            <p:ph type="body" idx="1"/>
          </p:nvPr>
        </p:nvSpPr>
        <p:spPr bwMode="auto">
          <a:noFill/>
        </p:spPr>
        <p:txBody>
          <a:bodyPr/>
          <a:lstStyle/>
          <a:p>
            <a:pPr>
              <a:spcBef>
                <a:spcPct val="0"/>
              </a:spcBef>
            </a:pPr>
            <a:r>
              <a:rPr lang="en-US" dirty="0"/>
              <a:t>INTERIOR, SISTINE CHAPEL</a:t>
            </a:r>
            <a:br>
              <a:rPr lang="en-US" dirty="0"/>
            </a:br>
            <a:r>
              <a:rPr lang="en-US" dirty="0"/>
              <a:t>Vatican, Rome. Built 1475–1481; ceiling painted 1508–1512; end wall, 1536–1541.</a:t>
            </a:r>
            <a:br>
              <a:rPr lang="en-US" dirty="0"/>
            </a:br>
            <a:r>
              <a:rPr lang="en-US" dirty="0"/>
              <a:t>The ceiling measures 45 × 128</a:t>
            </a:r>
            <a:r>
              <a:rPr lang="uk-UA" dirty="0"/>
              <a:t>'</a:t>
            </a:r>
            <a:r>
              <a:rPr lang="en-US" dirty="0"/>
              <a:t> (13.75 × 39 m).</a:t>
            </a:r>
            <a:br>
              <a:rPr lang="en-US" dirty="0"/>
            </a:br>
            <a:r>
              <a:rPr lang="en-US" dirty="0"/>
              <a:t> Photo © </a:t>
            </a:r>
            <a:r>
              <a:rPr lang="en-US" dirty="0" err="1"/>
              <a:t>Musei</a:t>
            </a:r>
            <a:r>
              <a:rPr lang="en-US" dirty="0"/>
              <a:t> </a:t>
            </a:r>
            <a:r>
              <a:rPr lang="en-US" dirty="0" err="1"/>
              <a:t>Vaticani</a:t>
            </a:r>
            <a:r>
              <a:rPr lang="en-US" dirty="0"/>
              <a:t>/IKONA</a:t>
            </a:r>
          </a:p>
        </p:txBody>
      </p:sp>
      <p:sp>
        <p:nvSpPr>
          <p:cNvPr id="63491" name="Slide Number Placeholder 3"/>
          <p:cNvSpPr>
            <a:spLocks noGrp="1"/>
          </p:cNvSpPr>
          <p:nvPr>
            <p:ph type="sldNum" sz="quarter" idx="5"/>
          </p:nvPr>
        </p:nvSpPr>
        <p:spPr bwMode="auto">
          <a:noFill/>
          <a:ln>
            <a:miter lim="800000"/>
            <a:headEnd/>
            <a:tailEnd/>
          </a:ln>
        </p:spPr>
        <p:txBody>
          <a:bodyPr/>
          <a:lstStyle/>
          <a:p>
            <a:fld id="{8FBFF626-FD37-5340-B8A0-8FE4D2B69722}" type="slidenum">
              <a:rPr lang="en-US"/>
              <a:pPr/>
              <a:t>35</a:t>
            </a:fld>
            <a:endParaRPr lang="en-US"/>
          </a:p>
        </p:txBody>
      </p:sp>
    </p:spTree>
    <p:extLst>
      <p:ext uri="{BB962C8B-B14F-4D97-AF65-F5344CB8AC3E}">
        <p14:creationId xmlns:p14="http://schemas.microsoft.com/office/powerpoint/2010/main" val="17590073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a:lstStyle/>
          <a:p>
            <a:pPr>
              <a:spcBef>
                <a:spcPct val="0"/>
              </a:spcBef>
            </a:pPr>
            <a:r>
              <a:rPr lang="en-US" dirty="0"/>
              <a:t>Michelangelo SISTINE CHAPEL CEILING WITH DIAGRAM IDENTIFYING SCENES</a:t>
            </a:r>
            <a:br>
              <a:rPr lang="en-US" dirty="0"/>
            </a:br>
            <a:r>
              <a:rPr lang="en-US" dirty="0"/>
              <a:t>1508–1512. Fresco.</a:t>
            </a:r>
            <a:br>
              <a:rPr lang="en-US" dirty="0"/>
            </a:br>
            <a:r>
              <a:rPr lang="en-US" dirty="0"/>
              <a:t>Photo © </a:t>
            </a:r>
            <a:r>
              <a:rPr lang="en-US" dirty="0" err="1"/>
              <a:t>Musei</a:t>
            </a:r>
            <a:r>
              <a:rPr lang="en-US" dirty="0"/>
              <a:t> </a:t>
            </a:r>
            <a:r>
              <a:rPr lang="en-US" dirty="0" err="1"/>
              <a:t>Vaticani</a:t>
            </a:r>
            <a:r>
              <a:rPr lang="en-US" dirty="0"/>
              <a:t>/IKONA.</a:t>
            </a:r>
          </a:p>
        </p:txBody>
      </p:sp>
      <p:sp>
        <p:nvSpPr>
          <p:cNvPr id="65539" name="Slide Number Placeholder 3"/>
          <p:cNvSpPr>
            <a:spLocks noGrp="1"/>
          </p:cNvSpPr>
          <p:nvPr>
            <p:ph type="sldNum" sz="quarter" idx="5"/>
          </p:nvPr>
        </p:nvSpPr>
        <p:spPr bwMode="auto">
          <a:noFill/>
          <a:ln>
            <a:miter lim="800000"/>
            <a:headEnd/>
            <a:tailEnd/>
          </a:ln>
        </p:spPr>
        <p:txBody>
          <a:bodyPr/>
          <a:lstStyle/>
          <a:p>
            <a:fld id="{5F6A1BB9-3198-9B4B-8A59-7704A8070018}" type="slidenum">
              <a:rPr lang="en-US"/>
              <a:pPr/>
              <a:t>36</a:t>
            </a:fld>
            <a:endParaRPr lang="en-US"/>
          </a:p>
        </p:txBody>
      </p:sp>
    </p:spTree>
    <p:extLst>
      <p:ext uri="{BB962C8B-B14F-4D97-AF65-F5344CB8AC3E}">
        <p14:creationId xmlns:p14="http://schemas.microsoft.com/office/powerpoint/2010/main" val="1377184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p:spPr>
      </p:sp>
      <p:sp>
        <p:nvSpPr>
          <p:cNvPr id="67586" name="Notes Placeholder 2"/>
          <p:cNvSpPr>
            <a:spLocks noGrp="1"/>
          </p:cNvSpPr>
          <p:nvPr>
            <p:ph type="body" idx="1"/>
          </p:nvPr>
        </p:nvSpPr>
        <p:spPr bwMode="auto">
          <a:noFill/>
        </p:spPr>
        <p:txBody>
          <a:bodyPr/>
          <a:lstStyle/>
          <a:p>
            <a:pPr>
              <a:spcBef>
                <a:spcPct val="0"/>
              </a:spcBef>
            </a:pPr>
            <a:r>
              <a:rPr lang="en-US" dirty="0"/>
              <a:t>Michelangelo SISTINE CHAPEL CEILING WITH DIAGRAM IDENTIFYING SCENES</a:t>
            </a:r>
            <a:br>
              <a:rPr lang="en-US" dirty="0"/>
            </a:br>
            <a:r>
              <a:rPr lang="en-US" dirty="0"/>
              <a:t>1508–1512. Fresco.</a:t>
            </a:r>
          </a:p>
        </p:txBody>
      </p:sp>
      <p:sp>
        <p:nvSpPr>
          <p:cNvPr id="67587" name="Slide Number Placeholder 3"/>
          <p:cNvSpPr>
            <a:spLocks noGrp="1"/>
          </p:cNvSpPr>
          <p:nvPr>
            <p:ph type="sldNum" sz="quarter" idx="5"/>
          </p:nvPr>
        </p:nvSpPr>
        <p:spPr bwMode="auto">
          <a:noFill/>
          <a:ln>
            <a:miter lim="800000"/>
            <a:headEnd/>
            <a:tailEnd/>
          </a:ln>
        </p:spPr>
        <p:txBody>
          <a:bodyPr/>
          <a:lstStyle/>
          <a:p>
            <a:fld id="{585F9B65-62DB-AE4D-9709-D03771E185AE}" type="slidenum">
              <a:rPr lang="en-US"/>
              <a:pPr/>
              <a:t>37</a:t>
            </a:fld>
            <a:endParaRPr lang="en-US"/>
          </a:p>
        </p:txBody>
      </p:sp>
    </p:spTree>
    <p:extLst>
      <p:ext uri="{BB962C8B-B14F-4D97-AF65-F5344CB8AC3E}">
        <p14:creationId xmlns:p14="http://schemas.microsoft.com/office/powerpoint/2010/main" val="764034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noTextEdit="1"/>
          </p:cNvSpPr>
          <p:nvPr>
            <p:ph type="sldImg"/>
          </p:nvPr>
        </p:nvSpPr>
        <p:spPr bwMode="auto">
          <a:noFill/>
          <a:ln>
            <a:solidFill>
              <a:srgbClr val="000000"/>
            </a:solidFill>
            <a:miter lim="800000"/>
            <a:headEnd/>
            <a:tailEnd/>
          </a:ln>
        </p:spPr>
      </p:sp>
      <p:sp>
        <p:nvSpPr>
          <p:cNvPr id="70658" name="Notes Placeholder 2"/>
          <p:cNvSpPr>
            <a:spLocks noGrp="1"/>
          </p:cNvSpPr>
          <p:nvPr>
            <p:ph type="body" idx="1"/>
          </p:nvPr>
        </p:nvSpPr>
        <p:spPr bwMode="auto">
          <a:noFill/>
        </p:spPr>
        <p:txBody>
          <a:bodyPr/>
          <a:lstStyle/>
          <a:p>
            <a:pPr>
              <a:spcBef>
                <a:spcPct val="0"/>
              </a:spcBef>
            </a:pPr>
            <a:r>
              <a:rPr lang="en-US" dirty="0"/>
              <a:t>Michelangelo CREATION OF ADAM, SISTINE CHAPEL CEILING</a:t>
            </a:r>
            <a:br>
              <a:rPr lang="en-US" dirty="0"/>
            </a:br>
            <a:r>
              <a:rPr lang="en-US" dirty="0"/>
              <a:t>1511–1512. Fresco, 9</a:t>
            </a:r>
            <a:r>
              <a:rPr lang="uk-UA" dirty="0"/>
              <a:t>'</a:t>
            </a:r>
            <a:r>
              <a:rPr lang="en-US" dirty="0"/>
              <a:t>2</a:t>
            </a:r>
            <a:r>
              <a:rPr lang="ru-RU" dirty="0"/>
              <a:t>"</a:t>
            </a:r>
            <a:r>
              <a:rPr lang="en-US" dirty="0"/>
              <a:t> × 18</a:t>
            </a:r>
            <a:r>
              <a:rPr lang="uk-UA" dirty="0"/>
              <a:t>'</a:t>
            </a:r>
            <a:r>
              <a:rPr lang="en-US" dirty="0"/>
              <a:t>8</a:t>
            </a:r>
            <a:r>
              <a:rPr lang="ru-RU" dirty="0"/>
              <a:t>"</a:t>
            </a:r>
            <a:r>
              <a:rPr lang="en-US" dirty="0"/>
              <a:t> (2.8 × 5.7 m).</a:t>
            </a:r>
            <a:br>
              <a:rPr lang="en-US" dirty="0"/>
            </a:br>
            <a:r>
              <a:rPr lang="en-US" dirty="0"/>
              <a:t>Photo © </a:t>
            </a:r>
            <a:r>
              <a:rPr lang="en-US" dirty="0" err="1"/>
              <a:t>Musei</a:t>
            </a:r>
            <a:r>
              <a:rPr lang="en-US" dirty="0"/>
              <a:t> </a:t>
            </a:r>
            <a:r>
              <a:rPr lang="en-US" dirty="0" err="1"/>
              <a:t>Vaticani</a:t>
            </a:r>
            <a:r>
              <a:rPr lang="en-US" dirty="0"/>
              <a:t>/IKONA. </a:t>
            </a:r>
          </a:p>
        </p:txBody>
      </p:sp>
      <p:sp>
        <p:nvSpPr>
          <p:cNvPr id="70659" name="Slide Number Placeholder 3"/>
          <p:cNvSpPr>
            <a:spLocks noGrp="1"/>
          </p:cNvSpPr>
          <p:nvPr>
            <p:ph type="sldNum" sz="quarter" idx="5"/>
          </p:nvPr>
        </p:nvSpPr>
        <p:spPr bwMode="auto">
          <a:noFill/>
          <a:ln>
            <a:miter lim="800000"/>
            <a:headEnd/>
            <a:tailEnd/>
          </a:ln>
        </p:spPr>
        <p:txBody>
          <a:bodyPr/>
          <a:lstStyle/>
          <a:p>
            <a:fld id="{C850201B-17E8-EC45-8B54-AFC64F928E55}" type="slidenum">
              <a:rPr lang="en-US"/>
              <a:pPr/>
              <a:t>38</a:t>
            </a:fld>
            <a:endParaRPr lang="en-US"/>
          </a:p>
        </p:txBody>
      </p:sp>
    </p:spTree>
    <p:extLst>
      <p:ext uri="{BB962C8B-B14F-4D97-AF65-F5344CB8AC3E}">
        <p14:creationId xmlns:p14="http://schemas.microsoft.com/office/powerpoint/2010/main" val="13304775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p:spPr>
      </p:sp>
      <p:sp>
        <p:nvSpPr>
          <p:cNvPr id="73730" name="Notes Placeholder 2"/>
          <p:cNvSpPr>
            <a:spLocks noGrp="1"/>
          </p:cNvSpPr>
          <p:nvPr>
            <p:ph type="body" idx="1"/>
          </p:nvPr>
        </p:nvSpPr>
        <p:spPr bwMode="auto">
          <a:noFill/>
        </p:spPr>
        <p:txBody>
          <a:bodyPr/>
          <a:lstStyle/>
          <a:p>
            <a:pPr>
              <a:spcBef>
                <a:spcPct val="0"/>
              </a:spcBef>
            </a:pPr>
            <a:r>
              <a:rPr lang="en-US" dirty="0"/>
              <a:t>Michelangelo TOMB OF GIULIANO DE</a:t>
            </a:r>
            <a:r>
              <a:rPr lang="uk-UA" dirty="0"/>
              <a:t>'</a:t>
            </a:r>
            <a:r>
              <a:rPr lang="en-US" dirty="0"/>
              <a:t> MEDICI WITH ALLEGORICAL FIGURES OF NIGHT AND DAY</a:t>
            </a:r>
            <a:br>
              <a:rPr lang="en-US" dirty="0"/>
            </a:br>
            <a:r>
              <a:rPr lang="en-US" dirty="0"/>
              <a:t>New Sacristy (Medici Chapel), church of San Lorenzo, Florence. 1519–1534.</a:t>
            </a:r>
            <a:br>
              <a:rPr lang="en-US" dirty="0"/>
            </a:br>
            <a:r>
              <a:rPr lang="en-US" dirty="0"/>
              <a:t>Marble, height of seated figure approx. 5</a:t>
            </a:r>
            <a:r>
              <a:rPr lang="uk-UA" dirty="0"/>
              <a:t>'</a:t>
            </a:r>
            <a:r>
              <a:rPr lang="en-US" dirty="0"/>
              <a:t>10</a:t>
            </a:r>
            <a:r>
              <a:rPr lang="ru-RU" dirty="0"/>
              <a:t>"</a:t>
            </a:r>
            <a:r>
              <a:rPr lang="en-US" dirty="0"/>
              <a:t> (1.8 m).</a:t>
            </a:r>
            <a:br>
              <a:rPr lang="en-US" dirty="0"/>
            </a:br>
            <a:r>
              <a:rPr lang="en-US" dirty="0"/>
              <a:t>© Studio </a:t>
            </a:r>
            <a:r>
              <a:rPr lang="en-US" dirty="0" err="1"/>
              <a:t>Fotografico</a:t>
            </a:r>
            <a:r>
              <a:rPr lang="en-US" dirty="0"/>
              <a:t> </a:t>
            </a:r>
            <a:r>
              <a:rPr lang="en-US" dirty="0" err="1"/>
              <a:t>Quattrone</a:t>
            </a:r>
            <a:r>
              <a:rPr lang="en-US" dirty="0"/>
              <a:t>, Florence.</a:t>
            </a:r>
          </a:p>
        </p:txBody>
      </p:sp>
      <p:sp>
        <p:nvSpPr>
          <p:cNvPr id="73731" name="Slide Number Placeholder 3"/>
          <p:cNvSpPr>
            <a:spLocks noGrp="1"/>
          </p:cNvSpPr>
          <p:nvPr>
            <p:ph type="sldNum" sz="quarter" idx="5"/>
          </p:nvPr>
        </p:nvSpPr>
        <p:spPr bwMode="auto">
          <a:noFill/>
          <a:ln>
            <a:miter lim="800000"/>
            <a:headEnd/>
            <a:tailEnd/>
          </a:ln>
        </p:spPr>
        <p:txBody>
          <a:bodyPr/>
          <a:lstStyle/>
          <a:p>
            <a:fld id="{12C5E905-6B66-0446-83DF-84BDFAD35DC8}" type="slidenum">
              <a:rPr lang="en-US"/>
              <a:pPr/>
              <a:t>41</a:t>
            </a:fld>
            <a:endParaRPr lang="en-US"/>
          </a:p>
        </p:txBody>
      </p:sp>
    </p:spTree>
    <p:extLst>
      <p:ext uri="{BB962C8B-B14F-4D97-AF65-F5344CB8AC3E}">
        <p14:creationId xmlns:p14="http://schemas.microsoft.com/office/powerpoint/2010/main" val="17365007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bwMode="auto">
          <a:noFill/>
          <a:ln>
            <a:solidFill>
              <a:srgbClr val="000000"/>
            </a:solidFill>
            <a:miter lim="800000"/>
            <a:headEnd/>
            <a:tailEnd/>
          </a:ln>
        </p:spPr>
      </p:sp>
      <p:sp>
        <p:nvSpPr>
          <p:cNvPr id="76802" name="Notes Placeholder 2"/>
          <p:cNvSpPr>
            <a:spLocks noGrp="1"/>
          </p:cNvSpPr>
          <p:nvPr>
            <p:ph type="body" idx="1"/>
          </p:nvPr>
        </p:nvSpPr>
        <p:spPr bwMode="auto">
          <a:noFill/>
        </p:spPr>
        <p:txBody>
          <a:bodyPr/>
          <a:lstStyle/>
          <a:p>
            <a:pPr>
              <a:spcBef>
                <a:spcPct val="0"/>
              </a:spcBef>
            </a:pPr>
            <a:r>
              <a:rPr lang="en-US" dirty="0"/>
              <a:t>Michelangelo VESTIBULE OF THE LAURENTIAN LIBRARY</a:t>
            </a:r>
            <a:br>
              <a:rPr lang="en-US" dirty="0"/>
            </a:br>
            <a:r>
              <a:rPr lang="en-US" dirty="0"/>
              <a:t>Church of San Lorenzo, Florence.</a:t>
            </a:r>
            <a:br>
              <a:rPr lang="en-US" dirty="0"/>
            </a:br>
            <a:r>
              <a:rPr lang="en-US" dirty="0"/>
              <a:t>Begun 1524; stairway designed 1550s.</a:t>
            </a:r>
            <a:br>
              <a:rPr lang="en-US" dirty="0"/>
            </a:br>
            <a:r>
              <a:rPr lang="en-US" dirty="0"/>
              <a:t>© Studio </a:t>
            </a:r>
            <a:r>
              <a:rPr lang="en-US" dirty="0" err="1"/>
              <a:t>Fotografico</a:t>
            </a:r>
            <a:r>
              <a:rPr lang="en-US" dirty="0"/>
              <a:t> </a:t>
            </a:r>
            <a:r>
              <a:rPr lang="en-US" dirty="0" err="1"/>
              <a:t>Quattrone</a:t>
            </a:r>
            <a:r>
              <a:rPr lang="en-US" dirty="0"/>
              <a:t>, Florence.</a:t>
            </a:r>
          </a:p>
        </p:txBody>
      </p:sp>
      <p:sp>
        <p:nvSpPr>
          <p:cNvPr id="76803" name="Slide Number Placeholder 3"/>
          <p:cNvSpPr>
            <a:spLocks noGrp="1"/>
          </p:cNvSpPr>
          <p:nvPr>
            <p:ph type="sldNum" sz="quarter" idx="5"/>
          </p:nvPr>
        </p:nvSpPr>
        <p:spPr bwMode="auto">
          <a:noFill/>
          <a:ln>
            <a:miter lim="800000"/>
            <a:headEnd/>
            <a:tailEnd/>
          </a:ln>
        </p:spPr>
        <p:txBody>
          <a:bodyPr/>
          <a:lstStyle/>
          <a:p>
            <a:fld id="{E77FB26A-389D-5A47-BF36-CF3130000D60}" type="slidenum">
              <a:rPr lang="en-US"/>
              <a:pPr/>
              <a:t>43</a:t>
            </a:fld>
            <a:endParaRPr lang="en-US"/>
          </a:p>
        </p:txBody>
      </p:sp>
    </p:spTree>
    <p:extLst>
      <p:ext uri="{BB962C8B-B14F-4D97-AF65-F5344CB8AC3E}">
        <p14:creationId xmlns:p14="http://schemas.microsoft.com/office/powerpoint/2010/main" val="1064619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noTextEdit="1"/>
          </p:cNvSpPr>
          <p:nvPr>
            <p:ph type="sldImg"/>
          </p:nvPr>
        </p:nvSpPr>
        <p:spPr bwMode="auto">
          <a:noFill/>
          <a:ln>
            <a:solidFill>
              <a:srgbClr val="000000"/>
            </a:solidFill>
            <a:miter lim="800000"/>
            <a:headEnd/>
            <a:tailEnd/>
          </a:ln>
        </p:spPr>
      </p:sp>
      <p:sp>
        <p:nvSpPr>
          <p:cNvPr id="79874" name="Notes Placeholder 2"/>
          <p:cNvSpPr>
            <a:spLocks noGrp="1"/>
          </p:cNvSpPr>
          <p:nvPr>
            <p:ph type="body" idx="1"/>
          </p:nvPr>
        </p:nvSpPr>
        <p:spPr bwMode="auto">
          <a:noFill/>
        </p:spPr>
        <p:txBody>
          <a:bodyPr/>
          <a:lstStyle/>
          <a:p>
            <a:pPr>
              <a:spcBef>
                <a:spcPct val="0"/>
              </a:spcBef>
            </a:pPr>
            <a:r>
              <a:rPr lang="en-US" dirty="0"/>
              <a:t>Donato Bramante IL TEMPIETTO, CHURCH OF SAN PIETRO IN MONTORIO</a:t>
            </a:r>
            <a:br>
              <a:rPr lang="en-US" dirty="0"/>
            </a:br>
            <a:r>
              <a:rPr lang="en-US" dirty="0"/>
              <a:t>Rome. 1502–1510; dome and lantern were restored in the 17th century.</a:t>
            </a:r>
            <a:br>
              <a:rPr lang="en-US" dirty="0"/>
            </a:br>
            <a:r>
              <a:rPr lang="en-US" dirty="0"/>
              <a:t>© Vincenzo </a:t>
            </a:r>
            <a:r>
              <a:rPr lang="en-US" dirty="0" err="1"/>
              <a:t>Pirozzi</a:t>
            </a:r>
            <a:r>
              <a:rPr lang="en-US" dirty="0"/>
              <a:t>, Rome</a:t>
            </a:r>
          </a:p>
        </p:txBody>
      </p:sp>
      <p:sp>
        <p:nvSpPr>
          <p:cNvPr id="79875" name="Slide Number Placeholder 3"/>
          <p:cNvSpPr>
            <a:spLocks noGrp="1"/>
          </p:cNvSpPr>
          <p:nvPr>
            <p:ph type="sldNum" sz="quarter" idx="5"/>
          </p:nvPr>
        </p:nvSpPr>
        <p:spPr bwMode="auto">
          <a:noFill/>
          <a:ln>
            <a:miter lim="800000"/>
            <a:headEnd/>
            <a:tailEnd/>
          </a:ln>
        </p:spPr>
        <p:txBody>
          <a:bodyPr/>
          <a:lstStyle/>
          <a:p>
            <a:fld id="{B3E3B77E-1E84-CE46-9733-0E9D222622BE}" type="slidenum">
              <a:rPr lang="en-US"/>
              <a:pPr/>
              <a:t>45</a:t>
            </a:fld>
            <a:endParaRPr lang="en-US"/>
          </a:p>
        </p:txBody>
      </p:sp>
    </p:spTree>
    <p:extLst>
      <p:ext uri="{BB962C8B-B14F-4D97-AF65-F5344CB8AC3E}">
        <p14:creationId xmlns:p14="http://schemas.microsoft.com/office/powerpoint/2010/main" val="2315511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bwMode="auto">
          <a:noFill/>
          <a:ln>
            <a:solidFill>
              <a:srgbClr val="000000"/>
            </a:solidFill>
            <a:miter lim="800000"/>
            <a:headEnd/>
            <a:tailEnd/>
          </a:ln>
        </p:spPr>
      </p:sp>
      <p:sp>
        <p:nvSpPr>
          <p:cNvPr id="82946" name="Notes Placeholder 2"/>
          <p:cNvSpPr>
            <a:spLocks noGrp="1"/>
          </p:cNvSpPr>
          <p:nvPr>
            <p:ph type="body" idx="1"/>
          </p:nvPr>
        </p:nvSpPr>
        <p:spPr bwMode="auto">
          <a:noFill/>
        </p:spPr>
        <p:txBody>
          <a:bodyPr/>
          <a:lstStyle/>
          <a:p>
            <a:pPr>
              <a:spcBef>
                <a:spcPct val="0"/>
              </a:spcBef>
            </a:pPr>
            <a:r>
              <a:rPr lang="en-US" dirty="0"/>
              <a:t>Giulio Romano COURTYARD FAÇADE, PALAZZO DEL TÈ, MANTUA</a:t>
            </a:r>
            <a:br>
              <a:rPr lang="en-US" dirty="0"/>
            </a:br>
            <a:r>
              <a:rPr lang="en-US" dirty="0"/>
              <a:t>1527–1534.</a:t>
            </a:r>
            <a:br>
              <a:rPr lang="en-US" dirty="0"/>
            </a:br>
            <a:r>
              <a:rPr lang="en-US" dirty="0"/>
              <a:t>© </a:t>
            </a:r>
            <a:r>
              <a:rPr lang="en-US" dirty="0" err="1"/>
              <a:t>SuperStock</a:t>
            </a:r>
            <a:r>
              <a:rPr lang="en-US" dirty="0"/>
              <a:t>.</a:t>
            </a:r>
          </a:p>
        </p:txBody>
      </p:sp>
      <p:sp>
        <p:nvSpPr>
          <p:cNvPr id="82947" name="Slide Number Placeholder 3"/>
          <p:cNvSpPr>
            <a:spLocks noGrp="1"/>
          </p:cNvSpPr>
          <p:nvPr>
            <p:ph type="sldNum" sz="quarter" idx="5"/>
          </p:nvPr>
        </p:nvSpPr>
        <p:spPr bwMode="auto">
          <a:noFill/>
          <a:ln>
            <a:miter lim="800000"/>
            <a:headEnd/>
            <a:tailEnd/>
          </a:ln>
        </p:spPr>
        <p:txBody>
          <a:bodyPr/>
          <a:lstStyle/>
          <a:p>
            <a:fld id="{3030FB3D-3086-B741-9E78-BB40162A6517}" type="slidenum">
              <a:rPr lang="en-US"/>
              <a:pPr/>
              <a:t>47</a:t>
            </a:fld>
            <a:endParaRPr lang="en-US"/>
          </a:p>
        </p:txBody>
      </p:sp>
    </p:spTree>
    <p:extLst>
      <p:ext uri="{BB962C8B-B14F-4D97-AF65-F5344CB8AC3E}">
        <p14:creationId xmlns:p14="http://schemas.microsoft.com/office/powerpoint/2010/main" val="439456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p:spPr>
      </p:sp>
      <p:sp>
        <p:nvSpPr>
          <p:cNvPr id="86018" name="Notes Placeholder 2"/>
          <p:cNvSpPr>
            <a:spLocks noGrp="1"/>
          </p:cNvSpPr>
          <p:nvPr>
            <p:ph type="body" idx="1"/>
          </p:nvPr>
        </p:nvSpPr>
        <p:spPr bwMode="auto">
          <a:noFill/>
        </p:spPr>
        <p:txBody>
          <a:bodyPr/>
          <a:lstStyle/>
          <a:p>
            <a:pPr>
              <a:spcBef>
                <a:spcPct val="0"/>
              </a:spcBef>
            </a:pPr>
            <a:r>
              <a:rPr lang="en-US" dirty="0"/>
              <a:t>Giulio Romano FALL OF THE GIANTS</a:t>
            </a:r>
            <a:br>
              <a:rPr lang="en-US" dirty="0"/>
            </a:br>
            <a:r>
              <a:rPr lang="en-US" dirty="0"/>
              <a:t>Sala </a:t>
            </a:r>
            <a:r>
              <a:rPr lang="en-US" dirty="0" err="1"/>
              <a:t>dei</a:t>
            </a:r>
            <a:r>
              <a:rPr lang="en-US" dirty="0"/>
              <a:t> </a:t>
            </a:r>
            <a:r>
              <a:rPr lang="en-US" dirty="0" err="1"/>
              <a:t>Giganti</a:t>
            </a:r>
            <a:r>
              <a:rPr lang="en-US" dirty="0"/>
              <a:t>, Palazzo del </a:t>
            </a:r>
            <a:r>
              <a:rPr lang="en-US" dirty="0" err="1"/>
              <a:t>Tè</a:t>
            </a:r>
            <a:r>
              <a:rPr lang="en-US" dirty="0"/>
              <a:t>.</a:t>
            </a:r>
            <a:br>
              <a:rPr lang="en-US" dirty="0"/>
            </a:br>
            <a:r>
              <a:rPr lang="en-US" dirty="0"/>
              <a:t>1530–1532. Fresco.</a:t>
            </a:r>
            <a:br>
              <a:rPr lang="en-US" dirty="0"/>
            </a:br>
            <a:r>
              <a:rPr lang="en-US" dirty="0"/>
              <a:t>© 2016. Photo Scala, Florence.</a:t>
            </a:r>
          </a:p>
        </p:txBody>
      </p:sp>
      <p:sp>
        <p:nvSpPr>
          <p:cNvPr id="86019" name="Slide Number Placeholder 3"/>
          <p:cNvSpPr>
            <a:spLocks noGrp="1"/>
          </p:cNvSpPr>
          <p:nvPr>
            <p:ph type="sldNum" sz="quarter" idx="5"/>
          </p:nvPr>
        </p:nvSpPr>
        <p:spPr bwMode="auto">
          <a:noFill/>
          <a:ln>
            <a:miter lim="800000"/>
            <a:headEnd/>
            <a:tailEnd/>
          </a:ln>
        </p:spPr>
        <p:txBody>
          <a:bodyPr/>
          <a:lstStyle/>
          <a:p>
            <a:fld id="{EAC0BCF1-A9EE-B94C-9187-EB1F936927E4}" type="slidenum">
              <a:rPr lang="en-US"/>
              <a:pPr/>
              <a:t>49</a:t>
            </a:fld>
            <a:endParaRPr lang="en-US"/>
          </a:p>
        </p:txBody>
      </p:sp>
    </p:spTree>
    <p:extLst>
      <p:ext uri="{BB962C8B-B14F-4D97-AF65-F5344CB8AC3E}">
        <p14:creationId xmlns:p14="http://schemas.microsoft.com/office/powerpoint/2010/main" val="7531503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p:cNvSpPr>
            <a:spLocks noGrp="1" noRot="1" noChangeAspect="1" noTextEdit="1"/>
          </p:cNvSpPr>
          <p:nvPr>
            <p:ph type="sldImg"/>
          </p:nvPr>
        </p:nvSpPr>
        <p:spPr bwMode="auto">
          <a:noFill/>
          <a:ln>
            <a:solidFill>
              <a:srgbClr val="000000"/>
            </a:solidFill>
            <a:miter lim="800000"/>
            <a:headEnd/>
            <a:tailEnd/>
          </a:ln>
        </p:spPr>
      </p:sp>
      <p:sp>
        <p:nvSpPr>
          <p:cNvPr id="89090" name="Notes Placeholder 2"/>
          <p:cNvSpPr>
            <a:spLocks noGrp="1"/>
          </p:cNvSpPr>
          <p:nvPr>
            <p:ph type="body" idx="1"/>
          </p:nvPr>
        </p:nvSpPr>
        <p:spPr bwMode="auto">
          <a:noFill/>
        </p:spPr>
        <p:txBody>
          <a:bodyPr/>
          <a:lstStyle/>
          <a:p>
            <a:pPr>
              <a:spcBef>
                <a:spcPct val="0"/>
              </a:spcBef>
            </a:pPr>
            <a:r>
              <a:rPr lang="en-US" dirty="0"/>
              <a:t>Correggio ASSUMPTION OF THE VIRGIN</a:t>
            </a:r>
            <a:br>
              <a:rPr lang="en-US" dirty="0"/>
            </a:br>
            <a:r>
              <a:rPr lang="en-US" dirty="0"/>
              <a:t>Main dome, interior, Parma Cathedral, Italy. c. 1526–1530.</a:t>
            </a:r>
            <a:br>
              <a:rPr lang="en-US" dirty="0"/>
            </a:br>
            <a:r>
              <a:rPr lang="en-US" dirty="0"/>
              <a:t>Fresco, diameter of base of dome approx. 36</a:t>
            </a:r>
            <a:r>
              <a:rPr lang="uk-UA" dirty="0"/>
              <a:t>'</a:t>
            </a:r>
            <a:r>
              <a:rPr lang="en-US" dirty="0"/>
              <a:t> (11 m).</a:t>
            </a:r>
            <a:br>
              <a:rPr lang="en-US" dirty="0"/>
            </a:br>
            <a:r>
              <a:rPr lang="en-US" dirty="0"/>
              <a:t>© 2016. Photo Scala, Florence.</a:t>
            </a:r>
          </a:p>
        </p:txBody>
      </p:sp>
      <p:sp>
        <p:nvSpPr>
          <p:cNvPr id="89091" name="Slide Number Placeholder 3"/>
          <p:cNvSpPr>
            <a:spLocks noGrp="1"/>
          </p:cNvSpPr>
          <p:nvPr>
            <p:ph type="sldNum" sz="quarter" idx="5"/>
          </p:nvPr>
        </p:nvSpPr>
        <p:spPr bwMode="auto">
          <a:noFill/>
          <a:ln>
            <a:miter lim="800000"/>
            <a:headEnd/>
            <a:tailEnd/>
          </a:ln>
        </p:spPr>
        <p:txBody>
          <a:bodyPr/>
          <a:lstStyle/>
          <a:p>
            <a:fld id="{82A8EE8E-5957-8044-9A6B-3CD4B7F54838}" type="slidenum">
              <a:rPr lang="en-US"/>
              <a:pPr/>
              <a:t>51</a:t>
            </a:fld>
            <a:endParaRPr lang="en-US"/>
          </a:p>
        </p:txBody>
      </p:sp>
    </p:spTree>
    <p:extLst>
      <p:ext uri="{BB962C8B-B14F-4D97-AF65-F5344CB8AC3E}">
        <p14:creationId xmlns:p14="http://schemas.microsoft.com/office/powerpoint/2010/main" val="9291489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p:cNvSpPr>
            <a:spLocks noGrp="1" noRot="1" noChangeAspect="1" noTextEdit="1"/>
          </p:cNvSpPr>
          <p:nvPr>
            <p:ph type="sldImg"/>
          </p:nvPr>
        </p:nvSpPr>
        <p:spPr bwMode="auto">
          <a:noFill/>
          <a:ln>
            <a:solidFill>
              <a:srgbClr val="000000"/>
            </a:solidFill>
            <a:miter lim="800000"/>
            <a:headEnd/>
            <a:tailEnd/>
          </a:ln>
        </p:spPr>
      </p:sp>
      <p:sp>
        <p:nvSpPr>
          <p:cNvPr id="92162" name="Notes Placeholder 2"/>
          <p:cNvSpPr>
            <a:spLocks noGrp="1"/>
          </p:cNvSpPr>
          <p:nvPr>
            <p:ph type="body" idx="1"/>
          </p:nvPr>
        </p:nvSpPr>
        <p:spPr bwMode="auto">
          <a:noFill/>
        </p:spPr>
        <p:txBody>
          <a:bodyPr/>
          <a:lstStyle/>
          <a:p>
            <a:pPr>
              <a:spcBef>
                <a:spcPct val="0"/>
              </a:spcBef>
            </a:pPr>
            <a:r>
              <a:rPr lang="en-US" dirty="0" err="1"/>
              <a:t>Properzia</a:t>
            </a:r>
            <a:r>
              <a:rPr lang="en-US" dirty="0"/>
              <a:t> de</a:t>
            </a:r>
            <a:r>
              <a:rPr lang="uk-UA" dirty="0"/>
              <a:t>'</a:t>
            </a:r>
            <a:r>
              <a:rPr lang="en-US" dirty="0"/>
              <a:t> Rossi JOSEPH AND POTIPHAR</a:t>
            </a:r>
            <a:r>
              <a:rPr lang="uk-UA" dirty="0"/>
              <a:t>'</a:t>
            </a:r>
            <a:r>
              <a:rPr lang="en-US" dirty="0"/>
              <a:t>S WIFE</a:t>
            </a:r>
            <a:br>
              <a:rPr lang="en-US" dirty="0"/>
            </a:br>
            <a:r>
              <a:rPr lang="en-US" dirty="0"/>
              <a:t>Cathedral of San </a:t>
            </a:r>
            <a:r>
              <a:rPr lang="en-US" dirty="0" err="1"/>
              <a:t>Petronio</a:t>
            </a:r>
            <a:r>
              <a:rPr lang="en-US" dirty="0"/>
              <a:t>, Bologna. 1525–1526.</a:t>
            </a:r>
            <a:br>
              <a:rPr lang="en-US" dirty="0"/>
            </a:br>
            <a:r>
              <a:rPr lang="en-US" dirty="0"/>
              <a:t>Marble, 1</a:t>
            </a:r>
            <a:r>
              <a:rPr lang="uk-UA" dirty="0"/>
              <a:t>'</a:t>
            </a:r>
            <a:r>
              <a:rPr lang="en-US" dirty="0"/>
              <a:t>9</a:t>
            </a:r>
            <a:r>
              <a:rPr lang="ru-RU" dirty="0"/>
              <a:t>"</a:t>
            </a:r>
            <a:r>
              <a:rPr lang="en-US" dirty="0"/>
              <a:t> × 1</a:t>
            </a:r>
            <a:r>
              <a:rPr lang="uk-UA" dirty="0"/>
              <a:t>'</a:t>
            </a:r>
            <a:r>
              <a:rPr lang="en-US" dirty="0"/>
              <a:t>11</a:t>
            </a:r>
            <a:r>
              <a:rPr lang="ru-RU" dirty="0"/>
              <a:t>"</a:t>
            </a:r>
            <a:r>
              <a:rPr lang="en-US" dirty="0"/>
              <a:t> (54 × 58 cm).</a:t>
            </a:r>
            <a:br>
              <a:rPr lang="en-US" dirty="0"/>
            </a:br>
            <a:r>
              <a:rPr lang="en-US" dirty="0"/>
              <a:t>Museo de San </a:t>
            </a:r>
            <a:r>
              <a:rPr lang="en-US" dirty="0" err="1"/>
              <a:t>Petronio</a:t>
            </a:r>
            <a:r>
              <a:rPr lang="en-US" dirty="0"/>
              <a:t>, Bologna. Berardi/IKONA.</a:t>
            </a:r>
          </a:p>
        </p:txBody>
      </p:sp>
      <p:sp>
        <p:nvSpPr>
          <p:cNvPr id="92163" name="Slide Number Placeholder 3"/>
          <p:cNvSpPr>
            <a:spLocks noGrp="1"/>
          </p:cNvSpPr>
          <p:nvPr>
            <p:ph type="sldNum" sz="quarter" idx="5"/>
          </p:nvPr>
        </p:nvSpPr>
        <p:spPr bwMode="auto">
          <a:noFill/>
          <a:ln>
            <a:miter lim="800000"/>
            <a:headEnd/>
            <a:tailEnd/>
          </a:ln>
        </p:spPr>
        <p:txBody>
          <a:bodyPr/>
          <a:lstStyle/>
          <a:p>
            <a:fld id="{4EB348EF-C655-0C43-8691-C4A62E31E0B8}" type="slidenum">
              <a:rPr lang="en-US"/>
              <a:pPr/>
              <a:t>53</a:t>
            </a:fld>
            <a:endParaRPr lang="en-US"/>
          </a:p>
        </p:txBody>
      </p:sp>
    </p:spTree>
    <p:extLst>
      <p:ext uri="{BB962C8B-B14F-4D97-AF65-F5344CB8AC3E}">
        <p14:creationId xmlns:p14="http://schemas.microsoft.com/office/powerpoint/2010/main" val="1853006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noTextEdit="1"/>
          </p:cNvSpPr>
          <p:nvPr>
            <p:ph type="sldImg"/>
          </p:nvPr>
        </p:nvSpPr>
        <p:spPr bwMode="auto">
          <a:noFill/>
          <a:ln>
            <a:solidFill>
              <a:srgbClr val="000000"/>
            </a:solidFill>
            <a:miter lim="800000"/>
            <a:headEnd/>
            <a:tailEnd/>
          </a:ln>
        </p:spPr>
      </p:sp>
      <p:sp>
        <p:nvSpPr>
          <p:cNvPr id="97282" name="Notes Placeholder 2"/>
          <p:cNvSpPr>
            <a:spLocks noGrp="1"/>
          </p:cNvSpPr>
          <p:nvPr>
            <p:ph type="body" idx="1"/>
          </p:nvPr>
        </p:nvSpPr>
        <p:spPr bwMode="auto">
          <a:noFill/>
        </p:spPr>
        <p:txBody>
          <a:bodyPr/>
          <a:lstStyle/>
          <a:p>
            <a:pPr>
              <a:spcBef>
                <a:spcPct val="0"/>
              </a:spcBef>
            </a:pPr>
            <a:r>
              <a:rPr lang="en-US" dirty="0"/>
              <a:t>Giorgione THE TEMPEST</a:t>
            </a:r>
            <a:br>
              <a:rPr lang="en-US" dirty="0"/>
            </a:br>
            <a:r>
              <a:rPr lang="en-US" dirty="0"/>
              <a:t>c. 1506. Oil on canvas, 32</a:t>
            </a:r>
            <a:r>
              <a:rPr lang="ru-RU" dirty="0"/>
              <a:t>"</a:t>
            </a:r>
            <a:r>
              <a:rPr lang="en-US" dirty="0"/>
              <a:t> × 28-3/4</a:t>
            </a:r>
            <a:r>
              <a:rPr lang="ru-RU" dirty="0"/>
              <a:t>"</a:t>
            </a:r>
            <a:r>
              <a:rPr lang="en-US" dirty="0"/>
              <a:t> (82 × 73 cm).</a:t>
            </a:r>
            <a:br>
              <a:rPr lang="en-US" dirty="0"/>
            </a:br>
            <a:r>
              <a:rPr lang="en-US" dirty="0"/>
              <a:t>Galleria dell</a:t>
            </a:r>
            <a:r>
              <a:rPr lang="uk-UA" dirty="0"/>
              <a:t>'</a:t>
            </a:r>
            <a:r>
              <a:rPr lang="en-US" dirty="0"/>
              <a:t>Accademia, Venice. © </a:t>
            </a:r>
            <a:r>
              <a:rPr lang="en-US" dirty="0" err="1"/>
              <a:t>Cameraphoto</a:t>
            </a:r>
            <a:r>
              <a:rPr lang="en-US" dirty="0"/>
              <a:t> </a:t>
            </a:r>
            <a:r>
              <a:rPr lang="en-US" dirty="0" err="1"/>
              <a:t>Arte</a:t>
            </a:r>
            <a:r>
              <a:rPr lang="en-US" dirty="0"/>
              <a:t>, Venice. </a:t>
            </a:r>
          </a:p>
        </p:txBody>
      </p:sp>
      <p:sp>
        <p:nvSpPr>
          <p:cNvPr id="97283" name="Slide Number Placeholder 3"/>
          <p:cNvSpPr>
            <a:spLocks noGrp="1"/>
          </p:cNvSpPr>
          <p:nvPr>
            <p:ph type="sldNum" sz="quarter" idx="5"/>
          </p:nvPr>
        </p:nvSpPr>
        <p:spPr bwMode="auto">
          <a:noFill/>
          <a:ln>
            <a:miter lim="800000"/>
            <a:headEnd/>
            <a:tailEnd/>
          </a:ln>
        </p:spPr>
        <p:txBody>
          <a:bodyPr/>
          <a:lstStyle/>
          <a:p>
            <a:fld id="{A1251A9A-0ADE-7A4F-A37F-BED71F8C0DE5}" type="slidenum">
              <a:rPr lang="en-US"/>
              <a:pPr/>
              <a:t>57</a:t>
            </a:fld>
            <a:endParaRPr lang="en-US"/>
          </a:p>
        </p:txBody>
      </p:sp>
    </p:spTree>
    <p:extLst>
      <p:ext uri="{BB962C8B-B14F-4D97-AF65-F5344CB8AC3E}">
        <p14:creationId xmlns:p14="http://schemas.microsoft.com/office/powerpoint/2010/main" val="6807497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4" name="Notes Placeholder 2"/>
          <p:cNvSpPr>
            <a:spLocks noGrp="1"/>
          </p:cNvSpPr>
          <p:nvPr>
            <p:ph type="body" idx="1"/>
          </p:nvPr>
        </p:nvSpPr>
        <p:spPr bwMode="auto">
          <a:noFill/>
        </p:spPr>
        <p:txBody>
          <a:bodyPr/>
          <a:lstStyle/>
          <a:p>
            <a:pPr>
              <a:spcBef>
                <a:spcPct val="0"/>
              </a:spcBef>
            </a:pPr>
            <a:r>
              <a:rPr lang="en-US" dirty="0"/>
              <a:t>Giorgione or Titian THE PASTORAL CONCERT OR ALLEGORY ON THE INVENTION OF PASTORAL POETRY</a:t>
            </a:r>
            <a:br>
              <a:rPr lang="en-US" dirty="0"/>
            </a:br>
            <a:r>
              <a:rPr lang="en-US" dirty="0"/>
              <a:t>c. 1510. Oil on canvas, 41-1/4</a:t>
            </a:r>
            <a:r>
              <a:rPr lang="ru-RU" dirty="0"/>
              <a:t>"</a:t>
            </a:r>
            <a:r>
              <a:rPr lang="en-US" dirty="0"/>
              <a:t> × 54-3/4</a:t>
            </a:r>
            <a:r>
              <a:rPr lang="ru-RU" dirty="0"/>
              <a:t>"</a:t>
            </a:r>
            <a:r>
              <a:rPr lang="en-US" dirty="0"/>
              <a:t> (105 × 136.5 cm).</a:t>
            </a:r>
            <a:br>
              <a:rPr lang="en-US" dirty="0"/>
            </a:br>
            <a:r>
              <a:rPr lang="en-US" dirty="0" err="1"/>
              <a:t>Musée</a:t>
            </a:r>
            <a:r>
              <a:rPr lang="en-US" dirty="0"/>
              <a:t> du Louvre, Paris. Photo © </a:t>
            </a:r>
            <a:r>
              <a:rPr lang="en-US" dirty="0" err="1"/>
              <a:t>Musée</a:t>
            </a:r>
            <a:r>
              <a:rPr lang="en-US" dirty="0"/>
              <a:t> du Louvre, Dist. RMN-Grand Palais/</a:t>
            </a:r>
            <a:r>
              <a:rPr lang="en-US" dirty="0" err="1"/>
              <a:t>Angèle</a:t>
            </a:r>
            <a:r>
              <a:rPr lang="en-US" dirty="0"/>
              <a:t> </a:t>
            </a:r>
            <a:r>
              <a:rPr lang="en-US" dirty="0" err="1"/>
              <a:t>Dequier</a:t>
            </a:r>
            <a:r>
              <a:rPr lang="en-US" dirty="0"/>
              <a:t>.</a:t>
            </a:r>
          </a:p>
        </p:txBody>
      </p:sp>
      <p:sp>
        <p:nvSpPr>
          <p:cNvPr id="100355" name="Slide Number Placeholder 3"/>
          <p:cNvSpPr>
            <a:spLocks noGrp="1"/>
          </p:cNvSpPr>
          <p:nvPr>
            <p:ph type="sldNum" sz="quarter" idx="5"/>
          </p:nvPr>
        </p:nvSpPr>
        <p:spPr bwMode="auto">
          <a:noFill/>
          <a:ln>
            <a:miter lim="800000"/>
            <a:headEnd/>
            <a:tailEnd/>
          </a:ln>
        </p:spPr>
        <p:txBody>
          <a:bodyPr/>
          <a:lstStyle/>
          <a:p>
            <a:fld id="{544C7671-A424-3B43-B3BE-D03E6A7635CE}" type="slidenum">
              <a:rPr lang="en-US"/>
              <a:pPr/>
              <a:t>59</a:t>
            </a:fld>
            <a:endParaRPr lang="en-US"/>
          </a:p>
        </p:txBody>
      </p:sp>
    </p:spTree>
    <p:extLst>
      <p:ext uri="{BB962C8B-B14F-4D97-AF65-F5344CB8AC3E}">
        <p14:creationId xmlns:p14="http://schemas.microsoft.com/office/powerpoint/2010/main" val="1716248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6/19/2020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dirty="0"/>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6/19/2020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CCEEB-92FB-DA4B-B4C9-8B9EE268C786}"/>
              </a:ext>
            </a:extLst>
          </p:cNvPr>
          <p:cNvSpPr>
            <a:spLocks noGrp="1"/>
          </p:cNvSpPr>
          <p:nvPr>
            <p:ph type="ctrTitle"/>
          </p:nvPr>
        </p:nvSpPr>
        <p:spPr/>
        <p:txBody>
          <a:bodyPr/>
          <a:lstStyle/>
          <a:p>
            <a:r>
              <a:rPr lang="en-US" dirty="0"/>
              <a:t>Chapter 16</a:t>
            </a:r>
          </a:p>
        </p:txBody>
      </p:sp>
      <p:sp>
        <p:nvSpPr>
          <p:cNvPr id="3" name="Subtitle 2">
            <a:extLst>
              <a:ext uri="{FF2B5EF4-FFF2-40B4-BE49-F238E27FC236}">
                <a16:creationId xmlns:a16="http://schemas.microsoft.com/office/drawing/2014/main" id="{49962439-316A-3A4F-8648-7B5D1BAF91FE}"/>
              </a:ext>
            </a:extLst>
          </p:cNvPr>
          <p:cNvSpPr>
            <a:spLocks noGrp="1"/>
          </p:cNvSpPr>
          <p:nvPr>
            <p:ph type="subTitle" idx="1"/>
          </p:nvPr>
        </p:nvSpPr>
        <p:spPr/>
        <p:txBody>
          <a:bodyPr/>
          <a:lstStyle/>
          <a:p>
            <a:r>
              <a:rPr lang="en-US" dirty="0"/>
              <a:t>The High Renaissance in Italy, 1495–1520</a:t>
            </a:r>
          </a:p>
        </p:txBody>
      </p:sp>
    </p:spTree>
    <p:extLst>
      <p:ext uri="{BB962C8B-B14F-4D97-AF65-F5344CB8AC3E}">
        <p14:creationId xmlns:p14="http://schemas.microsoft.com/office/powerpoint/2010/main" val="735508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Identify the stylistic characteristics shared across media by some of the world’s most famous artists.</a:t>
            </a:r>
          </a:p>
          <a:p>
            <a:pPr marL="457200" lvl="0" indent="-457200" fontAlgn="base">
              <a:buFont typeface="+mj-lt"/>
              <a:buAutoNum type="arabicPeriod"/>
            </a:pPr>
            <a:r>
              <a:rPr lang="en-US" dirty="0"/>
              <a:t>Examine the conditions in which High Renaissance artists worked in Florence Rome and Venice.</a:t>
            </a:r>
          </a:p>
          <a:p>
            <a:pPr marL="457200" lvl="0" indent="-457200" fontAlgn="base">
              <a:buFont typeface="+mj-lt"/>
              <a:buAutoNum type="arabicPeriod"/>
            </a:pPr>
            <a:r>
              <a:rPr lang="en-US" dirty="0"/>
              <a:t>Recognize the ancient sources of High Renaissance forms.</a:t>
            </a:r>
          </a:p>
          <a:p>
            <a:pPr marL="457200" lvl="0" indent="-457200" fontAlgn="base">
              <a:buFont typeface="+mj-lt"/>
              <a:buAutoNum type="arabicPeriod"/>
            </a:pPr>
            <a:r>
              <a:rPr lang="en-US" dirty="0"/>
              <a:t>Consider the new themes and topics represented in High Renaissance art.</a:t>
            </a:r>
          </a:p>
          <a:p>
            <a:pPr marL="457200" lvl="0" indent="-457200" fontAlgn="base">
              <a:buFont typeface="+mj-lt"/>
              <a:buAutoNum type="arabicPeriod"/>
            </a:pPr>
            <a:r>
              <a:rPr lang="en-US" dirty="0"/>
              <a:t>Interpret the meaning of the human figure for the High Renaissance.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3"/>
          <p:cNvSpPr>
            <a:spLocks noGrp="1"/>
          </p:cNvSpPr>
          <p:nvPr>
            <p:ph type="title"/>
          </p:nvPr>
        </p:nvSpPr>
        <p:spPr/>
        <p:txBody>
          <a:bodyPr>
            <a:normAutofit fontScale="90000"/>
          </a:bodyPr>
          <a:lstStyle/>
          <a:p>
            <a:r>
              <a:rPr lang="en-US" dirty="0"/>
              <a:t>Leonardo da Vinci MONA LISA</a:t>
            </a:r>
            <a:br>
              <a:rPr lang="en-US" dirty="0"/>
            </a:br>
            <a:r>
              <a:rPr lang="en-US" dirty="0"/>
              <a:t>c. 1503–1506. Oil on wood panel, 30-1/4</a:t>
            </a:r>
            <a:r>
              <a:rPr lang="ru-RU" dirty="0"/>
              <a:t>"</a:t>
            </a:r>
            <a:r>
              <a:rPr lang="en-US" dirty="0"/>
              <a:t> × 21</a:t>
            </a:r>
            <a:r>
              <a:rPr lang="ru-RU" dirty="0"/>
              <a:t>"</a:t>
            </a:r>
            <a:r>
              <a:rPr lang="en-US" dirty="0"/>
              <a:t> (77 × 53 cm).</a:t>
            </a:r>
            <a:br>
              <a:rPr lang="en-US" dirty="0"/>
            </a:br>
            <a:r>
              <a:rPr lang="en-US" dirty="0" err="1"/>
              <a:t>Musée</a:t>
            </a:r>
            <a:r>
              <a:rPr lang="en-US" dirty="0"/>
              <a:t> du Louvre, Paris. (INV. 779). Photo © RMN-Grand Palais (</a:t>
            </a:r>
            <a:r>
              <a:rPr lang="en-US" dirty="0" err="1"/>
              <a:t>musée</a:t>
            </a:r>
            <a:r>
              <a:rPr lang="en-US" dirty="0"/>
              <a:t> du Louvre)/Michel </a:t>
            </a:r>
            <a:r>
              <a:rPr lang="en-US" dirty="0" err="1"/>
              <a:t>Urtado</a:t>
            </a:r>
            <a:endParaRPr lang="en-US" dirty="0"/>
          </a:p>
        </p:txBody>
      </p:sp>
      <p:pic>
        <p:nvPicPr>
          <p:cNvPr id="2" name="Picture 1" descr="A woman sits with her body turned to the viewer’s left, but facing the viewer, with a slight smile curling the edge of her lip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77906"/>
            <a:ext cx="8107680" cy="5031232"/>
          </a:xfrm>
          <a:prstGeom prst="rect">
            <a:avLst/>
          </a:prstGeom>
        </p:spPr>
      </p:pic>
    </p:spTree>
  </p:cSld>
  <p:clrMapOvr>
    <a:masterClrMapping/>
  </p:clrMapOvr>
  <p:transition spd="slow"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a:t>Europe in the Sixteenth Century (1 of 2)</a:t>
            </a:r>
          </a:p>
        </p:txBody>
      </p:sp>
      <p:sp>
        <p:nvSpPr>
          <p:cNvPr id="15362" name="Content Placeholder 2"/>
          <p:cNvSpPr>
            <a:spLocks noGrp="1"/>
          </p:cNvSpPr>
          <p:nvPr>
            <p:ph idx="1"/>
          </p:nvPr>
        </p:nvSpPr>
        <p:spPr/>
        <p:txBody>
          <a:bodyPr/>
          <a:lstStyle/>
          <a:p>
            <a:r>
              <a:rPr lang="en-US"/>
              <a:t>England, France, and Portugal started the century under strong monarchs.</a:t>
            </a:r>
          </a:p>
          <a:p>
            <a:r>
              <a:rPr lang="en-US"/>
              <a:t>German-speaking central Europe was divided, but acknowledged the Habsburg Holy Roman Emperor.</a:t>
            </a:r>
          </a:p>
          <a:p>
            <a:r>
              <a:rPr lang="en-US"/>
              <a:t>Popes behaved like secular princes, demanding money to finance the rebuilding of St. Peter</a:t>
            </a:r>
            <a:r>
              <a:rPr lang="uk-UA"/>
              <a:t>'</a:t>
            </a:r>
            <a:r>
              <a:rPr lang="en-US"/>
              <a: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a:t>Europe in the Sixteenth Century (2 of 2)</a:t>
            </a:r>
          </a:p>
        </p:txBody>
      </p:sp>
      <p:sp>
        <p:nvSpPr>
          <p:cNvPr id="16386" name="Content Placeholder 2"/>
          <p:cNvSpPr>
            <a:spLocks noGrp="1"/>
          </p:cNvSpPr>
          <p:nvPr>
            <p:ph idx="1"/>
          </p:nvPr>
        </p:nvSpPr>
        <p:spPr/>
        <p:txBody>
          <a:bodyPr/>
          <a:lstStyle/>
          <a:p>
            <a:r>
              <a:rPr lang="en-US"/>
              <a:t>Pope Clement VII directly clashed with Charles V and led to the Sack of Rome in May 1527.</a:t>
            </a:r>
          </a:p>
          <a:p>
            <a:r>
              <a:rPr lang="en-US"/>
              <a:t>Patrons valued artists highly and rewarded them with generous commissions as well as social status.</a:t>
            </a:r>
          </a:p>
          <a:p>
            <a:r>
              <a:rPr lang="en-US"/>
              <a:t>The humanist notion of arts as intellectual influenced and elevated artists, but favored men.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dirty="0"/>
              <a:t>High Renaissance (Roman)</a:t>
            </a:r>
          </a:p>
        </p:txBody>
      </p:sp>
      <p:sp>
        <p:nvSpPr>
          <p:cNvPr id="17410" name="Content Placeholder 2"/>
          <p:cNvSpPr>
            <a:spLocks noGrp="1"/>
          </p:cNvSpPr>
          <p:nvPr>
            <p:ph idx="1"/>
          </p:nvPr>
        </p:nvSpPr>
        <p:spPr/>
        <p:txBody>
          <a:bodyPr/>
          <a:lstStyle/>
          <a:p>
            <a:r>
              <a:rPr lang="ru-RU" dirty="0"/>
              <a:t>"</a:t>
            </a:r>
            <a:r>
              <a:rPr lang="en-US" dirty="0"/>
              <a:t>High</a:t>
            </a:r>
            <a:r>
              <a:rPr lang="ru-RU" dirty="0"/>
              <a:t>"</a:t>
            </a:r>
            <a:r>
              <a:rPr lang="en-US" dirty="0"/>
              <a:t> constitutes an art-historical judgment in that this period set the standards for future movements.</a:t>
            </a:r>
          </a:p>
          <a:p>
            <a:r>
              <a:rPr lang="en-US" dirty="0"/>
              <a:t>This period fused the real and the ideal. </a:t>
            </a:r>
          </a:p>
          <a:p>
            <a:r>
              <a:rPr lang="en-US" dirty="0"/>
              <a:t>Oil painting became the preferred medium, and because commissions increased from private sources, artists no longer depended on the patronage of the Church.</a:t>
            </a:r>
          </a:p>
          <a:p>
            <a:r>
              <a:rPr lang="en-US" dirty="0"/>
              <a:t>Leonardo, Michelangelo, and Raphael all worked their early careers in Florence.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3"/>
          <p:cNvSpPr>
            <a:spLocks noGrp="1"/>
          </p:cNvSpPr>
          <p:nvPr>
            <p:ph type="title"/>
          </p:nvPr>
        </p:nvSpPr>
        <p:spPr/>
        <p:txBody>
          <a:bodyPr>
            <a:normAutofit fontScale="90000"/>
          </a:bodyPr>
          <a:lstStyle/>
          <a:p>
            <a:r>
              <a:rPr lang="en-US" dirty="0"/>
              <a:t>RENAISSANCE AND EARLIER MONUMENTS IN ROME</a:t>
            </a:r>
            <a:br>
              <a:rPr lang="en-US" dirty="0"/>
            </a:br>
            <a:r>
              <a:rPr lang="en-US" dirty="0"/>
              <a:t>In addition to situating the principal works of the Roman Renaissance that emerged from Julius II’s campaign to revitalize the papal city, this map also locates the surviving works of Roman antiquity that would have been available to the Renaissance artists and architects who masterminded the Classical revival. </a:t>
            </a:r>
          </a:p>
        </p:txBody>
      </p:sp>
      <p:pic>
        <p:nvPicPr>
          <p:cNvPr id="2" name="Picture 1" descr="With the exceptions of Hadrian’s Tomb, the Villa Farnesina, Il Tempietto, and the Papal Palace and adjacent Sistine Chapel and Saint Peter’s Basilica, Rome’s Renaissance and earlier monuments like on the east side of the Tiber Riv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t>Leonardo da Vinci (1 of 4)</a:t>
            </a:r>
          </a:p>
        </p:txBody>
      </p:sp>
      <p:sp>
        <p:nvSpPr>
          <p:cNvPr id="21506" name="Content Placeholder 2"/>
          <p:cNvSpPr>
            <a:spLocks noGrp="1"/>
          </p:cNvSpPr>
          <p:nvPr>
            <p:ph idx="1"/>
          </p:nvPr>
        </p:nvSpPr>
        <p:spPr/>
        <p:txBody>
          <a:bodyPr/>
          <a:lstStyle/>
          <a:p>
            <a:r>
              <a:rPr lang="en-US" i="1"/>
              <a:t>The Virgin of the Rocks </a:t>
            </a:r>
            <a:r>
              <a:rPr lang="en-US"/>
              <a:t>shows four figures with strong chiaroscuro that enhances their modeling.</a:t>
            </a:r>
          </a:p>
          <a:p>
            <a:pPr lvl="1"/>
            <a:r>
              <a:rPr lang="en-US"/>
              <a:t>It is painted in the </a:t>
            </a:r>
            <a:r>
              <a:rPr lang="en-US" b="1" i="1"/>
              <a:t>sfumato</a:t>
            </a:r>
            <a:r>
              <a:rPr lang="en-US"/>
              <a:t> technique, creating a smoky effect.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3"/>
          <p:cNvSpPr>
            <a:spLocks noGrp="1"/>
          </p:cNvSpPr>
          <p:nvPr>
            <p:ph type="title"/>
          </p:nvPr>
        </p:nvSpPr>
        <p:spPr/>
        <p:txBody>
          <a:bodyPr>
            <a:normAutofit fontScale="90000"/>
          </a:bodyPr>
          <a:lstStyle/>
          <a:p>
            <a:r>
              <a:rPr lang="en-US" dirty="0"/>
              <a:t>Leonardo da Vinci THE VIRGIN OF THE ROCKS</a:t>
            </a:r>
            <a:br>
              <a:rPr lang="en-US" dirty="0"/>
            </a:br>
            <a:r>
              <a:rPr lang="en-US" dirty="0"/>
              <a:t>c. 1485. Oil on wood panel (now transferred to canvas), 6</a:t>
            </a:r>
            <a:r>
              <a:rPr lang="uk-UA" dirty="0"/>
              <a:t>'</a:t>
            </a:r>
            <a:r>
              <a:rPr lang="en-US" dirty="0"/>
              <a:t>6</a:t>
            </a:r>
            <a:r>
              <a:rPr lang="ru-RU" dirty="0"/>
              <a:t>"</a:t>
            </a:r>
            <a:r>
              <a:rPr lang="en-US" dirty="0"/>
              <a:t> × 4</a:t>
            </a:r>
            <a:r>
              <a:rPr lang="uk-UA" dirty="0"/>
              <a:t>'</a:t>
            </a:r>
            <a:r>
              <a:rPr lang="en-US" dirty="0"/>
              <a:t> (1.9 × 1.2 m).</a:t>
            </a:r>
            <a:br>
              <a:rPr lang="en-US" dirty="0"/>
            </a:br>
            <a:r>
              <a:rPr lang="en-US" dirty="0" err="1"/>
              <a:t>Musée</a:t>
            </a:r>
            <a:r>
              <a:rPr lang="en-US" dirty="0"/>
              <a:t> du Louvre, Paris. Photo © Réunion des </a:t>
            </a:r>
            <a:r>
              <a:rPr lang="en-US" dirty="0" err="1"/>
              <a:t>Musés</a:t>
            </a:r>
            <a:r>
              <a:rPr lang="en-US" dirty="0"/>
              <a:t> </a:t>
            </a:r>
            <a:r>
              <a:rPr lang="en-US" dirty="0" err="1"/>
              <a:t>Nationaux</a:t>
            </a:r>
            <a:r>
              <a:rPr lang="en-US" dirty="0"/>
              <a:t>/</a:t>
            </a:r>
            <a:r>
              <a:rPr lang="en-US" dirty="0" err="1"/>
              <a:t>Musée</a:t>
            </a:r>
            <a:r>
              <a:rPr lang="en-US" dirty="0"/>
              <a:t> du Louvre, Paris. </a:t>
            </a:r>
          </a:p>
        </p:txBody>
      </p:sp>
      <p:pic>
        <p:nvPicPr>
          <p:cNvPr id="2" name="Picture 1" descr="In a clearing near a rocky cliff, a woman with a patient, motherly expression urges baby toward another with a loving hand. An angel in flowing robes sits next to the second chil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t>Art and Its Contexts:</a:t>
            </a:r>
            <a:br>
              <a:rPr lang="en-US"/>
            </a:br>
            <a:r>
              <a:rPr lang="en-US"/>
              <a:t>The Vitruvian Man</a:t>
            </a:r>
          </a:p>
        </p:txBody>
      </p:sp>
      <p:sp>
        <p:nvSpPr>
          <p:cNvPr id="24578" name="Content Placeholder 2"/>
          <p:cNvSpPr>
            <a:spLocks noGrp="1"/>
          </p:cNvSpPr>
          <p:nvPr>
            <p:ph idx="1"/>
          </p:nvPr>
        </p:nvSpPr>
        <p:spPr/>
        <p:txBody>
          <a:bodyPr/>
          <a:lstStyle/>
          <a:p>
            <a:r>
              <a:rPr lang="en-US"/>
              <a:t>Vitruvius, first-century </a:t>
            </a:r>
            <a:r>
              <a:rPr lang="en-US" sz="1400"/>
              <a:t>BCE</a:t>
            </a:r>
            <a:r>
              <a:rPr lang="en-US"/>
              <a:t> architect and engineer, inspired Leonardo da Vinci to seek ideal proportions of man.</a:t>
            </a:r>
          </a:p>
          <a:p>
            <a:pPr lvl="1"/>
            <a:r>
              <a:rPr lang="en-US"/>
              <a:t>He determined that ideal body height should be eight heads high.</a:t>
            </a:r>
          </a:p>
          <a:p>
            <a:r>
              <a:rPr lang="en-US"/>
              <a:t>Leonardo added his own observations to his well-known diagram of the ideal male figure, the </a:t>
            </a:r>
            <a:r>
              <a:rPr lang="en-US" i="1"/>
              <a:t>Vitruvian Man</a:t>
            </a:r>
            <a:r>
              <a:rPr lang="en-US"/>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3"/>
          <p:cNvSpPr>
            <a:spLocks noGrp="1"/>
          </p:cNvSpPr>
          <p:nvPr>
            <p:ph type="title"/>
          </p:nvPr>
        </p:nvSpPr>
        <p:spPr/>
        <p:txBody>
          <a:bodyPr>
            <a:normAutofit fontScale="90000"/>
          </a:bodyPr>
          <a:lstStyle/>
          <a:p>
            <a:r>
              <a:rPr lang="en-US" dirty="0"/>
              <a:t>Leonardo da Vinci VITRUVIAN MAN</a:t>
            </a:r>
            <a:br>
              <a:rPr lang="en-US" dirty="0"/>
            </a:br>
            <a:r>
              <a:rPr lang="en-US" dirty="0"/>
              <a:t>c. 1490. Ink, 13-1/2</a:t>
            </a:r>
            <a:r>
              <a:rPr lang="ru-RU" dirty="0"/>
              <a:t>"</a:t>
            </a:r>
            <a:r>
              <a:rPr lang="en-US" dirty="0"/>
              <a:t> × 9-5/8</a:t>
            </a:r>
            <a:r>
              <a:rPr lang="ru-RU" dirty="0"/>
              <a:t>"</a:t>
            </a:r>
            <a:r>
              <a:rPr lang="en-US" dirty="0"/>
              <a:t> (34.3 × 24.5 cm).</a:t>
            </a:r>
            <a:br>
              <a:rPr lang="en-US" dirty="0"/>
            </a:br>
            <a:r>
              <a:rPr lang="en-US" dirty="0"/>
              <a:t>Galleria dell</a:t>
            </a:r>
            <a:r>
              <a:rPr lang="uk-UA" dirty="0"/>
              <a:t>'</a:t>
            </a:r>
            <a:r>
              <a:rPr lang="en-US" dirty="0"/>
              <a:t>Accademia, Venice. © </a:t>
            </a:r>
            <a:r>
              <a:rPr lang="en-US" dirty="0" err="1"/>
              <a:t>Cameraphoto</a:t>
            </a:r>
            <a:r>
              <a:rPr lang="en-US" dirty="0"/>
              <a:t> </a:t>
            </a:r>
            <a:r>
              <a:rPr lang="en-US" dirty="0" err="1"/>
              <a:t>Arte</a:t>
            </a:r>
            <a:r>
              <a:rPr lang="en-US" dirty="0"/>
              <a:t>, Venice. </a:t>
            </a:r>
          </a:p>
        </p:txBody>
      </p:sp>
      <p:pic>
        <p:nvPicPr>
          <p:cNvPr id="2" name="Picture 1" descr="Da Vinci’s backward, hand-written notes frame his sketch of a nude man on his back, arms and legs outstretched in double, against the outlines of a circle and a squar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r>
              <a:rPr lang="en-US"/>
              <a:t>Leonardo da Vinci (2 of 4)</a:t>
            </a:r>
          </a:p>
        </p:txBody>
      </p:sp>
      <p:sp>
        <p:nvSpPr>
          <p:cNvPr id="27650" name="Content Placeholder 2"/>
          <p:cNvSpPr>
            <a:spLocks noGrp="1"/>
          </p:cNvSpPr>
          <p:nvPr>
            <p:ph idx="1"/>
          </p:nvPr>
        </p:nvSpPr>
        <p:spPr/>
        <p:txBody>
          <a:bodyPr/>
          <a:lstStyle/>
          <a:p>
            <a:r>
              <a:rPr lang="en-US" i="1"/>
              <a:t>The Last Supper</a:t>
            </a:r>
            <a:r>
              <a:rPr lang="en-US"/>
              <a:t>, painted in the refectory of Sta. Maria delle Grazie, was a defining work of Renaissance art.</a:t>
            </a:r>
          </a:p>
          <a:p>
            <a:pPr lvl="1"/>
            <a:r>
              <a:rPr lang="en-US"/>
              <a:t>Leonardo arranged the disciples in four groups of three as they flank the stable, pyramidal form of Jesus in the middle.</a:t>
            </a:r>
          </a:p>
          <a:p>
            <a:pPr lvl="1"/>
            <a:r>
              <a:rPr lang="en-US"/>
              <a:t>The scene is set in stage-like recession, with the orthogonals converging at the head of Jesus.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3"/>
          <p:cNvSpPr>
            <a:spLocks noGrp="1"/>
          </p:cNvSpPr>
          <p:nvPr>
            <p:ph type="title"/>
          </p:nvPr>
        </p:nvSpPr>
        <p:spPr/>
        <p:txBody>
          <a:bodyPr>
            <a:normAutofit fontScale="90000"/>
          </a:bodyPr>
          <a:lstStyle/>
          <a:p>
            <a:r>
              <a:rPr lang="en-US" dirty="0"/>
              <a:t>Leonardo da Vinci THE LAST SUPPER</a:t>
            </a:r>
            <a:br>
              <a:rPr lang="en-US" dirty="0"/>
            </a:br>
            <a:r>
              <a:rPr lang="en-US" dirty="0"/>
              <a:t>Refectory of the monastery of Santa Maria </a:t>
            </a:r>
            <a:r>
              <a:rPr lang="en-US" dirty="0" err="1"/>
              <a:t>delle</a:t>
            </a:r>
            <a:r>
              <a:rPr lang="en-US" dirty="0"/>
              <a:t> </a:t>
            </a:r>
            <a:r>
              <a:rPr lang="en-US" dirty="0" err="1"/>
              <a:t>Grazie</a:t>
            </a:r>
            <a:r>
              <a:rPr lang="en-US" dirty="0"/>
              <a:t>, Milan, Italy. 1495–1498.</a:t>
            </a:r>
            <a:br>
              <a:rPr lang="en-US" dirty="0"/>
            </a:br>
            <a:r>
              <a:rPr lang="en-US" dirty="0"/>
              <a:t>Tempera and oil on plaster, 15</a:t>
            </a:r>
            <a:r>
              <a:rPr lang="uk-UA" dirty="0"/>
              <a:t>'</a:t>
            </a:r>
            <a:r>
              <a:rPr lang="en-US" dirty="0"/>
              <a:t>2</a:t>
            </a:r>
            <a:r>
              <a:rPr lang="ru-RU" dirty="0"/>
              <a:t>"</a:t>
            </a:r>
            <a:r>
              <a:rPr lang="en-US" dirty="0"/>
              <a:t> × 28</a:t>
            </a:r>
            <a:r>
              <a:rPr lang="uk-UA" dirty="0"/>
              <a:t>'</a:t>
            </a:r>
            <a:r>
              <a:rPr lang="en-US" dirty="0"/>
              <a:t>10</a:t>
            </a:r>
            <a:r>
              <a:rPr lang="ru-RU" dirty="0"/>
              <a:t>"</a:t>
            </a:r>
            <a:r>
              <a:rPr lang="en-US" dirty="0"/>
              <a:t> (4.6 × 8.8 m).</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3" name="Picture 2" descr="Thirteen men in colorful robes sit along the short sides and back of a wide table in a long roo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3"/>
          <p:cNvSpPr>
            <a:spLocks noGrp="1"/>
          </p:cNvSpPr>
          <p:nvPr>
            <p:ph type="title"/>
          </p:nvPr>
        </p:nvSpPr>
        <p:spPr/>
        <p:txBody>
          <a:bodyPr>
            <a:normAutofit fontScale="90000"/>
          </a:bodyPr>
          <a:lstStyle/>
          <a:p>
            <a:r>
              <a:rPr lang="en-US" dirty="0"/>
              <a:t>REFECTORY OF THE MONASTERY OF SANTA MARIA DELLE GRAZIE, SHOWING LEONARDO</a:t>
            </a:r>
            <a:r>
              <a:rPr lang="uk-UA" dirty="0"/>
              <a:t>'</a:t>
            </a:r>
            <a:r>
              <a:rPr lang="en-US" dirty="0"/>
              <a:t>S LAST SUPPER</a:t>
            </a:r>
            <a:br>
              <a:rPr lang="en-US" dirty="0"/>
            </a:br>
            <a:r>
              <a:rPr lang="en-US" dirty="0"/>
              <a:t>Milan, Italy. © Studio </a:t>
            </a:r>
            <a:r>
              <a:rPr lang="en-US" dirty="0" err="1"/>
              <a:t>Fotografico</a:t>
            </a:r>
            <a:r>
              <a:rPr lang="en-US" dirty="0"/>
              <a:t> </a:t>
            </a:r>
            <a:r>
              <a:rPr lang="en-US" dirty="0" err="1"/>
              <a:t>Quattrone</a:t>
            </a:r>
            <a:r>
              <a:rPr lang="en-US" dirty="0"/>
              <a:t>, Florence.</a:t>
            </a:r>
          </a:p>
        </p:txBody>
      </p:sp>
      <p:pic>
        <p:nvPicPr>
          <p:cNvPr id="2" name="Picture 1" descr="Da Vinci’s painting of the Last Supper decorates the back wall of a sanctuary, under a vaulted ceiling. Two narrow clerestory windows open above and to the left. Most of the surrounding walls are whitewashe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t>Leonardo da Vinci (3 of 4)</a:t>
            </a:r>
          </a:p>
        </p:txBody>
      </p:sp>
      <p:sp>
        <p:nvSpPr>
          <p:cNvPr id="32770" name="Content Placeholder 2"/>
          <p:cNvSpPr>
            <a:spLocks noGrp="1"/>
          </p:cNvSpPr>
          <p:nvPr>
            <p:ph idx="1"/>
          </p:nvPr>
        </p:nvSpPr>
        <p:spPr/>
        <p:txBody>
          <a:bodyPr/>
          <a:lstStyle/>
          <a:p>
            <a:r>
              <a:rPr lang="en-US"/>
              <a:t>The Mona Lisa is, perhaps, his most famous work, painted about 1503–1506.</a:t>
            </a:r>
          </a:p>
          <a:p>
            <a:pPr lvl="1"/>
            <a:r>
              <a:rPr lang="en-US"/>
              <a:t>The distant, hazy mountains give the subject, Lisa Gherardini del Giocondo, a mysterious quality.</a:t>
            </a:r>
          </a:p>
          <a:p>
            <a:pPr lvl="2"/>
            <a:r>
              <a:rPr lang="en-US"/>
              <a:t>Her direct stare and </a:t>
            </a:r>
            <a:r>
              <a:rPr lang="ru-RU"/>
              <a:t>"</a:t>
            </a:r>
            <a:r>
              <a:rPr lang="en-US"/>
              <a:t>enigmatic</a:t>
            </a:r>
            <a:r>
              <a:rPr lang="ru-RU"/>
              <a:t>"</a:t>
            </a:r>
            <a:r>
              <a:rPr lang="en-US"/>
              <a:t> smile add to the effect.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r>
              <a:rPr lang="en-US"/>
              <a:t>Leonardo da Vinci (4 of 4)</a:t>
            </a:r>
          </a:p>
        </p:txBody>
      </p:sp>
      <p:sp>
        <p:nvSpPr>
          <p:cNvPr id="33794" name="Content Placeholder 2"/>
          <p:cNvSpPr>
            <a:spLocks noGrp="1"/>
          </p:cNvSpPr>
          <p:nvPr>
            <p:ph idx="1"/>
          </p:nvPr>
        </p:nvSpPr>
        <p:spPr/>
        <p:txBody>
          <a:bodyPr/>
          <a:lstStyle/>
          <a:p>
            <a:r>
              <a:rPr lang="en-US"/>
              <a:t>He insisted on the supremacy of painting over sculpture as being the best medium for creating an illusion of the world, but argued that color was second to volume.</a:t>
            </a:r>
          </a:p>
          <a:p>
            <a:r>
              <a:rPr lang="en-US"/>
              <a:t>Secondary interests included mathematics, engineering, and nature, which took him away from creating more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a:t>Raphael (1 of 4)</a:t>
            </a:r>
          </a:p>
        </p:txBody>
      </p:sp>
      <p:sp>
        <p:nvSpPr>
          <p:cNvPr id="34818" name="Content Placeholder 2"/>
          <p:cNvSpPr>
            <a:spLocks noGrp="1"/>
          </p:cNvSpPr>
          <p:nvPr>
            <p:ph idx="1"/>
          </p:nvPr>
        </p:nvSpPr>
        <p:spPr/>
        <p:txBody>
          <a:bodyPr/>
          <a:lstStyle/>
          <a:p>
            <a:r>
              <a:rPr lang="en-US" i="1"/>
              <a:t>The Small Cowper Madonna </a:t>
            </a:r>
            <a:r>
              <a:rPr lang="en-US"/>
              <a:t>typifies the artist</a:t>
            </a:r>
            <a:r>
              <a:rPr lang="uk-UA"/>
              <a:t>'</a:t>
            </a:r>
            <a:r>
              <a:rPr lang="en-US"/>
              <a:t>s popular paintings of the Virgin and Child.</a:t>
            </a:r>
          </a:p>
          <a:p>
            <a:pPr lvl="1"/>
            <a:r>
              <a:rPr lang="en-US"/>
              <a:t>A pyramidal composition and clinging draperies show the influence of da Vinci.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3"/>
          <p:cNvSpPr>
            <a:spLocks noGrp="1"/>
          </p:cNvSpPr>
          <p:nvPr>
            <p:ph type="title"/>
          </p:nvPr>
        </p:nvSpPr>
        <p:spPr/>
        <p:txBody>
          <a:bodyPr>
            <a:normAutofit fontScale="90000"/>
          </a:bodyPr>
          <a:lstStyle/>
          <a:p>
            <a:r>
              <a:rPr lang="en-US" dirty="0"/>
              <a:t>Raphael THE SMALL COWPER MADONNA</a:t>
            </a:r>
            <a:br>
              <a:rPr lang="en-US" dirty="0"/>
            </a:br>
            <a:r>
              <a:rPr lang="en-US" dirty="0"/>
              <a:t>c. 1505. Oil on wood panel, 23-3/8</a:t>
            </a:r>
            <a:r>
              <a:rPr lang="ru-RU" dirty="0"/>
              <a:t>"</a:t>
            </a:r>
            <a:r>
              <a:rPr lang="en-US" dirty="0"/>
              <a:t> × 17-3/8</a:t>
            </a:r>
            <a:r>
              <a:rPr lang="ru-RU" dirty="0"/>
              <a:t>"</a:t>
            </a:r>
            <a:r>
              <a:rPr lang="en-US" dirty="0"/>
              <a:t> (59.5 × 44.1 cm).</a:t>
            </a:r>
            <a:br>
              <a:rPr lang="en-US" dirty="0"/>
            </a:br>
            <a:r>
              <a:rPr lang="en-US" dirty="0"/>
              <a:t>National Gallery of Art, Washington, DC. Widener Collection (1942.9.57). Image courtesy the National Gallery of Art, Washington.</a:t>
            </a:r>
          </a:p>
        </p:txBody>
      </p:sp>
      <p:pic>
        <p:nvPicPr>
          <p:cNvPr id="2" name="Picture 1" descr="A curvaceous young woman sits at the edge of a broad field, with mountains to the left and a church to the right. She holds a plump baby on her lap.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Title 1"/>
          <p:cNvSpPr>
            <a:spLocks noGrp="1"/>
          </p:cNvSpPr>
          <p:nvPr>
            <p:ph type="title"/>
          </p:nvPr>
        </p:nvSpPr>
        <p:spPr/>
        <p:txBody>
          <a:bodyPr>
            <a:normAutofit fontScale="90000"/>
          </a:bodyPr>
          <a:lstStyle/>
          <a:p>
            <a:r>
              <a:rPr lang="en-US" dirty="0"/>
              <a:t>Raphael MADONNA OF THE GOLDFINCH (MADONNA DEL CARDELLINO)</a:t>
            </a:r>
            <a:br>
              <a:rPr lang="en-US" dirty="0"/>
            </a:br>
            <a:r>
              <a:rPr lang="en-US" dirty="0"/>
              <a:t>1506. Oil on panel, 42 × 29-1⁄2″ (106.7 × 74.9 cm).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pic>
        <p:nvPicPr>
          <p:cNvPr id="2" name="Picture 1" descr="Raphael’s Madonna appears in another rustic setting, keeping watch over her the infant Jesus and the slightly older, taller John, dressed in an animal ski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5168"/>
            <a:ext cx="8107680" cy="5031232"/>
          </a:xfrm>
          <a:prstGeom prst="rect">
            <a:avLst/>
          </a:prstGeom>
        </p:spPr>
      </p:pic>
    </p:spTree>
  </p:cSld>
  <p:clrMapOvr>
    <a:masterClrMapping/>
  </p:clrMapOvr>
  <p:transition spd="slow"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r>
              <a:rPr lang="en-US"/>
              <a:t>Raphael (2 of 4)</a:t>
            </a:r>
          </a:p>
        </p:txBody>
      </p:sp>
      <p:sp>
        <p:nvSpPr>
          <p:cNvPr id="37890" name="Content Placeholder 2"/>
          <p:cNvSpPr>
            <a:spLocks noGrp="1"/>
          </p:cNvSpPr>
          <p:nvPr>
            <p:ph idx="1"/>
          </p:nvPr>
        </p:nvSpPr>
        <p:spPr/>
        <p:txBody>
          <a:bodyPr/>
          <a:lstStyle/>
          <a:p>
            <a:r>
              <a:rPr lang="en-US" b="1"/>
              <a:t>Pendant</a:t>
            </a:r>
            <a:r>
              <a:rPr lang="en-US"/>
              <a:t> portraits were commissioned for prosperous Florentine.</a:t>
            </a:r>
          </a:p>
          <a:p>
            <a:pPr lvl="1"/>
            <a:r>
              <a:rPr lang="en-US"/>
              <a:t>The portraits of Maddalena and Agnelo show Raphael following tradition by making ostentatious display of jewelry despite a landscape similar to that behind the </a:t>
            </a:r>
            <a:r>
              <a:rPr lang="en-US" i="1"/>
              <a:t>Mona</a:t>
            </a:r>
            <a:r>
              <a:rPr lang="en-US"/>
              <a:t> </a:t>
            </a:r>
            <a:r>
              <a:rPr lang="en-US" i="1"/>
              <a:t>Lisa</a:t>
            </a:r>
            <a:r>
              <a:rPr lang="en-US"/>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3"/>
          <p:cNvSpPr>
            <a:spLocks noGrp="1"/>
          </p:cNvSpPr>
          <p:nvPr>
            <p:ph type="title"/>
          </p:nvPr>
        </p:nvSpPr>
        <p:spPr/>
        <p:txBody>
          <a:bodyPr>
            <a:normAutofit fontScale="90000"/>
          </a:bodyPr>
          <a:lstStyle/>
          <a:p>
            <a:r>
              <a:rPr lang="en-US" dirty="0"/>
              <a:t>Raphael AGNELO DONI </a:t>
            </a:r>
            <a:br>
              <a:rPr lang="en-US" dirty="0"/>
            </a:br>
            <a:r>
              <a:rPr lang="en-US" dirty="0"/>
              <a:t>c. 1506. Oil on wood panel, each 24-1/2</a:t>
            </a:r>
            <a:r>
              <a:rPr lang="ru-RU" dirty="0"/>
              <a:t>"</a:t>
            </a:r>
            <a:r>
              <a:rPr lang="en-US" dirty="0"/>
              <a:t> × 17-1/4</a:t>
            </a:r>
            <a:r>
              <a:rPr lang="ru-RU" dirty="0"/>
              <a:t>"</a:t>
            </a:r>
            <a:r>
              <a:rPr lang="en-US" dirty="0"/>
              <a:t> (63 × 45 cm).</a:t>
            </a:r>
            <a:br>
              <a:rPr lang="en-US" dirty="0"/>
            </a:br>
            <a:r>
              <a:rPr lang="en-US" dirty="0"/>
              <a:t>Palazzo </a:t>
            </a:r>
            <a:r>
              <a:rPr lang="en-US" dirty="0" err="1"/>
              <a:t>Pitti</a:t>
            </a:r>
            <a:r>
              <a:rPr lang="en-US" dirty="0"/>
              <a:t>, Florence. © Studio </a:t>
            </a:r>
            <a:r>
              <a:rPr lang="en-US" dirty="0" err="1"/>
              <a:t>Fotografico</a:t>
            </a:r>
            <a:r>
              <a:rPr lang="en-US" dirty="0"/>
              <a:t> </a:t>
            </a:r>
            <a:r>
              <a:rPr lang="en-US" dirty="0" err="1"/>
              <a:t>Quattrone</a:t>
            </a:r>
            <a:r>
              <a:rPr lang="en-US" dirty="0"/>
              <a:t>, Florence. </a:t>
            </a:r>
          </a:p>
        </p:txBody>
      </p:sp>
      <p:pic>
        <p:nvPicPr>
          <p:cNvPr id="2" name="Picture 1" descr="A pair of portraits. The man on the left wears a black hat, and stares calmly at the viewer, leaning against a railing. The woman on the left wears a colorful dress, and poses in the same posture as the Mona Lisa."/>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5168"/>
            <a:ext cx="8107680" cy="5031232"/>
          </a:xfrm>
          <a:prstGeom prst="rect">
            <a:avLst/>
          </a:prstGeom>
        </p:spPr>
      </p:pic>
    </p:spTree>
  </p:cSld>
  <p:clrMapOvr>
    <a:masterClrMapping/>
  </p:clrMapOvr>
  <p:transition spd="slow"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3"/>
          <p:cNvSpPr>
            <a:spLocks noGrp="1"/>
          </p:cNvSpPr>
          <p:nvPr>
            <p:ph type="title"/>
          </p:nvPr>
        </p:nvSpPr>
        <p:spPr/>
        <p:txBody>
          <a:bodyPr>
            <a:normAutofit fontScale="90000"/>
          </a:bodyPr>
          <a:lstStyle/>
          <a:p>
            <a:r>
              <a:rPr lang="en-US" dirty="0"/>
              <a:t>Raphael MADDALENA STROZZI</a:t>
            </a:r>
            <a:br>
              <a:rPr lang="en-US" dirty="0"/>
            </a:br>
            <a:r>
              <a:rPr lang="en-US" dirty="0"/>
              <a:t>c. 1506. Oil on wood panel, each 24-1/2</a:t>
            </a:r>
            <a:r>
              <a:rPr lang="ru-RU" dirty="0"/>
              <a:t>"</a:t>
            </a:r>
            <a:r>
              <a:rPr lang="en-US" dirty="0"/>
              <a:t> × 17-1/4</a:t>
            </a:r>
            <a:r>
              <a:rPr lang="ru-RU" dirty="0"/>
              <a:t>"</a:t>
            </a:r>
            <a:r>
              <a:rPr lang="en-US" dirty="0"/>
              <a:t> (63 × 45 cm).</a:t>
            </a:r>
            <a:br>
              <a:rPr lang="en-US" dirty="0"/>
            </a:br>
            <a:r>
              <a:rPr lang="en-US" dirty="0"/>
              <a:t>Palazzo </a:t>
            </a:r>
            <a:r>
              <a:rPr lang="en-US" dirty="0" err="1"/>
              <a:t>Pitti</a:t>
            </a:r>
            <a:r>
              <a:rPr lang="en-US" dirty="0"/>
              <a:t>, Florence. © Studio </a:t>
            </a:r>
            <a:r>
              <a:rPr lang="en-US" dirty="0" err="1"/>
              <a:t>Fotografico</a:t>
            </a:r>
            <a:r>
              <a:rPr lang="en-US" dirty="0"/>
              <a:t> </a:t>
            </a:r>
            <a:r>
              <a:rPr lang="en-US" dirty="0" err="1"/>
              <a:t>Quattrone</a:t>
            </a:r>
            <a:r>
              <a:rPr lang="en-US" dirty="0"/>
              <a:t>, Florence. </a:t>
            </a:r>
          </a:p>
        </p:txBody>
      </p:sp>
      <p:pic>
        <p:nvPicPr>
          <p:cNvPr id="2" name="Picture 1" descr="A pair of portraits. The man on the left wears a black hat, and stares calmly at the viewer, leaning against a railing. The woman on the left wears a colorful dress, and poses in the same posture as the Mona Lisa."/>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p:txBody>
          <a:bodyPr/>
          <a:lstStyle/>
          <a:p>
            <a:r>
              <a:rPr lang="en-US"/>
              <a:t>Raphael (3 of 4)</a:t>
            </a:r>
          </a:p>
        </p:txBody>
      </p:sp>
      <p:sp>
        <p:nvSpPr>
          <p:cNvPr id="43010" name="Content Placeholder 2"/>
          <p:cNvSpPr>
            <a:spLocks noGrp="1"/>
          </p:cNvSpPr>
          <p:nvPr>
            <p:ph idx="1"/>
          </p:nvPr>
        </p:nvSpPr>
        <p:spPr/>
        <p:txBody>
          <a:bodyPr/>
          <a:lstStyle/>
          <a:p>
            <a:r>
              <a:rPr lang="en-US"/>
              <a:t>Raphael</a:t>
            </a:r>
            <a:r>
              <a:rPr lang="uk-UA"/>
              <a:t>'</a:t>
            </a:r>
            <a:r>
              <a:rPr lang="en-US"/>
              <a:t>s most influential work in the papal rooms was the </a:t>
            </a:r>
            <a:r>
              <a:rPr lang="en-US" i="1"/>
              <a:t>School of Athens </a:t>
            </a:r>
            <a:r>
              <a:rPr lang="en-US"/>
              <a:t>in the Stanza della Segnatura.</a:t>
            </a:r>
          </a:p>
          <a:p>
            <a:pPr lvl="1"/>
            <a:r>
              <a:rPr lang="en-US"/>
              <a:t>Harmoniously arranged forms and rational space complement the room in which it was painted.</a:t>
            </a:r>
          </a:p>
          <a:p>
            <a:pPr lvl="1"/>
            <a:r>
              <a:rPr lang="en-US"/>
              <a:t>Philosophical figures, while idealized, have dynamically foreshortened </a:t>
            </a:r>
            <a:r>
              <a:rPr lang="en-US" i="1"/>
              <a:t>contrapposto</a:t>
            </a:r>
            <a:r>
              <a:rPr lang="en-US"/>
              <a:t> poses.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3"/>
          <p:cNvSpPr>
            <a:spLocks noGrp="1"/>
          </p:cNvSpPr>
          <p:nvPr>
            <p:ph type="title"/>
          </p:nvPr>
        </p:nvSpPr>
        <p:spPr/>
        <p:txBody>
          <a:bodyPr>
            <a:normAutofit fontScale="90000"/>
          </a:bodyPr>
          <a:lstStyle/>
          <a:p>
            <a:r>
              <a:rPr lang="en-US" dirty="0"/>
              <a:t>Raphael STANZA DELLA SEGNATURA</a:t>
            </a:r>
            <a:br>
              <a:rPr lang="en-US" dirty="0"/>
            </a:br>
            <a:r>
              <a:rPr lang="en-US" dirty="0"/>
              <a:t>Vatican, Rome. Fresco in the left lunette, </a:t>
            </a:r>
            <a:r>
              <a:rPr lang="en-US" i="1" dirty="0"/>
              <a:t>Parnassus</a:t>
            </a:r>
            <a:r>
              <a:rPr lang="en-US" dirty="0"/>
              <a:t>; in the right lunette, </a:t>
            </a:r>
            <a:r>
              <a:rPr lang="en-US" i="1" dirty="0"/>
              <a:t>The School of Athens</a:t>
            </a:r>
            <a:r>
              <a:rPr lang="en-US" dirty="0"/>
              <a:t>. 1510–1511. Photo © </a:t>
            </a:r>
            <a:r>
              <a:rPr lang="en-US" dirty="0" err="1"/>
              <a:t>Musei</a:t>
            </a:r>
            <a:r>
              <a:rPr lang="en-US" dirty="0"/>
              <a:t> </a:t>
            </a:r>
            <a:r>
              <a:rPr lang="en-US" dirty="0" err="1"/>
              <a:t>Vaticani</a:t>
            </a:r>
            <a:r>
              <a:rPr lang="en-US" dirty="0"/>
              <a:t>/IKONA. </a:t>
            </a:r>
          </a:p>
        </p:txBody>
      </p:sp>
      <p:pic>
        <p:nvPicPr>
          <p:cNvPr id="2" name="Picture 1" descr="The study’s two visible walls are each adorned with a mural, filling the space rising to the arches above. The floor is decorated in small, intricate patterns of til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3"/>
          <p:cNvSpPr>
            <a:spLocks noGrp="1"/>
          </p:cNvSpPr>
          <p:nvPr>
            <p:ph type="title"/>
          </p:nvPr>
        </p:nvSpPr>
        <p:spPr/>
        <p:txBody>
          <a:bodyPr>
            <a:normAutofit fontScale="90000"/>
          </a:bodyPr>
          <a:lstStyle/>
          <a:p>
            <a:r>
              <a:rPr lang="en-US" dirty="0"/>
              <a:t>A CLOSER LOOK: The School of Athens by Raphael </a:t>
            </a:r>
            <a:br>
              <a:rPr lang="en-US" dirty="0"/>
            </a:br>
            <a:r>
              <a:rPr lang="en-US" dirty="0"/>
              <a:t>Fresco in the Stanza </a:t>
            </a:r>
            <a:r>
              <a:rPr lang="en-US" dirty="0" err="1"/>
              <a:t>della</a:t>
            </a:r>
            <a:r>
              <a:rPr lang="en-US" dirty="0"/>
              <a:t> </a:t>
            </a:r>
            <a:r>
              <a:rPr lang="en-US" dirty="0" err="1"/>
              <a:t>Segnatura</a:t>
            </a:r>
            <a:r>
              <a:rPr lang="en-US" dirty="0"/>
              <a:t>, Vatican, Rome.</a:t>
            </a:r>
            <a:br>
              <a:rPr lang="en-US" dirty="0"/>
            </a:br>
            <a:r>
              <a:rPr lang="en-US" dirty="0"/>
              <a:t>c. 1510–1511. 19</a:t>
            </a:r>
            <a:r>
              <a:rPr lang="uk-UA" dirty="0"/>
              <a:t>'</a:t>
            </a:r>
            <a:r>
              <a:rPr lang="en-US" dirty="0"/>
              <a:t> × 27</a:t>
            </a:r>
            <a:r>
              <a:rPr lang="uk-UA" dirty="0"/>
              <a:t>'</a:t>
            </a:r>
            <a:r>
              <a:rPr lang="en-US" dirty="0"/>
              <a:t> (5.79 × 8.24 m).</a:t>
            </a:r>
            <a:br>
              <a:rPr lang="en-US" dirty="0"/>
            </a:br>
            <a:r>
              <a:rPr lang="en-US" dirty="0"/>
              <a:t>Photo © </a:t>
            </a:r>
            <a:r>
              <a:rPr lang="en-US" dirty="0" err="1"/>
              <a:t>Musei</a:t>
            </a:r>
            <a:r>
              <a:rPr lang="en-US" dirty="0"/>
              <a:t> </a:t>
            </a:r>
            <a:r>
              <a:rPr lang="en-US" dirty="0" err="1"/>
              <a:t>Vaticani</a:t>
            </a:r>
            <a:r>
              <a:rPr lang="en-US" dirty="0"/>
              <a:t>/IKONA.</a:t>
            </a:r>
          </a:p>
        </p:txBody>
      </p:sp>
      <p:pic>
        <p:nvPicPr>
          <p:cNvPr id="2" name="Picture 1" descr="A diagram of the painting, The School of Athens. The school of Athens is depicted as a contemporary basilica with transepts, populated by characters from Greek history gathering in small groups to discuss their studies near a wide, short staircase. Looking down from niches in the walls are sculptures of Apollo, the god of sunlight, rationality, poetry, music, and the fine arts, as well as Minerva, the goddess of wisdom and the mechanical arts. At the center of the image, about to descend the wide staircase, Plato points upward, to the realm of ideas and pure forms that were at the center of his philosophy. His pupil Aristotle walks beside him, gesturing toward their surroundings, signifying the empirical world that, for him, served as the basis for understanding. The figure bent over a slate with a compass, in the foreground on the right, is Euclid, the father of geometry. Vasari claimed that Raphael gave this mathematician the portrait likeness of Bramante, the architect whose redesign Saint Peter’s was under construction not far from this room, and who was also a distant relative of Raphael. The group of figures gathered around Euclid illustrate the various stages of understanding: literal learning, dawning comprehension, anticipation of the outcome, and assisting the teacher. Raphael was praised for his ability to communicate so clearly through the poses and expressions of his figures. Raphael placed his own portrait in a group that includes the geographer Ptolemy, who holds a terrestrial globe, and the astronomer Zoroaster, who holds a celestial globe. Vasari’s account of the painting identifies a figure reclining on the wide steps as Diogenes the Cynic. It is more likely that he is Socrates, however. The cup next to him could refer to his deadly draught of hemlock, and his reclining head recalls his teaching from his prison bed. To the side of the stairs opposite Euclid, the brooding figure of Heraclitus, a late addition to the composition, is a portrait of Michelangelo, who was working next door on the Sistine Chapel and whose monumental figure style is here taken, or mimicked, by Raphael. The stonecutter’s boots on his feet refer to Michelangelo’s self-identification as, or Raphael’s insistence that he be seen as, a sculptor rather than a paint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r>
              <a:rPr lang="en-US"/>
              <a:t>Raphael (4 of 4)</a:t>
            </a:r>
          </a:p>
        </p:txBody>
      </p:sp>
      <p:sp>
        <p:nvSpPr>
          <p:cNvPr id="48130" name="Content Placeholder 2"/>
          <p:cNvSpPr>
            <a:spLocks noGrp="1"/>
          </p:cNvSpPr>
          <p:nvPr>
            <p:ph idx="1"/>
          </p:nvPr>
        </p:nvSpPr>
        <p:spPr/>
        <p:txBody>
          <a:bodyPr/>
          <a:lstStyle/>
          <a:p>
            <a:r>
              <a:rPr lang="en-US"/>
              <a:t>Tapestries in the Sistine Chapel </a:t>
            </a:r>
          </a:p>
          <a:p>
            <a:pPr lvl="1"/>
            <a:r>
              <a:rPr lang="en-US"/>
              <a:t>The cartoons behind the set of ten tapestries for Leo X</a:t>
            </a:r>
            <a:r>
              <a:rPr lang="uk-UA"/>
              <a:t>'</a:t>
            </a:r>
            <a:r>
              <a:rPr lang="en-US"/>
              <a:t>s commissions were created between 1515 and 1516.</a:t>
            </a:r>
          </a:p>
          <a:p>
            <a:pPr lvl="1"/>
            <a:r>
              <a:rPr lang="en-US"/>
              <a:t>Comparison between the cartoon studies and the tapestries reveals that weavers did not follow models slavishly.</a:t>
            </a:r>
          </a:p>
          <a:p>
            <a:pPr lvl="1"/>
            <a:r>
              <a:rPr lang="en-US"/>
              <a:t>The tapestries are displayed in the museum rather than in the chapel.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3"/>
          <p:cNvSpPr>
            <a:spLocks noGrp="1"/>
          </p:cNvSpPr>
          <p:nvPr>
            <p:ph type="title"/>
          </p:nvPr>
        </p:nvSpPr>
        <p:spPr/>
        <p:txBody>
          <a:bodyPr>
            <a:normAutofit fontScale="90000"/>
          </a:bodyPr>
          <a:lstStyle/>
          <a:p>
            <a:r>
              <a:rPr lang="en-US" dirty="0"/>
              <a:t>Raphael STUDY FOR CHRIST</a:t>
            </a:r>
            <a:r>
              <a:rPr lang="uk-UA" dirty="0"/>
              <a:t>'</a:t>
            </a:r>
            <a:r>
              <a:rPr lang="en-US" dirty="0"/>
              <a:t>S CHARGE TO PETER</a:t>
            </a:r>
            <a:br>
              <a:rPr lang="en-US" dirty="0"/>
            </a:br>
            <a:r>
              <a:rPr lang="en-US" dirty="0"/>
              <a:t>c. 1515. Red chalk.</a:t>
            </a:r>
            <a:br>
              <a:rPr lang="en-US" dirty="0"/>
            </a:br>
            <a:r>
              <a:rPr lang="en-US" dirty="0"/>
              <a:t>Royal Library, Windsor Castle. Royal Collection Trust © Her Majesty Queen Elizabeth II, 2016/Bridgeman Images. </a:t>
            </a:r>
          </a:p>
        </p:txBody>
      </p:sp>
      <p:pic>
        <p:nvPicPr>
          <p:cNvPr id="2" name="Picture 1" descr="Men in simple outfits, or undergarments, gather as if listening to a man who stands alone with his hand raised above his head, as if in oratory, or about to bow to the gather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3"/>
          <p:cNvSpPr>
            <a:spLocks noGrp="1"/>
          </p:cNvSpPr>
          <p:nvPr>
            <p:ph type="title"/>
          </p:nvPr>
        </p:nvSpPr>
        <p:spPr>
          <a:xfrm>
            <a:off x="457200" y="5715000"/>
            <a:ext cx="8229600" cy="685800"/>
          </a:xfrm>
        </p:spPr>
        <p:txBody>
          <a:bodyPr>
            <a:normAutofit fontScale="90000"/>
          </a:bodyPr>
          <a:lstStyle/>
          <a:p>
            <a:r>
              <a:rPr lang="en-US" dirty="0"/>
              <a:t>Raphael and assistants CARTOON FOR TAPESTRY PORTRAYING</a:t>
            </a:r>
            <a:br>
              <a:rPr lang="en-US" dirty="0"/>
            </a:br>
            <a:r>
              <a:rPr lang="en-US" dirty="0"/>
              <a:t>CHRIST</a:t>
            </a:r>
            <a:r>
              <a:rPr lang="uk-UA" dirty="0"/>
              <a:t>'</a:t>
            </a:r>
            <a:r>
              <a:rPr lang="en-US" dirty="0"/>
              <a:t>S CHARGE TO PETER</a:t>
            </a:r>
            <a:br>
              <a:rPr lang="en-US" dirty="0"/>
            </a:br>
            <a:r>
              <a:rPr lang="en-US" dirty="0"/>
              <a:t>c. 1515–1516. Distemper on paper (now transferred to canvas),</a:t>
            </a:r>
            <a:br>
              <a:rPr lang="en-US" dirty="0"/>
            </a:br>
            <a:r>
              <a:rPr lang="en-US" dirty="0"/>
              <a:t>11</a:t>
            </a:r>
            <a:r>
              <a:rPr lang="uk-UA" dirty="0"/>
              <a:t>'</a:t>
            </a:r>
            <a:r>
              <a:rPr lang="en-US" dirty="0"/>
              <a:t>1</a:t>
            </a:r>
            <a:r>
              <a:rPr lang="ru-RU" dirty="0"/>
              <a:t>"</a:t>
            </a:r>
            <a:r>
              <a:rPr lang="en-US" dirty="0"/>
              <a:t> × 17</a:t>
            </a:r>
            <a:r>
              <a:rPr lang="uk-UA" dirty="0"/>
              <a:t>'</a:t>
            </a:r>
            <a:r>
              <a:rPr lang="en-US" dirty="0"/>
              <a:t>4</a:t>
            </a:r>
            <a:r>
              <a:rPr lang="ru-RU" dirty="0"/>
              <a:t>"</a:t>
            </a:r>
            <a:r>
              <a:rPr lang="en-US" dirty="0"/>
              <a:t> (3.4 × 5.3 m). Lent by Her Majesty the Queen to the Victoria &amp; Albert Museum, London. V&amp;A Images/Victoria and Albert Museum. </a:t>
            </a:r>
          </a:p>
        </p:txBody>
      </p:sp>
      <p:pic>
        <p:nvPicPr>
          <p:cNvPr id="2" name="Picture 1" descr="Christ stands at the left side of the tableau, pointing to Peter, knelt before him, with one hand, and point to a flock of sheep behind him with the other ha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3"/>
          <p:cNvSpPr>
            <a:spLocks noGrp="1"/>
          </p:cNvSpPr>
          <p:nvPr>
            <p:ph type="title"/>
          </p:nvPr>
        </p:nvSpPr>
        <p:spPr/>
        <p:txBody>
          <a:bodyPr>
            <a:normAutofit fontScale="90000"/>
          </a:bodyPr>
          <a:lstStyle/>
          <a:p>
            <a:r>
              <a:rPr lang="en-US" dirty="0"/>
              <a:t>Shop of Pieter van </a:t>
            </a:r>
            <a:r>
              <a:rPr lang="en-US" dirty="0" err="1"/>
              <a:t>Aelst</a:t>
            </a:r>
            <a:r>
              <a:rPr lang="en-US" dirty="0"/>
              <a:t>, Brussels, after cartoons by Raphael and assistants</a:t>
            </a:r>
            <a:br>
              <a:rPr lang="en-US" dirty="0"/>
            </a:br>
            <a:r>
              <a:rPr lang="en-US" dirty="0"/>
              <a:t>CHRIST</a:t>
            </a:r>
            <a:r>
              <a:rPr lang="uk-UA" dirty="0"/>
              <a:t>'</a:t>
            </a:r>
            <a:r>
              <a:rPr lang="en-US" dirty="0"/>
              <a:t>S CHARGE TO PETER</a:t>
            </a:r>
            <a:br>
              <a:rPr lang="en-US" dirty="0"/>
            </a:br>
            <a:r>
              <a:rPr lang="en-US" dirty="0"/>
              <a:t>Woven 1517, installed 1519 in the Sistine Chapel.</a:t>
            </a:r>
            <a:br>
              <a:rPr lang="en-US" dirty="0"/>
            </a:br>
            <a:r>
              <a:rPr lang="en-US" dirty="0"/>
              <a:t>Wool and silk with silver-gilt-wrapped threads.</a:t>
            </a:r>
            <a:br>
              <a:rPr lang="en-US" dirty="0"/>
            </a:br>
            <a:r>
              <a:rPr lang="en-US" dirty="0" err="1"/>
              <a:t>Musei</a:t>
            </a:r>
            <a:r>
              <a:rPr lang="en-US" dirty="0"/>
              <a:t> </a:t>
            </a:r>
            <a:r>
              <a:rPr lang="en-US" dirty="0" err="1"/>
              <a:t>Vaticani</a:t>
            </a:r>
            <a:r>
              <a:rPr lang="en-US" dirty="0"/>
              <a:t>, Pinacoteca, Rome. Photo © </a:t>
            </a:r>
            <a:r>
              <a:rPr lang="en-US" dirty="0" err="1"/>
              <a:t>Musei</a:t>
            </a:r>
            <a:r>
              <a:rPr lang="en-US" dirty="0"/>
              <a:t> </a:t>
            </a:r>
            <a:r>
              <a:rPr lang="en-US" dirty="0" err="1"/>
              <a:t>Vaticani</a:t>
            </a:r>
            <a:r>
              <a:rPr lang="en-US" dirty="0"/>
              <a:t>/IKONA.</a:t>
            </a:r>
          </a:p>
        </p:txBody>
      </p:sp>
      <p:pic>
        <p:nvPicPr>
          <p:cNvPr id="2" name="Picture 1" descr="In the final tapestry version, Jesus stands at the right side of the tableau, but still points only to the apostle who kneels immediately before him, and to the flock of sheep behi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r>
              <a:rPr lang="en-US"/>
              <a:t>Michelangelo (1 of 6)</a:t>
            </a:r>
          </a:p>
        </p:txBody>
      </p:sp>
      <p:sp>
        <p:nvSpPr>
          <p:cNvPr id="55298" name="Content Placeholder 2"/>
          <p:cNvSpPr>
            <a:spLocks noGrp="1"/>
          </p:cNvSpPr>
          <p:nvPr>
            <p:ph idx="1"/>
          </p:nvPr>
        </p:nvSpPr>
        <p:spPr/>
        <p:txBody>
          <a:bodyPr/>
          <a:lstStyle/>
          <a:p>
            <a:r>
              <a:rPr lang="en-US"/>
              <a:t>An example of Michaelangelo</a:t>
            </a:r>
            <a:r>
              <a:rPr lang="uk-UA"/>
              <a:t>'</a:t>
            </a:r>
            <a:r>
              <a:rPr lang="en-US"/>
              <a:t>s early work is the marble </a:t>
            </a:r>
            <a:r>
              <a:rPr lang="en-US" b="1" i="1"/>
              <a:t>Pietà</a:t>
            </a:r>
            <a:r>
              <a:rPr lang="en-US"/>
              <a:t>.</a:t>
            </a:r>
          </a:p>
          <a:p>
            <a:pPr lvl="1"/>
            <a:r>
              <a:rPr lang="en-US"/>
              <a:t>The subject of the Virgin supporting and mourning the dead Jesus was rare in Italian art of the time.</a:t>
            </a:r>
          </a:p>
          <a:p>
            <a:pPr lvl="1"/>
            <a:r>
              <a:rPr lang="en-US"/>
              <a:t>Size disparity between the large Virgin and Jesus is forgotten when viewing the smooth modeling of deftly carved forms.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3"/>
          <p:cNvSpPr>
            <a:spLocks noGrp="1"/>
          </p:cNvSpPr>
          <p:nvPr>
            <p:ph type="title"/>
          </p:nvPr>
        </p:nvSpPr>
        <p:spPr/>
        <p:txBody>
          <a:bodyPr>
            <a:normAutofit fontScale="90000"/>
          </a:bodyPr>
          <a:lstStyle/>
          <a:p>
            <a:r>
              <a:rPr lang="en-US" dirty="0"/>
              <a:t>Michelangelo PIETÀ</a:t>
            </a:r>
            <a:br>
              <a:rPr lang="en-US" dirty="0"/>
            </a:br>
            <a:r>
              <a:rPr lang="en-US" dirty="0"/>
              <a:t>c. 1500. Marble, height 5</a:t>
            </a:r>
            <a:r>
              <a:rPr lang="uk-UA" dirty="0"/>
              <a:t>'</a:t>
            </a:r>
            <a:r>
              <a:rPr lang="en-US" dirty="0"/>
              <a:t>8-1/2</a:t>
            </a:r>
            <a:r>
              <a:rPr lang="ru-RU" dirty="0"/>
              <a:t>"</a:t>
            </a:r>
            <a:r>
              <a:rPr lang="en-US" dirty="0"/>
              <a:t> (1.74 m).</a:t>
            </a:r>
            <a:br>
              <a:rPr lang="en-US" dirty="0"/>
            </a:br>
            <a:r>
              <a:rPr lang="en-US" dirty="0"/>
              <a:t>St. Peter</a:t>
            </a:r>
            <a:r>
              <a:rPr lang="uk-UA" dirty="0"/>
              <a:t>'</a:t>
            </a:r>
            <a:r>
              <a:rPr lang="en-US" dirty="0"/>
              <a:t>s, Vatican, Rome. </a:t>
            </a:r>
            <a:r>
              <a:rPr lang="en-US" dirty="0" err="1"/>
              <a:t>Canali</a:t>
            </a:r>
            <a:r>
              <a:rPr lang="en-US" dirty="0"/>
              <a:t> Photobank, Milan, Italy.</a:t>
            </a:r>
          </a:p>
        </p:txBody>
      </p:sp>
      <p:pic>
        <p:nvPicPr>
          <p:cNvPr id="2" name="Picture 1" descr="Mary balances Christ’s frail form across her lap, with his musculature in contrast to her long, complexly contoured drap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r>
              <a:rPr lang="en-US"/>
              <a:t>Michelangelo (2 of 6)</a:t>
            </a:r>
          </a:p>
        </p:txBody>
      </p:sp>
      <p:sp>
        <p:nvSpPr>
          <p:cNvPr id="58370" name="Content Placeholder 2"/>
          <p:cNvSpPr>
            <a:spLocks noGrp="1"/>
          </p:cNvSpPr>
          <p:nvPr>
            <p:ph idx="1"/>
          </p:nvPr>
        </p:nvSpPr>
        <p:spPr/>
        <p:txBody>
          <a:bodyPr/>
          <a:lstStyle/>
          <a:p>
            <a:r>
              <a:rPr lang="en-US"/>
              <a:t>The statue of </a:t>
            </a:r>
            <a:r>
              <a:rPr lang="en-US" i="1"/>
              <a:t>David</a:t>
            </a:r>
            <a:r>
              <a:rPr lang="en-US"/>
              <a:t> was commissioned for a buttress of a cathedral in Florence, but was so loved that it was placed in the city square instead.</a:t>
            </a:r>
          </a:p>
          <a:p>
            <a:pPr lvl="1"/>
            <a:r>
              <a:rPr lang="en-US"/>
              <a:t>The concentrated gaze departs from antique facial expression.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3"/>
          <p:cNvSpPr>
            <a:spLocks noGrp="1"/>
          </p:cNvSpPr>
          <p:nvPr>
            <p:ph type="title"/>
          </p:nvPr>
        </p:nvSpPr>
        <p:spPr/>
        <p:txBody>
          <a:bodyPr>
            <a:normAutofit fontScale="90000"/>
          </a:bodyPr>
          <a:lstStyle/>
          <a:p>
            <a:r>
              <a:rPr lang="en-US" dirty="0"/>
              <a:t>Michelangelo DAVID</a:t>
            </a:r>
            <a:br>
              <a:rPr lang="en-US" dirty="0"/>
            </a:br>
            <a:r>
              <a:rPr lang="en-US" dirty="0"/>
              <a:t>1501–1504. Marble, height 17</a:t>
            </a:r>
            <a:r>
              <a:rPr lang="uk-UA" dirty="0"/>
              <a:t>'</a:t>
            </a:r>
            <a:r>
              <a:rPr lang="en-US" dirty="0"/>
              <a:t> (5.18 m) without pedestal.</a:t>
            </a:r>
            <a:br>
              <a:rPr lang="en-US" dirty="0"/>
            </a:br>
            <a:r>
              <a:rPr lang="en-US" dirty="0"/>
              <a:t>Galleria dell</a:t>
            </a:r>
            <a:r>
              <a:rPr lang="uk-UA" dirty="0"/>
              <a:t>'</a:t>
            </a:r>
            <a:r>
              <a:rPr lang="en-US" dirty="0"/>
              <a:t>Accademia, Florence. © Studio </a:t>
            </a:r>
            <a:r>
              <a:rPr lang="en-US" dirty="0" err="1"/>
              <a:t>Fotografico</a:t>
            </a:r>
            <a:r>
              <a:rPr lang="en-US" dirty="0"/>
              <a:t> </a:t>
            </a:r>
            <a:r>
              <a:rPr lang="en-US" dirty="0" err="1"/>
              <a:t>Quattrone</a:t>
            </a:r>
            <a:r>
              <a:rPr lang="en-US" dirty="0"/>
              <a:t>, Florence. </a:t>
            </a:r>
          </a:p>
        </p:txBody>
      </p:sp>
      <p:pic>
        <p:nvPicPr>
          <p:cNvPr id="2" name="Picture 1" descr="A nude, physically fit man stands with his weight shifted to his right hip as he looks to his left with a concerned expressio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p:txBody>
          <a:bodyPr/>
          <a:lstStyle/>
          <a:p>
            <a:r>
              <a:rPr lang="en-US"/>
              <a:t>Michelangelo (3 of 6)</a:t>
            </a:r>
          </a:p>
        </p:txBody>
      </p:sp>
      <p:sp>
        <p:nvSpPr>
          <p:cNvPr id="61442" name="Content Placeholder 2"/>
          <p:cNvSpPr>
            <a:spLocks noGrp="1"/>
          </p:cNvSpPr>
          <p:nvPr>
            <p:ph idx="1"/>
          </p:nvPr>
        </p:nvSpPr>
        <p:spPr/>
        <p:txBody>
          <a:bodyPr/>
          <a:lstStyle/>
          <a:p>
            <a:r>
              <a:rPr lang="en-US"/>
              <a:t>The Ceiling of the Sistine Chapel</a:t>
            </a:r>
          </a:p>
          <a:p>
            <a:pPr lvl="1"/>
            <a:r>
              <a:rPr lang="en-US"/>
              <a:t>The </a:t>
            </a:r>
            <a:r>
              <a:rPr lang="en-US" i="1"/>
              <a:t>Sistine Chapel </a:t>
            </a:r>
            <a:r>
              <a:rPr lang="en-US"/>
              <a:t>ceiling was ordered by Pope Julius II, who wanted the theme to be the Twelve Apostles, which Michelangelo found too limiting.</a:t>
            </a:r>
          </a:p>
          <a:p>
            <a:pPr lvl="2"/>
            <a:r>
              <a:rPr lang="en-US"/>
              <a:t>Shallow bands of painted stone molding divide the vault into nine compartments showing scenes from Genesis.</a:t>
            </a:r>
          </a:p>
          <a:p>
            <a:pPr lvl="1"/>
            <a:r>
              <a:rPr lang="en-US"/>
              <a:t>The iconic </a:t>
            </a:r>
            <a:r>
              <a:rPr lang="en-US" i="1"/>
              <a:t>Creation of Adam </a:t>
            </a:r>
            <a:r>
              <a:rPr lang="en-US"/>
              <a:t>shows God sparking Adam with life.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3"/>
          <p:cNvSpPr>
            <a:spLocks noGrp="1"/>
          </p:cNvSpPr>
          <p:nvPr>
            <p:ph type="title"/>
          </p:nvPr>
        </p:nvSpPr>
        <p:spPr/>
        <p:txBody>
          <a:bodyPr>
            <a:normAutofit fontScale="90000"/>
          </a:bodyPr>
          <a:lstStyle/>
          <a:p>
            <a:r>
              <a:rPr lang="en-US" dirty="0"/>
              <a:t>INTERIOR, SISTINE CHAPEL</a:t>
            </a:r>
            <a:br>
              <a:rPr lang="en-US" dirty="0"/>
            </a:br>
            <a:r>
              <a:rPr lang="en-US" dirty="0"/>
              <a:t>Vatican, Rome. Built 1475–1481; ceiling painted 1508–1512; end wall, 1536–1541.</a:t>
            </a:r>
            <a:br>
              <a:rPr lang="en-US" dirty="0"/>
            </a:br>
            <a:r>
              <a:rPr lang="en-US" dirty="0"/>
              <a:t>The ceiling measures 45 × 128</a:t>
            </a:r>
            <a:r>
              <a:rPr lang="uk-UA" dirty="0"/>
              <a:t>'</a:t>
            </a:r>
            <a:r>
              <a:rPr lang="en-US" dirty="0"/>
              <a:t> (13.75 × 39 m).</a:t>
            </a:r>
            <a:br>
              <a:rPr lang="en-US" dirty="0"/>
            </a:br>
            <a:r>
              <a:rPr lang="en-US" dirty="0"/>
              <a:t> Photo © </a:t>
            </a:r>
            <a:r>
              <a:rPr lang="en-US" dirty="0" err="1"/>
              <a:t>Musei</a:t>
            </a:r>
            <a:r>
              <a:rPr lang="en-US" dirty="0"/>
              <a:t> </a:t>
            </a:r>
            <a:r>
              <a:rPr lang="en-US" dirty="0" err="1"/>
              <a:t>Vaticani</a:t>
            </a:r>
            <a:r>
              <a:rPr lang="en-US" dirty="0"/>
              <a:t>/IKONA.</a:t>
            </a:r>
          </a:p>
        </p:txBody>
      </p:sp>
      <p:pic>
        <p:nvPicPr>
          <p:cNvPr id="2" name="Picture 1" descr="The Sistine Chapel’s internal surfaces are decorated by an overwhelming amount of colorful paint; the architecture provides copious frames to fill with vivid religious scen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3"/>
          <p:cNvSpPr>
            <a:spLocks noGrp="1"/>
          </p:cNvSpPr>
          <p:nvPr>
            <p:ph type="title"/>
          </p:nvPr>
        </p:nvSpPr>
        <p:spPr/>
        <p:txBody>
          <a:bodyPr>
            <a:normAutofit fontScale="90000"/>
          </a:bodyPr>
          <a:lstStyle/>
          <a:p>
            <a:r>
              <a:rPr lang="en-US" dirty="0"/>
              <a:t>Michelangelo SISTINE CHAPEL CEILING WITH DIAGRAM IDENTIFYING SCENES</a:t>
            </a:r>
            <a:br>
              <a:rPr lang="en-US" dirty="0"/>
            </a:br>
            <a:r>
              <a:rPr lang="en-US" dirty="0"/>
              <a:t>1508–1512. Fresco.</a:t>
            </a:r>
            <a:br>
              <a:rPr lang="en-US" dirty="0"/>
            </a:br>
            <a:r>
              <a:rPr lang="en-US" dirty="0"/>
              <a:t>Photo © </a:t>
            </a:r>
            <a:r>
              <a:rPr lang="en-US" dirty="0" err="1"/>
              <a:t>Musei</a:t>
            </a:r>
            <a:r>
              <a:rPr lang="en-US" dirty="0"/>
              <a:t> </a:t>
            </a:r>
            <a:r>
              <a:rPr lang="en-US" dirty="0" err="1"/>
              <a:t>Vaticani</a:t>
            </a:r>
            <a:r>
              <a:rPr lang="en-US" dirty="0"/>
              <a:t>/IKONA.</a:t>
            </a:r>
          </a:p>
        </p:txBody>
      </p:sp>
      <p:pic>
        <p:nvPicPr>
          <p:cNvPr id="2" name="Picture 1" descr="From below, the vaulted ceiling and tympania of the Sistine Chapel present a staggering number of scenes and portraits, each framed either by the artist of the archite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3"/>
          <p:cNvSpPr>
            <a:spLocks noGrp="1"/>
          </p:cNvSpPr>
          <p:nvPr>
            <p:ph type="title"/>
          </p:nvPr>
        </p:nvSpPr>
        <p:spPr/>
        <p:txBody>
          <a:bodyPr/>
          <a:lstStyle/>
          <a:p>
            <a:r>
              <a:rPr lang="en-US" dirty="0"/>
              <a:t>Michelangelo SISTINE CHAPEL CEILING WITH DIAGRAM IDENTIFYING SCENES</a:t>
            </a:r>
            <a:br>
              <a:rPr lang="en-US" dirty="0"/>
            </a:br>
            <a:r>
              <a:rPr lang="en-US" dirty="0"/>
              <a:t>1508–1512. Fresco. </a:t>
            </a:r>
          </a:p>
        </p:txBody>
      </p:sp>
      <p:pic>
        <p:nvPicPr>
          <p:cNvPr id="2" name="Picture 1" descr="A diagram of the numerous paintings on the ceiling of the Sistine Chapel. The ceiling of the Sistine Chapel covered in many panels of paintings. Rounded, triangular panels line the sides of the ceiling, above arches. Starting in the upper left corner and moving clockwise to the upper right corner, the subjects are as follows: David and Goliath, Judith and Holofernes in the upper-right corner, Josiah, Ezekias, Asa, Jesse, Moses and the Serpent of Brass in the bottom-right corner, Death of Haman in the bottom-left corner, Salmon, Roboam, Ozias, and Zorobabel. In the second layer, moving inward, Zacharias and Jonah are depicted on the short ends of the chapel. Starting at the chapel entrance and moving clockwise, the subjects are as follows: Zacharias, Delphic Sibyl, Isaiah, Cumaean Sibyl, Daniel, Libyan Sibyl, Jonah, located at the altar end of the chapel, then Jeremiah, Persian Sibyl, Ezekiel, Eritrean Sibyl, and Joel. In the center strip, from top to bottom, the subjects are as follows: the drunkenness of Noah, the Flood, sacrifice of Noah, temptation and expulsion, creation of Eve, Creation of Adam, separation of land from water, creation of sun, moon, and planets, separation of light from darknes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5168"/>
            <a:ext cx="8107680" cy="5031232"/>
          </a:xfrm>
          <a:prstGeom prst="rect">
            <a:avLst/>
          </a:prstGeom>
        </p:spPr>
      </p:pic>
    </p:spTree>
  </p:cSld>
  <p:clrMapOvr>
    <a:masterClrMapping/>
  </p:clrMapOvr>
  <p:transition spd="slow" advTm="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3"/>
          <p:cNvSpPr>
            <a:spLocks noGrp="1"/>
          </p:cNvSpPr>
          <p:nvPr>
            <p:ph type="title"/>
          </p:nvPr>
        </p:nvSpPr>
        <p:spPr/>
        <p:txBody>
          <a:bodyPr>
            <a:normAutofit fontScale="90000"/>
          </a:bodyPr>
          <a:lstStyle/>
          <a:p>
            <a:r>
              <a:rPr lang="en-US" dirty="0"/>
              <a:t>Michelangelo CREATION OF ADAM, SISTINE CHAPEL CEILING</a:t>
            </a:r>
            <a:br>
              <a:rPr lang="en-US" dirty="0"/>
            </a:br>
            <a:r>
              <a:rPr lang="en-US" dirty="0"/>
              <a:t>1511–1512. Fresco, 9</a:t>
            </a:r>
            <a:r>
              <a:rPr lang="uk-UA" dirty="0"/>
              <a:t>'</a:t>
            </a:r>
            <a:r>
              <a:rPr lang="en-US" dirty="0"/>
              <a:t>2</a:t>
            </a:r>
            <a:r>
              <a:rPr lang="ru-RU" dirty="0"/>
              <a:t>"</a:t>
            </a:r>
            <a:r>
              <a:rPr lang="en-US" dirty="0"/>
              <a:t> × 18</a:t>
            </a:r>
            <a:r>
              <a:rPr lang="uk-UA" dirty="0"/>
              <a:t>'</a:t>
            </a:r>
            <a:r>
              <a:rPr lang="en-US" dirty="0"/>
              <a:t>8</a:t>
            </a:r>
            <a:r>
              <a:rPr lang="ru-RU" dirty="0"/>
              <a:t>"</a:t>
            </a:r>
            <a:r>
              <a:rPr lang="en-US" dirty="0"/>
              <a:t> (2.8 × 5.7 m).</a:t>
            </a:r>
            <a:br>
              <a:rPr lang="en-US" dirty="0"/>
            </a:br>
            <a:r>
              <a:rPr lang="en-US" dirty="0"/>
              <a:t>Photo © </a:t>
            </a:r>
            <a:r>
              <a:rPr lang="en-US" dirty="0" err="1"/>
              <a:t>Musei</a:t>
            </a:r>
            <a:r>
              <a:rPr lang="en-US" dirty="0"/>
              <a:t> </a:t>
            </a:r>
            <a:r>
              <a:rPr lang="en-US" dirty="0" err="1"/>
              <a:t>Vaticani</a:t>
            </a:r>
            <a:r>
              <a:rPr lang="en-US" dirty="0"/>
              <a:t>/IKONA. </a:t>
            </a:r>
          </a:p>
        </p:txBody>
      </p:sp>
      <p:pic>
        <p:nvPicPr>
          <p:cNvPr id="2" name="Picture 1" descr="A large image of God floats in mid-air with his finger outstretched to the reclining body of David. God seems suspended by plump cherubim, and holds Eve securely under his other ar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r>
              <a:rPr lang="en-US"/>
              <a:t>Michelangelo (4 of 6)</a:t>
            </a:r>
          </a:p>
        </p:txBody>
      </p:sp>
      <p:sp>
        <p:nvSpPr>
          <p:cNvPr id="68610" name="Content Placeholder 2"/>
          <p:cNvSpPr>
            <a:spLocks noGrp="1"/>
          </p:cNvSpPr>
          <p:nvPr>
            <p:ph idx="1"/>
          </p:nvPr>
        </p:nvSpPr>
        <p:spPr/>
        <p:txBody>
          <a:bodyPr/>
          <a:lstStyle/>
          <a:p>
            <a:r>
              <a:rPr lang="en-US"/>
              <a:t>The Ceiling of the Sistine Chapel</a:t>
            </a:r>
          </a:p>
          <a:p>
            <a:pPr lvl="1"/>
            <a:r>
              <a:rPr lang="en-US"/>
              <a:t>The </a:t>
            </a:r>
            <a:r>
              <a:rPr lang="en-US" i="1"/>
              <a:t>Last Judgment </a:t>
            </a:r>
            <a:r>
              <a:rPr lang="en-US"/>
              <a:t>wall was painted between 1536 and 1541 behind the altar of the Sistine Chapel.</a:t>
            </a:r>
          </a:p>
          <a:p>
            <a:pPr lvl="2"/>
            <a:r>
              <a:rPr lang="en-US"/>
              <a:t>The saved swarm around a central Christ, while the damned are guided by the demonic boatman Charon toward hell.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p:txBody>
          <a:bodyPr/>
          <a:lstStyle/>
          <a:p>
            <a:r>
              <a:rPr lang="en-US"/>
              <a:t>Michelangelo (5 of 6)</a:t>
            </a:r>
          </a:p>
        </p:txBody>
      </p:sp>
      <p:sp>
        <p:nvSpPr>
          <p:cNvPr id="71682" name="Content Placeholder 2"/>
          <p:cNvSpPr>
            <a:spLocks noGrp="1"/>
          </p:cNvSpPr>
          <p:nvPr>
            <p:ph idx="1"/>
          </p:nvPr>
        </p:nvSpPr>
        <p:spPr/>
        <p:txBody>
          <a:bodyPr/>
          <a:lstStyle/>
          <a:p>
            <a:r>
              <a:rPr lang="en-US"/>
              <a:t>San Lorenzo</a:t>
            </a:r>
          </a:p>
          <a:p>
            <a:pPr lvl="1"/>
            <a:r>
              <a:rPr lang="en-US"/>
              <a:t>Michelangelo became the architect for the Medici family, creating two monuments with idealized portraits of the deceased.</a:t>
            </a:r>
          </a:p>
          <a:p>
            <a:pPr lvl="2"/>
            <a:r>
              <a:rPr lang="en-US"/>
              <a:t>Female and male figures atop the sarcophagi represent night and day.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3"/>
          <p:cNvSpPr>
            <a:spLocks noGrp="1"/>
          </p:cNvSpPr>
          <p:nvPr>
            <p:ph type="title"/>
          </p:nvPr>
        </p:nvSpPr>
        <p:spPr/>
        <p:txBody>
          <a:bodyPr>
            <a:normAutofit fontScale="90000"/>
          </a:bodyPr>
          <a:lstStyle/>
          <a:p>
            <a:r>
              <a:rPr lang="en-US" dirty="0"/>
              <a:t>Michelangelo TOMB OF GIULIANO DE</a:t>
            </a:r>
            <a:r>
              <a:rPr lang="uk-UA" dirty="0"/>
              <a:t>'</a:t>
            </a:r>
            <a:r>
              <a:rPr lang="en-US" dirty="0"/>
              <a:t> MEDICI WITH ALLEGORICAL FIGURES OF NIGHT AND DAY</a:t>
            </a:r>
            <a:br>
              <a:rPr lang="en-US" dirty="0"/>
            </a:br>
            <a:r>
              <a:rPr lang="en-US" dirty="0"/>
              <a:t>New Sacristy (Medici Chapel), church of San Lorenzo, Florence. 1519–1534.</a:t>
            </a:r>
            <a:br>
              <a:rPr lang="en-US" dirty="0"/>
            </a:br>
            <a:r>
              <a:rPr lang="en-US" dirty="0"/>
              <a:t>Marble, height of seated figure approx. 5</a:t>
            </a:r>
            <a:r>
              <a:rPr lang="uk-UA" dirty="0"/>
              <a:t>'</a:t>
            </a:r>
            <a:r>
              <a:rPr lang="en-US" dirty="0"/>
              <a:t>10</a:t>
            </a:r>
            <a:r>
              <a:rPr lang="ru-RU" dirty="0"/>
              <a:t>"</a:t>
            </a:r>
            <a:r>
              <a:rPr lang="en-US" dirty="0"/>
              <a:t> (1.8 m).</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A nude man and woman recline in front of a man seated in an alcove, wearing pseudo-classical armor molded to look like the idealized male physiqu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p:txBody>
          <a:bodyPr/>
          <a:lstStyle/>
          <a:p>
            <a:r>
              <a:rPr lang="en-US"/>
              <a:t>Michelangelo (6 of 6)</a:t>
            </a:r>
          </a:p>
        </p:txBody>
      </p:sp>
      <p:sp>
        <p:nvSpPr>
          <p:cNvPr id="74754" name="Content Placeholder 2"/>
          <p:cNvSpPr>
            <a:spLocks noGrp="1"/>
          </p:cNvSpPr>
          <p:nvPr>
            <p:ph idx="1"/>
          </p:nvPr>
        </p:nvSpPr>
        <p:spPr/>
        <p:txBody>
          <a:bodyPr/>
          <a:lstStyle/>
          <a:p>
            <a:r>
              <a:rPr lang="en-US"/>
              <a:t>San Lorenzo</a:t>
            </a:r>
          </a:p>
          <a:p>
            <a:pPr lvl="1"/>
            <a:r>
              <a:rPr lang="en-US"/>
              <a:t>Concurrent with the tombs was the construction of a new library, the vestibule of which designed by Michelangelo.</a:t>
            </a:r>
          </a:p>
          <a:p>
            <a:pPr lvl="2"/>
            <a:r>
              <a:rPr lang="en-US"/>
              <a:t>Columns are recessed into rectangular wall niches in a creative combination of architectural forms.</a:t>
            </a:r>
          </a:p>
          <a:p>
            <a:pPr lvl="2"/>
            <a:r>
              <a:rPr lang="en-US"/>
              <a:t>The forms are more important than the function, a Mannerist characteristic.</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3"/>
          <p:cNvSpPr>
            <a:spLocks noGrp="1"/>
          </p:cNvSpPr>
          <p:nvPr>
            <p:ph type="title"/>
          </p:nvPr>
        </p:nvSpPr>
        <p:spPr/>
        <p:txBody>
          <a:bodyPr>
            <a:normAutofit fontScale="90000"/>
          </a:bodyPr>
          <a:lstStyle/>
          <a:p>
            <a:r>
              <a:rPr lang="en-US" dirty="0"/>
              <a:t>Michelangelo VESTIBULE OF THE LAURENTIAN LIBRARY</a:t>
            </a:r>
            <a:br>
              <a:rPr lang="en-US" dirty="0"/>
            </a:br>
            <a:r>
              <a:rPr lang="en-US" dirty="0"/>
              <a:t>Church of San Lorenzo, Florence.</a:t>
            </a:r>
            <a:br>
              <a:rPr lang="en-US" dirty="0"/>
            </a:br>
            <a:r>
              <a:rPr lang="en-US" dirty="0"/>
              <a:t>Begun 1524; stairway designed 1550s.</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Gray stone contrasts with white walls inside the vestibule, where the walls are divided into panels between integrated columns; each panel features a niche with miniaturized architectural features including columns and a gabl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p:cNvSpPr>
            <a:spLocks noGrp="1"/>
          </p:cNvSpPr>
          <p:nvPr>
            <p:ph type="title"/>
          </p:nvPr>
        </p:nvSpPr>
        <p:spPr/>
        <p:txBody>
          <a:bodyPr/>
          <a:lstStyle/>
          <a:p>
            <a:r>
              <a:rPr lang="en-US"/>
              <a:t>Architecture in Rome and the Vatican</a:t>
            </a:r>
          </a:p>
        </p:txBody>
      </p:sp>
      <p:sp>
        <p:nvSpPr>
          <p:cNvPr id="77826" name="Content Placeholder 2"/>
          <p:cNvSpPr>
            <a:spLocks noGrp="1"/>
          </p:cNvSpPr>
          <p:nvPr>
            <p:ph idx="1"/>
          </p:nvPr>
        </p:nvSpPr>
        <p:spPr/>
        <p:txBody>
          <a:bodyPr/>
          <a:lstStyle/>
          <a:p>
            <a:r>
              <a:rPr lang="en-US"/>
              <a:t>Pope Julius II enlisted Bramante, Raphael, and Michelangelo to carry out his vision of a revitalized Rome.</a:t>
            </a:r>
          </a:p>
          <a:p>
            <a:r>
              <a:rPr lang="en-US"/>
              <a:t>Bramante</a:t>
            </a:r>
          </a:p>
          <a:p>
            <a:pPr lvl="1"/>
            <a:r>
              <a:rPr lang="en-US"/>
              <a:t>Combining principles of Vitruvius and Alberti, Bramante created Il Tempietto over the spot where Peter was believed to have been crucified.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3"/>
          <p:cNvSpPr>
            <a:spLocks noGrp="1"/>
          </p:cNvSpPr>
          <p:nvPr>
            <p:ph type="title"/>
          </p:nvPr>
        </p:nvSpPr>
        <p:spPr/>
        <p:txBody>
          <a:bodyPr>
            <a:normAutofit fontScale="90000"/>
          </a:bodyPr>
          <a:lstStyle/>
          <a:p>
            <a:r>
              <a:rPr lang="en-US" dirty="0"/>
              <a:t>Donato Bramante IL TEMPIETTO, CHURCH OF SAN PIETRO IN MONTORIO</a:t>
            </a:r>
            <a:br>
              <a:rPr lang="en-US" dirty="0"/>
            </a:br>
            <a:r>
              <a:rPr lang="en-US" dirty="0"/>
              <a:t>Rome. 1502–1510; dome and lantern were restored in the 17th century.</a:t>
            </a:r>
            <a:br>
              <a:rPr lang="en-US" dirty="0"/>
            </a:br>
            <a:r>
              <a:rPr lang="en-US" dirty="0"/>
              <a:t>© Vincenzo </a:t>
            </a:r>
            <a:r>
              <a:rPr lang="en-US" dirty="0" err="1"/>
              <a:t>Pirozzi</a:t>
            </a:r>
            <a:r>
              <a:rPr lang="en-US" dirty="0"/>
              <a:t>, Rome </a:t>
            </a:r>
          </a:p>
        </p:txBody>
      </p:sp>
      <p:pic>
        <p:nvPicPr>
          <p:cNvPr id="2" name="Picture 1" descr="The small domed temple now sits in the center of a rectangular courtyard, enclosed by taller building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p:cNvSpPr>
            <a:spLocks noGrp="1"/>
          </p:cNvSpPr>
          <p:nvPr>
            <p:ph type="title"/>
          </p:nvPr>
        </p:nvSpPr>
        <p:spPr/>
        <p:txBody>
          <a:bodyPr/>
          <a:lstStyle/>
          <a:p>
            <a:r>
              <a:rPr lang="en-US"/>
              <a:t>Northern Italy (1 of 4)</a:t>
            </a:r>
          </a:p>
        </p:txBody>
      </p:sp>
      <p:sp>
        <p:nvSpPr>
          <p:cNvPr id="80898" name="Content Placeholder 2"/>
          <p:cNvSpPr>
            <a:spLocks noGrp="1"/>
          </p:cNvSpPr>
          <p:nvPr>
            <p:ph idx="1"/>
          </p:nvPr>
        </p:nvSpPr>
        <p:spPr/>
        <p:txBody>
          <a:bodyPr/>
          <a:lstStyle/>
          <a:p>
            <a:r>
              <a:rPr lang="en-US"/>
              <a:t>Architects and painters working for wealthy patrons created fanciful structures and a colorful, illusionistic painting style.</a:t>
            </a:r>
          </a:p>
          <a:p>
            <a:r>
              <a:rPr lang="en-US"/>
              <a:t>Giulio Romano</a:t>
            </a:r>
          </a:p>
          <a:p>
            <a:pPr lvl="1"/>
            <a:r>
              <a:rPr lang="en-US"/>
              <a:t>Romano was commissioned to build a pleasure palace.</a:t>
            </a:r>
          </a:p>
          <a:p>
            <a:pPr lvl="2"/>
            <a:r>
              <a:rPr lang="en-US"/>
              <a:t>The design was full of visual jokes and did not include much residential space.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3"/>
          <p:cNvSpPr>
            <a:spLocks noGrp="1"/>
          </p:cNvSpPr>
          <p:nvPr>
            <p:ph type="title"/>
          </p:nvPr>
        </p:nvSpPr>
        <p:spPr/>
        <p:txBody>
          <a:bodyPr>
            <a:normAutofit fontScale="90000"/>
          </a:bodyPr>
          <a:lstStyle/>
          <a:p>
            <a:r>
              <a:rPr lang="en-US" dirty="0"/>
              <a:t>Giulio Romano COURTYARD FAÇADE, PALAZZO DEL TÈ, MANTUA</a:t>
            </a:r>
            <a:br>
              <a:rPr lang="en-US" dirty="0"/>
            </a:br>
            <a:r>
              <a:rPr lang="en-US" dirty="0"/>
              <a:t>1527–1534.</a:t>
            </a:r>
            <a:br>
              <a:rPr lang="en-US" dirty="0"/>
            </a:br>
            <a:r>
              <a:rPr lang="en-US" dirty="0"/>
              <a:t>© </a:t>
            </a:r>
            <a:r>
              <a:rPr lang="en-US" dirty="0" err="1"/>
              <a:t>SuperStock</a:t>
            </a:r>
            <a:r>
              <a:rPr lang="en-US" dirty="0"/>
              <a:t>. </a:t>
            </a:r>
          </a:p>
        </p:txBody>
      </p:sp>
      <p:pic>
        <p:nvPicPr>
          <p:cNvPr id="2" name="Picture 1" descr="Architectural features from a variety of styles are juxtaposed to decorate the façade surrounding a wide, rectangular courtyard with low, well-maintained hedges bordering paved walkway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p:cNvSpPr>
            <a:spLocks noGrp="1"/>
          </p:cNvSpPr>
          <p:nvPr>
            <p:ph type="title"/>
          </p:nvPr>
        </p:nvSpPr>
        <p:spPr/>
        <p:txBody>
          <a:bodyPr/>
          <a:lstStyle/>
          <a:p>
            <a:r>
              <a:rPr lang="en-US"/>
              <a:t>Northern Italy (2 of 4)</a:t>
            </a:r>
          </a:p>
        </p:txBody>
      </p:sp>
      <p:sp>
        <p:nvSpPr>
          <p:cNvPr id="83970" name="Content Placeholder 2"/>
          <p:cNvSpPr>
            <a:spLocks noGrp="1"/>
          </p:cNvSpPr>
          <p:nvPr>
            <p:ph idx="1"/>
          </p:nvPr>
        </p:nvSpPr>
        <p:spPr/>
        <p:txBody>
          <a:bodyPr/>
          <a:lstStyle/>
          <a:p>
            <a:r>
              <a:rPr lang="en-US"/>
              <a:t>Giulio Romano</a:t>
            </a:r>
          </a:p>
          <a:p>
            <a:pPr lvl="1"/>
            <a:r>
              <a:rPr lang="en-US"/>
              <a:t>Decoration of the two principal rooms continued witty designs in the Palazzo del Tè.</a:t>
            </a:r>
          </a:p>
          <a:p>
            <a:pPr lvl="1"/>
            <a:r>
              <a:rPr lang="en-US"/>
              <a:t>Unifying themes were love and politics.</a:t>
            </a:r>
          </a:p>
          <a:p>
            <a:pPr lvl="2"/>
            <a:r>
              <a:rPr lang="en-US"/>
              <a:t>Decoration reflected Federigo</a:t>
            </a:r>
            <a:r>
              <a:rPr lang="uk-UA"/>
              <a:t>'</a:t>
            </a:r>
            <a:r>
              <a:rPr lang="en-US"/>
              <a:t>s dicey alliance with Charles V.</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3"/>
          <p:cNvSpPr>
            <a:spLocks noGrp="1"/>
          </p:cNvSpPr>
          <p:nvPr>
            <p:ph type="title"/>
          </p:nvPr>
        </p:nvSpPr>
        <p:spPr/>
        <p:txBody>
          <a:bodyPr>
            <a:normAutofit fontScale="90000"/>
          </a:bodyPr>
          <a:lstStyle/>
          <a:p>
            <a:r>
              <a:rPr lang="en-US" dirty="0"/>
              <a:t>Giulio Romano FALL OF THE GIANTS</a:t>
            </a:r>
            <a:br>
              <a:rPr lang="en-US" dirty="0"/>
            </a:br>
            <a:r>
              <a:rPr lang="en-US" dirty="0"/>
              <a:t>Sala </a:t>
            </a:r>
            <a:r>
              <a:rPr lang="en-US" dirty="0" err="1"/>
              <a:t>dei</a:t>
            </a:r>
            <a:r>
              <a:rPr lang="en-US" dirty="0"/>
              <a:t> </a:t>
            </a:r>
            <a:r>
              <a:rPr lang="en-US" dirty="0" err="1"/>
              <a:t>Giganti</a:t>
            </a:r>
            <a:r>
              <a:rPr lang="en-US" dirty="0"/>
              <a:t>, Palazzo del </a:t>
            </a:r>
            <a:r>
              <a:rPr lang="en-US" dirty="0" err="1"/>
              <a:t>Tè</a:t>
            </a:r>
            <a:r>
              <a:rPr lang="en-US" dirty="0"/>
              <a:t>.</a:t>
            </a:r>
            <a:br>
              <a:rPr lang="en-US" dirty="0"/>
            </a:br>
            <a:r>
              <a:rPr lang="en-US" dirty="0"/>
              <a:t>1530–1532. Fresco.</a:t>
            </a:r>
            <a:br>
              <a:rPr lang="en-US" dirty="0"/>
            </a:br>
            <a:r>
              <a:rPr lang="en-US" dirty="0"/>
              <a:t>© 2016. Photo Scala, Florence.</a:t>
            </a:r>
          </a:p>
        </p:txBody>
      </p:sp>
      <p:pic>
        <p:nvPicPr>
          <p:cNvPr id="2" name="Picture 1" descr="The artist has painted the room’s walls and ceiling to obscure their edges, making their intersecting planes seem to flow together. The walls seem to crumble away to depict military actions in the distanc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p:txBody>
          <a:bodyPr/>
          <a:lstStyle/>
          <a:p>
            <a:r>
              <a:rPr lang="en-US"/>
              <a:t>Northern Italy (3 of 4)</a:t>
            </a:r>
          </a:p>
        </p:txBody>
      </p:sp>
      <p:sp>
        <p:nvSpPr>
          <p:cNvPr id="87042" name="Content Placeholder 2"/>
          <p:cNvSpPr>
            <a:spLocks noGrp="1"/>
          </p:cNvSpPr>
          <p:nvPr>
            <p:ph idx="1"/>
          </p:nvPr>
        </p:nvSpPr>
        <p:spPr/>
        <p:txBody>
          <a:bodyPr/>
          <a:lstStyle/>
          <a:p>
            <a:r>
              <a:rPr lang="en-US"/>
              <a:t>Correggio</a:t>
            </a:r>
          </a:p>
          <a:p>
            <a:pPr lvl="1"/>
            <a:r>
              <a:rPr lang="en-US"/>
              <a:t>With use of dramatic foreshortening, Correggio creates the illusion that the ceiling is opening up in the </a:t>
            </a:r>
            <a:r>
              <a:rPr lang="en-US" i="1"/>
              <a:t>Assumption of the Virgin</a:t>
            </a:r>
            <a:r>
              <a:rPr lang="en-US"/>
              <a:t>. </a:t>
            </a:r>
          </a:p>
          <a:p>
            <a:pPr lvl="2"/>
            <a:r>
              <a:rPr lang="en-US"/>
              <a:t>It recalls Mantegna</a:t>
            </a:r>
            <a:r>
              <a:rPr lang="uk-UA"/>
              <a:t>'</a:t>
            </a:r>
            <a:r>
              <a:rPr lang="en-US"/>
              <a:t>s ceiling in the Gonzaga palace, but utilizes da Vinci</a:t>
            </a:r>
            <a:r>
              <a:rPr lang="uk-UA"/>
              <a:t>'</a:t>
            </a:r>
            <a:r>
              <a:rPr lang="en-US"/>
              <a:t>s </a:t>
            </a:r>
            <a:r>
              <a:rPr lang="en-US" i="1"/>
              <a:t>sfumato</a:t>
            </a:r>
            <a:r>
              <a:rPr lang="en-US"/>
              <a:t> and Raphael</a:t>
            </a:r>
            <a:r>
              <a:rPr lang="uk-UA"/>
              <a:t>'</a:t>
            </a:r>
            <a:r>
              <a:rPr lang="en-US"/>
              <a:t>s idealism.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3"/>
          <p:cNvSpPr>
            <a:spLocks noGrp="1"/>
          </p:cNvSpPr>
          <p:nvPr>
            <p:ph type="title"/>
          </p:nvPr>
        </p:nvSpPr>
        <p:spPr/>
        <p:txBody>
          <a:bodyPr>
            <a:normAutofit fontScale="90000"/>
          </a:bodyPr>
          <a:lstStyle/>
          <a:p>
            <a:r>
              <a:rPr lang="en-US" dirty="0"/>
              <a:t>Correggio ASSUMPTION OF THE VIRGIN</a:t>
            </a:r>
            <a:br>
              <a:rPr lang="en-US" dirty="0"/>
            </a:br>
            <a:r>
              <a:rPr lang="en-US" dirty="0"/>
              <a:t>Main dome, interior, Parma Cathedral, Italy. c. 1526–1530.</a:t>
            </a:r>
            <a:br>
              <a:rPr lang="en-US" dirty="0"/>
            </a:br>
            <a:r>
              <a:rPr lang="en-US" dirty="0"/>
              <a:t>Fresco, diameter of base of dome approx. 36</a:t>
            </a:r>
            <a:r>
              <a:rPr lang="uk-UA" dirty="0"/>
              <a:t>'</a:t>
            </a:r>
            <a:r>
              <a:rPr lang="en-US" dirty="0"/>
              <a:t> (11 m).</a:t>
            </a:r>
            <a:br>
              <a:rPr lang="en-US" dirty="0"/>
            </a:br>
            <a:r>
              <a:rPr lang="en-US" dirty="0"/>
              <a:t>© 2016. Photo Scala, Florence. </a:t>
            </a:r>
          </a:p>
        </p:txBody>
      </p:sp>
      <p:pic>
        <p:nvPicPr>
          <p:cNvPr id="2" name="Picture 1" descr="Billowing clouds alternate with the tangled but graceful limbs of angels and saints, forming a long, circular tunnel that seems to rise from the dome’s octagonal drum into the light of heave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p:txBody>
          <a:bodyPr/>
          <a:lstStyle/>
          <a:p>
            <a:r>
              <a:rPr lang="en-US"/>
              <a:t>Northern Italy (4 of 4)</a:t>
            </a:r>
          </a:p>
        </p:txBody>
      </p:sp>
      <p:sp>
        <p:nvSpPr>
          <p:cNvPr id="90114" name="Content Placeholder 2"/>
          <p:cNvSpPr>
            <a:spLocks noGrp="1"/>
          </p:cNvSpPr>
          <p:nvPr>
            <p:ph idx="1"/>
          </p:nvPr>
        </p:nvSpPr>
        <p:spPr/>
        <p:txBody>
          <a:bodyPr/>
          <a:lstStyle/>
          <a:p>
            <a:r>
              <a:rPr lang="en-US"/>
              <a:t>Properzia de</a:t>
            </a:r>
            <a:r>
              <a:rPr lang="uk-UA"/>
              <a:t>'</a:t>
            </a:r>
            <a:r>
              <a:rPr lang="en-US"/>
              <a:t> Rossi</a:t>
            </a:r>
          </a:p>
          <a:p>
            <a:pPr lvl="1"/>
            <a:r>
              <a:rPr lang="en-US"/>
              <a:t>Properzia was the only woman included in Giorgio Vasari</a:t>
            </a:r>
            <a:r>
              <a:rPr lang="uk-UA"/>
              <a:t>'</a:t>
            </a:r>
            <a:r>
              <a:rPr lang="en-US"/>
              <a:t>s 1550 edition of </a:t>
            </a:r>
            <a:r>
              <a:rPr lang="en-US" i="1"/>
              <a:t>Lives of the Artists</a:t>
            </a:r>
            <a:r>
              <a:rPr lang="en-US"/>
              <a:t>.</a:t>
            </a:r>
          </a:p>
          <a:p>
            <a:pPr lvl="2"/>
            <a:r>
              <a:rPr lang="en-US"/>
              <a:t>It is written that a rival male sculptor prevented her from being paid fairly or receiving further commissions.</a:t>
            </a:r>
          </a:p>
          <a:p>
            <a:pPr lvl="1"/>
            <a:r>
              <a:rPr lang="en-US" i="1"/>
              <a:t>Joseph and Potiphar</a:t>
            </a:r>
            <a:r>
              <a:rPr lang="uk-UA" i="1"/>
              <a:t>'</a:t>
            </a:r>
            <a:r>
              <a:rPr lang="en-US" i="1"/>
              <a:t>s Wife </a:t>
            </a:r>
            <a:r>
              <a:rPr lang="en-US"/>
              <a:t>was a marble relief showing the biblical hero fleeing the seductress.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3"/>
          <p:cNvSpPr>
            <a:spLocks noGrp="1"/>
          </p:cNvSpPr>
          <p:nvPr>
            <p:ph type="title"/>
          </p:nvPr>
        </p:nvSpPr>
        <p:spPr/>
        <p:txBody>
          <a:bodyPr>
            <a:normAutofit fontScale="90000"/>
          </a:bodyPr>
          <a:lstStyle/>
          <a:p>
            <a:r>
              <a:rPr lang="en-US" dirty="0" err="1"/>
              <a:t>Properzia</a:t>
            </a:r>
            <a:r>
              <a:rPr lang="en-US" dirty="0"/>
              <a:t> de</a:t>
            </a:r>
            <a:r>
              <a:rPr lang="uk-UA" dirty="0"/>
              <a:t>'</a:t>
            </a:r>
            <a:r>
              <a:rPr lang="en-US" dirty="0"/>
              <a:t> Rossi JOSEPH AND POTIPHAR</a:t>
            </a:r>
            <a:r>
              <a:rPr lang="uk-UA" dirty="0"/>
              <a:t>'</a:t>
            </a:r>
            <a:r>
              <a:rPr lang="en-US" dirty="0"/>
              <a:t>S WIFE</a:t>
            </a:r>
            <a:br>
              <a:rPr lang="en-US" dirty="0"/>
            </a:br>
            <a:r>
              <a:rPr lang="en-US" dirty="0"/>
              <a:t>Cathedral of San </a:t>
            </a:r>
            <a:r>
              <a:rPr lang="en-US" dirty="0" err="1"/>
              <a:t>Petronio</a:t>
            </a:r>
            <a:r>
              <a:rPr lang="en-US" dirty="0"/>
              <a:t>, Bologna. 1525–1526.</a:t>
            </a:r>
            <a:br>
              <a:rPr lang="en-US" dirty="0"/>
            </a:br>
            <a:r>
              <a:rPr lang="en-US" dirty="0"/>
              <a:t>Marble, 1</a:t>
            </a:r>
            <a:r>
              <a:rPr lang="uk-UA" dirty="0"/>
              <a:t>'</a:t>
            </a:r>
            <a:r>
              <a:rPr lang="en-US" dirty="0"/>
              <a:t>9</a:t>
            </a:r>
            <a:r>
              <a:rPr lang="ru-RU" dirty="0"/>
              <a:t>"</a:t>
            </a:r>
            <a:r>
              <a:rPr lang="en-US" dirty="0"/>
              <a:t> × 1</a:t>
            </a:r>
            <a:r>
              <a:rPr lang="uk-UA" dirty="0"/>
              <a:t>'</a:t>
            </a:r>
            <a:r>
              <a:rPr lang="en-US" dirty="0"/>
              <a:t>11</a:t>
            </a:r>
            <a:r>
              <a:rPr lang="ru-RU" dirty="0"/>
              <a:t>"</a:t>
            </a:r>
            <a:r>
              <a:rPr lang="en-US" dirty="0"/>
              <a:t> (54 × 58 cm).</a:t>
            </a:r>
            <a:br>
              <a:rPr lang="en-US" dirty="0"/>
            </a:br>
            <a:r>
              <a:rPr lang="en-US" dirty="0"/>
              <a:t>Museo de San </a:t>
            </a:r>
            <a:r>
              <a:rPr lang="en-US" dirty="0" err="1"/>
              <a:t>Petronio</a:t>
            </a:r>
            <a:r>
              <a:rPr lang="en-US" dirty="0"/>
              <a:t>, Bologna. Berardi/IKONA. </a:t>
            </a:r>
          </a:p>
        </p:txBody>
      </p:sp>
      <p:pic>
        <p:nvPicPr>
          <p:cNvPr id="2" name="Picture 1" descr="A woman sits at the edge of her bed, with her breasts uncovered. She clutches at a man’s robe as he turns to leave h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p:txBody>
          <a:bodyPr/>
          <a:lstStyle/>
          <a:p>
            <a:r>
              <a:rPr lang="en-US" dirty="0"/>
              <a:t>Venice and the Veneto (1)</a:t>
            </a:r>
          </a:p>
        </p:txBody>
      </p:sp>
      <p:sp>
        <p:nvSpPr>
          <p:cNvPr id="93186" name="Content Placeholder 2"/>
          <p:cNvSpPr>
            <a:spLocks noGrp="1"/>
          </p:cNvSpPr>
          <p:nvPr>
            <p:ph idx="1"/>
          </p:nvPr>
        </p:nvSpPr>
        <p:spPr/>
        <p:txBody>
          <a:bodyPr/>
          <a:lstStyle/>
          <a:p>
            <a:r>
              <a:rPr lang="en-US"/>
              <a:t>Venetians saw themselves as superior to their rivals in Florence and Rome.</a:t>
            </a:r>
          </a:p>
          <a:p>
            <a:r>
              <a:rPr lang="en-US"/>
              <a:t>The oil-painting technique initiated by the Bellini family was adopted by painters because it was easy to correct errors.</a:t>
            </a:r>
          </a:p>
          <a:p>
            <a:r>
              <a:rPr lang="en-US"/>
              <a:t>Venetians also covered their walls with sheets of canvas rather than frescoes.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p:txBody>
          <a:bodyPr/>
          <a:lstStyle/>
          <a:p>
            <a:r>
              <a:rPr lang="en-US" dirty="0"/>
              <a:t>Venice and the Veneto (2)</a:t>
            </a:r>
          </a:p>
        </p:txBody>
      </p:sp>
      <p:sp>
        <p:nvSpPr>
          <p:cNvPr id="94210" name="Content Placeholder 2"/>
          <p:cNvSpPr>
            <a:spLocks noGrp="1"/>
          </p:cNvSpPr>
          <p:nvPr>
            <p:ph idx="1"/>
          </p:nvPr>
        </p:nvSpPr>
        <p:spPr/>
        <p:txBody>
          <a:bodyPr/>
          <a:lstStyle/>
          <a:p>
            <a:r>
              <a:rPr lang="en-US"/>
              <a:t>Giorgione</a:t>
            </a:r>
          </a:p>
          <a:p>
            <a:pPr lvl="1"/>
            <a:r>
              <a:rPr lang="en-US"/>
              <a:t>Although he died from the plague early in life, his contribution to Venetian painting was vast.</a:t>
            </a:r>
          </a:p>
          <a:p>
            <a:pPr lvl="2"/>
            <a:r>
              <a:rPr lang="en-US"/>
              <a:t>Only ten paintings can be attributed to him.</a:t>
            </a:r>
          </a:p>
          <a:p>
            <a:pPr lvl="1"/>
            <a:r>
              <a:rPr lang="en-US" b="1" i="1"/>
              <a:t>Poesie</a:t>
            </a:r>
            <a:r>
              <a:rPr lang="en-US"/>
              <a:t> or enigmatic pastoral themes were inspired by the literary revival of pastoral poetry.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p:txBody>
          <a:bodyPr/>
          <a:lstStyle/>
          <a:p>
            <a:r>
              <a:rPr lang="en-US" dirty="0"/>
              <a:t>Venice and the Veneto (3)</a:t>
            </a:r>
          </a:p>
        </p:txBody>
      </p:sp>
      <p:sp>
        <p:nvSpPr>
          <p:cNvPr id="95234" name="Content Placeholder 2"/>
          <p:cNvSpPr>
            <a:spLocks noGrp="1"/>
          </p:cNvSpPr>
          <p:nvPr>
            <p:ph idx="1"/>
          </p:nvPr>
        </p:nvSpPr>
        <p:spPr/>
        <p:txBody>
          <a:bodyPr/>
          <a:lstStyle/>
          <a:p>
            <a:r>
              <a:rPr lang="en-US"/>
              <a:t>Giorgione</a:t>
            </a:r>
          </a:p>
          <a:p>
            <a:pPr lvl="1"/>
            <a:r>
              <a:rPr lang="en-US" i="1"/>
              <a:t>The Tempest </a:t>
            </a:r>
            <a:r>
              <a:rPr lang="en-US"/>
              <a:t>was painted shortly before his death.</a:t>
            </a:r>
          </a:p>
          <a:p>
            <a:pPr lvl="2"/>
            <a:r>
              <a:rPr lang="en-US"/>
              <a:t>A woman in the foreground is nude except for a white cloth over her shoulders.</a:t>
            </a:r>
          </a:p>
          <a:p>
            <a:pPr lvl="2"/>
            <a:r>
              <a:rPr lang="en-US"/>
              <a:t>On the other side, a mysterious man in a soldier</a:t>
            </a:r>
            <a:r>
              <a:rPr lang="uk-UA"/>
              <a:t>'</a:t>
            </a:r>
            <a:r>
              <a:rPr lang="en-US"/>
              <a:t>s uniform turns his head toward the woman.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3"/>
          <p:cNvSpPr>
            <a:spLocks noGrp="1"/>
          </p:cNvSpPr>
          <p:nvPr>
            <p:ph type="title"/>
          </p:nvPr>
        </p:nvSpPr>
        <p:spPr/>
        <p:txBody>
          <a:bodyPr>
            <a:normAutofit fontScale="90000"/>
          </a:bodyPr>
          <a:lstStyle/>
          <a:p>
            <a:r>
              <a:rPr lang="en-US" dirty="0"/>
              <a:t>Giorgione THE TEMPEST</a:t>
            </a:r>
            <a:br>
              <a:rPr lang="en-US" dirty="0"/>
            </a:br>
            <a:r>
              <a:rPr lang="en-US" dirty="0"/>
              <a:t>c. 1506. Oil on canvas, 32</a:t>
            </a:r>
            <a:r>
              <a:rPr lang="ru-RU" dirty="0"/>
              <a:t>"</a:t>
            </a:r>
            <a:r>
              <a:rPr lang="en-US" dirty="0"/>
              <a:t> × 28-3/4</a:t>
            </a:r>
            <a:r>
              <a:rPr lang="ru-RU" dirty="0"/>
              <a:t>"</a:t>
            </a:r>
            <a:r>
              <a:rPr lang="en-US" dirty="0"/>
              <a:t> (82 × 73 cm).</a:t>
            </a:r>
            <a:br>
              <a:rPr lang="en-US" dirty="0"/>
            </a:br>
            <a:r>
              <a:rPr lang="en-US" dirty="0"/>
              <a:t>Galleria dell</a:t>
            </a:r>
            <a:r>
              <a:rPr lang="uk-UA" dirty="0"/>
              <a:t>'</a:t>
            </a:r>
            <a:r>
              <a:rPr lang="en-US" dirty="0"/>
              <a:t>Accademia, Venice. © </a:t>
            </a:r>
            <a:r>
              <a:rPr lang="en-US" dirty="0" err="1"/>
              <a:t>Cameraphoto</a:t>
            </a:r>
            <a:r>
              <a:rPr lang="en-US" dirty="0"/>
              <a:t> </a:t>
            </a:r>
            <a:r>
              <a:rPr lang="en-US" dirty="0" err="1"/>
              <a:t>Arte</a:t>
            </a:r>
            <a:r>
              <a:rPr lang="en-US" dirty="0"/>
              <a:t>, Venice. </a:t>
            </a:r>
          </a:p>
        </p:txBody>
      </p:sp>
      <p:pic>
        <p:nvPicPr>
          <p:cNvPr id="2" name="Picture 1" descr="An electrical storm brews in the distance, darkening the sky over a city by a lake. A woman nurses a baby under a tree in the foreground, on the right, and a man glances at her, from the left.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p:txBody>
          <a:bodyPr/>
          <a:lstStyle/>
          <a:p>
            <a:r>
              <a:rPr lang="en-US" dirty="0"/>
              <a:t>Venice and the Veneto (4)</a:t>
            </a:r>
          </a:p>
        </p:txBody>
      </p:sp>
      <p:sp>
        <p:nvSpPr>
          <p:cNvPr id="98306" name="Content Placeholder 2"/>
          <p:cNvSpPr>
            <a:spLocks noGrp="1"/>
          </p:cNvSpPr>
          <p:nvPr>
            <p:ph idx="1"/>
          </p:nvPr>
        </p:nvSpPr>
        <p:spPr/>
        <p:txBody>
          <a:bodyPr/>
          <a:lstStyle/>
          <a:p>
            <a:r>
              <a:rPr lang="en-US"/>
              <a:t>Giorgone</a:t>
            </a:r>
          </a:p>
          <a:p>
            <a:pPr lvl="1"/>
            <a:r>
              <a:rPr lang="en-US" i="1"/>
              <a:t>The Pastoral Concert </a:t>
            </a:r>
            <a:r>
              <a:rPr lang="en-US"/>
              <a:t>has been attributed to both Titian and Giorgione.</a:t>
            </a:r>
          </a:p>
          <a:p>
            <a:pPr lvl="2"/>
            <a:r>
              <a:rPr lang="en-US"/>
              <a:t>It portrays an idyllic, verdant landscape with two clothed men who seem oblivious to two nude women beside them.</a:t>
            </a:r>
          </a:p>
          <a:p>
            <a:pPr lvl="2"/>
            <a:r>
              <a:rPr lang="en-US"/>
              <a:t>The quality thought to be Titian</a:t>
            </a:r>
            <a:r>
              <a:rPr lang="uk-UA"/>
              <a:t>'</a:t>
            </a:r>
            <a:r>
              <a:rPr lang="en-US"/>
              <a:t>s is the sensuously painted flesh of the females.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3"/>
          <p:cNvSpPr>
            <a:spLocks noGrp="1"/>
          </p:cNvSpPr>
          <p:nvPr>
            <p:ph type="title"/>
          </p:nvPr>
        </p:nvSpPr>
        <p:spPr/>
        <p:txBody>
          <a:bodyPr>
            <a:normAutofit fontScale="90000"/>
          </a:bodyPr>
          <a:lstStyle/>
          <a:p>
            <a:r>
              <a:rPr lang="en-US" dirty="0"/>
              <a:t>Giorgione or Titian THE PASTORAL CONCERT OR ALLEGORY ON THE INVENTION OF PASTORAL POETRY</a:t>
            </a:r>
            <a:br>
              <a:rPr lang="en-US" dirty="0"/>
            </a:br>
            <a:r>
              <a:rPr lang="en-US" dirty="0"/>
              <a:t>c. 1510. Oil on canvas, 41-1/4</a:t>
            </a:r>
            <a:r>
              <a:rPr lang="ru-RU" dirty="0"/>
              <a:t>"</a:t>
            </a:r>
            <a:r>
              <a:rPr lang="en-US" dirty="0"/>
              <a:t> × 54-3/4</a:t>
            </a:r>
            <a:r>
              <a:rPr lang="ru-RU" dirty="0"/>
              <a:t>"</a:t>
            </a:r>
            <a:r>
              <a:rPr lang="en-US" dirty="0"/>
              <a:t> (105 × 136.5 cm).</a:t>
            </a:r>
            <a:br>
              <a:rPr lang="en-US" dirty="0"/>
            </a:br>
            <a:r>
              <a:rPr lang="en-US" dirty="0" err="1"/>
              <a:t>Musée</a:t>
            </a:r>
            <a:r>
              <a:rPr lang="en-US" dirty="0"/>
              <a:t> du Louvre, Paris. Photo © </a:t>
            </a:r>
            <a:r>
              <a:rPr lang="en-US" dirty="0" err="1"/>
              <a:t>Musée</a:t>
            </a:r>
            <a:r>
              <a:rPr lang="en-US" dirty="0"/>
              <a:t> du Louvre, Dist. RMN-Grand Palais/</a:t>
            </a:r>
            <a:r>
              <a:rPr lang="en-US" dirty="0" err="1"/>
              <a:t>Angèle</a:t>
            </a:r>
            <a:r>
              <a:rPr lang="en-US" dirty="0"/>
              <a:t> </a:t>
            </a:r>
            <a:r>
              <a:rPr lang="en-US" dirty="0" err="1"/>
              <a:t>Dequier</a:t>
            </a:r>
            <a:r>
              <a:rPr lang="en-US" dirty="0"/>
              <a:t>.</a:t>
            </a:r>
          </a:p>
        </p:txBody>
      </p:sp>
      <p:pic>
        <p:nvPicPr>
          <p:cNvPr id="2" name="Picture 1" descr="Two men of different social standing sit on a hill, playing instruments, accompanied by two nude women, next to a well. Warm light bathes the scene, as if it is near sunse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1788</TotalTime>
  <Words>3966</Words>
  <Application>Microsoft Office PowerPoint</Application>
  <PresentationFormat>On-screen Show (4:3)</PresentationFormat>
  <Paragraphs>211</Paragraphs>
  <Slides>59</Slides>
  <Notes>30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59</vt:i4>
      </vt:variant>
    </vt:vector>
  </HeadingPairs>
  <TitlesOfParts>
    <vt:vector size="64" baseType="lpstr">
      <vt:lpstr>Arial</vt:lpstr>
      <vt:lpstr>Verdana</vt:lpstr>
      <vt:lpstr>Wingdings</vt:lpstr>
      <vt:lpstr>508 Lecture</vt:lpstr>
      <vt:lpstr>Custom Design</vt:lpstr>
      <vt:lpstr>Chapter 16</vt:lpstr>
      <vt:lpstr>Learning Objectives</vt:lpstr>
      <vt:lpstr>Leonardo da Vinci MONA LISA c. 1503–1506. Oil on wood panel, 30-1/4" × 21" (77 × 53 cm). Musée du Louvre, Paris. (INV. 779). Photo © RMN-Grand Palais (musée du Louvre)/Michel Urtado</vt:lpstr>
      <vt:lpstr>Europe in the Sixteenth Century (1 of 2)</vt:lpstr>
      <vt:lpstr>Europe in the Sixteenth Century (2 of 2)</vt:lpstr>
      <vt:lpstr>High Renaissance (Roman)</vt:lpstr>
      <vt:lpstr>RENAISSANCE AND EARLIER MONUMENTS IN ROME In addition to situating the principal works of the Roman Renaissance that emerged from Julius II’s campaign to revitalize the papal city, this map also locates the surviving works of Roman antiquity that would have been available to the Renaissance artists and architects who masterminded the Classical revival. </vt:lpstr>
      <vt:lpstr>Leonardo da Vinci (1 of 4)</vt:lpstr>
      <vt:lpstr>Leonardo da Vinci THE VIRGIN OF THE ROCKS c. 1485. Oil on wood panel (now transferred to canvas), 6'6" × 4' (1.9 × 1.2 m). Musée du Louvre, Paris. Photo © Réunion des Musés Nationaux/Musée du Louvre, Paris. </vt:lpstr>
      <vt:lpstr>Art and Its Contexts: The Vitruvian Man</vt:lpstr>
      <vt:lpstr>Leonardo da Vinci VITRUVIAN MAN c. 1490. Ink, 13-1/2" × 9-5/8" (34.3 × 24.5 cm). Galleria dell'Accademia, Venice. © Cameraphoto Arte, Venice. </vt:lpstr>
      <vt:lpstr>Leonardo da Vinci (2 of 4)</vt:lpstr>
      <vt:lpstr>Leonardo da Vinci THE LAST SUPPER Refectory of the monastery of Santa Maria delle Grazie, Milan, Italy. 1495–1498. Tempera and oil on plaster, 15'2" × 28'10" (4.6 × 8.8 m). © Studio Fotografico Quattrone, Florence. </vt:lpstr>
      <vt:lpstr>REFECTORY OF THE MONASTERY OF SANTA MARIA DELLE GRAZIE, SHOWING LEONARDO'S LAST SUPPER Milan, Italy. © Studio Fotografico Quattrone, Florence.</vt:lpstr>
      <vt:lpstr>Leonardo da Vinci (3 of 4)</vt:lpstr>
      <vt:lpstr>Leonardo da Vinci (4 of 4)</vt:lpstr>
      <vt:lpstr>Raphael (1 of 4)</vt:lpstr>
      <vt:lpstr>Raphael THE SMALL COWPER MADONNA c. 1505. Oil on wood panel, 23-3/8" × 17-3/8" (59.5 × 44.1 cm). National Gallery of Art, Washington, DC. Widener Collection (1942.9.57). Image courtesy the National Gallery of Art, Washington.</vt:lpstr>
      <vt:lpstr>Raphael MADONNA OF THE GOLDFINCH (MADONNA DEL CARDELLINO) 1506. Oil on panel, 42 × 29-1⁄2″ (106.7 × 74.9 cm). Galleria degli Uffizi, Florence. © Studio Fotografico Quattrone, Florence.</vt:lpstr>
      <vt:lpstr>Raphael (2 of 4)</vt:lpstr>
      <vt:lpstr>Raphael AGNELO DONI  c. 1506. Oil on wood panel, each 24-1/2" × 17-1/4" (63 × 45 cm). Palazzo Pitti, Florence. © Studio Fotografico Quattrone, Florence. </vt:lpstr>
      <vt:lpstr>Raphael MADDALENA STROZZI c. 1506. Oil on wood panel, each 24-1/2" × 17-1/4" (63 × 45 cm). Palazzo Pitti, Florence. © Studio Fotografico Quattrone, Florence. </vt:lpstr>
      <vt:lpstr>Raphael (3 of 4)</vt:lpstr>
      <vt:lpstr>Raphael STANZA DELLA SEGNATURA Vatican, Rome. Fresco in the left lunette, Parnassus; in the right lunette, The School of Athens. 1510–1511. Photo © Musei Vaticani/IKONA. </vt:lpstr>
      <vt:lpstr>A CLOSER LOOK: The School of Athens by Raphael  Fresco in the Stanza della Segnatura, Vatican, Rome. c. 1510–1511. 19' × 27' (5.79 × 8.24 m). Photo © Musei Vaticani/IKONA.</vt:lpstr>
      <vt:lpstr>Raphael (4 of 4)</vt:lpstr>
      <vt:lpstr>Raphael STUDY FOR CHRIST'S CHARGE TO PETER c. 1515. Red chalk. Royal Library, Windsor Castle. Royal Collection Trust © Her Majesty Queen Elizabeth II, 2016/Bridgeman Images. </vt:lpstr>
      <vt:lpstr>Raphael and assistants CARTOON FOR TAPESTRY PORTRAYING CHRIST'S CHARGE TO PETER c. 1515–1516. Distemper on paper (now transferred to canvas), 11'1" × 17'4" (3.4 × 5.3 m). Lent by Her Majesty the Queen to the Victoria &amp; Albert Museum, London. V&amp;A Images/Victoria and Albert Museum. </vt:lpstr>
      <vt:lpstr>Shop of Pieter van Aelst, Brussels, after cartoons by Raphael and assistants CHRIST'S CHARGE TO PETER Woven 1517, installed 1519 in the Sistine Chapel. Wool and silk with silver-gilt-wrapped threads. Musei Vaticani, Pinacoteca, Rome. Photo © Musei Vaticani/IKONA.</vt:lpstr>
      <vt:lpstr>Michelangelo (1 of 6)</vt:lpstr>
      <vt:lpstr>Michelangelo PIETÀ c. 1500. Marble, height 5'8-1/2" (1.74 m). St. Peter's, Vatican, Rome. Canali Photobank, Milan, Italy.</vt:lpstr>
      <vt:lpstr>Michelangelo (2 of 6)</vt:lpstr>
      <vt:lpstr>Michelangelo DAVID 1501–1504. Marble, height 17' (5.18 m) without pedestal. Galleria dell'Accademia, Florence. © Studio Fotografico Quattrone, Florence. </vt:lpstr>
      <vt:lpstr>Michelangelo (3 of 6)</vt:lpstr>
      <vt:lpstr>INTERIOR, SISTINE CHAPEL Vatican, Rome. Built 1475–1481; ceiling painted 1508–1512; end wall, 1536–1541. The ceiling measures 45 × 128' (13.75 × 39 m).  Photo © Musei Vaticani/IKONA.</vt:lpstr>
      <vt:lpstr>Michelangelo SISTINE CHAPEL CEILING WITH DIAGRAM IDENTIFYING SCENES 1508–1512. Fresco. Photo © Musei Vaticani/IKONA.</vt:lpstr>
      <vt:lpstr>Michelangelo SISTINE CHAPEL CEILING WITH DIAGRAM IDENTIFYING SCENES 1508–1512. Fresco. </vt:lpstr>
      <vt:lpstr>Michelangelo CREATION OF ADAM, SISTINE CHAPEL CEILING 1511–1512. Fresco, 9'2" × 18'8" (2.8 × 5.7 m). Photo © Musei Vaticani/IKONA. </vt:lpstr>
      <vt:lpstr>Michelangelo (4 of 6)</vt:lpstr>
      <vt:lpstr>Michelangelo (5 of 6)</vt:lpstr>
      <vt:lpstr>Michelangelo TOMB OF GIULIANO DE' MEDICI WITH ALLEGORICAL FIGURES OF NIGHT AND DAY New Sacristy (Medici Chapel), church of San Lorenzo, Florence. 1519–1534. Marble, height of seated figure approx. 5'10" (1.8 m). © Studio Fotografico Quattrone, Florence. </vt:lpstr>
      <vt:lpstr>Michelangelo (6 of 6)</vt:lpstr>
      <vt:lpstr>Michelangelo VESTIBULE OF THE LAURENTIAN LIBRARY Church of San Lorenzo, Florence. Begun 1524; stairway designed 1550s. © Studio Fotografico Quattrone, Florence. </vt:lpstr>
      <vt:lpstr>Architecture in Rome and the Vatican</vt:lpstr>
      <vt:lpstr>Donato Bramante IL TEMPIETTO, CHURCH OF SAN PIETRO IN MONTORIO Rome. 1502–1510; dome and lantern were restored in the 17th century. © Vincenzo Pirozzi, Rome </vt:lpstr>
      <vt:lpstr>Northern Italy (1 of 4)</vt:lpstr>
      <vt:lpstr>Giulio Romano COURTYARD FAÇADE, PALAZZO DEL TÈ, MANTUA 1527–1534. © SuperStock. </vt:lpstr>
      <vt:lpstr>Northern Italy (2 of 4)</vt:lpstr>
      <vt:lpstr>Giulio Romano FALL OF THE GIANTS Sala dei Giganti, Palazzo del Tè. 1530–1532. Fresco. © 2016. Photo Scala, Florence.</vt:lpstr>
      <vt:lpstr>Northern Italy (3 of 4)</vt:lpstr>
      <vt:lpstr>Correggio ASSUMPTION OF THE VIRGIN Main dome, interior, Parma Cathedral, Italy. c. 1526–1530. Fresco, diameter of base of dome approx. 36' (11 m). © 2016. Photo Scala, Florence. </vt:lpstr>
      <vt:lpstr>Northern Italy (4 of 4)</vt:lpstr>
      <vt:lpstr>Properzia de' Rossi JOSEPH AND POTIPHAR'S WIFE Cathedral of San Petronio, Bologna. 1525–1526. Marble, 1'9" × 1'11" (54 × 58 cm). Museo de San Petronio, Bologna. Berardi/IKONA. </vt:lpstr>
      <vt:lpstr>Venice and the Veneto (1)</vt:lpstr>
      <vt:lpstr>Venice and the Veneto (2)</vt:lpstr>
      <vt:lpstr>Venice and the Veneto (3)</vt:lpstr>
      <vt:lpstr>Giorgione THE TEMPEST c. 1506. Oil on canvas, 32" × 28-3/4" (82 × 73 cm). Galleria dell'Accademia, Venice. © Cameraphoto Arte, Venice. </vt:lpstr>
      <vt:lpstr>Venice and the Veneto (4)</vt:lpstr>
      <vt:lpstr>Giorgione or Titian THE PASTORAL CONCERT OR ALLEGORY ON THE INVENTION OF PASTORAL POETRY c. 1510. Oil on canvas, 41-1/4" × 54-3/4" (105 × 136.5 cm). Musée du Louvre, Paris. Photo © Musée du Louvre, Dist. RMN-Grand Palais/Angèle Dequier.</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206</cp:revision>
  <dcterms:created xsi:type="dcterms:W3CDTF">2016-12-02T15:58:04Z</dcterms:created>
  <dcterms:modified xsi:type="dcterms:W3CDTF">2020-06-19T17:14:12Z</dcterms:modified>
</cp:coreProperties>
</file>