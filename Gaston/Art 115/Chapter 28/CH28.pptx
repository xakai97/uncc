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78"/>
  </p:notesMasterIdLst>
  <p:handoutMasterIdLst>
    <p:handoutMasterId r:id="rId79"/>
  </p:handoutMasterIdLst>
  <p:sldIdLst>
    <p:sldId id="711" r:id="rId3"/>
    <p:sldId id="507" r:id="rId4"/>
    <p:sldId id="612" r:id="rId5"/>
    <p:sldId id="613" r:id="rId6"/>
    <p:sldId id="614" r:id="rId7"/>
    <p:sldId id="615" r:id="rId8"/>
    <p:sldId id="616" r:id="rId9"/>
    <p:sldId id="617" r:id="rId10"/>
    <p:sldId id="618" r:id="rId11"/>
    <p:sldId id="619" r:id="rId12"/>
    <p:sldId id="620" r:id="rId13"/>
    <p:sldId id="621" r:id="rId14"/>
    <p:sldId id="622" r:id="rId15"/>
    <p:sldId id="623" r:id="rId16"/>
    <p:sldId id="624" r:id="rId17"/>
    <p:sldId id="625" r:id="rId18"/>
    <p:sldId id="626" r:id="rId19"/>
    <p:sldId id="627" r:id="rId20"/>
    <p:sldId id="628" r:id="rId21"/>
    <p:sldId id="629" r:id="rId22"/>
    <p:sldId id="630" r:id="rId23"/>
    <p:sldId id="631" r:id="rId24"/>
    <p:sldId id="632" r:id="rId25"/>
    <p:sldId id="633" r:id="rId26"/>
    <p:sldId id="634" r:id="rId27"/>
    <p:sldId id="635" r:id="rId28"/>
    <p:sldId id="636" r:id="rId29"/>
    <p:sldId id="637" r:id="rId30"/>
    <p:sldId id="638" r:id="rId31"/>
    <p:sldId id="639" r:id="rId32"/>
    <p:sldId id="640" r:id="rId33"/>
    <p:sldId id="641" r:id="rId34"/>
    <p:sldId id="642" r:id="rId35"/>
    <p:sldId id="643" r:id="rId36"/>
    <p:sldId id="644" r:id="rId37"/>
    <p:sldId id="645" r:id="rId38"/>
    <p:sldId id="646" r:id="rId39"/>
    <p:sldId id="647" r:id="rId40"/>
    <p:sldId id="648" r:id="rId41"/>
    <p:sldId id="649" r:id="rId42"/>
    <p:sldId id="650" r:id="rId43"/>
    <p:sldId id="651" r:id="rId44"/>
    <p:sldId id="652" r:id="rId45"/>
    <p:sldId id="653" r:id="rId46"/>
    <p:sldId id="654" r:id="rId47"/>
    <p:sldId id="655" r:id="rId48"/>
    <p:sldId id="656" r:id="rId49"/>
    <p:sldId id="657" r:id="rId50"/>
    <p:sldId id="658" r:id="rId51"/>
    <p:sldId id="659" r:id="rId52"/>
    <p:sldId id="660" r:id="rId53"/>
    <p:sldId id="661" r:id="rId54"/>
    <p:sldId id="662" r:id="rId55"/>
    <p:sldId id="663" r:id="rId56"/>
    <p:sldId id="664" r:id="rId57"/>
    <p:sldId id="665" r:id="rId58"/>
    <p:sldId id="666" r:id="rId59"/>
    <p:sldId id="667" r:id="rId60"/>
    <p:sldId id="668" r:id="rId61"/>
    <p:sldId id="669" r:id="rId62"/>
    <p:sldId id="670" r:id="rId63"/>
    <p:sldId id="671" r:id="rId64"/>
    <p:sldId id="672" r:id="rId65"/>
    <p:sldId id="673" r:id="rId66"/>
    <p:sldId id="674" r:id="rId67"/>
    <p:sldId id="675" r:id="rId68"/>
    <p:sldId id="676" r:id="rId69"/>
    <p:sldId id="677" r:id="rId70"/>
    <p:sldId id="679" r:id="rId71"/>
    <p:sldId id="680" r:id="rId72"/>
    <p:sldId id="681" r:id="rId73"/>
    <p:sldId id="682" r:id="rId74"/>
    <p:sldId id="683" r:id="rId75"/>
    <p:sldId id="684" r:id="rId76"/>
    <p:sldId id="685"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a:srgbClr val="D4EAE4"/>
    <a:srgbClr val="00158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41" autoAdjust="0"/>
    <p:restoredTop sz="86524" autoAdjust="0"/>
  </p:normalViewPr>
  <p:slideViewPr>
    <p:cSldViewPr>
      <p:cViewPr varScale="1">
        <p:scale>
          <a:sx n="97" d="100"/>
          <a:sy n="97" d="100"/>
        </p:scale>
        <p:origin x="1920" y="184"/>
      </p:cViewPr>
      <p:guideLst>
        <p:guide orient="horz" pos="2160"/>
        <p:guide pos="2880"/>
      </p:guideLst>
    </p:cSldViewPr>
  </p:slideViewPr>
  <p:outlineViewPr>
    <p:cViewPr>
      <p:scale>
        <a:sx n="33" d="100"/>
        <a:sy n="33" d="100"/>
      </p:scale>
      <p:origin x="0" y="-125640"/>
    </p:cViewPr>
  </p:outlineViewPr>
  <p:notesTextViewPr>
    <p:cViewPr>
      <p:scale>
        <a:sx n="1" d="1"/>
        <a:sy n="1" d="1"/>
      </p:scale>
      <p:origin x="0" y="0"/>
    </p:cViewPr>
  </p:notesTextViewPr>
  <p:sorterViewPr>
    <p:cViewPr>
      <p:scale>
        <a:sx n="66" d="100"/>
        <a:sy n="66" d="100"/>
      </p:scale>
      <p:origin x="0" y="0"/>
    </p:cViewPr>
  </p:sorterViewPr>
  <p:notesViewPr>
    <p:cSldViewPr>
      <p:cViewPr varScale="1">
        <p:scale>
          <a:sx n="54" d="100"/>
          <a:sy n="54" d="100"/>
        </p:scale>
        <p:origin x="179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32" Type="http://schemas.openxmlformats.org/officeDocument/2006/relationships/slide" Target="slides/slide30.xml"/><Relationship Id="rId37" Type="http://schemas.openxmlformats.org/officeDocument/2006/relationships/slide" Target="slides/slide35.xml"/><Relationship Id="rId53" Type="http://schemas.openxmlformats.org/officeDocument/2006/relationships/slide" Target="slides/slide51.xml"/><Relationship Id="rId58" Type="http://schemas.openxmlformats.org/officeDocument/2006/relationships/slide" Target="slides/slide56.xml"/><Relationship Id="rId74" Type="http://schemas.openxmlformats.org/officeDocument/2006/relationships/slide" Target="slides/slide72.xml"/><Relationship Id="rId79" Type="http://schemas.openxmlformats.org/officeDocument/2006/relationships/handoutMaster" Target="handoutMasters/handoutMaster1.xml"/><Relationship Id="rId5" Type="http://schemas.openxmlformats.org/officeDocument/2006/relationships/slide" Target="slides/slide3.xml"/><Relationship Id="rId61" Type="http://schemas.openxmlformats.org/officeDocument/2006/relationships/slide" Target="slides/slide59.xml"/><Relationship Id="rId82" Type="http://schemas.openxmlformats.org/officeDocument/2006/relationships/theme" Target="theme/theme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slide" Target="slides/slide75.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80" Type="http://schemas.openxmlformats.org/officeDocument/2006/relationships/presProps" Target="pres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slide" Target="slides/slide73.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slide" Target="slides/slide71.xml"/><Relationship Id="rId78" Type="http://schemas.openxmlformats.org/officeDocument/2006/relationships/notesMaster" Target="notesMasters/notesMaster1.xml"/><Relationship Id="rId81"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slide" Target="slides/slide74.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 Id="rId24" Type="http://schemas.openxmlformats.org/officeDocument/2006/relationships/slide" Target="slides/slide22.xml"/><Relationship Id="rId40" Type="http://schemas.openxmlformats.org/officeDocument/2006/relationships/slide" Target="slides/slide38.xml"/><Relationship Id="rId45" Type="http://schemas.openxmlformats.org/officeDocument/2006/relationships/slide" Target="slides/slide43.xml"/><Relationship Id="rId66" Type="http://schemas.openxmlformats.org/officeDocument/2006/relationships/slide" Target="slides/slide6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D8D874E-E9D5-433B-A149-BDF6BFDD40A8}" type="datetimeFigureOut">
              <a:rPr lang="en-US" smtClean="0"/>
              <a:pPr/>
              <a:t>8/4/19</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0DCAA22-461C-45B4-A301-BFCA580174EF}" type="slidenum">
              <a:rPr lang="en-US" smtClean="0"/>
              <a:pPr/>
              <a:t>‹#›</a:t>
            </a:fld>
            <a:endParaRPr lang="en-US" dirty="0"/>
          </a:p>
        </p:txBody>
      </p:sp>
    </p:spTree>
    <p:extLst>
      <p:ext uri="{BB962C8B-B14F-4D97-AF65-F5344CB8AC3E}">
        <p14:creationId xmlns:p14="http://schemas.microsoft.com/office/powerpoint/2010/main" val="49019226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051F04-9E25-42C3-8BC5-EC2E8469D95E}" type="datetimeFigureOut">
              <a:rPr lang="en-US" smtClean="0"/>
              <a:pPr/>
              <a:t>8/4/19</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73D6722-9B4D-4E29-B226-C325925A8118}" type="slidenum">
              <a:rPr lang="en-US" smtClean="0"/>
              <a:pPr/>
              <a:t>‹#›</a:t>
            </a:fld>
            <a:endParaRPr lang="en-US" dirty="0"/>
          </a:p>
        </p:txBody>
      </p:sp>
    </p:spTree>
    <p:extLst>
      <p:ext uri="{BB962C8B-B14F-4D97-AF65-F5344CB8AC3E}">
        <p14:creationId xmlns:p14="http://schemas.microsoft.com/office/powerpoint/2010/main" val="3529598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489" name="Slide Image Placeholder 1"/>
          <p:cNvSpPr>
            <a:spLocks noGrp="1" noRot="1" noChangeAspect="1" noTextEdit="1"/>
          </p:cNvSpPr>
          <p:nvPr>
            <p:ph type="sldImg"/>
          </p:nvPr>
        </p:nvSpPr>
        <p:spPr bwMode="auto">
          <a:noFill/>
          <a:ln>
            <a:solidFill>
              <a:srgbClr val="000000"/>
            </a:solidFill>
            <a:miter lim="800000"/>
            <a:headEnd/>
            <a:tailEnd/>
          </a:ln>
        </p:spPr>
      </p:sp>
      <p:sp>
        <p:nvSpPr>
          <p:cNvPr id="319490" name="Notes Placeholder 2"/>
          <p:cNvSpPr>
            <a:spLocks noGrp="1"/>
          </p:cNvSpPr>
          <p:nvPr>
            <p:ph type="body" idx="1"/>
          </p:nvPr>
        </p:nvSpPr>
        <p:spPr bwMode="auto">
          <a:noFill/>
        </p:spPr>
        <p:txBody>
          <a:bodyPr/>
          <a:lstStyle/>
          <a:p>
            <a:r>
              <a:rPr lang="en-US" dirty="0"/>
              <a:t>Vladimir </a:t>
            </a:r>
            <a:r>
              <a:rPr lang="en-US" dirty="0" err="1"/>
              <a:t>Tatlin</a:t>
            </a:r>
            <a:r>
              <a:rPr lang="en-US" dirty="0"/>
              <a:t> MODEL FOR THE MONUMENT TO THE THIRD INTERNATIONAL</a:t>
            </a:r>
            <a:br>
              <a:rPr lang="en-US" dirty="0"/>
            </a:br>
            <a:r>
              <a:rPr lang="en-US" dirty="0"/>
              <a:t>1919–1920. Wood, iron, and glass. Destroyed.</a:t>
            </a:r>
            <a:br>
              <a:rPr lang="en-US" dirty="0"/>
            </a:br>
            <a:r>
              <a:rPr lang="en-US" dirty="0"/>
              <a:t>© Vladimir </a:t>
            </a:r>
            <a:r>
              <a:rPr lang="en-US" dirty="0" err="1"/>
              <a:t>Tatlin</a:t>
            </a:r>
            <a:r>
              <a:rPr lang="en-US" dirty="0"/>
              <a:t>.</a:t>
            </a:r>
          </a:p>
        </p:txBody>
      </p:sp>
      <p:sp>
        <p:nvSpPr>
          <p:cNvPr id="319491" name="Slide Number Placeholder 3"/>
          <p:cNvSpPr>
            <a:spLocks noGrp="1"/>
          </p:cNvSpPr>
          <p:nvPr>
            <p:ph type="sldNum" sz="quarter" idx="5"/>
          </p:nvPr>
        </p:nvSpPr>
        <p:spPr bwMode="auto">
          <a:noFill/>
          <a:ln>
            <a:miter lim="800000"/>
            <a:headEnd/>
            <a:tailEnd/>
          </a:ln>
        </p:spPr>
        <p:txBody>
          <a:bodyPr/>
          <a:lstStyle/>
          <a:p>
            <a:fld id="{11542700-B36B-574F-AA26-7EBC1B69DE7C}" type="slidenum">
              <a:rPr lang="en-US"/>
              <a:pPr/>
              <a:t>4</a:t>
            </a:fld>
            <a:endParaRPr lang="en-US"/>
          </a:p>
        </p:txBody>
      </p:sp>
    </p:spTree>
    <p:extLst>
      <p:ext uri="{BB962C8B-B14F-4D97-AF65-F5344CB8AC3E}">
        <p14:creationId xmlns:p14="http://schemas.microsoft.com/office/powerpoint/2010/main" val="216811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Slide Image Placeholder 1"/>
          <p:cNvSpPr>
            <a:spLocks noGrp="1" noRot="1" noChangeAspect="1" noTextEdit="1"/>
          </p:cNvSpPr>
          <p:nvPr>
            <p:ph type="sldImg"/>
          </p:nvPr>
        </p:nvSpPr>
        <p:spPr bwMode="auto">
          <a:noFill/>
          <a:ln>
            <a:solidFill>
              <a:srgbClr val="000000"/>
            </a:solidFill>
            <a:miter lim="800000"/>
            <a:headEnd/>
            <a:tailEnd/>
          </a:ln>
        </p:spPr>
      </p:sp>
      <p:sp>
        <p:nvSpPr>
          <p:cNvPr id="168962" name="Notes Placeholder 2"/>
          <p:cNvSpPr>
            <a:spLocks noGrp="1"/>
          </p:cNvSpPr>
          <p:nvPr>
            <p:ph type="body" idx="1"/>
          </p:nvPr>
        </p:nvSpPr>
        <p:spPr bwMode="auto">
          <a:noFill/>
        </p:spPr>
        <p:txBody>
          <a:bodyPr/>
          <a:lstStyle/>
          <a:p>
            <a:pPr>
              <a:spcBef>
                <a:spcPct val="0"/>
              </a:spcBef>
            </a:pPr>
            <a:r>
              <a:rPr lang="en-US" dirty="0">
                <a:latin typeface="Verdana" charset="0"/>
              </a:rPr>
              <a:t>Aleksandr </a:t>
            </a:r>
            <a:r>
              <a:rPr lang="en-US" dirty="0" err="1">
                <a:latin typeface="Verdana" charset="0"/>
              </a:rPr>
              <a:t>Rodchenko</a:t>
            </a:r>
            <a:r>
              <a:rPr lang="en-US" dirty="0">
                <a:latin typeface="Verdana" charset="0"/>
              </a:rPr>
              <a:t> WORKERS</a:t>
            </a:r>
            <a:r>
              <a:rPr lang="uk-UA" dirty="0">
                <a:latin typeface="Verdana" charset="0"/>
              </a:rPr>
              <a:t>'</a:t>
            </a:r>
            <a:r>
              <a:rPr lang="en-US" dirty="0">
                <a:latin typeface="Verdana" charset="0"/>
              </a:rPr>
              <a:t> CLUB</a:t>
            </a:r>
            <a:br>
              <a:rPr lang="en-US" dirty="0">
                <a:latin typeface="Verdana" charset="0"/>
              </a:rPr>
            </a:br>
            <a:r>
              <a:rPr lang="en-US" dirty="0">
                <a:latin typeface="Verdana" charset="0"/>
              </a:rPr>
              <a:t>Exhibited at the International Exposition of Modern Decorative and Industrial Arts, Paris. 1925. Art © Estate of Aleksandr </a:t>
            </a:r>
            <a:r>
              <a:rPr lang="en-US" dirty="0" err="1">
                <a:latin typeface="Verdana" charset="0"/>
              </a:rPr>
              <a:t>Rodchenko</a:t>
            </a:r>
            <a:r>
              <a:rPr lang="en-US" dirty="0">
                <a:latin typeface="Verdana" charset="0"/>
              </a:rPr>
              <a:t>/RAO, Moscow/VAGA, New York.</a:t>
            </a:r>
            <a:endParaRPr lang="en-US" dirty="0"/>
          </a:p>
        </p:txBody>
      </p:sp>
      <p:sp>
        <p:nvSpPr>
          <p:cNvPr id="168963" name="Slide Number Placeholder 3"/>
          <p:cNvSpPr>
            <a:spLocks noGrp="1"/>
          </p:cNvSpPr>
          <p:nvPr>
            <p:ph type="sldNum" sz="quarter" idx="5"/>
          </p:nvPr>
        </p:nvSpPr>
        <p:spPr bwMode="auto">
          <a:noFill/>
          <a:ln>
            <a:miter lim="800000"/>
            <a:headEnd/>
            <a:tailEnd/>
          </a:ln>
        </p:spPr>
        <p:txBody>
          <a:bodyPr/>
          <a:lstStyle/>
          <a:p>
            <a:fld id="{F6E3995F-56DA-CA41-9611-57036BFEE813}" type="slidenum">
              <a:rPr lang="en-US"/>
              <a:pPr/>
              <a:t>7</a:t>
            </a:fld>
            <a:endParaRPr lang="en-US"/>
          </a:p>
        </p:txBody>
      </p:sp>
    </p:spTree>
    <p:extLst>
      <p:ext uri="{BB962C8B-B14F-4D97-AF65-F5344CB8AC3E}">
        <p14:creationId xmlns:p14="http://schemas.microsoft.com/office/powerpoint/2010/main" val="14695281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Slide Image Placeholder 1"/>
          <p:cNvSpPr>
            <a:spLocks noGrp="1" noRot="1" noChangeAspect="1" noTextEdit="1"/>
          </p:cNvSpPr>
          <p:nvPr>
            <p:ph type="sldImg"/>
          </p:nvPr>
        </p:nvSpPr>
        <p:spPr bwMode="auto">
          <a:noFill/>
          <a:ln>
            <a:solidFill>
              <a:srgbClr val="000000"/>
            </a:solidFill>
            <a:miter lim="800000"/>
            <a:headEnd/>
            <a:tailEnd/>
          </a:ln>
        </p:spPr>
      </p:sp>
      <p:sp>
        <p:nvSpPr>
          <p:cNvPr id="171010" name="Notes Placeholder 2"/>
          <p:cNvSpPr>
            <a:spLocks noGrp="1"/>
          </p:cNvSpPr>
          <p:nvPr>
            <p:ph type="body" idx="1"/>
          </p:nvPr>
        </p:nvSpPr>
        <p:spPr bwMode="auto">
          <a:noFill/>
        </p:spPr>
        <p:txBody>
          <a:bodyPr/>
          <a:lstStyle/>
          <a:p>
            <a:pPr>
              <a:spcBef>
                <a:spcPct val="0"/>
              </a:spcBef>
            </a:pPr>
            <a:r>
              <a:rPr lang="en-US" dirty="0"/>
              <a:t>El </a:t>
            </a:r>
            <a:r>
              <a:rPr lang="en-US" dirty="0" err="1"/>
              <a:t>Lissitzky</a:t>
            </a:r>
            <a:r>
              <a:rPr lang="en-US" dirty="0"/>
              <a:t> PROUN SPACE</a:t>
            </a:r>
            <a:br>
              <a:rPr lang="en-US" dirty="0"/>
            </a:br>
            <a:r>
              <a:rPr lang="en-US" dirty="0"/>
              <a:t>Created for the Great Berlin Art Exhibition. 1923, reconstruction 1971.</a:t>
            </a:r>
            <a:br>
              <a:rPr lang="en-US" dirty="0"/>
            </a:br>
            <a:r>
              <a:rPr lang="en-US" dirty="0"/>
              <a:t>Collection Van </a:t>
            </a:r>
            <a:r>
              <a:rPr lang="en-US" dirty="0" err="1"/>
              <a:t>Abbemuseum</a:t>
            </a:r>
            <a:r>
              <a:rPr lang="en-US" dirty="0"/>
              <a:t>, Eindhoven, The Netherlands. Photo: Peter Cox, Eindhoven, The Netherlands.</a:t>
            </a:r>
          </a:p>
        </p:txBody>
      </p:sp>
      <p:sp>
        <p:nvSpPr>
          <p:cNvPr id="171011" name="Slide Number Placeholder 3"/>
          <p:cNvSpPr>
            <a:spLocks noGrp="1"/>
          </p:cNvSpPr>
          <p:nvPr>
            <p:ph type="sldNum" sz="quarter" idx="5"/>
          </p:nvPr>
        </p:nvSpPr>
        <p:spPr bwMode="auto">
          <a:noFill/>
          <a:ln>
            <a:miter lim="800000"/>
            <a:headEnd/>
            <a:tailEnd/>
          </a:ln>
        </p:spPr>
        <p:txBody>
          <a:bodyPr/>
          <a:lstStyle/>
          <a:p>
            <a:fld id="{10617EEC-65D7-114E-A6B4-86DDCB15FE87}" type="slidenum">
              <a:rPr lang="en-US"/>
              <a:pPr/>
              <a:t>8</a:t>
            </a:fld>
            <a:endParaRPr lang="en-US"/>
          </a:p>
        </p:txBody>
      </p:sp>
    </p:spTree>
    <p:extLst>
      <p:ext uri="{BB962C8B-B14F-4D97-AF65-F5344CB8AC3E}">
        <p14:creationId xmlns:p14="http://schemas.microsoft.com/office/powerpoint/2010/main" val="150428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Slide Image Placeholder 1"/>
          <p:cNvSpPr>
            <a:spLocks noGrp="1" noRot="1" noChangeAspect="1" noTextEdit="1"/>
          </p:cNvSpPr>
          <p:nvPr>
            <p:ph type="sldImg"/>
          </p:nvPr>
        </p:nvSpPr>
        <p:spPr bwMode="auto">
          <a:noFill/>
          <a:ln>
            <a:solidFill>
              <a:srgbClr val="000000"/>
            </a:solidFill>
            <a:miter lim="800000"/>
            <a:headEnd/>
            <a:tailEnd/>
          </a:ln>
        </p:spPr>
      </p:sp>
      <p:sp>
        <p:nvSpPr>
          <p:cNvPr id="174082" name="Notes Placeholder 2"/>
          <p:cNvSpPr>
            <a:spLocks noGrp="1"/>
          </p:cNvSpPr>
          <p:nvPr>
            <p:ph type="body" idx="1"/>
          </p:nvPr>
        </p:nvSpPr>
        <p:spPr bwMode="auto">
          <a:noFill/>
        </p:spPr>
        <p:txBody>
          <a:bodyPr/>
          <a:lstStyle/>
          <a:p>
            <a:pPr>
              <a:spcBef>
                <a:spcPct val="0"/>
              </a:spcBef>
            </a:pPr>
            <a:r>
              <a:rPr lang="en-US" dirty="0">
                <a:latin typeface="Verdana" charset="0"/>
              </a:rPr>
              <a:t>Vera </a:t>
            </a:r>
            <a:r>
              <a:rPr lang="en-US" dirty="0" err="1">
                <a:latin typeface="Verdana" charset="0"/>
              </a:rPr>
              <a:t>Mukhina</a:t>
            </a:r>
            <a:r>
              <a:rPr lang="en-US" dirty="0">
                <a:latin typeface="Verdana" charset="0"/>
              </a:rPr>
              <a:t> WORKER AND COLLECTIVE FARM WOMAN</a:t>
            </a:r>
            <a:br>
              <a:rPr lang="en-US" dirty="0">
                <a:latin typeface="Verdana" charset="0"/>
              </a:rPr>
            </a:br>
            <a:r>
              <a:rPr lang="en-US" dirty="0">
                <a:latin typeface="Verdana" charset="0"/>
              </a:rPr>
              <a:t>Sculpture for the Soviet Pavilion, Paris Universal Exposition. 1937.</a:t>
            </a:r>
            <a:br>
              <a:rPr lang="en-US" dirty="0">
                <a:latin typeface="Verdana" charset="0"/>
              </a:rPr>
            </a:br>
            <a:r>
              <a:rPr lang="en-US" dirty="0">
                <a:latin typeface="Verdana" charset="0"/>
              </a:rPr>
              <a:t>Stainless steel, height approx. 78</a:t>
            </a:r>
            <a:r>
              <a:rPr lang="uk-UA" dirty="0">
                <a:latin typeface="Verdana" charset="0"/>
              </a:rPr>
              <a:t>'</a:t>
            </a:r>
            <a:r>
              <a:rPr lang="en-US" dirty="0">
                <a:latin typeface="Verdana" charset="0"/>
              </a:rPr>
              <a:t> (23.8 m).</a:t>
            </a:r>
            <a:br>
              <a:rPr lang="en-US" dirty="0">
                <a:latin typeface="Verdana" charset="0"/>
              </a:rPr>
            </a:br>
            <a:r>
              <a:rPr lang="en-US" dirty="0">
                <a:latin typeface="Verdana" charset="0"/>
              </a:rPr>
              <a:t>Art © Estate of Vera </a:t>
            </a:r>
            <a:r>
              <a:rPr lang="en-US" dirty="0" err="1">
                <a:latin typeface="Verdana" charset="0"/>
              </a:rPr>
              <a:t>Mukhina</a:t>
            </a:r>
            <a:r>
              <a:rPr lang="en-US" dirty="0">
                <a:latin typeface="Verdana" charset="0"/>
              </a:rPr>
              <a:t>/RAO, Moscow/VAGA, New York.</a:t>
            </a:r>
            <a:endParaRPr lang="en-US" dirty="0"/>
          </a:p>
        </p:txBody>
      </p:sp>
      <p:sp>
        <p:nvSpPr>
          <p:cNvPr id="174083" name="Slide Number Placeholder 3"/>
          <p:cNvSpPr>
            <a:spLocks noGrp="1"/>
          </p:cNvSpPr>
          <p:nvPr>
            <p:ph type="sldNum" sz="quarter" idx="5"/>
          </p:nvPr>
        </p:nvSpPr>
        <p:spPr bwMode="auto">
          <a:noFill/>
          <a:ln>
            <a:miter lim="800000"/>
            <a:headEnd/>
            <a:tailEnd/>
          </a:ln>
        </p:spPr>
        <p:txBody>
          <a:bodyPr/>
          <a:lstStyle/>
          <a:p>
            <a:fld id="{9619EA3D-05FD-114A-8832-F511EDF05D94}" type="slidenum">
              <a:rPr lang="en-US"/>
              <a:pPr/>
              <a:t>10</a:t>
            </a:fld>
            <a:endParaRPr lang="en-US"/>
          </a:p>
        </p:txBody>
      </p:sp>
    </p:spTree>
    <p:extLst>
      <p:ext uri="{BB962C8B-B14F-4D97-AF65-F5344CB8AC3E}">
        <p14:creationId xmlns:p14="http://schemas.microsoft.com/office/powerpoint/2010/main" val="65852168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Slide Image Placeholder 1"/>
          <p:cNvSpPr>
            <a:spLocks noGrp="1" noRot="1" noChangeAspect="1" noTextEdit="1"/>
          </p:cNvSpPr>
          <p:nvPr>
            <p:ph type="sldImg"/>
          </p:nvPr>
        </p:nvSpPr>
        <p:spPr bwMode="auto">
          <a:noFill/>
          <a:ln>
            <a:solidFill>
              <a:srgbClr val="000000"/>
            </a:solidFill>
            <a:miter lim="800000"/>
            <a:headEnd/>
            <a:tailEnd/>
          </a:ln>
        </p:spPr>
      </p:sp>
      <p:sp>
        <p:nvSpPr>
          <p:cNvPr id="177154" name="Notes Placeholder 2"/>
          <p:cNvSpPr>
            <a:spLocks noGrp="1"/>
          </p:cNvSpPr>
          <p:nvPr>
            <p:ph type="body" idx="1"/>
          </p:nvPr>
        </p:nvSpPr>
        <p:spPr bwMode="auto">
          <a:noFill/>
        </p:spPr>
        <p:txBody>
          <a:bodyPr/>
          <a:lstStyle/>
          <a:p>
            <a:pPr>
              <a:spcBef>
                <a:spcPct val="0"/>
              </a:spcBef>
            </a:pPr>
            <a:r>
              <a:rPr lang="en-US" dirty="0">
                <a:latin typeface="Verdana" charset="0"/>
              </a:rPr>
              <a:t>Piet Mondrian COMPOSITION WITH YELLOW, RED, AND BLUE</a:t>
            </a:r>
            <a:br>
              <a:rPr lang="en-US" dirty="0">
                <a:latin typeface="Verdana" charset="0"/>
              </a:rPr>
            </a:br>
            <a:r>
              <a:rPr lang="en-US" dirty="0">
                <a:latin typeface="Verdana" charset="0"/>
              </a:rPr>
              <a:t>1927. Oil on canvas, 14-7/8</a:t>
            </a:r>
            <a:r>
              <a:rPr lang="ru-RU" dirty="0">
                <a:latin typeface="Verdana" charset="0"/>
              </a:rPr>
              <a:t>"</a:t>
            </a:r>
            <a:r>
              <a:rPr lang="en-US" dirty="0">
                <a:latin typeface="Verdana" charset="0"/>
              </a:rPr>
              <a:t> × 13-3/4</a:t>
            </a:r>
            <a:r>
              <a:rPr lang="ru-RU" dirty="0">
                <a:latin typeface="Verdana" charset="0"/>
              </a:rPr>
              <a:t>"</a:t>
            </a:r>
            <a:r>
              <a:rPr lang="en-US" dirty="0">
                <a:latin typeface="Verdana" charset="0"/>
              </a:rPr>
              <a:t> (37.8 × 34.9 cm).</a:t>
            </a:r>
            <a:br>
              <a:rPr lang="en-US" dirty="0">
                <a:latin typeface="Verdana" charset="0"/>
              </a:rPr>
            </a:br>
            <a:r>
              <a:rPr lang="en-US" dirty="0">
                <a:latin typeface="Verdana" charset="0"/>
              </a:rPr>
              <a:t>The </a:t>
            </a:r>
            <a:r>
              <a:rPr lang="en-US" dirty="0" err="1">
                <a:latin typeface="Verdana" charset="0"/>
              </a:rPr>
              <a:t>Menil</a:t>
            </a:r>
            <a:r>
              <a:rPr lang="en-US" dirty="0">
                <a:latin typeface="Verdana" charset="0"/>
              </a:rPr>
              <a:t> Collection, Houston. © 2012 Mondrian/Holtzman Trust c/o HCR International USA.</a:t>
            </a:r>
            <a:endParaRPr lang="en-US" dirty="0"/>
          </a:p>
        </p:txBody>
      </p:sp>
      <p:sp>
        <p:nvSpPr>
          <p:cNvPr id="177155" name="Slide Number Placeholder 3"/>
          <p:cNvSpPr>
            <a:spLocks noGrp="1"/>
          </p:cNvSpPr>
          <p:nvPr>
            <p:ph type="sldNum" sz="quarter" idx="5"/>
          </p:nvPr>
        </p:nvSpPr>
        <p:spPr bwMode="auto">
          <a:noFill/>
          <a:ln>
            <a:miter lim="800000"/>
            <a:headEnd/>
            <a:tailEnd/>
          </a:ln>
        </p:spPr>
        <p:txBody>
          <a:bodyPr/>
          <a:lstStyle/>
          <a:p>
            <a:fld id="{8A43C991-EDDD-544B-9458-E82FEC4FE114}" type="slidenum">
              <a:rPr lang="en-US"/>
              <a:pPr/>
              <a:t>12</a:t>
            </a:fld>
            <a:endParaRPr lang="en-US"/>
          </a:p>
        </p:txBody>
      </p:sp>
    </p:spTree>
    <p:extLst>
      <p:ext uri="{BB962C8B-B14F-4D97-AF65-F5344CB8AC3E}">
        <p14:creationId xmlns:p14="http://schemas.microsoft.com/office/powerpoint/2010/main" val="17907772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Slide Image Placeholder 1"/>
          <p:cNvSpPr>
            <a:spLocks noGrp="1" noRot="1" noChangeAspect="1" noTextEdit="1"/>
          </p:cNvSpPr>
          <p:nvPr>
            <p:ph type="sldImg"/>
          </p:nvPr>
        </p:nvSpPr>
        <p:spPr bwMode="auto">
          <a:noFill/>
          <a:ln>
            <a:solidFill>
              <a:srgbClr val="000000"/>
            </a:solidFill>
            <a:miter lim="800000"/>
            <a:headEnd/>
            <a:tailEnd/>
          </a:ln>
        </p:spPr>
      </p:sp>
      <p:sp>
        <p:nvSpPr>
          <p:cNvPr id="180226" name="Notes Placeholder 2"/>
          <p:cNvSpPr>
            <a:spLocks noGrp="1"/>
          </p:cNvSpPr>
          <p:nvPr>
            <p:ph type="body" idx="1"/>
          </p:nvPr>
        </p:nvSpPr>
        <p:spPr bwMode="auto">
          <a:noFill/>
        </p:spPr>
        <p:txBody>
          <a:bodyPr/>
          <a:lstStyle/>
          <a:p>
            <a:pPr>
              <a:spcBef>
                <a:spcPct val="0"/>
              </a:spcBef>
            </a:pPr>
            <a:r>
              <a:rPr lang="en-US" dirty="0">
                <a:latin typeface="Verdana" charset="0"/>
              </a:rPr>
              <a:t>Gerrit Rietveld SCHRÖDER HOUSE, UTRECHT</a:t>
            </a:r>
            <a:br>
              <a:rPr lang="en-US" dirty="0">
                <a:latin typeface="Verdana" charset="0"/>
              </a:rPr>
            </a:br>
            <a:r>
              <a:rPr lang="en-US" dirty="0">
                <a:latin typeface="Verdana" charset="0"/>
              </a:rPr>
              <a:t>The Netherlands. 1925.</a:t>
            </a:r>
            <a:br>
              <a:rPr lang="en-US" dirty="0">
                <a:latin typeface="Verdana" charset="0"/>
              </a:rPr>
            </a:br>
            <a:r>
              <a:rPr lang="en-US" dirty="0">
                <a:latin typeface="Verdana" charset="0"/>
              </a:rPr>
              <a:t>© </a:t>
            </a:r>
            <a:r>
              <a:rPr lang="en-US" dirty="0" err="1">
                <a:latin typeface="Verdana" charset="0"/>
              </a:rPr>
              <a:t>Ger</a:t>
            </a:r>
            <a:r>
              <a:rPr lang="en-US" dirty="0">
                <a:latin typeface="Verdana" charset="0"/>
              </a:rPr>
              <a:t> </a:t>
            </a:r>
            <a:r>
              <a:rPr lang="en-US" dirty="0" err="1">
                <a:latin typeface="Verdana" charset="0"/>
              </a:rPr>
              <a:t>Bosma</a:t>
            </a:r>
            <a:r>
              <a:rPr lang="en-US" dirty="0">
                <a:latin typeface="Verdana" charset="0"/>
              </a:rPr>
              <a:t>/</a:t>
            </a:r>
            <a:r>
              <a:rPr lang="en-US" dirty="0" err="1">
                <a:latin typeface="Verdana" charset="0"/>
              </a:rPr>
              <a:t>Alamy</a:t>
            </a:r>
            <a:r>
              <a:rPr lang="en-US" dirty="0">
                <a:latin typeface="Verdana" charset="0"/>
              </a:rPr>
              <a:t> Stock Photo.</a:t>
            </a:r>
            <a:endParaRPr lang="en-US" dirty="0"/>
          </a:p>
        </p:txBody>
      </p:sp>
      <p:sp>
        <p:nvSpPr>
          <p:cNvPr id="180227" name="Slide Number Placeholder 3"/>
          <p:cNvSpPr>
            <a:spLocks noGrp="1"/>
          </p:cNvSpPr>
          <p:nvPr>
            <p:ph type="sldNum" sz="quarter" idx="5"/>
          </p:nvPr>
        </p:nvSpPr>
        <p:spPr bwMode="auto">
          <a:noFill/>
          <a:ln>
            <a:miter lim="800000"/>
            <a:headEnd/>
            <a:tailEnd/>
          </a:ln>
        </p:spPr>
        <p:txBody>
          <a:bodyPr/>
          <a:lstStyle/>
          <a:p>
            <a:fld id="{8E37C828-6F22-2D41-86D2-7F01565CDAA1}" type="slidenum">
              <a:rPr lang="en-US"/>
              <a:pPr/>
              <a:t>14</a:t>
            </a:fld>
            <a:endParaRPr lang="en-US"/>
          </a:p>
        </p:txBody>
      </p:sp>
    </p:spTree>
    <p:extLst>
      <p:ext uri="{BB962C8B-B14F-4D97-AF65-F5344CB8AC3E}">
        <p14:creationId xmlns:p14="http://schemas.microsoft.com/office/powerpoint/2010/main" val="609507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Slide Image Placeholder 1"/>
          <p:cNvSpPr>
            <a:spLocks noGrp="1" noRot="1" noChangeAspect="1" noTextEdit="1"/>
          </p:cNvSpPr>
          <p:nvPr>
            <p:ph type="sldImg"/>
          </p:nvPr>
        </p:nvSpPr>
        <p:spPr bwMode="auto">
          <a:noFill/>
          <a:ln>
            <a:solidFill>
              <a:srgbClr val="000000"/>
            </a:solidFill>
            <a:miter lim="800000"/>
            <a:headEnd/>
            <a:tailEnd/>
          </a:ln>
        </p:spPr>
      </p:sp>
      <p:sp>
        <p:nvSpPr>
          <p:cNvPr id="182274" name="Notes Placeholder 2"/>
          <p:cNvSpPr>
            <a:spLocks noGrp="1"/>
          </p:cNvSpPr>
          <p:nvPr>
            <p:ph type="body" idx="1"/>
          </p:nvPr>
        </p:nvSpPr>
        <p:spPr bwMode="auto">
          <a:noFill/>
        </p:spPr>
        <p:txBody>
          <a:bodyPr/>
          <a:lstStyle/>
          <a:p>
            <a:pPr>
              <a:spcBef>
                <a:spcPct val="0"/>
              </a:spcBef>
            </a:pPr>
            <a:r>
              <a:rPr lang="en-US" dirty="0">
                <a:latin typeface="Verdana" charset="0"/>
              </a:rPr>
              <a:t>Gerrit Rietveld INTERIOR, SCHRÖDER HOUSE, WITH </a:t>
            </a:r>
            <a:r>
              <a:rPr lang="ru-RU" dirty="0">
                <a:latin typeface="Verdana" charset="0"/>
              </a:rPr>
              <a:t>"</a:t>
            </a:r>
            <a:r>
              <a:rPr lang="en-US" dirty="0">
                <a:latin typeface="Verdana" charset="0"/>
              </a:rPr>
              <a:t>RED-BLUE</a:t>
            </a:r>
            <a:r>
              <a:rPr lang="ru-RU" dirty="0">
                <a:latin typeface="Verdana" charset="0"/>
              </a:rPr>
              <a:t>"</a:t>
            </a:r>
            <a:r>
              <a:rPr lang="en-US" dirty="0">
                <a:latin typeface="Verdana" charset="0"/>
              </a:rPr>
              <a:t> CHAIR</a:t>
            </a:r>
            <a:br>
              <a:rPr lang="en-US" dirty="0">
                <a:latin typeface="Verdana" charset="0"/>
              </a:rPr>
            </a:br>
            <a:r>
              <a:rPr lang="en-US" dirty="0">
                <a:latin typeface="Verdana" charset="0"/>
              </a:rPr>
              <a:t>1925.</a:t>
            </a:r>
            <a:br>
              <a:rPr lang="en-US" dirty="0">
                <a:latin typeface="Verdana" charset="0"/>
              </a:rPr>
            </a:br>
            <a:r>
              <a:rPr lang="en-US" dirty="0">
                <a:latin typeface="Verdana" charset="0"/>
              </a:rPr>
              <a:t>Photo: </a:t>
            </a:r>
            <a:r>
              <a:rPr lang="en-US" dirty="0" err="1">
                <a:latin typeface="Verdana" charset="0"/>
              </a:rPr>
              <a:t>Jannes</a:t>
            </a:r>
            <a:r>
              <a:rPr lang="en-US" dirty="0">
                <a:latin typeface="Verdana" charset="0"/>
              </a:rPr>
              <a:t> </a:t>
            </a:r>
            <a:r>
              <a:rPr lang="en-US" dirty="0" err="1">
                <a:latin typeface="Verdana" charset="0"/>
              </a:rPr>
              <a:t>Linders</a:t>
            </a:r>
            <a:r>
              <a:rPr lang="en-US" dirty="0">
                <a:latin typeface="Verdana" charset="0"/>
              </a:rPr>
              <a:t>. © 2016 Artists Rights Society (ARS), New York/c/o </a:t>
            </a:r>
            <a:r>
              <a:rPr lang="en-US" dirty="0" err="1">
                <a:latin typeface="Verdana" charset="0"/>
              </a:rPr>
              <a:t>Pictoright</a:t>
            </a:r>
            <a:r>
              <a:rPr lang="en-US" dirty="0">
                <a:latin typeface="Verdana" charset="0"/>
              </a:rPr>
              <a:t> Amsterdam. </a:t>
            </a:r>
            <a:endParaRPr lang="en-US" dirty="0"/>
          </a:p>
        </p:txBody>
      </p:sp>
      <p:sp>
        <p:nvSpPr>
          <p:cNvPr id="182275" name="Slide Number Placeholder 3"/>
          <p:cNvSpPr>
            <a:spLocks noGrp="1"/>
          </p:cNvSpPr>
          <p:nvPr>
            <p:ph type="sldNum" sz="quarter" idx="5"/>
          </p:nvPr>
        </p:nvSpPr>
        <p:spPr bwMode="auto">
          <a:noFill/>
          <a:ln>
            <a:miter lim="800000"/>
            <a:headEnd/>
            <a:tailEnd/>
          </a:ln>
        </p:spPr>
        <p:txBody>
          <a:bodyPr/>
          <a:lstStyle/>
          <a:p>
            <a:fld id="{8E78D722-57AB-5F45-85B4-ABFDBA240426}" type="slidenum">
              <a:rPr lang="en-US"/>
              <a:pPr/>
              <a:t>15</a:t>
            </a:fld>
            <a:endParaRPr lang="en-US"/>
          </a:p>
        </p:txBody>
      </p:sp>
    </p:spTree>
    <p:extLst>
      <p:ext uri="{BB962C8B-B14F-4D97-AF65-F5344CB8AC3E}">
        <p14:creationId xmlns:p14="http://schemas.microsoft.com/office/powerpoint/2010/main" val="5017749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Slide Image Placeholder 1"/>
          <p:cNvSpPr>
            <a:spLocks noGrp="1" noRot="1" noChangeAspect="1" noTextEdit="1"/>
          </p:cNvSpPr>
          <p:nvPr>
            <p:ph type="sldImg"/>
          </p:nvPr>
        </p:nvSpPr>
        <p:spPr bwMode="auto">
          <a:noFill/>
          <a:ln>
            <a:solidFill>
              <a:srgbClr val="000000"/>
            </a:solidFill>
            <a:miter lim="800000"/>
            <a:headEnd/>
            <a:tailEnd/>
          </a:ln>
        </p:spPr>
      </p:sp>
      <p:sp>
        <p:nvSpPr>
          <p:cNvPr id="185346" name="Notes Placeholder 2"/>
          <p:cNvSpPr>
            <a:spLocks noGrp="1"/>
          </p:cNvSpPr>
          <p:nvPr>
            <p:ph type="body" idx="1"/>
          </p:nvPr>
        </p:nvSpPr>
        <p:spPr bwMode="auto">
          <a:noFill/>
        </p:spPr>
        <p:txBody>
          <a:bodyPr/>
          <a:lstStyle/>
          <a:p>
            <a:pPr>
              <a:spcBef>
                <a:spcPct val="0"/>
              </a:spcBef>
            </a:pPr>
            <a:r>
              <a:rPr lang="en-US" dirty="0"/>
              <a:t>Walter Gropius BAUHAUS BUILDING, DESSAU</a:t>
            </a:r>
            <a:br>
              <a:rPr lang="en-US" dirty="0"/>
            </a:br>
            <a:r>
              <a:rPr lang="en-US" dirty="0"/>
              <a:t>Anhalt, Germany. 1925–1926. View from northwest.</a:t>
            </a:r>
            <a:br>
              <a:rPr lang="en-US" dirty="0"/>
            </a:br>
            <a:r>
              <a:rPr lang="en-US" dirty="0"/>
              <a:t>© 2016 Artists Rights Society (ARS), New York/VG Bild-Kunst, Bonn. © </a:t>
            </a:r>
            <a:r>
              <a:rPr lang="en-US" dirty="0" err="1"/>
              <a:t>stockeurope</a:t>
            </a:r>
            <a:r>
              <a:rPr lang="en-US" dirty="0"/>
              <a:t>/</a:t>
            </a:r>
            <a:r>
              <a:rPr lang="en-US" dirty="0" err="1"/>
              <a:t>Alamy</a:t>
            </a:r>
            <a:r>
              <a:rPr lang="en-US" dirty="0"/>
              <a:t> Stock Photo. </a:t>
            </a:r>
          </a:p>
        </p:txBody>
      </p:sp>
      <p:sp>
        <p:nvSpPr>
          <p:cNvPr id="185347" name="Slide Number Placeholder 3"/>
          <p:cNvSpPr>
            <a:spLocks noGrp="1"/>
          </p:cNvSpPr>
          <p:nvPr>
            <p:ph type="sldNum" sz="quarter" idx="5"/>
          </p:nvPr>
        </p:nvSpPr>
        <p:spPr bwMode="auto">
          <a:noFill/>
          <a:ln>
            <a:miter lim="800000"/>
            <a:headEnd/>
            <a:tailEnd/>
          </a:ln>
        </p:spPr>
        <p:txBody>
          <a:bodyPr/>
          <a:lstStyle/>
          <a:p>
            <a:fld id="{289F3D3E-08DB-5849-8F93-C5B7C3DCAB2E}" type="slidenum">
              <a:rPr lang="en-US"/>
              <a:pPr/>
              <a:t>17</a:t>
            </a:fld>
            <a:endParaRPr lang="en-US"/>
          </a:p>
        </p:txBody>
      </p:sp>
    </p:spTree>
    <p:extLst>
      <p:ext uri="{BB962C8B-B14F-4D97-AF65-F5344CB8AC3E}">
        <p14:creationId xmlns:p14="http://schemas.microsoft.com/office/powerpoint/2010/main" val="16246253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Slide Image Placeholder 1"/>
          <p:cNvSpPr>
            <a:spLocks noGrp="1" noRot="1" noChangeAspect="1" noTextEdit="1"/>
          </p:cNvSpPr>
          <p:nvPr>
            <p:ph type="sldImg"/>
          </p:nvPr>
        </p:nvSpPr>
        <p:spPr bwMode="auto">
          <a:noFill/>
          <a:ln>
            <a:solidFill>
              <a:srgbClr val="000000"/>
            </a:solidFill>
            <a:miter lim="800000"/>
            <a:headEnd/>
            <a:tailEnd/>
          </a:ln>
        </p:spPr>
      </p:sp>
      <p:sp>
        <p:nvSpPr>
          <p:cNvPr id="188418" name="Notes Placeholder 2"/>
          <p:cNvSpPr>
            <a:spLocks noGrp="1"/>
          </p:cNvSpPr>
          <p:nvPr>
            <p:ph type="body" idx="1"/>
          </p:nvPr>
        </p:nvSpPr>
        <p:spPr bwMode="auto">
          <a:noFill/>
        </p:spPr>
        <p:txBody>
          <a:bodyPr/>
          <a:lstStyle/>
          <a:p>
            <a:pPr>
              <a:spcBef>
                <a:spcPct val="0"/>
              </a:spcBef>
            </a:pPr>
            <a:r>
              <a:rPr lang="en-US" dirty="0">
                <a:latin typeface="Verdana" charset="0"/>
              </a:rPr>
              <a:t>Marianne Brandt COFFEE AND TEA SERVICE</a:t>
            </a:r>
            <a:br>
              <a:rPr lang="en-US" dirty="0">
                <a:latin typeface="Verdana" charset="0"/>
              </a:rPr>
            </a:br>
            <a:r>
              <a:rPr lang="en-US" dirty="0">
                <a:latin typeface="Verdana" charset="0"/>
              </a:rPr>
              <a:t>1924. Silver and ebony, with Plexiglas cover for sugar bowl.</a:t>
            </a:r>
            <a:br>
              <a:rPr lang="en-US" dirty="0">
                <a:latin typeface="Verdana" charset="0"/>
              </a:rPr>
            </a:br>
            <a:r>
              <a:rPr lang="en-US" dirty="0">
                <a:latin typeface="Verdana" charset="0"/>
              </a:rPr>
              <a:t>Tray, 13</a:t>
            </a:r>
            <a:r>
              <a:rPr lang="ru-RU" dirty="0">
                <a:latin typeface="Verdana" charset="0"/>
              </a:rPr>
              <a:t>"</a:t>
            </a:r>
            <a:r>
              <a:rPr lang="en-US" dirty="0">
                <a:latin typeface="Verdana" charset="0"/>
              </a:rPr>
              <a:t> × 20-1/4</a:t>
            </a:r>
            <a:r>
              <a:rPr lang="ru-RU" dirty="0">
                <a:latin typeface="Verdana" charset="0"/>
              </a:rPr>
              <a:t>"</a:t>
            </a:r>
            <a:r>
              <a:rPr lang="en-US" dirty="0">
                <a:latin typeface="Verdana" charset="0"/>
              </a:rPr>
              <a:t> (33 × 51.5 cm).</a:t>
            </a:r>
            <a:br>
              <a:rPr lang="en-US" dirty="0">
                <a:latin typeface="Verdana" charset="0"/>
              </a:rPr>
            </a:br>
            <a:r>
              <a:rPr lang="en-US" dirty="0">
                <a:latin typeface="Verdana" charset="0"/>
              </a:rPr>
              <a:t>Bauhaus </a:t>
            </a:r>
            <a:r>
              <a:rPr lang="en-US" dirty="0" err="1">
                <a:latin typeface="Verdana" charset="0"/>
              </a:rPr>
              <a:t>Archiv</a:t>
            </a:r>
            <a:r>
              <a:rPr lang="en-US" dirty="0">
                <a:latin typeface="Verdana" charset="0"/>
              </a:rPr>
              <a:t>, Berlin. © 2016 Artists Rights Society (ARS), New York/VG Bild-Kunst, Bonn.</a:t>
            </a:r>
            <a:endParaRPr lang="en-US" dirty="0"/>
          </a:p>
        </p:txBody>
      </p:sp>
      <p:sp>
        <p:nvSpPr>
          <p:cNvPr id="188419" name="Slide Number Placeholder 3"/>
          <p:cNvSpPr>
            <a:spLocks noGrp="1"/>
          </p:cNvSpPr>
          <p:nvPr>
            <p:ph type="sldNum" sz="quarter" idx="5"/>
          </p:nvPr>
        </p:nvSpPr>
        <p:spPr bwMode="auto">
          <a:noFill/>
          <a:ln>
            <a:miter lim="800000"/>
            <a:headEnd/>
            <a:tailEnd/>
          </a:ln>
        </p:spPr>
        <p:txBody>
          <a:bodyPr/>
          <a:lstStyle/>
          <a:p>
            <a:fld id="{D552307A-CA01-8E4A-91B1-FC860D7EA24D}" type="slidenum">
              <a:rPr lang="en-US"/>
              <a:pPr/>
              <a:t>19</a:t>
            </a:fld>
            <a:endParaRPr lang="en-US"/>
          </a:p>
        </p:txBody>
      </p:sp>
    </p:spTree>
    <p:extLst>
      <p:ext uri="{BB962C8B-B14F-4D97-AF65-F5344CB8AC3E}">
        <p14:creationId xmlns:p14="http://schemas.microsoft.com/office/powerpoint/2010/main" val="10560431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Slide Image Placeholder 1"/>
          <p:cNvSpPr>
            <a:spLocks noGrp="1" noRot="1" noChangeAspect="1" noTextEdit="1"/>
          </p:cNvSpPr>
          <p:nvPr>
            <p:ph type="sldImg"/>
          </p:nvPr>
        </p:nvSpPr>
        <p:spPr bwMode="auto">
          <a:noFill/>
          <a:ln>
            <a:solidFill>
              <a:srgbClr val="000000"/>
            </a:solidFill>
            <a:miter lim="800000"/>
            <a:headEnd/>
            <a:tailEnd/>
          </a:ln>
        </p:spPr>
      </p:sp>
      <p:sp>
        <p:nvSpPr>
          <p:cNvPr id="190466" name="Notes Placeholder 2"/>
          <p:cNvSpPr>
            <a:spLocks noGrp="1"/>
          </p:cNvSpPr>
          <p:nvPr>
            <p:ph type="body" idx="1"/>
          </p:nvPr>
        </p:nvSpPr>
        <p:spPr bwMode="auto">
          <a:noFill/>
        </p:spPr>
        <p:txBody>
          <a:bodyPr/>
          <a:lstStyle/>
          <a:p>
            <a:pPr>
              <a:spcBef>
                <a:spcPct val="0"/>
              </a:spcBef>
            </a:pPr>
            <a:r>
              <a:rPr lang="en-US" dirty="0">
                <a:latin typeface="Verdana" charset="0"/>
              </a:rPr>
              <a:t>Anni Albers WALL HANGING</a:t>
            </a:r>
            <a:br>
              <a:rPr lang="en-US" dirty="0">
                <a:latin typeface="Verdana" charset="0"/>
              </a:rPr>
            </a:br>
            <a:r>
              <a:rPr lang="en-US" dirty="0">
                <a:latin typeface="Verdana" charset="0"/>
              </a:rPr>
              <a:t>1926. Silk, three-ply weave, 5</a:t>
            </a:r>
            <a:r>
              <a:rPr lang="uk-UA" dirty="0">
                <a:latin typeface="Verdana" charset="0"/>
              </a:rPr>
              <a:t>'</a:t>
            </a:r>
            <a:r>
              <a:rPr lang="en-US" dirty="0">
                <a:latin typeface="Verdana" charset="0"/>
              </a:rPr>
              <a:t>11-5/16</a:t>
            </a:r>
            <a:r>
              <a:rPr lang="ru-RU" dirty="0">
                <a:latin typeface="Verdana" charset="0"/>
              </a:rPr>
              <a:t>"</a:t>
            </a:r>
            <a:r>
              <a:rPr lang="en-US" dirty="0">
                <a:latin typeface="Verdana" charset="0"/>
              </a:rPr>
              <a:t> × 3</a:t>
            </a:r>
            <a:r>
              <a:rPr lang="uk-UA" dirty="0">
                <a:latin typeface="Verdana" charset="0"/>
              </a:rPr>
              <a:t>'</a:t>
            </a:r>
            <a:r>
              <a:rPr lang="en-US" dirty="0">
                <a:latin typeface="Verdana" charset="0"/>
              </a:rPr>
              <a:t>11-5/8</a:t>
            </a:r>
            <a:r>
              <a:rPr lang="ru-RU" dirty="0">
                <a:latin typeface="Verdana" charset="0"/>
              </a:rPr>
              <a:t>"</a:t>
            </a:r>
            <a:r>
              <a:rPr lang="en-US" dirty="0">
                <a:latin typeface="Verdana" charset="0"/>
              </a:rPr>
              <a:t> (1.83 × 1.22 m).</a:t>
            </a:r>
            <a:br>
              <a:rPr lang="en-US" dirty="0">
                <a:latin typeface="Verdana" charset="0"/>
              </a:rPr>
            </a:br>
            <a:r>
              <a:rPr lang="en-US" dirty="0">
                <a:latin typeface="Verdana" charset="0"/>
              </a:rPr>
              <a:t>Harvard Art Museums/Busch-Reisinger Museum, Association Fund. © 2016 The Josef and Anni Albers Foundation/Artists Rights Society (ARS), New York. Bridgeman Images.</a:t>
            </a:r>
            <a:endParaRPr lang="en-US" dirty="0"/>
          </a:p>
        </p:txBody>
      </p:sp>
      <p:sp>
        <p:nvSpPr>
          <p:cNvPr id="190467" name="Slide Number Placeholder 3"/>
          <p:cNvSpPr>
            <a:spLocks noGrp="1"/>
          </p:cNvSpPr>
          <p:nvPr>
            <p:ph type="sldNum" sz="quarter" idx="5"/>
          </p:nvPr>
        </p:nvSpPr>
        <p:spPr bwMode="auto">
          <a:noFill/>
          <a:ln>
            <a:miter lim="800000"/>
            <a:headEnd/>
            <a:tailEnd/>
          </a:ln>
        </p:spPr>
        <p:txBody>
          <a:bodyPr/>
          <a:lstStyle/>
          <a:p>
            <a:fld id="{D9D1B6C4-9FDB-F745-A4F2-88D3AEF0D135}" type="slidenum">
              <a:rPr lang="en-US"/>
              <a:pPr/>
              <a:t>20</a:t>
            </a:fld>
            <a:endParaRPr lang="en-US"/>
          </a:p>
        </p:txBody>
      </p:sp>
    </p:spTree>
    <p:extLst>
      <p:ext uri="{BB962C8B-B14F-4D97-AF65-F5344CB8AC3E}">
        <p14:creationId xmlns:p14="http://schemas.microsoft.com/office/powerpoint/2010/main" val="211286745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Slide Image Placeholder 1"/>
          <p:cNvSpPr>
            <a:spLocks noGrp="1" noRot="1" noChangeAspect="1" noTextEdit="1"/>
          </p:cNvSpPr>
          <p:nvPr>
            <p:ph type="sldImg"/>
          </p:nvPr>
        </p:nvSpPr>
        <p:spPr bwMode="auto">
          <a:noFill/>
          <a:ln>
            <a:solidFill>
              <a:srgbClr val="000000"/>
            </a:solidFill>
            <a:miter lim="800000"/>
            <a:headEnd/>
            <a:tailEnd/>
          </a:ln>
        </p:spPr>
      </p:sp>
      <p:sp>
        <p:nvSpPr>
          <p:cNvPr id="195586" name="Notes Placeholder 2"/>
          <p:cNvSpPr>
            <a:spLocks noGrp="1"/>
          </p:cNvSpPr>
          <p:nvPr>
            <p:ph type="body" idx="1"/>
          </p:nvPr>
        </p:nvSpPr>
        <p:spPr bwMode="auto">
          <a:noFill/>
        </p:spPr>
        <p:txBody>
          <a:bodyPr/>
          <a:lstStyle/>
          <a:p>
            <a:pPr>
              <a:spcBef>
                <a:spcPct val="0"/>
              </a:spcBef>
            </a:pPr>
            <a:r>
              <a:rPr lang="en-US" dirty="0"/>
              <a:t>THE DADA WALL IN ROOM 3 OF THE </a:t>
            </a:r>
            <a:r>
              <a:rPr lang="ru-RU" dirty="0"/>
              <a:t>"</a:t>
            </a:r>
            <a:r>
              <a:rPr lang="en-US" dirty="0"/>
              <a:t>DEGENERATE ART</a:t>
            </a:r>
            <a:r>
              <a:rPr lang="ru-RU" dirty="0"/>
              <a:t>"</a:t>
            </a:r>
            <a:br>
              <a:rPr lang="en-US" dirty="0"/>
            </a:br>
            <a:r>
              <a:rPr lang="en-US" dirty="0"/>
              <a:t>(</a:t>
            </a:r>
            <a:r>
              <a:rPr lang="ru-RU" dirty="0"/>
              <a:t>"</a:t>
            </a:r>
            <a:r>
              <a:rPr lang="en-US" dirty="0"/>
              <a:t>ENTARTETE KUNST</a:t>
            </a:r>
            <a:r>
              <a:rPr lang="ru-RU" dirty="0"/>
              <a:t>"</a:t>
            </a:r>
            <a:r>
              <a:rPr lang="en-US" dirty="0"/>
              <a:t>) EXHIBITION</a:t>
            </a:r>
            <a:br>
              <a:rPr lang="en-US" dirty="0"/>
            </a:br>
            <a:r>
              <a:rPr lang="en-US" dirty="0"/>
              <a:t>Munich. 1937. Art © Estate of George Grosz/Licensed by VAGA, New York. Akademie der </a:t>
            </a:r>
            <a:r>
              <a:rPr lang="en-US" dirty="0" err="1"/>
              <a:t>Künste</a:t>
            </a:r>
            <a:r>
              <a:rPr lang="en-US" dirty="0"/>
              <a:t>/</a:t>
            </a:r>
            <a:r>
              <a:rPr lang="en-US" dirty="0" err="1"/>
              <a:t>Archiv</a:t>
            </a:r>
            <a:r>
              <a:rPr lang="en-US" dirty="0"/>
              <a:t> </a:t>
            </a:r>
            <a:r>
              <a:rPr lang="en-US" dirty="0" err="1"/>
              <a:t>Bildende</a:t>
            </a:r>
            <a:r>
              <a:rPr lang="en-US" dirty="0"/>
              <a:t> Kunst/George Grosz-</a:t>
            </a:r>
            <a:r>
              <a:rPr lang="en-US" dirty="0" err="1"/>
              <a:t>Archiv</a:t>
            </a:r>
            <a:r>
              <a:rPr lang="en-US" dirty="0"/>
              <a:t>.</a:t>
            </a:r>
          </a:p>
        </p:txBody>
      </p:sp>
      <p:sp>
        <p:nvSpPr>
          <p:cNvPr id="195587" name="Slide Number Placeholder 3"/>
          <p:cNvSpPr>
            <a:spLocks noGrp="1"/>
          </p:cNvSpPr>
          <p:nvPr>
            <p:ph type="sldNum" sz="quarter" idx="5"/>
          </p:nvPr>
        </p:nvSpPr>
        <p:spPr bwMode="auto">
          <a:noFill/>
          <a:ln>
            <a:miter lim="800000"/>
            <a:headEnd/>
            <a:tailEnd/>
          </a:ln>
        </p:spPr>
        <p:txBody>
          <a:bodyPr/>
          <a:lstStyle/>
          <a:p>
            <a:fld id="{54CE11C6-1F5A-0046-988A-60D3DD89B162}" type="slidenum">
              <a:rPr lang="en-US"/>
              <a:pPr/>
              <a:t>24</a:t>
            </a:fld>
            <a:endParaRPr lang="en-US"/>
          </a:p>
        </p:txBody>
      </p:sp>
    </p:spTree>
    <p:extLst>
      <p:ext uri="{BB962C8B-B14F-4D97-AF65-F5344CB8AC3E}">
        <p14:creationId xmlns:p14="http://schemas.microsoft.com/office/powerpoint/2010/main" val="17367897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Slide Image Placeholder 1"/>
          <p:cNvSpPr>
            <a:spLocks noGrp="1" noRot="1" noChangeAspect="1" noTextEdit="1"/>
          </p:cNvSpPr>
          <p:nvPr>
            <p:ph type="sldImg"/>
          </p:nvPr>
        </p:nvSpPr>
        <p:spPr bwMode="auto">
          <a:noFill/>
          <a:ln>
            <a:solidFill>
              <a:srgbClr val="000000"/>
            </a:solidFill>
            <a:miter lim="800000"/>
            <a:headEnd/>
            <a:tailEnd/>
          </a:ln>
        </p:spPr>
      </p:sp>
      <p:sp>
        <p:nvSpPr>
          <p:cNvPr id="200706" name="Notes Placeholder 2"/>
          <p:cNvSpPr>
            <a:spLocks noGrp="1"/>
          </p:cNvSpPr>
          <p:nvPr>
            <p:ph type="body" idx="1"/>
          </p:nvPr>
        </p:nvSpPr>
        <p:spPr bwMode="auto">
          <a:noFill/>
        </p:spPr>
        <p:txBody>
          <a:bodyPr/>
          <a:lstStyle/>
          <a:p>
            <a:pPr>
              <a:spcBef>
                <a:spcPct val="0"/>
              </a:spcBef>
            </a:pPr>
            <a:r>
              <a:rPr lang="en-US" dirty="0"/>
              <a:t>Max Ernst THE HORDE</a:t>
            </a:r>
            <a:br>
              <a:rPr lang="en-US" dirty="0"/>
            </a:br>
            <a:r>
              <a:rPr lang="en-US" dirty="0"/>
              <a:t>1927. Oil on canvas, 44-7/8</a:t>
            </a:r>
            <a:r>
              <a:rPr lang="ru-RU" dirty="0"/>
              <a:t>"</a:t>
            </a:r>
            <a:r>
              <a:rPr lang="en-US" dirty="0"/>
              <a:t> × 57-1/2</a:t>
            </a:r>
            <a:r>
              <a:rPr lang="ru-RU" dirty="0"/>
              <a:t>"</a:t>
            </a:r>
            <a:r>
              <a:rPr lang="en-US" dirty="0"/>
              <a:t> (114 × 146.1 cm).</a:t>
            </a:r>
            <a:br>
              <a:rPr lang="en-US" dirty="0"/>
            </a:br>
            <a:r>
              <a:rPr lang="en-US" dirty="0" err="1"/>
              <a:t>Stedelijk</a:t>
            </a:r>
            <a:r>
              <a:rPr lang="en-US" dirty="0"/>
              <a:t> Museum, Amsterdam. © 2016 Artists Rights Society (ARS), New York/ADAGP, Paris. Collection </a:t>
            </a:r>
            <a:r>
              <a:rPr lang="en-US" dirty="0" err="1"/>
              <a:t>Stedelijk</a:t>
            </a:r>
            <a:r>
              <a:rPr lang="en-US" dirty="0"/>
              <a:t> Museum, Amsterdam. </a:t>
            </a:r>
          </a:p>
        </p:txBody>
      </p:sp>
      <p:sp>
        <p:nvSpPr>
          <p:cNvPr id="200707" name="Slide Number Placeholder 3"/>
          <p:cNvSpPr>
            <a:spLocks noGrp="1"/>
          </p:cNvSpPr>
          <p:nvPr>
            <p:ph type="sldNum" sz="quarter" idx="5"/>
          </p:nvPr>
        </p:nvSpPr>
        <p:spPr bwMode="auto">
          <a:noFill/>
          <a:ln>
            <a:miter lim="800000"/>
            <a:headEnd/>
            <a:tailEnd/>
          </a:ln>
        </p:spPr>
        <p:txBody>
          <a:bodyPr/>
          <a:lstStyle/>
          <a:p>
            <a:fld id="{388498AE-D748-A743-BCC8-485AE0A18BF1}" type="slidenum">
              <a:rPr lang="en-US"/>
              <a:pPr/>
              <a:t>28</a:t>
            </a:fld>
            <a:endParaRPr lang="en-US"/>
          </a:p>
        </p:txBody>
      </p:sp>
    </p:spTree>
    <p:extLst>
      <p:ext uri="{BB962C8B-B14F-4D97-AF65-F5344CB8AC3E}">
        <p14:creationId xmlns:p14="http://schemas.microsoft.com/office/powerpoint/2010/main" val="59220613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Slide Image Placeholder 1"/>
          <p:cNvSpPr>
            <a:spLocks noGrp="1" noRot="1" noChangeAspect="1" noTextEdit="1"/>
          </p:cNvSpPr>
          <p:nvPr>
            <p:ph type="sldImg"/>
          </p:nvPr>
        </p:nvSpPr>
        <p:spPr bwMode="auto">
          <a:noFill/>
          <a:ln>
            <a:solidFill>
              <a:srgbClr val="000000"/>
            </a:solidFill>
            <a:miter lim="800000"/>
            <a:headEnd/>
            <a:tailEnd/>
          </a:ln>
        </p:spPr>
      </p:sp>
      <p:sp>
        <p:nvSpPr>
          <p:cNvPr id="203778" name="Notes Placeholder 2"/>
          <p:cNvSpPr>
            <a:spLocks noGrp="1"/>
          </p:cNvSpPr>
          <p:nvPr>
            <p:ph type="body" idx="1"/>
          </p:nvPr>
        </p:nvSpPr>
        <p:spPr bwMode="auto">
          <a:noFill/>
        </p:spPr>
        <p:txBody>
          <a:bodyPr/>
          <a:lstStyle/>
          <a:p>
            <a:pPr>
              <a:spcBef>
                <a:spcPct val="0"/>
              </a:spcBef>
            </a:pPr>
            <a:r>
              <a:rPr lang="en-US" dirty="0"/>
              <a:t>Salvador Dalí BIRTH OF LIQUID DESIRES</a:t>
            </a:r>
            <a:br>
              <a:rPr lang="en-US" dirty="0"/>
            </a:br>
            <a:r>
              <a:rPr lang="en-US" dirty="0"/>
              <a:t>1931-1932. Oil and collage on canvas, 37-7/8</a:t>
            </a:r>
            <a:r>
              <a:rPr lang="ru-RU" dirty="0"/>
              <a:t>"</a:t>
            </a:r>
            <a:r>
              <a:rPr lang="en-US" dirty="0"/>
              <a:t> × 44-1/4</a:t>
            </a:r>
            <a:r>
              <a:rPr lang="ru-RU" dirty="0"/>
              <a:t>"</a:t>
            </a:r>
            <a:r>
              <a:rPr lang="en-US" dirty="0"/>
              <a:t> (96.1 × 112.3 cm).</a:t>
            </a:r>
            <a:br>
              <a:rPr lang="en-US" dirty="0"/>
            </a:br>
            <a:r>
              <a:rPr lang="en-US" dirty="0"/>
              <a:t>The Solomon R. Guggenheim Foundation. Peggy Guggenheim Collection, Venice 1976 (76.2553 PG 100). © Salvador Dalí, </a:t>
            </a:r>
            <a:r>
              <a:rPr lang="en-US" dirty="0" err="1"/>
              <a:t>Fundació</a:t>
            </a:r>
            <a:r>
              <a:rPr lang="en-US" dirty="0"/>
              <a:t> Gala-Salvador Dalí, Artists Rights Society (ARS), New York 2016. The Solomon R. Guggenheim Foundation/Art Resource, NY.</a:t>
            </a:r>
            <a:br>
              <a:rPr lang="en-US" dirty="0"/>
            </a:br>
            <a:endParaRPr lang="en-US" dirty="0"/>
          </a:p>
        </p:txBody>
      </p:sp>
      <p:sp>
        <p:nvSpPr>
          <p:cNvPr id="203779" name="Slide Number Placeholder 3"/>
          <p:cNvSpPr>
            <a:spLocks noGrp="1"/>
          </p:cNvSpPr>
          <p:nvPr>
            <p:ph type="sldNum" sz="quarter" idx="5"/>
          </p:nvPr>
        </p:nvSpPr>
        <p:spPr bwMode="auto">
          <a:noFill/>
          <a:ln>
            <a:miter lim="800000"/>
            <a:headEnd/>
            <a:tailEnd/>
          </a:ln>
        </p:spPr>
        <p:txBody>
          <a:bodyPr/>
          <a:lstStyle/>
          <a:p>
            <a:fld id="{28BB8364-6222-744B-864B-BC94F55AE8FB}" type="slidenum">
              <a:rPr lang="en-US"/>
              <a:pPr/>
              <a:t>30</a:t>
            </a:fld>
            <a:endParaRPr lang="en-US"/>
          </a:p>
        </p:txBody>
      </p:sp>
    </p:spTree>
    <p:extLst>
      <p:ext uri="{BB962C8B-B14F-4D97-AF65-F5344CB8AC3E}">
        <p14:creationId xmlns:p14="http://schemas.microsoft.com/office/powerpoint/2010/main" val="176922351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Slide Image Placeholder 1"/>
          <p:cNvSpPr>
            <a:spLocks noGrp="1" noRot="1" noChangeAspect="1" noTextEdit="1"/>
          </p:cNvSpPr>
          <p:nvPr>
            <p:ph type="sldImg"/>
          </p:nvPr>
        </p:nvSpPr>
        <p:spPr bwMode="auto">
          <a:noFill/>
          <a:ln>
            <a:solidFill>
              <a:srgbClr val="000000"/>
            </a:solidFill>
            <a:miter lim="800000"/>
            <a:headEnd/>
            <a:tailEnd/>
          </a:ln>
        </p:spPr>
      </p:sp>
      <p:sp>
        <p:nvSpPr>
          <p:cNvPr id="206850" name="Notes Placeholder 2"/>
          <p:cNvSpPr>
            <a:spLocks noGrp="1"/>
          </p:cNvSpPr>
          <p:nvPr>
            <p:ph type="body" idx="1"/>
          </p:nvPr>
        </p:nvSpPr>
        <p:spPr bwMode="auto">
          <a:noFill/>
        </p:spPr>
        <p:txBody>
          <a:bodyPr/>
          <a:lstStyle/>
          <a:p>
            <a:pPr>
              <a:spcBef>
                <a:spcPct val="0"/>
              </a:spcBef>
            </a:pPr>
            <a:r>
              <a:rPr lang="en-US" dirty="0" err="1"/>
              <a:t>Meret</a:t>
            </a:r>
            <a:r>
              <a:rPr lang="en-US" dirty="0"/>
              <a:t> Oppenheim OBJECT (LUNCHEON IN FUR)</a:t>
            </a:r>
            <a:br>
              <a:rPr lang="en-US" dirty="0"/>
            </a:br>
            <a:r>
              <a:rPr lang="en-US" dirty="0"/>
              <a:t>1936. Fur-covered cup, diameter 4-3/8</a:t>
            </a:r>
            <a:r>
              <a:rPr lang="ru-RU" dirty="0"/>
              <a:t>"</a:t>
            </a:r>
            <a:r>
              <a:rPr lang="en-US" dirty="0"/>
              <a:t> (10.9 cm); fur-covered saucer, diameter 9 3/8</a:t>
            </a:r>
            <a:r>
              <a:rPr lang="ru-RU" dirty="0"/>
              <a:t>"</a:t>
            </a:r>
            <a:r>
              <a:rPr lang="en-US" dirty="0"/>
              <a:t> (23.7 cm); fur-covered spoon, length 8</a:t>
            </a:r>
            <a:r>
              <a:rPr lang="ru-RU" dirty="0"/>
              <a:t>"</a:t>
            </a:r>
            <a:r>
              <a:rPr lang="en-US" dirty="0"/>
              <a:t> (20.2 cm); overall height, 2-7/8</a:t>
            </a:r>
            <a:r>
              <a:rPr lang="ru-RU" dirty="0"/>
              <a:t>"</a:t>
            </a:r>
            <a:r>
              <a:rPr lang="en-US" dirty="0"/>
              <a:t> (7.3 cm).</a:t>
            </a:r>
            <a:br>
              <a:rPr lang="en-US" dirty="0"/>
            </a:br>
            <a:r>
              <a:rPr lang="en-US" dirty="0"/>
              <a:t>Museum of Modern Art, New York. © 2016 Artists Rights Society (ARS), New York/</a:t>
            </a:r>
            <a:r>
              <a:rPr lang="en-US" dirty="0" err="1"/>
              <a:t>ProLitteris</a:t>
            </a:r>
            <a:r>
              <a:rPr lang="en-US" dirty="0"/>
              <a:t>, Zurich. © 2016. Digital image, The Museum of Modern Art, New York/Scala, Florence.</a:t>
            </a:r>
          </a:p>
        </p:txBody>
      </p:sp>
      <p:sp>
        <p:nvSpPr>
          <p:cNvPr id="206851" name="Slide Number Placeholder 3"/>
          <p:cNvSpPr>
            <a:spLocks noGrp="1"/>
          </p:cNvSpPr>
          <p:nvPr>
            <p:ph type="sldNum" sz="quarter" idx="5"/>
          </p:nvPr>
        </p:nvSpPr>
        <p:spPr bwMode="auto">
          <a:noFill/>
          <a:ln>
            <a:miter lim="800000"/>
            <a:headEnd/>
            <a:tailEnd/>
          </a:ln>
        </p:spPr>
        <p:txBody>
          <a:bodyPr/>
          <a:lstStyle/>
          <a:p>
            <a:fld id="{748294B2-C0AA-624A-954E-4B5BA38A20C1}" type="slidenum">
              <a:rPr lang="en-US"/>
              <a:pPr/>
              <a:t>32</a:t>
            </a:fld>
            <a:endParaRPr lang="en-US"/>
          </a:p>
        </p:txBody>
      </p:sp>
    </p:spTree>
    <p:extLst>
      <p:ext uri="{BB962C8B-B14F-4D97-AF65-F5344CB8AC3E}">
        <p14:creationId xmlns:p14="http://schemas.microsoft.com/office/powerpoint/2010/main" val="12811074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Slide Image Placeholder 1"/>
          <p:cNvSpPr>
            <a:spLocks noGrp="1" noRot="1" noChangeAspect="1" noTextEdit="1"/>
          </p:cNvSpPr>
          <p:nvPr>
            <p:ph type="sldImg"/>
          </p:nvPr>
        </p:nvSpPr>
        <p:spPr bwMode="auto">
          <a:noFill/>
          <a:ln>
            <a:solidFill>
              <a:srgbClr val="000000"/>
            </a:solidFill>
            <a:miter lim="800000"/>
            <a:headEnd/>
            <a:tailEnd/>
          </a:ln>
        </p:spPr>
      </p:sp>
      <p:sp>
        <p:nvSpPr>
          <p:cNvPr id="209922" name="Notes Placeholder 2"/>
          <p:cNvSpPr>
            <a:spLocks noGrp="1"/>
          </p:cNvSpPr>
          <p:nvPr>
            <p:ph type="body" idx="1"/>
          </p:nvPr>
        </p:nvSpPr>
        <p:spPr bwMode="auto">
          <a:noFill/>
        </p:spPr>
        <p:txBody>
          <a:bodyPr/>
          <a:lstStyle/>
          <a:p>
            <a:pPr>
              <a:spcBef>
                <a:spcPct val="0"/>
              </a:spcBef>
            </a:pPr>
            <a:r>
              <a:rPr lang="en-US" dirty="0"/>
              <a:t>Joan Miró COMPOSITION</a:t>
            </a:r>
            <a:br>
              <a:rPr lang="en-US" dirty="0"/>
            </a:br>
            <a:r>
              <a:rPr lang="en-US" dirty="0"/>
              <a:t>1933. Oil on canvas, 51-3/8</a:t>
            </a:r>
            <a:r>
              <a:rPr lang="ru-RU" dirty="0"/>
              <a:t>"</a:t>
            </a:r>
            <a:r>
              <a:rPr lang="en-US" dirty="0"/>
              <a:t> × 64-1/8</a:t>
            </a:r>
            <a:r>
              <a:rPr lang="ru-RU" dirty="0"/>
              <a:t>"</a:t>
            </a:r>
            <a:r>
              <a:rPr lang="en-US" dirty="0"/>
              <a:t> (130.49 × 162.88 cm).</a:t>
            </a:r>
            <a:br>
              <a:rPr lang="en-US" dirty="0"/>
            </a:br>
            <a:r>
              <a:rPr lang="en-US" dirty="0"/>
              <a:t>Wadsworth Athenaeum, Hartford, Connecticut. The Ella Gallup Sumner and Mary Catlin Sumner Collection Fund, 1934.40.  © </a:t>
            </a:r>
            <a:r>
              <a:rPr lang="en-US" dirty="0" err="1"/>
              <a:t>Successió</a:t>
            </a:r>
            <a:r>
              <a:rPr lang="en-US" dirty="0"/>
              <a:t> Miró/Artists Rights Society (ARS), New York/ADAGP, Paris 2016. Photo: Allen Phillips/Wadsworth </a:t>
            </a:r>
            <a:r>
              <a:rPr lang="en-US" dirty="0" err="1"/>
              <a:t>Atheneum</a:t>
            </a:r>
            <a:r>
              <a:rPr lang="en-US" dirty="0"/>
              <a:t>.</a:t>
            </a:r>
          </a:p>
        </p:txBody>
      </p:sp>
      <p:sp>
        <p:nvSpPr>
          <p:cNvPr id="209923" name="Slide Number Placeholder 3"/>
          <p:cNvSpPr>
            <a:spLocks noGrp="1"/>
          </p:cNvSpPr>
          <p:nvPr>
            <p:ph type="sldNum" sz="quarter" idx="5"/>
          </p:nvPr>
        </p:nvSpPr>
        <p:spPr bwMode="auto">
          <a:noFill/>
          <a:ln>
            <a:miter lim="800000"/>
            <a:headEnd/>
            <a:tailEnd/>
          </a:ln>
        </p:spPr>
        <p:txBody>
          <a:bodyPr/>
          <a:lstStyle/>
          <a:p>
            <a:fld id="{466D8A4F-0B0F-8946-928C-F922B5F2ABC1}" type="slidenum">
              <a:rPr lang="en-US"/>
              <a:pPr/>
              <a:t>34</a:t>
            </a:fld>
            <a:endParaRPr lang="en-US"/>
          </a:p>
        </p:txBody>
      </p:sp>
    </p:spTree>
    <p:extLst>
      <p:ext uri="{BB962C8B-B14F-4D97-AF65-F5344CB8AC3E}">
        <p14:creationId xmlns:p14="http://schemas.microsoft.com/office/powerpoint/2010/main" val="1001850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Slide Image Placeholder 1"/>
          <p:cNvSpPr>
            <a:spLocks noGrp="1" noRot="1" noChangeAspect="1" noTextEdit="1"/>
          </p:cNvSpPr>
          <p:nvPr>
            <p:ph type="sldImg"/>
          </p:nvPr>
        </p:nvSpPr>
        <p:spPr bwMode="auto">
          <a:noFill/>
          <a:ln>
            <a:solidFill>
              <a:srgbClr val="000000"/>
            </a:solidFill>
            <a:miter lim="800000"/>
            <a:headEnd/>
            <a:tailEnd/>
          </a:ln>
        </p:spPr>
      </p:sp>
      <p:sp>
        <p:nvSpPr>
          <p:cNvPr id="212994" name="Notes Placeholder 2"/>
          <p:cNvSpPr>
            <a:spLocks noGrp="1"/>
          </p:cNvSpPr>
          <p:nvPr>
            <p:ph type="body" idx="1"/>
          </p:nvPr>
        </p:nvSpPr>
        <p:spPr bwMode="auto">
          <a:noFill/>
        </p:spPr>
        <p:txBody>
          <a:bodyPr/>
          <a:lstStyle/>
          <a:p>
            <a:pPr>
              <a:spcBef>
                <a:spcPct val="0"/>
              </a:spcBef>
            </a:pPr>
            <a:r>
              <a:rPr lang="en-US" dirty="0"/>
              <a:t>Barbara Hepworth FORMS IN ECHELON</a:t>
            </a:r>
            <a:br>
              <a:rPr lang="en-US" dirty="0"/>
            </a:br>
            <a:r>
              <a:rPr lang="en-US" dirty="0"/>
              <a:t>1938. Wood, 42-1/2</a:t>
            </a:r>
            <a:r>
              <a:rPr lang="ru-RU" dirty="0"/>
              <a:t>"</a:t>
            </a:r>
            <a:r>
              <a:rPr lang="en-US" dirty="0"/>
              <a:t> × 23-2/3</a:t>
            </a:r>
            <a:r>
              <a:rPr lang="ru-RU" dirty="0"/>
              <a:t>"</a:t>
            </a:r>
            <a:r>
              <a:rPr lang="en-US" dirty="0"/>
              <a:t> × 28</a:t>
            </a:r>
            <a:r>
              <a:rPr lang="ru-RU" dirty="0"/>
              <a:t>"</a:t>
            </a:r>
            <a:r>
              <a:rPr lang="en-US" dirty="0"/>
              <a:t> (108 × 60 × 71 cm).</a:t>
            </a:r>
            <a:br>
              <a:rPr lang="en-US" dirty="0"/>
            </a:br>
            <a:r>
              <a:rPr lang="en-US" dirty="0"/>
              <a:t>Tate, London. Presented by the artist 1964. Works by Barbara Hepworth copyright Bowness. © Tate, London 2016. </a:t>
            </a:r>
          </a:p>
        </p:txBody>
      </p:sp>
      <p:sp>
        <p:nvSpPr>
          <p:cNvPr id="212995" name="Slide Number Placeholder 3"/>
          <p:cNvSpPr>
            <a:spLocks noGrp="1"/>
          </p:cNvSpPr>
          <p:nvPr>
            <p:ph type="sldNum" sz="quarter" idx="5"/>
          </p:nvPr>
        </p:nvSpPr>
        <p:spPr bwMode="auto">
          <a:noFill/>
          <a:ln>
            <a:miter lim="800000"/>
            <a:headEnd/>
            <a:tailEnd/>
          </a:ln>
        </p:spPr>
        <p:txBody>
          <a:bodyPr/>
          <a:lstStyle/>
          <a:p>
            <a:fld id="{4D603E3E-A04E-7C46-92BA-8DB0E5641C3E}" type="slidenum">
              <a:rPr lang="en-US"/>
              <a:pPr/>
              <a:t>36</a:t>
            </a:fld>
            <a:endParaRPr lang="en-US"/>
          </a:p>
        </p:txBody>
      </p:sp>
    </p:spTree>
    <p:extLst>
      <p:ext uri="{BB962C8B-B14F-4D97-AF65-F5344CB8AC3E}">
        <p14:creationId xmlns:p14="http://schemas.microsoft.com/office/powerpoint/2010/main" val="1824686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Slide Image Placeholder 1"/>
          <p:cNvSpPr>
            <a:spLocks noGrp="1" noRot="1" noChangeAspect="1" noTextEdit="1"/>
          </p:cNvSpPr>
          <p:nvPr>
            <p:ph type="sldImg"/>
          </p:nvPr>
        </p:nvSpPr>
        <p:spPr bwMode="auto">
          <a:noFill/>
          <a:ln>
            <a:solidFill>
              <a:srgbClr val="000000"/>
            </a:solidFill>
            <a:miter lim="800000"/>
            <a:headEnd/>
            <a:tailEnd/>
          </a:ln>
        </p:spPr>
      </p:sp>
      <p:sp>
        <p:nvSpPr>
          <p:cNvPr id="216066" name="Notes Placeholder 2"/>
          <p:cNvSpPr>
            <a:spLocks noGrp="1"/>
          </p:cNvSpPr>
          <p:nvPr>
            <p:ph type="body" idx="1"/>
          </p:nvPr>
        </p:nvSpPr>
        <p:spPr bwMode="auto">
          <a:noFill/>
        </p:spPr>
        <p:txBody>
          <a:bodyPr/>
          <a:lstStyle/>
          <a:p>
            <a:pPr>
              <a:spcBef>
                <a:spcPct val="0"/>
              </a:spcBef>
            </a:pPr>
            <a:r>
              <a:rPr lang="en-US" dirty="0"/>
              <a:t>Henry Moore RECUMBENT FIGURE</a:t>
            </a:r>
            <a:br>
              <a:rPr lang="en-US" dirty="0"/>
            </a:br>
            <a:r>
              <a:rPr lang="en-US" dirty="0"/>
              <a:t>1938. Green </a:t>
            </a:r>
            <a:r>
              <a:rPr lang="en-US" dirty="0" err="1"/>
              <a:t>Hornton</a:t>
            </a:r>
            <a:r>
              <a:rPr lang="en-US" dirty="0"/>
              <a:t> stone, 35</a:t>
            </a:r>
            <a:r>
              <a:rPr lang="ru-RU" dirty="0"/>
              <a:t>"</a:t>
            </a:r>
            <a:r>
              <a:rPr lang="en-US" dirty="0"/>
              <a:t> × 52</a:t>
            </a:r>
            <a:r>
              <a:rPr lang="ru-RU" dirty="0"/>
              <a:t>"</a:t>
            </a:r>
            <a:r>
              <a:rPr lang="en-US" dirty="0"/>
              <a:t> × 29</a:t>
            </a:r>
            <a:r>
              <a:rPr lang="ru-RU" dirty="0"/>
              <a:t>"</a:t>
            </a:r>
            <a:r>
              <a:rPr lang="en-US" dirty="0"/>
              <a:t> (88.9 × 132.7 × 73.7 cm).</a:t>
            </a:r>
            <a:br>
              <a:rPr lang="en-US" dirty="0"/>
            </a:br>
            <a:r>
              <a:rPr lang="en-US" dirty="0"/>
              <a:t>Tate, London. © The Henry Moore Foundation. All Rights Reserved, DACS 2016/</a:t>
            </a:r>
            <a:r>
              <a:rPr lang="en-US" dirty="0" err="1"/>
              <a:t>www.henry-moore.org</a:t>
            </a:r>
            <a:r>
              <a:rPr lang="en-US" dirty="0"/>
              <a:t>. Reproduced by permission of The Henry Moore Foundation. © Tate, London 2016. </a:t>
            </a:r>
          </a:p>
        </p:txBody>
      </p:sp>
      <p:sp>
        <p:nvSpPr>
          <p:cNvPr id="216067" name="Slide Number Placeholder 3"/>
          <p:cNvSpPr>
            <a:spLocks noGrp="1"/>
          </p:cNvSpPr>
          <p:nvPr>
            <p:ph type="sldNum" sz="quarter" idx="5"/>
          </p:nvPr>
        </p:nvSpPr>
        <p:spPr bwMode="auto">
          <a:noFill/>
          <a:ln>
            <a:miter lim="800000"/>
            <a:headEnd/>
            <a:tailEnd/>
          </a:ln>
        </p:spPr>
        <p:txBody>
          <a:bodyPr/>
          <a:lstStyle/>
          <a:p>
            <a:fld id="{686C7D7A-D210-C940-B6E8-ECBA8CB26921}" type="slidenum">
              <a:rPr lang="en-US"/>
              <a:pPr/>
              <a:t>38</a:t>
            </a:fld>
            <a:endParaRPr lang="en-US"/>
          </a:p>
        </p:txBody>
      </p:sp>
    </p:spTree>
    <p:extLst>
      <p:ext uri="{BB962C8B-B14F-4D97-AF65-F5344CB8AC3E}">
        <p14:creationId xmlns:p14="http://schemas.microsoft.com/office/powerpoint/2010/main" val="14477617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Slide Image Placeholder 1"/>
          <p:cNvSpPr>
            <a:spLocks noGrp="1" noRot="1" noChangeAspect="1" noTextEdit="1"/>
          </p:cNvSpPr>
          <p:nvPr>
            <p:ph type="sldImg"/>
          </p:nvPr>
        </p:nvSpPr>
        <p:spPr bwMode="auto">
          <a:noFill/>
          <a:ln>
            <a:solidFill>
              <a:srgbClr val="000000"/>
            </a:solidFill>
            <a:miter lim="800000"/>
            <a:headEnd/>
            <a:tailEnd/>
          </a:ln>
        </p:spPr>
      </p:sp>
      <p:sp>
        <p:nvSpPr>
          <p:cNvPr id="219138" name="Notes Placeholder 2"/>
          <p:cNvSpPr>
            <a:spLocks noGrp="1"/>
          </p:cNvSpPr>
          <p:nvPr>
            <p:ph type="body" idx="1"/>
          </p:nvPr>
        </p:nvSpPr>
        <p:spPr bwMode="auto">
          <a:noFill/>
        </p:spPr>
        <p:txBody>
          <a:bodyPr/>
          <a:lstStyle/>
          <a:p>
            <a:pPr>
              <a:spcBef>
                <a:spcPct val="0"/>
              </a:spcBef>
            </a:pPr>
            <a:r>
              <a:rPr lang="en-US" dirty="0">
                <a:solidFill>
                  <a:schemeClr val="bg1"/>
                </a:solidFill>
                <a:latin typeface="Verdana" charset="0"/>
              </a:rPr>
              <a:t>RUINS OF GUERNICA, SPAIN</a:t>
            </a:r>
            <a:br>
              <a:rPr lang="en-US" dirty="0">
                <a:solidFill>
                  <a:schemeClr val="bg1"/>
                </a:solidFill>
                <a:latin typeface="Verdana" charset="0"/>
              </a:rPr>
            </a:br>
            <a:r>
              <a:rPr lang="en-US" dirty="0">
                <a:solidFill>
                  <a:schemeClr val="bg1"/>
                </a:solidFill>
                <a:latin typeface="Verdana" charset="0"/>
              </a:rPr>
              <a:t>April 1937.</a:t>
            </a:r>
            <a:endParaRPr lang="en-US" dirty="0"/>
          </a:p>
        </p:txBody>
      </p:sp>
      <p:sp>
        <p:nvSpPr>
          <p:cNvPr id="219139" name="Slide Number Placeholder 3"/>
          <p:cNvSpPr>
            <a:spLocks noGrp="1"/>
          </p:cNvSpPr>
          <p:nvPr>
            <p:ph type="sldNum" sz="quarter" idx="5"/>
          </p:nvPr>
        </p:nvSpPr>
        <p:spPr bwMode="auto">
          <a:noFill/>
          <a:ln>
            <a:miter lim="800000"/>
            <a:headEnd/>
            <a:tailEnd/>
          </a:ln>
        </p:spPr>
        <p:txBody>
          <a:bodyPr/>
          <a:lstStyle/>
          <a:p>
            <a:fld id="{D95C0F6D-8E62-C844-B630-A9F56512A07F}" type="slidenum">
              <a:rPr lang="en-US"/>
              <a:pPr/>
              <a:t>40</a:t>
            </a:fld>
            <a:endParaRPr lang="en-US"/>
          </a:p>
        </p:txBody>
      </p:sp>
    </p:spTree>
    <p:extLst>
      <p:ext uri="{BB962C8B-B14F-4D97-AF65-F5344CB8AC3E}">
        <p14:creationId xmlns:p14="http://schemas.microsoft.com/office/powerpoint/2010/main" val="1542347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Slide Image Placeholder 1"/>
          <p:cNvSpPr>
            <a:spLocks noGrp="1" noRot="1" noChangeAspect="1" noTextEdit="1"/>
          </p:cNvSpPr>
          <p:nvPr>
            <p:ph type="sldImg"/>
          </p:nvPr>
        </p:nvSpPr>
        <p:spPr bwMode="auto">
          <a:noFill/>
          <a:ln>
            <a:solidFill>
              <a:srgbClr val="000000"/>
            </a:solidFill>
            <a:miter lim="800000"/>
            <a:headEnd/>
            <a:tailEnd/>
          </a:ln>
        </p:spPr>
      </p:sp>
      <p:sp>
        <p:nvSpPr>
          <p:cNvPr id="221186" name="Notes Placeholder 2"/>
          <p:cNvSpPr>
            <a:spLocks noGrp="1"/>
          </p:cNvSpPr>
          <p:nvPr>
            <p:ph type="body" idx="1"/>
          </p:nvPr>
        </p:nvSpPr>
        <p:spPr bwMode="auto">
          <a:noFill/>
        </p:spPr>
        <p:txBody>
          <a:bodyPr/>
          <a:lstStyle/>
          <a:p>
            <a:pPr>
              <a:spcBef>
                <a:spcPct val="0"/>
              </a:spcBef>
            </a:pPr>
            <a:r>
              <a:rPr lang="en-US" dirty="0">
                <a:latin typeface="Verdana" charset="0"/>
              </a:rPr>
              <a:t>Pablo Picasso GUERNICA</a:t>
            </a:r>
            <a:br>
              <a:rPr lang="en-US" dirty="0">
                <a:latin typeface="Verdana" charset="0"/>
              </a:rPr>
            </a:br>
            <a:r>
              <a:rPr lang="en-US" dirty="0">
                <a:latin typeface="Verdana" charset="0"/>
              </a:rPr>
              <a:t>1937. Oil on canvas, 11</a:t>
            </a:r>
            <a:r>
              <a:rPr lang="uk-UA" dirty="0">
                <a:latin typeface="Verdana" charset="0"/>
              </a:rPr>
              <a:t>'</a:t>
            </a:r>
            <a:r>
              <a:rPr lang="en-US" dirty="0">
                <a:latin typeface="Verdana" charset="0"/>
              </a:rPr>
              <a:t>6</a:t>
            </a:r>
            <a:r>
              <a:rPr lang="ru-RU" dirty="0">
                <a:latin typeface="Verdana" charset="0"/>
              </a:rPr>
              <a:t>"</a:t>
            </a:r>
            <a:r>
              <a:rPr lang="en-US" dirty="0">
                <a:latin typeface="Verdana" charset="0"/>
              </a:rPr>
              <a:t> × 25</a:t>
            </a:r>
            <a:r>
              <a:rPr lang="uk-UA" dirty="0">
                <a:latin typeface="Verdana" charset="0"/>
              </a:rPr>
              <a:t>'</a:t>
            </a:r>
            <a:r>
              <a:rPr lang="en-US" dirty="0">
                <a:latin typeface="Verdana" charset="0"/>
              </a:rPr>
              <a:t>8</a:t>
            </a:r>
            <a:r>
              <a:rPr lang="ru-RU" dirty="0">
                <a:latin typeface="Verdana" charset="0"/>
              </a:rPr>
              <a:t>"</a:t>
            </a:r>
            <a:r>
              <a:rPr lang="en-US" dirty="0">
                <a:latin typeface="Verdana" charset="0"/>
              </a:rPr>
              <a:t> (3.5 × 7.8 m).</a:t>
            </a:r>
            <a:br>
              <a:rPr lang="en-US" dirty="0">
                <a:latin typeface="Verdana" charset="0"/>
              </a:rPr>
            </a:br>
            <a:r>
              <a:rPr lang="en-US" dirty="0">
                <a:latin typeface="Verdana" charset="0"/>
              </a:rPr>
              <a:t>Museo Nacional Centro de </a:t>
            </a:r>
            <a:r>
              <a:rPr lang="en-US" dirty="0" err="1">
                <a:latin typeface="Verdana" charset="0"/>
              </a:rPr>
              <a:t>Arte</a:t>
            </a:r>
            <a:r>
              <a:rPr lang="en-US" dirty="0">
                <a:latin typeface="Verdana" charset="0"/>
              </a:rPr>
              <a:t> Reina Sofía, Madrid. On permanent loan from the Museo del Prado, Madrid. © 2016 Estate of Pablo Picasso/Artists Rights Society (ARS), New York.</a:t>
            </a:r>
            <a:endParaRPr lang="en-US" dirty="0"/>
          </a:p>
        </p:txBody>
      </p:sp>
      <p:sp>
        <p:nvSpPr>
          <p:cNvPr id="221187" name="Slide Number Placeholder 3"/>
          <p:cNvSpPr>
            <a:spLocks noGrp="1"/>
          </p:cNvSpPr>
          <p:nvPr>
            <p:ph type="sldNum" sz="quarter" idx="5"/>
          </p:nvPr>
        </p:nvSpPr>
        <p:spPr bwMode="auto">
          <a:noFill/>
          <a:ln>
            <a:miter lim="800000"/>
            <a:headEnd/>
            <a:tailEnd/>
          </a:ln>
        </p:spPr>
        <p:txBody>
          <a:bodyPr/>
          <a:lstStyle/>
          <a:p>
            <a:fld id="{C3089FF2-618C-854B-A08D-FED03E3FE6FF}" type="slidenum">
              <a:rPr lang="en-US"/>
              <a:pPr/>
              <a:t>41</a:t>
            </a:fld>
            <a:endParaRPr lang="en-US"/>
          </a:p>
        </p:txBody>
      </p:sp>
    </p:spTree>
    <p:extLst>
      <p:ext uri="{BB962C8B-B14F-4D97-AF65-F5344CB8AC3E}">
        <p14:creationId xmlns:p14="http://schemas.microsoft.com/office/powerpoint/2010/main" val="2113199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Slide Image Placeholder 1"/>
          <p:cNvSpPr>
            <a:spLocks noGrp="1" noRot="1" noChangeAspect="1" noTextEdit="1"/>
          </p:cNvSpPr>
          <p:nvPr>
            <p:ph type="sldImg"/>
          </p:nvPr>
        </p:nvSpPr>
        <p:spPr bwMode="auto">
          <a:noFill/>
          <a:ln>
            <a:solidFill>
              <a:srgbClr val="000000"/>
            </a:solidFill>
            <a:miter lim="800000"/>
            <a:headEnd/>
            <a:tailEnd/>
          </a:ln>
        </p:spPr>
      </p:sp>
      <p:sp>
        <p:nvSpPr>
          <p:cNvPr id="226306" name="Notes Placeholder 2"/>
          <p:cNvSpPr>
            <a:spLocks noGrp="1"/>
          </p:cNvSpPr>
          <p:nvPr>
            <p:ph type="body" idx="1"/>
          </p:nvPr>
        </p:nvSpPr>
        <p:spPr bwMode="auto">
          <a:noFill/>
        </p:spPr>
        <p:txBody>
          <a:bodyPr/>
          <a:lstStyle/>
          <a:p>
            <a:pPr>
              <a:spcBef>
                <a:spcPct val="0"/>
              </a:spcBef>
            </a:pPr>
            <a:r>
              <a:rPr lang="en-US" dirty="0">
                <a:latin typeface="Verdana" charset="0"/>
              </a:rPr>
              <a:t>James Van Der Zee COUPLE WEARING RACCOON COATS WITH A CADILLAC, TAKEN ON WEST 127TH STREET, HARLEM, NEW YORK</a:t>
            </a:r>
            <a:br>
              <a:rPr lang="en-US" dirty="0">
                <a:latin typeface="Verdana" charset="0"/>
              </a:rPr>
            </a:br>
            <a:r>
              <a:rPr lang="en-US" dirty="0">
                <a:latin typeface="Verdana" charset="0"/>
              </a:rPr>
              <a:t>1932. Gelatin-silver print.</a:t>
            </a:r>
            <a:br>
              <a:rPr lang="en-US" dirty="0">
                <a:latin typeface="Verdana" charset="0"/>
              </a:rPr>
            </a:br>
            <a:r>
              <a:rPr lang="en-US" dirty="0">
                <a:latin typeface="Verdana" charset="0"/>
              </a:rPr>
              <a:t>© Donna Mussenden </a:t>
            </a:r>
            <a:r>
              <a:rPr lang="en-US" dirty="0" err="1">
                <a:latin typeface="Verdana" charset="0"/>
              </a:rPr>
              <a:t>VanDerZee</a:t>
            </a:r>
            <a:r>
              <a:rPr lang="en-US" dirty="0">
                <a:latin typeface="Verdana" charset="0"/>
              </a:rPr>
              <a:t>. [Fig. 32-65</a:t>
            </a:r>
            <a:endParaRPr lang="en-US" dirty="0"/>
          </a:p>
        </p:txBody>
      </p:sp>
      <p:sp>
        <p:nvSpPr>
          <p:cNvPr id="226307" name="Slide Number Placeholder 3"/>
          <p:cNvSpPr>
            <a:spLocks noGrp="1"/>
          </p:cNvSpPr>
          <p:nvPr>
            <p:ph type="sldNum" sz="quarter" idx="5"/>
          </p:nvPr>
        </p:nvSpPr>
        <p:spPr bwMode="auto">
          <a:noFill/>
          <a:ln>
            <a:miter lim="800000"/>
            <a:headEnd/>
            <a:tailEnd/>
          </a:ln>
        </p:spPr>
        <p:txBody>
          <a:bodyPr/>
          <a:lstStyle/>
          <a:p>
            <a:fld id="{7E705902-3CFA-114D-BCAF-7E798841350F}" type="slidenum">
              <a:rPr lang="en-US"/>
              <a:pPr/>
              <a:t>45</a:t>
            </a:fld>
            <a:endParaRPr lang="en-US"/>
          </a:p>
        </p:txBody>
      </p:sp>
    </p:spTree>
    <p:extLst>
      <p:ext uri="{BB962C8B-B14F-4D97-AF65-F5344CB8AC3E}">
        <p14:creationId xmlns:p14="http://schemas.microsoft.com/office/powerpoint/2010/main" val="186455301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Slide Image Placeholder 1"/>
          <p:cNvSpPr>
            <a:spLocks noGrp="1" noRot="1" noChangeAspect="1" noTextEdit="1"/>
          </p:cNvSpPr>
          <p:nvPr>
            <p:ph type="sldImg"/>
          </p:nvPr>
        </p:nvSpPr>
        <p:spPr bwMode="auto">
          <a:noFill/>
          <a:ln>
            <a:solidFill>
              <a:srgbClr val="000000"/>
            </a:solidFill>
            <a:miter lim="800000"/>
            <a:headEnd/>
            <a:tailEnd/>
          </a:ln>
        </p:spPr>
      </p:sp>
      <p:sp>
        <p:nvSpPr>
          <p:cNvPr id="229378" name="Notes Placeholder 2"/>
          <p:cNvSpPr>
            <a:spLocks noGrp="1"/>
          </p:cNvSpPr>
          <p:nvPr>
            <p:ph type="body" idx="1"/>
          </p:nvPr>
        </p:nvSpPr>
        <p:spPr bwMode="auto">
          <a:noFill/>
        </p:spPr>
        <p:txBody>
          <a:bodyPr/>
          <a:lstStyle/>
          <a:p>
            <a:pPr>
              <a:spcBef>
                <a:spcPct val="0"/>
              </a:spcBef>
            </a:pPr>
            <a:r>
              <a:rPr lang="en-US" dirty="0">
                <a:latin typeface="Verdana" charset="0"/>
              </a:rPr>
              <a:t>Aaron Douglas ASPECTS OF NEGRO LIFE: FROM SLAVERY THROUGH RECONSTRUCTION</a:t>
            </a:r>
            <a:br>
              <a:rPr lang="en-US" dirty="0">
                <a:latin typeface="Verdana" charset="0"/>
              </a:rPr>
            </a:br>
            <a:r>
              <a:rPr lang="en-US" dirty="0">
                <a:latin typeface="Verdana" charset="0"/>
              </a:rPr>
              <a:t>1934. Oil on canvas, 5</a:t>
            </a:r>
            <a:r>
              <a:rPr lang="uk-UA" dirty="0">
                <a:latin typeface="Verdana" charset="0"/>
              </a:rPr>
              <a:t>'</a:t>
            </a:r>
            <a:r>
              <a:rPr lang="en-US" dirty="0">
                <a:latin typeface="Verdana" charset="0"/>
              </a:rPr>
              <a:t> × 11</a:t>
            </a:r>
            <a:r>
              <a:rPr lang="uk-UA" dirty="0">
                <a:latin typeface="Verdana" charset="0"/>
              </a:rPr>
              <a:t>'</a:t>
            </a:r>
            <a:r>
              <a:rPr lang="en-US" dirty="0">
                <a:latin typeface="Verdana" charset="0"/>
              </a:rPr>
              <a:t>7</a:t>
            </a:r>
            <a:r>
              <a:rPr lang="ru-RU" dirty="0">
                <a:latin typeface="Verdana" charset="0"/>
              </a:rPr>
              <a:t>"</a:t>
            </a:r>
            <a:r>
              <a:rPr lang="en-US" dirty="0">
                <a:latin typeface="Verdana" charset="0"/>
              </a:rPr>
              <a:t> (1.5 × 3.5 m).</a:t>
            </a:r>
            <a:br>
              <a:rPr lang="en-US" dirty="0">
                <a:latin typeface="Verdana" charset="0"/>
              </a:rPr>
            </a:br>
            <a:r>
              <a:rPr lang="en-US" dirty="0">
                <a:latin typeface="Verdana" charset="0"/>
              </a:rPr>
              <a:t>Schomburg Center for Research in Black Culture, New York Public Library. Art © Heirs of Aaron Douglas/Licensed by VAGA, New York, NY. Schomburg Center, NYPL/Art Resource, NY. </a:t>
            </a:r>
            <a:endParaRPr lang="en-US" dirty="0"/>
          </a:p>
        </p:txBody>
      </p:sp>
      <p:sp>
        <p:nvSpPr>
          <p:cNvPr id="229379" name="Slide Number Placeholder 3"/>
          <p:cNvSpPr>
            <a:spLocks noGrp="1"/>
          </p:cNvSpPr>
          <p:nvPr>
            <p:ph type="sldNum" sz="quarter" idx="5"/>
          </p:nvPr>
        </p:nvSpPr>
        <p:spPr bwMode="auto">
          <a:noFill/>
          <a:ln>
            <a:miter lim="800000"/>
            <a:headEnd/>
            <a:tailEnd/>
          </a:ln>
        </p:spPr>
        <p:txBody>
          <a:bodyPr/>
          <a:lstStyle/>
          <a:p>
            <a:fld id="{53606BDA-02E4-6348-BAC9-9461C4F15138}" type="slidenum">
              <a:rPr lang="en-US"/>
              <a:pPr/>
              <a:t>47</a:t>
            </a:fld>
            <a:endParaRPr lang="en-US"/>
          </a:p>
        </p:txBody>
      </p:sp>
    </p:spTree>
    <p:extLst>
      <p:ext uri="{BB962C8B-B14F-4D97-AF65-F5344CB8AC3E}">
        <p14:creationId xmlns:p14="http://schemas.microsoft.com/office/powerpoint/2010/main" val="146119650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Slide Image Placeholder 1"/>
          <p:cNvSpPr>
            <a:spLocks noGrp="1" noRot="1" noChangeAspect="1" noTextEdit="1"/>
          </p:cNvSpPr>
          <p:nvPr>
            <p:ph type="sldImg"/>
          </p:nvPr>
        </p:nvSpPr>
        <p:spPr bwMode="auto">
          <a:noFill/>
          <a:ln>
            <a:solidFill>
              <a:srgbClr val="000000"/>
            </a:solidFill>
            <a:miter lim="800000"/>
            <a:headEnd/>
            <a:tailEnd/>
          </a:ln>
        </p:spPr>
      </p:sp>
      <p:sp>
        <p:nvSpPr>
          <p:cNvPr id="232450" name="Notes Placeholder 2"/>
          <p:cNvSpPr>
            <a:spLocks noGrp="1"/>
          </p:cNvSpPr>
          <p:nvPr>
            <p:ph type="body" idx="1"/>
          </p:nvPr>
        </p:nvSpPr>
        <p:spPr bwMode="auto">
          <a:noFill/>
        </p:spPr>
        <p:txBody>
          <a:bodyPr/>
          <a:lstStyle/>
          <a:p>
            <a:pPr>
              <a:spcBef>
                <a:spcPct val="0"/>
              </a:spcBef>
            </a:pPr>
            <a:r>
              <a:rPr lang="en-US" dirty="0">
                <a:latin typeface="Verdana" charset="0"/>
              </a:rPr>
              <a:t>Augusta Savage LA CITADELLE: FREEDOM</a:t>
            </a:r>
            <a:br>
              <a:rPr lang="en-US" dirty="0">
                <a:latin typeface="Verdana" charset="0"/>
              </a:rPr>
            </a:br>
            <a:r>
              <a:rPr lang="en-US" dirty="0">
                <a:latin typeface="Verdana" charset="0"/>
              </a:rPr>
              <a:t>1930. Bronze, 14-1/2</a:t>
            </a:r>
            <a:r>
              <a:rPr lang="ru-RU" dirty="0">
                <a:latin typeface="Verdana" charset="0"/>
              </a:rPr>
              <a:t>"</a:t>
            </a:r>
            <a:r>
              <a:rPr lang="en-US" dirty="0">
                <a:latin typeface="Verdana" charset="0"/>
              </a:rPr>
              <a:t> × 7</a:t>
            </a:r>
            <a:r>
              <a:rPr lang="ru-RU" dirty="0">
                <a:latin typeface="Verdana" charset="0"/>
              </a:rPr>
              <a:t>"</a:t>
            </a:r>
            <a:r>
              <a:rPr lang="en-US" dirty="0">
                <a:latin typeface="Verdana" charset="0"/>
              </a:rPr>
              <a:t> × 6</a:t>
            </a:r>
            <a:r>
              <a:rPr lang="ru-RU" dirty="0">
                <a:latin typeface="Verdana" charset="0"/>
              </a:rPr>
              <a:t>"</a:t>
            </a:r>
            <a:r>
              <a:rPr lang="en-US" dirty="0">
                <a:latin typeface="Verdana" charset="0"/>
              </a:rPr>
              <a:t> (35.6 × 17.8 × 15.2 cm).</a:t>
            </a:r>
            <a:br>
              <a:rPr lang="en-US" dirty="0">
                <a:latin typeface="Verdana" charset="0"/>
              </a:rPr>
            </a:br>
            <a:r>
              <a:rPr lang="en-US" dirty="0">
                <a:latin typeface="Verdana" charset="0"/>
              </a:rPr>
              <a:t>Howard University Gallery of Art, Washington, DC. © Augusta Savage. </a:t>
            </a:r>
            <a:endParaRPr lang="en-US" dirty="0"/>
          </a:p>
        </p:txBody>
      </p:sp>
      <p:sp>
        <p:nvSpPr>
          <p:cNvPr id="232451" name="Slide Number Placeholder 3"/>
          <p:cNvSpPr>
            <a:spLocks noGrp="1"/>
          </p:cNvSpPr>
          <p:nvPr>
            <p:ph type="sldNum" sz="quarter" idx="5"/>
          </p:nvPr>
        </p:nvSpPr>
        <p:spPr bwMode="auto">
          <a:noFill/>
          <a:ln>
            <a:miter lim="800000"/>
            <a:headEnd/>
            <a:tailEnd/>
          </a:ln>
        </p:spPr>
        <p:txBody>
          <a:bodyPr/>
          <a:lstStyle/>
          <a:p>
            <a:fld id="{CB4B29DB-FB5B-6B45-A4BE-98BF842D4920}" type="slidenum">
              <a:rPr lang="en-US"/>
              <a:pPr/>
              <a:t>49</a:t>
            </a:fld>
            <a:endParaRPr lang="en-US"/>
          </a:p>
        </p:txBody>
      </p:sp>
    </p:spTree>
    <p:extLst>
      <p:ext uri="{BB962C8B-B14F-4D97-AF65-F5344CB8AC3E}">
        <p14:creationId xmlns:p14="http://schemas.microsoft.com/office/powerpoint/2010/main" val="18541056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Slide Image Placeholder 1"/>
          <p:cNvSpPr>
            <a:spLocks noGrp="1" noRot="1" noChangeAspect="1" noTextEdit="1"/>
          </p:cNvSpPr>
          <p:nvPr>
            <p:ph type="sldImg"/>
          </p:nvPr>
        </p:nvSpPr>
        <p:spPr bwMode="auto">
          <a:noFill/>
          <a:ln>
            <a:solidFill>
              <a:srgbClr val="000000"/>
            </a:solidFill>
            <a:miter lim="800000"/>
            <a:headEnd/>
            <a:tailEnd/>
          </a:ln>
        </p:spPr>
      </p:sp>
      <p:sp>
        <p:nvSpPr>
          <p:cNvPr id="234498" name="Notes Placeholder 2"/>
          <p:cNvSpPr>
            <a:spLocks noGrp="1"/>
          </p:cNvSpPr>
          <p:nvPr>
            <p:ph type="body" idx="1"/>
          </p:nvPr>
        </p:nvSpPr>
        <p:spPr bwMode="auto">
          <a:noFill/>
        </p:spPr>
        <p:txBody>
          <a:bodyPr/>
          <a:lstStyle/>
          <a:p>
            <a:pPr>
              <a:spcBef>
                <a:spcPct val="0"/>
              </a:spcBef>
            </a:pPr>
            <a:r>
              <a:rPr lang="en-US" dirty="0"/>
              <a:t>Jacob Lawrence THE MIGRATION SERIES, PANEL NO. 1: DURING WORLD WAR I THERE WAS A GREAT MIGRATION NORTH BY SOUTHERN AFRICAN AMERICANS</a:t>
            </a:r>
            <a:br>
              <a:rPr lang="en-US" dirty="0"/>
            </a:br>
            <a:r>
              <a:rPr lang="en-US" dirty="0"/>
              <a:t>1940–1941. Tempera on </a:t>
            </a:r>
            <a:r>
              <a:rPr lang="en-US" dirty="0" err="1"/>
              <a:t>masonite</a:t>
            </a:r>
            <a:r>
              <a:rPr lang="en-US" dirty="0"/>
              <a:t>, 12</a:t>
            </a:r>
            <a:r>
              <a:rPr lang="ru-RU" dirty="0"/>
              <a:t>"</a:t>
            </a:r>
            <a:r>
              <a:rPr lang="en-US" dirty="0"/>
              <a:t> × 18</a:t>
            </a:r>
            <a:r>
              <a:rPr lang="ru-RU" dirty="0"/>
              <a:t>"</a:t>
            </a:r>
            <a:r>
              <a:rPr lang="en-US" dirty="0"/>
              <a:t> (30.5 × 45.7 cm).</a:t>
            </a:r>
            <a:br>
              <a:rPr lang="en-US" dirty="0"/>
            </a:br>
            <a:r>
              <a:rPr lang="en-US" dirty="0"/>
              <a:t>The Phillips Collection, Washington, DC. © 2016 The Jacob and Gwendolyn Knight Lawrence Foundation, Seattle/Artists Rights Society (ARS), New York.</a:t>
            </a:r>
          </a:p>
        </p:txBody>
      </p:sp>
      <p:sp>
        <p:nvSpPr>
          <p:cNvPr id="234499" name="Slide Number Placeholder 3"/>
          <p:cNvSpPr>
            <a:spLocks noGrp="1"/>
          </p:cNvSpPr>
          <p:nvPr>
            <p:ph type="sldNum" sz="quarter" idx="5"/>
          </p:nvPr>
        </p:nvSpPr>
        <p:spPr bwMode="auto">
          <a:noFill/>
          <a:ln>
            <a:miter lim="800000"/>
            <a:headEnd/>
            <a:tailEnd/>
          </a:ln>
        </p:spPr>
        <p:txBody>
          <a:bodyPr/>
          <a:lstStyle/>
          <a:p>
            <a:fld id="{00E499CE-4DB2-8E42-83BC-6CC2EACBDAFE}" type="slidenum">
              <a:rPr lang="en-US"/>
              <a:pPr/>
              <a:t>50</a:t>
            </a:fld>
            <a:endParaRPr lang="en-US"/>
          </a:p>
        </p:txBody>
      </p:sp>
    </p:spTree>
    <p:extLst>
      <p:ext uri="{BB962C8B-B14F-4D97-AF65-F5344CB8AC3E}">
        <p14:creationId xmlns:p14="http://schemas.microsoft.com/office/powerpoint/2010/main" val="19662609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Slide Image Placeholder 1"/>
          <p:cNvSpPr>
            <a:spLocks noGrp="1" noRot="1" noChangeAspect="1" noTextEdit="1"/>
          </p:cNvSpPr>
          <p:nvPr>
            <p:ph type="sldImg"/>
          </p:nvPr>
        </p:nvSpPr>
        <p:spPr bwMode="auto">
          <a:noFill/>
          <a:ln>
            <a:solidFill>
              <a:srgbClr val="000000"/>
            </a:solidFill>
            <a:miter lim="800000"/>
            <a:headEnd/>
            <a:tailEnd/>
          </a:ln>
        </p:spPr>
      </p:sp>
      <p:sp>
        <p:nvSpPr>
          <p:cNvPr id="237570" name="Notes Placeholder 2"/>
          <p:cNvSpPr>
            <a:spLocks noGrp="1"/>
          </p:cNvSpPr>
          <p:nvPr>
            <p:ph type="body" idx="1"/>
          </p:nvPr>
        </p:nvSpPr>
        <p:spPr bwMode="auto">
          <a:noFill/>
        </p:spPr>
        <p:txBody>
          <a:bodyPr/>
          <a:lstStyle/>
          <a:p>
            <a:pPr>
              <a:spcBef>
                <a:spcPct val="0"/>
              </a:spcBef>
            </a:pPr>
            <a:r>
              <a:rPr lang="en-US" dirty="0">
                <a:latin typeface="Verdana" charset="0"/>
              </a:rPr>
              <a:t>Grant Wood AMERICAN GOTHIC</a:t>
            </a:r>
            <a:br>
              <a:rPr lang="en-US" dirty="0">
                <a:latin typeface="Verdana" charset="0"/>
              </a:rPr>
            </a:br>
            <a:r>
              <a:rPr lang="en-US" dirty="0">
                <a:latin typeface="Verdana" charset="0"/>
              </a:rPr>
              <a:t>1930. Oil on beaverboard, 29-7/8</a:t>
            </a:r>
            <a:r>
              <a:rPr lang="ru-RU" dirty="0">
                <a:latin typeface="Verdana" charset="0"/>
              </a:rPr>
              <a:t>"</a:t>
            </a:r>
            <a:r>
              <a:rPr lang="en-US" dirty="0">
                <a:latin typeface="Verdana" charset="0"/>
              </a:rPr>
              <a:t> × 24-7/8</a:t>
            </a:r>
            <a:r>
              <a:rPr lang="ru-RU" dirty="0">
                <a:latin typeface="Verdana" charset="0"/>
              </a:rPr>
              <a:t>"</a:t>
            </a:r>
            <a:r>
              <a:rPr lang="en-US" dirty="0">
                <a:latin typeface="Verdana" charset="0"/>
              </a:rPr>
              <a:t> (74.3 × 62.4 cm).</a:t>
            </a:r>
            <a:br>
              <a:rPr lang="en-US" dirty="0">
                <a:latin typeface="Verdana" charset="0"/>
              </a:rPr>
            </a:br>
            <a:r>
              <a:rPr lang="en-US" dirty="0">
                <a:latin typeface="Verdana" charset="0"/>
              </a:rPr>
              <a:t>The Art Institute of Chicago. Friends of American Art Collection, 1930.934. Art © </a:t>
            </a:r>
            <a:r>
              <a:rPr lang="en-US" dirty="0" err="1">
                <a:latin typeface="Verdana" charset="0"/>
              </a:rPr>
              <a:t>Figge</a:t>
            </a:r>
            <a:r>
              <a:rPr lang="en-US" dirty="0">
                <a:latin typeface="Verdana" charset="0"/>
              </a:rPr>
              <a:t> Art Museum, successors to the Estate of Nan Wood Graham/Licensed by VAGA, New York, NY. Photo © The Art Institute of Chicago</a:t>
            </a:r>
            <a:endParaRPr lang="en-US" dirty="0"/>
          </a:p>
        </p:txBody>
      </p:sp>
      <p:sp>
        <p:nvSpPr>
          <p:cNvPr id="237571" name="Slide Number Placeholder 3"/>
          <p:cNvSpPr>
            <a:spLocks noGrp="1"/>
          </p:cNvSpPr>
          <p:nvPr>
            <p:ph type="sldNum" sz="quarter" idx="5"/>
          </p:nvPr>
        </p:nvSpPr>
        <p:spPr bwMode="auto">
          <a:noFill/>
          <a:ln>
            <a:miter lim="800000"/>
            <a:headEnd/>
            <a:tailEnd/>
          </a:ln>
        </p:spPr>
        <p:txBody>
          <a:bodyPr/>
          <a:lstStyle/>
          <a:p>
            <a:fld id="{447708B3-A37E-CE48-BB00-183F4E1315AF}" type="slidenum">
              <a:rPr lang="en-US"/>
              <a:pPr/>
              <a:t>52</a:t>
            </a:fld>
            <a:endParaRPr lang="en-US"/>
          </a:p>
        </p:txBody>
      </p:sp>
    </p:spTree>
    <p:extLst>
      <p:ext uri="{BB962C8B-B14F-4D97-AF65-F5344CB8AC3E}">
        <p14:creationId xmlns:p14="http://schemas.microsoft.com/office/powerpoint/2010/main" val="146880475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Slide Image Placeholder 1"/>
          <p:cNvSpPr>
            <a:spLocks noGrp="1" noRot="1" noChangeAspect="1" noTextEdit="1"/>
          </p:cNvSpPr>
          <p:nvPr>
            <p:ph type="sldImg"/>
          </p:nvPr>
        </p:nvSpPr>
        <p:spPr bwMode="auto">
          <a:noFill/>
          <a:ln>
            <a:solidFill>
              <a:srgbClr val="000000"/>
            </a:solidFill>
            <a:miter lim="800000"/>
            <a:headEnd/>
            <a:tailEnd/>
          </a:ln>
        </p:spPr>
      </p:sp>
      <p:sp>
        <p:nvSpPr>
          <p:cNvPr id="240642" name="Notes Placeholder 2"/>
          <p:cNvSpPr>
            <a:spLocks noGrp="1"/>
          </p:cNvSpPr>
          <p:nvPr>
            <p:ph type="body" idx="1"/>
          </p:nvPr>
        </p:nvSpPr>
        <p:spPr bwMode="auto">
          <a:noFill/>
        </p:spPr>
        <p:txBody>
          <a:bodyPr/>
          <a:lstStyle/>
          <a:p>
            <a:pPr>
              <a:spcBef>
                <a:spcPct val="0"/>
              </a:spcBef>
            </a:pPr>
            <a:r>
              <a:rPr lang="en-US" dirty="0"/>
              <a:t>Dorothea Lange MIGRANT MOTHER, NIPOMO, CALIFORNIA</a:t>
            </a:r>
            <a:br>
              <a:rPr lang="en-US" dirty="0"/>
            </a:br>
            <a:r>
              <a:rPr lang="en-US" dirty="0"/>
              <a:t>February 1936. Gelatin-silver print. Library of Congress, Washington, DC. Courtesy the Library of Congress. </a:t>
            </a:r>
          </a:p>
        </p:txBody>
      </p:sp>
      <p:sp>
        <p:nvSpPr>
          <p:cNvPr id="240643" name="Slide Number Placeholder 3"/>
          <p:cNvSpPr>
            <a:spLocks noGrp="1"/>
          </p:cNvSpPr>
          <p:nvPr>
            <p:ph type="sldNum" sz="quarter" idx="5"/>
          </p:nvPr>
        </p:nvSpPr>
        <p:spPr bwMode="auto">
          <a:noFill/>
          <a:ln>
            <a:miter lim="800000"/>
            <a:headEnd/>
            <a:tailEnd/>
          </a:ln>
        </p:spPr>
        <p:txBody>
          <a:bodyPr/>
          <a:lstStyle/>
          <a:p>
            <a:fld id="{01D5A390-4EA9-1643-9E85-A1B90E03D5CA}" type="slidenum">
              <a:rPr lang="en-US"/>
              <a:pPr/>
              <a:t>54</a:t>
            </a:fld>
            <a:endParaRPr lang="en-US"/>
          </a:p>
        </p:txBody>
      </p:sp>
    </p:spTree>
    <p:extLst>
      <p:ext uri="{BB962C8B-B14F-4D97-AF65-F5344CB8AC3E}">
        <p14:creationId xmlns:p14="http://schemas.microsoft.com/office/powerpoint/2010/main" val="8769950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Slide Image Placeholder 1"/>
          <p:cNvSpPr>
            <a:spLocks noGrp="1" noRot="1" noChangeAspect="1" noTextEdit="1"/>
          </p:cNvSpPr>
          <p:nvPr>
            <p:ph type="sldImg"/>
          </p:nvPr>
        </p:nvSpPr>
        <p:spPr bwMode="auto">
          <a:noFill/>
          <a:ln>
            <a:solidFill>
              <a:srgbClr val="000000"/>
            </a:solidFill>
            <a:miter lim="800000"/>
            <a:headEnd/>
            <a:tailEnd/>
          </a:ln>
        </p:spPr>
      </p:sp>
      <p:sp>
        <p:nvSpPr>
          <p:cNvPr id="244738" name="Notes Placeholder 2"/>
          <p:cNvSpPr>
            <a:spLocks noGrp="1"/>
          </p:cNvSpPr>
          <p:nvPr>
            <p:ph type="body" idx="1"/>
          </p:nvPr>
        </p:nvSpPr>
        <p:spPr bwMode="auto">
          <a:noFill/>
        </p:spPr>
        <p:txBody>
          <a:bodyPr/>
          <a:lstStyle/>
          <a:p>
            <a:pPr>
              <a:spcBef>
                <a:spcPct val="0"/>
              </a:spcBef>
            </a:pPr>
            <a:r>
              <a:rPr lang="en-US" dirty="0"/>
              <a:t>Tom Thomson THE WEST WIND</a:t>
            </a:r>
            <a:br>
              <a:rPr lang="en-US" dirty="0"/>
            </a:br>
            <a:r>
              <a:rPr lang="en-US" dirty="0"/>
              <a:t>Winter 1916/1917. Oil on canvas, 451⁄2 × 54″ (120.7 × 137.9 cm).</a:t>
            </a:r>
            <a:br>
              <a:rPr lang="en-US" dirty="0"/>
            </a:br>
            <a:r>
              <a:rPr lang="en-US" dirty="0"/>
              <a:t>Art Gallery of Ontario, Toronto. Gift of Canadian Club of Toronto, 1926 #784. © </a:t>
            </a:r>
            <a:r>
              <a:rPr lang="en-US" dirty="0" err="1"/>
              <a:t>akg</a:t>
            </a:r>
            <a:r>
              <a:rPr lang="en-US" dirty="0"/>
              <a:t>-images.</a:t>
            </a:r>
          </a:p>
        </p:txBody>
      </p:sp>
      <p:sp>
        <p:nvSpPr>
          <p:cNvPr id="244739" name="Slide Number Placeholder 3"/>
          <p:cNvSpPr>
            <a:spLocks noGrp="1"/>
          </p:cNvSpPr>
          <p:nvPr>
            <p:ph type="sldNum" sz="quarter" idx="5"/>
          </p:nvPr>
        </p:nvSpPr>
        <p:spPr bwMode="auto">
          <a:noFill/>
          <a:ln>
            <a:miter lim="800000"/>
            <a:headEnd/>
            <a:tailEnd/>
          </a:ln>
        </p:spPr>
        <p:txBody>
          <a:bodyPr/>
          <a:lstStyle/>
          <a:p>
            <a:fld id="{D0118DBD-4BA7-8A41-97EB-6299A29F25E5}" type="slidenum">
              <a:rPr lang="en-US"/>
              <a:pPr/>
              <a:t>57</a:t>
            </a:fld>
            <a:endParaRPr lang="en-US"/>
          </a:p>
        </p:txBody>
      </p:sp>
    </p:spTree>
    <p:extLst>
      <p:ext uri="{BB962C8B-B14F-4D97-AF65-F5344CB8AC3E}">
        <p14:creationId xmlns:p14="http://schemas.microsoft.com/office/powerpoint/2010/main" val="147503177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Slide Image Placeholder 1"/>
          <p:cNvSpPr>
            <a:spLocks noGrp="1" noRot="1" noChangeAspect="1" noTextEdit="1"/>
          </p:cNvSpPr>
          <p:nvPr>
            <p:ph type="sldImg"/>
          </p:nvPr>
        </p:nvSpPr>
        <p:spPr bwMode="auto">
          <a:noFill/>
          <a:ln>
            <a:solidFill>
              <a:srgbClr val="000000"/>
            </a:solidFill>
            <a:miter lim="800000"/>
            <a:headEnd/>
            <a:tailEnd/>
          </a:ln>
        </p:spPr>
      </p:sp>
      <p:sp>
        <p:nvSpPr>
          <p:cNvPr id="247810" name="Notes Placeholder 2"/>
          <p:cNvSpPr>
            <a:spLocks noGrp="1"/>
          </p:cNvSpPr>
          <p:nvPr>
            <p:ph type="body" idx="1"/>
          </p:nvPr>
        </p:nvSpPr>
        <p:spPr bwMode="auto">
          <a:noFill/>
        </p:spPr>
        <p:txBody>
          <a:bodyPr/>
          <a:lstStyle/>
          <a:p>
            <a:pPr>
              <a:spcBef>
                <a:spcPct val="0"/>
              </a:spcBef>
            </a:pPr>
            <a:r>
              <a:rPr lang="en-US" dirty="0"/>
              <a:t>Emily </a:t>
            </a:r>
            <a:r>
              <a:rPr lang="en-US" dirty="0" err="1"/>
              <a:t>Carr</a:t>
            </a:r>
            <a:r>
              <a:rPr lang="en-US" dirty="0"/>
              <a:t> BIG RAVEN</a:t>
            </a:r>
            <a:br>
              <a:rPr lang="en-US" dirty="0"/>
            </a:br>
            <a:r>
              <a:rPr lang="en-US" dirty="0"/>
              <a:t>1931. Oil on canvas, 34-1/4</a:t>
            </a:r>
            <a:r>
              <a:rPr lang="ru-RU" dirty="0"/>
              <a:t>"</a:t>
            </a:r>
            <a:r>
              <a:rPr lang="en-US" dirty="0"/>
              <a:t> × 44-7/8</a:t>
            </a:r>
            <a:r>
              <a:rPr lang="ru-RU" dirty="0"/>
              <a:t>"</a:t>
            </a:r>
            <a:r>
              <a:rPr lang="en-US" dirty="0"/>
              <a:t> (87 × 114 cm).</a:t>
            </a:r>
            <a:br>
              <a:rPr lang="en-US" dirty="0"/>
            </a:br>
            <a:r>
              <a:rPr lang="en-US" dirty="0"/>
              <a:t>Collection of the Vancouver Art Gallery, Emily </a:t>
            </a:r>
            <a:r>
              <a:rPr lang="en-US" dirty="0" err="1"/>
              <a:t>Carr</a:t>
            </a:r>
            <a:r>
              <a:rPr lang="en-US" dirty="0"/>
              <a:t> Trust. Vancouver Art Gallery, Photo: Trevor Mills .</a:t>
            </a:r>
          </a:p>
        </p:txBody>
      </p:sp>
      <p:sp>
        <p:nvSpPr>
          <p:cNvPr id="247811" name="Slide Number Placeholder 3"/>
          <p:cNvSpPr>
            <a:spLocks noGrp="1"/>
          </p:cNvSpPr>
          <p:nvPr>
            <p:ph type="sldNum" sz="quarter" idx="5"/>
          </p:nvPr>
        </p:nvSpPr>
        <p:spPr bwMode="auto">
          <a:noFill/>
          <a:ln>
            <a:miter lim="800000"/>
            <a:headEnd/>
            <a:tailEnd/>
          </a:ln>
        </p:spPr>
        <p:txBody>
          <a:bodyPr/>
          <a:lstStyle/>
          <a:p>
            <a:fld id="{95460927-E77C-5C4B-90A1-2EE844BDDF19}" type="slidenum">
              <a:rPr lang="en-US"/>
              <a:pPr/>
              <a:t>59</a:t>
            </a:fld>
            <a:endParaRPr lang="en-US"/>
          </a:p>
        </p:txBody>
      </p:sp>
    </p:spTree>
    <p:extLst>
      <p:ext uri="{BB962C8B-B14F-4D97-AF65-F5344CB8AC3E}">
        <p14:creationId xmlns:p14="http://schemas.microsoft.com/office/powerpoint/2010/main" val="30788868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Slide Image Placeholder 1"/>
          <p:cNvSpPr>
            <a:spLocks noGrp="1" noRot="1" noChangeAspect="1" noTextEdit="1"/>
          </p:cNvSpPr>
          <p:nvPr>
            <p:ph type="sldImg"/>
          </p:nvPr>
        </p:nvSpPr>
        <p:spPr bwMode="auto">
          <a:noFill/>
          <a:ln>
            <a:solidFill>
              <a:srgbClr val="000000"/>
            </a:solidFill>
            <a:miter lim="800000"/>
            <a:headEnd/>
            <a:tailEnd/>
          </a:ln>
        </p:spPr>
      </p:sp>
      <p:sp>
        <p:nvSpPr>
          <p:cNvPr id="251906" name="Notes Placeholder 2"/>
          <p:cNvSpPr>
            <a:spLocks noGrp="1"/>
          </p:cNvSpPr>
          <p:nvPr>
            <p:ph type="body" idx="1"/>
          </p:nvPr>
        </p:nvSpPr>
        <p:spPr bwMode="auto">
          <a:noFill/>
        </p:spPr>
        <p:txBody>
          <a:bodyPr/>
          <a:lstStyle/>
          <a:p>
            <a:pPr>
              <a:spcBef>
                <a:spcPct val="0"/>
              </a:spcBef>
            </a:pPr>
            <a:r>
              <a:rPr lang="en-US" dirty="0">
                <a:latin typeface="Verdana" charset="0"/>
              </a:rPr>
              <a:t>Diego Rivera THE GREAT CITY OF TENOCHTITLAN (DETAIL)</a:t>
            </a:r>
            <a:br>
              <a:rPr lang="en-US" dirty="0">
                <a:latin typeface="Verdana" charset="0"/>
              </a:rPr>
            </a:br>
            <a:r>
              <a:rPr lang="en-US" dirty="0">
                <a:latin typeface="Verdana" charset="0"/>
              </a:rPr>
              <a:t>Mural in patio corridor, National Palace, Mexico City. 1945.</a:t>
            </a:r>
            <a:br>
              <a:rPr lang="en-US" dirty="0">
                <a:latin typeface="Verdana" charset="0"/>
              </a:rPr>
            </a:br>
            <a:r>
              <a:rPr lang="en-US" dirty="0">
                <a:latin typeface="Verdana" charset="0"/>
              </a:rPr>
              <a:t>Fresco, 16</a:t>
            </a:r>
            <a:r>
              <a:rPr lang="uk-UA" dirty="0">
                <a:latin typeface="Verdana" charset="0"/>
              </a:rPr>
              <a:t>'</a:t>
            </a:r>
            <a:r>
              <a:rPr lang="en-US" dirty="0">
                <a:latin typeface="Verdana" charset="0"/>
              </a:rPr>
              <a:t>1-3/4</a:t>
            </a:r>
            <a:r>
              <a:rPr lang="ru-RU" dirty="0">
                <a:latin typeface="Verdana" charset="0"/>
              </a:rPr>
              <a:t>"</a:t>
            </a:r>
            <a:r>
              <a:rPr lang="en-US" dirty="0">
                <a:latin typeface="Verdana" charset="0"/>
              </a:rPr>
              <a:t> × 31</a:t>
            </a:r>
            <a:r>
              <a:rPr lang="uk-UA" dirty="0">
                <a:latin typeface="Verdana" charset="0"/>
              </a:rPr>
              <a:t>'</a:t>
            </a:r>
            <a:r>
              <a:rPr lang="en-US" dirty="0">
                <a:latin typeface="Verdana" charset="0"/>
              </a:rPr>
              <a:t>10-1/4</a:t>
            </a:r>
            <a:r>
              <a:rPr lang="ru-RU" dirty="0">
                <a:latin typeface="Verdana" charset="0"/>
              </a:rPr>
              <a:t>"</a:t>
            </a:r>
            <a:r>
              <a:rPr lang="en-US" dirty="0">
                <a:latin typeface="Verdana" charset="0"/>
              </a:rPr>
              <a:t> (4.92 × 9.71 m).</a:t>
            </a:r>
            <a:br>
              <a:rPr lang="en-US" dirty="0">
                <a:latin typeface="Verdana" charset="0"/>
              </a:rPr>
            </a:br>
            <a:r>
              <a:rPr lang="en-US" dirty="0">
                <a:latin typeface="Verdana" charset="0"/>
              </a:rPr>
              <a:t>© 2016 Banco de México Diego Rivera Frida Kahlo Museums Trust, Mexico, D.F./Artists Rights Society (ARS), New York. © 2016. Photo Art Resource/Bob </a:t>
            </a:r>
            <a:r>
              <a:rPr lang="en-US" dirty="0" err="1">
                <a:latin typeface="Verdana" charset="0"/>
              </a:rPr>
              <a:t>Schalkwijk</a:t>
            </a:r>
            <a:r>
              <a:rPr lang="en-US" dirty="0">
                <a:latin typeface="Verdana" charset="0"/>
              </a:rPr>
              <a:t>/Scala, Florence.</a:t>
            </a:r>
            <a:endParaRPr lang="en-US" dirty="0"/>
          </a:p>
        </p:txBody>
      </p:sp>
      <p:sp>
        <p:nvSpPr>
          <p:cNvPr id="251907" name="Slide Number Placeholder 3"/>
          <p:cNvSpPr>
            <a:spLocks noGrp="1"/>
          </p:cNvSpPr>
          <p:nvPr>
            <p:ph type="sldNum" sz="quarter" idx="5"/>
          </p:nvPr>
        </p:nvSpPr>
        <p:spPr bwMode="auto">
          <a:noFill/>
          <a:ln>
            <a:miter lim="800000"/>
            <a:headEnd/>
            <a:tailEnd/>
          </a:ln>
        </p:spPr>
        <p:txBody>
          <a:bodyPr/>
          <a:lstStyle/>
          <a:p>
            <a:fld id="{1C7A9F9F-3E00-CC4F-8AAC-58D80B2E51D4}" type="slidenum">
              <a:rPr lang="en-US"/>
              <a:pPr/>
              <a:t>62</a:t>
            </a:fld>
            <a:endParaRPr lang="en-US"/>
          </a:p>
        </p:txBody>
      </p:sp>
    </p:spTree>
    <p:extLst>
      <p:ext uri="{BB962C8B-B14F-4D97-AF65-F5344CB8AC3E}">
        <p14:creationId xmlns:p14="http://schemas.microsoft.com/office/powerpoint/2010/main" val="139702317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Slide Image Placeholder 1"/>
          <p:cNvSpPr>
            <a:spLocks noGrp="1" noRot="1" noChangeAspect="1" noTextEdit="1"/>
          </p:cNvSpPr>
          <p:nvPr>
            <p:ph type="sldImg"/>
          </p:nvPr>
        </p:nvSpPr>
        <p:spPr bwMode="auto">
          <a:noFill/>
          <a:ln>
            <a:solidFill>
              <a:srgbClr val="000000"/>
            </a:solidFill>
            <a:miter lim="800000"/>
            <a:headEnd/>
            <a:tailEnd/>
          </a:ln>
        </p:spPr>
      </p:sp>
      <p:sp>
        <p:nvSpPr>
          <p:cNvPr id="254978" name="Notes Placeholder 2"/>
          <p:cNvSpPr>
            <a:spLocks noGrp="1"/>
          </p:cNvSpPr>
          <p:nvPr>
            <p:ph type="body" idx="1"/>
          </p:nvPr>
        </p:nvSpPr>
        <p:spPr bwMode="auto">
          <a:noFill/>
        </p:spPr>
        <p:txBody>
          <a:bodyPr/>
          <a:lstStyle/>
          <a:p>
            <a:pPr>
              <a:spcBef>
                <a:spcPct val="0"/>
              </a:spcBef>
            </a:pPr>
            <a:r>
              <a:rPr lang="en-US" dirty="0">
                <a:latin typeface="Verdana" charset="0"/>
              </a:rPr>
              <a:t>Frida Kahlo THE TWO FRIDAS</a:t>
            </a:r>
            <a:br>
              <a:rPr lang="en-US" dirty="0">
                <a:latin typeface="Verdana" charset="0"/>
              </a:rPr>
            </a:br>
            <a:r>
              <a:rPr lang="en-US" dirty="0">
                <a:latin typeface="Verdana" charset="0"/>
              </a:rPr>
              <a:t>1939. Oil on canvas, 5</a:t>
            </a:r>
            <a:r>
              <a:rPr lang="uk-UA" dirty="0">
                <a:latin typeface="Verdana" charset="0"/>
              </a:rPr>
              <a:t>'</a:t>
            </a:r>
            <a:r>
              <a:rPr lang="en-US" dirty="0">
                <a:latin typeface="Verdana" charset="0"/>
              </a:rPr>
              <a:t>8-1/2</a:t>
            </a:r>
            <a:r>
              <a:rPr lang="ru-RU" dirty="0">
                <a:latin typeface="Verdana" charset="0"/>
              </a:rPr>
              <a:t>"</a:t>
            </a:r>
            <a:r>
              <a:rPr lang="en-US" dirty="0">
                <a:latin typeface="Verdana" charset="0"/>
              </a:rPr>
              <a:t> × 5</a:t>
            </a:r>
            <a:r>
              <a:rPr lang="uk-UA" dirty="0">
                <a:latin typeface="Verdana" charset="0"/>
              </a:rPr>
              <a:t>'</a:t>
            </a:r>
            <a:r>
              <a:rPr lang="en-US" dirty="0">
                <a:latin typeface="Verdana" charset="0"/>
              </a:rPr>
              <a:t>8-1/2</a:t>
            </a:r>
            <a:r>
              <a:rPr lang="ru-RU" dirty="0">
                <a:latin typeface="Verdana" charset="0"/>
              </a:rPr>
              <a:t>"</a:t>
            </a:r>
            <a:r>
              <a:rPr lang="en-US" dirty="0">
                <a:latin typeface="Verdana" charset="0"/>
              </a:rPr>
              <a:t> (1.74 × 1.74 m).</a:t>
            </a:r>
            <a:br>
              <a:rPr lang="en-US" dirty="0">
                <a:latin typeface="Verdana" charset="0"/>
              </a:rPr>
            </a:br>
            <a:r>
              <a:rPr lang="en-US" dirty="0">
                <a:latin typeface="Verdana" charset="0"/>
              </a:rPr>
              <a:t>Museo de </a:t>
            </a:r>
            <a:r>
              <a:rPr lang="en-US" dirty="0" err="1">
                <a:latin typeface="Verdana" charset="0"/>
              </a:rPr>
              <a:t>Arte</a:t>
            </a:r>
            <a:r>
              <a:rPr lang="en-US" dirty="0">
                <a:latin typeface="Verdana" charset="0"/>
              </a:rPr>
              <a:t> </a:t>
            </a:r>
            <a:r>
              <a:rPr lang="en-US" dirty="0" err="1">
                <a:latin typeface="Verdana" charset="0"/>
              </a:rPr>
              <a:t>Moderno</a:t>
            </a:r>
            <a:r>
              <a:rPr lang="en-US" dirty="0">
                <a:latin typeface="Verdana" charset="0"/>
              </a:rPr>
              <a:t>, Instituto Nacional de </a:t>
            </a:r>
            <a:r>
              <a:rPr lang="en-US" dirty="0" err="1">
                <a:latin typeface="Verdana" charset="0"/>
              </a:rPr>
              <a:t>Bellas</a:t>
            </a:r>
            <a:r>
              <a:rPr lang="en-US" dirty="0">
                <a:latin typeface="Verdana" charset="0"/>
              </a:rPr>
              <a:t> Artes, Mexico City. © 2016 Banco de México Diego Rivera Frida Kahlo Museums Trust, Mexico, D.F./Artists Rights Society (ARS), New York. © 2016. Photo Art Resource/Bob </a:t>
            </a:r>
            <a:r>
              <a:rPr lang="en-US" dirty="0" err="1">
                <a:latin typeface="Verdana" charset="0"/>
              </a:rPr>
              <a:t>Schalkwijk</a:t>
            </a:r>
            <a:r>
              <a:rPr lang="en-US" dirty="0">
                <a:latin typeface="Verdana" charset="0"/>
              </a:rPr>
              <a:t>/Scala, Florence.</a:t>
            </a:r>
            <a:endParaRPr lang="en-US" dirty="0"/>
          </a:p>
        </p:txBody>
      </p:sp>
      <p:sp>
        <p:nvSpPr>
          <p:cNvPr id="254979" name="Slide Number Placeholder 3"/>
          <p:cNvSpPr>
            <a:spLocks noGrp="1"/>
          </p:cNvSpPr>
          <p:nvPr>
            <p:ph type="sldNum" sz="quarter" idx="5"/>
          </p:nvPr>
        </p:nvSpPr>
        <p:spPr bwMode="auto">
          <a:noFill/>
          <a:ln>
            <a:miter lim="800000"/>
            <a:headEnd/>
            <a:tailEnd/>
          </a:ln>
        </p:spPr>
        <p:txBody>
          <a:bodyPr/>
          <a:lstStyle/>
          <a:p>
            <a:fld id="{89BB6F92-BC5A-6B41-8F76-99486121346C}" type="slidenum">
              <a:rPr lang="en-US"/>
              <a:pPr/>
              <a:t>64</a:t>
            </a:fld>
            <a:endParaRPr lang="en-US"/>
          </a:p>
        </p:txBody>
      </p:sp>
    </p:spTree>
    <p:extLst>
      <p:ext uri="{BB962C8B-B14F-4D97-AF65-F5344CB8AC3E}">
        <p14:creationId xmlns:p14="http://schemas.microsoft.com/office/powerpoint/2010/main" val="132973915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Slide Image Placeholder 1"/>
          <p:cNvSpPr>
            <a:spLocks noGrp="1" noRot="1" noChangeAspect="1" noTextEdit="1"/>
          </p:cNvSpPr>
          <p:nvPr>
            <p:ph type="sldImg"/>
          </p:nvPr>
        </p:nvSpPr>
        <p:spPr bwMode="auto">
          <a:noFill/>
          <a:ln>
            <a:solidFill>
              <a:srgbClr val="000000"/>
            </a:solidFill>
            <a:miter lim="800000"/>
            <a:headEnd/>
            <a:tailEnd/>
          </a:ln>
        </p:spPr>
      </p:sp>
      <p:sp>
        <p:nvSpPr>
          <p:cNvPr id="258050" name="Notes Placeholder 2"/>
          <p:cNvSpPr>
            <a:spLocks noGrp="1"/>
          </p:cNvSpPr>
          <p:nvPr>
            <p:ph type="body" idx="1"/>
          </p:nvPr>
        </p:nvSpPr>
        <p:spPr bwMode="auto">
          <a:noFill/>
        </p:spPr>
        <p:txBody>
          <a:bodyPr/>
          <a:lstStyle/>
          <a:p>
            <a:pPr>
              <a:spcBef>
                <a:spcPct val="0"/>
              </a:spcBef>
            </a:pPr>
            <a:r>
              <a:rPr lang="en-US" dirty="0" err="1"/>
              <a:t>Tarsila</a:t>
            </a:r>
            <a:r>
              <a:rPr lang="en-US" dirty="0"/>
              <a:t> do Amaral THE ONE WHO EATS (ABAPORÚ) </a:t>
            </a:r>
            <a:br>
              <a:rPr lang="en-US" dirty="0"/>
            </a:br>
            <a:r>
              <a:rPr lang="en-US" dirty="0"/>
              <a:t>1928. Oil on canvas, 34</a:t>
            </a:r>
            <a:r>
              <a:rPr lang="ru-RU" dirty="0"/>
              <a:t>"</a:t>
            </a:r>
            <a:r>
              <a:rPr lang="en-US" dirty="0"/>
              <a:t> × 29</a:t>
            </a:r>
            <a:r>
              <a:rPr lang="ru-RU" dirty="0"/>
              <a:t>"</a:t>
            </a:r>
            <a:r>
              <a:rPr lang="en-US" dirty="0"/>
              <a:t> (86.4 × 73.7 cm).</a:t>
            </a:r>
            <a:br>
              <a:rPr lang="en-US" dirty="0"/>
            </a:br>
            <a:r>
              <a:rPr lang="en-US" dirty="0"/>
              <a:t>Museo de </a:t>
            </a:r>
            <a:r>
              <a:rPr lang="en-US" dirty="0" err="1"/>
              <a:t>Arte</a:t>
            </a:r>
            <a:r>
              <a:rPr lang="en-US" dirty="0"/>
              <a:t> </a:t>
            </a:r>
            <a:r>
              <a:rPr lang="en-US" dirty="0" err="1"/>
              <a:t>Latinoamericano</a:t>
            </a:r>
            <a:r>
              <a:rPr lang="en-US" dirty="0"/>
              <a:t>, Buenos Aires. Courtesy of Guilherme Augusto do Amaral/</a:t>
            </a:r>
            <a:r>
              <a:rPr lang="en-US" dirty="0" err="1"/>
              <a:t>Malba-Coleccion</a:t>
            </a:r>
            <a:r>
              <a:rPr lang="en-US" dirty="0"/>
              <a:t> </a:t>
            </a:r>
            <a:r>
              <a:rPr lang="en-US" dirty="0" err="1"/>
              <a:t>Constantini</a:t>
            </a:r>
            <a:r>
              <a:rPr lang="en-US" dirty="0"/>
              <a:t>, Buenos Aires. © </a:t>
            </a:r>
            <a:r>
              <a:rPr lang="en-US" dirty="0" err="1"/>
              <a:t>Tarsila</a:t>
            </a:r>
            <a:r>
              <a:rPr lang="en-US" dirty="0"/>
              <a:t> do Amara. Collection of MALBA, Museo de </a:t>
            </a:r>
            <a:r>
              <a:rPr lang="en-US" dirty="0" err="1"/>
              <a:t>Arte</a:t>
            </a:r>
            <a:r>
              <a:rPr lang="en-US" dirty="0"/>
              <a:t> </a:t>
            </a:r>
            <a:r>
              <a:rPr lang="en-US" dirty="0" err="1"/>
              <a:t>Latinoamericano</a:t>
            </a:r>
            <a:r>
              <a:rPr lang="en-US" dirty="0"/>
              <a:t> de Buenos Aires.</a:t>
            </a:r>
          </a:p>
        </p:txBody>
      </p:sp>
      <p:sp>
        <p:nvSpPr>
          <p:cNvPr id="258051" name="Slide Number Placeholder 3"/>
          <p:cNvSpPr>
            <a:spLocks noGrp="1"/>
          </p:cNvSpPr>
          <p:nvPr>
            <p:ph type="sldNum" sz="quarter" idx="5"/>
          </p:nvPr>
        </p:nvSpPr>
        <p:spPr bwMode="auto">
          <a:noFill/>
          <a:ln>
            <a:miter lim="800000"/>
            <a:headEnd/>
            <a:tailEnd/>
          </a:ln>
        </p:spPr>
        <p:txBody>
          <a:bodyPr/>
          <a:lstStyle/>
          <a:p>
            <a:fld id="{AFF59EBE-1305-6644-AEBD-B0B37578447A}" type="slidenum">
              <a:rPr lang="en-US"/>
              <a:pPr/>
              <a:t>66</a:t>
            </a:fld>
            <a:endParaRPr lang="en-US"/>
          </a:p>
        </p:txBody>
      </p:sp>
    </p:spTree>
    <p:extLst>
      <p:ext uri="{BB962C8B-B14F-4D97-AF65-F5344CB8AC3E}">
        <p14:creationId xmlns:p14="http://schemas.microsoft.com/office/powerpoint/2010/main" val="6363014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Slide Image Placeholder 1"/>
          <p:cNvSpPr>
            <a:spLocks noGrp="1" noRot="1" noChangeAspect="1" noTextEdit="1"/>
          </p:cNvSpPr>
          <p:nvPr>
            <p:ph type="sldImg"/>
          </p:nvPr>
        </p:nvSpPr>
        <p:spPr bwMode="auto">
          <a:noFill/>
          <a:ln>
            <a:solidFill>
              <a:srgbClr val="000000"/>
            </a:solidFill>
            <a:miter lim="800000"/>
            <a:headEnd/>
            <a:tailEnd/>
          </a:ln>
        </p:spPr>
      </p:sp>
      <p:sp>
        <p:nvSpPr>
          <p:cNvPr id="261122" name="Notes Placeholder 2"/>
          <p:cNvSpPr>
            <a:spLocks noGrp="1"/>
          </p:cNvSpPr>
          <p:nvPr>
            <p:ph type="body" idx="1"/>
          </p:nvPr>
        </p:nvSpPr>
        <p:spPr bwMode="auto">
          <a:noFill/>
        </p:spPr>
        <p:txBody>
          <a:bodyPr/>
          <a:lstStyle/>
          <a:p>
            <a:pPr>
              <a:spcBef>
                <a:spcPct val="0"/>
              </a:spcBef>
            </a:pPr>
            <a:r>
              <a:rPr lang="en-US" dirty="0"/>
              <a:t>Amelia </a:t>
            </a:r>
            <a:r>
              <a:rPr lang="en-US" dirty="0" err="1"/>
              <a:t>Peláez</a:t>
            </a:r>
            <a:r>
              <a:rPr lang="en-US" dirty="0"/>
              <a:t> HIBISCUS (MARPACÍFICO)</a:t>
            </a:r>
            <a:br>
              <a:rPr lang="en-US" dirty="0"/>
            </a:br>
            <a:r>
              <a:rPr lang="en-US" dirty="0"/>
              <a:t>1943. Oil on canvas, 45-1/2</a:t>
            </a:r>
            <a:r>
              <a:rPr lang="ru-RU" dirty="0"/>
              <a:t>"</a:t>
            </a:r>
            <a:r>
              <a:rPr lang="en-US" dirty="0"/>
              <a:t> × 35</a:t>
            </a:r>
            <a:r>
              <a:rPr lang="ru-RU" dirty="0"/>
              <a:t>"</a:t>
            </a:r>
            <a:r>
              <a:rPr lang="en-US" dirty="0"/>
              <a:t> (115.6 × 88.9 cm).</a:t>
            </a:r>
            <a:br>
              <a:rPr lang="en-US" dirty="0"/>
            </a:br>
            <a:r>
              <a:rPr lang="en-US" dirty="0"/>
              <a:t> Collection OAS Art Museum of the Americas, Washington, DC. Gift of IBM. © Amelia </a:t>
            </a:r>
            <a:r>
              <a:rPr lang="en-US" dirty="0" err="1"/>
              <a:t>Pelaez</a:t>
            </a:r>
            <a:r>
              <a:rPr lang="en-US" dirty="0"/>
              <a:t> Foundation. </a:t>
            </a:r>
          </a:p>
        </p:txBody>
      </p:sp>
      <p:sp>
        <p:nvSpPr>
          <p:cNvPr id="261123" name="Slide Number Placeholder 3"/>
          <p:cNvSpPr>
            <a:spLocks noGrp="1"/>
          </p:cNvSpPr>
          <p:nvPr>
            <p:ph type="sldNum" sz="quarter" idx="5"/>
          </p:nvPr>
        </p:nvSpPr>
        <p:spPr bwMode="auto">
          <a:noFill/>
          <a:ln>
            <a:miter lim="800000"/>
            <a:headEnd/>
            <a:tailEnd/>
          </a:ln>
        </p:spPr>
        <p:txBody>
          <a:bodyPr/>
          <a:lstStyle/>
          <a:p>
            <a:fld id="{12646424-EC6E-4947-B6D9-9ADE4F6088AB}" type="slidenum">
              <a:rPr lang="en-US"/>
              <a:pPr/>
              <a:t>68</a:t>
            </a:fld>
            <a:endParaRPr lang="en-US"/>
          </a:p>
        </p:txBody>
      </p:sp>
    </p:spTree>
    <p:extLst>
      <p:ext uri="{BB962C8B-B14F-4D97-AF65-F5344CB8AC3E}">
        <p14:creationId xmlns:p14="http://schemas.microsoft.com/office/powerpoint/2010/main" val="21324240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Slide Image Placeholder 1"/>
          <p:cNvSpPr>
            <a:spLocks noGrp="1" noRot="1" noChangeAspect="1" noTextEdit="1"/>
          </p:cNvSpPr>
          <p:nvPr>
            <p:ph type="sldImg"/>
          </p:nvPr>
        </p:nvSpPr>
        <p:spPr bwMode="auto">
          <a:noFill/>
          <a:ln>
            <a:solidFill>
              <a:srgbClr val="000000"/>
            </a:solidFill>
            <a:miter lim="800000"/>
            <a:headEnd/>
            <a:tailEnd/>
          </a:ln>
        </p:spPr>
      </p:sp>
      <p:sp>
        <p:nvSpPr>
          <p:cNvPr id="265218" name="Notes Placeholder 2"/>
          <p:cNvSpPr>
            <a:spLocks noGrp="1"/>
          </p:cNvSpPr>
          <p:nvPr>
            <p:ph type="body" idx="1"/>
          </p:nvPr>
        </p:nvSpPr>
        <p:spPr bwMode="auto">
          <a:noFill/>
        </p:spPr>
        <p:txBody>
          <a:bodyPr/>
          <a:lstStyle/>
          <a:p>
            <a:pPr>
              <a:spcBef>
                <a:spcPct val="0"/>
              </a:spcBef>
            </a:pPr>
            <a:r>
              <a:rPr lang="en-US" dirty="0"/>
              <a:t>Francis Bacon FIGURE WITH MEAT</a:t>
            </a:r>
            <a:br>
              <a:rPr lang="en-US" dirty="0"/>
            </a:br>
            <a:r>
              <a:rPr lang="en-US" dirty="0"/>
              <a:t>1954. Oil on canvas, 50-3/4</a:t>
            </a:r>
            <a:r>
              <a:rPr lang="ru-RU" dirty="0"/>
              <a:t>"</a:t>
            </a:r>
            <a:r>
              <a:rPr lang="en-US" dirty="0"/>
              <a:t> × 48</a:t>
            </a:r>
            <a:r>
              <a:rPr lang="ru-RU" dirty="0"/>
              <a:t>"</a:t>
            </a:r>
            <a:r>
              <a:rPr lang="en-US" dirty="0"/>
              <a:t> (129 × 122 cm).</a:t>
            </a:r>
            <a:br>
              <a:rPr lang="en-US" dirty="0"/>
            </a:br>
            <a:r>
              <a:rPr lang="en-US" dirty="0"/>
              <a:t>The Art Institute of Chicago. </a:t>
            </a:r>
            <a:r>
              <a:rPr lang="en-US" dirty="0" err="1"/>
              <a:t>Harriott</a:t>
            </a:r>
            <a:r>
              <a:rPr lang="en-US" dirty="0"/>
              <a:t> A. Fox Fund (1956.1201). © The Estate of Francis Bacon. All rights reserved. DACS, London/ARS, NY 2016. Photo © The Art Institute of Chicago</a:t>
            </a:r>
          </a:p>
        </p:txBody>
      </p:sp>
      <p:sp>
        <p:nvSpPr>
          <p:cNvPr id="265219" name="Slide Number Placeholder 3"/>
          <p:cNvSpPr>
            <a:spLocks noGrp="1"/>
          </p:cNvSpPr>
          <p:nvPr>
            <p:ph type="sldNum" sz="quarter" idx="5"/>
          </p:nvPr>
        </p:nvSpPr>
        <p:spPr bwMode="auto">
          <a:noFill/>
          <a:ln>
            <a:miter lim="800000"/>
            <a:headEnd/>
            <a:tailEnd/>
          </a:ln>
        </p:spPr>
        <p:txBody>
          <a:bodyPr/>
          <a:lstStyle/>
          <a:p>
            <a:fld id="{4D393699-5EF7-8E4E-93A1-409B82E6F1A1}" type="slidenum">
              <a:rPr lang="en-US"/>
              <a:pPr/>
              <a:t>70</a:t>
            </a:fld>
            <a:endParaRPr lang="en-US"/>
          </a:p>
        </p:txBody>
      </p:sp>
    </p:spTree>
    <p:extLst>
      <p:ext uri="{BB962C8B-B14F-4D97-AF65-F5344CB8AC3E}">
        <p14:creationId xmlns:p14="http://schemas.microsoft.com/office/powerpoint/2010/main" val="2961714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Slide Image Placeholder 1"/>
          <p:cNvSpPr>
            <a:spLocks noGrp="1" noRot="1" noChangeAspect="1" noTextEdit="1"/>
          </p:cNvSpPr>
          <p:nvPr>
            <p:ph type="sldImg"/>
          </p:nvPr>
        </p:nvSpPr>
        <p:spPr bwMode="auto">
          <a:noFill/>
          <a:ln>
            <a:solidFill>
              <a:srgbClr val="000000"/>
            </a:solidFill>
            <a:miter lim="800000"/>
            <a:headEnd/>
            <a:tailEnd/>
          </a:ln>
        </p:spPr>
      </p:sp>
      <p:sp>
        <p:nvSpPr>
          <p:cNvPr id="268290" name="Notes Placeholder 2"/>
          <p:cNvSpPr>
            <a:spLocks noGrp="1"/>
          </p:cNvSpPr>
          <p:nvPr>
            <p:ph type="body" idx="1"/>
          </p:nvPr>
        </p:nvSpPr>
        <p:spPr bwMode="auto">
          <a:noFill/>
        </p:spPr>
        <p:txBody>
          <a:bodyPr/>
          <a:lstStyle/>
          <a:p>
            <a:pPr>
              <a:spcBef>
                <a:spcPct val="0"/>
              </a:spcBef>
            </a:pPr>
            <a:r>
              <a:rPr lang="en-US" dirty="0" err="1"/>
              <a:t>Wols</a:t>
            </a:r>
            <a:r>
              <a:rPr lang="en-US" dirty="0"/>
              <a:t> (Wolfgang Schulze) PAINTING</a:t>
            </a:r>
            <a:br>
              <a:rPr lang="en-US" dirty="0"/>
            </a:br>
            <a:r>
              <a:rPr lang="en-US" dirty="0"/>
              <a:t>1944–1945. Oil on canvas, 31-7/8</a:t>
            </a:r>
            <a:r>
              <a:rPr lang="ru-RU" dirty="0"/>
              <a:t>"</a:t>
            </a:r>
            <a:r>
              <a:rPr lang="en-US" dirty="0"/>
              <a:t> × 32</a:t>
            </a:r>
            <a:r>
              <a:rPr lang="ru-RU" dirty="0"/>
              <a:t>"</a:t>
            </a:r>
            <a:r>
              <a:rPr lang="en-US" dirty="0"/>
              <a:t> (81 × 81.1 cm).</a:t>
            </a:r>
            <a:br>
              <a:rPr lang="en-US" dirty="0"/>
            </a:br>
            <a:r>
              <a:rPr lang="en-US" dirty="0"/>
              <a:t>Museum of Modern Art, New York. Gift of D. and J. de </a:t>
            </a:r>
            <a:r>
              <a:rPr lang="en-US" dirty="0" err="1"/>
              <a:t>Menil</a:t>
            </a:r>
            <a:r>
              <a:rPr lang="en-US" dirty="0"/>
              <a:t> Fund (29.1956). © 2016 Artists Rights Society (ARS), New York/ADAGP, Paris. © 2016. Digital Image, The Museum of Modern Art/Scala, Florence. </a:t>
            </a:r>
          </a:p>
        </p:txBody>
      </p:sp>
      <p:sp>
        <p:nvSpPr>
          <p:cNvPr id="268291" name="Slide Number Placeholder 3"/>
          <p:cNvSpPr>
            <a:spLocks noGrp="1"/>
          </p:cNvSpPr>
          <p:nvPr>
            <p:ph type="sldNum" sz="quarter" idx="5"/>
          </p:nvPr>
        </p:nvSpPr>
        <p:spPr bwMode="auto">
          <a:noFill/>
          <a:ln>
            <a:miter lim="800000"/>
            <a:headEnd/>
            <a:tailEnd/>
          </a:ln>
        </p:spPr>
        <p:txBody>
          <a:bodyPr/>
          <a:lstStyle/>
          <a:p>
            <a:fld id="{9C61D10F-1F8F-704B-9618-E51C206B21B7}" type="slidenum">
              <a:rPr lang="en-US"/>
              <a:pPr/>
              <a:t>72</a:t>
            </a:fld>
            <a:endParaRPr lang="en-US"/>
          </a:p>
        </p:txBody>
      </p:sp>
    </p:spTree>
    <p:extLst>
      <p:ext uri="{BB962C8B-B14F-4D97-AF65-F5344CB8AC3E}">
        <p14:creationId xmlns:p14="http://schemas.microsoft.com/office/powerpoint/2010/main" val="20341517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361" name="Slide Image Placeholder 1"/>
          <p:cNvSpPr>
            <a:spLocks noGrp="1" noRot="1" noChangeAspect="1" noTextEdit="1"/>
          </p:cNvSpPr>
          <p:nvPr>
            <p:ph type="sldImg"/>
          </p:nvPr>
        </p:nvSpPr>
        <p:spPr bwMode="auto">
          <a:noFill/>
          <a:ln>
            <a:solidFill>
              <a:srgbClr val="000000"/>
            </a:solidFill>
            <a:miter lim="800000"/>
            <a:headEnd/>
            <a:tailEnd/>
          </a:ln>
        </p:spPr>
      </p:sp>
      <p:sp>
        <p:nvSpPr>
          <p:cNvPr id="271362" name="Notes Placeholder 2"/>
          <p:cNvSpPr>
            <a:spLocks noGrp="1"/>
          </p:cNvSpPr>
          <p:nvPr>
            <p:ph type="body" idx="1"/>
          </p:nvPr>
        </p:nvSpPr>
        <p:spPr bwMode="auto">
          <a:noFill/>
        </p:spPr>
        <p:txBody>
          <a:bodyPr/>
          <a:lstStyle/>
          <a:p>
            <a:pPr>
              <a:spcBef>
                <a:spcPct val="0"/>
              </a:spcBef>
            </a:pPr>
            <a:r>
              <a:rPr lang="en-US" dirty="0" err="1"/>
              <a:t>Wifredo</a:t>
            </a:r>
            <a:r>
              <a:rPr lang="en-US" dirty="0"/>
              <a:t> Lam ZAMBEZIA, ZAMBEZIA</a:t>
            </a:r>
            <a:br>
              <a:rPr lang="en-US" dirty="0"/>
            </a:br>
            <a:r>
              <a:rPr lang="en-US" dirty="0"/>
              <a:t>1950. Oil on canvas, 49-3/8</a:t>
            </a:r>
            <a:r>
              <a:rPr lang="ru-RU" dirty="0"/>
              <a:t>"</a:t>
            </a:r>
            <a:r>
              <a:rPr lang="en-US" dirty="0"/>
              <a:t> × 43-5/8</a:t>
            </a:r>
            <a:r>
              <a:rPr lang="ru-RU" dirty="0"/>
              <a:t>"</a:t>
            </a:r>
            <a:r>
              <a:rPr lang="en-US" dirty="0"/>
              <a:t> (125 × 110 cm).</a:t>
            </a:r>
            <a:br>
              <a:rPr lang="en-US" dirty="0"/>
            </a:br>
            <a:r>
              <a:rPr lang="en-US" dirty="0"/>
              <a:t>Solomon R. Guggenheim Museum, New York. Gift, Mr. Joseph Cantor, 1974 (74.2095). </a:t>
            </a:r>
            <a:br>
              <a:rPr lang="en-US" dirty="0"/>
            </a:br>
            <a:r>
              <a:rPr lang="en-US" dirty="0"/>
              <a:t>© 2016 Artists Rights Society (ARS), New York/ADAGP, Paris. The Solomon R. Guggenheim Foundation/Art Resource, NY. </a:t>
            </a:r>
          </a:p>
        </p:txBody>
      </p:sp>
      <p:sp>
        <p:nvSpPr>
          <p:cNvPr id="271363" name="Slide Number Placeholder 3"/>
          <p:cNvSpPr>
            <a:spLocks noGrp="1"/>
          </p:cNvSpPr>
          <p:nvPr>
            <p:ph type="sldNum" sz="quarter" idx="5"/>
          </p:nvPr>
        </p:nvSpPr>
        <p:spPr bwMode="auto">
          <a:noFill/>
          <a:ln>
            <a:miter lim="800000"/>
            <a:headEnd/>
            <a:tailEnd/>
          </a:ln>
        </p:spPr>
        <p:txBody>
          <a:bodyPr/>
          <a:lstStyle/>
          <a:p>
            <a:fld id="{BAF9988B-E2CC-4C44-B2C8-188E84962ABD}" type="slidenum">
              <a:rPr lang="en-US"/>
              <a:pPr/>
              <a:t>74</a:t>
            </a:fld>
            <a:endParaRPr lang="en-US"/>
          </a:p>
        </p:txBody>
      </p:sp>
    </p:spTree>
    <p:extLst>
      <p:ext uri="{BB962C8B-B14F-4D97-AF65-F5344CB8AC3E}">
        <p14:creationId xmlns:p14="http://schemas.microsoft.com/office/powerpoint/2010/main" val="4854990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3409" name="Slide Image Placeholder 1"/>
          <p:cNvSpPr>
            <a:spLocks noGrp="1" noRot="1" noChangeAspect="1" noTextEdit="1"/>
          </p:cNvSpPr>
          <p:nvPr>
            <p:ph type="sldImg"/>
          </p:nvPr>
        </p:nvSpPr>
        <p:spPr bwMode="auto">
          <a:noFill/>
          <a:ln>
            <a:solidFill>
              <a:srgbClr val="000000"/>
            </a:solidFill>
            <a:miter lim="800000"/>
            <a:headEnd/>
            <a:tailEnd/>
          </a:ln>
        </p:spPr>
      </p:sp>
      <p:sp>
        <p:nvSpPr>
          <p:cNvPr id="273410" name="Notes Placeholder 2"/>
          <p:cNvSpPr>
            <a:spLocks noGrp="1"/>
          </p:cNvSpPr>
          <p:nvPr>
            <p:ph type="body" idx="1"/>
          </p:nvPr>
        </p:nvSpPr>
        <p:spPr bwMode="auto">
          <a:noFill/>
        </p:spPr>
        <p:txBody>
          <a:bodyPr/>
          <a:lstStyle/>
          <a:p>
            <a:pPr>
              <a:spcBef>
                <a:spcPct val="0"/>
              </a:spcBef>
            </a:pPr>
            <a:r>
              <a:rPr lang="en-US" dirty="0"/>
              <a:t>Joaquín Torres-García ABSTRACT ART IN FIVE TONES AND COMPLEMENTARIES</a:t>
            </a:r>
            <a:br>
              <a:rPr lang="en-US" dirty="0"/>
            </a:br>
            <a:r>
              <a:rPr lang="en-US" dirty="0"/>
              <a:t>1943. Oil on board mounted on panel, 20-1/2</a:t>
            </a:r>
            <a:r>
              <a:rPr lang="ru-RU" dirty="0"/>
              <a:t>"</a:t>
            </a:r>
            <a:r>
              <a:rPr lang="en-US" dirty="0"/>
              <a:t> × 26-5/8</a:t>
            </a:r>
            <a:r>
              <a:rPr lang="ru-RU" dirty="0"/>
              <a:t>"</a:t>
            </a:r>
            <a:r>
              <a:rPr lang="en-US" dirty="0"/>
              <a:t> (52.1 × 67 cm).</a:t>
            </a:r>
            <a:br>
              <a:rPr lang="en-US" dirty="0"/>
            </a:br>
            <a:r>
              <a:rPr lang="en-US" dirty="0"/>
              <a:t>Albright Knox Art Gallery, Buffalo, NY. Gift of Mr. and Mrs. Armand J. Castellani, 1979. Art Resource, NY.</a:t>
            </a:r>
          </a:p>
        </p:txBody>
      </p:sp>
      <p:sp>
        <p:nvSpPr>
          <p:cNvPr id="273411" name="Slide Number Placeholder 3"/>
          <p:cNvSpPr>
            <a:spLocks noGrp="1"/>
          </p:cNvSpPr>
          <p:nvPr>
            <p:ph type="sldNum" sz="quarter" idx="5"/>
          </p:nvPr>
        </p:nvSpPr>
        <p:spPr bwMode="auto">
          <a:noFill/>
          <a:ln>
            <a:miter lim="800000"/>
            <a:headEnd/>
            <a:tailEnd/>
          </a:ln>
        </p:spPr>
        <p:txBody>
          <a:bodyPr/>
          <a:lstStyle/>
          <a:p>
            <a:fld id="{AEBB9EB9-7885-884D-9F94-78DE54D7298D}" type="slidenum">
              <a:rPr lang="en-US"/>
              <a:pPr/>
              <a:t>75</a:t>
            </a:fld>
            <a:endParaRPr lang="en-US"/>
          </a:p>
        </p:txBody>
      </p:sp>
    </p:spTree>
    <p:extLst>
      <p:ext uri="{BB962C8B-B14F-4D97-AF65-F5344CB8AC3E}">
        <p14:creationId xmlns:p14="http://schemas.microsoft.com/office/powerpoint/2010/main" val="208195112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p:cNvSpPr/>
          <p:nvPr/>
        </p:nvSpPr>
        <p:spPr bwMode="white">
          <a:xfrm>
            <a:off x="0" y="0"/>
            <a:ext cx="9144000" cy="3886200"/>
          </a:xfrm>
          <a:prstGeom prst="rect">
            <a:avLst/>
          </a:prstGeom>
          <a:solidFill>
            <a:srgbClr val="007FA3"/>
          </a:solidFill>
          <a:ln>
            <a:solidFill>
              <a:srgbClr val="007FA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p:cNvSpPr>
            <a:spLocks noGrp="1"/>
          </p:cNvSpPr>
          <p:nvPr>
            <p:ph type="ctrTitle"/>
          </p:nvPr>
        </p:nvSpPr>
        <p:spPr>
          <a:xfrm>
            <a:off x="685800" y="762000"/>
            <a:ext cx="7772400" cy="2838451"/>
          </a:xfrm>
        </p:spPr>
        <p:txBody>
          <a:bodyPr anchor="b">
            <a:noAutofit/>
          </a:bodyPr>
          <a:lstStyle>
            <a:lvl1pPr algn="l">
              <a:defRPr sz="3600">
                <a:solidFill>
                  <a:schemeClr val="bg1"/>
                </a:solidFill>
              </a:defRPr>
            </a:lvl1pPr>
          </a:lstStyle>
          <a:p>
            <a:r>
              <a:rPr lang="en-US" dirty="0"/>
              <a:t>Click to edit Master title style</a:t>
            </a:r>
          </a:p>
        </p:txBody>
      </p:sp>
      <p:sp>
        <p:nvSpPr>
          <p:cNvPr id="3" name="Subtitle 2"/>
          <p:cNvSpPr>
            <a:spLocks noGrp="1"/>
          </p:cNvSpPr>
          <p:nvPr>
            <p:ph type="subTitle" idx="1"/>
          </p:nvPr>
        </p:nvSpPr>
        <p:spPr>
          <a:xfrm>
            <a:off x="674687" y="3962400"/>
            <a:ext cx="7794626" cy="1752600"/>
          </a:xfrm>
        </p:spPr>
        <p:txBody>
          <a:bodyPr>
            <a:noAutofit/>
          </a:bodyPr>
          <a:lstStyle>
            <a:lvl1pPr marL="0" indent="0" algn="l">
              <a:spcBef>
                <a:spcPts val="0"/>
              </a:spcBef>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12"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8/4/19</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8879806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hapter Opener">
    <p:spTree>
      <p:nvGrpSpPr>
        <p:cNvPr id="1" name=""/>
        <p:cNvGrpSpPr/>
        <p:nvPr/>
      </p:nvGrpSpPr>
      <p:grpSpPr>
        <a:xfrm>
          <a:off x="0" y="0"/>
          <a:ext cx="0" cy="0"/>
          <a:chOff x="0" y="0"/>
          <a:chExt cx="0" cy="0"/>
        </a:xfrm>
      </p:grpSpPr>
      <p:sp>
        <p:nvSpPr>
          <p:cNvPr id="11" name="Title 10"/>
          <p:cNvSpPr>
            <a:spLocks noGrp="1"/>
          </p:cNvSpPr>
          <p:nvPr>
            <p:ph type="title" hasCustomPrompt="1"/>
          </p:nvPr>
        </p:nvSpPr>
        <p:spPr>
          <a:xfrm>
            <a:off x="457200" y="215372"/>
            <a:ext cx="8229600" cy="622828"/>
          </a:xfrm>
        </p:spPr>
        <p:txBody>
          <a:bodyPr anchor="t"/>
          <a:lstStyle/>
          <a:p>
            <a:r>
              <a:rPr lang="en-US" dirty="0"/>
              <a:t>Art History</a:t>
            </a:r>
          </a:p>
        </p:txBody>
      </p:sp>
      <p:sp>
        <p:nvSpPr>
          <p:cNvPr id="7" name="Text Placeholder 6"/>
          <p:cNvSpPr>
            <a:spLocks noGrp="1"/>
          </p:cNvSpPr>
          <p:nvPr>
            <p:ph type="body" sz="quarter" idx="13" hasCustomPrompt="1"/>
          </p:nvPr>
        </p:nvSpPr>
        <p:spPr>
          <a:xfrm>
            <a:off x="457200" y="816430"/>
            <a:ext cx="8229600" cy="478970"/>
          </a:xfrm>
        </p:spPr>
        <p:txBody>
          <a:bodyPr>
            <a:noAutofit/>
          </a:bodyPr>
          <a:lstStyle>
            <a:lvl1pPr marL="0" indent="0">
              <a:spcBef>
                <a:spcPts val="0"/>
              </a:spcBef>
              <a:buNone/>
              <a:defRPr sz="20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Sixth Edition</a:t>
            </a:r>
          </a:p>
        </p:txBody>
      </p:sp>
      <p:sp>
        <p:nvSpPr>
          <p:cNvPr id="9" name="Text Placeholder 8"/>
          <p:cNvSpPr>
            <a:spLocks noGrp="1"/>
          </p:cNvSpPr>
          <p:nvPr>
            <p:ph type="body" sz="quarter" idx="14" hasCustomPrompt="1"/>
          </p:nvPr>
        </p:nvSpPr>
        <p:spPr>
          <a:xfrm>
            <a:off x="5029200" y="1600201"/>
            <a:ext cx="3657600" cy="1600199"/>
          </a:xfrm>
        </p:spPr>
        <p:txBody>
          <a:bodyPr anchor="b">
            <a:noAutofit/>
          </a:bodyPr>
          <a:lstStyle>
            <a:lvl1pPr marL="0" indent="0">
              <a:spcBef>
                <a:spcPts val="0"/>
              </a:spcBef>
              <a:buNone/>
              <a:defRPr sz="3000" baseline="0"/>
            </a:lvl1pPr>
            <a:lvl2pPr marL="0" indent="0">
              <a:spcBef>
                <a:spcPts val="0"/>
              </a:spcBef>
              <a:buNone/>
              <a:defRPr sz="4400"/>
            </a:lvl2pPr>
            <a:lvl3pPr marL="0" indent="0">
              <a:spcBef>
                <a:spcPts val="0"/>
              </a:spcBef>
              <a:buNone/>
              <a:defRPr sz="4400"/>
            </a:lvl3pPr>
            <a:lvl4pPr marL="0" indent="0">
              <a:spcBef>
                <a:spcPts val="0"/>
              </a:spcBef>
              <a:buNone/>
              <a:defRPr sz="4400"/>
            </a:lvl4pPr>
            <a:lvl5pPr marL="0" indent="0">
              <a:spcBef>
                <a:spcPts val="0"/>
              </a:spcBef>
              <a:buNone/>
              <a:defRPr sz="4400"/>
            </a:lvl5pPr>
            <a:lvl6pPr marL="0" indent="0">
              <a:spcBef>
                <a:spcPts val="0"/>
              </a:spcBef>
              <a:buNone/>
              <a:defRPr sz="4400"/>
            </a:lvl6pPr>
            <a:lvl7pPr marL="0" indent="0">
              <a:spcBef>
                <a:spcPts val="0"/>
              </a:spcBef>
              <a:buNone/>
              <a:defRPr sz="4400"/>
            </a:lvl7pPr>
            <a:lvl8pPr marL="0" indent="0">
              <a:spcBef>
                <a:spcPts val="0"/>
              </a:spcBef>
              <a:buNone/>
              <a:defRPr sz="4400"/>
            </a:lvl8pPr>
            <a:lvl9pPr marL="0" indent="0">
              <a:spcBef>
                <a:spcPts val="0"/>
              </a:spcBef>
              <a:buNone/>
              <a:defRPr sz="4400"/>
            </a:lvl9pPr>
          </a:lstStyle>
          <a:p>
            <a:pPr lvl="0"/>
            <a:r>
              <a:rPr lang="en-US" dirty="0"/>
              <a:t>Chapter ##</a:t>
            </a:r>
          </a:p>
        </p:txBody>
      </p:sp>
      <p:sp>
        <p:nvSpPr>
          <p:cNvPr id="10" name="Text Placeholder 8"/>
          <p:cNvSpPr>
            <a:spLocks noGrp="1"/>
          </p:cNvSpPr>
          <p:nvPr>
            <p:ph type="body" sz="quarter" idx="15" hasCustomPrompt="1"/>
          </p:nvPr>
        </p:nvSpPr>
        <p:spPr>
          <a:xfrm>
            <a:off x="5029200" y="3200400"/>
            <a:ext cx="3657600" cy="2925763"/>
          </a:xfrm>
        </p:spPr>
        <p:txBody>
          <a:bodyPr>
            <a:noAutofit/>
          </a:bodyPr>
          <a:lstStyle>
            <a:lvl1pPr marL="0" indent="0">
              <a:spcBef>
                <a:spcPts val="0"/>
              </a:spcBef>
              <a:buNone/>
              <a:defRPr sz="2200"/>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dirty="0"/>
              <a:t>Chapter title</a:t>
            </a:r>
          </a:p>
        </p:txBody>
      </p:sp>
      <p:sp>
        <p:nvSpPr>
          <p:cNvPr id="16" name="Footer Placeholder 2"/>
          <p:cNvSpPr>
            <a:spLocks noGrp="1"/>
          </p:cNvSpPr>
          <p:nvPr>
            <p:ph type="ftr" sz="quarter" idx="10"/>
          </p:nvPr>
        </p:nvSpPr>
        <p:spPr>
          <a:xfrm>
            <a:off x="93969" y="6165337"/>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8/4/19</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pic>
        <p:nvPicPr>
          <p:cNvPr id="12" name="Picture 11"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13" name="TextBox 1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762000" y="1739785"/>
            <a:ext cx="3217287" cy="4116235"/>
          </a:xfrm>
          <a:prstGeom prst="rect">
            <a:avLst/>
          </a:prstGeom>
        </p:spPr>
      </p:pic>
    </p:spTree>
    <p:extLst>
      <p:ext uri="{BB962C8B-B14F-4D97-AF65-F5344CB8AC3E}">
        <p14:creationId xmlns:p14="http://schemas.microsoft.com/office/powerpoint/2010/main" val="29810628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Learning Objectives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0" y="215372"/>
            <a:ext cx="8229600" cy="622828"/>
          </a:xfrm>
        </p:spPr>
        <p:txBody>
          <a:bodyPr anchor="t"/>
          <a:lstStyle/>
          <a:p>
            <a:r>
              <a:rPr lang="en-US" dirty="0"/>
              <a:t>Click to edit Master title style</a:t>
            </a:r>
          </a:p>
        </p:txBody>
      </p:sp>
      <p:sp>
        <p:nvSpPr>
          <p:cNvPr id="7" name="Learning Objectives Placeholder 6"/>
          <p:cNvSpPr>
            <a:spLocks noGrp="1"/>
          </p:cNvSpPr>
          <p:nvPr>
            <p:ph type="body" sz="quarter" idx="13" hasCustomPrompt="1"/>
          </p:nvPr>
        </p:nvSpPr>
        <p:spPr>
          <a:xfrm>
            <a:off x="457200" y="816430"/>
            <a:ext cx="8229600" cy="402770"/>
          </a:xfrm>
        </p:spPr>
        <p:txBody>
          <a:bodyPr>
            <a:noAutofit/>
          </a:bodyPr>
          <a:lstStyle>
            <a:lvl1pPr marL="0" indent="0">
              <a:spcBef>
                <a:spcPts val="0"/>
              </a:spcBef>
              <a:buNone/>
              <a:defRPr sz="1600">
                <a:solidFill>
                  <a:srgbClr val="007FA3"/>
                </a:solidFill>
              </a:defRPr>
            </a:lvl1pPr>
            <a:lvl2pPr marL="0" indent="0">
              <a:spcBef>
                <a:spcPts val="0"/>
              </a:spcBef>
              <a:buNone/>
              <a:defRPr sz="2400">
                <a:solidFill>
                  <a:schemeClr val="bg1"/>
                </a:solidFill>
              </a:defRPr>
            </a:lvl2pPr>
            <a:lvl3pPr marL="0" indent="0">
              <a:spcBef>
                <a:spcPts val="0"/>
              </a:spcBef>
              <a:buNone/>
              <a:defRPr sz="2400">
                <a:solidFill>
                  <a:schemeClr val="bg1"/>
                </a:solidFill>
              </a:defRPr>
            </a:lvl3pPr>
            <a:lvl4pPr marL="0" indent="0">
              <a:spcBef>
                <a:spcPts val="0"/>
              </a:spcBef>
              <a:buNone/>
              <a:defRPr sz="2400">
                <a:solidFill>
                  <a:schemeClr val="bg1"/>
                </a:solidFill>
              </a:defRPr>
            </a:lvl4pPr>
            <a:lvl5pPr marL="0" indent="0">
              <a:spcBef>
                <a:spcPts val="0"/>
              </a:spcBef>
              <a:buNone/>
              <a:defRPr sz="2400">
                <a:solidFill>
                  <a:schemeClr val="bg1"/>
                </a:solidFill>
              </a:defRPr>
            </a:lvl5pPr>
            <a:lvl6pPr marL="0" indent="0">
              <a:spcBef>
                <a:spcPts val="0"/>
              </a:spcBef>
              <a:buNone/>
              <a:defRPr sz="2400">
                <a:solidFill>
                  <a:schemeClr val="bg1"/>
                </a:solidFill>
              </a:defRPr>
            </a:lvl6pPr>
            <a:lvl7pPr marL="0" indent="0">
              <a:spcBef>
                <a:spcPts val="0"/>
              </a:spcBef>
              <a:buNone/>
              <a:defRPr sz="2400">
                <a:solidFill>
                  <a:schemeClr val="bg1"/>
                </a:solidFill>
              </a:defRPr>
            </a:lvl7pPr>
            <a:lvl8pPr marL="0" indent="0">
              <a:spcBef>
                <a:spcPts val="0"/>
              </a:spcBef>
              <a:buNone/>
              <a:defRPr sz="2400">
                <a:solidFill>
                  <a:schemeClr val="bg1"/>
                </a:solidFill>
              </a:defRPr>
            </a:lvl8pPr>
            <a:lvl9pPr marL="0" indent="0">
              <a:spcBef>
                <a:spcPts val="0"/>
              </a:spcBef>
              <a:buNone/>
              <a:defRPr sz="2400">
                <a:solidFill>
                  <a:schemeClr val="bg1"/>
                </a:solidFill>
              </a:defRPr>
            </a:lvl9pPr>
          </a:lstStyle>
          <a:p>
            <a:pPr lvl="0"/>
            <a:r>
              <a:rPr lang="en-US" dirty="0"/>
              <a:t>Click to add Learning Objective(s)</a:t>
            </a:r>
          </a:p>
        </p:txBody>
      </p:sp>
      <p:sp>
        <p:nvSpPr>
          <p:cNvPr id="9" name="Content Placeholder 8"/>
          <p:cNvSpPr>
            <a:spLocks noGrp="1"/>
          </p:cNvSpPr>
          <p:nvPr>
            <p:ph sz="quarter" idx="14"/>
          </p:nvPr>
        </p:nvSpPr>
        <p:spPr>
          <a:xfrm>
            <a:off x="457200" y="1600200"/>
            <a:ext cx="8229600" cy="4525963"/>
          </a:xfrm>
        </p:spPr>
        <p:txBody>
          <a:bodyPr/>
          <a:lstStyle>
            <a:lvl5pP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2" name="Footer Placeholder 2"/>
          <p:cNvSpPr>
            <a:spLocks noGrp="1"/>
          </p:cNvSpPr>
          <p:nvPr>
            <p:ph type="ftr" sz="quarter" idx="10"/>
          </p:nvPr>
        </p:nvSpPr>
        <p:spPr>
          <a:xfrm>
            <a:off x="93969" y="6172200"/>
            <a:ext cx="8595360" cy="235463"/>
          </a:xfrm>
        </p:spPr>
        <p:txBody>
          <a:bodyPr/>
          <a:lstStyle/>
          <a:p>
            <a:endParaRPr lang="en-US" dirty="0"/>
          </a:p>
        </p:txBody>
      </p:sp>
      <p:sp>
        <p:nvSpPr>
          <p:cNvPr id="4" name="Date Placeholder 3"/>
          <p:cNvSpPr>
            <a:spLocks noGrp="1"/>
          </p:cNvSpPr>
          <p:nvPr>
            <p:ph type="dt" sz="half" idx="11"/>
          </p:nvPr>
        </p:nvSpPr>
        <p:spPr/>
        <p:txBody>
          <a:bodyPr/>
          <a:lstStyle/>
          <a:p>
            <a:fld id="{A9DF6EFB-3F44-496C-A842-1E0B3D3B975A}" type="datetimeFigureOut">
              <a:rPr lang="en-US" smtClean="0"/>
              <a:pPr/>
              <a:t>8/4/19</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152463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a:buClr>
                <a:srgbClr val="007FA3"/>
              </a:buClr>
              <a:buSzPct val="100000"/>
              <a:defRPr sz="2000">
                <a:latin typeface="Arial" charset="0"/>
                <a:ea typeface="Arial" charset="0"/>
                <a:cs typeface="Arial" charset="0"/>
              </a:defRPr>
            </a:lvl1pPr>
            <a:lvl2pPr>
              <a:buClr>
                <a:srgbClr val="007FA3"/>
              </a:buClr>
              <a:defRPr sz="2000">
                <a:latin typeface="Arial" charset="0"/>
                <a:ea typeface="Arial" charset="0"/>
                <a:cs typeface="Arial" charset="0"/>
              </a:defRPr>
            </a:lvl2pPr>
            <a:lvl3pPr>
              <a:buClr>
                <a:srgbClr val="007FA3"/>
              </a:buClr>
              <a:defRPr sz="2000">
                <a:latin typeface="Arial" charset="0"/>
                <a:ea typeface="Arial" charset="0"/>
                <a:cs typeface="Arial" charset="0"/>
              </a:defRPr>
            </a:lvl3pPr>
            <a:lvl4pPr>
              <a:buClr>
                <a:srgbClr val="007FA3"/>
              </a:buClr>
              <a:defRPr sz="2000">
                <a:latin typeface="Arial" charset="0"/>
                <a:ea typeface="Arial" charset="0"/>
                <a:cs typeface="Arial" charset="0"/>
              </a:defRPr>
            </a:lvl4pPr>
            <a:lvl5pPr>
              <a:buClr>
                <a:srgbClr val="007FA3"/>
              </a:buClr>
              <a:defRPr sz="2000">
                <a:latin typeface="Arial" charset="0"/>
                <a:ea typeface="Arial" charset="0"/>
                <a:cs typeface="Arial" charset="0"/>
              </a:defRPr>
            </a:lvl5pPr>
            <a:lvl6pPr>
              <a:buClr>
                <a:srgbClr val="007FA3"/>
              </a:buClr>
              <a:defRPr sz="2000">
                <a:latin typeface="Arial" charset="0"/>
                <a:ea typeface="Arial" charset="0"/>
                <a:cs typeface="Arial" charset="0"/>
              </a:defRPr>
            </a:lvl6pPr>
            <a:lvl7pPr>
              <a:buClr>
                <a:srgbClr val="007FA3"/>
              </a:buClr>
              <a:defRPr sz="2000">
                <a:latin typeface="Arial" charset="0"/>
                <a:ea typeface="Arial" charset="0"/>
                <a:cs typeface="Arial" charset="0"/>
              </a:defRPr>
            </a:lvl7pPr>
            <a:lvl8pPr>
              <a:buClr>
                <a:srgbClr val="007FA3"/>
              </a:buClr>
              <a:defRPr sz="2000">
                <a:latin typeface="Arial" charset="0"/>
                <a:ea typeface="Arial" charset="0"/>
                <a:cs typeface="Arial" charset="0"/>
              </a:defRPr>
            </a:lvl8pPr>
            <a:lvl9pPr>
              <a:buClr>
                <a:srgbClr val="007FA3"/>
              </a:buClr>
              <a:defRPr sz="2000">
                <a:latin typeface="Arial" charset="0"/>
                <a:ea typeface="Arial" charset="0"/>
                <a:cs typeface="Arial" charset="0"/>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6" name="Footer Placeholder 4"/>
          <p:cNvSpPr>
            <a:spLocks noGrp="1"/>
          </p:cNvSpPr>
          <p:nvPr>
            <p:ph type="ftr" sz="quarter" idx="11"/>
          </p:nvPr>
        </p:nvSpPr>
        <p:spPr>
          <a:xfrm>
            <a:off x="93969" y="6172200"/>
            <a:ext cx="8595360" cy="235463"/>
          </a:xfrm>
        </p:spPr>
        <p:txBody>
          <a:bodyPr/>
          <a:lstStyle/>
          <a:p>
            <a:endParaRPr lang="en-US" dirty="0"/>
          </a:p>
        </p:txBody>
      </p:sp>
      <p:sp>
        <p:nvSpPr>
          <p:cNvPr id="9" name="Date Placeholder 3"/>
          <p:cNvSpPr>
            <a:spLocks noGrp="1"/>
          </p:cNvSpPr>
          <p:nvPr>
            <p:ph type="dt" sz="half" idx="10"/>
          </p:nvPr>
        </p:nvSpPr>
        <p:spPr>
          <a:xfrm>
            <a:off x="6335713" y="113072"/>
            <a:ext cx="2133600" cy="182880"/>
          </a:xfrm>
        </p:spPr>
        <p:txBody>
          <a:bodyPr/>
          <a:lstStyle/>
          <a:p>
            <a:fld id="{A9DF6EFB-3F44-496C-A842-1E0B3D3B975A}" type="datetimeFigureOut">
              <a:rPr lang="en-US" smtClean="0"/>
              <a:pPr/>
              <a:t>8/4/19</a:t>
            </a:fld>
            <a:endParaRPr lang="en-US" dirty="0"/>
          </a:p>
        </p:txBody>
      </p:sp>
      <p:sp>
        <p:nvSpPr>
          <p:cNvPr id="10" name="Slide Number Placeholder 5"/>
          <p:cNvSpPr>
            <a:spLocks noGrp="1"/>
          </p:cNvSpPr>
          <p:nvPr>
            <p:ph type="sldNum" sz="quarter" idx="12"/>
          </p:nvPr>
        </p:nvSpPr>
        <p:spPr>
          <a:xfrm>
            <a:off x="8469312" y="113072"/>
            <a:ext cx="551783" cy="182880"/>
          </a:xfrm>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2109093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arning Objectives">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p>
        </p:txBody>
      </p:sp>
      <p:sp>
        <p:nvSpPr>
          <p:cNvPr id="3" name="Content Placeholder 2"/>
          <p:cNvSpPr>
            <a:spLocks noGrp="1"/>
          </p:cNvSpPr>
          <p:nvPr>
            <p:ph idx="1" hasCustomPrompt="1"/>
          </p:nvPr>
        </p:nvSpPr>
        <p:spPr/>
        <p:txBody>
          <a:bodyPr/>
          <a:lstStyle>
            <a:lvl1pPr marL="0" indent="0">
              <a:buClr>
                <a:srgbClr val="007FA3"/>
              </a:buClr>
              <a:buSzPct val="100000"/>
              <a:buFontTx/>
              <a:buNone/>
              <a:tabLst/>
              <a:defRPr sz="2000"/>
            </a:lvl1pPr>
            <a:lvl2pPr marL="569913" indent="-285750">
              <a:buClr>
                <a:srgbClr val="007FA3"/>
              </a:buClr>
              <a:defRPr sz="2000"/>
            </a:lvl2pPr>
            <a:lvl3pPr>
              <a:buClr>
                <a:srgbClr val="007FA3"/>
              </a:buClr>
              <a:defRPr sz="2000"/>
            </a:lvl3pPr>
            <a:lvl4pPr>
              <a:buClr>
                <a:srgbClr val="007FA3"/>
              </a:buClr>
              <a:defRPr sz="2000"/>
            </a:lvl4pPr>
            <a:lvl5pPr>
              <a:buClr>
                <a:srgbClr val="007FA3"/>
              </a:buClr>
              <a:defRPr sz="2000"/>
            </a:lvl5pPr>
            <a:lvl6pPr>
              <a:buClr>
                <a:srgbClr val="007FA3"/>
              </a:buClr>
              <a:defRPr sz="2000"/>
            </a:lvl6pPr>
            <a:lvl7pPr>
              <a:buClr>
                <a:srgbClr val="007FA3"/>
              </a:buClr>
              <a:defRPr sz="2000"/>
            </a:lvl7pPr>
            <a:lvl8pPr>
              <a:buClr>
                <a:srgbClr val="007FA3"/>
              </a:buClr>
              <a:defRPr sz="2000"/>
            </a:lvl8pPr>
            <a:lvl9pPr>
              <a:buClr>
                <a:srgbClr val="007FA3"/>
              </a:buClr>
              <a:defRPr sz="2000"/>
            </a:lvl9pPr>
          </a:lstStyle>
          <a:p>
            <a:pPr lvl="0"/>
            <a:r>
              <a:rPr lang="en-US" dirty="0"/>
              <a:t>   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0"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8/4/19</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275200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igure + Caption">
    <p:spTree>
      <p:nvGrpSpPr>
        <p:cNvPr id="1" name=""/>
        <p:cNvGrpSpPr/>
        <p:nvPr/>
      </p:nvGrpSpPr>
      <p:grpSpPr>
        <a:xfrm>
          <a:off x="0" y="0"/>
          <a:ext cx="0" cy="0"/>
          <a:chOff x="0" y="0"/>
          <a:chExt cx="0" cy="0"/>
        </a:xfrm>
      </p:grpSpPr>
      <p:sp>
        <p:nvSpPr>
          <p:cNvPr id="8" name="Title 7"/>
          <p:cNvSpPr>
            <a:spLocks noGrp="1"/>
          </p:cNvSpPr>
          <p:nvPr>
            <p:ph type="title" hasCustomPrompt="1"/>
          </p:nvPr>
        </p:nvSpPr>
        <p:spPr>
          <a:xfrm>
            <a:off x="457200" y="228600"/>
            <a:ext cx="8229600" cy="1066800"/>
          </a:xfrm>
        </p:spPr>
        <p:txBody>
          <a:bodyPr anchor="t"/>
          <a:lstStyle>
            <a:lvl1pPr>
              <a:defRPr sz="3400">
                <a:solidFill>
                  <a:srgbClr val="007FA3"/>
                </a:solidFill>
              </a:defRPr>
            </a:lvl1pPr>
          </a:lstStyle>
          <a:p>
            <a:r>
              <a:rPr lang="en-US" dirty="0"/>
              <a:t>Click to add figure number and title</a:t>
            </a:r>
          </a:p>
        </p:txBody>
      </p:sp>
      <p:sp>
        <p:nvSpPr>
          <p:cNvPr id="10" name="Text Placeholder 9"/>
          <p:cNvSpPr>
            <a:spLocks noGrp="1"/>
          </p:cNvSpPr>
          <p:nvPr>
            <p:ph type="body" sz="quarter" idx="13" hasCustomPrompt="1"/>
          </p:nvPr>
        </p:nvSpPr>
        <p:spPr>
          <a:xfrm>
            <a:off x="457200" y="5368160"/>
            <a:ext cx="8229600" cy="916856"/>
          </a:xfrm>
        </p:spPr>
        <p:txBody>
          <a:bodyPr anchor="b"/>
          <a:lstStyle>
            <a:lvl1pPr marL="0" indent="0">
              <a:spcBef>
                <a:spcPts val="0"/>
              </a:spcBef>
              <a:buNone/>
              <a:defRPr sz="800"/>
            </a:lvl1pPr>
            <a:lvl2pPr marL="0" indent="0">
              <a:spcBef>
                <a:spcPts val="0"/>
              </a:spcBef>
              <a:buNone/>
              <a:defRPr sz="1600"/>
            </a:lvl2pPr>
            <a:lvl3pPr marL="0" indent="0">
              <a:spcBef>
                <a:spcPts val="0"/>
              </a:spcBef>
              <a:buNone/>
              <a:defRPr sz="1600"/>
            </a:lvl3pPr>
            <a:lvl4pPr marL="0" indent="0">
              <a:spcBef>
                <a:spcPts val="0"/>
              </a:spcBef>
              <a:buNone/>
              <a:defRPr sz="1600"/>
            </a:lvl4pPr>
            <a:lvl5pPr marL="0" indent="0">
              <a:spcBef>
                <a:spcPts val="0"/>
              </a:spcBef>
              <a:buNone/>
              <a:defRPr sz="1600"/>
            </a:lvl5pPr>
            <a:lvl6pPr marL="0" indent="0">
              <a:spcBef>
                <a:spcPts val="0"/>
              </a:spcBef>
              <a:buNone/>
              <a:defRPr sz="1600"/>
            </a:lvl6pPr>
            <a:lvl7pPr marL="0" indent="0">
              <a:spcBef>
                <a:spcPts val="0"/>
              </a:spcBef>
              <a:buNone/>
              <a:defRPr sz="1600"/>
            </a:lvl7pPr>
            <a:lvl8pPr marL="0" indent="0">
              <a:spcBef>
                <a:spcPts val="0"/>
              </a:spcBef>
              <a:buNone/>
              <a:defRPr sz="1600"/>
            </a:lvl8pPr>
            <a:lvl9pPr marL="0" indent="0">
              <a:spcBef>
                <a:spcPts val="0"/>
              </a:spcBef>
              <a:buNone/>
              <a:defRPr sz="1600"/>
            </a:lvl9pPr>
          </a:lstStyle>
          <a:p>
            <a:pPr lvl="0"/>
            <a:r>
              <a:rPr lang="en-US" dirty="0"/>
              <a:t>Click to add caption</a:t>
            </a:r>
          </a:p>
        </p:txBody>
      </p:sp>
      <p:sp>
        <p:nvSpPr>
          <p:cNvPr id="11"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8/4/19</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9" name="TextBox 8"/>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2037960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8/4/19</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1547999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5800" y="1447800"/>
            <a:ext cx="7772400" cy="2152651"/>
          </a:xfrm>
        </p:spPr>
        <p:txBody>
          <a:bodyPr anchor="b">
            <a:noAutofit/>
          </a:bodyPr>
          <a:lstStyle>
            <a:lvl1pPr algn="l">
              <a:defRPr sz="3400" b="1" cap="none" baseline="0">
                <a:solidFill>
                  <a:srgbClr val="007FA3"/>
                </a:solidFill>
              </a:defRPr>
            </a:lvl1pPr>
          </a:lstStyle>
          <a:p>
            <a:r>
              <a:rPr lang="en-US" dirty="0"/>
              <a:t>Click to edit Master title style</a:t>
            </a:r>
          </a:p>
        </p:txBody>
      </p:sp>
      <p:sp>
        <p:nvSpPr>
          <p:cNvPr id="3" name="Text Placeholder 2"/>
          <p:cNvSpPr>
            <a:spLocks noGrp="1"/>
          </p:cNvSpPr>
          <p:nvPr>
            <p:ph type="body" idx="1"/>
          </p:nvPr>
        </p:nvSpPr>
        <p:spPr>
          <a:xfrm>
            <a:off x="674687" y="3962400"/>
            <a:ext cx="7794627" cy="1752600"/>
          </a:xfrm>
        </p:spPr>
        <p:txBody>
          <a:bodyPr anchor="t">
            <a:noAutofit/>
          </a:bodyPr>
          <a:lstStyle>
            <a:lvl1pPr marL="0" indent="0">
              <a:spcBef>
                <a:spcPts val="0"/>
              </a:spcBef>
              <a:buNone/>
              <a:defRPr sz="1600">
                <a:solidFill>
                  <a:srgbClr val="007FA3"/>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9" name="Footer Placeholder 4"/>
          <p:cNvSpPr>
            <a:spLocks noGrp="1"/>
          </p:cNvSpPr>
          <p:nvPr>
            <p:ph type="ftr" sz="quarter" idx="11"/>
          </p:nvPr>
        </p:nvSpPr>
        <p:spPr>
          <a:xfrm>
            <a:off x="93969" y="6172200"/>
            <a:ext cx="8595360" cy="235463"/>
          </a:xfrm>
        </p:spPr>
        <p:txBody>
          <a:bodyPr/>
          <a:lstStyle/>
          <a:p>
            <a:endParaRPr lang="en-US" dirty="0"/>
          </a:p>
        </p:txBody>
      </p:sp>
      <p:sp>
        <p:nvSpPr>
          <p:cNvPr id="4" name="Date Placeholder 3"/>
          <p:cNvSpPr>
            <a:spLocks noGrp="1"/>
          </p:cNvSpPr>
          <p:nvPr>
            <p:ph type="dt" sz="half" idx="10"/>
          </p:nvPr>
        </p:nvSpPr>
        <p:spPr/>
        <p:txBody>
          <a:bodyPr/>
          <a:lstStyle/>
          <a:p>
            <a:fld id="{A9DF6EFB-3F44-496C-A842-1E0B3D3B975A}" type="datetimeFigureOut">
              <a:rPr lang="en-US" smtClean="0"/>
              <a:pPr/>
              <a:t>8/4/19</a:t>
            </a:fld>
            <a:endParaRPr lang="en-US" dirty="0"/>
          </a:p>
        </p:txBody>
      </p:sp>
      <p:sp>
        <p:nvSpPr>
          <p:cNvPr id="6" name="Slide Number Placeholder 5"/>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3754704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t>Click to edit Master title style</a:t>
            </a:r>
          </a:p>
        </p:txBody>
      </p:sp>
      <p:sp>
        <p:nvSpPr>
          <p:cNvPr id="9" name="Footer Placeholder 3"/>
          <p:cNvSpPr>
            <a:spLocks noGrp="1"/>
          </p:cNvSpPr>
          <p:nvPr>
            <p:ph type="ftr" sz="quarter" idx="11"/>
          </p:nvPr>
        </p:nvSpPr>
        <p:spPr>
          <a:xfrm>
            <a:off x="93969" y="6172200"/>
            <a:ext cx="8595360" cy="235463"/>
          </a:xfrm>
        </p:spPr>
        <p:txBody>
          <a:bodyPr/>
          <a:lstStyle/>
          <a:p>
            <a:endParaRPr lang="en-US" dirty="0"/>
          </a:p>
        </p:txBody>
      </p:sp>
      <p:sp>
        <p:nvSpPr>
          <p:cNvPr id="3" name="Date Placeholder 2"/>
          <p:cNvSpPr>
            <a:spLocks noGrp="1"/>
          </p:cNvSpPr>
          <p:nvPr>
            <p:ph type="dt" sz="half" idx="10"/>
          </p:nvPr>
        </p:nvSpPr>
        <p:spPr/>
        <p:txBody>
          <a:bodyPr/>
          <a:lstStyle/>
          <a:p>
            <a:fld id="{A9DF6EFB-3F44-496C-A842-1E0B3D3B975A}" type="datetimeFigureOut">
              <a:rPr lang="en-US" smtClean="0"/>
              <a:pPr/>
              <a:t>8/4/19</a:t>
            </a:fld>
            <a:endParaRPr lang="en-US" dirty="0"/>
          </a:p>
        </p:txBody>
      </p:sp>
      <p:sp>
        <p:nvSpPr>
          <p:cNvPr id="5" name="Slide Number Placeholder 4"/>
          <p:cNvSpPr>
            <a:spLocks noGrp="1"/>
          </p:cNvSpPr>
          <p:nvPr>
            <p:ph type="sldNum" sz="quarter" idx="12"/>
          </p:nvPr>
        </p:nvSpPr>
        <p:spPr/>
        <p:txBody>
          <a:bodyPr/>
          <a:lstStyle/>
          <a:p>
            <a:fld id="{200B2350-5261-4F5C-9DF5-EF0D264FC8D2}" type="slidenum">
              <a:rPr lang="en-US" smtClean="0"/>
              <a:pPr/>
              <a:t>‹#›</a:t>
            </a:fld>
            <a:endParaRPr lang="en-US" dirty="0"/>
          </a:p>
        </p:txBody>
      </p:sp>
    </p:spTree>
    <p:extLst>
      <p:ext uri="{BB962C8B-B14F-4D97-AF65-F5344CB8AC3E}">
        <p14:creationId xmlns:p14="http://schemas.microsoft.com/office/powerpoint/2010/main" val="18551265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8" name="Footer Placeholder 2"/>
          <p:cNvSpPr>
            <a:spLocks noGrp="1"/>
          </p:cNvSpPr>
          <p:nvPr>
            <p:ph type="ftr" sz="quarter" idx="11"/>
          </p:nvPr>
        </p:nvSpPr>
        <p:spPr>
          <a:xfrm>
            <a:off x="93969" y="6172200"/>
            <a:ext cx="8595360" cy="235463"/>
          </a:xfrm>
        </p:spPr>
        <p:txBody>
          <a:bodyPr/>
          <a:lstStyle/>
          <a:p>
            <a:endParaRPr lang="en-US" dirty="0"/>
          </a:p>
        </p:txBody>
      </p:sp>
      <p:sp>
        <p:nvSpPr>
          <p:cNvPr id="2" name="Date Placeholder 1"/>
          <p:cNvSpPr>
            <a:spLocks noGrp="1"/>
          </p:cNvSpPr>
          <p:nvPr>
            <p:ph type="dt" sz="half" idx="10"/>
          </p:nvPr>
        </p:nvSpPr>
        <p:spPr/>
        <p:txBody>
          <a:bodyPr/>
          <a:lstStyle>
            <a:lvl1pPr>
              <a:defRPr>
                <a:solidFill>
                  <a:schemeClr val="tx1"/>
                </a:solidFill>
              </a:defRPr>
            </a:lvl1pPr>
          </a:lstStyle>
          <a:p>
            <a:fld id="{A9DF6EFB-3F44-496C-A842-1E0B3D3B975A}" type="datetimeFigureOut">
              <a:rPr lang="en-US" smtClean="0"/>
              <a:pPr/>
              <a:t>8/4/19</a:t>
            </a:fld>
            <a:endParaRPr lang="en-US" dirty="0"/>
          </a:p>
        </p:txBody>
      </p:sp>
      <p:sp>
        <p:nvSpPr>
          <p:cNvPr id="4" name="Slide Number Placeholder 3"/>
          <p:cNvSpPr>
            <a:spLocks noGrp="1"/>
          </p:cNvSpPr>
          <p:nvPr>
            <p:ph type="sldNum" sz="quarter" idx="12"/>
          </p:nvPr>
        </p:nvSpPr>
        <p:spPr/>
        <p:txBody>
          <a:bodyPr/>
          <a:lstStyle>
            <a:lvl1pPr>
              <a:defRPr>
                <a:solidFill>
                  <a:schemeClr val="tx1"/>
                </a:solidFill>
              </a:defRPr>
            </a:lvl1pPr>
          </a:lstStyle>
          <a:p>
            <a:fld id="{200B2350-5261-4F5C-9DF5-EF0D264FC8D2}" type="slidenum">
              <a:rPr lang="en-US" smtClean="0"/>
              <a:pPr/>
              <a:t>‹#›</a:t>
            </a:fld>
            <a:endParaRPr lang="en-US" dirty="0"/>
          </a:p>
        </p:txBody>
      </p:sp>
      <p:pic>
        <p:nvPicPr>
          <p:cNvPr id="9" name="Picture 8" descr="Pearson Logo"/>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00410" y="6376789"/>
            <a:ext cx="918000" cy="279915"/>
          </a:xfrm>
          <a:prstGeom prst="rect">
            <a:avLst/>
          </a:prstGeom>
        </p:spPr>
      </p:pic>
      <p:sp>
        <p:nvSpPr>
          <p:cNvPr id="10" name="TextBox 9"/>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7111366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7_Title and Content">
    <p:spTree>
      <p:nvGrpSpPr>
        <p:cNvPr id="1" name=""/>
        <p:cNvGrpSpPr/>
        <p:nvPr/>
      </p:nvGrpSpPr>
      <p:grpSpPr>
        <a:xfrm>
          <a:off x="0" y="0"/>
          <a:ext cx="0" cy="0"/>
          <a:chOff x="0" y="0"/>
          <a:chExt cx="0" cy="0"/>
        </a:xfrm>
      </p:grpSpPr>
      <p:cxnSp>
        <p:nvCxnSpPr>
          <p:cNvPr id="4" name="Straight Connector 10"/>
          <p:cNvCxnSpPr>
            <a:cxnSpLocks noChangeShapeType="1"/>
          </p:cNvCxnSpPr>
          <p:nvPr userDrawn="1"/>
        </p:nvCxnSpPr>
        <p:spPr bwMode="auto">
          <a:xfrm>
            <a:off x="0" y="1371600"/>
            <a:ext cx="9144000" cy="0"/>
          </a:xfrm>
          <a:prstGeom prst="line">
            <a:avLst/>
          </a:prstGeom>
          <a:noFill/>
          <a:ln w="12700">
            <a:solidFill>
              <a:srgbClr val="008B5D"/>
            </a:solidFill>
            <a:round/>
            <a:headEnd/>
            <a:tailEnd/>
          </a:ln>
        </p:spPr>
      </p:cxnSp>
      <p:sp>
        <p:nvSpPr>
          <p:cNvPr id="2" name="Title 1"/>
          <p:cNvSpPr>
            <a:spLocks noGrp="1"/>
          </p:cNvSpPr>
          <p:nvPr>
            <p:ph type="title"/>
          </p:nvPr>
        </p:nvSpPr>
        <p:spPr>
          <a:noFill/>
          <a:ln>
            <a:noFill/>
          </a:ln>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transition spd="slow" advTm="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
        <p:nvSpPr>
          <p:cNvPr id="3" name="TextBox 2"/>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2018901491"/>
      </p:ext>
    </p:extLst>
  </p:cSld>
  <p:clrMapOvr>
    <a:overrideClrMapping bg1="dk1" tx1="lt1" bg2="dk2" tx2="lt2" accent1="accent1" accent2="accent2" accent3="accent3" accent4="accent4" accent5="accent5" accent6="accent6" hlink="hlink" folHlink="folHlink"/>
  </p:clrMapOvr>
  <p:transition spd="slow" advTm="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8_Title and Content">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457200" y="5791200"/>
            <a:ext cx="8229600" cy="685800"/>
          </a:xfrm>
          <a:noFill/>
          <a:ln>
            <a:noFill/>
          </a:ln>
        </p:spPr>
        <p:txBody>
          <a:bodyPr anchor="ctr" anchorCtr="1">
            <a:normAutofit/>
          </a:bodyPr>
          <a:lstStyle>
            <a:lvl1pPr algn="ctr">
              <a:defRPr sz="1600">
                <a:solidFill>
                  <a:schemeClr val="tx1"/>
                </a:solidFill>
                <a:effectLst/>
                <a:latin typeface="Arial" charset="0"/>
                <a:ea typeface="Arial" charset="0"/>
                <a:cs typeface="Arial" charset="0"/>
              </a:defRPr>
            </a:lvl1pPr>
          </a:lstStyle>
          <a:p>
            <a:r>
              <a:rPr lang="en-US"/>
              <a:t>Click to edit Master title style</a:t>
            </a:r>
          </a:p>
        </p:txBody>
      </p:sp>
    </p:spTree>
    <p:extLst>
      <p:ext uri="{BB962C8B-B14F-4D97-AF65-F5344CB8AC3E}">
        <p14:creationId xmlns:p14="http://schemas.microsoft.com/office/powerpoint/2010/main" val="249327367"/>
      </p:ext>
    </p:extLst>
  </p:cSld>
  <p:clrMapOvr>
    <a:overrideClrMapping bg1="dk1" tx1="lt1" bg2="dk2" tx2="lt2" accent1="accent1" accent2="accent2" accent3="accent3" accent4="accent4" accent5="accent5" accent6="accent6" hlink="hlink" folHlink="folHlink"/>
  </p:clrMapOvr>
  <p:transition spd="slow" advTm="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15372"/>
            <a:ext cx="8229600" cy="1097280"/>
          </a:xfrm>
          <a:prstGeom prst="rect">
            <a:avLst/>
          </a:prstGeom>
        </p:spPr>
        <p:txBody>
          <a:bodyPr vert="horz" lIns="0" tIns="0" rIns="0" bIns="0" rtlCol="0" anchor="b">
            <a:noAutofit/>
          </a:bodyPr>
          <a:lstStyle/>
          <a:p>
            <a:r>
              <a:rPr lang="en-US" dirty="0"/>
              <a:t>Click to edit </a:t>
            </a:r>
            <a:br>
              <a:rPr lang="en-US" dirty="0"/>
            </a:br>
            <a:r>
              <a:rPr lang="en-US" dirty="0"/>
              <a:t>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a:p>
            <a:pPr lvl="5"/>
            <a:r>
              <a:rPr lang="en-US" dirty="0"/>
              <a:t>Sixth</a:t>
            </a:r>
          </a:p>
          <a:p>
            <a:pPr lvl="6"/>
            <a:r>
              <a:rPr lang="en-US" dirty="0"/>
              <a:t>Seventh</a:t>
            </a:r>
          </a:p>
          <a:p>
            <a:pPr lvl="7"/>
            <a:r>
              <a:rPr lang="en-US" dirty="0"/>
              <a:t>Eighth</a:t>
            </a:r>
          </a:p>
          <a:p>
            <a:pPr lvl="8"/>
            <a:r>
              <a:rPr lang="en-US" dirty="0"/>
              <a:t>Ninth</a:t>
            </a:r>
          </a:p>
        </p:txBody>
      </p:sp>
      <p:sp>
        <p:nvSpPr>
          <p:cNvPr id="11" name="Footer Placeholder 4"/>
          <p:cNvSpPr>
            <a:spLocks noGrp="1"/>
          </p:cNvSpPr>
          <p:nvPr>
            <p:ph type="ftr" sz="quarter" idx="3"/>
          </p:nvPr>
        </p:nvSpPr>
        <p:spPr>
          <a:xfrm>
            <a:off x="93969" y="6172200"/>
            <a:ext cx="8595360" cy="235463"/>
          </a:xfrm>
          <a:prstGeom prst="rect">
            <a:avLst/>
          </a:prstGeom>
        </p:spPr>
        <p:txBody>
          <a:bodyPr vert="horz" lIns="0" tIns="0" rIns="0" bIns="0" rtlCol="0" anchor="b"/>
          <a:lstStyle>
            <a:lvl1pPr algn="l">
              <a:defRPr sz="1100">
                <a:solidFill>
                  <a:schemeClr val="tx1"/>
                </a:solidFill>
              </a:defRPr>
            </a:lvl1pPr>
          </a:lstStyle>
          <a:p>
            <a:endParaRPr lang="en-US" dirty="0"/>
          </a:p>
        </p:txBody>
      </p:sp>
      <p:sp>
        <p:nvSpPr>
          <p:cNvPr id="4" name="Date Placeholder 3"/>
          <p:cNvSpPr>
            <a:spLocks noGrp="1"/>
          </p:cNvSpPr>
          <p:nvPr>
            <p:ph type="dt" sz="half" idx="2"/>
          </p:nvPr>
        </p:nvSpPr>
        <p:spPr>
          <a:xfrm>
            <a:off x="6335713" y="113072"/>
            <a:ext cx="2133600" cy="182880"/>
          </a:xfrm>
          <a:prstGeom prst="rect">
            <a:avLst/>
          </a:prstGeom>
        </p:spPr>
        <p:txBody>
          <a:bodyPr vert="horz" lIns="91440" tIns="45720" rIns="91440" bIns="45720" rtlCol="0" anchor="ctr"/>
          <a:lstStyle>
            <a:lvl1pPr algn="r">
              <a:defRPr sz="900">
                <a:solidFill>
                  <a:schemeClr val="bg1"/>
                </a:solidFill>
              </a:defRPr>
            </a:lvl1pPr>
          </a:lstStyle>
          <a:p>
            <a:fld id="{A9DF6EFB-3F44-496C-A842-1E0B3D3B975A}" type="datetimeFigureOut">
              <a:rPr lang="en-US" smtClean="0"/>
              <a:pPr/>
              <a:t>8/4/19</a:t>
            </a:fld>
            <a:endParaRPr lang="en-US" dirty="0"/>
          </a:p>
        </p:txBody>
      </p:sp>
      <p:sp>
        <p:nvSpPr>
          <p:cNvPr id="6" name="Slide Number Placeholder 5"/>
          <p:cNvSpPr>
            <a:spLocks noGrp="1"/>
          </p:cNvSpPr>
          <p:nvPr>
            <p:ph type="sldNum" sz="quarter" idx="4"/>
          </p:nvPr>
        </p:nvSpPr>
        <p:spPr>
          <a:xfrm>
            <a:off x="8469312" y="113072"/>
            <a:ext cx="551783" cy="182880"/>
          </a:xfrm>
          <a:prstGeom prst="rect">
            <a:avLst/>
          </a:prstGeom>
        </p:spPr>
        <p:txBody>
          <a:bodyPr vert="horz" lIns="91440" tIns="45720" rIns="91440" bIns="45720" rtlCol="0" anchor="ctr"/>
          <a:lstStyle>
            <a:lvl1pPr algn="r">
              <a:defRPr sz="900">
                <a:solidFill>
                  <a:schemeClr val="bg1"/>
                </a:solidFill>
              </a:defRPr>
            </a:lvl1pPr>
          </a:lstStyle>
          <a:p>
            <a:fld id="{200B2350-5261-4F5C-9DF5-EF0D264FC8D2}" type="slidenum">
              <a:rPr lang="en-US" smtClean="0"/>
              <a:pPr/>
              <a:t>‹#›</a:t>
            </a:fld>
            <a:endParaRPr lang="en-US" dirty="0"/>
          </a:p>
        </p:txBody>
      </p:sp>
      <p:pic>
        <p:nvPicPr>
          <p:cNvPr id="7" name="Picture 6" descr="Pearson Logo"/>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457200" y="6376789"/>
            <a:ext cx="918000" cy="279915"/>
          </a:xfrm>
          <a:prstGeom prst="rect">
            <a:avLst/>
          </a:prstGeom>
        </p:spPr>
      </p:pic>
      <p:sp>
        <p:nvSpPr>
          <p:cNvPr id="8" name="TextBox 7"/>
          <p:cNvSpPr txBox="1"/>
          <p:nvPr userDrawn="1"/>
        </p:nvSpPr>
        <p:spPr>
          <a:xfrm>
            <a:off x="1600200" y="6429345"/>
            <a:ext cx="7162800" cy="200055"/>
          </a:xfrm>
          <a:prstGeom prst="rect">
            <a:avLst/>
          </a:prstGeom>
          <a:noFill/>
        </p:spPr>
        <p:txBody>
          <a:bodyPr wrap="square" rtlCol="0">
            <a:spAutoFit/>
          </a:bodyPr>
          <a:lstStyle/>
          <a:p>
            <a:pPr marL="0" marR="0" indent="0" algn="r" defTabSz="914400" rtl="0" eaLnBrk="1" fontAlgn="auto" latinLnBrk="0" hangingPunct="1">
              <a:lnSpc>
                <a:spcPct val="100000"/>
              </a:lnSpc>
              <a:spcBef>
                <a:spcPts val="0"/>
              </a:spcBef>
              <a:spcAft>
                <a:spcPts val="0"/>
              </a:spcAft>
              <a:buClrTx/>
              <a:buSzTx/>
              <a:buFontTx/>
              <a:buNone/>
              <a:tabLst/>
              <a:defRPr/>
            </a:pPr>
            <a:r>
              <a:rPr lang="en-US" altLang="en-US" sz="700" b="1" dirty="0">
                <a:ea typeface="Verdana" panose="020B0604030504040204" pitchFamily="34" charset="0"/>
                <a:cs typeface="Verdana" panose="020B0604030504040204" pitchFamily="34" charset="0"/>
              </a:rPr>
              <a:t>Copyright © 2018, 2014, 2011 Pearson Education, Inc. All Rights Reserved</a:t>
            </a:r>
          </a:p>
        </p:txBody>
      </p:sp>
    </p:spTree>
    <p:extLst>
      <p:ext uri="{BB962C8B-B14F-4D97-AF65-F5344CB8AC3E}">
        <p14:creationId xmlns:p14="http://schemas.microsoft.com/office/powerpoint/2010/main" val="36915700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100000"/>
        </a:lnSpc>
        <a:spcBef>
          <a:spcPct val="0"/>
        </a:spcBef>
        <a:buNone/>
        <a:defRPr sz="3400" b="1" kern="1200">
          <a:solidFill>
            <a:srgbClr val="007FA3"/>
          </a:solidFill>
          <a:latin typeface="Arial" charset="0"/>
          <a:ea typeface="Arial" charset="0"/>
          <a:cs typeface="Arial" charset="0"/>
        </a:defRPr>
      </a:lvl1pPr>
    </p:titleStyle>
    <p:bodyStyle>
      <a:lvl1pPr marL="256032" indent="-256032" algn="l" defTabSz="914400" rtl="0" eaLnBrk="1" latinLnBrk="0" hangingPunct="1">
        <a:spcBef>
          <a:spcPts val="1500"/>
        </a:spcBef>
        <a:buClr>
          <a:srgbClr val="007FA3"/>
        </a:buClr>
        <a:buFont typeface="Arial" panose="020B0604020202020204" pitchFamily="34" charset="0"/>
        <a:buChar char="•"/>
        <a:defRPr sz="2000" kern="1200">
          <a:solidFill>
            <a:schemeClr val="tx1"/>
          </a:solidFill>
          <a:latin typeface="+mn-lt"/>
          <a:ea typeface="+mn-ea"/>
          <a:cs typeface="+mn-cs"/>
        </a:defRPr>
      </a:lvl1pPr>
      <a:lvl2pPr marL="742950" indent="-28575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spcBef>
          <a:spcPts val="600"/>
        </a:spcBef>
        <a:buClr>
          <a:srgbClr val="007FA3"/>
        </a:buClr>
        <a:buFont typeface="Wingdings" panose="05000000000000000000" pitchFamily="2" charset="2"/>
        <a:buChar char="§"/>
        <a:defRPr sz="2000" kern="1200">
          <a:solidFill>
            <a:schemeClr val="tx1"/>
          </a:solidFill>
          <a:latin typeface="+mn-lt"/>
          <a:ea typeface="+mn-ea"/>
          <a:cs typeface="+mn-cs"/>
        </a:defRPr>
      </a:lvl3pPr>
      <a:lvl4pPr marL="16002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ts val="600"/>
        </a:spcBef>
        <a:buClr>
          <a:srgbClr val="007FA3"/>
        </a:buClr>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ts val="300"/>
        </a:spcBef>
        <a:buClr>
          <a:srgbClr val="007FA3"/>
        </a:buClr>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D7D5F16-63E2-5A45-A9B7-E9956C8974A2}" type="datetimeFigureOut">
              <a:rPr lang="en-US"/>
              <a:pPr/>
              <a:t>8/4/19</a:t>
            </a:fld>
            <a:endParaRPr lang="en-US"/>
          </a:p>
        </p:txBody>
      </p:sp>
      <p:sp>
        <p:nvSpPr>
          <p:cNvPr id="5" name="Footer Placeholder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2433623-5977-3140-A7F1-DF5A0A44B763}" type="slidenum">
              <a:rPr/>
              <a:pPr/>
              <a:t>‹#›</a:t>
            </a:fld>
            <a:endParaRPr lang="en-US"/>
          </a:p>
        </p:txBody>
      </p:sp>
    </p:spTree>
    <p:extLst>
      <p:ext uri="{BB962C8B-B14F-4D97-AF65-F5344CB8AC3E}">
        <p14:creationId xmlns:p14="http://schemas.microsoft.com/office/powerpoint/2010/main" val="1022270744"/>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7.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7.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9.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2.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33.xml"/><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B546C-45A4-1B4C-9F95-6F3B6AC24225}"/>
              </a:ext>
            </a:extLst>
          </p:cNvPr>
          <p:cNvSpPr>
            <a:spLocks noGrp="1"/>
          </p:cNvSpPr>
          <p:nvPr>
            <p:ph type="ctrTitle"/>
          </p:nvPr>
        </p:nvSpPr>
        <p:spPr/>
        <p:txBody>
          <a:bodyPr/>
          <a:lstStyle/>
          <a:p>
            <a:r>
              <a:rPr lang="en-US" dirty="0"/>
              <a:t>Chapter 28</a:t>
            </a:r>
          </a:p>
        </p:txBody>
      </p:sp>
      <p:sp>
        <p:nvSpPr>
          <p:cNvPr id="3" name="Subtitle 2">
            <a:extLst>
              <a:ext uri="{FF2B5EF4-FFF2-40B4-BE49-F238E27FC236}">
                <a16:creationId xmlns:a16="http://schemas.microsoft.com/office/drawing/2014/main" id="{F3BAD7C5-2E44-424F-ABFA-8389131A0B34}"/>
              </a:ext>
            </a:extLst>
          </p:cNvPr>
          <p:cNvSpPr>
            <a:spLocks noGrp="1"/>
          </p:cNvSpPr>
          <p:nvPr>
            <p:ph type="subTitle" idx="1"/>
          </p:nvPr>
        </p:nvSpPr>
        <p:spPr/>
        <p:txBody>
          <a:bodyPr/>
          <a:lstStyle/>
          <a:p>
            <a:r>
              <a:rPr lang="en-US" dirty="0"/>
              <a:t>Art Between the Wars </a:t>
            </a:r>
          </a:p>
        </p:txBody>
      </p:sp>
    </p:spTree>
    <p:extLst>
      <p:ext uri="{BB962C8B-B14F-4D97-AF65-F5344CB8AC3E}">
        <p14:creationId xmlns:p14="http://schemas.microsoft.com/office/powerpoint/2010/main" val="2407942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Title 1"/>
          <p:cNvSpPr>
            <a:spLocks noGrp="1"/>
          </p:cNvSpPr>
          <p:nvPr>
            <p:ph type="title"/>
          </p:nvPr>
        </p:nvSpPr>
        <p:spPr>
          <a:xfrm>
            <a:off x="457200" y="-195791"/>
            <a:ext cx="8229600" cy="1097280"/>
          </a:xfrm>
        </p:spPr>
        <p:txBody>
          <a:bodyPr/>
          <a:lstStyle/>
          <a:p>
            <a:r>
              <a:rPr lang="en-US" dirty="0"/>
              <a:t>Learning Objectives</a:t>
            </a:r>
          </a:p>
        </p:txBody>
      </p:sp>
      <p:sp>
        <p:nvSpPr>
          <p:cNvPr id="9218" name="Content Placeholder 2"/>
          <p:cNvSpPr>
            <a:spLocks noGrp="1"/>
          </p:cNvSpPr>
          <p:nvPr>
            <p:ph idx="1"/>
          </p:nvPr>
        </p:nvSpPr>
        <p:spPr>
          <a:xfrm>
            <a:off x="457200" y="1189037"/>
            <a:ext cx="8229600" cy="4525963"/>
          </a:xfrm>
        </p:spPr>
        <p:txBody>
          <a:bodyPr/>
          <a:lstStyle/>
          <a:p>
            <a:pPr marL="457200" lvl="0" indent="-457200" fontAlgn="base">
              <a:buFont typeface="+mj-lt"/>
              <a:buAutoNum type="arabicPeriod"/>
            </a:pPr>
            <a:r>
              <a:rPr lang="en-US" dirty="0"/>
              <a:t>Discuss why World War I was a determining influence on the art and architecture made between the wars.</a:t>
            </a:r>
          </a:p>
          <a:p>
            <a:pPr marL="457200" lvl="0" indent="-457200" fontAlgn="base">
              <a:buFont typeface="+mj-lt"/>
              <a:buAutoNum type="arabicPeriod"/>
            </a:pPr>
            <a:r>
              <a:rPr lang="en-US" dirty="0"/>
              <a:t>Assess why certain </a:t>
            </a:r>
            <a:r>
              <a:rPr lang="en-US" dirty="0" err="1"/>
              <a:t>Dada</a:t>
            </a:r>
            <a:r>
              <a:rPr lang="en-US" dirty="0"/>
              <a:t> artists were so appealing to the Surrealists and understand the forces that brought about Surrealism.</a:t>
            </a:r>
          </a:p>
          <a:p>
            <a:pPr marL="457200" lvl="0" indent="-457200" fontAlgn="base">
              <a:buFont typeface="+mj-lt"/>
              <a:buAutoNum type="arabicPeriod"/>
            </a:pPr>
            <a:r>
              <a:rPr lang="en-US" dirty="0"/>
              <a:t>Describe how a utopian vision is embraced in much of the European art, architecture, and design of the period and the variety of ways it was expressed in Russia, The Netherlands, Germany, and France.</a:t>
            </a:r>
          </a:p>
          <a:p>
            <a:pPr marL="457200" lvl="0" indent="-457200" fontAlgn="base">
              <a:buFont typeface="+mj-lt"/>
              <a:buAutoNum type="arabicPeriod"/>
            </a:pPr>
            <a:r>
              <a:rPr lang="en-US" dirty="0"/>
              <a:t>Explain how the post-World War I role of the United States as technological and financial world leader is reflected in the nation’s art and the way in which this work differs from the art produced in Europe.</a:t>
            </a:r>
          </a:p>
          <a:p>
            <a:pPr marL="457200" lvl="0" indent="-457200" fontAlgn="base">
              <a:buFont typeface="+mj-lt"/>
              <a:buAutoNum type="arabicPeriod"/>
            </a:pPr>
            <a:r>
              <a:rPr lang="en-US" dirty="0"/>
              <a:t>Discuss how African-American and Mexican artists transformed the image of non-Europeans in Western art, laying a foundation for the multicultural art in the second half of the century.</a:t>
            </a: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Title 15"/>
          <p:cNvSpPr>
            <a:spLocks noGrp="1"/>
          </p:cNvSpPr>
          <p:nvPr>
            <p:ph type="title"/>
          </p:nvPr>
        </p:nvSpPr>
        <p:spPr/>
        <p:txBody>
          <a:bodyPr/>
          <a:lstStyle/>
          <a:p>
            <a:r>
              <a:rPr lang="en-US"/>
              <a:t>Art Between the Wars in Europe</a:t>
            </a:r>
          </a:p>
        </p:txBody>
      </p:sp>
      <p:sp>
        <p:nvSpPr>
          <p:cNvPr id="164866" name="Content Placeholder 16"/>
          <p:cNvSpPr>
            <a:spLocks noGrp="1"/>
          </p:cNvSpPr>
          <p:nvPr>
            <p:ph idx="1"/>
          </p:nvPr>
        </p:nvSpPr>
        <p:spPr/>
        <p:txBody>
          <a:bodyPr/>
          <a:lstStyle/>
          <a:p>
            <a:r>
              <a:rPr lang="en-US"/>
              <a:t>Artists responded to the destruction of World War I by criticizing the Europeans.</a:t>
            </a:r>
          </a:p>
          <a:p>
            <a:r>
              <a:rPr lang="en-US"/>
              <a:t>Other artists focused on rebuilding from the loss of a generation of young men.</a:t>
            </a:r>
          </a:p>
          <a:p>
            <a:r>
              <a:rPr lang="en-US"/>
              <a:t>Russian artist Vladimir Tatlin combined avant-garde sculpture with a fully utilitarian building to spread the spirit of communism.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8465" name="Title 1"/>
          <p:cNvSpPr>
            <a:spLocks noGrp="1"/>
          </p:cNvSpPr>
          <p:nvPr>
            <p:ph type="title"/>
          </p:nvPr>
        </p:nvSpPr>
        <p:spPr/>
        <p:txBody>
          <a:bodyPr>
            <a:normAutofit fontScale="90000"/>
          </a:bodyPr>
          <a:lstStyle/>
          <a:p>
            <a:r>
              <a:rPr lang="en-US" dirty="0"/>
              <a:t>Vladimir </a:t>
            </a:r>
            <a:r>
              <a:rPr lang="en-US" dirty="0" err="1"/>
              <a:t>Tatlin</a:t>
            </a:r>
            <a:r>
              <a:rPr lang="en-US" dirty="0"/>
              <a:t> MODEL FOR THE MONUMENT TO THE THIRD INTERNATIONAL</a:t>
            </a:r>
            <a:br>
              <a:rPr lang="en-US" dirty="0"/>
            </a:br>
            <a:r>
              <a:rPr lang="en-US" dirty="0"/>
              <a:t>1919–1920. Wood, iron, and glass. Destroyed.</a:t>
            </a:r>
            <a:br>
              <a:rPr lang="en-US" dirty="0"/>
            </a:br>
            <a:r>
              <a:rPr lang="en-US" dirty="0"/>
              <a:t>© Vladimir </a:t>
            </a:r>
            <a:r>
              <a:rPr lang="en-US" dirty="0" err="1"/>
              <a:t>Tatlin</a:t>
            </a:r>
            <a:r>
              <a:rPr lang="en-US" dirty="0"/>
              <a:t>. </a:t>
            </a:r>
          </a:p>
        </p:txBody>
      </p:sp>
      <p:pic>
        <p:nvPicPr>
          <p:cNvPr id="2" name="Picture 1" descr="A spiraling tower of structural supports encloses four separate geometric shapes, reducing in size from bottom top in accordance with the spiral. From largest to smallest, the shapes are a cube, a pyramid, a cylinder, and a hemispher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Title 15"/>
          <p:cNvSpPr>
            <a:spLocks noGrp="1"/>
          </p:cNvSpPr>
          <p:nvPr>
            <p:ph type="title"/>
          </p:nvPr>
        </p:nvSpPr>
        <p:spPr/>
        <p:txBody>
          <a:bodyPr/>
          <a:lstStyle/>
          <a:p>
            <a:r>
              <a:rPr lang="en-US"/>
              <a:t>Utilitarian Art Forms in Russia (1 of 3)</a:t>
            </a:r>
          </a:p>
        </p:txBody>
      </p:sp>
      <p:sp>
        <p:nvSpPr>
          <p:cNvPr id="165890" name="Content Placeholder 16"/>
          <p:cNvSpPr>
            <a:spLocks noGrp="1"/>
          </p:cNvSpPr>
          <p:nvPr>
            <p:ph idx="1"/>
          </p:nvPr>
        </p:nvSpPr>
        <p:spPr/>
        <p:txBody>
          <a:bodyPr/>
          <a:lstStyle/>
          <a:p>
            <a:r>
              <a:rPr lang="en-US"/>
              <a:t>After socialist Bolsheviks turned to civil war during the 1917 Russian Revolution.</a:t>
            </a:r>
          </a:p>
          <a:p>
            <a:r>
              <a:rPr lang="en-US"/>
              <a:t>Constructivism</a:t>
            </a:r>
          </a:p>
          <a:p>
            <a:pPr lvl="1"/>
            <a:r>
              <a:rPr lang="en-US"/>
              <a:t>Alexander Rodchenko helped establish a post-revolutionary group of artists who worked together for the good of the state.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Title 15"/>
          <p:cNvSpPr>
            <a:spLocks noGrp="1"/>
          </p:cNvSpPr>
          <p:nvPr>
            <p:ph type="title"/>
          </p:nvPr>
        </p:nvSpPr>
        <p:spPr/>
        <p:txBody>
          <a:bodyPr/>
          <a:lstStyle/>
          <a:p>
            <a:r>
              <a:rPr lang="en-US"/>
              <a:t>Utilitarian Art Forms in Russia (2 of 3)</a:t>
            </a:r>
          </a:p>
        </p:txBody>
      </p:sp>
      <p:sp>
        <p:nvSpPr>
          <p:cNvPr id="166914" name="Content Placeholder 16"/>
          <p:cNvSpPr>
            <a:spLocks noGrp="1"/>
          </p:cNvSpPr>
          <p:nvPr>
            <p:ph idx="1"/>
          </p:nvPr>
        </p:nvSpPr>
        <p:spPr/>
        <p:txBody>
          <a:bodyPr/>
          <a:lstStyle/>
          <a:p>
            <a:r>
              <a:rPr lang="en-US"/>
              <a:t>Constructivism</a:t>
            </a:r>
          </a:p>
          <a:p>
            <a:pPr lvl="1"/>
            <a:r>
              <a:rPr lang="en-US" i="1"/>
              <a:t>Worker</a:t>
            </a:r>
            <a:r>
              <a:rPr lang="uk-UA" i="1"/>
              <a:t>'</a:t>
            </a:r>
            <a:r>
              <a:rPr lang="en-US" i="1"/>
              <a:t>s Club </a:t>
            </a:r>
            <a:r>
              <a:rPr lang="en-US"/>
              <a:t>was a model designed for ease of use. It made use of the Soviet wood industry</a:t>
            </a:r>
          </a:p>
          <a:p>
            <a:pPr lvl="1"/>
            <a:r>
              <a:rPr lang="en-US"/>
              <a:t>Engineer El Lissitzky used Malevich</a:t>
            </a:r>
            <a:r>
              <a:rPr lang="uk-UA"/>
              <a:t>'</a:t>
            </a:r>
            <a:r>
              <a:rPr lang="en-US"/>
              <a:t>s formal vocabulary to create </a:t>
            </a:r>
            <a:r>
              <a:rPr lang="ru-RU"/>
              <a:t>"</a:t>
            </a:r>
            <a:r>
              <a:rPr lang="en-US" i="1"/>
              <a:t>Prouns</a:t>
            </a:r>
            <a:r>
              <a:rPr lang="en-US"/>
              <a:t>,</a:t>
            </a:r>
            <a:r>
              <a:rPr lang="ru-RU"/>
              <a:t>"</a:t>
            </a:r>
            <a:r>
              <a:rPr lang="en-US"/>
              <a:t> some of which were early examples of </a:t>
            </a:r>
            <a:r>
              <a:rPr lang="en-US" b="1"/>
              <a:t>installation art</a:t>
            </a:r>
            <a:r>
              <a:rPr lang="en-US"/>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itle 3"/>
          <p:cNvSpPr>
            <a:spLocks noGrp="1"/>
          </p:cNvSpPr>
          <p:nvPr>
            <p:ph type="title"/>
          </p:nvPr>
        </p:nvSpPr>
        <p:spPr/>
        <p:txBody>
          <a:bodyPr>
            <a:normAutofit fontScale="90000"/>
          </a:bodyPr>
          <a:lstStyle/>
          <a:p>
            <a:r>
              <a:rPr lang="en-US" dirty="0"/>
              <a:t>Aleksandr </a:t>
            </a:r>
            <a:r>
              <a:rPr lang="en-US" dirty="0" err="1"/>
              <a:t>Rodchenko</a:t>
            </a:r>
            <a:r>
              <a:rPr lang="en-US" dirty="0"/>
              <a:t> WORKERS</a:t>
            </a:r>
            <a:r>
              <a:rPr lang="uk-UA" dirty="0"/>
              <a:t>'</a:t>
            </a:r>
            <a:r>
              <a:rPr lang="en-US" dirty="0"/>
              <a:t> CLUB</a:t>
            </a:r>
            <a:br>
              <a:rPr lang="en-US" dirty="0"/>
            </a:br>
            <a:r>
              <a:rPr lang="en-US" dirty="0"/>
              <a:t>Exhibited at the International Exposition of Modern Decorative and Industrial Arts, Paris. 1925. Art © Estate of Aleksandr </a:t>
            </a:r>
            <a:r>
              <a:rPr lang="en-US" dirty="0" err="1"/>
              <a:t>Rodchenko</a:t>
            </a:r>
            <a:r>
              <a:rPr lang="en-US" dirty="0"/>
              <a:t>/RAO, Moscow/VAGA, New York. </a:t>
            </a:r>
          </a:p>
        </p:txBody>
      </p:sp>
      <p:pic>
        <p:nvPicPr>
          <p:cNvPr id="2" name="Picture 1" descr="The central feature of the Worker’s Club was a long, narrow table with downward-pitching writing surfaces on each long side. Six high-backed, three-legged chairs sit along both sides of the tab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533400"/>
            <a:ext cx="8107680" cy="5031232"/>
          </a:xfrm>
          <a:prstGeom prst="rect">
            <a:avLst/>
          </a:prstGeom>
        </p:spPr>
      </p:pic>
    </p:spTree>
  </p:cSld>
  <p:clrMapOvr>
    <a:masterClrMapping/>
  </p:clrMapOvr>
  <p:transition spd="slow" advTm="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Title 3"/>
          <p:cNvSpPr>
            <a:spLocks noGrp="1"/>
          </p:cNvSpPr>
          <p:nvPr>
            <p:ph type="title"/>
          </p:nvPr>
        </p:nvSpPr>
        <p:spPr/>
        <p:txBody>
          <a:bodyPr>
            <a:normAutofit fontScale="90000"/>
          </a:bodyPr>
          <a:lstStyle/>
          <a:p>
            <a:r>
              <a:rPr lang="en-US" dirty="0"/>
              <a:t>El </a:t>
            </a:r>
            <a:r>
              <a:rPr lang="en-US" dirty="0" err="1"/>
              <a:t>Lissitzky</a:t>
            </a:r>
            <a:r>
              <a:rPr lang="en-US" dirty="0"/>
              <a:t> PROUN SPACE</a:t>
            </a:r>
            <a:br>
              <a:rPr lang="en-US" dirty="0"/>
            </a:br>
            <a:r>
              <a:rPr lang="en-US" dirty="0"/>
              <a:t>Created for the Great Berlin Art Exhibition. 1923, reconstruction 1971.</a:t>
            </a:r>
            <a:br>
              <a:rPr lang="en-US" dirty="0"/>
            </a:br>
            <a:r>
              <a:rPr lang="en-US" dirty="0"/>
              <a:t>Collection Van </a:t>
            </a:r>
            <a:r>
              <a:rPr lang="en-US" dirty="0" err="1"/>
              <a:t>Abbemuseum</a:t>
            </a:r>
            <a:r>
              <a:rPr lang="en-US" dirty="0"/>
              <a:t>, Eindhoven, The Netherlands. Photo: Peter Cox, Eindhoven, The Netherlands.</a:t>
            </a:r>
          </a:p>
        </p:txBody>
      </p:sp>
      <p:pic>
        <p:nvPicPr>
          <p:cNvPr id="2" name="Picture 1" descr="A square-shaped room, with angular, geometric shapes extruding a few inches from the walls. These shapes overlay each other, and are monochrome metallic shades. A cross-shape sits in the center of the far wall, with an orange attached to i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itle 15"/>
          <p:cNvSpPr>
            <a:spLocks noGrp="1"/>
          </p:cNvSpPr>
          <p:nvPr>
            <p:ph type="title"/>
          </p:nvPr>
        </p:nvSpPr>
        <p:spPr/>
        <p:txBody>
          <a:bodyPr/>
          <a:lstStyle/>
          <a:p>
            <a:r>
              <a:rPr lang="en-US"/>
              <a:t>Utilitarian Art Forms in Russia (3 of 3)</a:t>
            </a:r>
          </a:p>
        </p:txBody>
      </p:sp>
      <p:sp>
        <p:nvSpPr>
          <p:cNvPr id="172034" name="Content Placeholder 16"/>
          <p:cNvSpPr>
            <a:spLocks noGrp="1"/>
          </p:cNvSpPr>
          <p:nvPr>
            <p:ph idx="1"/>
          </p:nvPr>
        </p:nvSpPr>
        <p:spPr/>
        <p:txBody>
          <a:bodyPr/>
          <a:lstStyle/>
          <a:p>
            <a:r>
              <a:rPr lang="en-US"/>
              <a:t>Socialist Realism</a:t>
            </a:r>
          </a:p>
          <a:p>
            <a:pPr lvl="1"/>
            <a:r>
              <a:rPr lang="en-US"/>
              <a:t>Art in the Socialist Realism style was made to be more universally accessible and politically useful.	</a:t>
            </a:r>
          </a:p>
          <a:p>
            <a:pPr lvl="2"/>
            <a:r>
              <a:rPr lang="en-US"/>
              <a:t>It was supported by the Association of Artists of Revolutionary Russia, founded in 1922.</a:t>
            </a:r>
          </a:p>
          <a:p>
            <a:pPr lvl="1"/>
            <a:r>
              <a:rPr lang="en-US" i="1"/>
              <a:t>Worker and Collective Farm Woman </a:t>
            </a:r>
            <a:r>
              <a:rPr lang="en-US"/>
              <a:t>shows two figures as equal partners holding up a hammer and sickle.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Title 3"/>
          <p:cNvSpPr>
            <a:spLocks noGrp="1"/>
          </p:cNvSpPr>
          <p:nvPr>
            <p:ph type="title"/>
          </p:nvPr>
        </p:nvSpPr>
        <p:spPr/>
        <p:txBody>
          <a:bodyPr>
            <a:normAutofit fontScale="90000"/>
          </a:bodyPr>
          <a:lstStyle/>
          <a:p>
            <a:r>
              <a:rPr lang="en-US" dirty="0"/>
              <a:t>Vera </a:t>
            </a:r>
            <a:r>
              <a:rPr lang="en-US" dirty="0" err="1"/>
              <a:t>Mukhina</a:t>
            </a:r>
            <a:r>
              <a:rPr lang="en-US" dirty="0"/>
              <a:t> WORKER AND COLLECTIVE FARM WOMAN</a:t>
            </a:r>
            <a:br>
              <a:rPr lang="en-US" dirty="0"/>
            </a:br>
            <a:r>
              <a:rPr lang="en-US" dirty="0"/>
              <a:t>Sculpture for the Soviet Pavilion, Paris Universal Exposition. 1937.</a:t>
            </a:r>
            <a:br>
              <a:rPr lang="en-US" dirty="0"/>
            </a:br>
            <a:r>
              <a:rPr lang="en-US" dirty="0"/>
              <a:t>Stainless steel, height approx. 78</a:t>
            </a:r>
            <a:r>
              <a:rPr lang="uk-UA" dirty="0"/>
              <a:t>'</a:t>
            </a:r>
            <a:r>
              <a:rPr lang="en-US" dirty="0"/>
              <a:t> (23.8 m).</a:t>
            </a:r>
            <a:br>
              <a:rPr lang="en-US" dirty="0"/>
            </a:br>
            <a:r>
              <a:rPr lang="en-US" dirty="0"/>
              <a:t>Art © Estate of Vera </a:t>
            </a:r>
            <a:r>
              <a:rPr lang="en-US" dirty="0" err="1"/>
              <a:t>Mukhina</a:t>
            </a:r>
            <a:r>
              <a:rPr lang="en-US" dirty="0"/>
              <a:t>/RAO, Moscow/VAGA, New York. </a:t>
            </a:r>
          </a:p>
        </p:txBody>
      </p:sp>
      <p:pic>
        <p:nvPicPr>
          <p:cNvPr id="2" name="Picture 1" descr="The sculpture of the male factory worker and female farm worker stands atop a tall, stone building at one side of a busy plaza, filled with pedestria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Title 15"/>
          <p:cNvSpPr>
            <a:spLocks noGrp="1"/>
          </p:cNvSpPr>
          <p:nvPr>
            <p:ph type="title"/>
          </p:nvPr>
        </p:nvSpPr>
        <p:spPr/>
        <p:txBody>
          <a:bodyPr/>
          <a:lstStyle/>
          <a:p>
            <a:r>
              <a:rPr lang="en-US"/>
              <a:t>De Stijl in the Netherlands (1 of 2)</a:t>
            </a:r>
          </a:p>
        </p:txBody>
      </p:sp>
      <p:sp>
        <p:nvSpPr>
          <p:cNvPr id="175106" name="Content Placeholder 16"/>
          <p:cNvSpPr>
            <a:spLocks noGrp="1"/>
          </p:cNvSpPr>
          <p:nvPr>
            <p:ph idx="1"/>
          </p:nvPr>
        </p:nvSpPr>
        <p:spPr/>
        <p:txBody>
          <a:bodyPr/>
          <a:lstStyle/>
          <a:p>
            <a:r>
              <a:rPr lang="en-US"/>
              <a:t>Piet Mondrian led the De Stijl movement, which addressed two kinds of beauty: sensual and rational.</a:t>
            </a:r>
          </a:p>
          <a:p>
            <a:pPr lvl="1"/>
            <a:r>
              <a:rPr lang="en-US" i="1"/>
              <a:t>Composition with Yellow, Red, and Blue </a:t>
            </a:r>
            <a:r>
              <a:rPr lang="en-US"/>
              <a:t>shows his restriction of formal vocabulary to the </a:t>
            </a:r>
            <a:r>
              <a:rPr lang="en-US" b="1"/>
              <a:t>primary colors </a:t>
            </a:r>
            <a:r>
              <a:rPr lang="en-US"/>
              <a:t>and neutrals.</a:t>
            </a:r>
          </a:p>
          <a:p>
            <a:pPr lvl="2"/>
            <a:r>
              <a:rPr lang="en-US"/>
              <a:t>He called it </a:t>
            </a:r>
            <a:r>
              <a:rPr lang="ru-RU"/>
              <a:t>"</a:t>
            </a:r>
            <a:r>
              <a:rPr lang="en-US"/>
              <a:t>dynamic equilibrium,</a:t>
            </a:r>
            <a:r>
              <a:rPr lang="ru-RU"/>
              <a:t>"</a:t>
            </a:r>
            <a:r>
              <a:rPr lang="en-US"/>
              <a:t> and it introduced a universal style with applications beyond art.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Title 3"/>
          <p:cNvSpPr>
            <a:spLocks noGrp="1"/>
          </p:cNvSpPr>
          <p:nvPr>
            <p:ph type="title"/>
          </p:nvPr>
        </p:nvSpPr>
        <p:spPr/>
        <p:txBody>
          <a:bodyPr>
            <a:normAutofit fontScale="90000"/>
          </a:bodyPr>
          <a:lstStyle/>
          <a:p>
            <a:r>
              <a:rPr lang="en-US" dirty="0"/>
              <a:t>Piet Mondrian COMPOSITION WITH YELLOW, RED, AND BLUE</a:t>
            </a:r>
            <a:br>
              <a:rPr lang="en-US" dirty="0"/>
            </a:br>
            <a:r>
              <a:rPr lang="en-US" dirty="0"/>
              <a:t>1927. Oil on canvas, 14-7/8</a:t>
            </a:r>
            <a:r>
              <a:rPr lang="ru-RU" dirty="0"/>
              <a:t>"</a:t>
            </a:r>
            <a:r>
              <a:rPr lang="en-US" dirty="0"/>
              <a:t> × 13-3/4</a:t>
            </a:r>
            <a:r>
              <a:rPr lang="ru-RU" dirty="0"/>
              <a:t>"</a:t>
            </a:r>
            <a:r>
              <a:rPr lang="en-US" dirty="0"/>
              <a:t> (37.8 × 34.9 cm).</a:t>
            </a:r>
            <a:br>
              <a:rPr lang="en-US" dirty="0"/>
            </a:br>
            <a:r>
              <a:rPr lang="en-US" dirty="0"/>
              <a:t>The </a:t>
            </a:r>
            <a:r>
              <a:rPr lang="en-US" dirty="0" err="1"/>
              <a:t>Menil</a:t>
            </a:r>
            <a:r>
              <a:rPr lang="en-US" dirty="0"/>
              <a:t> Collection, Houston. © 2012 Mondrian/Holtzman Trust c/o HCR International USA. </a:t>
            </a:r>
          </a:p>
        </p:txBody>
      </p:sp>
      <p:pic>
        <p:nvPicPr>
          <p:cNvPr id="2" name="Picture 1" descr="The square canvas is subdivided into a large central square, surrounded by seven smaller rectangles. Of these outer rectangles, a tall one on the left is red, a medium-width one on the bottom is blue, and two adjacent, shorter ones in the top-right are yellow."/>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Title 15"/>
          <p:cNvSpPr>
            <a:spLocks noGrp="1"/>
          </p:cNvSpPr>
          <p:nvPr>
            <p:ph type="title"/>
          </p:nvPr>
        </p:nvSpPr>
        <p:spPr/>
        <p:txBody>
          <a:bodyPr/>
          <a:lstStyle/>
          <a:p>
            <a:r>
              <a:rPr lang="en-US"/>
              <a:t>De Stijl in the Netherlands (2 of 2)</a:t>
            </a:r>
          </a:p>
        </p:txBody>
      </p:sp>
      <p:sp>
        <p:nvSpPr>
          <p:cNvPr id="178178" name="Content Placeholder 16"/>
          <p:cNvSpPr>
            <a:spLocks noGrp="1"/>
          </p:cNvSpPr>
          <p:nvPr>
            <p:ph idx="1"/>
          </p:nvPr>
        </p:nvSpPr>
        <p:spPr/>
        <p:txBody>
          <a:bodyPr/>
          <a:lstStyle/>
          <a:p>
            <a:r>
              <a:rPr lang="en-US"/>
              <a:t>Architect and designer Gerrit Rietveld created the Schröder House in Utrect in the Modern movement known as the International Style.</a:t>
            </a:r>
          </a:p>
          <a:p>
            <a:pPr lvl="1"/>
            <a:r>
              <a:rPr lang="en-US"/>
              <a:t>Dynamic equilibrium was applied to the entire house.</a:t>
            </a:r>
          </a:p>
          <a:p>
            <a:pPr lvl="1"/>
            <a:r>
              <a:rPr lang="en-US"/>
              <a:t>The famous </a:t>
            </a:r>
            <a:r>
              <a:rPr lang="ru-RU" i="1"/>
              <a:t>"</a:t>
            </a:r>
            <a:r>
              <a:rPr lang="en-US" i="1"/>
              <a:t>Red-Blue</a:t>
            </a:r>
            <a:r>
              <a:rPr lang="ru-RU" i="1"/>
              <a:t>"</a:t>
            </a:r>
            <a:r>
              <a:rPr lang="en-US" i="1"/>
              <a:t> Chair </a:t>
            </a:r>
            <a:r>
              <a:rPr lang="en-US"/>
              <a:t>in the bedroom is shown in a partitioned bedroom.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Title 3"/>
          <p:cNvSpPr>
            <a:spLocks noGrp="1"/>
          </p:cNvSpPr>
          <p:nvPr>
            <p:ph type="title"/>
          </p:nvPr>
        </p:nvSpPr>
        <p:spPr/>
        <p:txBody>
          <a:bodyPr>
            <a:normAutofit fontScale="90000"/>
          </a:bodyPr>
          <a:lstStyle/>
          <a:p>
            <a:r>
              <a:rPr lang="en-US" dirty="0"/>
              <a:t>Gerrit Rietveld SCHRÖDER HOUSE, UTRECHT</a:t>
            </a:r>
            <a:br>
              <a:rPr lang="en-US" dirty="0"/>
            </a:br>
            <a:r>
              <a:rPr lang="en-US" dirty="0"/>
              <a:t>The Netherlands. 1925.</a:t>
            </a:r>
            <a:br>
              <a:rPr lang="en-US" dirty="0"/>
            </a:br>
            <a:r>
              <a:rPr lang="en-US" dirty="0"/>
              <a:t>© </a:t>
            </a:r>
            <a:r>
              <a:rPr lang="en-US" dirty="0" err="1"/>
              <a:t>Ger</a:t>
            </a:r>
            <a:r>
              <a:rPr lang="en-US" dirty="0"/>
              <a:t> </a:t>
            </a:r>
            <a:r>
              <a:rPr lang="en-US" dirty="0" err="1"/>
              <a:t>Bosma</a:t>
            </a:r>
            <a:r>
              <a:rPr lang="en-US" dirty="0"/>
              <a:t>/</a:t>
            </a:r>
            <a:r>
              <a:rPr lang="en-US" dirty="0" err="1"/>
              <a:t>Alamy</a:t>
            </a:r>
            <a:r>
              <a:rPr lang="en-US" dirty="0"/>
              <a:t> Stock Photo.</a:t>
            </a:r>
          </a:p>
        </p:txBody>
      </p:sp>
      <p:pic>
        <p:nvPicPr>
          <p:cNvPr id="2" name="Picture 1" descr="The intersecting, matte-colored geometry of the Schroder House sits at one end of a more conventional block of housing, with red brick and mortar construction."/>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78968"/>
            <a:ext cx="8107680" cy="5031232"/>
          </a:xfrm>
          <a:prstGeom prst="rect">
            <a:avLst/>
          </a:prstGeom>
        </p:spPr>
      </p:pic>
    </p:spTree>
  </p:cSld>
  <p:clrMapOvr>
    <a:masterClrMapping/>
  </p:clrMapOvr>
  <p:transition spd="slow" advTm="0"/>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Title 3"/>
          <p:cNvSpPr>
            <a:spLocks noGrp="1"/>
          </p:cNvSpPr>
          <p:nvPr>
            <p:ph type="title"/>
          </p:nvPr>
        </p:nvSpPr>
        <p:spPr/>
        <p:txBody>
          <a:bodyPr>
            <a:normAutofit fontScale="90000"/>
          </a:bodyPr>
          <a:lstStyle/>
          <a:p>
            <a:r>
              <a:rPr lang="en-US" dirty="0"/>
              <a:t>Gerrit Rietveld INTERIOR, SCHRÖDER HOUSE, WITH </a:t>
            </a:r>
            <a:r>
              <a:rPr lang="ru-RU" dirty="0"/>
              <a:t>"</a:t>
            </a:r>
            <a:r>
              <a:rPr lang="en-US" dirty="0"/>
              <a:t>RED-BLUE</a:t>
            </a:r>
            <a:r>
              <a:rPr lang="ru-RU" dirty="0"/>
              <a:t>"</a:t>
            </a:r>
            <a:r>
              <a:rPr lang="en-US" dirty="0"/>
              <a:t> CHAIR</a:t>
            </a:r>
            <a:br>
              <a:rPr lang="en-US" dirty="0"/>
            </a:br>
            <a:r>
              <a:rPr lang="en-US" dirty="0"/>
              <a:t>1925.</a:t>
            </a:r>
            <a:br>
              <a:rPr lang="en-US" dirty="0"/>
            </a:br>
            <a:r>
              <a:rPr lang="en-US" dirty="0"/>
              <a:t>Photo: </a:t>
            </a:r>
            <a:r>
              <a:rPr lang="en-US" dirty="0" err="1"/>
              <a:t>Jannes</a:t>
            </a:r>
            <a:r>
              <a:rPr lang="en-US" dirty="0"/>
              <a:t> </a:t>
            </a:r>
            <a:r>
              <a:rPr lang="en-US" dirty="0" err="1"/>
              <a:t>Linders</a:t>
            </a:r>
            <a:r>
              <a:rPr lang="en-US" dirty="0"/>
              <a:t>. © 2016 Artists Rights Society (ARS), New York/c/o </a:t>
            </a:r>
            <a:r>
              <a:rPr lang="en-US" dirty="0" err="1"/>
              <a:t>Pictoright</a:t>
            </a:r>
            <a:r>
              <a:rPr lang="en-US" dirty="0"/>
              <a:t> Amsterdam.</a:t>
            </a:r>
          </a:p>
        </p:txBody>
      </p:sp>
      <p:pic>
        <p:nvPicPr>
          <p:cNvPr id="2" name="Picture 1" descr="In the foreground, a framework of rectangular, black metal rods supports two flat planes of material, angled to form a chair. The floor is painted bright red below the chair, but blue in the background, near a small bed and sink.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3297" name="Title 15"/>
          <p:cNvSpPr>
            <a:spLocks noGrp="1"/>
          </p:cNvSpPr>
          <p:nvPr>
            <p:ph type="title"/>
          </p:nvPr>
        </p:nvSpPr>
        <p:spPr/>
        <p:txBody>
          <a:bodyPr/>
          <a:lstStyle/>
          <a:p>
            <a:r>
              <a:rPr lang="en-US"/>
              <a:t>The Bauhaus in Germany (1 of 5)</a:t>
            </a:r>
          </a:p>
        </p:txBody>
      </p:sp>
      <p:sp>
        <p:nvSpPr>
          <p:cNvPr id="183298" name="Content Placeholder 16"/>
          <p:cNvSpPr>
            <a:spLocks noGrp="1"/>
          </p:cNvSpPr>
          <p:nvPr>
            <p:ph idx="1"/>
          </p:nvPr>
        </p:nvSpPr>
        <p:spPr/>
        <p:txBody>
          <a:bodyPr/>
          <a:lstStyle/>
          <a:p>
            <a:r>
              <a:rPr lang="en-US"/>
              <a:t>Gropius designed the building when the Bauhaus moved to the city of Dessau.</a:t>
            </a:r>
          </a:p>
          <a:p>
            <a:pPr lvl="1"/>
            <a:r>
              <a:rPr lang="en-US"/>
              <a:t>Technology advances meant no need for walls as structural supports, so he replaced them with glass panels on some sides.</a:t>
            </a:r>
          </a:p>
          <a:p>
            <a:r>
              <a:rPr lang="en-US"/>
              <a:t>Ludwig Mies van der Rohe directed the Bauhaus from 1930 on.</a:t>
            </a:r>
          </a:p>
          <a:p>
            <a:pPr lvl="1"/>
            <a:r>
              <a:rPr lang="en-US"/>
              <a:t>Adolf Hitler forced its closure in 1933.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Title 3"/>
          <p:cNvSpPr>
            <a:spLocks noGrp="1"/>
          </p:cNvSpPr>
          <p:nvPr>
            <p:ph type="title"/>
          </p:nvPr>
        </p:nvSpPr>
        <p:spPr/>
        <p:txBody>
          <a:bodyPr>
            <a:normAutofit fontScale="90000"/>
          </a:bodyPr>
          <a:lstStyle/>
          <a:p>
            <a:r>
              <a:rPr lang="en-US" dirty="0"/>
              <a:t>Walter Gropius BAUHAUS BUILDING, DESSAU</a:t>
            </a:r>
            <a:br>
              <a:rPr lang="en-US" dirty="0"/>
            </a:br>
            <a:r>
              <a:rPr lang="en-US" dirty="0"/>
              <a:t>Anhalt, Germany. 1925–1926. View from northwest.</a:t>
            </a:r>
            <a:br>
              <a:rPr lang="en-US" dirty="0"/>
            </a:br>
            <a:r>
              <a:rPr lang="en-US" dirty="0"/>
              <a:t>© 2016 Artists Rights Society (ARS), New York/VG Bild-Kunst, Bonn. © </a:t>
            </a:r>
            <a:r>
              <a:rPr lang="en-US" dirty="0" err="1"/>
              <a:t>stockeurope</a:t>
            </a:r>
            <a:r>
              <a:rPr lang="en-US" dirty="0"/>
              <a:t>/</a:t>
            </a:r>
            <a:r>
              <a:rPr lang="en-US" dirty="0" err="1"/>
              <a:t>Alamy</a:t>
            </a:r>
            <a:r>
              <a:rPr lang="en-US" dirty="0"/>
              <a:t> Stock Photo. </a:t>
            </a:r>
          </a:p>
        </p:txBody>
      </p:sp>
      <p:pic>
        <p:nvPicPr>
          <p:cNvPr id="2" name="Picture 1" descr="The Bauhaus Building’s narrow end has a simple concrete façade decorated by a column of rounded, block capital letters spelling, Bauhaus. The wider sides have massive banks of windows across three floors, supported by a grid of sills and suppor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Title 15"/>
          <p:cNvSpPr>
            <a:spLocks noGrp="1"/>
          </p:cNvSpPr>
          <p:nvPr>
            <p:ph type="title"/>
          </p:nvPr>
        </p:nvSpPr>
        <p:spPr/>
        <p:txBody>
          <a:bodyPr/>
          <a:lstStyle/>
          <a:p>
            <a:r>
              <a:rPr lang="en-US"/>
              <a:t>The Bauhaus in Germany (2 of 5)</a:t>
            </a:r>
          </a:p>
        </p:txBody>
      </p:sp>
      <p:sp>
        <p:nvSpPr>
          <p:cNvPr id="186370" name="Content Placeholder 16"/>
          <p:cNvSpPr>
            <a:spLocks noGrp="1"/>
          </p:cNvSpPr>
          <p:nvPr>
            <p:ph idx="1"/>
          </p:nvPr>
        </p:nvSpPr>
        <p:spPr/>
        <p:txBody>
          <a:bodyPr/>
          <a:lstStyle/>
          <a:p>
            <a:r>
              <a:rPr lang="en-US"/>
              <a:t>The Bauhaus was the brainchild of Walter Gropius and at first, it did not have a formal training program.</a:t>
            </a:r>
          </a:p>
          <a:p>
            <a:pPr lvl="1"/>
            <a:r>
              <a:rPr lang="en-US"/>
              <a:t>Learning was rooted in doing.</a:t>
            </a:r>
          </a:p>
          <a:p>
            <a:r>
              <a:rPr lang="en-US"/>
              <a:t>The workshops were reoriented under Moholy-Nagy to create sleek, functional designs suitable for mass production.</a:t>
            </a:r>
          </a:p>
          <a:p>
            <a:pPr lvl="1"/>
            <a:r>
              <a:rPr lang="en-US"/>
              <a:t>An example is Marianne Brandt</a:t>
            </a:r>
            <a:r>
              <a:rPr lang="uk-UA"/>
              <a:t>'</a:t>
            </a:r>
            <a:r>
              <a:rPr lang="en-US"/>
              <a:t>s </a:t>
            </a:r>
            <a:r>
              <a:rPr lang="en-US" i="1"/>
              <a:t>Tea and Coffee Service</a:t>
            </a:r>
            <a:r>
              <a:rPr lang="en-US"/>
              <a: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4" name="Title 3"/>
          <p:cNvSpPr>
            <a:spLocks noGrp="1"/>
          </p:cNvSpPr>
          <p:nvPr>
            <p:ph type="title"/>
          </p:nvPr>
        </p:nvSpPr>
        <p:spPr/>
        <p:txBody>
          <a:bodyPr>
            <a:normAutofit fontScale="90000"/>
          </a:bodyPr>
          <a:lstStyle/>
          <a:p>
            <a:r>
              <a:rPr lang="en-US" dirty="0"/>
              <a:t>Marianne Brandt COFFEE AND TEA SERVICE</a:t>
            </a:r>
            <a:br>
              <a:rPr lang="en-US" dirty="0"/>
            </a:br>
            <a:r>
              <a:rPr lang="en-US" dirty="0"/>
              <a:t>1924. Silver and ebony, with Plexiglas cover for sugar bowl.</a:t>
            </a:r>
            <a:br>
              <a:rPr lang="en-US" dirty="0"/>
            </a:br>
            <a:r>
              <a:rPr lang="en-US" dirty="0"/>
              <a:t>Tray, 13</a:t>
            </a:r>
            <a:r>
              <a:rPr lang="ru-RU" dirty="0"/>
              <a:t>"</a:t>
            </a:r>
            <a:r>
              <a:rPr lang="en-US" dirty="0"/>
              <a:t> × 20-1/4</a:t>
            </a:r>
            <a:r>
              <a:rPr lang="ru-RU" dirty="0"/>
              <a:t>"</a:t>
            </a:r>
            <a:r>
              <a:rPr lang="en-US" dirty="0"/>
              <a:t> (33 × 51.5 cm).</a:t>
            </a:r>
            <a:br>
              <a:rPr lang="en-US" dirty="0"/>
            </a:br>
            <a:r>
              <a:rPr lang="en-US" dirty="0"/>
              <a:t>Bauhaus </a:t>
            </a:r>
            <a:r>
              <a:rPr lang="en-US" dirty="0" err="1"/>
              <a:t>Archiv</a:t>
            </a:r>
            <a:r>
              <a:rPr lang="en-US" dirty="0"/>
              <a:t>, Berlin. © 2016 Artists Rights Society (ARS), New York/VG Bild-Kunst, Bonn. </a:t>
            </a:r>
          </a:p>
        </p:txBody>
      </p:sp>
      <p:pic>
        <p:nvPicPr>
          <p:cNvPr id="2" name="Picture 1" descr="A six-piece tea seat, including an ovoid tray, two kettles, a carafe, a spouted vessel for milk, and a wide bowl with a glass lid. The components have consistent design, composed of cylinders and hemisphere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Title 3"/>
          <p:cNvSpPr>
            <a:spLocks noGrp="1"/>
          </p:cNvSpPr>
          <p:nvPr>
            <p:ph type="title"/>
          </p:nvPr>
        </p:nvSpPr>
        <p:spPr/>
        <p:txBody>
          <a:bodyPr>
            <a:normAutofit fontScale="90000"/>
          </a:bodyPr>
          <a:lstStyle/>
          <a:p>
            <a:r>
              <a:rPr lang="en-US" dirty="0"/>
              <a:t>Anni Albers WALL HANGING</a:t>
            </a:r>
            <a:br>
              <a:rPr lang="en-US" dirty="0"/>
            </a:br>
            <a:r>
              <a:rPr lang="en-US" dirty="0"/>
              <a:t>1926. Silk, three-ply weave, 5</a:t>
            </a:r>
            <a:r>
              <a:rPr lang="uk-UA" dirty="0"/>
              <a:t>'</a:t>
            </a:r>
            <a:r>
              <a:rPr lang="en-US" dirty="0"/>
              <a:t>11-5/16</a:t>
            </a:r>
            <a:r>
              <a:rPr lang="ru-RU" dirty="0"/>
              <a:t>"</a:t>
            </a:r>
            <a:r>
              <a:rPr lang="en-US" dirty="0"/>
              <a:t> × 3</a:t>
            </a:r>
            <a:r>
              <a:rPr lang="uk-UA" dirty="0"/>
              <a:t>'</a:t>
            </a:r>
            <a:r>
              <a:rPr lang="en-US" dirty="0"/>
              <a:t>11-5/8</a:t>
            </a:r>
            <a:r>
              <a:rPr lang="ru-RU" dirty="0"/>
              <a:t>"</a:t>
            </a:r>
            <a:r>
              <a:rPr lang="en-US" dirty="0"/>
              <a:t> (1.83 × 1.22 m).</a:t>
            </a:r>
            <a:br>
              <a:rPr lang="en-US" dirty="0"/>
            </a:br>
            <a:r>
              <a:rPr lang="en-US" dirty="0"/>
              <a:t>Harvard Art Museums/Busch-Reisinger Museum, Association Fund. © 2016 The Josef and Anni Albers Foundation/Artists Rights Society (ARS), New York. Bridgeman Images.</a:t>
            </a:r>
          </a:p>
        </p:txBody>
      </p:sp>
      <p:pic>
        <p:nvPicPr>
          <p:cNvPr id="2" name="Picture 1" descr="The tapestry presents a grid of tall rectangles, colored in hues of cream, yellow, gray, and green. Some of the rectangles are solid, but most have horizontal stripes of alternating colors.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2768"/>
            <a:ext cx="8107680" cy="5031232"/>
          </a:xfrm>
          <a:prstGeom prst="rect">
            <a:avLst/>
          </a:prstGeom>
        </p:spPr>
      </p:pic>
    </p:spTree>
  </p:cSld>
  <p:clrMapOvr>
    <a:masterClrMapping/>
  </p:clrMapOvr>
  <p:transition spd="slow" advTm="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Title 15"/>
          <p:cNvSpPr>
            <a:spLocks noGrp="1"/>
          </p:cNvSpPr>
          <p:nvPr>
            <p:ph type="title"/>
          </p:nvPr>
        </p:nvSpPr>
        <p:spPr/>
        <p:txBody>
          <a:bodyPr/>
          <a:lstStyle/>
          <a:p>
            <a:r>
              <a:rPr lang="en-US"/>
              <a:t>The Bauhaus in Germany (3 of 5)</a:t>
            </a:r>
          </a:p>
        </p:txBody>
      </p:sp>
      <p:sp>
        <p:nvSpPr>
          <p:cNvPr id="191490" name="Content Placeholder 16"/>
          <p:cNvSpPr>
            <a:spLocks noGrp="1"/>
          </p:cNvSpPr>
          <p:nvPr>
            <p:ph idx="1"/>
          </p:nvPr>
        </p:nvSpPr>
        <p:spPr/>
        <p:txBody>
          <a:bodyPr/>
          <a:lstStyle/>
          <a:p>
            <a:r>
              <a:rPr lang="en-US"/>
              <a:t>The International Style</a:t>
            </a:r>
          </a:p>
          <a:p>
            <a:pPr lvl="1"/>
            <a:r>
              <a:rPr lang="en-US"/>
              <a:t>The </a:t>
            </a:r>
            <a:r>
              <a:rPr lang="ru-RU"/>
              <a:t>"</a:t>
            </a:r>
            <a:r>
              <a:rPr lang="en-US"/>
              <a:t>International Style,</a:t>
            </a:r>
            <a:r>
              <a:rPr lang="ru-RU"/>
              <a:t>"</a:t>
            </a:r>
            <a:r>
              <a:rPr lang="en-US"/>
              <a:t> developed beginning in 1927, was focused on three principles:</a:t>
            </a:r>
          </a:p>
          <a:p>
            <a:pPr lvl="2"/>
            <a:r>
              <a:rPr lang="en-US"/>
              <a:t>The conception of architecture as volume rather than mass</a:t>
            </a:r>
          </a:p>
          <a:p>
            <a:pPr lvl="2"/>
            <a:r>
              <a:rPr lang="en-US"/>
              <a:t>Regularity rather than symmetry as the chief means of ordering design</a:t>
            </a:r>
          </a:p>
          <a:p>
            <a:pPr lvl="2"/>
            <a:r>
              <a:rPr lang="en-US"/>
              <a:t>Arbitrary applied decoration</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Title 15"/>
          <p:cNvSpPr>
            <a:spLocks noGrp="1"/>
          </p:cNvSpPr>
          <p:nvPr>
            <p:ph type="title"/>
          </p:nvPr>
        </p:nvSpPr>
        <p:spPr/>
        <p:txBody>
          <a:bodyPr/>
          <a:lstStyle/>
          <a:p>
            <a:r>
              <a:rPr lang="en-US"/>
              <a:t>The Bauhaus in Germany (4 of 5)</a:t>
            </a:r>
          </a:p>
        </p:txBody>
      </p:sp>
      <p:sp>
        <p:nvSpPr>
          <p:cNvPr id="192514" name="Content Placeholder 16"/>
          <p:cNvSpPr>
            <a:spLocks noGrp="1"/>
          </p:cNvSpPr>
          <p:nvPr>
            <p:ph idx="1"/>
          </p:nvPr>
        </p:nvSpPr>
        <p:spPr/>
        <p:txBody>
          <a:bodyPr/>
          <a:lstStyle/>
          <a:p>
            <a:r>
              <a:rPr lang="en-US"/>
              <a:t>Suppression of the Avant-Garde in Nazi Germany</a:t>
            </a:r>
          </a:p>
          <a:p>
            <a:pPr lvl="1"/>
            <a:r>
              <a:rPr lang="en-US"/>
              <a:t>A principal target of suppression was the Bauhaus school of art and design.</a:t>
            </a:r>
          </a:p>
          <a:p>
            <a:pPr lvl="1"/>
            <a:r>
              <a:rPr lang="en-US"/>
              <a:t>After Adolf Hitler came to power, the Bauhaus was forced to close for good.</a:t>
            </a:r>
          </a:p>
          <a:p>
            <a:pPr lvl="2"/>
            <a:r>
              <a:rPr lang="en-US"/>
              <a:t>Nazis attacked Modernist painters, whose intense depictions of German soldiers were considered unpatriotic.</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Title 15"/>
          <p:cNvSpPr>
            <a:spLocks noGrp="1"/>
          </p:cNvSpPr>
          <p:nvPr>
            <p:ph type="title"/>
          </p:nvPr>
        </p:nvSpPr>
        <p:spPr/>
        <p:txBody>
          <a:bodyPr/>
          <a:lstStyle/>
          <a:p>
            <a:r>
              <a:rPr lang="en-US"/>
              <a:t>The Bauhaus in Germany (5 of 5)</a:t>
            </a:r>
          </a:p>
        </p:txBody>
      </p:sp>
      <p:sp>
        <p:nvSpPr>
          <p:cNvPr id="193538" name="Content Placeholder 16"/>
          <p:cNvSpPr>
            <a:spLocks noGrp="1"/>
          </p:cNvSpPr>
          <p:nvPr>
            <p:ph idx="1"/>
          </p:nvPr>
        </p:nvSpPr>
        <p:spPr/>
        <p:txBody>
          <a:bodyPr/>
          <a:lstStyle/>
          <a:p>
            <a:r>
              <a:rPr lang="en-US"/>
              <a:t>Suppression of the Avant-Garde in Nazi Germany</a:t>
            </a:r>
          </a:p>
          <a:p>
            <a:pPr lvl="1"/>
            <a:r>
              <a:rPr lang="en-US"/>
              <a:t>Nazi leadership organized the </a:t>
            </a:r>
            <a:r>
              <a:rPr lang="ru-RU"/>
              <a:t>"</a:t>
            </a:r>
            <a:r>
              <a:rPr lang="en-US"/>
              <a:t>Degenerate Art</a:t>
            </a:r>
            <a:r>
              <a:rPr lang="ru-RU"/>
              <a:t>"</a:t>
            </a:r>
            <a:r>
              <a:rPr lang="en-US"/>
              <a:t> exhibition intended to erase banned Modern works.</a:t>
            </a:r>
          </a:p>
          <a:p>
            <a:pPr lvl="1"/>
            <a:r>
              <a:rPr lang="en-US"/>
              <a:t>By the time World War II began, German authorities burned countless </a:t>
            </a:r>
            <a:r>
              <a:rPr lang="ru-RU"/>
              <a:t>"</a:t>
            </a:r>
            <a:r>
              <a:rPr lang="en-US"/>
              <a:t>subversive</a:t>
            </a:r>
            <a:r>
              <a:rPr lang="ru-RU"/>
              <a:t>"</a:t>
            </a:r>
            <a:r>
              <a:rPr lang="en-US"/>
              <a:t> works from throughout the country.</a:t>
            </a:r>
          </a:p>
          <a:p>
            <a:pPr lvl="1"/>
            <a:r>
              <a:rPr lang="en-US"/>
              <a:t>Many artists fled the country.</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Title 3"/>
          <p:cNvSpPr>
            <a:spLocks noGrp="1"/>
          </p:cNvSpPr>
          <p:nvPr>
            <p:ph type="title"/>
          </p:nvPr>
        </p:nvSpPr>
        <p:spPr/>
        <p:txBody>
          <a:bodyPr>
            <a:normAutofit fontScale="90000"/>
          </a:bodyPr>
          <a:lstStyle/>
          <a:p>
            <a:r>
              <a:rPr lang="en-US" dirty="0"/>
              <a:t>THE DADA WALL IN ROOM 3 OF THE </a:t>
            </a:r>
            <a:r>
              <a:rPr lang="ru-RU" dirty="0"/>
              <a:t>"</a:t>
            </a:r>
            <a:r>
              <a:rPr lang="en-US" dirty="0"/>
              <a:t>DEGENERATE ART</a:t>
            </a:r>
            <a:r>
              <a:rPr lang="ru-RU" dirty="0"/>
              <a:t>"</a:t>
            </a:r>
            <a:br>
              <a:rPr lang="en-US" dirty="0"/>
            </a:br>
            <a:r>
              <a:rPr lang="en-US" dirty="0"/>
              <a:t>(</a:t>
            </a:r>
            <a:r>
              <a:rPr lang="ru-RU" dirty="0"/>
              <a:t>"</a:t>
            </a:r>
            <a:r>
              <a:rPr lang="en-US" dirty="0"/>
              <a:t>ENTARTETE KUNST</a:t>
            </a:r>
            <a:r>
              <a:rPr lang="ru-RU" dirty="0"/>
              <a:t>"</a:t>
            </a:r>
            <a:r>
              <a:rPr lang="en-US" dirty="0"/>
              <a:t>) EXHIBITION</a:t>
            </a:r>
            <a:br>
              <a:rPr lang="en-US" dirty="0"/>
            </a:br>
            <a:r>
              <a:rPr lang="en-US" dirty="0"/>
              <a:t>Munich. 1937. Art © Estate of George Grosz/Licensed by VAGA, New York. Akademie der </a:t>
            </a:r>
            <a:r>
              <a:rPr lang="en-US" dirty="0" err="1"/>
              <a:t>Künste</a:t>
            </a:r>
            <a:r>
              <a:rPr lang="en-US" dirty="0"/>
              <a:t>/</a:t>
            </a:r>
            <a:r>
              <a:rPr lang="en-US" dirty="0" err="1"/>
              <a:t>Archiv</a:t>
            </a:r>
            <a:r>
              <a:rPr lang="en-US" dirty="0"/>
              <a:t> </a:t>
            </a:r>
            <a:r>
              <a:rPr lang="en-US" dirty="0" err="1"/>
              <a:t>Bildende</a:t>
            </a:r>
            <a:r>
              <a:rPr lang="en-US" dirty="0"/>
              <a:t> Kunst/George Grosz-</a:t>
            </a:r>
            <a:r>
              <a:rPr lang="en-US" dirty="0" err="1"/>
              <a:t>Archiv</a:t>
            </a:r>
            <a:r>
              <a:rPr lang="en-US" dirty="0"/>
              <a:t>. </a:t>
            </a:r>
          </a:p>
        </p:txBody>
      </p:sp>
      <p:pic>
        <p:nvPicPr>
          <p:cNvPr id="2" name="Picture 1" descr="Paintings and sculptures from a wide range of artistic traditions are displayed on and around a freestanding display wall, which provides its own canvas for placing fliers, plaques, or derisive graffiti.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Title 15"/>
          <p:cNvSpPr>
            <a:spLocks noGrp="1"/>
          </p:cNvSpPr>
          <p:nvPr>
            <p:ph type="title"/>
          </p:nvPr>
        </p:nvSpPr>
        <p:spPr/>
        <p:txBody>
          <a:bodyPr/>
          <a:lstStyle/>
          <a:p>
            <a:r>
              <a:rPr lang="en-US"/>
              <a:t>Surrealism and the Mind (1 of 6)</a:t>
            </a:r>
          </a:p>
        </p:txBody>
      </p:sp>
      <p:sp>
        <p:nvSpPr>
          <p:cNvPr id="196610" name="Content Placeholder 16"/>
          <p:cNvSpPr>
            <a:spLocks noGrp="1"/>
          </p:cNvSpPr>
          <p:nvPr>
            <p:ph idx="1"/>
          </p:nvPr>
        </p:nvSpPr>
        <p:spPr/>
        <p:txBody>
          <a:bodyPr/>
          <a:lstStyle/>
          <a:p>
            <a:r>
              <a:rPr lang="en-US"/>
              <a:t>Initially formed as an off-shoot of Dada and born from the mind of André Breton, Surrealism reflected Freud</a:t>
            </a:r>
            <a:r>
              <a:rPr lang="uk-UA"/>
              <a:t>'</a:t>
            </a:r>
            <a:r>
              <a:rPr lang="en-US"/>
              <a:t>s theory of warring forces in the unconscious mind.</a:t>
            </a:r>
          </a:p>
          <a:p>
            <a:r>
              <a:rPr lang="en-US"/>
              <a:t>It was an escape from logic and an effort to improve a war-sick society.</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Title 15"/>
          <p:cNvSpPr>
            <a:spLocks noGrp="1"/>
          </p:cNvSpPr>
          <p:nvPr>
            <p:ph type="title"/>
          </p:nvPr>
        </p:nvSpPr>
        <p:spPr/>
        <p:txBody>
          <a:bodyPr/>
          <a:lstStyle/>
          <a:p>
            <a:r>
              <a:rPr lang="en-US"/>
              <a:t>Surrealism and the Mind (2 of 6)</a:t>
            </a:r>
          </a:p>
        </p:txBody>
      </p:sp>
      <p:sp>
        <p:nvSpPr>
          <p:cNvPr id="197634" name="Content Placeholder 16"/>
          <p:cNvSpPr>
            <a:spLocks noGrp="1"/>
          </p:cNvSpPr>
          <p:nvPr>
            <p:ph idx="1"/>
          </p:nvPr>
        </p:nvSpPr>
        <p:spPr/>
        <p:txBody>
          <a:bodyPr/>
          <a:lstStyle/>
          <a:p>
            <a:r>
              <a:rPr lang="en-US"/>
              <a:t>Automatism</a:t>
            </a:r>
          </a:p>
          <a:p>
            <a:pPr lvl="1"/>
            <a:r>
              <a:rPr lang="en-US"/>
              <a:t>This technique was the releasing of the subconscious to create work without rational intervention.</a:t>
            </a:r>
          </a:p>
          <a:p>
            <a:pPr lvl="1"/>
            <a:r>
              <a:rPr lang="en-US" b="1"/>
              <a:t>Frottage</a:t>
            </a:r>
            <a:r>
              <a:rPr lang="en-US"/>
              <a:t> was a technique of rubbing a pencil or crayon over a textured surface.</a:t>
            </a:r>
          </a:p>
          <a:p>
            <a:pPr lvl="1"/>
            <a:r>
              <a:rPr lang="en-US" b="1"/>
              <a:t>Grattage</a:t>
            </a:r>
            <a:r>
              <a:rPr lang="en-US"/>
              <a:t> involved layers of paint being laid on a textured surface and emphasizing imagery seen in the natural paint.</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8657" name="Title 15"/>
          <p:cNvSpPr>
            <a:spLocks noGrp="1"/>
          </p:cNvSpPr>
          <p:nvPr>
            <p:ph type="title"/>
          </p:nvPr>
        </p:nvSpPr>
        <p:spPr/>
        <p:txBody>
          <a:bodyPr/>
          <a:lstStyle/>
          <a:p>
            <a:r>
              <a:rPr lang="en-US"/>
              <a:t>Surrealism and the Mind (3 of 6)</a:t>
            </a:r>
          </a:p>
        </p:txBody>
      </p:sp>
      <p:sp>
        <p:nvSpPr>
          <p:cNvPr id="198658" name="Content Placeholder 16"/>
          <p:cNvSpPr>
            <a:spLocks noGrp="1"/>
          </p:cNvSpPr>
          <p:nvPr>
            <p:ph idx="1"/>
          </p:nvPr>
        </p:nvSpPr>
        <p:spPr/>
        <p:txBody>
          <a:bodyPr/>
          <a:lstStyle/>
          <a:p>
            <a:r>
              <a:rPr lang="en-US"/>
              <a:t>Automatism</a:t>
            </a:r>
          </a:p>
          <a:p>
            <a:pPr lvl="1"/>
            <a:r>
              <a:rPr lang="en-US"/>
              <a:t>Max Ernst, who developed the automatist technique, created a nightmarish scene in </a:t>
            </a:r>
            <a:r>
              <a:rPr lang="en-US" i="1"/>
              <a:t>The Horde</a:t>
            </a:r>
            <a:r>
              <a:rPr lang="en-US"/>
              <a:t>.</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Title 3"/>
          <p:cNvSpPr>
            <a:spLocks noGrp="1"/>
          </p:cNvSpPr>
          <p:nvPr>
            <p:ph type="title"/>
          </p:nvPr>
        </p:nvSpPr>
        <p:spPr/>
        <p:txBody>
          <a:bodyPr>
            <a:normAutofit fontScale="90000"/>
          </a:bodyPr>
          <a:lstStyle/>
          <a:p>
            <a:r>
              <a:rPr lang="en-US" dirty="0"/>
              <a:t>Max Ernst THE HORDE</a:t>
            </a:r>
            <a:br>
              <a:rPr lang="en-US" dirty="0"/>
            </a:br>
            <a:r>
              <a:rPr lang="en-US" dirty="0"/>
              <a:t>1927. Oil on canvas, 44-7/8</a:t>
            </a:r>
            <a:r>
              <a:rPr lang="ru-RU" dirty="0"/>
              <a:t>"</a:t>
            </a:r>
            <a:r>
              <a:rPr lang="en-US" dirty="0"/>
              <a:t> × 57-1/2</a:t>
            </a:r>
            <a:r>
              <a:rPr lang="ru-RU" dirty="0"/>
              <a:t>"</a:t>
            </a:r>
            <a:r>
              <a:rPr lang="en-US" dirty="0"/>
              <a:t> (114 × 146.1 cm).</a:t>
            </a:r>
            <a:br>
              <a:rPr lang="en-US" dirty="0"/>
            </a:br>
            <a:r>
              <a:rPr lang="en-US" dirty="0" err="1"/>
              <a:t>Stedelijk</a:t>
            </a:r>
            <a:r>
              <a:rPr lang="en-US" dirty="0"/>
              <a:t> Museum, Amsterdam. © 2016 Artists Rights Society (ARS), New York/ADAGP, Paris. Collection </a:t>
            </a:r>
            <a:r>
              <a:rPr lang="en-US" dirty="0" err="1"/>
              <a:t>Stedelijk</a:t>
            </a:r>
            <a:r>
              <a:rPr lang="en-US" dirty="0"/>
              <a:t> Museum, Amsterdam. </a:t>
            </a:r>
          </a:p>
        </p:txBody>
      </p:sp>
      <p:pic>
        <p:nvPicPr>
          <p:cNvPr id="2" name="Picture 1" descr="The monstrous figures and the ground beneath them are rendered in brown, with accents of red, orange, and black, against a field of solid, bright blu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Title 15"/>
          <p:cNvSpPr>
            <a:spLocks noGrp="1"/>
          </p:cNvSpPr>
          <p:nvPr>
            <p:ph type="title"/>
          </p:nvPr>
        </p:nvSpPr>
        <p:spPr/>
        <p:txBody>
          <a:bodyPr/>
          <a:lstStyle/>
          <a:p>
            <a:r>
              <a:rPr lang="en-US"/>
              <a:t>Surrealism and the Mind (4 of 6)</a:t>
            </a:r>
          </a:p>
        </p:txBody>
      </p:sp>
      <p:sp>
        <p:nvSpPr>
          <p:cNvPr id="201730" name="Content Placeholder 16"/>
          <p:cNvSpPr>
            <a:spLocks noGrp="1"/>
          </p:cNvSpPr>
          <p:nvPr>
            <p:ph idx="1"/>
          </p:nvPr>
        </p:nvSpPr>
        <p:spPr/>
        <p:txBody>
          <a:bodyPr/>
          <a:lstStyle/>
          <a:p>
            <a:r>
              <a:rPr lang="en-US"/>
              <a:t>Unexpected Juxtapositions</a:t>
            </a:r>
          </a:p>
          <a:p>
            <a:pPr lvl="1"/>
            <a:r>
              <a:rPr lang="en-US"/>
              <a:t>Salvador Dalí paints somewhat recognizable figures and forms but in a style he called the </a:t>
            </a:r>
            <a:r>
              <a:rPr lang="ru-RU"/>
              <a:t>"</a:t>
            </a:r>
            <a:r>
              <a:rPr lang="en-US"/>
              <a:t>paranoid–critical method.</a:t>
            </a:r>
            <a:r>
              <a:rPr lang="ru-RU"/>
              <a:t>"</a:t>
            </a:r>
            <a:endParaRPr lang="en-US"/>
          </a:p>
          <a:p>
            <a:pPr lvl="1"/>
            <a:r>
              <a:rPr lang="en-US"/>
              <a:t>Key themes of Dalí</a:t>
            </a:r>
            <a:r>
              <a:rPr lang="uk-UA"/>
              <a:t>'</a:t>
            </a:r>
            <a:r>
              <a:rPr lang="en-US"/>
              <a:t>s work include sexuality, violence, and putrefaction.</a:t>
            </a:r>
          </a:p>
          <a:p>
            <a:pPr lvl="2"/>
            <a:r>
              <a:rPr lang="en-US" i="1"/>
              <a:t>Birth of Liquid Desires</a:t>
            </a:r>
            <a:r>
              <a:rPr lang="en-US"/>
              <a:t> illustrates all of these without an aesthetic or moral purpose.</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4" name="Title 3"/>
          <p:cNvSpPr>
            <a:spLocks noGrp="1"/>
          </p:cNvSpPr>
          <p:nvPr>
            <p:ph type="title"/>
          </p:nvPr>
        </p:nvSpPr>
        <p:spPr>
          <a:xfrm>
            <a:off x="457200" y="5715000"/>
            <a:ext cx="8229600" cy="685800"/>
          </a:xfrm>
        </p:spPr>
        <p:txBody>
          <a:bodyPr>
            <a:normAutofit fontScale="90000"/>
          </a:bodyPr>
          <a:lstStyle/>
          <a:p>
            <a:r>
              <a:rPr lang="en-US" dirty="0"/>
              <a:t>Salvador Dalí BIRTH OF LIQUID DESIRES</a:t>
            </a:r>
            <a:br>
              <a:rPr lang="en-US" dirty="0"/>
            </a:br>
            <a:r>
              <a:rPr lang="en-US" dirty="0"/>
              <a:t>1931-1932. Oil and collage on canvas, 37-7/8</a:t>
            </a:r>
            <a:r>
              <a:rPr lang="ru-RU" dirty="0"/>
              <a:t>"</a:t>
            </a:r>
            <a:r>
              <a:rPr lang="en-US" dirty="0"/>
              <a:t> × 44-1/4</a:t>
            </a:r>
            <a:r>
              <a:rPr lang="ru-RU" dirty="0"/>
              <a:t>"</a:t>
            </a:r>
            <a:r>
              <a:rPr lang="en-US" dirty="0"/>
              <a:t> (96.1 × 112.3 cm).</a:t>
            </a:r>
            <a:br>
              <a:rPr lang="en-US" dirty="0"/>
            </a:br>
            <a:r>
              <a:rPr lang="en-US" dirty="0"/>
              <a:t>The Solomon R. Guggenheim Foundation. Peggy Guggenheim Collection, Venice 1976 (76.2553 PG 100). © Salvador Dalí, </a:t>
            </a:r>
            <a:r>
              <a:rPr lang="en-US" dirty="0" err="1"/>
              <a:t>Fundació</a:t>
            </a:r>
            <a:r>
              <a:rPr lang="en-US" dirty="0"/>
              <a:t> Gala-Salvador Dalí, Artists Rights Society (ARS), New York 2016. The Solomon R. Guggenheim Foundation/Art Resource, NY.</a:t>
            </a:r>
            <a:br>
              <a:rPr lang="en-US" dirty="0"/>
            </a:br>
            <a:r>
              <a:rPr lang="en-US" dirty="0"/>
              <a:t> </a:t>
            </a:r>
          </a:p>
        </p:txBody>
      </p:sp>
      <p:pic>
        <p:nvPicPr>
          <p:cNvPr id="2" name="Picture 1" descr="The baguette balanced atop the hermaphrodite’s head seems to melt into a black shadow that billows into a separate landscape, resembling a dark hillside rising to a floating window, surrounded by ghosts and abstract object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Title 15"/>
          <p:cNvSpPr>
            <a:spLocks noGrp="1"/>
          </p:cNvSpPr>
          <p:nvPr>
            <p:ph type="title"/>
          </p:nvPr>
        </p:nvSpPr>
        <p:spPr/>
        <p:txBody>
          <a:bodyPr/>
          <a:lstStyle/>
          <a:p>
            <a:r>
              <a:rPr lang="en-US"/>
              <a:t>Surrealism and the Mind (5 of 6)</a:t>
            </a:r>
          </a:p>
        </p:txBody>
      </p:sp>
      <p:sp>
        <p:nvSpPr>
          <p:cNvPr id="204802" name="Content Placeholder 16"/>
          <p:cNvSpPr>
            <a:spLocks noGrp="1"/>
          </p:cNvSpPr>
          <p:nvPr>
            <p:ph idx="1"/>
          </p:nvPr>
        </p:nvSpPr>
        <p:spPr/>
        <p:txBody>
          <a:bodyPr/>
          <a:lstStyle/>
          <a:p>
            <a:r>
              <a:rPr lang="en-US"/>
              <a:t>Unexpected Juxtapositions</a:t>
            </a:r>
          </a:p>
          <a:p>
            <a:pPr lvl="1"/>
            <a:r>
              <a:rPr lang="en-US"/>
              <a:t>Meret Oppenheim produced the disquieting assemblage, </a:t>
            </a:r>
            <a:r>
              <a:rPr lang="en-US" i="1"/>
              <a:t>Object (Le Déjeuner en Fourrure) </a:t>
            </a:r>
            <a:r>
              <a:rPr lang="en-US"/>
              <a:t>both to attract and repel the viewer.</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6" name="Title 3"/>
          <p:cNvSpPr>
            <a:spLocks noGrp="1"/>
          </p:cNvSpPr>
          <p:nvPr>
            <p:ph type="title"/>
          </p:nvPr>
        </p:nvSpPr>
        <p:spPr>
          <a:xfrm>
            <a:off x="457200" y="5715000"/>
            <a:ext cx="8229600" cy="685800"/>
          </a:xfrm>
        </p:spPr>
        <p:txBody>
          <a:bodyPr>
            <a:normAutofit fontScale="90000"/>
          </a:bodyPr>
          <a:lstStyle/>
          <a:p>
            <a:r>
              <a:rPr lang="en-US" dirty="0" err="1"/>
              <a:t>Meret</a:t>
            </a:r>
            <a:r>
              <a:rPr lang="en-US" dirty="0"/>
              <a:t> Oppenheim OBJECT (LUNCHEON IN FUR)</a:t>
            </a:r>
            <a:br>
              <a:rPr lang="en-US" dirty="0"/>
            </a:br>
            <a:r>
              <a:rPr lang="en-US" dirty="0"/>
              <a:t>1936. Fur-covered cup, diameter 4-3/8</a:t>
            </a:r>
            <a:r>
              <a:rPr lang="ru-RU" dirty="0"/>
              <a:t>"</a:t>
            </a:r>
            <a:r>
              <a:rPr lang="en-US" dirty="0"/>
              <a:t> (10.9 cm); fur-covered saucer, diameter 9 3/8</a:t>
            </a:r>
            <a:r>
              <a:rPr lang="ru-RU" dirty="0"/>
              <a:t>"</a:t>
            </a:r>
            <a:r>
              <a:rPr lang="en-US" dirty="0"/>
              <a:t> (23.7 cm); fur-covered spoon, length 8</a:t>
            </a:r>
            <a:r>
              <a:rPr lang="ru-RU" dirty="0"/>
              <a:t>"</a:t>
            </a:r>
            <a:r>
              <a:rPr lang="en-US" dirty="0"/>
              <a:t> (20.2 cm); overall height, 2-7/8</a:t>
            </a:r>
            <a:r>
              <a:rPr lang="ru-RU" dirty="0"/>
              <a:t>"</a:t>
            </a:r>
            <a:r>
              <a:rPr lang="en-US" dirty="0"/>
              <a:t> (7.3 cm).</a:t>
            </a:r>
            <a:br>
              <a:rPr lang="en-US" dirty="0"/>
            </a:br>
            <a:r>
              <a:rPr lang="en-US" dirty="0"/>
              <a:t>Museum of Modern Art, New York. © 2016 Artists Rights Society (ARS), New York/</a:t>
            </a:r>
            <a:r>
              <a:rPr lang="en-US" dirty="0" err="1"/>
              <a:t>ProLitteris</a:t>
            </a:r>
            <a:r>
              <a:rPr lang="en-US" dirty="0"/>
              <a:t>, Zurich. © 2016. Digital image, The Museum of Modern Art, New York/Scala, Florence. </a:t>
            </a:r>
          </a:p>
        </p:txBody>
      </p:sp>
      <p:pic>
        <p:nvPicPr>
          <p:cNvPr id="2" name="Picture 1" descr="Coarse, dense, tan and brown animal pelt covers a large teacup, spoon, and sauce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Title 15"/>
          <p:cNvSpPr>
            <a:spLocks noGrp="1"/>
          </p:cNvSpPr>
          <p:nvPr>
            <p:ph type="title"/>
          </p:nvPr>
        </p:nvSpPr>
        <p:spPr/>
        <p:txBody>
          <a:bodyPr/>
          <a:lstStyle/>
          <a:p>
            <a:r>
              <a:rPr lang="en-US"/>
              <a:t>Surrealism and the Mind (6 of 6)</a:t>
            </a:r>
          </a:p>
        </p:txBody>
      </p:sp>
      <p:sp>
        <p:nvSpPr>
          <p:cNvPr id="207874" name="Content Placeholder 16"/>
          <p:cNvSpPr>
            <a:spLocks noGrp="1"/>
          </p:cNvSpPr>
          <p:nvPr>
            <p:ph idx="1"/>
          </p:nvPr>
        </p:nvSpPr>
        <p:spPr/>
        <p:txBody>
          <a:bodyPr/>
          <a:lstStyle/>
          <a:p>
            <a:r>
              <a:rPr lang="en-US"/>
              <a:t>Bimorphic Abstraction</a:t>
            </a:r>
          </a:p>
          <a:p>
            <a:pPr lvl="1"/>
            <a:r>
              <a:rPr lang="en-US"/>
              <a:t>Joan Miró, in contrast, silhouettes shapes against a hazy background in </a:t>
            </a:r>
            <a:r>
              <a:rPr lang="en-US" i="1"/>
              <a:t>Composition</a:t>
            </a:r>
            <a:r>
              <a:rPr lang="en-US"/>
              <a:t>.</a:t>
            </a:r>
          </a:p>
          <a:p>
            <a:pPr lvl="2"/>
            <a:r>
              <a:rPr lang="en-US" b="1"/>
              <a:t>Biomorphic</a:t>
            </a:r>
            <a:r>
              <a:rPr lang="en-US"/>
              <a:t> curves evoke organic forms with fluctuating identities.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Title 3"/>
          <p:cNvSpPr>
            <a:spLocks noGrp="1"/>
          </p:cNvSpPr>
          <p:nvPr>
            <p:ph type="title"/>
          </p:nvPr>
        </p:nvSpPr>
        <p:spPr/>
        <p:txBody>
          <a:bodyPr>
            <a:normAutofit fontScale="90000"/>
          </a:bodyPr>
          <a:lstStyle/>
          <a:p>
            <a:r>
              <a:rPr lang="en-US" dirty="0"/>
              <a:t>Joan Miró COMPOSITION</a:t>
            </a:r>
            <a:br>
              <a:rPr lang="en-US" dirty="0"/>
            </a:br>
            <a:r>
              <a:rPr lang="en-US" dirty="0"/>
              <a:t>1933. Oil on canvas, 51-3/8</a:t>
            </a:r>
            <a:r>
              <a:rPr lang="ru-RU" dirty="0"/>
              <a:t>"</a:t>
            </a:r>
            <a:r>
              <a:rPr lang="en-US" dirty="0"/>
              <a:t> × 64-1/8</a:t>
            </a:r>
            <a:r>
              <a:rPr lang="ru-RU" dirty="0"/>
              <a:t>"</a:t>
            </a:r>
            <a:r>
              <a:rPr lang="en-US" dirty="0"/>
              <a:t> (130.49 × 162.88 cm).</a:t>
            </a:r>
            <a:br>
              <a:rPr lang="en-US" dirty="0"/>
            </a:br>
            <a:r>
              <a:rPr lang="en-US" dirty="0"/>
              <a:t>Wadsworth Athenaeum, Hartford, Connecticut. The Ella Gallup Sumner and Mary Catlin Sumner Collection Fund, 1934.40.  © </a:t>
            </a:r>
            <a:r>
              <a:rPr lang="en-US" dirty="0" err="1"/>
              <a:t>Successió</a:t>
            </a:r>
            <a:r>
              <a:rPr lang="en-US" dirty="0"/>
              <a:t> Miró/Artists Rights Society (ARS), New York/ADAGP, Paris 2016. Photo: Allen Phillips/Wadsworth </a:t>
            </a:r>
            <a:r>
              <a:rPr lang="en-US" dirty="0" err="1"/>
              <a:t>Atheneum</a:t>
            </a:r>
            <a:r>
              <a:rPr lang="en-US" dirty="0"/>
              <a:t>. </a:t>
            </a:r>
          </a:p>
        </p:txBody>
      </p:sp>
      <p:pic>
        <p:nvPicPr>
          <p:cNvPr id="2" name="Picture 1" descr="Amorphous, monochromatic figures seem to hang in the air above an abstract yellow field that bleeds into a bluish gray field above. Several figures have faces, in profile or in portrait. One face has tentacles in place of a mouth."/>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Title 15"/>
          <p:cNvSpPr>
            <a:spLocks noGrp="1"/>
          </p:cNvSpPr>
          <p:nvPr>
            <p:ph type="title"/>
          </p:nvPr>
        </p:nvSpPr>
        <p:spPr/>
        <p:txBody>
          <a:bodyPr/>
          <a:lstStyle/>
          <a:p>
            <a:r>
              <a:rPr lang="en-US"/>
              <a:t>Unit One in England (1 of 2)</a:t>
            </a:r>
          </a:p>
        </p:txBody>
      </p:sp>
      <p:sp>
        <p:nvSpPr>
          <p:cNvPr id="210946" name="Content Placeholder 16"/>
          <p:cNvSpPr>
            <a:spLocks noGrp="1"/>
          </p:cNvSpPr>
          <p:nvPr>
            <p:ph idx="1"/>
          </p:nvPr>
        </p:nvSpPr>
        <p:spPr/>
        <p:txBody>
          <a:bodyPr/>
          <a:lstStyle/>
          <a:p>
            <a:r>
              <a:rPr lang="en-US"/>
              <a:t>This group promoted hand-crafted, Surrealist-influenced biomorphic sculptural forms and was founded by Barbara Hepworth, Henry Moore, Paul Nash, and Herbert Reed in 1933.</a:t>
            </a:r>
          </a:p>
          <a:p>
            <a:r>
              <a:rPr lang="en-US"/>
              <a:t>Hepworth</a:t>
            </a:r>
            <a:r>
              <a:rPr lang="uk-UA"/>
              <a:t>'</a:t>
            </a:r>
            <a:r>
              <a:rPr lang="en-US"/>
              <a:t>s </a:t>
            </a:r>
            <a:r>
              <a:rPr lang="en-US" i="1"/>
              <a:t>Forms in Echelon </a:t>
            </a:r>
            <a:r>
              <a:rPr lang="en-US"/>
              <a:t>consists of two shapes carved in highly polished wood that allowed viewers to imagine their own meanings.</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Title 3"/>
          <p:cNvSpPr>
            <a:spLocks noGrp="1"/>
          </p:cNvSpPr>
          <p:nvPr>
            <p:ph type="title"/>
          </p:nvPr>
        </p:nvSpPr>
        <p:spPr/>
        <p:txBody>
          <a:bodyPr>
            <a:normAutofit fontScale="90000"/>
          </a:bodyPr>
          <a:lstStyle/>
          <a:p>
            <a:r>
              <a:rPr lang="en-US" dirty="0"/>
              <a:t>Barbara Hepworth FORMS IN ECHELON</a:t>
            </a:r>
            <a:br>
              <a:rPr lang="en-US" dirty="0"/>
            </a:br>
            <a:r>
              <a:rPr lang="en-US" dirty="0"/>
              <a:t>1938. Wood, 42-1/2</a:t>
            </a:r>
            <a:r>
              <a:rPr lang="ru-RU" dirty="0"/>
              <a:t>"</a:t>
            </a:r>
            <a:r>
              <a:rPr lang="en-US" dirty="0"/>
              <a:t> × 23-2/3</a:t>
            </a:r>
            <a:r>
              <a:rPr lang="ru-RU" dirty="0"/>
              <a:t>"</a:t>
            </a:r>
            <a:r>
              <a:rPr lang="en-US" dirty="0"/>
              <a:t> × 28</a:t>
            </a:r>
            <a:r>
              <a:rPr lang="ru-RU" dirty="0"/>
              <a:t>"</a:t>
            </a:r>
            <a:r>
              <a:rPr lang="en-US" dirty="0"/>
              <a:t> (108 × 60 × 71 cm).</a:t>
            </a:r>
            <a:br>
              <a:rPr lang="en-US" dirty="0"/>
            </a:br>
            <a:r>
              <a:rPr lang="en-US" dirty="0"/>
              <a:t>Tate, London. Presented by the artist 1964. Works by Barbara Hepworth copyright Bowness. © Tate, London 2016. </a:t>
            </a:r>
          </a:p>
        </p:txBody>
      </p:sp>
      <p:pic>
        <p:nvPicPr>
          <p:cNvPr id="2" name="Picture 1" descr="Two highly polished, oblong wooden forms stand erect on a wooden base. The taller of the two forms has a circular hole, drilled a few inches above an oblong circle of darker wood, called a, knot."/>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Title 15"/>
          <p:cNvSpPr>
            <a:spLocks noGrp="1"/>
          </p:cNvSpPr>
          <p:nvPr>
            <p:ph type="title"/>
          </p:nvPr>
        </p:nvSpPr>
        <p:spPr/>
        <p:txBody>
          <a:bodyPr/>
          <a:lstStyle/>
          <a:p>
            <a:r>
              <a:rPr lang="en-US"/>
              <a:t>Unit One in England (2 of 2)</a:t>
            </a:r>
          </a:p>
        </p:txBody>
      </p:sp>
      <p:sp>
        <p:nvSpPr>
          <p:cNvPr id="214018" name="Content Placeholder 16"/>
          <p:cNvSpPr>
            <a:spLocks noGrp="1"/>
          </p:cNvSpPr>
          <p:nvPr>
            <p:ph idx="1"/>
          </p:nvPr>
        </p:nvSpPr>
        <p:spPr/>
        <p:txBody>
          <a:bodyPr/>
          <a:lstStyle/>
          <a:p>
            <a:r>
              <a:rPr lang="en-US"/>
              <a:t>Henry Moore</a:t>
            </a:r>
            <a:r>
              <a:rPr lang="uk-UA"/>
              <a:t>'</a:t>
            </a:r>
            <a:r>
              <a:rPr lang="en-US"/>
              <a:t>s </a:t>
            </a:r>
            <a:r>
              <a:rPr lang="en-US" i="1"/>
              <a:t>Recumbent Figure</a:t>
            </a:r>
            <a:r>
              <a:rPr lang="en-US"/>
              <a:t>, inspired by the </a:t>
            </a:r>
            <a:r>
              <a:rPr lang="en-US" i="1"/>
              <a:t>chacmools</a:t>
            </a:r>
            <a:r>
              <a:rPr lang="en-US"/>
              <a:t> of Mayan art, orients natural striations to the design harmoniously.</a:t>
            </a:r>
          </a:p>
          <a:p>
            <a:pPr lvl="1"/>
            <a:r>
              <a:rPr lang="en-US"/>
              <a:t>Certain elements are defined while others flow together in an undulating mass more resembling a hill than human.</a:t>
            </a:r>
          </a:p>
          <a:p>
            <a:pPr lvl="1"/>
            <a:r>
              <a:rPr lang="en-US"/>
              <a:t>An open cavity emphasizes the relationship of solid and void.</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2" name="Title 3"/>
          <p:cNvSpPr>
            <a:spLocks noGrp="1"/>
          </p:cNvSpPr>
          <p:nvPr>
            <p:ph type="title"/>
          </p:nvPr>
        </p:nvSpPr>
        <p:spPr/>
        <p:txBody>
          <a:bodyPr>
            <a:normAutofit fontScale="90000"/>
          </a:bodyPr>
          <a:lstStyle/>
          <a:p>
            <a:r>
              <a:rPr lang="en-US" dirty="0"/>
              <a:t>Henry Moore RECUMBENT FIGURE</a:t>
            </a:r>
            <a:br>
              <a:rPr lang="en-US" dirty="0"/>
            </a:br>
            <a:r>
              <a:rPr lang="en-US" dirty="0"/>
              <a:t>1938. Green </a:t>
            </a:r>
            <a:r>
              <a:rPr lang="en-US" dirty="0" err="1"/>
              <a:t>Hornton</a:t>
            </a:r>
            <a:r>
              <a:rPr lang="en-US" dirty="0"/>
              <a:t> stone, 35</a:t>
            </a:r>
            <a:r>
              <a:rPr lang="ru-RU" dirty="0"/>
              <a:t>"</a:t>
            </a:r>
            <a:r>
              <a:rPr lang="en-US" dirty="0"/>
              <a:t> × 52</a:t>
            </a:r>
            <a:r>
              <a:rPr lang="ru-RU" dirty="0"/>
              <a:t>"</a:t>
            </a:r>
            <a:r>
              <a:rPr lang="en-US" dirty="0"/>
              <a:t> × 29</a:t>
            </a:r>
            <a:r>
              <a:rPr lang="ru-RU" dirty="0"/>
              <a:t>"</a:t>
            </a:r>
            <a:r>
              <a:rPr lang="en-US" dirty="0"/>
              <a:t> (88.9 × 132.7 × 73.7 cm).</a:t>
            </a:r>
            <a:br>
              <a:rPr lang="en-US" dirty="0"/>
            </a:br>
            <a:r>
              <a:rPr lang="en-US" dirty="0"/>
              <a:t>Tate, London. © The Henry Moore Foundation. All Rights Reserved, DACS 2016/</a:t>
            </a:r>
            <a:r>
              <a:rPr lang="en-US" dirty="0" err="1"/>
              <a:t>www.henry-moore.org</a:t>
            </a:r>
            <a:r>
              <a:rPr lang="en-US" dirty="0"/>
              <a:t>. Reproduced by permission of The Henry Moore Foundation. © Tate, London 2016. </a:t>
            </a:r>
          </a:p>
        </p:txBody>
      </p:sp>
      <p:pic>
        <p:nvPicPr>
          <p:cNvPr id="2" name="Picture 1" descr="Rounded mounds of stone indicate head and breasts, with shallow depressions for eyes and nose. Irregular bands of stone extend to suggest arms and elbows, flowing together to form the structure’s base and the figure’s hips and leg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Title 15"/>
          <p:cNvSpPr>
            <a:spLocks noGrp="1"/>
          </p:cNvSpPr>
          <p:nvPr>
            <p:ph type="title"/>
          </p:nvPr>
        </p:nvSpPr>
        <p:spPr/>
        <p:txBody>
          <a:bodyPr/>
          <a:lstStyle/>
          <a:p>
            <a:r>
              <a:rPr lang="en-US"/>
              <a:t>Picasso</a:t>
            </a:r>
            <a:r>
              <a:rPr lang="uk-UA"/>
              <a:t>'</a:t>
            </a:r>
            <a:r>
              <a:rPr lang="en-US"/>
              <a:t>s Guernica</a:t>
            </a:r>
          </a:p>
        </p:txBody>
      </p:sp>
      <p:sp>
        <p:nvSpPr>
          <p:cNvPr id="217090" name="Content Placeholder 16"/>
          <p:cNvSpPr>
            <a:spLocks noGrp="1"/>
          </p:cNvSpPr>
          <p:nvPr>
            <p:ph idx="1"/>
          </p:nvPr>
        </p:nvSpPr>
        <p:spPr/>
        <p:txBody>
          <a:bodyPr/>
          <a:lstStyle/>
          <a:p>
            <a:r>
              <a:rPr lang="en-US"/>
              <a:t>Pablo Picasso</a:t>
            </a:r>
            <a:r>
              <a:rPr lang="uk-UA"/>
              <a:t>'</a:t>
            </a:r>
            <a:r>
              <a:rPr lang="en-US"/>
              <a:t>s 1937 painting commemorates the mass bombing of civilians in the Basque city of Guernica.</a:t>
            </a:r>
          </a:p>
          <a:p>
            <a:r>
              <a:rPr lang="en-US"/>
              <a:t>The restricted palette of black, gray, and white reflected newspaper photographs that publicized the atrocity.</a:t>
            </a:r>
          </a:p>
          <a:p>
            <a:r>
              <a:rPr lang="en-US"/>
              <a:t>Distorted victims evoke a heartfelt comment on an international scandal.</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Title 3"/>
          <p:cNvSpPr>
            <a:spLocks noGrp="1"/>
          </p:cNvSpPr>
          <p:nvPr>
            <p:ph type="title"/>
          </p:nvPr>
        </p:nvSpPr>
        <p:spPr/>
        <p:txBody>
          <a:bodyPr>
            <a:normAutofit fontScale="90000"/>
          </a:bodyPr>
          <a:lstStyle/>
          <a:p>
            <a:r>
              <a:rPr lang="en-US" dirty="0"/>
              <a:t>RUINS OF GUERNICA, SPAIN</a:t>
            </a:r>
            <a:br>
              <a:rPr lang="en-US" dirty="0"/>
            </a:br>
            <a:r>
              <a:rPr lang="en-US" dirty="0"/>
              <a:t>April 1937.</a:t>
            </a:r>
            <a:br>
              <a:rPr lang="en-US" dirty="0"/>
            </a:br>
            <a:r>
              <a:rPr lang="en-US" dirty="0"/>
              <a:t>© </a:t>
            </a:r>
            <a:r>
              <a:rPr lang="en-US" dirty="0" err="1"/>
              <a:t>Bettmann</a:t>
            </a:r>
            <a:r>
              <a:rPr lang="en-US" dirty="0"/>
              <a:t>/Corbis.</a:t>
            </a:r>
          </a:p>
        </p:txBody>
      </p:sp>
      <p:pic>
        <p:nvPicPr>
          <p:cNvPr id="2" name="Picture 1" descr="Debris fills a city street in front of a bombed building. Most of the lowest level remains, but the upper levels are gon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Title 3"/>
          <p:cNvSpPr>
            <a:spLocks noGrp="1"/>
          </p:cNvSpPr>
          <p:nvPr>
            <p:ph type="title"/>
          </p:nvPr>
        </p:nvSpPr>
        <p:spPr/>
        <p:txBody>
          <a:bodyPr>
            <a:normAutofit fontScale="90000"/>
          </a:bodyPr>
          <a:lstStyle/>
          <a:p>
            <a:r>
              <a:rPr lang="en-US" dirty="0"/>
              <a:t>Pablo Picasso GUERNICA</a:t>
            </a:r>
            <a:br>
              <a:rPr lang="en-US" dirty="0"/>
            </a:br>
            <a:r>
              <a:rPr lang="en-US" dirty="0"/>
              <a:t>1937. Oil on canvas, 11</a:t>
            </a:r>
            <a:r>
              <a:rPr lang="uk-UA" dirty="0"/>
              <a:t>'</a:t>
            </a:r>
            <a:r>
              <a:rPr lang="en-US" dirty="0"/>
              <a:t>6</a:t>
            </a:r>
            <a:r>
              <a:rPr lang="ru-RU" dirty="0"/>
              <a:t>"</a:t>
            </a:r>
            <a:r>
              <a:rPr lang="en-US" dirty="0"/>
              <a:t> × 25</a:t>
            </a:r>
            <a:r>
              <a:rPr lang="uk-UA" dirty="0"/>
              <a:t>'</a:t>
            </a:r>
            <a:r>
              <a:rPr lang="en-US" dirty="0"/>
              <a:t>8</a:t>
            </a:r>
            <a:r>
              <a:rPr lang="ru-RU" dirty="0"/>
              <a:t>"</a:t>
            </a:r>
            <a:r>
              <a:rPr lang="en-US" dirty="0"/>
              <a:t> (3.5 × 7.8 m).</a:t>
            </a:r>
            <a:br>
              <a:rPr lang="en-US" dirty="0"/>
            </a:br>
            <a:r>
              <a:rPr lang="en-US" dirty="0"/>
              <a:t>Museo Nacional Centro de </a:t>
            </a:r>
            <a:r>
              <a:rPr lang="en-US" dirty="0" err="1"/>
              <a:t>Arte</a:t>
            </a:r>
            <a:r>
              <a:rPr lang="en-US" dirty="0"/>
              <a:t> Reina Sofía, Madrid. On permanent loan from the Museo del Prado, Madrid. © 2016 Estate of Pablo Picasso/Artists Rights Society (ARS), New York. </a:t>
            </a:r>
          </a:p>
        </p:txBody>
      </p:sp>
      <p:pic>
        <p:nvPicPr>
          <p:cNvPr id="2" name="Picture 1" descr="Several scenes are depicted across a wide canvas in neutral shades of blue, black, and gray. Cartoonish, ghostly figures occupy the scenes and flow between them, with anguished, misaligned expressi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Title 15"/>
          <p:cNvSpPr>
            <a:spLocks noGrp="1"/>
          </p:cNvSpPr>
          <p:nvPr>
            <p:ph type="title"/>
          </p:nvPr>
        </p:nvSpPr>
        <p:spPr/>
        <p:txBody>
          <a:bodyPr/>
          <a:lstStyle/>
          <a:p>
            <a:r>
              <a:rPr lang="en-US"/>
              <a:t>Art Between the Wars in the Americas</a:t>
            </a:r>
          </a:p>
        </p:txBody>
      </p:sp>
      <p:sp>
        <p:nvSpPr>
          <p:cNvPr id="222210" name="Content Placeholder 16"/>
          <p:cNvSpPr>
            <a:spLocks noGrp="1"/>
          </p:cNvSpPr>
          <p:nvPr>
            <p:ph idx="1"/>
          </p:nvPr>
        </p:nvSpPr>
        <p:spPr/>
        <p:txBody>
          <a:bodyPr/>
          <a:lstStyle/>
          <a:p>
            <a:r>
              <a:rPr lang="en-US"/>
              <a:t>The United States, as a large nation with diverse, multiple </a:t>
            </a:r>
            <a:r>
              <a:rPr lang="ru-RU"/>
              <a:t>"</a:t>
            </a:r>
            <a:r>
              <a:rPr lang="en-US"/>
              <a:t>identities,</a:t>
            </a:r>
            <a:r>
              <a:rPr lang="ru-RU"/>
              <a:t>"</a:t>
            </a:r>
            <a:r>
              <a:rPr lang="en-US"/>
              <a:t> encountered a need for a national visual identity separate from an Anglo-Saxon, male profile.</a:t>
            </a:r>
          </a:p>
          <a:p>
            <a:r>
              <a:rPr lang="en-US"/>
              <a:t>Works of art by women, African Americans, immigrants, and other outliers came to the fore.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Title 15"/>
          <p:cNvSpPr>
            <a:spLocks noGrp="1"/>
          </p:cNvSpPr>
          <p:nvPr>
            <p:ph type="title"/>
          </p:nvPr>
        </p:nvSpPr>
        <p:spPr/>
        <p:txBody>
          <a:bodyPr/>
          <a:lstStyle/>
          <a:p>
            <a:r>
              <a:rPr lang="en-US"/>
              <a:t>The Harlem Renaissance (1 of 4)</a:t>
            </a:r>
          </a:p>
        </p:txBody>
      </p:sp>
      <p:sp>
        <p:nvSpPr>
          <p:cNvPr id="223234" name="Content Placeholder 16"/>
          <p:cNvSpPr>
            <a:spLocks noGrp="1"/>
          </p:cNvSpPr>
          <p:nvPr>
            <p:ph idx="1"/>
          </p:nvPr>
        </p:nvSpPr>
        <p:spPr/>
        <p:txBody>
          <a:bodyPr/>
          <a:lstStyle/>
          <a:p>
            <a:r>
              <a:rPr lang="en-US"/>
              <a:t>The Great Migration of agricultural Southern African Americans to the North prompted the </a:t>
            </a:r>
            <a:r>
              <a:rPr lang="ru-RU"/>
              <a:t>"</a:t>
            </a:r>
            <a:r>
              <a:rPr lang="en-US"/>
              <a:t>New Negro</a:t>
            </a:r>
            <a:r>
              <a:rPr lang="ru-RU"/>
              <a:t>"</a:t>
            </a:r>
            <a:r>
              <a:rPr lang="en-US"/>
              <a:t> movement.</a:t>
            </a:r>
          </a:p>
          <a:p>
            <a:r>
              <a:rPr lang="en-US"/>
              <a:t>The intellectual leader of the movement was Alain Locke, a critic and philosophy professor urging black artists and writers to seek their artistic roots in the traditional arts of Africa.</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Title 15"/>
          <p:cNvSpPr>
            <a:spLocks noGrp="1"/>
          </p:cNvSpPr>
          <p:nvPr>
            <p:ph type="title"/>
          </p:nvPr>
        </p:nvSpPr>
        <p:spPr/>
        <p:txBody>
          <a:bodyPr/>
          <a:lstStyle/>
          <a:p>
            <a:r>
              <a:rPr lang="en-US"/>
              <a:t>The Harlem Renaissance (2 of 4)</a:t>
            </a:r>
          </a:p>
        </p:txBody>
      </p:sp>
      <p:sp>
        <p:nvSpPr>
          <p:cNvPr id="224258" name="Content Placeholder 16"/>
          <p:cNvSpPr>
            <a:spLocks noGrp="1"/>
          </p:cNvSpPr>
          <p:nvPr>
            <p:ph idx="1"/>
          </p:nvPr>
        </p:nvSpPr>
        <p:spPr/>
        <p:txBody>
          <a:bodyPr/>
          <a:lstStyle/>
          <a:p>
            <a:r>
              <a:rPr lang="en-US"/>
              <a:t>James VanDerZee created positive, non-stereotypical images that proclaimed racial pride and social empowerment.</a:t>
            </a:r>
          </a:p>
          <a:p>
            <a:pPr lvl="1"/>
            <a:r>
              <a:rPr lang="en-US"/>
              <a:t>He depicted the </a:t>
            </a:r>
            <a:r>
              <a:rPr lang="ru-RU"/>
              <a:t>"</a:t>
            </a:r>
            <a:r>
              <a:rPr lang="en-US"/>
              <a:t>New Negro</a:t>
            </a:r>
            <a:r>
              <a:rPr lang="ru-RU"/>
              <a:t>"</a:t>
            </a:r>
            <a:r>
              <a:rPr lang="en-US"/>
              <a:t> man and woman in </a:t>
            </a:r>
            <a:r>
              <a:rPr lang="en-US" i="1"/>
              <a:t>Couple Wearing Raccoon Coats with a Cadillac</a:t>
            </a:r>
            <a:r>
              <a:rPr lang="en-US"/>
              <a: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Title 3"/>
          <p:cNvSpPr>
            <a:spLocks noGrp="1"/>
          </p:cNvSpPr>
          <p:nvPr>
            <p:ph type="title"/>
          </p:nvPr>
        </p:nvSpPr>
        <p:spPr/>
        <p:txBody>
          <a:bodyPr>
            <a:normAutofit fontScale="90000"/>
          </a:bodyPr>
          <a:lstStyle/>
          <a:p>
            <a:r>
              <a:rPr lang="en-US" dirty="0"/>
              <a:t>James Van Der Zee COUPLE WEARING RACCOON COATS WITH A CADILLAC, TAKEN ON WEST 127TH STREET, HARLEM, NEW YORK</a:t>
            </a:r>
            <a:br>
              <a:rPr lang="en-US" dirty="0"/>
            </a:br>
            <a:r>
              <a:rPr lang="en-US" dirty="0"/>
              <a:t>1932. Gelatin-silver print.</a:t>
            </a:r>
            <a:br>
              <a:rPr lang="en-US" dirty="0"/>
            </a:br>
            <a:r>
              <a:rPr lang="en-US" dirty="0"/>
              <a:t>© Donna Mussenden </a:t>
            </a:r>
            <a:r>
              <a:rPr lang="en-US" dirty="0" err="1"/>
              <a:t>VanDerZee</a:t>
            </a:r>
            <a:r>
              <a:rPr lang="en-US" dirty="0"/>
              <a:t>. </a:t>
            </a:r>
          </a:p>
        </p:txBody>
      </p:sp>
      <p:pic>
        <p:nvPicPr>
          <p:cNvPr id="2" name="Picture 1" descr="An African-American couple poses with their shining new car in front of a block of apartments. The woman wears a tight cap with a thin, floppy brim, and the man wears a wide-brimmed fedor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Title 15"/>
          <p:cNvSpPr>
            <a:spLocks noGrp="1"/>
          </p:cNvSpPr>
          <p:nvPr>
            <p:ph type="title"/>
          </p:nvPr>
        </p:nvSpPr>
        <p:spPr/>
        <p:txBody>
          <a:bodyPr/>
          <a:lstStyle/>
          <a:p>
            <a:r>
              <a:rPr lang="en-US"/>
              <a:t>The Harlem Renaissance (3 of 4)</a:t>
            </a:r>
          </a:p>
        </p:txBody>
      </p:sp>
      <p:sp>
        <p:nvSpPr>
          <p:cNvPr id="227330" name="Content Placeholder 16"/>
          <p:cNvSpPr>
            <a:spLocks noGrp="1"/>
          </p:cNvSpPr>
          <p:nvPr>
            <p:ph idx="1"/>
          </p:nvPr>
        </p:nvSpPr>
        <p:spPr/>
        <p:txBody>
          <a:bodyPr/>
          <a:lstStyle/>
          <a:p>
            <a:r>
              <a:rPr lang="en-US"/>
              <a:t>Aaron Douglas developed an abstract style based on silhouetted figures from African art.</a:t>
            </a:r>
          </a:p>
          <a:p>
            <a:pPr lvl="1"/>
            <a:r>
              <a:rPr lang="en-US"/>
              <a:t>He limited his palate to subtle hues that varied in value.</a:t>
            </a:r>
          </a:p>
          <a:p>
            <a:pPr lvl="1"/>
            <a:r>
              <a:rPr lang="en-US" i="1"/>
              <a:t>Aspects of Negro Life</a:t>
            </a:r>
            <a:r>
              <a:rPr lang="en-US"/>
              <a:t>... intended to awaken a sense of the African American</a:t>
            </a:r>
            <a:r>
              <a:rPr lang="uk-UA"/>
              <a:t>'</a:t>
            </a:r>
            <a:r>
              <a:rPr lang="en-US"/>
              <a:t>s place in history.</a:t>
            </a:r>
          </a:p>
          <a:p>
            <a:pPr lvl="2"/>
            <a:r>
              <a:rPr lang="en-US"/>
              <a:t>The heroic orator at center remains the focus, encouraging continued efforts.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4" name="Title 3"/>
          <p:cNvSpPr>
            <a:spLocks noGrp="1"/>
          </p:cNvSpPr>
          <p:nvPr>
            <p:ph type="title"/>
          </p:nvPr>
        </p:nvSpPr>
        <p:spPr>
          <a:xfrm>
            <a:off x="457200" y="5638800"/>
            <a:ext cx="8229600" cy="685800"/>
          </a:xfrm>
        </p:spPr>
        <p:txBody>
          <a:bodyPr>
            <a:normAutofit fontScale="90000"/>
          </a:bodyPr>
          <a:lstStyle/>
          <a:p>
            <a:r>
              <a:rPr lang="en-US" dirty="0"/>
              <a:t>Aaron Douglas ASPECTS OF NEGRO LIFE: FROM SLAVERY THROUGH RECONSTRUCTION</a:t>
            </a:r>
            <a:br>
              <a:rPr lang="en-US" dirty="0"/>
            </a:br>
            <a:r>
              <a:rPr lang="en-US" dirty="0"/>
              <a:t>1934. Oil on canvas, 5</a:t>
            </a:r>
            <a:r>
              <a:rPr lang="uk-UA" dirty="0"/>
              <a:t>'</a:t>
            </a:r>
            <a:r>
              <a:rPr lang="en-US" dirty="0"/>
              <a:t> × 11</a:t>
            </a:r>
            <a:r>
              <a:rPr lang="uk-UA" dirty="0"/>
              <a:t>'</a:t>
            </a:r>
            <a:r>
              <a:rPr lang="en-US" dirty="0"/>
              <a:t>7</a:t>
            </a:r>
            <a:r>
              <a:rPr lang="ru-RU" dirty="0"/>
              <a:t>"</a:t>
            </a:r>
            <a:r>
              <a:rPr lang="en-US" dirty="0"/>
              <a:t> (1.5 × 3.5 m).</a:t>
            </a:r>
            <a:br>
              <a:rPr lang="en-US" dirty="0"/>
            </a:br>
            <a:r>
              <a:rPr lang="en-US" dirty="0"/>
              <a:t>Schomburg Center for Research in Black Culture, New York Public Library. Art © Heirs of Aaron Douglas/Licensed by VAGA, New York, NY. Schomburg Center, NYPL/Art Resource, NY.</a:t>
            </a:r>
          </a:p>
        </p:txBody>
      </p:sp>
      <p:pic>
        <p:nvPicPr>
          <p:cNvPr id="2" name="Picture 1" descr="The tableau is lit at the center and right by two sets of concentric rings of light, emanating from candles held by the figure pointing toward the U S Capitol building in the background, and by a man to his right, in a hat.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8160" y="228600"/>
            <a:ext cx="8107680" cy="5031232"/>
          </a:xfrm>
          <a:prstGeom prst="rect">
            <a:avLst/>
          </a:prstGeom>
        </p:spPr>
      </p:pic>
    </p:spTree>
  </p:cSld>
  <p:clrMapOvr>
    <a:masterClrMapping/>
  </p:clrMapOvr>
  <p:transition spd="slow" advTm="0"/>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Title 15"/>
          <p:cNvSpPr>
            <a:spLocks noGrp="1"/>
          </p:cNvSpPr>
          <p:nvPr>
            <p:ph type="title"/>
          </p:nvPr>
        </p:nvSpPr>
        <p:spPr/>
        <p:txBody>
          <a:bodyPr/>
          <a:lstStyle/>
          <a:p>
            <a:r>
              <a:rPr lang="en-US"/>
              <a:t>The Harlem Renaissance (4 of 4)</a:t>
            </a:r>
          </a:p>
        </p:txBody>
      </p:sp>
      <p:sp>
        <p:nvSpPr>
          <p:cNvPr id="230402" name="Content Placeholder 16"/>
          <p:cNvSpPr>
            <a:spLocks noGrp="1"/>
          </p:cNvSpPr>
          <p:nvPr>
            <p:ph idx="1"/>
          </p:nvPr>
        </p:nvSpPr>
        <p:spPr/>
        <p:txBody>
          <a:bodyPr/>
          <a:lstStyle/>
          <a:p>
            <a:r>
              <a:rPr lang="en-US"/>
              <a:t>Sculptor Augusta Savage was denied a scholarship at Cooper Union because of her race.</a:t>
            </a:r>
          </a:p>
          <a:p>
            <a:pPr lvl="1"/>
            <a:r>
              <a:rPr lang="en-US" i="1"/>
              <a:t>La Citadelle: Freedom </a:t>
            </a:r>
            <a:r>
              <a:rPr lang="en-US"/>
              <a:t>portrays a female figure balancing on her toes as a symbol of the promise of equality.</a:t>
            </a:r>
          </a:p>
          <a:p>
            <a:r>
              <a:rPr lang="en-US"/>
              <a:t>Jacob Lawrence</a:t>
            </a:r>
            <a:r>
              <a:rPr lang="uk-UA"/>
              <a:t>'</a:t>
            </a:r>
            <a:r>
              <a:rPr lang="en-US"/>
              <a:t>s </a:t>
            </a:r>
            <a:r>
              <a:rPr lang="en-US" i="1"/>
              <a:t>The Migration Series </a:t>
            </a:r>
            <a:r>
              <a:rPr lang="en-US"/>
              <a:t>narrates the exodus of African Americans to the north in 60 panels.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Title 3"/>
          <p:cNvSpPr>
            <a:spLocks noGrp="1"/>
          </p:cNvSpPr>
          <p:nvPr>
            <p:ph type="title"/>
          </p:nvPr>
        </p:nvSpPr>
        <p:spPr/>
        <p:txBody>
          <a:bodyPr>
            <a:normAutofit fontScale="90000"/>
          </a:bodyPr>
          <a:lstStyle/>
          <a:p>
            <a:r>
              <a:rPr lang="en-US" dirty="0"/>
              <a:t>Augusta Savage LA CITADELLE: FREEDOM</a:t>
            </a:r>
            <a:br>
              <a:rPr lang="en-US" dirty="0"/>
            </a:br>
            <a:r>
              <a:rPr lang="en-US" dirty="0"/>
              <a:t>1930. Bronze, 14-1/2</a:t>
            </a:r>
            <a:r>
              <a:rPr lang="ru-RU" dirty="0"/>
              <a:t>"</a:t>
            </a:r>
            <a:r>
              <a:rPr lang="en-US" dirty="0"/>
              <a:t> × 7</a:t>
            </a:r>
            <a:r>
              <a:rPr lang="ru-RU" dirty="0"/>
              <a:t>"</a:t>
            </a:r>
            <a:r>
              <a:rPr lang="en-US" dirty="0"/>
              <a:t> × 6</a:t>
            </a:r>
            <a:r>
              <a:rPr lang="ru-RU" dirty="0"/>
              <a:t>"</a:t>
            </a:r>
            <a:r>
              <a:rPr lang="en-US" dirty="0"/>
              <a:t> (35.6 × 17.8 × 15.2 cm).</a:t>
            </a:r>
            <a:br>
              <a:rPr lang="en-US" dirty="0"/>
            </a:br>
            <a:r>
              <a:rPr lang="en-US" dirty="0"/>
              <a:t>Howard University Gallery of Art, Washington, DC. © Augusta Savage. </a:t>
            </a:r>
          </a:p>
        </p:txBody>
      </p:sp>
      <p:pic>
        <p:nvPicPr>
          <p:cNvPr id="2" name="Picture 1" descr="A lithe female figure arches her body gracefully from pointed toes to fingertips, with her drape rippling behind her. She balances atop a hemispherical dome, inscribed with the work’s titl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4" name="Title 3"/>
          <p:cNvSpPr>
            <a:spLocks noGrp="1"/>
          </p:cNvSpPr>
          <p:nvPr>
            <p:ph type="title"/>
          </p:nvPr>
        </p:nvSpPr>
        <p:spPr/>
        <p:txBody>
          <a:bodyPr>
            <a:normAutofit fontScale="90000"/>
          </a:bodyPr>
          <a:lstStyle/>
          <a:p>
            <a:r>
              <a:rPr lang="en-US" dirty="0"/>
              <a:t>Jacob Lawrence THE MIGRATION SERIES, PANEL NO. 1: DURING WORLD WAR I THERE WAS A GREAT MIGRATION NORTH BY SOUTHERN AFRICAN AMERICANS</a:t>
            </a:r>
            <a:br>
              <a:rPr lang="en-US" dirty="0"/>
            </a:br>
            <a:r>
              <a:rPr lang="en-US" dirty="0"/>
              <a:t>1940–1941. Tempera on </a:t>
            </a:r>
            <a:r>
              <a:rPr lang="en-US" dirty="0" err="1"/>
              <a:t>masonite</a:t>
            </a:r>
            <a:r>
              <a:rPr lang="en-US" dirty="0"/>
              <a:t>, 12</a:t>
            </a:r>
            <a:r>
              <a:rPr lang="ru-RU" dirty="0"/>
              <a:t>"</a:t>
            </a:r>
            <a:r>
              <a:rPr lang="en-US" dirty="0"/>
              <a:t> × 18</a:t>
            </a:r>
            <a:r>
              <a:rPr lang="ru-RU" dirty="0"/>
              <a:t>"</a:t>
            </a:r>
            <a:r>
              <a:rPr lang="en-US" dirty="0"/>
              <a:t> (30.5 × 45.7 cm).</a:t>
            </a:r>
            <a:br>
              <a:rPr lang="en-US" dirty="0"/>
            </a:br>
            <a:r>
              <a:rPr lang="en-US" dirty="0"/>
              <a:t>The Phillips Collection, Washington, DC. © 2016 The Jacob and Gwendolyn Knight Lawrence Foundation, Seattle/Artists Rights Society (ARS), New York. </a:t>
            </a:r>
          </a:p>
        </p:txBody>
      </p:sp>
      <p:pic>
        <p:nvPicPr>
          <p:cNvPr id="2" name="Picture 1" descr="African American men, women, and children crowd the foreground, moving toward three narrow gates at the top of the image, separated by fields of blank white overlaid by a wooden lattic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Title 15"/>
          <p:cNvSpPr>
            <a:spLocks noGrp="1"/>
          </p:cNvSpPr>
          <p:nvPr>
            <p:ph type="title"/>
          </p:nvPr>
        </p:nvSpPr>
        <p:spPr/>
        <p:txBody>
          <a:bodyPr/>
          <a:lstStyle/>
          <a:p>
            <a:r>
              <a:rPr lang="en-US"/>
              <a:t>Rural America (1 of 2)</a:t>
            </a:r>
          </a:p>
        </p:txBody>
      </p:sp>
      <p:sp>
        <p:nvSpPr>
          <p:cNvPr id="235522" name="Content Placeholder 16"/>
          <p:cNvSpPr>
            <a:spLocks noGrp="1"/>
          </p:cNvSpPr>
          <p:nvPr>
            <p:ph idx="1"/>
          </p:nvPr>
        </p:nvSpPr>
        <p:spPr/>
        <p:txBody>
          <a:bodyPr/>
          <a:lstStyle/>
          <a:p>
            <a:r>
              <a:rPr lang="en-US"/>
              <a:t>American Scene Painting, especially under the Regionalists, took sympathetic attitudes toward subjects.</a:t>
            </a:r>
          </a:p>
          <a:p>
            <a:pPr lvl="1"/>
            <a:r>
              <a:rPr lang="en-US"/>
              <a:t>Grant Wood, in his iconic </a:t>
            </a:r>
            <a:r>
              <a:rPr lang="en-US" i="1"/>
              <a:t>American Gothic</a:t>
            </a:r>
            <a:r>
              <a:rPr lang="en-US"/>
              <a:t>, shows a pair with a pitchfork standing in front of a </a:t>
            </a:r>
            <a:r>
              <a:rPr lang="ru-RU"/>
              <a:t>"</a:t>
            </a:r>
            <a:r>
              <a:rPr lang="en-US"/>
              <a:t>Carpenter Gothic</a:t>
            </a:r>
            <a:r>
              <a:rPr lang="ru-RU"/>
              <a:t>"</a:t>
            </a:r>
            <a:r>
              <a:rPr lang="en-US"/>
              <a:t>-style house, a sincerely affectionate portrait of small-town Iowa.</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6" name="Title 3"/>
          <p:cNvSpPr>
            <a:spLocks noGrp="1"/>
          </p:cNvSpPr>
          <p:nvPr>
            <p:ph type="title"/>
          </p:nvPr>
        </p:nvSpPr>
        <p:spPr>
          <a:xfrm>
            <a:off x="457200" y="5791200"/>
            <a:ext cx="8229600" cy="685800"/>
          </a:xfrm>
        </p:spPr>
        <p:txBody>
          <a:bodyPr>
            <a:normAutofit fontScale="90000"/>
          </a:bodyPr>
          <a:lstStyle/>
          <a:p>
            <a:r>
              <a:rPr lang="en-US" dirty="0"/>
              <a:t>Grant Wood AMERICAN GOTHIC</a:t>
            </a:r>
            <a:br>
              <a:rPr lang="en-US" dirty="0"/>
            </a:br>
            <a:r>
              <a:rPr lang="en-US" dirty="0"/>
              <a:t>1930. Oil on beaverboard, 29-7/8</a:t>
            </a:r>
            <a:r>
              <a:rPr lang="ru-RU" dirty="0"/>
              <a:t>"</a:t>
            </a:r>
            <a:r>
              <a:rPr lang="en-US" dirty="0"/>
              <a:t> × 24-7/8</a:t>
            </a:r>
            <a:r>
              <a:rPr lang="ru-RU" dirty="0"/>
              <a:t>"</a:t>
            </a:r>
            <a:r>
              <a:rPr lang="en-US" dirty="0"/>
              <a:t> (74.3 × 62.4 cm).</a:t>
            </a:r>
            <a:br>
              <a:rPr lang="en-US" dirty="0"/>
            </a:br>
            <a:r>
              <a:rPr lang="en-US" dirty="0"/>
              <a:t>The Art Institute of Chicago. Friends of American Art Collection, 1930.934. Art © </a:t>
            </a:r>
            <a:r>
              <a:rPr lang="en-US" dirty="0" err="1"/>
              <a:t>Figge</a:t>
            </a:r>
            <a:r>
              <a:rPr lang="en-US" dirty="0"/>
              <a:t> Art Museum, successors to the Estate of Nan Wood Graham/Licensed by VAGA, New York, NY. Photo © The Art Institute of Chicago. </a:t>
            </a:r>
          </a:p>
        </p:txBody>
      </p:sp>
      <p:pic>
        <p:nvPicPr>
          <p:cNvPr id="2" name="Picture 1" descr="A middle-aged woman stands next to her father in front of a small farmhouse, whose only second-story window has a gothic lancet-style frame. She wears a brown apron over a black dress. He holds a pitchfork, and wears a black jacket over denim overall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226568"/>
            <a:ext cx="8107680" cy="5031232"/>
          </a:xfrm>
          <a:prstGeom prst="rect">
            <a:avLst/>
          </a:prstGeom>
        </p:spPr>
      </p:pic>
    </p:spTree>
  </p:cSld>
  <p:clrMapOvr>
    <a:masterClrMapping/>
  </p:clrMapOvr>
  <p:transition spd="slow" advTm="0"/>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Title 15"/>
          <p:cNvSpPr>
            <a:spLocks noGrp="1"/>
          </p:cNvSpPr>
          <p:nvPr>
            <p:ph type="title"/>
          </p:nvPr>
        </p:nvSpPr>
        <p:spPr/>
        <p:txBody>
          <a:bodyPr/>
          <a:lstStyle/>
          <a:p>
            <a:r>
              <a:rPr lang="en-US"/>
              <a:t>Rural America (2 of 2)</a:t>
            </a:r>
          </a:p>
        </p:txBody>
      </p:sp>
      <p:sp>
        <p:nvSpPr>
          <p:cNvPr id="238594" name="Content Placeholder 16"/>
          <p:cNvSpPr>
            <a:spLocks noGrp="1"/>
          </p:cNvSpPr>
          <p:nvPr>
            <p:ph idx="1"/>
          </p:nvPr>
        </p:nvSpPr>
        <p:spPr/>
        <p:txBody>
          <a:bodyPr/>
          <a:lstStyle/>
          <a:p>
            <a:r>
              <a:rPr lang="en-US"/>
              <a:t>Federal Patronage for American Art During the Depression</a:t>
            </a:r>
          </a:p>
          <a:p>
            <a:pPr lvl="1"/>
            <a:r>
              <a:rPr lang="en-US"/>
              <a:t>The Farm Securities Administration (FSA) began to hire photographers to document the problems of farmers and migrant workers in 1935.</a:t>
            </a:r>
          </a:p>
          <a:p>
            <a:pPr lvl="2"/>
            <a:r>
              <a:rPr lang="en-US"/>
              <a:t>Dorothea Lange collaborated, touched by the struggles of the poor and unemployed; her most famous picture is </a:t>
            </a:r>
            <a:r>
              <a:rPr lang="en-US" i="1"/>
              <a:t>Migrant Mother, Nipomo, California</a:t>
            </a:r>
            <a:r>
              <a:rPr lang="en-US"/>
              <a:t>.</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Title 3"/>
          <p:cNvSpPr>
            <a:spLocks noGrp="1"/>
          </p:cNvSpPr>
          <p:nvPr>
            <p:ph type="title"/>
          </p:nvPr>
        </p:nvSpPr>
        <p:spPr/>
        <p:txBody>
          <a:bodyPr>
            <a:normAutofit fontScale="90000"/>
          </a:bodyPr>
          <a:lstStyle/>
          <a:p>
            <a:r>
              <a:rPr lang="en-US" dirty="0"/>
              <a:t>Dorothea Lange MIGRANT MOTHER, NIPOMO, CALIFORNIA</a:t>
            </a:r>
            <a:br>
              <a:rPr lang="en-US" dirty="0"/>
            </a:br>
            <a:r>
              <a:rPr lang="en-US" dirty="0"/>
              <a:t>February 1936. Gelatin-silver print. Library of Congress, Washington, DC. Courtesy the Library of Congress.  </a:t>
            </a:r>
          </a:p>
        </p:txBody>
      </p:sp>
      <p:pic>
        <p:nvPicPr>
          <p:cNvPr id="2" name="Picture 1" descr="A woman in her early thirties sits at the edge of a camp, gazing into the distance, with deep wrinkles across her forehead. A child leans on each of her shoulder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457200"/>
            <a:ext cx="8107680" cy="5031232"/>
          </a:xfrm>
          <a:prstGeom prst="rect">
            <a:avLst/>
          </a:prstGeom>
        </p:spPr>
      </p:pic>
    </p:spTree>
  </p:cSld>
  <p:clrMapOvr>
    <a:masterClrMapping/>
  </p:clrMapOvr>
  <p:transition spd="slow" advTm="0"/>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Title 15"/>
          <p:cNvSpPr>
            <a:spLocks noGrp="1"/>
          </p:cNvSpPr>
          <p:nvPr>
            <p:ph type="title"/>
          </p:nvPr>
        </p:nvSpPr>
        <p:spPr/>
        <p:txBody>
          <a:bodyPr/>
          <a:lstStyle/>
          <a:p>
            <a:r>
              <a:rPr lang="en-US"/>
              <a:t>Canada (1 of 3)</a:t>
            </a:r>
          </a:p>
        </p:txBody>
      </p:sp>
      <p:sp>
        <p:nvSpPr>
          <p:cNvPr id="241666" name="Content Placeholder 16"/>
          <p:cNvSpPr>
            <a:spLocks noGrp="1"/>
          </p:cNvSpPr>
          <p:nvPr>
            <p:ph idx="1"/>
          </p:nvPr>
        </p:nvSpPr>
        <p:spPr/>
        <p:txBody>
          <a:bodyPr/>
          <a:lstStyle/>
          <a:p>
            <a:r>
              <a:rPr lang="en-US"/>
              <a:t>The subject of Canada</a:t>
            </a:r>
            <a:r>
              <a:rPr lang="uk-UA"/>
              <a:t>'</a:t>
            </a:r>
            <a:r>
              <a:rPr lang="en-US"/>
              <a:t>s untamed wilderness became a point through which Canadian artists could assert independence from European art.</a:t>
            </a:r>
          </a:p>
          <a:p>
            <a:r>
              <a:rPr lang="en-US"/>
              <a:t>Some painters employed academic realism while others utilized Impressionism.</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Title 15"/>
          <p:cNvSpPr>
            <a:spLocks noGrp="1"/>
          </p:cNvSpPr>
          <p:nvPr>
            <p:ph type="title"/>
          </p:nvPr>
        </p:nvSpPr>
        <p:spPr/>
        <p:txBody>
          <a:bodyPr/>
          <a:lstStyle/>
          <a:p>
            <a:r>
              <a:rPr lang="en-US"/>
              <a:t>Canada (2 of 3)</a:t>
            </a:r>
          </a:p>
        </p:txBody>
      </p:sp>
      <p:sp>
        <p:nvSpPr>
          <p:cNvPr id="242690" name="Content Placeholder 16"/>
          <p:cNvSpPr>
            <a:spLocks noGrp="1"/>
          </p:cNvSpPr>
          <p:nvPr>
            <p:ph idx="1"/>
          </p:nvPr>
        </p:nvSpPr>
        <p:spPr/>
        <p:txBody>
          <a:bodyPr/>
          <a:lstStyle/>
          <a:p>
            <a:r>
              <a:rPr lang="en-US"/>
              <a:t>Landscape and Identity</a:t>
            </a:r>
          </a:p>
          <a:p>
            <a:pPr lvl="1"/>
            <a:r>
              <a:rPr lang="en-US"/>
              <a:t>Tom Thomson</a:t>
            </a:r>
            <a:r>
              <a:rPr lang="uk-UA"/>
              <a:t>'</a:t>
            </a:r>
            <a:r>
              <a:rPr lang="en-US"/>
              <a:t>s </a:t>
            </a:r>
            <a:r>
              <a:rPr lang="en-US" i="1"/>
              <a:t>The West Wind </a:t>
            </a:r>
            <a:r>
              <a:rPr lang="en-US"/>
              <a:t>features a lone, stylized pine tree rising from a landscape with reverential divinity.</a:t>
            </a:r>
          </a:p>
          <a:p>
            <a:pPr lvl="2"/>
            <a:r>
              <a:rPr lang="en-US"/>
              <a:t>It became an icon in Canadian art.</a:t>
            </a:r>
          </a:p>
          <a:p>
            <a:pPr lvl="2"/>
            <a:r>
              <a:rPr lang="en-US"/>
              <a:t>The artist often made numerous oil-on-board sketches for the basis of paintings that he executed during winter.</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Title 3"/>
          <p:cNvSpPr>
            <a:spLocks noGrp="1"/>
          </p:cNvSpPr>
          <p:nvPr>
            <p:ph type="title"/>
          </p:nvPr>
        </p:nvSpPr>
        <p:spPr/>
        <p:txBody>
          <a:bodyPr>
            <a:normAutofit fontScale="90000"/>
          </a:bodyPr>
          <a:lstStyle/>
          <a:p>
            <a:r>
              <a:rPr lang="en-US" dirty="0"/>
              <a:t>Tom Thomson THE WEST WIND</a:t>
            </a:r>
            <a:br>
              <a:rPr lang="en-US" dirty="0"/>
            </a:br>
            <a:r>
              <a:rPr lang="en-US" dirty="0"/>
              <a:t>Winter 1916/1917. Oil on canvas, 451⁄2 × 54″ (120.7 × 137.9 cm).</a:t>
            </a:r>
            <a:br>
              <a:rPr lang="en-US" dirty="0"/>
            </a:br>
            <a:r>
              <a:rPr lang="en-US" dirty="0"/>
              <a:t>Art Gallery of Ontario, Toronto. Gift of Canadian Club of Toronto, 1926 #784. © </a:t>
            </a:r>
            <a:r>
              <a:rPr lang="en-US" dirty="0" err="1"/>
              <a:t>akg</a:t>
            </a:r>
            <a:r>
              <a:rPr lang="en-US" dirty="0"/>
              <a:t>-images. </a:t>
            </a:r>
          </a:p>
        </p:txBody>
      </p:sp>
      <p:pic>
        <p:nvPicPr>
          <p:cNvPr id="2" name="Picture 1" descr="The artist uses small, deliberate brush strokes to create the dappled coloring of the water, hills and clouds in the background, with longer strokes in more vivid colors for the tree and stones in the foregroun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Title 15"/>
          <p:cNvSpPr>
            <a:spLocks noGrp="1"/>
          </p:cNvSpPr>
          <p:nvPr>
            <p:ph type="title"/>
          </p:nvPr>
        </p:nvSpPr>
        <p:spPr/>
        <p:txBody>
          <a:bodyPr/>
          <a:lstStyle/>
          <a:p>
            <a:r>
              <a:rPr lang="en-US"/>
              <a:t>Canada (3 of 3)</a:t>
            </a:r>
          </a:p>
        </p:txBody>
      </p:sp>
      <p:sp>
        <p:nvSpPr>
          <p:cNvPr id="245762" name="Content Placeholder 16"/>
          <p:cNvSpPr>
            <a:spLocks noGrp="1"/>
          </p:cNvSpPr>
          <p:nvPr>
            <p:ph idx="1"/>
          </p:nvPr>
        </p:nvSpPr>
        <p:spPr/>
        <p:txBody>
          <a:bodyPr/>
          <a:lstStyle/>
          <a:p>
            <a:r>
              <a:rPr lang="en-US"/>
              <a:t>Native American Influence</a:t>
            </a:r>
          </a:p>
          <a:p>
            <a:pPr lvl="1"/>
            <a:r>
              <a:rPr lang="en-US"/>
              <a:t>As a partner to the Group of Seven, Emily Carr developed a dark, brooding style.</a:t>
            </a:r>
          </a:p>
          <a:p>
            <a:pPr lvl="2"/>
            <a:r>
              <a:rPr lang="en-US" i="1"/>
              <a:t>Big Raven </a:t>
            </a:r>
            <a:r>
              <a:rPr lang="en-US"/>
              <a:t>shows a surviving, carved raven that originally marked a mortuary house.</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Title 3"/>
          <p:cNvSpPr>
            <a:spLocks noGrp="1"/>
          </p:cNvSpPr>
          <p:nvPr>
            <p:ph type="title"/>
          </p:nvPr>
        </p:nvSpPr>
        <p:spPr/>
        <p:txBody>
          <a:bodyPr>
            <a:normAutofit fontScale="90000"/>
          </a:bodyPr>
          <a:lstStyle/>
          <a:p>
            <a:r>
              <a:rPr lang="en-US" dirty="0"/>
              <a:t>Emily </a:t>
            </a:r>
            <a:r>
              <a:rPr lang="en-US" dirty="0" err="1"/>
              <a:t>Carr</a:t>
            </a:r>
            <a:r>
              <a:rPr lang="en-US" dirty="0"/>
              <a:t> BIG RAVEN</a:t>
            </a:r>
            <a:br>
              <a:rPr lang="en-US" dirty="0"/>
            </a:br>
            <a:r>
              <a:rPr lang="en-US" dirty="0"/>
              <a:t>1931. Oil on canvas, 34-1/4</a:t>
            </a:r>
            <a:r>
              <a:rPr lang="ru-RU" dirty="0"/>
              <a:t>"</a:t>
            </a:r>
            <a:r>
              <a:rPr lang="en-US" dirty="0"/>
              <a:t> × 44-7/8</a:t>
            </a:r>
            <a:r>
              <a:rPr lang="ru-RU" dirty="0"/>
              <a:t>"</a:t>
            </a:r>
            <a:r>
              <a:rPr lang="en-US" dirty="0"/>
              <a:t> (87 × 114 cm).</a:t>
            </a:r>
            <a:br>
              <a:rPr lang="en-US" dirty="0"/>
            </a:br>
            <a:r>
              <a:rPr lang="en-US" dirty="0"/>
              <a:t>Collection of the Vancouver Art Gallery, Emily </a:t>
            </a:r>
            <a:r>
              <a:rPr lang="en-US" dirty="0" err="1"/>
              <a:t>Carr</a:t>
            </a:r>
            <a:r>
              <a:rPr lang="en-US" dirty="0"/>
              <a:t> Trust. Vancouver Art Gallery, Photo: Trevor Mills .</a:t>
            </a:r>
          </a:p>
        </p:txBody>
      </p:sp>
      <p:pic>
        <p:nvPicPr>
          <p:cNvPr id="2" name="Picture 1" descr="A substantial, wooden sculpture of a raven rises from a swirl of green hues on a hillside.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3" name="Title 15"/>
          <p:cNvSpPr>
            <a:spLocks noGrp="1"/>
          </p:cNvSpPr>
          <p:nvPr>
            <p:ph type="title"/>
          </p:nvPr>
        </p:nvSpPr>
        <p:spPr/>
        <p:txBody>
          <a:bodyPr/>
          <a:lstStyle/>
          <a:p>
            <a:r>
              <a:rPr lang="en-US"/>
              <a:t>Mexico, Brazil, and Cuba (1 of 5)</a:t>
            </a:r>
          </a:p>
        </p:txBody>
      </p:sp>
      <p:sp>
        <p:nvSpPr>
          <p:cNvPr id="248834" name="Content Placeholder 16"/>
          <p:cNvSpPr>
            <a:spLocks noGrp="1"/>
          </p:cNvSpPr>
          <p:nvPr>
            <p:ph idx="1"/>
          </p:nvPr>
        </p:nvSpPr>
        <p:spPr/>
        <p:txBody>
          <a:bodyPr/>
          <a:lstStyle/>
          <a:p>
            <a:r>
              <a:rPr lang="en-US"/>
              <a:t>The Mexican Revolution of 1910 brought ten years of political instability.</a:t>
            </a:r>
          </a:p>
          <a:p>
            <a:r>
              <a:rPr lang="en-US"/>
              <a:t>Artists entered service of the state with several public building mural commissions.</a:t>
            </a:r>
          </a:p>
          <a:p>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Title 15"/>
          <p:cNvSpPr>
            <a:spLocks noGrp="1"/>
          </p:cNvSpPr>
          <p:nvPr>
            <p:ph type="title"/>
          </p:nvPr>
        </p:nvSpPr>
        <p:spPr/>
        <p:txBody>
          <a:bodyPr/>
          <a:lstStyle/>
          <a:p>
            <a:r>
              <a:rPr lang="en-US"/>
              <a:t>Mexico, Brazil, and Cuba (2 of 5)</a:t>
            </a:r>
          </a:p>
        </p:txBody>
      </p:sp>
      <p:sp>
        <p:nvSpPr>
          <p:cNvPr id="249858" name="Content Placeholder 16"/>
          <p:cNvSpPr>
            <a:spLocks noGrp="1"/>
          </p:cNvSpPr>
          <p:nvPr>
            <p:ph idx="1"/>
          </p:nvPr>
        </p:nvSpPr>
        <p:spPr/>
        <p:txBody>
          <a:bodyPr/>
          <a:lstStyle/>
          <a:p>
            <a:r>
              <a:rPr lang="en-US"/>
              <a:t>Prominent in the Mexican mural movement was Diego Rivera, who studied Synthetic Cubist style.</a:t>
            </a:r>
          </a:p>
          <a:p>
            <a:pPr lvl="1"/>
            <a:r>
              <a:rPr lang="en-US" i="1"/>
              <a:t>The Great City of Tenochtitlan </a:t>
            </a:r>
            <a:r>
              <a:rPr lang="en-US"/>
              <a:t>was painted for a mural cycle portraying the history of Mexico in the National Palace in Mexico City.</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2" name="Title 3"/>
          <p:cNvSpPr>
            <a:spLocks noGrp="1"/>
          </p:cNvSpPr>
          <p:nvPr>
            <p:ph type="title"/>
          </p:nvPr>
        </p:nvSpPr>
        <p:spPr>
          <a:xfrm>
            <a:off x="457200" y="5715000"/>
            <a:ext cx="8229600" cy="685800"/>
          </a:xfrm>
        </p:spPr>
        <p:txBody>
          <a:bodyPr>
            <a:normAutofit fontScale="90000"/>
          </a:bodyPr>
          <a:lstStyle/>
          <a:p>
            <a:r>
              <a:rPr lang="en-US" dirty="0"/>
              <a:t>Diego Rivera THE GREAT CITY OF TENOCHTITLAN (DETAIL)</a:t>
            </a:r>
            <a:br>
              <a:rPr lang="en-US" dirty="0"/>
            </a:br>
            <a:r>
              <a:rPr lang="en-US" dirty="0"/>
              <a:t>Mural in patio corridor, National Palace, Mexico City. 1945.</a:t>
            </a:r>
            <a:br>
              <a:rPr lang="en-US" dirty="0"/>
            </a:br>
            <a:r>
              <a:rPr lang="en-US" dirty="0"/>
              <a:t>Fresco, 16</a:t>
            </a:r>
            <a:r>
              <a:rPr lang="uk-UA" dirty="0"/>
              <a:t>'</a:t>
            </a:r>
            <a:r>
              <a:rPr lang="en-US" dirty="0"/>
              <a:t>1-3/4</a:t>
            </a:r>
            <a:r>
              <a:rPr lang="ru-RU" dirty="0"/>
              <a:t>"</a:t>
            </a:r>
            <a:r>
              <a:rPr lang="en-US" dirty="0"/>
              <a:t> × 31</a:t>
            </a:r>
            <a:r>
              <a:rPr lang="uk-UA" dirty="0"/>
              <a:t>'</a:t>
            </a:r>
            <a:r>
              <a:rPr lang="en-US" dirty="0"/>
              <a:t>10-1/4</a:t>
            </a:r>
            <a:r>
              <a:rPr lang="ru-RU" dirty="0"/>
              <a:t>"</a:t>
            </a:r>
            <a:r>
              <a:rPr lang="en-US" dirty="0"/>
              <a:t> (4.92 × 9.71 m).</a:t>
            </a:r>
            <a:br>
              <a:rPr lang="en-US" dirty="0"/>
            </a:br>
            <a:r>
              <a:rPr lang="en-US" dirty="0"/>
              <a:t>© 2016 Banco de México Diego Rivera Frida Kahlo Museums Trust, Mexico, D.F./Artists Rights Society (ARS), New York. © 2016. Photo Art Resource/Bob </a:t>
            </a:r>
            <a:r>
              <a:rPr lang="en-US" dirty="0" err="1"/>
              <a:t>Schalkwijk</a:t>
            </a:r>
            <a:r>
              <a:rPr lang="en-US" dirty="0"/>
              <a:t>/Scala, Florence. </a:t>
            </a:r>
          </a:p>
        </p:txBody>
      </p:sp>
      <p:pic>
        <p:nvPicPr>
          <p:cNvPr id="2" name="Picture 1" descr="Scenes from Aztec history are depicted in the foreground, above a single register of Aztec relief sculpture. The background is filled by a panoramic view of the Aztec capital, with snow-capped mountains in the distance."/>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Title 15"/>
          <p:cNvSpPr>
            <a:spLocks noGrp="1"/>
          </p:cNvSpPr>
          <p:nvPr>
            <p:ph type="title"/>
          </p:nvPr>
        </p:nvSpPr>
        <p:spPr/>
        <p:txBody>
          <a:bodyPr/>
          <a:lstStyle/>
          <a:p>
            <a:r>
              <a:rPr lang="en-US"/>
              <a:t>Mexico, Brazil, and Cuba (3 of 5)</a:t>
            </a:r>
          </a:p>
        </p:txBody>
      </p:sp>
      <p:sp>
        <p:nvSpPr>
          <p:cNvPr id="252930" name="Content Placeholder 16"/>
          <p:cNvSpPr>
            <a:spLocks noGrp="1"/>
          </p:cNvSpPr>
          <p:nvPr>
            <p:ph idx="1"/>
          </p:nvPr>
        </p:nvSpPr>
        <p:spPr/>
        <p:txBody>
          <a:bodyPr/>
          <a:lstStyle/>
          <a:p>
            <a:r>
              <a:rPr lang="en-US"/>
              <a:t>More private, introspective statements were made by Mexican artists on easel paintings.</a:t>
            </a:r>
          </a:p>
          <a:p>
            <a:pPr lvl="1"/>
            <a:r>
              <a:rPr lang="en-US"/>
              <a:t>Frida Kahlo presented a split ethnic identity in </a:t>
            </a:r>
            <a:r>
              <a:rPr lang="en-US" i="1"/>
              <a:t>The Two Fridas</a:t>
            </a:r>
            <a:r>
              <a:rPr lang="en-US"/>
              <a:t>.</a:t>
            </a:r>
          </a:p>
          <a:p>
            <a:pPr lvl="2"/>
            <a:r>
              <a:rPr lang="en-US"/>
              <a:t>Between the two Fridas (one dressed in Victorian dress, and the other in Mexican clothing), an artery runs between them, beginning at a miniature portrait of Diego Rivera, whom she was divorcing.</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4" name="Title 3"/>
          <p:cNvSpPr>
            <a:spLocks noGrp="1"/>
          </p:cNvSpPr>
          <p:nvPr>
            <p:ph type="title"/>
          </p:nvPr>
        </p:nvSpPr>
        <p:spPr>
          <a:xfrm>
            <a:off x="457200" y="5715000"/>
            <a:ext cx="8229600" cy="685800"/>
          </a:xfrm>
        </p:spPr>
        <p:txBody>
          <a:bodyPr>
            <a:normAutofit fontScale="90000"/>
          </a:bodyPr>
          <a:lstStyle/>
          <a:p>
            <a:r>
              <a:rPr lang="en-US" dirty="0"/>
              <a:t>Frida Kahlo THE TWO FRIDAS</a:t>
            </a:r>
            <a:br>
              <a:rPr lang="en-US" dirty="0"/>
            </a:br>
            <a:r>
              <a:rPr lang="en-US" dirty="0"/>
              <a:t>1939. Oil on canvas, 5</a:t>
            </a:r>
            <a:r>
              <a:rPr lang="uk-UA" dirty="0"/>
              <a:t>'</a:t>
            </a:r>
            <a:r>
              <a:rPr lang="en-US" dirty="0"/>
              <a:t>8-1/2</a:t>
            </a:r>
            <a:r>
              <a:rPr lang="ru-RU" dirty="0"/>
              <a:t>"</a:t>
            </a:r>
            <a:r>
              <a:rPr lang="en-US" dirty="0"/>
              <a:t> × 5</a:t>
            </a:r>
            <a:r>
              <a:rPr lang="uk-UA" dirty="0"/>
              <a:t>'</a:t>
            </a:r>
            <a:r>
              <a:rPr lang="en-US" dirty="0"/>
              <a:t>8-1/2</a:t>
            </a:r>
            <a:r>
              <a:rPr lang="ru-RU" dirty="0"/>
              <a:t>"</a:t>
            </a:r>
            <a:r>
              <a:rPr lang="en-US" dirty="0"/>
              <a:t> (1.74 × 1.74 m).</a:t>
            </a:r>
            <a:br>
              <a:rPr lang="en-US" dirty="0"/>
            </a:br>
            <a:r>
              <a:rPr lang="en-US" dirty="0"/>
              <a:t>Museo de </a:t>
            </a:r>
            <a:r>
              <a:rPr lang="en-US" dirty="0" err="1"/>
              <a:t>Arte</a:t>
            </a:r>
            <a:r>
              <a:rPr lang="en-US" dirty="0"/>
              <a:t> </a:t>
            </a:r>
            <a:r>
              <a:rPr lang="en-US" dirty="0" err="1"/>
              <a:t>Moderno</a:t>
            </a:r>
            <a:r>
              <a:rPr lang="en-US" dirty="0"/>
              <a:t>, Instituto Nacional de </a:t>
            </a:r>
            <a:r>
              <a:rPr lang="en-US" dirty="0" err="1"/>
              <a:t>Bellas</a:t>
            </a:r>
            <a:r>
              <a:rPr lang="en-US" dirty="0"/>
              <a:t> Artes, Mexico City. © 2016 Banco de México Diego Rivera Frida Kahlo Museums Trust, Mexico, D.F./Artists Rights Society (ARS), New York. © 2016. Photo Art Resource/Bob </a:t>
            </a:r>
            <a:r>
              <a:rPr lang="en-US" dirty="0" err="1"/>
              <a:t>Schalkwijk</a:t>
            </a:r>
            <a:r>
              <a:rPr lang="en-US" dirty="0"/>
              <a:t>/Scala, Florence.</a:t>
            </a:r>
          </a:p>
        </p:txBody>
      </p:sp>
      <p:pic>
        <p:nvPicPr>
          <p:cNvPr id="2" name="Picture 1" descr="The Mexican Frida wears a simple blue and yellow blouse, with a green skirt. The German Frida wears an elegant, high-necked blouse of white lace, torn to show her heart, and a long white satin skirt, stained by her flowing blood.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228600"/>
            <a:ext cx="8107680" cy="5031232"/>
          </a:xfrm>
          <a:prstGeom prst="rect">
            <a:avLst/>
          </a:prstGeom>
        </p:spPr>
      </p:pic>
    </p:spTree>
  </p:cSld>
  <p:clrMapOvr>
    <a:masterClrMapping/>
  </p:clrMapOvr>
  <p:transition spd="slow" advTm="0"/>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Title 15"/>
          <p:cNvSpPr>
            <a:spLocks noGrp="1"/>
          </p:cNvSpPr>
          <p:nvPr>
            <p:ph type="title"/>
          </p:nvPr>
        </p:nvSpPr>
        <p:spPr/>
        <p:txBody>
          <a:bodyPr/>
          <a:lstStyle/>
          <a:p>
            <a:r>
              <a:rPr lang="en-US"/>
              <a:t>Mexico, Brazil, and Cuba (4 of 5)</a:t>
            </a:r>
          </a:p>
        </p:txBody>
      </p:sp>
      <p:sp>
        <p:nvSpPr>
          <p:cNvPr id="256002" name="Content Placeholder 16"/>
          <p:cNvSpPr>
            <a:spLocks noGrp="1"/>
          </p:cNvSpPr>
          <p:nvPr>
            <p:ph idx="1"/>
          </p:nvPr>
        </p:nvSpPr>
        <p:spPr/>
        <p:txBody>
          <a:bodyPr/>
          <a:lstStyle/>
          <a:p>
            <a:r>
              <a:rPr lang="en-US"/>
              <a:t>Brazil</a:t>
            </a:r>
          </a:p>
          <a:p>
            <a:pPr lvl="1"/>
            <a:r>
              <a:rPr lang="en-US"/>
              <a:t>Art in other parts of Latin America was dominated by the academic tradition of the nineteenth century.</a:t>
            </a:r>
          </a:p>
          <a:p>
            <a:pPr lvl="1"/>
            <a:r>
              <a:rPr lang="en-US"/>
              <a:t>Modern Art Week was an event Brazilian artists used as a way to declare independence from Europe.</a:t>
            </a:r>
          </a:p>
          <a:p>
            <a:pPr lvl="1"/>
            <a:r>
              <a:rPr lang="en-US"/>
              <a:t>Tarsila do Amaral created the abstract </a:t>
            </a:r>
            <a:r>
              <a:rPr lang="en-US" i="1"/>
              <a:t>Abaporú (The One Who Eats) </a:t>
            </a:r>
            <a:r>
              <a:rPr lang="en-US"/>
              <a:t>in homage to Léger and Brancusi.</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Title 3"/>
          <p:cNvSpPr>
            <a:spLocks noGrp="1"/>
          </p:cNvSpPr>
          <p:nvPr>
            <p:ph type="title"/>
          </p:nvPr>
        </p:nvSpPr>
        <p:spPr/>
        <p:txBody>
          <a:bodyPr>
            <a:normAutofit fontScale="90000"/>
          </a:bodyPr>
          <a:lstStyle/>
          <a:p>
            <a:r>
              <a:rPr lang="en-US" dirty="0" err="1"/>
              <a:t>Tarsila</a:t>
            </a:r>
            <a:r>
              <a:rPr lang="en-US" dirty="0"/>
              <a:t> do Amaral THE ONE WHO EATS (ABAPORÚ) </a:t>
            </a:r>
            <a:br>
              <a:rPr lang="en-US" dirty="0"/>
            </a:br>
            <a:r>
              <a:rPr lang="en-US" dirty="0"/>
              <a:t>1928. Oil on canvas, 34</a:t>
            </a:r>
            <a:r>
              <a:rPr lang="ru-RU" dirty="0"/>
              <a:t>"</a:t>
            </a:r>
            <a:r>
              <a:rPr lang="en-US" dirty="0"/>
              <a:t> × 29</a:t>
            </a:r>
            <a:r>
              <a:rPr lang="ru-RU" dirty="0"/>
              <a:t>"</a:t>
            </a:r>
            <a:r>
              <a:rPr lang="en-US" dirty="0"/>
              <a:t> (86.4 × 73.7 cm).</a:t>
            </a:r>
            <a:br>
              <a:rPr lang="en-US" dirty="0"/>
            </a:br>
            <a:r>
              <a:rPr lang="en-US" dirty="0"/>
              <a:t>Museo de </a:t>
            </a:r>
            <a:r>
              <a:rPr lang="en-US" dirty="0" err="1"/>
              <a:t>Arte</a:t>
            </a:r>
            <a:r>
              <a:rPr lang="en-US" dirty="0"/>
              <a:t> </a:t>
            </a:r>
            <a:r>
              <a:rPr lang="en-US" dirty="0" err="1"/>
              <a:t>Latinoamericano</a:t>
            </a:r>
            <a:r>
              <a:rPr lang="en-US" dirty="0"/>
              <a:t>, Buenos Aires. Courtesy of Guilherme Augusto do Amaral/</a:t>
            </a:r>
            <a:r>
              <a:rPr lang="en-US" dirty="0" err="1"/>
              <a:t>Malba-Coleccion</a:t>
            </a:r>
            <a:r>
              <a:rPr lang="en-US" dirty="0"/>
              <a:t> </a:t>
            </a:r>
            <a:r>
              <a:rPr lang="en-US" dirty="0" err="1"/>
              <a:t>Constantini</a:t>
            </a:r>
            <a:r>
              <a:rPr lang="en-US" dirty="0"/>
              <a:t>, Buenos Aires. © </a:t>
            </a:r>
            <a:r>
              <a:rPr lang="en-US" dirty="0" err="1"/>
              <a:t>Tarsila</a:t>
            </a:r>
            <a:r>
              <a:rPr lang="en-US" dirty="0"/>
              <a:t> do Amara. Collection of MALBA, Museo de </a:t>
            </a:r>
            <a:r>
              <a:rPr lang="en-US" dirty="0" err="1"/>
              <a:t>Arte</a:t>
            </a:r>
            <a:r>
              <a:rPr lang="en-US" dirty="0"/>
              <a:t> </a:t>
            </a:r>
            <a:r>
              <a:rPr lang="en-US" dirty="0" err="1"/>
              <a:t>Latinoamericano</a:t>
            </a:r>
            <a:r>
              <a:rPr lang="en-US" dirty="0"/>
              <a:t> de Buenos Aires. </a:t>
            </a:r>
          </a:p>
        </p:txBody>
      </p:sp>
      <p:pic>
        <p:nvPicPr>
          <p:cNvPr id="2" name="Picture 1" descr="An abstracted figure of a nude, yellow man sits next to a cactus, with his foot and hand in the foreground, scaled much larger than his distant-seeming head."/>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Title 15"/>
          <p:cNvSpPr>
            <a:spLocks noGrp="1"/>
          </p:cNvSpPr>
          <p:nvPr>
            <p:ph type="title"/>
          </p:nvPr>
        </p:nvSpPr>
        <p:spPr/>
        <p:txBody>
          <a:bodyPr/>
          <a:lstStyle/>
          <a:p>
            <a:r>
              <a:rPr lang="en-US"/>
              <a:t>Mexico, Brazil, and Cuba (5 of 5)</a:t>
            </a:r>
          </a:p>
        </p:txBody>
      </p:sp>
      <p:sp>
        <p:nvSpPr>
          <p:cNvPr id="259074" name="Content Placeholder 16"/>
          <p:cNvSpPr>
            <a:spLocks noGrp="1"/>
          </p:cNvSpPr>
          <p:nvPr>
            <p:ph idx="1"/>
          </p:nvPr>
        </p:nvSpPr>
        <p:spPr/>
        <p:txBody>
          <a:bodyPr/>
          <a:lstStyle/>
          <a:p>
            <a:r>
              <a:rPr lang="en-US"/>
              <a:t>Cuba</a:t>
            </a:r>
          </a:p>
          <a:p>
            <a:pPr lvl="1"/>
            <a:r>
              <a:rPr lang="ru-RU"/>
              <a:t>"</a:t>
            </a:r>
            <a:r>
              <a:rPr lang="en-US"/>
              <a:t>Minority</a:t>
            </a:r>
            <a:r>
              <a:rPr lang="ru-RU"/>
              <a:t>"</a:t>
            </a:r>
            <a:r>
              <a:rPr lang="en-US"/>
              <a:t> artists pursued a popular, Modern art with Cuban roots.</a:t>
            </a:r>
          </a:p>
          <a:p>
            <a:pPr lvl="1"/>
            <a:r>
              <a:rPr lang="en-US"/>
              <a:t>Amelia Peláez studied popular and folk arts with a focus on the woman</a:t>
            </a:r>
            <a:r>
              <a:rPr lang="uk-UA"/>
              <a:t>'</a:t>
            </a:r>
            <a:r>
              <a:rPr lang="en-US"/>
              <a:t>s realm and national identity.</a:t>
            </a:r>
          </a:p>
          <a:p>
            <a:pPr lvl="2"/>
            <a:r>
              <a:rPr lang="en-US"/>
              <a:t>The visual language of </a:t>
            </a:r>
            <a:r>
              <a:rPr lang="en-US" i="1"/>
              <a:t>Marpacífico</a:t>
            </a:r>
            <a:r>
              <a:rPr lang="en-US"/>
              <a:t> is Cubist, but shows recognizable objects and pure color.</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Title 3"/>
          <p:cNvSpPr>
            <a:spLocks noGrp="1"/>
          </p:cNvSpPr>
          <p:nvPr>
            <p:ph type="title"/>
          </p:nvPr>
        </p:nvSpPr>
        <p:spPr/>
        <p:txBody>
          <a:bodyPr>
            <a:normAutofit fontScale="90000"/>
          </a:bodyPr>
          <a:lstStyle/>
          <a:p>
            <a:r>
              <a:rPr lang="en-US" dirty="0"/>
              <a:t>Amelia </a:t>
            </a:r>
            <a:r>
              <a:rPr lang="en-US" dirty="0" err="1"/>
              <a:t>Peláez</a:t>
            </a:r>
            <a:r>
              <a:rPr lang="en-US" dirty="0"/>
              <a:t> HIBISCUS (MARPACÍFICO)</a:t>
            </a:r>
            <a:br>
              <a:rPr lang="en-US" dirty="0"/>
            </a:br>
            <a:r>
              <a:rPr lang="en-US" dirty="0"/>
              <a:t>1943. Oil on canvas, 45-1/2</a:t>
            </a:r>
            <a:r>
              <a:rPr lang="ru-RU" dirty="0"/>
              <a:t>"</a:t>
            </a:r>
            <a:r>
              <a:rPr lang="en-US" dirty="0"/>
              <a:t> × 35</a:t>
            </a:r>
            <a:r>
              <a:rPr lang="ru-RU" dirty="0"/>
              <a:t>"</a:t>
            </a:r>
            <a:r>
              <a:rPr lang="en-US" dirty="0"/>
              <a:t> (115.6 × 88.9 cm).</a:t>
            </a:r>
            <a:br>
              <a:rPr lang="en-US" dirty="0"/>
            </a:br>
            <a:r>
              <a:rPr lang="en-US" dirty="0"/>
              <a:t> Collection OAS Art Museum of the Americas, Washington, DC. Gift of IBM. © Amelia </a:t>
            </a:r>
            <a:r>
              <a:rPr lang="en-US" dirty="0" err="1"/>
              <a:t>Pelaez</a:t>
            </a:r>
            <a:r>
              <a:rPr lang="en-US" dirty="0"/>
              <a:t> Foundation. </a:t>
            </a:r>
          </a:p>
        </p:txBody>
      </p:sp>
      <p:pic>
        <p:nvPicPr>
          <p:cNvPr id="2" name="Picture 1" descr="A vase of colorful flowers with five petals sits in front of a chair and table, below an elegant mirror. "/>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Title 15"/>
          <p:cNvSpPr>
            <a:spLocks noGrp="1"/>
          </p:cNvSpPr>
          <p:nvPr>
            <p:ph type="title"/>
          </p:nvPr>
        </p:nvSpPr>
        <p:spPr/>
        <p:txBody>
          <a:bodyPr/>
          <a:lstStyle/>
          <a:p>
            <a:r>
              <a:rPr lang="en-US"/>
              <a:t>Figural Responses and </a:t>
            </a:r>
            <a:r>
              <a:rPr lang="en-US" i="1"/>
              <a:t>Art Informel </a:t>
            </a:r>
            <a:r>
              <a:rPr lang="en-US"/>
              <a:t>in Europe (1 of 2)</a:t>
            </a:r>
          </a:p>
        </p:txBody>
      </p:sp>
      <p:sp>
        <p:nvSpPr>
          <p:cNvPr id="263170" name="Content Placeholder 16"/>
          <p:cNvSpPr>
            <a:spLocks noGrp="1"/>
          </p:cNvSpPr>
          <p:nvPr>
            <p:ph idx="1"/>
          </p:nvPr>
        </p:nvSpPr>
        <p:spPr/>
        <p:txBody>
          <a:bodyPr/>
          <a:lstStyle/>
          <a:p>
            <a:r>
              <a:rPr lang="en-US"/>
              <a:t>Most immediately postwar art involved figural or abstracted works attempting to cope with the horrors of war.</a:t>
            </a:r>
          </a:p>
          <a:p>
            <a:r>
              <a:rPr lang="en-US"/>
              <a:t>Francis Bacon</a:t>
            </a:r>
            <a:r>
              <a:rPr lang="uk-UA"/>
              <a:t>'</a:t>
            </a:r>
            <a:r>
              <a:rPr lang="en-US" i="1"/>
              <a:t>s Head Surrounded by Sides of Beef </a:t>
            </a:r>
            <a:r>
              <a:rPr lang="en-US"/>
              <a:t>portrays Pope Innocent X as an anguished and insubstantial man.</a:t>
            </a:r>
          </a:p>
          <a:p>
            <a:pPr lvl="1"/>
            <a:r>
              <a:rPr lang="en-US"/>
              <a:t>It was directly inspired by Diego Velásquez</a:t>
            </a:r>
            <a:r>
              <a:rPr lang="uk-UA"/>
              <a:t>'</a:t>
            </a:r>
            <a:r>
              <a:rPr lang="en-US"/>
              <a:t>s work of the same subject.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Title 3"/>
          <p:cNvSpPr>
            <a:spLocks noGrp="1"/>
          </p:cNvSpPr>
          <p:nvPr>
            <p:ph type="title"/>
          </p:nvPr>
        </p:nvSpPr>
        <p:spPr/>
        <p:txBody>
          <a:bodyPr>
            <a:normAutofit fontScale="90000"/>
          </a:bodyPr>
          <a:lstStyle/>
          <a:p>
            <a:r>
              <a:rPr lang="en-US" dirty="0"/>
              <a:t>Francis Bacon HEAD SURROUNDED BY SIDES OF BEEF</a:t>
            </a:r>
            <a:br>
              <a:rPr lang="en-US" dirty="0"/>
            </a:br>
            <a:r>
              <a:rPr lang="en-US" dirty="0"/>
              <a:t>1954. Oil on canvas, 50-3/4</a:t>
            </a:r>
            <a:r>
              <a:rPr lang="ru-RU" dirty="0"/>
              <a:t>"</a:t>
            </a:r>
            <a:r>
              <a:rPr lang="en-US" dirty="0"/>
              <a:t> × 48</a:t>
            </a:r>
            <a:r>
              <a:rPr lang="ru-RU" dirty="0"/>
              <a:t>"</a:t>
            </a:r>
            <a:r>
              <a:rPr lang="en-US" dirty="0"/>
              <a:t> (129 × 122 cm).</a:t>
            </a:r>
            <a:br>
              <a:rPr lang="en-US" dirty="0"/>
            </a:br>
            <a:r>
              <a:rPr lang="en-US" dirty="0"/>
              <a:t>The Art Institute of Chicago. </a:t>
            </a:r>
            <a:r>
              <a:rPr lang="en-US" dirty="0" err="1"/>
              <a:t>Harriott</a:t>
            </a:r>
            <a:r>
              <a:rPr lang="en-US" dirty="0"/>
              <a:t> A. Fox Fund (1956.1201). © The Estate of Francis Bacon. All rights reserved. DACS, London/ARS, NY 2016. Photo © The Art Institute of Chicago. </a:t>
            </a:r>
          </a:p>
        </p:txBody>
      </p:sp>
      <p:pic>
        <p:nvPicPr>
          <p:cNvPr id="2" name="Picture 1" descr="A man in a dark robe and a cylindrical hat sits in a straight-backed chair, resembling a throne, in a square room with black walls. A blurry wash overlays his screaming mouth, and the exposed muscles and ribcages of the cow carcasses hanging behind him."/>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81000"/>
            <a:ext cx="8107680" cy="5031232"/>
          </a:xfrm>
          <a:prstGeom prst="rect">
            <a:avLst/>
          </a:prstGeom>
        </p:spPr>
      </p:pic>
    </p:spTree>
  </p:cSld>
  <p:clrMapOvr>
    <a:masterClrMapping/>
  </p:clrMapOvr>
  <p:transition spd="slow" advTm="0"/>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Title 15"/>
          <p:cNvSpPr>
            <a:spLocks noGrp="1"/>
          </p:cNvSpPr>
          <p:nvPr>
            <p:ph type="title"/>
          </p:nvPr>
        </p:nvSpPr>
        <p:spPr/>
        <p:txBody>
          <a:bodyPr/>
          <a:lstStyle/>
          <a:p>
            <a:r>
              <a:rPr lang="en-US"/>
              <a:t>Figural Responses and </a:t>
            </a:r>
            <a:r>
              <a:rPr lang="en-US" i="1"/>
              <a:t>Art Informel </a:t>
            </a:r>
            <a:r>
              <a:rPr lang="en-US"/>
              <a:t>in Europe (2 of 2)</a:t>
            </a:r>
          </a:p>
        </p:txBody>
      </p:sp>
      <p:sp>
        <p:nvSpPr>
          <p:cNvPr id="266242" name="Content Placeholder 16"/>
          <p:cNvSpPr>
            <a:spLocks noGrp="1"/>
          </p:cNvSpPr>
          <p:nvPr>
            <p:ph idx="1"/>
          </p:nvPr>
        </p:nvSpPr>
        <p:spPr/>
        <p:txBody>
          <a:bodyPr/>
          <a:lstStyle/>
          <a:p>
            <a:r>
              <a:rPr lang="en-US" i="1"/>
              <a:t>Art informel (tachisme) </a:t>
            </a:r>
            <a:r>
              <a:rPr lang="en-US"/>
              <a:t>was a distinct movement born of the sentiment that art should comprise of simple, honest marks to express postwar humanity.</a:t>
            </a:r>
          </a:p>
          <a:p>
            <a:r>
              <a:rPr lang="en-US"/>
              <a:t>Wols</a:t>
            </a:r>
            <a:r>
              <a:rPr lang="uk-UA"/>
              <a:t>'</a:t>
            </a:r>
            <a:r>
              <a:rPr lang="en-US"/>
              <a:t>s </a:t>
            </a:r>
            <a:r>
              <a:rPr lang="en-US" i="1"/>
              <a:t>Painting</a:t>
            </a:r>
            <a:r>
              <a:rPr lang="en-US"/>
              <a:t> represents a disease-ridden and violent world through its semiabstracted form that resembles a cell or bacterial growth.</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6" name="Title 3"/>
          <p:cNvSpPr>
            <a:spLocks noGrp="1"/>
          </p:cNvSpPr>
          <p:nvPr>
            <p:ph type="title"/>
          </p:nvPr>
        </p:nvSpPr>
        <p:spPr/>
        <p:txBody>
          <a:bodyPr>
            <a:normAutofit fontScale="90000"/>
          </a:bodyPr>
          <a:lstStyle/>
          <a:p>
            <a:r>
              <a:rPr lang="en-US" dirty="0" err="1"/>
              <a:t>Wols</a:t>
            </a:r>
            <a:r>
              <a:rPr lang="en-US" dirty="0"/>
              <a:t> (Wolfgang Schulze) PAINTING</a:t>
            </a:r>
            <a:br>
              <a:rPr lang="en-US" dirty="0"/>
            </a:br>
            <a:r>
              <a:rPr lang="en-US" dirty="0"/>
              <a:t>1944–1945. Oil on canvas, 31-7/8</a:t>
            </a:r>
            <a:r>
              <a:rPr lang="ru-RU" dirty="0"/>
              <a:t>"</a:t>
            </a:r>
            <a:r>
              <a:rPr lang="en-US" dirty="0"/>
              <a:t> × 32</a:t>
            </a:r>
            <a:r>
              <a:rPr lang="ru-RU" dirty="0"/>
              <a:t>"</a:t>
            </a:r>
            <a:r>
              <a:rPr lang="en-US" dirty="0"/>
              <a:t> (81 × 81.1 cm).</a:t>
            </a:r>
            <a:br>
              <a:rPr lang="en-US" dirty="0"/>
            </a:br>
            <a:r>
              <a:rPr lang="en-US" dirty="0"/>
              <a:t>Museum of Modern Art, New York. Gift of D. and J. de </a:t>
            </a:r>
            <a:r>
              <a:rPr lang="en-US" dirty="0" err="1"/>
              <a:t>Menil</a:t>
            </a:r>
            <a:r>
              <a:rPr lang="en-US" dirty="0"/>
              <a:t> Fund (29.1956). © 2016 Artists Rights Society (ARS), New York/ADAGP, Paris. © 2016. Digital Image, The Museum of Modern Art/Scala, Florence</a:t>
            </a:r>
          </a:p>
        </p:txBody>
      </p:sp>
      <p:pic>
        <p:nvPicPr>
          <p:cNvPr id="2" name="Picture 1" descr="An irregular, lightly shaded square is outlined in brown near the center of the image, surrounded by a gray wash. Inside the square, stains of black and blue expand from crater-like ring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9313" name="Title 15"/>
          <p:cNvSpPr>
            <a:spLocks noGrp="1"/>
          </p:cNvSpPr>
          <p:nvPr>
            <p:ph type="title"/>
          </p:nvPr>
        </p:nvSpPr>
        <p:spPr/>
        <p:txBody>
          <a:bodyPr/>
          <a:lstStyle/>
          <a:p>
            <a:r>
              <a:rPr lang="en-US"/>
              <a:t>Experiments in Latin America</a:t>
            </a:r>
          </a:p>
        </p:txBody>
      </p:sp>
      <p:sp>
        <p:nvSpPr>
          <p:cNvPr id="269314" name="Content Placeholder 16"/>
          <p:cNvSpPr>
            <a:spLocks noGrp="1"/>
          </p:cNvSpPr>
          <p:nvPr>
            <p:ph idx="1"/>
          </p:nvPr>
        </p:nvSpPr>
        <p:spPr/>
        <p:txBody>
          <a:bodyPr/>
          <a:lstStyle/>
          <a:p>
            <a:r>
              <a:rPr lang="en-US"/>
              <a:t>Wifredo Lam brought issues of heritage, identity, and discovery to his art in Cuba.</a:t>
            </a:r>
          </a:p>
          <a:p>
            <a:pPr lvl="1"/>
            <a:r>
              <a:rPr lang="en-US" i="1"/>
              <a:t>Zambezia, Zambzia </a:t>
            </a:r>
            <a:r>
              <a:rPr lang="en-US"/>
              <a:t>recalls European Modernism but represents a </a:t>
            </a:r>
            <a:r>
              <a:rPr lang="en-US" i="1"/>
              <a:t>santería</a:t>
            </a:r>
            <a:r>
              <a:rPr lang="en-US"/>
              <a:t> ritual.</a:t>
            </a:r>
          </a:p>
          <a:p>
            <a:r>
              <a:rPr lang="en-US"/>
              <a:t>Torres-García</a:t>
            </a:r>
            <a:r>
              <a:rPr lang="uk-UA"/>
              <a:t>'</a:t>
            </a:r>
            <a:r>
              <a:rPr lang="en-US"/>
              <a:t>s </a:t>
            </a:r>
            <a:r>
              <a:rPr lang="en-US" i="1"/>
              <a:t>Abstract Art in Five Tones and Complementaries </a:t>
            </a:r>
            <a:r>
              <a:rPr lang="en-US"/>
              <a:t>fuses Inca imagery and mason patterns.</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8" name="Title 3"/>
          <p:cNvSpPr>
            <a:spLocks noGrp="1"/>
          </p:cNvSpPr>
          <p:nvPr>
            <p:ph type="title"/>
          </p:nvPr>
        </p:nvSpPr>
        <p:spPr/>
        <p:txBody>
          <a:bodyPr>
            <a:normAutofit fontScale="90000"/>
          </a:bodyPr>
          <a:lstStyle/>
          <a:p>
            <a:r>
              <a:rPr lang="en-US" dirty="0" err="1"/>
              <a:t>Wifredo</a:t>
            </a:r>
            <a:r>
              <a:rPr lang="en-US" dirty="0"/>
              <a:t> Lam ZAMBEZIA, ZAMBEZIA</a:t>
            </a:r>
            <a:br>
              <a:rPr lang="en-US" dirty="0"/>
            </a:br>
            <a:r>
              <a:rPr lang="en-US" dirty="0"/>
              <a:t>1950. Oil on canvas, 49-3/8</a:t>
            </a:r>
            <a:r>
              <a:rPr lang="ru-RU" dirty="0"/>
              <a:t>"</a:t>
            </a:r>
            <a:r>
              <a:rPr lang="en-US" dirty="0"/>
              <a:t> × 43-5/8</a:t>
            </a:r>
            <a:r>
              <a:rPr lang="ru-RU" dirty="0"/>
              <a:t>"</a:t>
            </a:r>
            <a:r>
              <a:rPr lang="en-US" dirty="0"/>
              <a:t> (125 × 110 cm).</a:t>
            </a:r>
            <a:br>
              <a:rPr lang="en-US" dirty="0"/>
            </a:br>
            <a:r>
              <a:rPr lang="en-US" dirty="0"/>
              <a:t>Solomon R. Guggenheim Museum, New York. Gift, Mr. Joseph Cantor, 1974 (74.2095). </a:t>
            </a:r>
            <a:br>
              <a:rPr lang="en-US" dirty="0"/>
            </a:br>
            <a:r>
              <a:rPr lang="en-US" dirty="0"/>
              <a:t>© 2016 Artists Rights Society (ARS), New York/ADAGP, Paris. The Solomon R. Guggenheim Foundation/Art Resource, NY. </a:t>
            </a:r>
          </a:p>
        </p:txBody>
      </p:sp>
      <p:pic>
        <p:nvPicPr>
          <p:cNvPr id="2" name="Picture 1" descr="A blue-skinned, nude female form stands against a brown background. One breast is in distinct profile, but her arm seems to melt to the ground, and her shoulders, neck, and head twist into an inhuman shape, sprouting talons."/>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2768"/>
            <a:ext cx="8107680" cy="5031232"/>
          </a:xfrm>
          <a:prstGeom prst="rect">
            <a:avLst/>
          </a:prstGeom>
        </p:spPr>
      </p:pic>
    </p:spTree>
  </p:cSld>
  <p:clrMapOvr>
    <a:masterClrMapping/>
  </p:clrMapOvr>
  <p:transition spd="slow" advTm="0"/>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2385" name="Title 3"/>
          <p:cNvSpPr>
            <a:spLocks noGrp="1"/>
          </p:cNvSpPr>
          <p:nvPr>
            <p:ph type="title"/>
          </p:nvPr>
        </p:nvSpPr>
        <p:spPr/>
        <p:txBody>
          <a:bodyPr>
            <a:normAutofit fontScale="90000"/>
          </a:bodyPr>
          <a:lstStyle/>
          <a:p>
            <a:r>
              <a:rPr lang="en-US" dirty="0"/>
              <a:t>Joaquín Torres-García ABSTRACT ART IN FIVE TONES AND COMPLEMENTARIES</a:t>
            </a:r>
            <a:br>
              <a:rPr lang="en-US" dirty="0"/>
            </a:br>
            <a:r>
              <a:rPr lang="en-US" dirty="0"/>
              <a:t>1943. Oil on board mounted on panel, 20-1/2</a:t>
            </a:r>
            <a:r>
              <a:rPr lang="ru-RU" dirty="0"/>
              <a:t>"</a:t>
            </a:r>
            <a:r>
              <a:rPr lang="en-US" dirty="0"/>
              <a:t> × 26-5/8</a:t>
            </a:r>
            <a:r>
              <a:rPr lang="ru-RU" dirty="0"/>
              <a:t>"</a:t>
            </a:r>
            <a:r>
              <a:rPr lang="en-US" dirty="0"/>
              <a:t> (52.1 × 67 cm).</a:t>
            </a:r>
            <a:br>
              <a:rPr lang="en-US" dirty="0"/>
            </a:br>
            <a:r>
              <a:rPr lang="en-US" dirty="0"/>
              <a:t>Albright Knox Art Gallery, Buffalo, NY. Gift of Mr. and Mrs. Armand J. Castellani, 1979. Art Resource, NY. </a:t>
            </a:r>
          </a:p>
        </p:txBody>
      </p:sp>
      <p:pic>
        <p:nvPicPr>
          <p:cNvPr id="2" name="Picture 1" descr="Geometric shapes of different colors are tiled to fill the rectangular field. There are several inscriptions scattered around the image, reading as follows: arte abstracto; sigloxx; 1943; J T G; and, Mondevideo."/>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8000" y="304800"/>
            <a:ext cx="8107680" cy="5031232"/>
          </a:xfrm>
          <a:prstGeom prst="rect">
            <a:avLst/>
          </a:prstGeom>
        </p:spPr>
      </p:pic>
    </p:spTree>
  </p:cSld>
  <p:clrMapOvr>
    <a:masterClrMapping/>
  </p:clrMapOvr>
  <p:transition spd="slow" advTm="0"/>
</p:sld>
</file>

<file path=ppt/theme/theme1.xml><?xml version="1.0" encoding="utf-8"?>
<a:theme xmlns:a="http://schemas.openxmlformats.org/drawingml/2006/main" name="508 Lecture">
  <a:themeElements>
    <a:clrScheme name="Custom 7">
      <a:dk1>
        <a:sysClr val="windowText" lastClr="000000"/>
      </a:dk1>
      <a:lt1>
        <a:sysClr val="window" lastClr="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sz="2000" dirty="0" err="1" smtClean="0"/>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rtlCol="0">
        <a:spAutoFit/>
      </a:bodyPr>
      <a:lstStyle>
        <a:defPPr>
          <a:defRPr sz="2000" dirty="0" err="1" smtClean="0"/>
        </a:defPPr>
      </a:lstStyle>
    </a:txDef>
  </a:objectDefaults>
  <a:extraClrSchemeLst/>
</a:theme>
</file>

<file path=ppt/theme/theme2.xml><?xml version="1.0" encoding="utf-8"?>
<a:theme xmlns:a="http://schemas.openxmlformats.org/drawingml/2006/main" name="Custom Desig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Pearson 508">
      <a:dk1>
        <a:sysClr val="windowText" lastClr="000000"/>
      </a:dk1>
      <a:lt1>
        <a:sysClr val="window" lastClr="FFFFFF"/>
      </a:lt1>
      <a:dk2>
        <a:srgbClr val="000000"/>
      </a:dk2>
      <a:lt2>
        <a:srgbClr val="EEEEEE"/>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Classic 2">
      <a:maj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Arial"/>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Horizon</Template>
  <TotalTime>1800</TotalTime>
  <Words>2790</Words>
  <Application>Microsoft Macintosh PowerPoint</Application>
  <PresentationFormat>On-screen Show (4:3)</PresentationFormat>
  <Paragraphs>266</Paragraphs>
  <Slides>75</Slides>
  <Notes>35</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75</vt:i4>
      </vt:variant>
    </vt:vector>
  </HeadingPairs>
  <TitlesOfParts>
    <vt:vector size="80" baseType="lpstr">
      <vt:lpstr>Arial</vt:lpstr>
      <vt:lpstr>Verdana</vt:lpstr>
      <vt:lpstr>Wingdings</vt:lpstr>
      <vt:lpstr>508 Lecture</vt:lpstr>
      <vt:lpstr>Custom Design</vt:lpstr>
      <vt:lpstr>Chapter 28</vt:lpstr>
      <vt:lpstr>Learning Objectives</vt:lpstr>
      <vt:lpstr>Art Between the Wars in Europe</vt:lpstr>
      <vt:lpstr>Vladimir Tatlin MODEL FOR THE MONUMENT TO THE THIRD INTERNATIONAL 1919–1920. Wood, iron, and glass. Destroyed. © Vladimir Tatlin. </vt:lpstr>
      <vt:lpstr>Utilitarian Art Forms in Russia (1 of 3)</vt:lpstr>
      <vt:lpstr>Utilitarian Art Forms in Russia (2 of 3)</vt:lpstr>
      <vt:lpstr>Aleksandr Rodchenko WORKERS' CLUB Exhibited at the International Exposition of Modern Decorative and Industrial Arts, Paris. 1925. Art © Estate of Aleksandr Rodchenko/RAO, Moscow/VAGA, New York. </vt:lpstr>
      <vt:lpstr>El Lissitzky PROUN SPACE Created for the Great Berlin Art Exhibition. 1923, reconstruction 1971. Collection Van Abbemuseum, Eindhoven, The Netherlands. Photo: Peter Cox, Eindhoven, The Netherlands.</vt:lpstr>
      <vt:lpstr>Utilitarian Art Forms in Russia (3 of 3)</vt:lpstr>
      <vt:lpstr>Vera Mukhina WORKER AND COLLECTIVE FARM WOMAN Sculpture for the Soviet Pavilion, Paris Universal Exposition. 1937. Stainless steel, height approx. 78' (23.8 m). Art © Estate of Vera Mukhina/RAO, Moscow/VAGA, New York. </vt:lpstr>
      <vt:lpstr>De Stijl in the Netherlands (1 of 2)</vt:lpstr>
      <vt:lpstr>Piet Mondrian COMPOSITION WITH YELLOW, RED, AND BLUE 1927. Oil on canvas, 14-7/8" × 13-3/4" (37.8 × 34.9 cm). The Menil Collection, Houston. © 2012 Mondrian/Holtzman Trust c/o HCR International USA. </vt:lpstr>
      <vt:lpstr>De Stijl in the Netherlands (2 of 2)</vt:lpstr>
      <vt:lpstr>Gerrit Rietveld SCHRÖDER HOUSE, UTRECHT The Netherlands. 1925. © Ger Bosma/Alamy Stock Photo.</vt:lpstr>
      <vt:lpstr>Gerrit Rietveld INTERIOR, SCHRÖDER HOUSE, WITH "RED-BLUE" CHAIR 1925. Photo: Jannes Linders. © 2016 Artists Rights Society (ARS), New York/c/o Pictoright Amsterdam.</vt:lpstr>
      <vt:lpstr>The Bauhaus in Germany (1 of 5)</vt:lpstr>
      <vt:lpstr>Walter Gropius BAUHAUS BUILDING, DESSAU Anhalt, Germany. 1925–1926. View from northwest. © 2016 Artists Rights Society (ARS), New York/VG Bild-Kunst, Bonn. © stockeurope/Alamy Stock Photo. </vt:lpstr>
      <vt:lpstr>The Bauhaus in Germany (2 of 5)</vt:lpstr>
      <vt:lpstr>Marianne Brandt COFFEE AND TEA SERVICE 1924. Silver and ebony, with Plexiglas cover for sugar bowl. Tray, 13" × 20-1/4" (33 × 51.5 cm). Bauhaus Archiv, Berlin. © 2016 Artists Rights Society (ARS), New York/VG Bild-Kunst, Bonn. </vt:lpstr>
      <vt:lpstr>Anni Albers WALL HANGING 1926. Silk, three-ply weave, 5'11-5/16" × 3'11-5/8" (1.83 × 1.22 m). Harvard Art Museums/Busch-Reisinger Museum, Association Fund. © 2016 The Josef and Anni Albers Foundation/Artists Rights Society (ARS), New York. Bridgeman Images.</vt:lpstr>
      <vt:lpstr>The Bauhaus in Germany (3 of 5)</vt:lpstr>
      <vt:lpstr>The Bauhaus in Germany (4 of 5)</vt:lpstr>
      <vt:lpstr>The Bauhaus in Germany (5 of 5)</vt:lpstr>
      <vt:lpstr>THE DADA WALL IN ROOM 3 OF THE "DEGENERATE ART" ("ENTARTETE KUNST") EXHIBITION Munich. 1937. Art © Estate of George Grosz/Licensed by VAGA, New York. Akademie der Künste/Archiv Bildende Kunst/George Grosz-Archiv. </vt:lpstr>
      <vt:lpstr>Surrealism and the Mind (1 of 6)</vt:lpstr>
      <vt:lpstr>Surrealism and the Mind (2 of 6)</vt:lpstr>
      <vt:lpstr>Surrealism and the Mind (3 of 6)</vt:lpstr>
      <vt:lpstr>Max Ernst THE HORDE 1927. Oil on canvas, 44-7/8" × 57-1/2" (114 × 146.1 cm). Stedelijk Museum, Amsterdam. © 2016 Artists Rights Society (ARS), New York/ADAGP, Paris. Collection Stedelijk Museum, Amsterdam. </vt:lpstr>
      <vt:lpstr>Surrealism and the Mind (4 of 6)</vt:lpstr>
      <vt:lpstr>Salvador Dalí BIRTH OF LIQUID DESIRES 1931-1932. Oil and collage on canvas, 37-7/8" × 44-1/4" (96.1 × 112.3 cm). The Solomon R. Guggenheim Foundation. Peggy Guggenheim Collection, Venice 1976 (76.2553 PG 100). © Salvador Dalí, Fundació Gala-Salvador Dalí, Artists Rights Society (ARS), New York 2016. The Solomon R. Guggenheim Foundation/Art Resource, NY.  </vt:lpstr>
      <vt:lpstr>Surrealism and the Mind (5 of 6)</vt:lpstr>
      <vt:lpstr>Meret Oppenheim OBJECT (LUNCHEON IN FUR) 1936. Fur-covered cup, diameter 4-3/8" (10.9 cm); fur-covered saucer, diameter 9 3/8" (23.7 cm); fur-covered spoon, length 8" (20.2 cm); overall height, 2-7/8" (7.3 cm). Museum of Modern Art, New York. © 2016 Artists Rights Society (ARS), New York/ProLitteris, Zurich. © 2016. Digital image, The Museum of Modern Art, New York/Scala, Florence. </vt:lpstr>
      <vt:lpstr>Surrealism and the Mind (6 of 6)</vt:lpstr>
      <vt:lpstr>Joan Miró COMPOSITION 1933. Oil on canvas, 51-3/8" × 64-1/8" (130.49 × 162.88 cm). Wadsworth Athenaeum, Hartford, Connecticut. The Ella Gallup Sumner and Mary Catlin Sumner Collection Fund, 1934.40.  © Successió Miró/Artists Rights Society (ARS), New York/ADAGP, Paris 2016. Photo: Allen Phillips/Wadsworth Atheneum. </vt:lpstr>
      <vt:lpstr>Unit One in England (1 of 2)</vt:lpstr>
      <vt:lpstr>Barbara Hepworth FORMS IN ECHELON 1938. Wood, 42-1/2" × 23-2/3" × 28" (108 × 60 × 71 cm). Tate, London. Presented by the artist 1964. Works by Barbara Hepworth copyright Bowness. © Tate, London 2016. </vt:lpstr>
      <vt:lpstr>Unit One in England (2 of 2)</vt:lpstr>
      <vt:lpstr>Henry Moore RECUMBENT FIGURE 1938. Green Hornton stone, 35" × 52" × 29" (88.9 × 132.7 × 73.7 cm). Tate, London. © The Henry Moore Foundation. All Rights Reserved, DACS 2016/www.henry-moore.org. Reproduced by permission of The Henry Moore Foundation. © Tate, London 2016. </vt:lpstr>
      <vt:lpstr>Picasso's Guernica</vt:lpstr>
      <vt:lpstr>RUINS OF GUERNICA, SPAIN April 1937. © Bettmann/Corbis.</vt:lpstr>
      <vt:lpstr>Pablo Picasso GUERNICA 1937. Oil on canvas, 11'6" × 25'8" (3.5 × 7.8 m). Museo Nacional Centro de Arte Reina Sofía, Madrid. On permanent loan from the Museo del Prado, Madrid. © 2016 Estate of Pablo Picasso/Artists Rights Society (ARS), New York. </vt:lpstr>
      <vt:lpstr>Art Between the Wars in the Americas</vt:lpstr>
      <vt:lpstr>The Harlem Renaissance (1 of 4)</vt:lpstr>
      <vt:lpstr>The Harlem Renaissance (2 of 4)</vt:lpstr>
      <vt:lpstr>James Van Der Zee COUPLE WEARING RACCOON COATS WITH A CADILLAC, TAKEN ON WEST 127TH STREET, HARLEM, NEW YORK 1932. Gelatin-silver print. © Donna Mussenden VanDerZee. </vt:lpstr>
      <vt:lpstr>The Harlem Renaissance (3 of 4)</vt:lpstr>
      <vt:lpstr>Aaron Douglas ASPECTS OF NEGRO LIFE: FROM SLAVERY THROUGH RECONSTRUCTION 1934. Oil on canvas, 5' × 11'7" (1.5 × 3.5 m). Schomburg Center for Research in Black Culture, New York Public Library. Art © Heirs of Aaron Douglas/Licensed by VAGA, New York, NY. Schomburg Center, NYPL/Art Resource, NY.</vt:lpstr>
      <vt:lpstr>The Harlem Renaissance (4 of 4)</vt:lpstr>
      <vt:lpstr>Augusta Savage LA CITADELLE: FREEDOM 1930. Bronze, 14-1/2" × 7" × 6" (35.6 × 17.8 × 15.2 cm). Howard University Gallery of Art, Washington, DC. © Augusta Savage. </vt:lpstr>
      <vt:lpstr>Jacob Lawrence THE MIGRATION SERIES, PANEL NO. 1: DURING WORLD WAR I THERE WAS A GREAT MIGRATION NORTH BY SOUTHERN AFRICAN AMERICANS 1940–1941. Tempera on masonite, 12" × 18" (30.5 × 45.7 cm). The Phillips Collection, Washington, DC. © 2016 The Jacob and Gwendolyn Knight Lawrence Foundation, Seattle/Artists Rights Society (ARS), New York. </vt:lpstr>
      <vt:lpstr>Rural America (1 of 2)</vt:lpstr>
      <vt:lpstr>Grant Wood AMERICAN GOTHIC 1930. Oil on beaverboard, 29-7/8" × 24-7/8" (74.3 × 62.4 cm). The Art Institute of Chicago. Friends of American Art Collection, 1930.934. Art © Figge Art Museum, successors to the Estate of Nan Wood Graham/Licensed by VAGA, New York, NY. Photo © The Art Institute of Chicago. </vt:lpstr>
      <vt:lpstr>Rural America (2 of 2)</vt:lpstr>
      <vt:lpstr>Dorothea Lange MIGRANT MOTHER, NIPOMO, CALIFORNIA February 1936. Gelatin-silver print. Library of Congress, Washington, DC. Courtesy the Library of Congress.  </vt:lpstr>
      <vt:lpstr>Canada (1 of 3)</vt:lpstr>
      <vt:lpstr>Canada (2 of 3)</vt:lpstr>
      <vt:lpstr>Tom Thomson THE WEST WIND Winter 1916/1917. Oil on canvas, 451⁄2 × 54″ (120.7 × 137.9 cm). Art Gallery of Ontario, Toronto. Gift of Canadian Club of Toronto, 1926 #784. © akg-images. </vt:lpstr>
      <vt:lpstr>Canada (3 of 3)</vt:lpstr>
      <vt:lpstr>Emily Carr BIG RAVEN 1931. Oil on canvas, 34-1/4" × 44-7/8" (87 × 114 cm). Collection of the Vancouver Art Gallery, Emily Carr Trust. Vancouver Art Gallery, Photo: Trevor Mills .</vt:lpstr>
      <vt:lpstr>Mexico, Brazil, and Cuba (1 of 5)</vt:lpstr>
      <vt:lpstr>Mexico, Brazil, and Cuba (2 of 5)</vt:lpstr>
      <vt:lpstr>Diego Rivera THE GREAT CITY OF TENOCHTITLAN (DETAIL) Mural in patio corridor, National Palace, Mexico City. 1945. Fresco, 16'1-3/4" × 31'10-1/4" (4.92 × 9.71 m). © 2016 Banco de México Diego Rivera Frida Kahlo Museums Trust, Mexico, D.F./Artists Rights Society (ARS), New York. © 2016. Photo Art Resource/Bob Schalkwijk/Scala, Florence. </vt:lpstr>
      <vt:lpstr>Mexico, Brazil, and Cuba (3 of 5)</vt:lpstr>
      <vt:lpstr>Frida Kahlo THE TWO FRIDAS 1939. Oil on canvas, 5'8-1/2" × 5'8-1/2" (1.74 × 1.74 m). Museo de Arte Moderno, Instituto Nacional de Bellas Artes, Mexico City. © 2016 Banco de México Diego Rivera Frida Kahlo Museums Trust, Mexico, D.F./Artists Rights Society (ARS), New York. © 2016. Photo Art Resource/Bob Schalkwijk/Scala, Florence.</vt:lpstr>
      <vt:lpstr>Mexico, Brazil, and Cuba (4 of 5)</vt:lpstr>
      <vt:lpstr>Tarsila do Amaral THE ONE WHO EATS (ABAPORÚ)  1928. Oil on canvas, 34" × 29" (86.4 × 73.7 cm). Museo de Arte Latinoamericano, Buenos Aires. Courtesy of Guilherme Augusto do Amaral/Malba-Coleccion Constantini, Buenos Aires. © Tarsila do Amara. Collection of MALBA, Museo de Arte Latinoamericano de Buenos Aires. </vt:lpstr>
      <vt:lpstr>Mexico, Brazil, and Cuba (5 of 5)</vt:lpstr>
      <vt:lpstr>Amelia Peláez HIBISCUS (MARPACÍFICO) 1943. Oil on canvas, 45-1/2" × 35" (115.6 × 88.9 cm).  Collection OAS Art Museum of the Americas, Washington, DC. Gift of IBM. © Amelia Pelaez Foundation. </vt:lpstr>
      <vt:lpstr>Figural Responses and Art Informel in Europe (1 of 2)</vt:lpstr>
      <vt:lpstr>Francis Bacon HEAD SURROUNDED BY SIDES OF BEEF 1954. Oil on canvas, 50-3/4" × 48" (129 × 122 cm). The Art Institute of Chicago. Harriott A. Fox Fund (1956.1201). © The Estate of Francis Bacon. All rights reserved. DACS, London/ARS, NY 2016. Photo © The Art Institute of Chicago. </vt:lpstr>
      <vt:lpstr>Figural Responses and Art Informel in Europe (2 of 2)</vt:lpstr>
      <vt:lpstr>Wols (Wolfgang Schulze) PAINTING 1944–1945. Oil on canvas, 31-7/8" × 32" (81 × 81.1 cm). Museum of Modern Art, New York. Gift of D. and J. de Menil Fund (29.1956). © 2016 Artists Rights Society (ARS), New York/ADAGP, Paris. © 2016. Digital Image, The Museum of Modern Art/Scala, Florence</vt:lpstr>
      <vt:lpstr>Experiments in Latin America</vt:lpstr>
      <vt:lpstr>Wifredo Lam ZAMBEZIA, ZAMBEZIA 1950. Oil on canvas, 49-3/8" × 43-5/8" (125 × 110 cm). Solomon R. Guggenheim Museum, New York. Gift, Mr. Joseph Cantor, 1974 (74.2095).  © 2016 Artists Rights Society (ARS), New York/ADAGP, Paris. The Solomon R. Guggenheim Foundation/Art Resource, NY. </vt:lpstr>
      <vt:lpstr>Joaquín Torres-García ABSTRACT ART IN FIVE TONES AND COMPLEMENTARIES 1943. Oil on board mounted on panel, 20-1/2" × 26-5/8" (52.1 × 67 cm). Albright Knox Art Gallery, Buffalo, NY. Gift of Mr. and Mrs. Armand J. Castellani, 1979. Art Resource, NY. </vt:lpstr>
    </vt:vector>
  </TitlesOfParts>
  <Company>echosvoice</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ADA Compliant Lecture PowerPoint</dc:title>
  <dc:subject>Introduction to Psychology</dc:subject>
  <dc:creator>Echo Swinford</dc:creator>
  <cp:lastModifiedBy>Liliya Zalevskaya</cp:lastModifiedBy>
  <cp:revision>230</cp:revision>
  <dcterms:created xsi:type="dcterms:W3CDTF">2016-12-06T20:49:23Z</dcterms:created>
  <dcterms:modified xsi:type="dcterms:W3CDTF">2019-08-05T00:22:42Z</dcterms:modified>
</cp:coreProperties>
</file>