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66"/>
  </p:notesMasterIdLst>
  <p:handoutMasterIdLst>
    <p:handoutMasterId r:id="rId67"/>
  </p:handoutMasterIdLst>
  <p:sldIdLst>
    <p:sldId id="673" r:id="rId3"/>
    <p:sldId id="507" r:id="rId4"/>
    <p:sldId id="609" r:id="rId5"/>
    <p:sldId id="610" r:id="rId6"/>
    <p:sldId id="611" r:id="rId7"/>
    <p:sldId id="612" r:id="rId8"/>
    <p:sldId id="613" r:id="rId9"/>
    <p:sldId id="614" r:id="rId10"/>
    <p:sldId id="615" r:id="rId11"/>
    <p:sldId id="616" r:id="rId12"/>
    <p:sldId id="617" r:id="rId13"/>
    <p:sldId id="618" r:id="rId14"/>
    <p:sldId id="619" r:id="rId15"/>
    <p:sldId id="620" r:id="rId16"/>
    <p:sldId id="621" r:id="rId17"/>
    <p:sldId id="622" r:id="rId18"/>
    <p:sldId id="623" r:id="rId19"/>
    <p:sldId id="624" r:id="rId20"/>
    <p:sldId id="625" r:id="rId21"/>
    <p:sldId id="626" r:id="rId22"/>
    <p:sldId id="627" r:id="rId23"/>
    <p:sldId id="628" r:id="rId24"/>
    <p:sldId id="629" r:id="rId25"/>
    <p:sldId id="630" r:id="rId26"/>
    <p:sldId id="631" r:id="rId27"/>
    <p:sldId id="632" r:id="rId28"/>
    <p:sldId id="633" r:id="rId29"/>
    <p:sldId id="634" r:id="rId30"/>
    <p:sldId id="635" r:id="rId31"/>
    <p:sldId id="636" r:id="rId32"/>
    <p:sldId id="637" r:id="rId33"/>
    <p:sldId id="638" r:id="rId34"/>
    <p:sldId id="639" r:id="rId35"/>
    <p:sldId id="640" r:id="rId36"/>
    <p:sldId id="641" r:id="rId37"/>
    <p:sldId id="642" r:id="rId38"/>
    <p:sldId id="643" r:id="rId39"/>
    <p:sldId id="644" r:id="rId40"/>
    <p:sldId id="645" r:id="rId41"/>
    <p:sldId id="646" r:id="rId42"/>
    <p:sldId id="647" r:id="rId43"/>
    <p:sldId id="648" r:id="rId44"/>
    <p:sldId id="649" r:id="rId45"/>
    <p:sldId id="650" r:id="rId46"/>
    <p:sldId id="651" r:id="rId47"/>
    <p:sldId id="652" r:id="rId48"/>
    <p:sldId id="653" r:id="rId49"/>
    <p:sldId id="654" r:id="rId50"/>
    <p:sldId id="655" r:id="rId51"/>
    <p:sldId id="656" r:id="rId52"/>
    <p:sldId id="657" r:id="rId53"/>
    <p:sldId id="658" r:id="rId54"/>
    <p:sldId id="659" r:id="rId55"/>
    <p:sldId id="660" r:id="rId56"/>
    <p:sldId id="661" r:id="rId57"/>
    <p:sldId id="662" r:id="rId58"/>
    <p:sldId id="663" r:id="rId59"/>
    <p:sldId id="664" r:id="rId60"/>
    <p:sldId id="665" r:id="rId61"/>
    <p:sldId id="666" r:id="rId62"/>
    <p:sldId id="667" r:id="rId63"/>
    <p:sldId id="668" r:id="rId64"/>
    <p:sldId id="669"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2" autoAdjust="0"/>
    <p:restoredTop sz="86524" autoAdjust="0"/>
  </p:normalViewPr>
  <p:slideViewPr>
    <p:cSldViewPr>
      <p:cViewPr varScale="1">
        <p:scale>
          <a:sx n="89" d="100"/>
          <a:sy n="89" d="100"/>
        </p:scale>
        <p:origin x="1176" y="66"/>
      </p:cViewPr>
      <p:guideLst>
        <p:guide orient="horz" pos="2160"/>
        <p:guide pos="2880"/>
      </p:guideLst>
    </p:cSldViewPr>
  </p:slideViewPr>
  <p:outlineViewPr>
    <p:cViewPr>
      <p:scale>
        <a:sx n="33" d="100"/>
        <a:sy n="33" d="100"/>
      </p:scale>
      <p:origin x="0" y="-8954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6/22/2020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6/22/2020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Slide Image Placeholder 1"/>
          <p:cNvSpPr>
            <a:spLocks noGrp="1" noRot="1" noChangeAspect="1" noTextEdit="1"/>
          </p:cNvSpPr>
          <p:nvPr>
            <p:ph type="sldImg"/>
          </p:nvPr>
        </p:nvSpPr>
        <p:spPr bwMode="auto">
          <a:noFill/>
          <a:ln>
            <a:solidFill>
              <a:srgbClr val="000000"/>
            </a:solidFill>
            <a:miter lim="800000"/>
            <a:headEnd/>
            <a:tailEnd/>
          </a:ln>
        </p:spPr>
      </p:sp>
      <p:sp>
        <p:nvSpPr>
          <p:cNvPr id="161794" name="Notes Placeholder 2"/>
          <p:cNvSpPr>
            <a:spLocks noGrp="1"/>
          </p:cNvSpPr>
          <p:nvPr>
            <p:ph type="body" idx="1"/>
          </p:nvPr>
        </p:nvSpPr>
        <p:spPr bwMode="auto">
          <a:noFill/>
        </p:spPr>
        <p:txBody>
          <a:bodyPr/>
          <a:lstStyle/>
          <a:p>
            <a:pPr>
              <a:spcBef>
                <a:spcPct val="0"/>
              </a:spcBef>
            </a:pPr>
            <a:r>
              <a:rPr lang="en-US" dirty="0"/>
              <a:t>Francisco Goya THE SLEEP OF REASON PRODUCES MONSTERS</a:t>
            </a:r>
            <a:br>
              <a:rPr lang="en-US" dirty="0"/>
            </a:br>
            <a:r>
              <a:rPr lang="en-US" dirty="0"/>
              <a:t>No. 43 from </a:t>
            </a:r>
            <a:r>
              <a:rPr lang="en-US" i="1" dirty="0"/>
              <a:t>Los </a:t>
            </a:r>
            <a:r>
              <a:rPr lang="en-US" i="1" dirty="0" err="1"/>
              <a:t>Caprichos</a:t>
            </a:r>
            <a:r>
              <a:rPr lang="en-US" i="1" dirty="0"/>
              <a:t> (The Caprices)</a:t>
            </a:r>
            <a:r>
              <a:rPr lang="en-US" dirty="0"/>
              <a:t>. 1796–1798; published 1799. Etching and aquatint, 8-1/2</a:t>
            </a:r>
            <a:r>
              <a:rPr lang="ru-RU" dirty="0"/>
              <a:t>"</a:t>
            </a:r>
            <a:r>
              <a:rPr lang="en-US" dirty="0"/>
              <a:t> × 6</a:t>
            </a:r>
            <a:r>
              <a:rPr lang="ru-RU" dirty="0"/>
              <a:t>"</a:t>
            </a:r>
            <a:r>
              <a:rPr lang="en-US" dirty="0"/>
              <a:t> (21.6 × 15.2 cm). Yale University Art Gallery. Bequest of Ralph Kirkpatrick, Hon. M.A. 1965 (1984.54.92.43). Image courtesy Yale University Art Gallery. </a:t>
            </a:r>
          </a:p>
        </p:txBody>
      </p:sp>
      <p:sp>
        <p:nvSpPr>
          <p:cNvPr id="161795" name="Slide Number Placeholder 3"/>
          <p:cNvSpPr>
            <a:spLocks noGrp="1"/>
          </p:cNvSpPr>
          <p:nvPr>
            <p:ph type="sldNum" sz="quarter" idx="5"/>
          </p:nvPr>
        </p:nvSpPr>
        <p:spPr bwMode="auto">
          <a:noFill/>
          <a:ln>
            <a:miter lim="800000"/>
            <a:headEnd/>
            <a:tailEnd/>
          </a:ln>
        </p:spPr>
        <p:txBody>
          <a:bodyPr/>
          <a:lstStyle/>
          <a:p>
            <a:fld id="{AEC607E0-607F-B941-B1D0-67290847AAAE}" type="slidenum">
              <a:rPr lang="en-US"/>
              <a:pPr/>
              <a:t>5</a:t>
            </a:fld>
            <a:endParaRPr lang="en-US"/>
          </a:p>
        </p:txBody>
      </p:sp>
    </p:spTree>
    <p:extLst>
      <p:ext uri="{BB962C8B-B14F-4D97-AF65-F5344CB8AC3E}">
        <p14:creationId xmlns:p14="http://schemas.microsoft.com/office/powerpoint/2010/main" val="972359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Slide Image Placeholder 1"/>
          <p:cNvSpPr>
            <a:spLocks noGrp="1" noRot="1" noChangeAspect="1" noTextEdit="1"/>
          </p:cNvSpPr>
          <p:nvPr>
            <p:ph type="sldImg"/>
          </p:nvPr>
        </p:nvSpPr>
        <p:spPr bwMode="auto">
          <a:noFill/>
          <a:ln>
            <a:solidFill>
              <a:srgbClr val="000000"/>
            </a:solidFill>
            <a:miter lim="800000"/>
            <a:headEnd/>
            <a:tailEnd/>
          </a:ln>
        </p:spPr>
      </p:sp>
      <p:sp>
        <p:nvSpPr>
          <p:cNvPr id="164866" name="Notes Placeholder 2"/>
          <p:cNvSpPr>
            <a:spLocks noGrp="1"/>
          </p:cNvSpPr>
          <p:nvPr>
            <p:ph type="body" idx="1"/>
          </p:nvPr>
        </p:nvSpPr>
        <p:spPr bwMode="auto">
          <a:noFill/>
        </p:spPr>
        <p:txBody>
          <a:bodyPr/>
          <a:lstStyle/>
          <a:p>
            <a:pPr>
              <a:spcBef>
                <a:spcPct val="0"/>
              </a:spcBef>
            </a:pPr>
            <a:r>
              <a:rPr lang="en-US" dirty="0"/>
              <a:t>Francisco Goya FAMILY OF CHARLES IV</a:t>
            </a:r>
            <a:br>
              <a:rPr lang="en-US" dirty="0"/>
            </a:br>
            <a:r>
              <a:rPr lang="en-US" dirty="0"/>
              <a:t>1800. Oil on canvas, 9</a:t>
            </a:r>
            <a:r>
              <a:rPr lang="uk-UA" dirty="0"/>
              <a:t>'</a:t>
            </a:r>
            <a:r>
              <a:rPr lang="en-US" dirty="0"/>
              <a:t>2</a:t>
            </a:r>
            <a:r>
              <a:rPr lang="ru-RU" dirty="0"/>
              <a:t>"</a:t>
            </a:r>
            <a:r>
              <a:rPr lang="en-US" dirty="0"/>
              <a:t> × 11</a:t>
            </a:r>
            <a:r>
              <a:rPr lang="uk-UA" dirty="0"/>
              <a:t>'</a:t>
            </a:r>
            <a:r>
              <a:rPr lang="en-US" dirty="0"/>
              <a:t> (2.79 × 3.36 m).</a:t>
            </a:r>
            <a:br>
              <a:rPr lang="en-US" dirty="0"/>
            </a:br>
            <a:r>
              <a:rPr lang="en-US" dirty="0"/>
              <a:t>Museo del Prado, Madrid. © 2016. Image copyright Museo Nacional del Prado. © Photo MNP/Photo Scala, Florence.</a:t>
            </a:r>
          </a:p>
        </p:txBody>
      </p:sp>
      <p:sp>
        <p:nvSpPr>
          <p:cNvPr id="164867" name="Slide Number Placeholder 3"/>
          <p:cNvSpPr>
            <a:spLocks noGrp="1"/>
          </p:cNvSpPr>
          <p:nvPr>
            <p:ph type="sldNum" sz="quarter" idx="5"/>
          </p:nvPr>
        </p:nvSpPr>
        <p:spPr bwMode="auto">
          <a:noFill/>
          <a:ln>
            <a:miter lim="800000"/>
            <a:headEnd/>
            <a:tailEnd/>
          </a:ln>
        </p:spPr>
        <p:txBody>
          <a:bodyPr/>
          <a:lstStyle/>
          <a:p>
            <a:fld id="{2AAFF85D-47E1-A049-96B9-1DDFE4A24882}" type="slidenum">
              <a:rPr lang="en-US"/>
              <a:pPr/>
              <a:t>7</a:t>
            </a:fld>
            <a:endParaRPr lang="en-US"/>
          </a:p>
        </p:txBody>
      </p:sp>
    </p:spTree>
    <p:extLst>
      <p:ext uri="{BB962C8B-B14F-4D97-AF65-F5344CB8AC3E}">
        <p14:creationId xmlns:p14="http://schemas.microsoft.com/office/powerpoint/2010/main" val="103529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8" name="Notes Placeholder 2"/>
          <p:cNvSpPr>
            <a:spLocks noGrp="1"/>
          </p:cNvSpPr>
          <p:nvPr>
            <p:ph type="body" idx="1"/>
          </p:nvPr>
        </p:nvSpPr>
        <p:spPr bwMode="auto">
          <a:noFill/>
        </p:spPr>
        <p:txBody>
          <a:bodyPr/>
          <a:lstStyle/>
          <a:p>
            <a:pPr>
              <a:spcBef>
                <a:spcPct val="0"/>
              </a:spcBef>
            </a:pPr>
            <a:r>
              <a:rPr lang="en-US" dirty="0"/>
              <a:t>Francisco Goya THIRD OF MAY, 1808</a:t>
            </a:r>
            <a:br>
              <a:rPr lang="en-US" dirty="0"/>
            </a:br>
            <a:r>
              <a:rPr lang="en-US" dirty="0"/>
              <a:t>1814–1815. Oil on canvas, 8</a:t>
            </a:r>
            <a:r>
              <a:rPr lang="uk-UA" dirty="0"/>
              <a:t>'</a:t>
            </a:r>
            <a:r>
              <a:rPr lang="en-US" dirty="0"/>
              <a:t>9</a:t>
            </a:r>
            <a:r>
              <a:rPr lang="ru-RU" dirty="0"/>
              <a:t>"</a:t>
            </a:r>
            <a:r>
              <a:rPr lang="en-US" dirty="0"/>
              <a:t> × 13</a:t>
            </a:r>
            <a:r>
              <a:rPr lang="uk-UA" dirty="0"/>
              <a:t>'</a:t>
            </a:r>
            <a:r>
              <a:rPr lang="en-US" dirty="0"/>
              <a:t>4</a:t>
            </a:r>
            <a:r>
              <a:rPr lang="ru-RU" dirty="0"/>
              <a:t>"</a:t>
            </a:r>
            <a:r>
              <a:rPr lang="en-US" dirty="0"/>
              <a:t> (2.67 × 4.06 m).</a:t>
            </a:r>
            <a:br>
              <a:rPr lang="en-US" dirty="0"/>
            </a:br>
            <a:r>
              <a:rPr lang="en-US" dirty="0"/>
              <a:t>Museo del Prado, Madrid. © 2016. Image copyright Museo Nacional del Prado. © Photo MNP/Scala, Florence.</a:t>
            </a:r>
          </a:p>
        </p:txBody>
      </p:sp>
      <p:sp>
        <p:nvSpPr>
          <p:cNvPr id="167939" name="Slide Number Placeholder 3"/>
          <p:cNvSpPr>
            <a:spLocks noGrp="1"/>
          </p:cNvSpPr>
          <p:nvPr>
            <p:ph type="sldNum" sz="quarter" idx="5"/>
          </p:nvPr>
        </p:nvSpPr>
        <p:spPr bwMode="auto">
          <a:noFill/>
          <a:ln>
            <a:miter lim="800000"/>
            <a:headEnd/>
            <a:tailEnd/>
          </a:ln>
        </p:spPr>
        <p:txBody>
          <a:bodyPr/>
          <a:lstStyle/>
          <a:p>
            <a:fld id="{865BC3A2-BD51-D146-AD6D-B1B230266114}" type="slidenum">
              <a:rPr lang="en-US"/>
              <a:pPr/>
              <a:t>9</a:t>
            </a:fld>
            <a:endParaRPr lang="en-US"/>
          </a:p>
        </p:txBody>
      </p:sp>
    </p:spTree>
    <p:extLst>
      <p:ext uri="{BB962C8B-B14F-4D97-AF65-F5344CB8AC3E}">
        <p14:creationId xmlns:p14="http://schemas.microsoft.com/office/powerpoint/2010/main" val="555997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Slide Image Placeholder 1"/>
          <p:cNvSpPr>
            <a:spLocks noGrp="1" noRot="1" noChangeAspect="1" noTextEdit="1"/>
          </p:cNvSpPr>
          <p:nvPr>
            <p:ph type="sldImg"/>
          </p:nvPr>
        </p:nvSpPr>
        <p:spPr bwMode="auto">
          <a:noFill/>
          <a:ln>
            <a:solidFill>
              <a:srgbClr val="000000"/>
            </a:solidFill>
            <a:miter lim="800000"/>
            <a:headEnd/>
            <a:tailEnd/>
          </a:ln>
        </p:spPr>
      </p:sp>
      <p:sp>
        <p:nvSpPr>
          <p:cNvPr id="171010" name="Notes Placeholder 2"/>
          <p:cNvSpPr>
            <a:spLocks noGrp="1"/>
          </p:cNvSpPr>
          <p:nvPr>
            <p:ph type="body" idx="1"/>
          </p:nvPr>
        </p:nvSpPr>
        <p:spPr bwMode="auto">
          <a:noFill/>
        </p:spPr>
        <p:txBody>
          <a:bodyPr/>
          <a:lstStyle/>
          <a:p>
            <a:pPr>
              <a:spcBef>
                <a:spcPct val="0"/>
              </a:spcBef>
            </a:pPr>
            <a:r>
              <a:rPr lang="en-US" dirty="0">
                <a:latin typeface="Verdana" charset="0"/>
              </a:rPr>
              <a:t>ATRIAL CROSS</a:t>
            </a:r>
            <a:br>
              <a:rPr lang="en-US" dirty="0">
                <a:latin typeface="Verdana" charset="0"/>
              </a:rPr>
            </a:br>
            <a:r>
              <a:rPr lang="en-US" dirty="0">
                <a:latin typeface="Verdana" charset="0"/>
              </a:rPr>
              <a:t>Before 1556. Stone, height 11</a:t>
            </a:r>
            <a:r>
              <a:rPr lang="uk-UA" dirty="0">
                <a:latin typeface="Verdana" charset="0"/>
              </a:rPr>
              <a:t>'</a:t>
            </a:r>
            <a:r>
              <a:rPr lang="en-US" dirty="0">
                <a:latin typeface="Verdana" charset="0"/>
              </a:rPr>
              <a:t>3</a:t>
            </a:r>
            <a:r>
              <a:rPr lang="ru-RU" dirty="0">
                <a:latin typeface="Verdana" charset="0"/>
              </a:rPr>
              <a:t>"</a:t>
            </a:r>
            <a:r>
              <a:rPr lang="en-US" dirty="0">
                <a:latin typeface="Verdana" charset="0"/>
              </a:rPr>
              <a:t> (3.45 m).</a:t>
            </a:r>
            <a:br>
              <a:rPr lang="en-US" dirty="0">
                <a:latin typeface="Verdana" charset="0"/>
              </a:rPr>
            </a:br>
            <a:r>
              <a:rPr lang="en-US" dirty="0">
                <a:latin typeface="Verdana" charset="0"/>
              </a:rPr>
              <a:t>Chapel of the Indians, Basilica of Guadalupe, Mexico City. © Jamie Lara. </a:t>
            </a:r>
            <a:endParaRPr lang="en-US" dirty="0"/>
          </a:p>
        </p:txBody>
      </p:sp>
      <p:sp>
        <p:nvSpPr>
          <p:cNvPr id="171011" name="Slide Number Placeholder 3"/>
          <p:cNvSpPr>
            <a:spLocks noGrp="1"/>
          </p:cNvSpPr>
          <p:nvPr>
            <p:ph type="sldNum" sz="quarter" idx="5"/>
          </p:nvPr>
        </p:nvSpPr>
        <p:spPr bwMode="auto">
          <a:noFill/>
          <a:ln>
            <a:miter lim="800000"/>
            <a:headEnd/>
            <a:tailEnd/>
          </a:ln>
        </p:spPr>
        <p:txBody>
          <a:bodyPr/>
          <a:lstStyle/>
          <a:p>
            <a:fld id="{46E32DF7-AEE0-FC42-BC76-32C19F64EF46}" type="slidenum">
              <a:rPr lang="en-US"/>
              <a:pPr/>
              <a:t>11</a:t>
            </a:fld>
            <a:endParaRPr lang="en-US"/>
          </a:p>
        </p:txBody>
      </p:sp>
    </p:spTree>
    <p:extLst>
      <p:ext uri="{BB962C8B-B14F-4D97-AF65-F5344CB8AC3E}">
        <p14:creationId xmlns:p14="http://schemas.microsoft.com/office/powerpoint/2010/main" val="9531050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Slide Image Placeholder 1"/>
          <p:cNvSpPr>
            <a:spLocks noGrp="1" noRot="1" noChangeAspect="1" noTextEdit="1"/>
          </p:cNvSpPr>
          <p:nvPr>
            <p:ph type="sldImg"/>
          </p:nvPr>
        </p:nvSpPr>
        <p:spPr bwMode="auto">
          <a:noFill/>
          <a:ln>
            <a:solidFill>
              <a:srgbClr val="000000"/>
            </a:solidFill>
            <a:miter lim="800000"/>
            <a:headEnd/>
            <a:tailEnd/>
          </a:ln>
        </p:spPr>
      </p:sp>
      <p:sp>
        <p:nvSpPr>
          <p:cNvPr id="174082"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Sebastian Salcedo VIRGIN OF GUADALUPE</a:t>
            </a:r>
            <a:br>
              <a:rPr lang="en-US" dirty="0">
                <a:solidFill>
                  <a:schemeClr val="bg1"/>
                </a:solidFill>
                <a:latin typeface="Verdana" charset="0"/>
              </a:rPr>
            </a:br>
            <a:r>
              <a:rPr lang="en-US" dirty="0">
                <a:solidFill>
                  <a:schemeClr val="bg1"/>
                </a:solidFill>
                <a:latin typeface="Verdana" charset="0"/>
              </a:rPr>
              <a:t>1779. Oil on panel and copper, 25</a:t>
            </a:r>
            <a:r>
              <a:rPr lang="ru-RU" dirty="0">
                <a:solidFill>
                  <a:schemeClr val="bg1"/>
                </a:solidFill>
                <a:latin typeface="Verdana" charset="0"/>
              </a:rPr>
              <a:t>"</a:t>
            </a:r>
            <a:r>
              <a:rPr lang="en-US" dirty="0">
                <a:solidFill>
                  <a:schemeClr val="bg1"/>
                </a:solidFill>
                <a:latin typeface="Verdana" charset="0"/>
              </a:rPr>
              <a:t> × 19</a:t>
            </a:r>
            <a:r>
              <a:rPr lang="ru-RU" dirty="0">
                <a:solidFill>
                  <a:schemeClr val="bg1"/>
                </a:solidFill>
                <a:latin typeface="Verdana" charset="0"/>
              </a:rPr>
              <a:t>"</a:t>
            </a:r>
            <a:r>
              <a:rPr lang="en-US" dirty="0">
                <a:solidFill>
                  <a:schemeClr val="bg1"/>
                </a:solidFill>
                <a:latin typeface="Verdana" charset="0"/>
              </a:rPr>
              <a:t> (63.5 × 48.3 cm).</a:t>
            </a:r>
            <a:br>
              <a:rPr lang="en-US" dirty="0">
                <a:solidFill>
                  <a:schemeClr val="bg1"/>
                </a:solidFill>
                <a:latin typeface="Verdana" charset="0"/>
              </a:rPr>
            </a:br>
            <a:r>
              <a:rPr lang="en-US" dirty="0">
                <a:solidFill>
                  <a:schemeClr val="bg1"/>
                </a:solidFill>
                <a:latin typeface="Verdana" charset="0"/>
              </a:rPr>
              <a:t>Denver Art Museum. Funds contributed by Mr. and Mrs. George G. Anderman and an anonymous donor (1976.56).</a:t>
            </a:r>
            <a:endParaRPr lang="en-US" dirty="0"/>
          </a:p>
        </p:txBody>
      </p:sp>
      <p:sp>
        <p:nvSpPr>
          <p:cNvPr id="174083" name="Slide Number Placeholder 3"/>
          <p:cNvSpPr>
            <a:spLocks noGrp="1"/>
          </p:cNvSpPr>
          <p:nvPr>
            <p:ph type="sldNum" sz="quarter" idx="5"/>
          </p:nvPr>
        </p:nvSpPr>
        <p:spPr bwMode="auto">
          <a:noFill/>
          <a:ln>
            <a:miter lim="800000"/>
            <a:headEnd/>
            <a:tailEnd/>
          </a:ln>
        </p:spPr>
        <p:txBody>
          <a:bodyPr/>
          <a:lstStyle/>
          <a:p>
            <a:fld id="{ECBB448A-99AF-B548-BA1C-7D89EC7E1046}" type="slidenum">
              <a:rPr lang="en-US"/>
              <a:pPr/>
              <a:t>13</a:t>
            </a:fld>
            <a:endParaRPr lang="en-US"/>
          </a:p>
        </p:txBody>
      </p:sp>
    </p:spTree>
    <p:extLst>
      <p:ext uri="{BB962C8B-B14F-4D97-AF65-F5344CB8AC3E}">
        <p14:creationId xmlns:p14="http://schemas.microsoft.com/office/powerpoint/2010/main" val="756304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Slide Image Placeholder 1"/>
          <p:cNvSpPr>
            <a:spLocks noGrp="1" noRot="1" noChangeAspect="1" noTextEdit="1"/>
          </p:cNvSpPr>
          <p:nvPr>
            <p:ph type="sldImg"/>
          </p:nvPr>
        </p:nvSpPr>
        <p:spPr bwMode="auto">
          <a:noFill/>
          <a:ln>
            <a:solidFill>
              <a:srgbClr val="000000"/>
            </a:solidFill>
            <a:miter lim="800000"/>
            <a:headEnd/>
            <a:tailEnd/>
          </a:ln>
        </p:spPr>
      </p:sp>
      <p:sp>
        <p:nvSpPr>
          <p:cNvPr id="177154" name="Notes Placeholder 2"/>
          <p:cNvSpPr>
            <a:spLocks noGrp="1"/>
          </p:cNvSpPr>
          <p:nvPr>
            <p:ph type="body" idx="1"/>
          </p:nvPr>
        </p:nvSpPr>
        <p:spPr bwMode="auto">
          <a:noFill/>
        </p:spPr>
        <p:txBody>
          <a:bodyPr/>
          <a:lstStyle/>
          <a:p>
            <a:pPr>
              <a:spcBef>
                <a:spcPct val="0"/>
              </a:spcBef>
            </a:pPr>
            <a:r>
              <a:rPr lang="en-US" dirty="0"/>
              <a:t>MISSION SAN XAVIER DEL BAC</a:t>
            </a:r>
            <a:br>
              <a:rPr lang="en-US" dirty="0"/>
            </a:br>
            <a:r>
              <a:rPr lang="en-US" dirty="0"/>
              <a:t>Near Tucson, Arizona. 1784–1797.</a:t>
            </a:r>
            <a:br>
              <a:rPr lang="en-US" dirty="0"/>
            </a:br>
            <a:r>
              <a:rPr lang="en-US" dirty="0"/>
              <a:t>Paul Moore/</a:t>
            </a:r>
            <a:r>
              <a:rPr lang="en-US" dirty="0" err="1"/>
              <a:t>Fotolia</a:t>
            </a:r>
            <a:r>
              <a:rPr lang="en-US" dirty="0"/>
              <a:t>.</a:t>
            </a:r>
          </a:p>
        </p:txBody>
      </p:sp>
      <p:sp>
        <p:nvSpPr>
          <p:cNvPr id="177155" name="Slide Number Placeholder 3"/>
          <p:cNvSpPr>
            <a:spLocks noGrp="1"/>
          </p:cNvSpPr>
          <p:nvPr>
            <p:ph type="sldNum" sz="quarter" idx="5"/>
          </p:nvPr>
        </p:nvSpPr>
        <p:spPr bwMode="auto">
          <a:noFill/>
          <a:ln>
            <a:miter lim="800000"/>
            <a:headEnd/>
            <a:tailEnd/>
          </a:ln>
        </p:spPr>
        <p:txBody>
          <a:bodyPr/>
          <a:lstStyle/>
          <a:p>
            <a:fld id="{A66B292B-8C3A-2548-BD59-8A7EFD0081D4}" type="slidenum">
              <a:rPr lang="en-US"/>
              <a:pPr/>
              <a:t>15</a:t>
            </a:fld>
            <a:endParaRPr lang="en-US"/>
          </a:p>
        </p:txBody>
      </p:sp>
    </p:spTree>
    <p:extLst>
      <p:ext uri="{BB962C8B-B14F-4D97-AF65-F5344CB8AC3E}">
        <p14:creationId xmlns:p14="http://schemas.microsoft.com/office/powerpoint/2010/main" val="253722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Slide Image Placeholder 1"/>
          <p:cNvSpPr>
            <a:spLocks noGrp="1" noRot="1" noChangeAspect="1" noTextEdit="1"/>
          </p:cNvSpPr>
          <p:nvPr>
            <p:ph type="sldImg"/>
          </p:nvPr>
        </p:nvSpPr>
        <p:spPr bwMode="auto">
          <a:noFill/>
          <a:ln>
            <a:solidFill>
              <a:srgbClr val="000000"/>
            </a:solidFill>
            <a:miter lim="800000"/>
            <a:headEnd/>
            <a:tailEnd/>
          </a:ln>
        </p:spPr>
      </p:sp>
      <p:sp>
        <p:nvSpPr>
          <p:cNvPr id="182274" name="Notes Placeholder 2"/>
          <p:cNvSpPr>
            <a:spLocks noGrp="1"/>
          </p:cNvSpPr>
          <p:nvPr>
            <p:ph type="body" idx="1"/>
          </p:nvPr>
        </p:nvSpPr>
        <p:spPr bwMode="auto">
          <a:noFill/>
        </p:spPr>
        <p:txBody>
          <a:bodyPr/>
          <a:lstStyle/>
          <a:p>
            <a:pPr>
              <a:spcBef>
                <a:spcPct val="0"/>
              </a:spcBef>
            </a:pPr>
            <a:r>
              <a:rPr lang="en-US" dirty="0"/>
              <a:t>Jacques-Louis David NAPOLEON CROSSING THE SAINT-BERNARD</a:t>
            </a:r>
            <a:br>
              <a:rPr lang="en-US" dirty="0"/>
            </a:br>
            <a:r>
              <a:rPr lang="en-US" dirty="0"/>
              <a:t>1800–1801. Oil on canvas, 8</a:t>
            </a:r>
            <a:r>
              <a:rPr lang="uk-UA" dirty="0"/>
              <a:t>'</a:t>
            </a:r>
            <a:r>
              <a:rPr lang="en-US" dirty="0"/>
              <a:t>11</a:t>
            </a:r>
            <a:r>
              <a:rPr lang="ru-RU" dirty="0"/>
              <a:t>"</a:t>
            </a:r>
            <a:r>
              <a:rPr lang="en-US" dirty="0"/>
              <a:t> × 7</a:t>
            </a:r>
            <a:r>
              <a:rPr lang="uk-UA" dirty="0"/>
              <a:t>'</a:t>
            </a:r>
            <a:r>
              <a:rPr lang="en-US" dirty="0"/>
              <a:t>7</a:t>
            </a:r>
            <a:r>
              <a:rPr lang="ru-RU" dirty="0"/>
              <a:t>"</a:t>
            </a:r>
            <a:r>
              <a:rPr lang="en-US" dirty="0"/>
              <a:t> (2.7 × 2.3 m).</a:t>
            </a:r>
            <a:br>
              <a:rPr lang="en-US" dirty="0"/>
            </a:br>
            <a:r>
              <a:rPr lang="en-US" dirty="0"/>
              <a:t>Versailles, Châteaux de Versailles et de Trianon. Photo © RMN-Grand Palais (Château de Versailles)/Franck </a:t>
            </a:r>
            <a:r>
              <a:rPr lang="en-US" dirty="0" err="1"/>
              <a:t>Raux</a:t>
            </a:r>
            <a:r>
              <a:rPr lang="en-US" dirty="0"/>
              <a:t>. </a:t>
            </a:r>
          </a:p>
        </p:txBody>
      </p:sp>
      <p:sp>
        <p:nvSpPr>
          <p:cNvPr id="182275" name="Slide Number Placeholder 3"/>
          <p:cNvSpPr>
            <a:spLocks noGrp="1"/>
          </p:cNvSpPr>
          <p:nvPr>
            <p:ph type="sldNum" sz="quarter" idx="5"/>
          </p:nvPr>
        </p:nvSpPr>
        <p:spPr bwMode="auto">
          <a:noFill/>
          <a:ln>
            <a:miter lim="800000"/>
            <a:headEnd/>
            <a:tailEnd/>
          </a:ln>
        </p:spPr>
        <p:txBody>
          <a:bodyPr/>
          <a:lstStyle/>
          <a:p>
            <a:fld id="{AD2ADF92-F685-694F-B14E-323DDADB631A}" type="slidenum">
              <a:rPr lang="en-US"/>
              <a:pPr/>
              <a:t>19</a:t>
            </a:fld>
            <a:endParaRPr lang="en-US"/>
          </a:p>
        </p:txBody>
      </p:sp>
    </p:spTree>
    <p:extLst>
      <p:ext uri="{BB962C8B-B14F-4D97-AF65-F5344CB8AC3E}">
        <p14:creationId xmlns:p14="http://schemas.microsoft.com/office/powerpoint/2010/main" val="1557018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Slide Image Placeholder 1"/>
          <p:cNvSpPr>
            <a:spLocks noGrp="1" noRot="1" noChangeAspect="1" noTextEdit="1"/>
          </p:cNvSpPr>
          <p:nvPr>
            <p:ph type="sldImg"/>
          </p:nvPr>
        </p:nvSpPr>
        <p:spPr bwMode="auto">
          <a:noFill/>
          <a:ln>
            <a:solidFill>
              <a:srgbClr val="000000"/>
            </a:solidFill>
            <a:miter lim="800000"/>
            <a:headEnd/>
            <a:tailEnd/>
          </a:ln>
        </p:spPr>
      </p:sp>
      <p:sp>
        <p:nvSpPr>
          <p:cNvPr id="185346" name="Notes Placeholder 2"/>
          <p:cNvSpPr>
            <a:spLocks noGrp="1"/>
          </p:cNvSpPr>
          <p:nvPr>
            <p:ph type="body" idx="1"/>
          </p:nvPr>
        </p:nvSpPr>
        <p:spPr bwMode="auto">
          <a:noFill/>
        </p:spPr>
        <p:txBody>
          <a:bodyPr/>
          <a:lstStyle/>
          <a:p>
            <a:pPr>
              <a:spcBef>
                <a:spcPct val="0"/>
              </a:spcBef>
            </a:pPr>
            <a:r>
              <a:rPr lang="en-US" dirty="0"/>
              <a:t>Antoine-Jean Gros NAPOLEON IN THE PLAGUE HOUSE AT JAFFA</a:t>
            </a:r>
            <a:br>
              <a:rPr lang="en-US" dirty="0"/>
            </a:br>
            <a:r>
              <a:rPr lang="en-US" dirty="0"/>
              <a:t>1804. Oil on canvas, 17</a:t>
            </a:r>
            <a:r>
              <a:rPr lang="uk-UA" dirty="0"/>
              <a:t>'</a:t>
            </a:r>
            <a:r>
              <a:rPr lang="en-US" dirty="0"/>
              <a:t>5</a:t>
            </a:r>
            <a:r>
              <a:rPr lang="ru-RU" dirty="0"/>
              <a:t>"</a:t>
            </a:r>
            <a:r>
              <a:rPr lang="en-US" dirty="0"/>
              <a:t> × 23</a:t>
            </a:r>
            <a:r>
              <a:rPr lang="uk-UA" dirty="0"/>
              <a:t>'</a:t>
            </a:r>
            <a:r>
              <a:rPr lang="en-US" dirty="0"/>
              <a:t>7</a:t>
            </a:r>
            <a:r>
              <a:rPr lang="ru-RU" dirty="0"/>
              <a:t>"</a:t>
            </a:r>
            <a:r>
              <a:rPr lang="en-US" dirty="0"/>
              <a:t> (5.32 × 7.2 m).</a:t>
            </a:r>
            <a:br>
              <a:rPr lang="en-US" dirty="0"/>
            </a:br>
            <a:r>
              <a:rPr lang="en-US" dirty="0" err="1"/>
              <a:t>Musée</a:t>
            </a:r>
            <a:r>
              <a:rPr lang="en-US" dirty="0"/>
              <a:t> du Louvre, Paris. Photo © RMN-Grand Palais (</a:t>
            </a:r>
            <a:r>
              <a:rPr lang="en-US" dirty="0" err="1"/>
              <a:t>musée</a:t>
            </a:r>
            <a:r>
              <a:rPr lang="en-US" dirty="0"/>
              <a:t> du Louvre)/Thierry Le Mage.</a:t>
            </a:r>
          </a:p>
        </p:txBody>
      </p:sp>
      <p:sp>
        <p:nvSpPr>
          <p:cNvPr id="185347" name="Slide Number Placeholder 3"/>
          <p:cNvSpPr>
            <a:spLocks noGrp="1"/>
          </p:cNvSpPr>
          <p:nvPr>
            <p:ph type="sldNum" sz="quarter" idx="5"/>
          </p:nvPr>
        </p:nvSpPr>
        <p:spPr bwMode="auto">
          <a:noFill/>
          <a:ln>
            <a:miter lim="800000"/>
            <a:headEnd/>
            <a:tailEnd/>
          </a:ln>
        </p:spPr>
        <p:txBody>
          <a:bodyPr/>
          <a:lstStyle/>
          <a:p>
            <a:fld id="{2B5D7824-8994-7748-B23B-D0B9355A68FD}" type="slidenum">
              <a:rPr lang="en-US"/>
              <a:pPr/>
              <a:t>21</a:t>
            </a:fld>
            <a:endParaRPr lang="en-US"/>
          </a:p>
        </p:txBody>
      </p:sp>
    </p:spTree>
    <p:extLst>
      <p:ext uri="{BB962C8B-B14F-4D97-AF65-F5344CB8AC3E}">
        <p14:creationId xmlns:p14="http://schemas.microsoft.com/office/powerpoint/2010/main" val="1716178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Slide Image Placeholder 1"/>
          <p:cNvSpPr>
            <a:spLocks noGrp="1" noRot="1" noChangeAspect="1" noTextEdit="1"/>
          </p:cNvSpPr>
          <p:nvPr>
            <p:ph type="sldImg"/>
          </p:nvPr>
        </p:nvSpPr>
        <p:spPr bwMode="auto">
          <a:noFill/>
          <a:ln>
            <a:solidFill>
              <a:srgbClr val="000000"/>
            </a:solidFill>
            <a:miter lim="800000"/>
            <a:headEnd/>
            <a:tailEnd/>
          </a:ln>
        </p:spPr>
      </p:sp>
      <p:sp>
        <p:nvSpPr>
          <p:cNvPr id="189442" name="Notes Placeholder 2"/>
          <p:cNvSpPr>
            <a:spLocks noGrp="1"/>
          </p:cNvSpPr>
          <p:nvPr>
            <p:ph type="body" idx="1"/>
          </p:nvPr>
        </p:nvSpPr>
        <p:spPr bwMode="auto">
          <a:noFill/>
        </p:spPr>
        <p:txBody>
          <a:bodyPr/>
          <a:lstStyle/>
          <a:p>
            <a:pPr>
              <a:spcBef>
                <a:spcPct val="0"/>
              </a:spcBef>
            </a:pPr>
            <a:r>
              <a:rPr lang="en-US" dirty="0"/>
              <a:t>Théodore </a:t>
            </a:r>
            <a:r>
              <a:rPr lang="en-US" dirty="0" err="1"/>
              <a:t>Géricault</a:t>
            </a:r>
            <a:r>
              <a:rPr lang="en-US" dirty="0"/>
              <a:t> THE RAFT OF THE MEDUSA</a:t>
            </a:r>
            <a:br>
              <a:rPr lang="en-US" dirty="0"/>
            </a:br>
            <a:r>
              <a:rPr lang="en-US" dirty="0"/>
              <a:t>1818–1819. Oil on canvas, 16</a:t>
            </a:r>
            <a:r>
              <a:rPr lang="uk-UA" dirty="0"/>
              <a:t>'</a:t>
            </a:r>
            <a:r>
              <a:rPr lang="en-US" dirty="0"/>
              <a:t>1</a:t>
            </a:r>
            <a:r>
              <a:rPr lang="ru-RU" dirty="0"/>
              <a:t>"</a:t>
            </a:r>
            <a:r>
              <a:rPr lang="en-US" dirty="0"/>
              <a:t> × 23</a:t>
            </a:r>
            <a:r>
              <a:rPr lang="uk-UA" dirty="0"/>
              <a:t>'</a:t>
            </a:r>
            <a:r>
              <a:rPr lang="en-US" dirty="0"/>
              <a:t>6</a:t>
            </a:r>
            <a:r>
              <a:rPr lang="ru-RU" dirty="0"/>
              <a:t>"</a:t>
            </a:r>
            <a:r>
              <a:rPr lang="en-US" dirty="0"/>
              <a:t> (4.9 × 7.16 m).</a:t>
            </a:r>
            <a:br>
              <a:rPr lang="en-US" dirty="0"/>
            </a:br>
            <a:r>
              <a:rPr lang="en-US" dirty="0" err="1"/>
              <a:t>Musée</a:t>
            </a:r>
            <a:r>
              <a:rPr lang="en-US" dirty="0"/>
              <a:t> du Louvre, Paris. © </a:t>
            </a:r>
            <a:r>
              <a:rPr lang="en-US" dirty="0" err="1"/>
              <a:t>akg</a:t>
            </a:r>
            <a:r>
              <a:rPr lang="en-US" dirty="0"/>
              <a:t>-images/Erich Lessing.</a:t>
            </a:r>
          </a:p>
        </p:txBody>
      </p:sp>
      <p:sp>
        <p:nvSpPr>
          <p:cNvPr id="189443" name="Slide Number Placeholder 3"/>
          <p:cNvSpPr>
            <a:spLocks noGrp="1"/>
          </p:cNvSpPr>
          <p:nvPr>
            <p:ph type="sldNum" sz="quarter" idx="5"/>
          </p:nvPr>
        </p:nvSpPr>
        <p:spPr bwMode="auto">
          <a:noFill/>
          <a:ln>
            <a:miter lim="800000"/>
            <a:headEnd/>
            <a:tailEnd/>
          </a:ln>
        </p:spPr>
        <p:txBody>
          <a:bodyPr/>
          <a:lstStyle/>
          <a:p>
            <a:fld id="{109D111A-F884-7A4A-B68A-84D6F8C2DC28}" type="slidenum">
              <a:rPr lang="en-US"/>
              <a:pPr/>
              <a:t>24</a:t>
            </a:fld>
            <a:endParaRPr lang="en-US"/>
          </a:p>
        </p:txBody>
      </p:sp>
    </p:spTree>
    <p:extLst>
      <p:ext uri="{BB962C8B-B14F-4D97-AF65-F5344CB8AC3E}">
        <p14:creationId xmlns:p14="http://schemas.microsoft.com/office/powerpoint/2010/main" val="952615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Slide Image Placeholder 1"/>
          <p:cNvSpPr>
            <a:spLocks noGrp="1" noRot="1" noChangeAspect="1" noTextEdit="1"/>
          </p:cNvSpPr>
          <p:nvPr>
            <p:ph type="sldImg"/>
          </p:nvPr>
        </p:nvSpPr>
        <p:spPr bwMode="auto">
          <a:noFill/>
          <a:ln>
            <a:solidFill>
              <a:srgbClr val="000000"/>
            </a:solidFill>
            <a:miter lim="800000"/>
            <a:headEnd/>
            <a:tailEnd/>
          </a:ln>
        </p:spPr>
      </p:sp>
      <p:sp>
        <p:nvSpPr>
          <p:cNvPr id="191490" name="Notes Placeholder 2"/>
          <p:cNvSpPr>
            <a:spLocks noGrp="1"/>
          </p:cNvSpPr>
          <p:nvPr>
            <p:ph type="body" idx="1"/>
          </p:nvPr>
        </p:nvSpPr>
        <p:spPr bwMode="auto">
          <a:noFill/>
        </p:spPr>
        <p:txBody>
          <a:bodyPr/>
          <a:lstStyle/>
          <a:p>
            <a:pPr>
              <a:spcBef>
                <a:spcPct val="0"/>
              </a:spcBef>
            </a:pPr>
            <a:r>
              <a:rPr lang="en-US" dirty="0"/>
              <a:t>Théodore </a:t>
            </a:r>
            <a:r>
              <a:rPr lang="en-US" dirty="0" err="1"/>
              <a:t>Géricault</a:t>
            </a:r>
            <a:r>
              <a:rPr lang="en-US" dirty="0"/>
              <a:t> THE SIGHTING OF THE ARGUS</a:t>
            </a:r>
            <a:br>
              <a:rPr lang="en-US" dirty="0"/>
            </a:br>
            <a:r>
              <a:rPr lang="en-US" dirty="0"/>
              <a:t>1818. Pen and ink on paper, 13-3/4</a:t>
            </a:r>
            <a:r>
              <a:rPr lang="ru-RU" dirty="0"/>
              <a:t>"</a:t>
            </a:r>
            <a:r>
              <a:rPr lang="en-US" dirty="0"/>
              <a:t> × 16-1/8</a:t>
            </a:r>
            <a:r>
              <a:rPr lang="ru-RU" dirty="0"/>
              <a:t>"</a:t>
            </a:r>
            <a:r>
              <a:rPr lang="en-US" dirty="0"/>
              <a:t> (34.9 × 41 cm).</a:t>
            </a:r>
            <a:br>
              <a:rPr lang="en-US" dirty="0"/>
            </a:br>
            <a:r>
              <a:rPr lang="en-US" dirty="0" err="1"/>
              <a:t>Musée</a:t>
            </a:r>
            <a:r>
              <a:rPr lang="en-US" dirty="0"/>
              <a:t> des Beaux-Arts, Lille. Photo © RMN-Grand Palais/Philipp Bernard.</a:t>
            </a:r>
          </a:p>
        </p:txBody>
      </p:sp>
      <p:sp>
        <p:nvSpPr>
          <p:cNvPr id="191491" name="Slide Number Placeholder 3"/>
          <p:cNvSpPr>
            <a:spLocks noGrp="1"/>
          </p:cNvSpPr>
          <p:nvPr>
            <p:ph type="sldNum" sz="quarter" idx="5"/>
          </p:nvPr>
        </p:nvSpPr>
        <p:spPr bwMode="auto">
          <a:noFill/>
          <a:ln>
            <a:miter lim="800000"/>
            <a:headEnd/>
            <a:tailEnd/>
          </a:ln>
        </p:spPr>
        <p:txBody>
          <a:bodyPr/>
          <a:lstStyle/>
          <a:p>
            <a:fld id="{DB4965DB-FD78-A44C-AC87-6236B1B344DF}" type="slidenum">
              <a:rPr lang="en-US"/>
              <a:pPr/>
              <a:t>25</a:t>
            </a:fld>
            <a:endParaRPr lang="en-US"/>
          </a:p>
        </p:txBody>
      </p:sp>
    </p:spTree>
    <p:extLst>
      <p:ext uri="{BB962C8B-B14F-4D97-AF65-F5344CB8AC3E}">
        <p14:creationId xmlns:p14="http://schemas.microsoft.com/office/powerpoint/2010/main" val="1111498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Slide Image Placeholder 1"/>
          <p:cNvSpPr>
            <a:spLocks noGrp="1" noRot="1" noChangeAspect="1" noTextEdit="1"/>
          </p:cNvSpPr>
          <p:nvPr>
            <p:ph type="sldImg"/>
          </p:nvPr>
        </p:nvSpPr>
        <p:spPr bwMode="auto">
          <a:noFill/>
          <a:ln>
            <a:solidFill>
              <a:srgbClr val="000000"/>
            </a:solidFill>
            <a:miter lim="800000"/>
            <a:headEnd/>
            <a:tailEnd/>
          </a:ln>
        </p:spPr>
      </p:sp>
      <p:sp>
        <p:nvSpPr>
          <p:cNvPr id="193538" name="Notes Placeholder 2"/>
          <p:cNvSpPr>
            <a:spLocks noGrp="1"/>
          </p:cNvSpPr>
          <p:nvPr>
            <p:ph type="body" idx="1"/>
          </p:nvPr>
        </p:nvSpPr>
        <p:spPr bwMode="auto">
          <a:noFill/>
        </p:spPr>
        <p:txBody>
          <a:bodyPr/>
          <a:lstStyle/>
          <a:p>
            <a:pPr>
              <a:spcBef>
                <a:spcPct val="0"/>
              </a:spcBef>
            </a:pPr>
            <a:r>
              <a:rPr lang="en-US" dirty="0"/>
              <a:t>Théodore </a:t>
            </a:r>
            <a:r>
              <a:rPr lang="en-US" dirty="0" err="1"/>
              <a:t>Géricault</a:t>
            </a:r>
            <a:r>
              <a:rPr lang="en-US" dirty="0"/>
              <a:t> THE SIGHTING OF THE </a:t>
            </a:r>
            <a:r>
              <a:rPr lang="ru-RU" dirty="0"/>
              <a:t>"</a:t>
            </a:r>
            <a:r>
              <a:rPr lang="en-US" dirty="0"/>
              <a:t>ARGUS</a:t>
            </a:r>
            <a:r>
              <a:rPr lang="ru-RU" dirty="0"/>
              <a:t>"</a:t>
            </a:r>
            <a:br>
              <a:rPr lang="en-US" dirty="0"/>
            </a:br>
            <a:r>
              <a:rPr lang="en-US" dirty="0"/>
              <a:t>1818. Pen and ink, sepia wash on paper, 8-1/8</a:t>
            </a:r>
            <a:r>
              <a:rPr lang="ru-RU" dirty="0"/>
              <a:t>"</a:t>
            </a:r>
            <a:r>
              <a:rPr lang="en-US" dirty="0"/>
              <a:t> × 11-1/4</a:t>
            </a:r>
            <a:r>
              <a:rPr lang="ru-RU" dirty="0"/>
              <a:t>"</a:t>
            </a:r>
            <a:r>
              <a:rPr lang="en-US" dirty="0"/>
              <a:t> (20.6 × 28.6 cm).</a:t>
            </a:r>
            <a:br>
              <a:rPr lang="en-US" dirty="0"/>
            </a:br>
            <a:r>
              <a:rPr lang="en-US" dirty="0" err="1"/>
              <a:t>Musée</a:t>
            </a:r>
            <a:r>
              <a:rPr lang="en-US" dirty="0"/>
              <a:t> des Beaux-Arts, Rouen. Photo © RMN-Grand Palais/Philipp Bernard. </a:t>
            </a:r>
          </a:p>
        </p:txBody>
      </p:sp>
      <p:sp>
        <p:nvSpPr>
          <p:cNvPr id="193539" name="Slide Number Placeholder 3"/>
          <p:cNvSpPr>
            <a:spLocks noGrp="1"/>
          </p:cNvSpPr>
          <p:nvPr>
            <p:ph type="sldNum" sz="quarter" idx="5"/>
          </p:nvPr>
        </p:nvSpPr>
        <p:spPr bwMode="auto">
          <a:noFill/>
          <a:ln>
            <a:miter lim="800000"/>
            <a:headEnd/>
            <a:tailEnd/>
          </a:ln>
        </p:spPr>
        <p:txBody>
          <a:bodyPr/>
          <a:lstStyle/>
          <a:p>
            <a:fld id="{F62C629F-6814-E74D-8DCC-D5D226573A49}" type="slidenum">
              <a:rPr lang="en-US"/>
              <a:pPr/>
              <a:t>26</a:t>
            </a:fld>
            <a:endParaRPr lang="en-US"/>
          </a:p>
        </p:txBody>
      </p:sp>
    </p:spTree>
    <p:extLst>
      <p:ext uri="{BB962C8B-B14F-4D97-AF65-F5344CB8AC3E}">
        <p14:creationId xmlns:p14="http://schemas.microsoft.com/office/powerpoint/2010/main" val="2136763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Slide Image Placeholder 1"/>
          <p:cNvSpPr>
            <a:spLocks noGrp="1" noRot="1" noChangeAspect="1" noTextEdit="1"/>
          </p:cNvSpPr>
          <p:nvPr>
            <p:ph type="sldImg"/>
          </p:nvPr>
        </p:nvSpPr>
        <p:spPr bwMode="auto">
          <a:noFill/>
          <a:ln>
            <a:solidFill>
              <a:srgbClr val="000000"/>
            </a:solidFill>
            <a:miter lim="800000"/>
            <a:headEnd/>
            <a:tailEnd/>
          </a:ln>
        </p:spPr>
      </p:sp>
      <p:sp>
        <p:nvSpPr>
          <p:cNvPr id="195586" name="Notes Placeholder 2"/>
          <p:cNvSpPr>
            <a:spLocks noGrp="1"/>
          </p:cNvSpPr>
          <p:nvPr>
            <p:ph type="body" idx="1"/>
          </p:nvPr>
        </p:nvSpPr>
        <p:spPr bwMode="auto">
          <a:noFill/>
        </p:spPr>
        <p:txBody>
          <a:bodyPr/>
          <a:lstStyle/>
          <a:p>
            <a:pPr>
              <a:spcBef>
                <a:spcPct val="0"/>
              </a:spcBef>
            </a:pPr>
            <a:r>
              <a:rPr lang="en-US" dirty="0"/>
              <a:t>Théodore </a:t>
            </a:r>
            <a:r>
              <a:rPr lang="en-US" dirty="0" err="1"/>
              <a:t>Géricault</a:t>
            </a:r>
            <a:r>
              <a:rPr lang="en-US" dirty="0"/>
              <a:t> STUDY OF HANDS AND FEET</a:t>
            </a:r>
            <a:br>
              <a:rPr lang="en-US" dirty="0"/>
            </a:br>
            <a:r>
              <a:rPr lang="en-US" dirty="0"/>
              <a:t>1818–1819. Oil on canvas, 20-1/2</a:t>
            </a:r>
            <a:r>
              <a:rPr lang="ru-RU" dirty="0"/>
              <a:t>"</a:t>
            </a:r>
            <a:r>
              <a:rPr lang="en-US" dirty="0"/>
              <a:t> × 25-3/18</a:t>
            </a:r>
            <a:r>
              <a:rPr lang="ru-RU" dirty="0"/>
              <a:t>"</a:t>
            </a:r>
            <a:r>
              <a:rPr lang="en-US" dirty="0"/>
              <a:t> (52 × 64 cm).</a:t>
            </a:r>
            <a:br>
              <a:rPr lang="en-US" dirty="0"/>
            </a:br>
            <a:r>
              <a:rPr lang="en-US" dirty="0" err="1"/>
              <a:t>Musée</a:t>
            </a:r>
            <a:r>
              <a:rPr lang="en-US" dirty="0"/>
              <a:t> Fabre de Montpellier. </a:t>
            </a:r>
            <a:r>
              <a:rPr lang="en-US" dirty="0" err="1"/>
              <a:t>Musée</a:t>
            </a:r>
            <a:r>
              <a:rPr lang="en-US" dirty="0"/>
              <a:t> Fabre de Montpellier </a:t>
            </a:r>
            <a:r>
              <a:rPr lang="en-US" dirty="0" err="1"/>
              <a:t>Agglomération</a:t>
            </a:r>
            <a:r>
              <a:rPr lang="en-US" dirty="0"/>
              <a:t>. </a:t>
            </a:r>
            <a:br>
              <a:rPr lang="en-US" dirty="0"/>
            </a:br>
            <a:r>
              <a:rPr lang="en-US" dirty="0"/>
              <a:t>Photo: Frédéric </a:t>
            </a:r>
            <a:r>
              <a:rPr lang="en-US" dirty="0" err="1"/>
              <a:t>Jaulmes</a:t>
            </a:r>
            <a:endParaRPr lang="en-US" dirty="0"/>
          </a:p>
        </p:txBody>
      </p:sp>
      <p:sp>
        <p:nvSpPr>
          <p:cNvPr id="195587" name="Slide Number Placeholder 3"/>
          <p:cNvSpPr>
            <a:spLocks noGrp="1"/>
          </p:cNvSpPr>
          <p:nvPr>
            <p:ph type="sldNum" sz="quarter" idx="5"/>
          </p:nvPr>
        </p:nvSpPr>
        <p:spPr bwMode="auto">
          <a:noFill/>
          <a:ln>
            <a:miter lim="800000"/>
            <a:headEnd/>
            <a:tailEnd/>
          </a:ln>
        </p:spPr>
        <p:txBody>
          <a:bodyPr/>
          <a:lstStyle/>
          <a:p>
            <a:fld id="{C675CDF8-7B24-3D4B-B54D-BC074132FB13}" type="slidenum">
              <a:rPr lang="en-US"/>
              <a:pPr/>
              <a:t>27</a:t>
            </a:fld>
            <a:endParaRPr lang="en-US"/>
          </a:p>
        </p:txBody>
      </p:sp>
    </p:spTree>
    <p:extLst>
      <p:ext uri="{BB962C8B-B14F-4D97-AF65-F5344CB8AC3E}">
        <p14:creationId xmlns:p14="http://schemas.microsoft.com/office/powerpoint/2010/main" val="208275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Slide Image Placeholder 1"/>
          <p:cNvSpPr>
            <a:spLocks noGrp="1" noRot="1" noChangeAspect="1" noTextEdit="1"/>
          </p:cNvSpPr>
          <p:nvPr>
            <p:ph type="sldImg"/>
          </p:nvPr>
        </p:nvSpPr>
        <p:spPr bwMode="auto">
          <a:noFill/>
          <a:ln>
            <a:solidFill>
              <a:srgbClr val="000000"/>
            </a:solidFill>
            <a:miter lim="800000"/>
            <a:headEnd/>
            <a:tailEnd/>
          </a:ln>
        </p:spPr>
      </p:sp>
      <p:sp>
        <p:nvSpPr>
          <p:cNvPr id="198658" name="Notes Placeholder 2"/>
          <p:cNvSpPr>
            <a:spLocks noGrp="1"/>
          </p:cNvSpPr>
          <p:nvPr>
            <p:ph type="body" idx="1"/>
          </p:nvPr>
        </p:nvSpPr>
        <p:spPr bwMode="auto">
          <a:noFill/>
        </p:spPr>
        <p:txBody>
          <a:bodyPr/>
          <a:lstStyle/>
          <a:p>
            <a:pPr>
              <a:spcBef>
                <a:spcPct val="0"/>
              </a:spcBef>
            </a:pPr>
            <a:r>
              <a:rPr lang="en-US" dirty="0"/>
              <a:t>Eugène Delacroix LIBERTY LEADING THE PEOPLE: JULY 28, 1830</a:t>
            </a:r>
            <a:br>
              <a:rPr lang="en-US" dirty="0"/>
            </a:br>
            <a:r>
              <a:rPr lang="en-US" dirty="0"/>
              <a:t>1830. Oil on canvas, 8</a:t>
            </a:r>
            <a:r>
              <a:rPr lang="uk-UA" dirty="0"/>
              <a:t>'</a:t>
            </a:r>
            <a:r>
              <a:rPr lang="en-US" dirty="0"/>
              <a:t>6-1/2</a:t>
            </a:r>
            <a:r>
              <a:rPr lang="ru-RU" dirty="0"/>
              <a:t>"</a:t>
            </a:r>
            <a:r>
              <a:rPr lang="en-US" dirty="0"/>
              <a:t> × 10</a:t>
            </a:r>
            <a:r>
              <a:rPr lang="uk-UA" dirty="0"/>
              <a:t>'</a:t>
            </a:r>
            <a:r>
              <a:rPr lang="en-US" dirty="0"/>
              <a:t>8</a:t>
            </a:r>
            <a:r>
              <a:rPr lang="ru-RU" dirty="0"/>
              <a:t>"</a:t>
            </a:r>
            <a:r>
              <a:rPr lang="en-US" dirty="0"/>
              <a:t> (2.6 × 3.25 m).</a:t>
            </a:r>
            <a:br>
              <a:rPr lang="en-US" dirty="0"/>
            </a:br>
            <a:r>
              <a:rPr lang="en-US" dirty="0" err="1"/>
              <a:t>Musée</a:t>
            </a:r>
            <a:r>
              <a:rPr lang="en-US" dirty="0"/>
              <a:t> du Louvre, Paris. Photo © </a:t>
            </a:r>
            <a:r>
              <a:rPr lang="en-US" dirty="0" err="1"/>
              <a:t>Musée</a:t>
            </a:r>
            <a:r>
              <a:rPr lang="en-US" dirty="0"/>
              <a:t> du Louvre, Dist. RMN-Grand Palais/Philippe </a:t>
            </a:r>
            <a:r>
              <a:rPr lang="en-US" dirty="0" err="1"/>
              <a:t>Fuzeau</a:t>
            </a:r>
            <a:r>
              <a:rPr lang="en-US" dirty="0"/>
              <a:t>.</a:t>
            </a:r>
          </a:p>
        </p:txBody>
      </p:sp>
      <p:sp>
        <p:nvSpPr>
          <p:cNvPr id="198659" name="Slide Number Placeholder 3"/>
          <p:cNvSpPr>
            <a:spLocks noGrp="1"/>
          </p:cNvSpPr>
          <p:nvPr>
            <p:ph type="sldNum" sz="quarter" idx="5"/>
          </p:nvPr>
        </p:nvSpPr>
        <p:spPr bwMode="auto">
          <a:noFill/>
          <a:ln>
            <a:miter lim="800000"/>
            <a:headEnd/>
            <a:tailEnd/>
          </a:ln>
        </p:spPr>
        <p:txBody>
          <a:bodyPr/>
          <a:lstStyle/>
          <a:p>
            <a:fld id="{4B2F59A1-16DD-1441-B77D-0285CB2E7BD0}" type="slidenum">
              <a:rPr lang="en-US"/>
              <a:pPr/>
              <a:t>29</a:t>
            </a:fld>
            <a:endParaRPr lang="en-US"/>
          </a:p>
        </p:txBody>
      </p:sp>
    </p:spTree>
    <p:extLst>
      <p:ext uri="{BB962C8B-B14F-4D97-AF65-F5344CB8AC3E}">
        <p14:creationId xmlns:p14="http://schemas.microsoft.com/office/powerpoint/2010/main" val="84118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Slide Image Placeholder 1"/>
          <p:cNvSpPr>
            <a:spLocks noGrp="1" noRot="1" noChangeAspect="1" noTextEdit="1"/>
          </p:cNvSpPr>
          <p:nvPr>
            <p:ph type="sldImg"/>
          </p:nvPr>
        </p:nvSpPr>
        <p:spPr bwMode="auto">
          <a:noFill/>
          <a:ln>
            <a:solidFill>
              <a:srgbClr val="000000"/>
            </a:solidFill>
            <a:miter lim="800000"/>
            <a:headEnd/>
            <a:tailEnd/>
          </a:ln>
        </p:spPr>
      </p:sp>
      <p:sp>
        <p:nvSpPr>
          <p:cNvPr id="201730" name="Notes Placeholder 2"/>
          <p:cNvSpPr>
            <a:spLocks noGrp="1"/>
          </p:cNvSpPr>
          <p:nvPr>
            <p:ph type="body" idx="1"/>
          </p:nvPr>
        </p:nvSpPr>
        <p:spPr bwMode="auto">
          <a:noFill/>
        </p:spPr>
        <p:txBody>
          <a:bodyPr/>
          <a:lstStyle/>
          <a:p>
            <a:pPr>
              <a:spcBef>
                <a:spcPct val="0"/>
              </a:spcBef>
            </a:pPr>
            <a:r>
              <a:rPr lang="en-US" dirty="0"/>
              <a:t>François Rude DEPARTURE OF THE VOLUNTEERS OF 1792 (THE MARSEILLAISE)</a:t>
            </a:r>
            <a:br>
              <a:rPr lang="en-US" dirty="0"/>
            </a:br>
            <a:r>
              <a:rPr lang="en-US" dirty="0"/>
              <a:t>Arc de </a:t>
            </a:r>
            <a:r>
              <a:rPr lang="en-US" dirty="0" err="1"/>
              <a:t>Triomphe</a:t>
            </a:r>
            <a:r>
              <a:rPr lang="en-US" dirty="0"/>
              <a:t>, Place de l</a:t>
            </a:r>
            <a:r>
              <a:rPr lang="uk-UA" dirty="0"/>
              <a:t>'</a:t>
            </a:r>
            <a:r>
              <a:rPr lang="en-US" dirty="0" err="1"/>
              <a:t>Étoile</a:t>
            </a:r>
            <a:r>
              <a:rPr lang="en-US" dirty="0"/>
              <a:t>, Paris. 1833–1836.</a:t>
            </a:r>
            <a:br>
              <a:rPr lang="en-US" dirty="0"/>
            </a:br>
            <a:r>
              <a:rPr lang="en-US" dirty="0"/>
              <a:t>Limestone, height approx. 42</a:t>
            </a:r>
            <a:r>
              <a:rPr lang="uk-UA" dirty="0"/>
              <a:t>'</a:t>
            </a:r>
            <a:r>
              <a:rPr lang="en-US" dirty="0"/>
              <a:t> (12.8 m).</a:t>
            </a:r>
            <a:br>
              <a:rPr lang="en-US" dirty="0"/>
            </a:br>
            <a:r>
              <a:rPr lang="en-US" dirty="0"/>
              <a:t>© </a:t>
            </a:r>
            <a:r>
              <a:rPr lang="en-US" dirty="0" err="1"/>
              <a:t>Kiev.Victor</a:t>
            </a:r>
            <a:r>
              <a:rPr lang="en-US" dirty="0"/>
              <a:t>/Shutterstock.</a:t>
            </a:r>
          </a:p>
        </p:txBody>
      </p:sp>
      <p:sp>
        <p:nvSpPr>
          <p:cNvPr id="201731" name="Slide Number Placeholder 3"/>
          <p:cNvSpPr>
            <a:spLocks noGrp="1"/>
          </p:cNvSpPr>
          <p:nvPr>
            <p:ph type="sldNum" sz="quarter" idx="5"/>
          </p:nvPr>
        </p:nvSpPr>
        <p:spPr bwMode="auto">
          <a:noFill/>
          <a:ln>
            <a:miter lim="800000"/>
            <a:headEnd/>
            <a:tailEnd/>
          </a:ln>
        </p:spPr>
        <p:txBody>
          <a:bodyPr/>
          <a:lstStyle/>
          <a:p>
            <a:fld id="{31392804-154F-C845-8CA3-91D26327F683}" type="slidenum">
              <a:rPr lang="en-US"/>
              <a:pPr/>
              <a:t>31</a:t>
            </a:fld>
            <a:endParaRPr lang="en-US"/>
          </a:p>
        </p:txBody>
      </p:sp>
    </p:spTree>
    <p:extLst>
      <p:ext uri="{BB962C8B-B14F-4D97-AF65-F5344CB8AC3E}">
        <p14:creationId xmlns:p14="http://schemas.microsoft.com/office/powerpoint/2010/main" val="731692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Slide Image Placeholder 1"/>
          <p:cNvSpPr>
            <a:spLocks noGrp="1" noRot="1" noChangeAspect="1" noTextEdit="1"/>
          </p:cNvSpPr>
          <p:nvPr>
            <p:ph type="sldImg"/>
          </p:nvPr>
        </p:nvSpPr>
        <p:spPr bwMode="auto">
          <a:noFill/>
          <a:ln>
            <a:solidFill>
              <a:srgbClr val="000000"/>
            </a:solidFill>
            <a:miter lim="800000"/>
            <a:headEnd/>
            <a:tailEnd/>
          </a:ln>
        </p:spPr>
      </p:sp>
      <p:sp>
        <p:nvSpPr>
          <p:cNvPr id="204802" name="Notes Placeholder 2"/>
          <p:cNvSpPr>
            <a:spLocks noGrp="1"/>
          </p:cNvSpPr>
          <p:nvPr>
            <p:ph type="body" idx="1"/>
          </p:nvPr>
        </p:nvSpPr>
        <p:spPr bwMode="auto">
          <a:noFill/>
        </p:spPr>
        <p:txBody>
          <a:bodyPr/>
          <a:lstStyle/>
          <a:p>
            <a:pPr>
              <a:spcBef>
                <a:spcPct val="0"/>
              </a:spcBef>
            </a:pPr>
            <a:r>
              <a:rPr lang="en-US" dirty="0"/>
              <a:t>Jean-Auguste-Dominique Ingres LARGE ODALISQUE</a:t>
            </a:r>
            <a:br>
              <a:rPr lang="en-US" dirty="0"/>
            </a:br>
            <a:r>
              <a:rPr lang="en-US" dirty="0"/>
              <a:t>1814. Oil on canvas, approx. 35</a:t>
            </a:r>
            <a:r>
              <a:rPr lang="ru-RU" dirty="0"/>
              <a:t>"</a:t>
            </a:r>
            <a:r>
              <a:rPr lang="en-US" dirty="0"/>
              <a:t> × 64</a:t>
            </a:r>
            <a:r>
              <a:rPr lang="ru-RU" dirty="0"/>
              <a:t>"</a:t>
            </a:r>
            <a:r>
              <a:rPr lang="en-US" dirty="0"/>
              <a:t> (88.9 × 162.5 cm).</a:t>
            </a:r>
            <a:br>
              <a:rPr lang="en-US" dirty="0"/>
            </a:br>
            <a:r>
              <a:rPr lang="en-US" dirty="0" err="1"/>
              <a:t>Musée</a:t>
            </a:r>
            <a:r>
              <a:rPr lang="en-US" dirty="0"/>
              <a:t> du Louvre, Paris. Photo © RMN-Grand Palais (</a:t>
            </a:r>
            <a:r>
              <a:rPr lang="en-US" dirty="0" err="1"/>
              <a:t>musée</a:t>
            </a:r>
            <a:r>
              <a:rPr lang="en-US" dirty="0"/>
              <a:t> du Louvre)/Thierry Le Mage.</a:t>
            </a:r>
          </a:p>
        </p:txBody>
      </p:sp>
      <p:sp>
        <p:nvSpPr>
          <p:cNvPr id="204803" name="Slide Number Placeholder 3"/>
          <p:cNvSpPr>
            <a:spLocks noGrp="1"/>
          </p:cNvSpPr>
          <p:nvPr>
            <p:ph type="sldNum" sz="quarter" idx="5"/>
          </p:nvPr>
        </p:nvSpPr>
        <p:spPr bwMode="auto">
          <a:noFill/>
          <a:ln>
            <a:miter lim="800000"/>
            <a:headEnd/>
            <a:tailEnd/>
          </a:ln>
        </p:spPr>
        <p:txBody>
          <a:bodyPr/>
          <a:lstStyle/>
          <a:p>
            <a:fld id="{746B6ECC-0B37-4C43-B19C-D00F2476ACF3}" type="slidenum">
              <a:rPr lang="en-US"/>
              <a:pPr/>
              <a:t>33</a:t>
            </a:fld>
            <a:endParaRPr lang="en-US"/>
          </a:p>
        </p:txBody>
      </p:sp>
    </p:spTree>
    <p:extLst>
      <p:ext uri="{BB962C8B-B14F-4D97-AF65-F5344CB8AC3E}">
        <p14:creationId xmlns:p14="http://schemas.microsoft.com/office/powerpoint/2010/main" val="1060014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Slide Image Placeholder 1"/>
          <p:cNvSpPr>
            <a:spLocks noGrp="1" noRot="1" noChangeAspect="1" noTextEdit="1"/>
          </p:cNvSpPr>
          <p:nvPr>
            <p:ph type="sldImg"/>
          </p:nvPr>
        </p:nvSpPr>
        <p:spPr bwMode="auto">
          <a:noFill/>
          <a:ln>
            <a:solidFill>
              <a:srgbClr val="000000"/>
            </a:solidFill>
            <a:miter lim="800000"/>
            <a:headEnd/>
            <a:tailEnd/>
          </a:ln>
        </p:spPr>
      </p:sp>
      <p:sp>
        <p:nvSpPr>
          <p:cNvPr id="207874" name="Notes Placeholder 2"/>
          <p:cNvSpPr>
            <a:spLocks noGrp="1"/>
          </p:cNvSpPr>
          <p:nvPr>
            <p:ph type="body" idx="1"/>
          </p:nvPr>
        </p:nvSpPr>
        <p:spPr bwMode="auto">
          <a:noFill/>
        </p:spPr>
        <p:txBody>
          <a:bodyPr/>
          <a:lstStyle/>
          <a:p>
            <a:pPr>
              <a:spcBef>
                <a:spcPct val="0"/>
              </a:spcBef>
            </a:pPr>
            <a:r>
              <a:rPr lang="en-US" dirty="0"/>
              <a:t>Jean-Auguste-Dominique Ingres PORTRAIT OF MADAME DÉSIRÉ RAOUL-ROCHETTE</a:t>
            </a:r>
            <a:br>
              <a:rPr lang="en-US" dirty="0"/>
            </a:br>
            <a:r>
              <a:rPr lang="en-US" dirty="0"/>
              <a:t>1830. Graphite on paper, 12-5/8</a:t>
            </a:r>
            <a:r>
              <a:rPr lang="ru-RU" dirty="0"/>
              <a:t>"</a:t>
            </a:r>
            <a:r>
              <a:rPr lang="en-US" dirty="0"/>
              <a:t> × 9-1/2</a:t>
            </a:r>
            <a:r>
              <a:rPr lang="ru-RU" dirty="0"/>
              <a:t>"</a:t>
            </a:r>
            <a:r>
              <a:rPr lang="en-US" dirty="0"/>
              <a:t> (32.2 × 24.1 cm).</a:t>
            </a:r>
            <a:br>
              <a:rPr lang="en-US" dirty="0"/>
            </a:br>
            <a:r>
              <a:rPr lang="en-US" dirty="0"/>
              <a:t>Cleveland Museum of Art. Purchase from the J. H. Wade Fund (1927.437).</a:t>
            </a:r>
            <a:br>
              <a:rPr lang="en-US" dirty="0"/>
            </a:br>
            <a:r>
              <a:rPr lang="en-US" dirty="0"/>
              <a:t>Bridgeman Images. </a:t>
            </a:r>
          </a:p>
        </p:txBody>
      </p:sp>
      <p:sp>
        <p:nvSpPr>
          <p:cNvPr id="207875" name="Slide Number Placeholder 3"/>
          <p:cNvSpPr>
            <a:spLocks noGrp="1"/>
          </p:cNvSpPr>
          <p:nvPr>
            <p:ph type="sldNum" sz="quarter" idx="5"/>
          </p:nvPr>
        </p:nvSpPr>
        <p:spPr bwMode="auto">
          <a:noFill/>
          <a:ln>
            <a:miter lim="800000"/>
            <a:headEnd/>
            <a:tailEnd/>
          </a:ln>
        </p:spPr>
        <p:txBody>
          <a:bodyPr/>
          <a:lstStyle/>
          <a:p>
            <a:fld id="{E1E0296B-66D1-E54F-84E9-25A8BBD824F5}" type="slidenum">
              <a:rPr lang="en-US"/>
              <a:pPr/>
              <a:t>35</a:t>
            </a:fld>
            <a:endParaRPr lang="en-US"/>
          </a:p>
        </p:txBody>
      </p:sp>
    </p:spTree>
    <p:extLst>
      <p:ext uri="{BB962C8B-B14F-4D97-AF65-F5344CB8AC3E}">
        <p14:creationId xmlns:p14="http://schemas.microsoft.com/office/powerpoint/2010/main" val="132912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Slide Image Placeholder 1"/>
          <p:cNvSpPr>
            <a:spLocks noGrp="1" noRot="1" noChangeAspect="1" noTextEdit="1"/>
          </p:cNvSpPr>
          <p:nvPr>
            <p:ph type="sldImg"/>
          </p:nvPr>
        </p:nvSpPr>
        <p:spPr bwMode="auto">
          <a:noFill/>
          <a:ln>
            <a:solidFill>
              <a:srgbClr val="000000"/>
            </a:solidFill>
            <a:miter lim="800000"/>
            <a:headEnd/>
            <a:tailEnd/>
          </a:ln>
        </p:spPr>
      </p:sp>
      <p:sp>
        <p:nvSpPr>
          <p:cNvPr id="210946" name="Notes Placeholder 2"/>
          <p:cNvSpPr>
            <a:spLocks noGrp="1"/>
          </p:cNvSpPr>
          <p:nvPr>
            <p:ph type="body" idx="1"/>
          </p:nvPr>
        </p:nvSpPr>
        <p:spPr bwMode="auto">
          <a:noFill/>
        </p:spPr>
        <p:txBody>
          <a:bodyPr/>
          <a:lstStyle/>
          <a:p>
            <a:pPr>
              <a:spcBef>
                <a:spcPct val="0"/>
              </a:spcBef>
            </a:pPr>
            <a:r>
              <a:rPr lang="en-US" dirty="0" err="1"/>
              <a:t>Honoré</a:t>
            </a:r>
            <a:r>
              <a:rPr lang="en-US" dirty="0"/>
              <a:t> Daumier THE PRINT LOVERS</a:t>
            </a:r>
            <a:br>
              <a:rPr lang="en-US" dirty="0"/>
            </a:br>
            <a:r>
              <a:rPr lang="en-US" dirty="0"/>
              <a:t>c. 1863–1865. Watercolor, black pencil, black ink, gray wash, 10-1/8</a:t>
            </a:r>
            <a:r>
              <a:rPr lang="ru-RU" dirty="0"/>
              <a:t>"</a:t>
            </a:r>
            <a:r>
              <a:rPr lang="en-US" dirty="0"/>
              <a:t> × 12-1/8</a:t>
            </a:r>
            <a:r>
              <a:rPr lang="ru-RU" dirty="0"/>
              <a:t>"</a:t>
            </a:r>
            <a:r>
              <a:rPr lang="en-US" dirty="0"/>
              <a:t> (25.8 × 30.7 cm). </a:t>
            </a:r>
            <a:r>
              <a:rPr lang="en-US" dirty="0" err="1"/>
              <a:t>Musée</a:t>
            </a:r>
            <a:r>
              <a:rPr lang="en-US" dirty="0"/>
              <a:t> du Louvre, Paris. Photo © RMN-Grand Palais (</a:t>
            </a:r>
            <a:r>
              <a:rPr lang="en-US" dirty="0" err="1"/>
              <a:t>musée</a:t>
            </a:r>
            <a:r>
              <a:rPr lang="en-US" dirty="0"/>
              <a:t> du Louvre).</a:t>
            </a:r>
            <a:br>
              <a:rPr lang="en-US" dirty="0"/>
            </a:br>
            <a:endParaRPr lang="en-US" dirty="0"/>
          </a:p>
        </p:txBody>
      </p:sp>
      <p:sp>
        <p:nvSpPr>
          <p:cNvPr id="210947" name="Slide Number Placeholder 3"/>
          <p:cNvSpPr>
            <a:spLocks noGrp="1"/>
          </p:cNvSpPr>
          <p:nvPr>
            <p:ph type="sldNum" sz="quarter" idx="5"/>
          </p:nvPr>
        </p:nvSpPr>
        <p:spPr bwMode="auto">
          <a:noFill/>
          <a:ln>
            <a:miter lim="800000"/>
            <a:headEnd/>
            <a:tailEnd/>
          </a:ln>
        </p:spPr>
        <p:txBody>
          <a:bodyPr/>
          <a:lstStyle/>
          <a:p>
            <a:fld id="{A0D9CDF2-A4E8-6648-A8A2-36A60653217D}" type="slidenum">
              <a:rPr lang="en-US"/>
              <a:pPr/>
              <a:t>37</a:t>
            </a:fld>
            <a:endParaRPr lang="en-US"/>
          </a:p>
        </p:txBody>
      </p:sp>
    </p:spTree>
    <p:extLst>
      <p:ext uri="{BB962C8B-B14F-4D97-AF65-F5344CB8AC3E}">
        <p14:creationId xmlns:p14="http://schemas.microsoft.com/office/powerpoint/2010/main" val="4706718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Slide Image Placeholder 1"/>
          <p:cNvSpPr>
            <a:spLocks noGrp="1" noRot="1" noChangeAspect="1" noTextEdit="1"/>
          </p:cNvSpPr>
          <p:nvPr>
            <p:ph type="sldImg"/>
          </p:nvPr>
        </p:nvSpPr>
        <p:spPr bwMode="auto">
          <a:noFill/>
          <a:ln>
            <a:solidFill>
              <a:srgbClr val="000000"/>
            </a:solidFill>
            <a:miter lim="800000"/>
            <a:headEnd/>
            <a:tailEnd/>
          </a:ln>
        </p:spPr>
      </p:sp>
      <p:sp>
        <p:nvSpPr>
          <p:cNvPr id="212994" name="Notes Placeholder 2"/>
          <p:cNvSpPr>
            <a:spLocks noGrp="1"/>
          </p:cNvSpPr>
          <p:nvPr>
            <p:ph type="body" idx="1"/>
          </p:nvPr>
        </p:nvSpPr>
        <p:spPr bwMode="auto">
          <a:noFill/>
        </p:spPr>
        <p:txBody>
          <a:bodyPr/>
          <a:lstStyle/>
          <a:p>
            <a:pPr>
              <a:spcBef>
                <a:spcPct val="0"/>
              </a:spcBef>
            </a:pPr>
            <a:r>
              <a:rPr lang="en-US">
                <a:solidFill>
                  <a:schemeClr val="bg1"/>
                </a:solidFill>
                <a:latin typeface="Verdana" charset="0"/>
              </a:rPr>
              <a:t>TECHNIQUE: Lithography</a:t>
            </a:r>
            <a:br>
              <a:rPr lang="en-US">
                <a:solidFill>
                  <a:schemeClr val="bg1"/>
                </a:solidFill>
                <a:latin typeface="Verdana" charset="0"/>
              </a:rPr>
            </a:br>
            <a:r>
              <a:rPr lang="en-US">
                <a:solidFill>
                  <a:schemeClr val="bg1"/>
                </a:solidFill>
                <a:latin typeface="Verdana" charset="0"/>
              </a:rPr>
              <a:t>Diagram of the lithographic process.</a:t>
            </a:r>
            <a:endParaRPr lang="en-US"/>
          </a:p>
        </p:txBody>
      </p:sp>
      <p:sp>
        <p:nvSpPr>
          <p:cNvPr id="212995" name="Slide Number Placeholder 3"/>
          <p:cNvSpPr>
            <a:spLocks noGrp="1"/>
          </p:cNvSpPr>
          <p:nvPr>
            <p:ph type="sldNum" sz="quarter" idx="5"/>
          </p:nvPr>
        </p:nvSpPr>
        <p:spPr bwMode="auto">
          <a:noFill/>
          <a:ln>
            <a:miter lim="800000"/>
            <a:headEnd/>
            <a:tailEnd/>
          </a:ln>
        </p:spPr>
        <p:txBody>
          <a:bodyPr/>
          <a:lstStyle/>
          <a:p>
            <a:fld id="{498D1AC6-EF7C-E347-9DE8-F062E8C48CFA}" type="slidenum">
              <a:rPr lang="en-US"/>
              <a:pPr/>
              <a:t>38</a:t>
            </a:fld>
            <a:endParaRPr lang="en-US"/>
          </a:p>
        </p:txBody>
      </p:sp>
    </p:spTree>
    <p:extLst>
      <p:ext uri="{BB962C8B-B14F-4D97-AF65-F5344CB8AC3E}">
        <p14:creationId xmlns:p14="http://schemas.microsoft.com/office/powerpoint/2010/main" val="1399006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Slide Image Placeholder 1"/>
          <p:cNvSpPr>
            <a:spLocks noGrp="1" noRot="1" noChangeAspect="1" noTextEdit="1"/>
          </p:cNvSpPr>
          <p:nvPr>
            <p:ph type="sldImg"/>
          </p:nvPr>
        </p:nvSpPr>
        <p:spPr bwMode="auto">
          <a:noFill/>
          <a:ln>
            <a:solidFill>
              <a:srgbClr val="000000"/>
            </a:solidFill>
            <a:miter lim="800000"/>
            <a:headEnd/>
            <a:tailEnd/>
          </a:ln>
        </p:spPr>
      </p:sp>
      <p:sp>
        <p:nvSpPr>
          <p:cNvPr id="216066" name="Notes Placeholder 2"/>
          <p:cNvSpPr>
            <a:spLocks noGrp="1"/>
          </p:cNvSpPr>
          <p:nvPr>
            <p:ph type="body" idx="1"/>
          </p:nvPr>
        </p:nvSpPr>
        <p:spPr bwMode="auto">
          <a:noFill/>
        </p:spPr>
        <p:txBody>
          <a:bodyPr/>
          <a:lstStyle/>
          <a:p>
            <a:pPr>
              <a:spcBef>
                <a:spcPct val="0"/>
              </a:spcBef>
            </a:pPr>
            <a:r>
              <a:rPr lang="en-US" dirty="0" err="1"/>
              <a:t>Honoré</a:t>
            </a:r>
            <a:r>
              <a:rPr lang="en-US" dirty="0"/>
              <a:t> Daumier RUE TRANSNONAIN, LE 15 AVRIL 1834</a:t>
            </a:r>
            <a:br>
              <a:rPr lang="en-US" dirty="0"/>
            </a:br>
            <a:r>
              <a:rPr lang="en-US" dirty="0"/>
              <a:t>1834. Lithograph, 11</a:t>
            </a:r>
            <a:r>
              <a:rPr lang="ru-RU" dirty="0"/>
              <a:t>"</a:t>
            </a:r>
            <a:r>
              <a:rPr lang="en-US" dirty="0"/>
              <a:t> × 17-3/8</a:t>
            </a:r>
            <a:r>
              <a:rPr lang="ru-RU" dirty="0"/>
              <a:t>"</a:t>
            </a:r>
            <a:r>
              <a:rPr lang="en-US" dirty="0"/>
              <a:t> (28 × 44 cm).</a:t>
            </a:r>
            <a:br>
              <a:rPr lang="en-US" dirty="0"/>
            </a:br>
            <a:r>
              <a:rPr lang="en-US" dirty="0"/>
              <a:t>Yale University Art Gallery, Everett V. Meeks, B.A. 1901, Fund (1982.120.4). </a:t>
            </a:r>
            <a:br>
              <a:rPr lang="en-US" dirty="0"/>
            </a:br>
            <a:r>
              <a:rPr lang="en-US" dirty="0"/>
              <a:t>Image courtesy Yale University Art Gallery. </a:t>
            </a:r>
          </a:p>
        </p:txBody>
      </p:sp>
      <p:sp>
        <p:nvSpPr>
          <p:cNvPr id="216067" name="Slide Number Placeholder 3"/>
          <p:cNvSpPr>
            <a:spLocks noGrp="1"/>
          </p:cNvSpPr>
          <p:nvPr>
            <p:ph type="sldNum" sz="quarter" idx="5"/>
          </p:nvPr>
        </p:nvSpPr>
        <p:spPr bwMode="auto">
          <a:noFill/>
          <a:ln>
            <a:miter lim="800000"/>
            <a:headEnd/>
            <a:tailEnd/>
          </a:ln>
        </p:spPr>
        <p:txBody>
          <a:bodyPr/>
          <a:lstStyle/>
          <a:p>
            <a:fld id="{AD34DB2E-52DA-B54E-BCB2-3A62CCCEA3FD}" type="slidenum">
              <a:rPr lang="en-US"/>
              <a:pPr/>
              <a:t>40</a:t>
            </a:fld>
            <a:endParaRPr lang="en-US"/>
          </a:p>
        </p:txBody>
      </p:sp>
    </p:spTree>
    <p:extLst>
      <p:ext uri="{BB962C8B-B14F-4D97-AF65-F5344CB8AC3E}">
        <p14:creationId xmlns:p14="http://schemas.microsoft.com/office/powerpoint/2010/main" val="309492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Slide Image Placeholder 1"/>
          <p:cNvSpPr>
            <a:spLocks noGrp="1" noRot="1" noChangeAspect="1" noTextEdit="1"/>
          </p:cNvSpPr>
          <p:nvPr>
            <p:ph type="sldImg"/>
          </p:nvPr>
        </p:nvSpPr>
        <p:spPr bwMode="auto">
          <a:noFill/>
          <a:ln>
            <a:solidFill>
              <a:srgbClr val="000000"/>
            </a:solidFill>
            <a:miter lim="800000"/>
            <a:headEnd/>
            <a:tailEnd/>
          </a:ln>
        </p:spPr>
      </p:sp>
      <p:sp>
        <p:nvSpPr>
          <p:cNvPr id="220162" name="Notes Placeholder 2"/>
          <p:cNvSpPr>
            <a:spLocks noGrp="1"/>
          </p:cNvSpPr>
          <p:nvPr>
            <p:ph type="body" idx="1"/>
          </p:nvPr>
        </p:nvSpPr>
        <p:spPr bwMode="auto">
          <a:noFill/>
        </p:spPr>
        <p:txBody>
          <a:bodyPr/>
          <a:lstStyle/>
          <a:p>
            <a:pPr>
              <a:spcBef>
                <a:spcPct val="0"/>
              </a:spcBef>
            </a:pPr>
            <a:r>
              <a:rPr lang="en-US" dirty="0">
                <a:latin typeface="Verdana" charset="0"/>
              </a:rPr>
              <a:t>John Constable THE HAY WAIN</a:t>
            </a:r>
            <a:br>
              <a:rPr lang="en-US" dirty="0">
                <a:latin typeface="Verdana" charset="0"/>
              </a:rPr>
            </a:br>
            <a:r>
              <a:rPr lang="en-US" dirty="0">
                <a:latin typeface="Verdana" charset="0"/>
              </a:rPr>
              <a:t>1821. Oil on canvas, 51-1/4</a:t>
            </a:r>
            <a:r>
              <a:rPr lang="ru-RU" dirty="0">
                <a:latin typeface="Verdana" charset="0"/>
              </a:rPr>
              <a:t>"</a:t>
            </a:r>
            <a:r>
              <a:rPr lang="en-US" dirty="0">
                <a:latin typeface="Verdana" charset="0"/>
              </a:rPr>
              <a:t> × 73</a:t>
            </a:r>
            <a:r>
              <a:rPr lang="ru-RU" dirty="0">
                <a:latin typeface="Verdana" charset="0"/>
              </a:rPr>
              <a:t>"</a:t>
            </a:r>
            <a:r>
              <a:rPr lang="en-US" dirty="0">
                <a:latin typeface="Verdana" charset="0"/>
              </a:rPr>
              <a:t> (130.2 × 185.4 cm).</a:t>
            </a:r>
            <a:br>
              <a:rPr lang="en-US" dirty="0">
                <a:latin typeface="Verdana" charset="0"/>
              </a:rPr>
            </a:br>
            <a:r>
              <a:rPr lang="en-US" dirty="0">
                <a:latin typeface="Verdana" charset="0"/>
              </a:rPr>
              <a:t>National Gallery, London. Gift of Henry Vaughan, 1886.</a:t>
            </a:r>
            <a:br>
              <a:rPr lang="en-US" dirty="0">
                <a:latin typeface="Verdana" charset="0"/>
              </a:rPr>
            </a:br>
            <a:r>
              <a:rPr lang="en-US" dirty="0">
                <a:latin typeface="Verdana" charset="0"/>
              </a:rPr>
              <a:t>© 2016. Copyright The National Gallery, London/Scala, Florence. </a:t>
            </a:r>
            <a:endParaRPr lang="en-US" dirty="0"/>
          </a:p>
        </p:txBody>
      </p:sp>
      <p:sp>
        <p:nvSpPr>
          <p:cNvPr id="220163" name="Slide Number Placeholder 3"/>
          <p:cNvSpPr>
            <a:spLocks noGrp="1"/>
          </p:cNvSpPr>
          <p:nvPr>
            <p:ph type="sldNum" sz="quarter" idx="5"/>
          </p:nvPr>
        </p:nvSpPr>
        <p:spPr bwMode="auto">
          <a:noFill/>
          <a:ln>
            <a:miter lim="800000"/>
            <a:headEnd/>
            <a:tailEnd/>
          </a:ln>
        </p:spPr>
        <p:txBody>
          <a:bodyPr/>
          <a:lstStyle/>
          <a:p>
            <a:fld id="{369014F2-D638-4A47-8359-38650C4F19EB}" type="slidenum">
              <a:rPr lang="en-US"/>
              <a:pPr/>
              <a:t>43</a:t>
            </a:fld>
            <a:endParaRPr lang="en-US"/>
          </a:p>
        </p:txBody>
      </p:sp>
    </p:spTree>
    <p:extLst>
      <p:ext uri="{BB962C8B-B14F-4D97-AF65-F5344CB8AC3E}">
        <p14:creationId xmlns:p14="http://schemas.microsoft.com/office/powerpoint/2010/main" val="110408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Slide Image Placeholder 1"/>
          <p:cNvSpPr>
            <a:spLocks noGrp="1" noRot="1" noChangeAspect="1" noTextEdit="1"/>
          </p:cNvSpPr>
          <p:nvPr>
            <p:ph type="sldImg"/>
          </p:nvPr>
        </p:nvSpPr>
        <p:spPr bwMode="auto">
          <a:noFill/>
          <a:ln>
            <a:solidFill>
              <a:srgbClr val="000000"/>
            </a:solidFill>
            <a:miter lim="800000"/>
            <a:headEnd/>
            <a:tailEnd/>
          </a:ln>
        </p:spPr>
      </p:sp>
      <p:sp>
        <p:nvSpPr>
          <p:cNvPr id="224258" name="Notes Placeholder 2"/>
          <p:cNvSpPr>
            <a:spLocks noGrp="1"/>
          </p:cNvSpPr>
          <p:nvPr>
            <p:ph type="body" idx="1"/>
          </p:nvPr>
        </p:nvSpPr>
        <p:spPr bwMode="auto">
          <a:noFill/>
        </p:spPr>
        <p:txBody>
          <a:bodyPr/>
          <a:lstStyle/>
          <a:p>
            <a:pPr>
              <a:spcBef>
                <a:spcPct val="0"/>
              </a:spcBef>
            </a:pPr>
            <a:r>
              <a:rPr lang="en-US" dirty="0">
                <a:latin typeface="Verdana" charset="0"/>
              </a:rPr>
              <a:t>Joseph </a:t>
            </a:r>
            <a:r>
              <a:rPr lang="en-US" dirty="0" err="1">
                <a:latin typeface="Verdana" charset="0"/>
              </a:rPr>
              <a:t>Mallord</a:t>
            </a:r>
            <a:r>
              <a:rPr lang="en-US" dirty="0">
                <a:latin typeface="Verdana" charset="0"/>
              </a:rPr>
              <a:t> William Turner SNOWSTORM: HANNIBAL AND HIS ARMY</a:t>
            </a:r>
            <a:br>
              <a:rPr lang="en-US" dirty="0">
                <a:latin typeface="Verdana" charset="0"/>
              </a:rPr>
            </a:br>
            <a:r>
              <a:rPr lang="en-US" dirty="0">
                <a:latin typeface="Verdana" charset="0"/>
              </a:rPr>
              <a:t>CROSSING THE ALPS</a:t>
            </a:r>
            <a:br>
              <a:rPr lang="en-US" dirty="0">
                <a:latin typeface="Verdana" charset="0"/>
              </a:rPr>
            </a:br>
            <a:r>
              <a:rPr lang="en-US" dirty="0">
                <a:latin typeface="Verdana" charset="0"/>
              </a:rPr>
              <a:t>1812. Oil on canvas, 4</a:t>
            </a:r>
            <a:r>
              <a:rPr lang="uk-UA" dirty="0">
                <a:latin typeface="Verdana" charset="0"/>
              </a:rPr>
              <a:t>'</a:t>
            </a:r>
            <a:r>
              <a:rPr lang="en-US" dirty="0">
                <a:latin typeface="Verdana" charset="0"/>
              </a:rPr>
              <a:t>9</a:t>
            </a:r>
            <a:r>
              <a:rPr lang="ru-RU" dirty="0">
                <a:latin typeface="Verdana" charset="0"/>
              </a:rPr>
              <a:t>"</a:t>
            </a:r>
            <a:r>
              <a:rPr lang="en-US" dirty="0">
                <a:latin typeface="Verdana" charset="0"/>
              </a:rPr>
              <a:t> × 7</a:t>
            </a:r>
            <a:r>
              <a:rPr lang="uk-UA" dirty="0">
                <a:latin typeface="Verdana" charset="0"/>
              </a:rPr>
              <a:t>'</a:t>
            </a:r>
            <a:r>
              <a:rPr lang="en-US" dirty="0">
                <a:latin typeface="Verdana" charset="0"/>
              </a:rPr>
              <a:t>9</a:t>
            </a:r>
            <a:r>
              <a:rPr lang="ru-RU" dirty="0">
                <a:latin typeface="Verdana" charset="0"/>
              </a:rPr>
              <a:t>"</a:t>
            </a:r>
            <a:r>
              <a:rPr lang="en-US" dirty="0">
                <a:latin typeface="Verdana" charset="0"/>
              </a:rPr>
              <a:t> (1.46 × 2.39 m).</a:t>
            </a:r>
            <a:br>
              <a:rPr lang="en-US" dirty="0">
                <a:latin typeface="Verdana" charset="0"/>
              </a:rPr>
            </a:br>
            <a:r>
              <a:rPr lang="en-US" dirty="0">
                <a:latin typeface="Verdana" charset="0"/>
              </a:rPr>
              <a:t>Tate, London. © </a:t>
            </a:r>
            <a:r>
              <a:rPr lang="en-US" dirty="0" err="1">
                <a:latin typeface="Verdana" charset="0"/>
              </a:rPr>
              <a:t>akg</a:t>
            </a:r>
            <a:r>
              <a:rPr lang="en-US" dirty="0">
                <a:latin typeface="Verdana" charset="0"/>
              </a:rPr>
              <a:t>-images/De Agostini Picture Library.</a:t>
            </a:r>
            <a:endParaRPr lang="en-US" dirty="0"/>
          </a:p>
        </p:txBody>
      </p:sp>
      <p:sp>
        <p:nvSpPr>
          <p:cNvPr id="224259" name="Slide Number Placeholder 3"/>
          <p:cNvSpPr>
            <a:spLocks noGrp="1"/>
          </p:cNvSpPr>
          <p:nvPr>
            <p:ph type="sldNum" sz="quarter" idx="5"/>
          </p:nvPr>
        </p:nvSpPr>
        <p:spPr bwMode="auto">
          <a:noFill/>
          <a:ln>
            <a:miter lim="800000"/>
            <a:headEnd/>
            <a:tailEnd/>
          </a:ln>
        </p:spPr>
        <p:txBody>
          <a:bodyPr/>
          <a:lstStyle/>
          <a:p>
            <a:fld id="{9B0A6898-66E1-9F48-9E03-68A520980BB5}" type="slidenum">
              <a:rPr lang="en-US"/>
              <a:pPr/>
              <a:t>46</a:t>
            </a:fld>
            <a:endParaRPr lang="en-US"/>
          </a:p>
        </p:txBody>
      </p:sp>
    </p:spTree>
    <p:extLst>
      <p:ext uri="{BB962C8B-B14F-4D97-AF65-F5344CB8AC3E}">
        <p14:creationId xmlns:p14="http://schemas.microsoft.com/office/powerpoint/2010/main" val="205116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Slide Image Placeholder 1"/>
          <p:cNvSpPr>
            <a:spLocks noGrp="1" noRot="1" noChangeAspect="1" noTextEdit="1"/>
          </p:cNvSpPr>
          <p:nvPr>
            <p:ph type="sldImg"/>
          </p:nvPr>
        </p:nvSpPr>
        <p:spPr bwMode="auto">
          <a:noFill/>
          <a:ln>
            <a:solidFill>
              <a:srgbClr val="000000"/>
            </a:solidFill>
            <a:miter lim="800000"/>
            <a:headEnd/>
            <a:tailEnd/>
          </a:ln>
        </p:spPr>
      </p:sp>
      <p:sp>
        <p:nvSpPr>
          <p:cNvPr id="227330" name="Notes Placeholder 2"/>
          <p:cNvSpPr>
            <a:spLocks noGrp="1"/>
          </p:cNvSpPr>
          <p:nvPr>
            <p:ph type="body" idx="1"/>
          </p:nvPr>
        </p:nvSpPr>
        <p:spPr bwMode="auto">
          <a:noFill/>
        </p:spPr>
        <p:txBody>
          <a:bodyPr/>
          <a:lstStyle/>
          <a:p>
            <a:pPr>
              <a:spcBef>
                <a:spcPct val="0"/>
              </a:spcBef>
            </a:pPr>
            <a:r>
              <a:rPr lang="en-US" dirty="0"/>
              <a:t>Joseph </a:t>
            </a:r>
            <a:r>
              <a:rPr lang="en-US" dirty="0" err="1"/>
              <a:t>Mallord</a:t>
            </a:r>
            <a:r>
              <a:rPr lang="en-US" dirty="0"/>
              <a:t> William Turner THE BURNING OF THE HOUSES OF LORDS AND COMMONS, 16TH OCTOBER 1834</a:t>
            </a:r>
            <a:br>
              <a:rPr lang="en-US" dirty="0"/>
            </a:br>
            <a:r>
              <a:rPr lang="en-US" dirty="0"/>
              <a:t>Oil on canvas, 36-1/4</a:t>
            </a:r>
            <a:r>
              <a:rPr lang="ru-RU" dirty="0"/>
              <a:t>"</a:t>
            </a:r>
            <a:r>
              <a:rPr lang="en-US" dirty="0"/>
              <a:t> × 48-1/2</a:t>
            </a:r>
            <a:r>
              <a:rPr lang="ru-RU" dirty="0"/>
              <a:t>"</a:t>
            </a:r>
            <a:r>
              <a:rPr lang="en-US" dirty="0"/>
              <a:t> (92.1 × 123.2 cm).</a:t>
            </a:r>
            <a:br>
              <a:rPr lang="en-US" dirty="0"/>
            </a:br>
            <a:r>
              <a:rPr lang="en-US" dirty="0"/>
              <a:t>Philadelphia Museum of Art. The John Howard McFadden Collection, 1928. © 2016. Photo The Philadelphia Museum of Art/Art Resource/Scala, Florence. </a:t>
            </a:r>
          </a:p>
        </p:txBody>
      </p:sp>
      <p:sp>
        <p:nvSpPr>
          <p:cNvPr id="227331" name="Slide Number Placeholder 3"/>
          <p:cNvSpPr>
            <a:spLocks noGrp="1"/>
          </p:cNvSpPr>
          <p:nvPr>
            <p:ph type="sldNum" sz="quarter" idx="5"/>
          </p:nvPr>
        </p:nvSpPr>
        <p:spPr bwMode="auto">
          <a:noFill/>
          <a:ln>
            <a:miter lim="800000"/>
            <a:headEnd/>
            <a:tailEnd/>
          </a:ln>
        </p:spPr>
        <p:txBody>
          <a:bodyPr/>
          <a:lstStyle/>
          <a:p>
            <a:fld id="{16980698-75F8-C741-8829-714A845F25E1}" type="slidenum">
              <a:rPr lang="en-US"/>
              <a:pPr/>
              <a:t>48</a:t>
            </a:fld>
            <a:endParaRPr lang="en-US"/>
          </a:p>
        </p:txBody>
      </p:sp>
    </p:spTree>
    <p:extLst>
      <p:ext uri="{BB962C8B-B14F-4D97-AF65-F5344CB8AC3E}">
        <p14:creationId xmlns:p14="http://schemas.microsoft.com/office/powerpoint/2010/main" val="675812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Slide Image Placeholder 1"/>
          <p:cNvSpPr>
            <a:spLocks noGrp="1" noRot="1" noChangeAspect="1" noTextEdit="1"/>
          </p:cNvSpPr>
          <p:nvPr>
            <p:ph type="sldImg"/>
          </p:nvPr>
        </p:nvSpPr>
        <p:spPr bwMode="auto">
          <a:noFill/>
          <a:ln>
            <a:solidFill>
              <a:srgbClr val="000000"/>
            </a:solidFill>
            <a:miter lim="800000"/>
            <a:headEnd/>
            <a:tailEnd/>
          </a:ln>
        </p:spPr>
      </p:sp>
      <p:sp>
        <p:nvSpPr>
          <p:cNvPr id="230402" name="Notes Placeholder 2"/>
          <p:cNvSpPr>
            <a:spLocks noGrp="1"/>
          </p:cNvSpPr>
          <p:nvPr>
            <p:ph type="body" idx="1"/>
          </p:nvPr>
        </p:nvSpPr>
        <p:spPr bwMode="auto">
          <a:noFill/>
        </p:spPr>
        <p:txBody>
          <a:bodyPr/>
          <a:lstStyle/>
          <a:p>
            <a:pPr>
              <a:spcBef>
                <a:spcPct val="0"/>
              </a:spcBef>
            </a:pPr>
            <a:r>
              <a:rPr lang="en-US" dirty="0"/>
              <a:t>Thomas Cole THE OXBOW</a:t>
            </a:r>
            <a:br>
              <a:rPr lang="en-US" dirty="0"/>
            </a:br>
            <a:r>
              <a:rPr lang="en-US" dirty="0"/>
              <a:t>1836. Oil on canvas, 51-1/2</a:t>
            </a:r>
            <a:r>
              <a:rPr lang="ru-RU" dirty="0"/>
              <a:t>"</a:t>
            </a:r>
            <a:r>
              <a:rPr lang="en-US" dirty="0"/>
              <a:t> × 76</a:t>
            </a:r>
            <a:r>
              <a:rPr lang="ru-RU" dirty="0"/>
              <a:t>"</a:t>
            </a:r>
            <a:r>
              <a:rPr lang="en-US" dirty="0"/>
              <a:t> (1.31 × 1.94 m).</a:t>
            </a:r>
            <a:br>
              <a:rPr lang="en-US" dirty="0"/>
            </a:br>
            <a:r>
              <a:rPr lang="en-US" dirty="0"/>
              <a:t>Metropolitan Museum of Art, New York. Gift of Mrs. Russell Sage, 1908 (08.228).</a:t>
            </a:r>
            <a:br>
              <a:rPr lang="en-US" dirty="0"/>
            </a:br>
            <a:r>
              <a:rPr lang="en-US" dirty="0"/>
              <a:t>© 2016. Image copyright The Metropolitan Museum of Art/Art Resource/Scala, Florence. </a:t>
            </a:r>
          </a:p>
        </p:txBody>
      </p:sp>
      <p:sp>
        <p:nvSpPr>
          <p:cNvPr id="230403" name="Slide Number Placeholder 3"/>
          <p:cNvSpPr>
            <a:spLocks noGrp="1"/>
          </p:cNvSpPr>
          <p:nvPr>
            <p:ph type="sldNum" sz="quarter" idx="5"/>
          </p:nvPr>
        </p:nvSpPr>
        <p:spPr bwMode="auto">
          <a:noFill/>
          <a:ln>
            <a:miter lim="800000"/>
            <a:headEnd/>
            <a:tailEnd/>
          </a:ln>
        </p:spPr>
        <p:txBody>
          <a:bodyPr/>
          <a:lstStyle/>
          <a:p>
            <a:fld id="{9902132E-884A-1C4F-A971-6EDB6223E334}" type="slidenum">
              <a:rPr lang="en-US"/>
              <a:pPr/>
              <a:t>50</a:t>
            </a:fld>
            <a:endParaRPr lang="en-US"/>
          </a:p>
        </p:txBody>
      </p:sp>
    </p:spTree>
    <p:extLst>
      <p:ext uri="{BB962C8B-B14F-4D97-AF65-F5344CB8AC3E}">
        <p14:creationId xmlns:p14="http://schemas.microsoft.com/office/powerpoint/2010/main" val="3377793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Slide Image Placeholder 1"/>
          <p:cNvSpPr>
            <a:spLocks noGrp="1" noRot="1" noChangeAspect="1" noTextEdit="1"/>
          </p:cNvSpPr>
          <p:nvPr>
            <p:ph type="sldImg"/>
          </p:nvPr>
        </p:nvSpPr>
        <p:spPr bwMode="auto">
          <a:noFill/>
          <a:ln>
            <a:solidFill>
              <a:srgbClr val="000000"/>
            </a:solidFill>
            <a:miter lim="800000"/>
            <a:headEnd/>
            <a:tailEnd/>
          </a:ln>
        </p:spPr>
      </p:sp>
      <p:sp>
        <p:nvSpPr>
          <p:cNvPr id="233474" name="Notes Placeholder 2"/>
          <p:cNvSpPr>
            <a:spLocks noGrp="1"/>
          </p:cNvSpPr>
          <p:nvPr>
            <p:ph type="body" idx="1"/>
          </p:nvPr>
        </p:nvSpPr>
        <p:spPr bwMode="auto">
          <a:noFill/>
        </p:spPr>
        <p:txBody>
          <a:bodyPr/>
          <a:lstStyle/>
          <a:p>
            <a:pPr>
              <a:spcBef>
                <a:spcPct val="0"/>
              </a:spcBef>
            </a:pPr>
            <a:r>
              <a:rPr lang="en-US" dirty="0"/>
              <a:t>Caspar David Friedrich ABBEY IN AN OAK FOREST</a:t>
            </a:r>
            <a:br>
              <a:rPr lang="en-US" dirty="0"/>
            </a:br>
            <a:r>
              <a:rPr lang="en-US" dirty="0"/>
              <a:t>1809–1810. Oil on canvas, 44</a:t>
            </a:r>
            <a:r>
              <a:rPr lang="ru-RU" dirty="0"/>
              <a:t>"</a:t>
            </a:r>
            <a:r>
              <a:rPr lang="en-US" dirty="0"/>
              <a:t> × 68-1/2</a:t>
            </a:r>
            <a:r>
              <a:rPr lang="ru-RU" dirty="0"/>
              <a:t>"</a:t>
            </a:r>
            <a:r>
              <a:rPr lang="en-US" dirty="0"/>
              <a:t> (111.8 × 174 cm).</a:t>
            </a:r>
            <a:br>
              <a:rPr lang="en-US" dirty="0"/>
            </a:br>
            <a:r>
              <a:rPr lang="en-US" dirty="0" err="1"/>
              <a:t>Nationalgalerie</a:t>
            </a:r>
            <a:r>
              <a:rPr lang="en-US" dirty="0"/>
              <a:t>, Berlin. ©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Photo: Joerg P. Anders. </a:t>
            </a:r>
          </a:p>
        </p:txBody>
      </p:sp>
      <p:sp>
        <p:nvSpPr>
          <p:cNvPr id="233475" name="Slide Number Placeholder 3"/>
          <p:cNvSpPr>
            <a:spLocks noGrp="1"/>
          </p:cNvSpPr>
          <p:nvPr>
            <p:ph type="sldNum" sz="quarter" idx="5"/>
          </p:nvPr>
        </p:nvSpPr>
        <p:spPr bwMode="auto">
          <a:noFill/>
          <a:ln>
            <a:miter lim="800000"/>
            <a:headEnd/>
            <a:tailEnd/>
          </a:ln>
        </p:spPr>
        <p:txBody>
          <a:bodyPr/>
          <a:lstStyle/>
          <a:p>
            <a:fld id="{D89C6E2E-EF50-9840-9A22-12002CC2CC63}" type="slidenum">
              <a:rPr lang="en-US"/>
              <a:pPr/>
              <a:t>52</a:t>
            </a:fld>
            <a:endParaRPr lang="en-US"/>
          </a:p>
        </p:txBody>
      </p:sp>
    </p:spTree>
    <p:extLst>
      <p:ext uri="{BB962C8B-B14F-4D97-AF65-F5344CB8AC3E}">
        <p14:creationId xmlns:p14="http://schemas.microsoft.com/office/powerpoint/2010/main" val="1257853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Slide Image Placeholder 1"/>
          <p:cNvSpPr>
            <a:spLocks noGrp="1" noRot="1" noChangeAspect="1" noTextEdit="1"/>
          </p:cNvSpPr>
          <p:nvPr>
            <p:ph type="sldImg"/>
          </p:nvPr>
        </p:nvSpPr>
        <p:spPr bwMode="auto">
          <a:noFill/>
          <a:ln>
            <a:solidFill>
              <a:srgbClr val="000000"/>
            </a:solidFill>
            <a:miter lim="800000"/>
            <a:headEnd/>
            <a:tailEnd/>
          </a:ln>
        </p:spPr>
      </p:sp>
      <p:sp>
        <p:nvSpPr>
          <p:cNvPr id="237570" name="Notes Placeholder 2"/>
          <p:cNvSpPr>
            <a:spLocks noGrp="1"/>
          </p:cNvSpPr>
          <p:nvPr>
            <p:ph type="body" idx="1"/>
          </p:nvPr>
        </p:nvSpPr>
        <p:spPr bwMode="auto">
          <a:noFill/>
        </p:spPr>
        <p:txBody>
          <a:bodyPr/>
          <a:lstStyle/>
          <a:p>
            <a:pPr>
              <a:spcBef>
                <a:spcPct val="0"/>
              </a:spcBef>
            </a:pPr>
            <a:r>
              <a:rPr lang="en-US" dirty="0"/>
              <a:t>Charles Barry and Augustus </a:t>
            </a:r>
            <a:r>
              <a:rPr lang="en-US" dirty="0" err="1"/>
              <a:t>Welby</a:t>
            </a:r>
            <a:r>
              <a:rPr lang="en-US" dirty="0"/>
              <a:t> </a:t>
            </a:r>
            <a:r>
              <a:rPr lang="en-US" dirty="0" err="1"/>
              <a:t>Northmore</a:t>
            </a:r>
            <a:r>
              <a:rPr lang="en-US" dirty="0"/>
              <a:t> Pugin HOUSES OF PARLIAMENT, LONDON</a:t>
            </a:r>
            <a:br>
              <a:rPr lang="en-US" dirty="0"/>
            </a:br>
            <a:r>
              <a:rPr lang="en-US" dirty="0"/>
              <a:t>1836–1860. Royal Commission on the Historical Monuments of England, London. </a:t>
            </a:r>
            <a:br>
              <a:rPr lang="en-US" dirty="0"/>
            </a:br>
            <a:r>
              <a:rPr lang="en-US" dirty="0"/>
              <a:t>© </a:t>
            </a:r>
            <a:r>
              <a:rPr lang="en-US" dirty="0" err="1"/>
              <a:t>S.Borisov</a:t>
            </a:r>
            <a:r>
              <a:rPr lang="en-US" dirty="0"/>
              <a:t>/Shutterstock.</a:t>
            </a:r>
          </a:p>
        </p:txBody>
      </p:sp>
      <p:sp>
        <p:nvSpPr>
          <p:cNvPr id="237571" name="Slide Number Placeholder 3"/>
          <p:cNvSpPr>
            <a:spLocks noGrp="1"/>
          </p:cNvSpPr>
          <p:nvPr>
            <p:ph type="sldNum" sz="quarter" idx="5"/>
          </p:nvPr>
        </p:nvSpPr>
        <p:spPr bwMode="auto">
          <a:noFill/>
          <a:ln>
            <a:miter lim="800000"/>
            <a:headEnd/>
            <a:tailEnd/>
          </a:ln>
        </p:spPr>
        <p:txBody>
          <a:bodyPr/>
          <a:lstStyle/>
          <a:p>
            <a:fld id="{3B6FE8B8-7330-274B-93F6-119502FF6062}" type="slidenum">
              <a:rPr lang="en-US"/>
              <a:pPr/>
              <a:t>55</a:t>
            </a:fld>
            <a:endParaRPr lang="en-US"/>
          </a:p>
        </p:txBody>
      </p:sp>
    </p:spTree>
    <p:extLst>
      <p:ext uri="{BB962C8B-B14F-4D97-AF65-F5344CB8AC3E}">
        <p14:creationId xmlns:p14="http://schemas.microsoft.com/office/powerpoint/2010/main" val="9073751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Slide Image Placeholder 1"/>
          <p:cNvSpPr>
            <a:spLocks noGrp="1" noRot="1" noChangeAspect="1" noTextEdit="1"/>
          </p:cNvSpPr>
          <p:nvPr>
            <p:ph type="sldImg"/>
          </p:nvPr>
        </p:nvSpPr>
        <p:spPr bwMode="auto">
          <a:noFill/>
          <a:ln>
            <a:solidFill>
              <a:srgbClr val="000000"/>
            </a:solidFill>
            <a:miter lim="800000"/>
            <a:headEnd/>
            <a:tailEnd/>
          </a:ln>
        </p:spPr>
      </p:sp>
      <p:sp>
        <p:nvSpPr>
          <p:cNvPr id="240642" name="Notes Placeholder 2"/>
          <p:cNvSpPr>
            <a:spLocks noGrp="1"/>
          </p:cNvSpPr>
          <p:nvPr>
            <p:ph type="body" idx="1"/>
          </p:nvPr>
        </p:nvSpPr>
        <p:spPr bwMode="auto">
          <a:noFill/>
        </p:spPr>
        <p:txBody>
          <a:bodyPr/>
          <a:lstStyle/>
          <a:p>
            <a:pPr>
              <a:spcBef>
                <a:spcPct val="0"/>
              </a:spcBef>
            </a:pPr>
            <a:r>
              <a:rPr lang="en-US" dirty="0"/>
              <a:t>Richard Upjohn TRINITY CHURCH, NEW YORK CITY</a:t>
            </a:r>
            <a:br>
              <a:rPr lang="en-US" dirty="0"/>
            </a:br>
            <a:r>
              <a:rPr lang="en-US" dirty="0"/>
              <a:t>1839–1846.</a:t>
            </a:r>
            <a:br>
              <a:rPr lang="en-US" dirty="0"/>
            </a:br>
            <a:r>
              <a:rPr lang="en-US" dirty="0"/>
              <a:t>Leo Sorel Photography.</a:t>
            </a:r>
          </a:p>
        </p:txBody>
      </p:sp>
      <p:sp>
        <p:nvSpPr>
          <p:cNvPr id="240643" name="Slide Number Placeholder 3"/>
          <p:cNvSpPr>
            <a:spLocks noGrp="1"/>
          </p:cNvSpPr>
          <p:nvPr>
            <p:ph type="sldNum" sz="quarter" idx="5"/>
          </p:nvPr>
        </p:nvSpPr>
        <p:spPr bwMode="auto">
          <a:noFill/>
          <a:ln>
            <a:miter lim="800000"/>
            <a:headEnd/>
            <a:tailEnd/>
          </a:ln>
        </p:spPr>
        <p:txBody>
          <a:bodyPr/>
          <a:lstStyle/>
          <a:p>
            <a:fld id="{319E9885-C424-3940-BF8E-CAEE01539553}" type="slidenum">
              <a:rPr lang="en-US"/>
              <a:pPr/>
              <a:t>57</a:t>
            </a:fld>
            <a:endParaRPr lang="en-US"/>
          </a:p>
        </p:txBody>
      </p:sp>
    </p:spTree>
    <p:extLst>
      <p:ext uri="{BB962C8B-B14F-4D97-AF65-F5344CB8AC3E}">
        <p14:creationId xmlns:p14="http://schemas.microsoft.com/office/powerpoint/2010/main" val="972919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Slide Image Placeholder 1"/>
          <p:cNvSpPr>
            <a:spLocks noGrp="1" noRot="1" noChangeAspect="1" noTextEdit="1"/>
          </p:cNvSpPr>
          <p:nvPr>
            <p:ph type="sldImg"/>
          </p:nvPr>
        </p:nvSpPr>
        <p:spPr bwMode="auto">
          <a:noFill/>
          <a:ln>
            <a:solidFill>
              <a:srgbClr val="000000"/>
            </a:solidFill>
            <a:miter lim="800000"/>
            <a:headEnd/>
            <a:tailEnd/>
          </a:ln>
        </p:spPr>
      </p:sp>
      <p:sp>
        <p:nvSpPr>
          <p:cNvPr id="243714" name="Notes Placeholder 2"/>
          <p:cNvSpPr>
            <a:spLocks noGrp="1"/>
          </p:cNvSpPr>
          <p:nvPr>
            <p:ph type="body" idx="1"/>
          </p:nvPr>
        </p:nvSpPr>
        <p:spPr bwMode="auto">
          <a:noFill/>
        </p:spPr>
        <p:txBody>
          <a:bodyPr/>
          <a:lstStyle/>
          <a:p>
            <a:pPr>
              <a:spcBef>
                <a:spcPct val="0"/>
              </a:spcBef>
            </a:pPr>
            <a:r>
              <a:rPr lang="en-US" dirty="0"/>
              <a:t>Karl Friedrich Schinkel ALTES MUSEUM, BERLIN</a:t>
            </a:r>
            <a:br>
              <a:rPr lang="en-US" dirty="0"/>
            </a:br>
            <a:r>
              <a:rPr lang="en-US" dirty="0"/>
              <a:t>1822–1830.</a:t>
            </a:r>
            <a:br>
              <a:rPr lang="en-US" dirty="0"/>
            </a:br>
            <a:r>
              <a:rPr lang="en-US" dirty="0"/>
              <a:t>©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Photo: Volker-H Schneider</a:t>
            </a:r>
          </a:p>
        </p:txBody>
      </p:sp>
      <p:sp>
        <p:nvSpPr>
          <p:cNvPr id="243715" name="Slide Number Placeholder 3"/>
          <p:cNvSpPr>
            <a:spLocks noGrp="1"/>
          </p:cNvSpPr>
          <p:nvPr>
            <p:ph type="sldNum" sz="quarter" idx="5"/>
          </p:nvPr>
        </p:nvSpPr>
        <p:spPr bwMode="auto">
          <a:noFill/>
          <a:ln>
            <a:miter lim="800000"/>
            <a:headEnd/>
            <a:tailEnd/>
          </a:ln>
        </p:spPr>
        <p:txBody>
          <a:bodyPr/>
          <a:lstStyle/>
          <a:p>
            <a:fld id="{D2B70D16-D28E-E844-BDBE-E6E55D4D9C8D}" type="slidenum">
              <a:rPr lang="en-US"/>
              <a:pPr/>
              <a:t>59</a:t>
            </a:fld>
            <a:endParaRPr lang="en-US"/>
          </a:p>
        </p:txBody>
      </p:sp>
    </p:spTree>
    <p:extLst>
      <p:ext uri="{BB962C8B-B14F-4D97-AF65-F5344CB8AC3E}">
        <p14:creationId xmlns:p14="http://schemas.microsoft.com/office/powerpoint/2010/main" val="9253803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Slide Image Placeholder 1"/>
          <p:cNvSpPr>
            <a:spLocks noGrp="1" noRot="1" noChangeAspect="1" noTextEdit="1"/>
          </p:cNvSpPr>
          <p:nvPr>
            <p:ph type="sldImg"/>
          </p:nvPr>
        </p:nvSpPr>
        <p:spPr bwMode="auto">
          <a:noFill/>
          <a:ln>
            <a:solidFill>
              <a:srgbClr val="000000"/>
            </a:solidFill>
            <a:miter lim="800000"/>
            <a:headEnd/>
            <a:tailEnd/>
          </a:ln>
        </p:spPr>
      </p:sp>
      <p:sp>
        <p:nvSpPr>
          <p:cNvPr id="246786" name="Notes Placeholder 2"/>
          <p:cNvSpPr>
            <a:spLocks noGrp="1"/>
          </p:cNvSpPr>
          <p:nvPr>
            <p:ph type="body" idx="1"/>
          </p:nvPr>
        </p:nvSpPr>
        <p:spPr bwMode="auto">
          <a:noFill/>
        </p:spPr>
        <p:txBody>
          <a:bodyPr/>
          <a:lstStyle/>
          <a:p>
            <a:pPr>
              <a:spcBef>
                <a:spcPct val="0"/>
              </a:spcBef>
            </a:pPr>
            <a:r>
              <a:rPr lang="en-US" dirty="0"/>
              <a:t>Benjamin Henry Latrobe U.S. CAPITOL, WASHINGTON, DC</a:t>
            </a:r>
            <a:br>
              <a:rPr lang="en-US" dirty="0"/>
            </a:br>
            <a:r>
              <a:rPr lang="en-US" dirty="0"/>
              <a:t>c. 1808. Engraving by T. Sutherland, 1825.</a:t>
            </a:r>
            <a:br>
              <a:rPr lang="en-US" dirty="0"/>
            </a:br>
            <a:r>
              <a:rPr lang="en-US" dirty="0"/>
              <a:t>Library of Congress, Prints and Photographs </a:t>
            </a:r>
            <a:r>
              <a:rPr lang="en-US" dirty="0" err="1"/>
              <a:t>Division,Washington</a:t>
            </a:r>
            <a:r>
              <a:rPr lang="en-US" dirty="0"/>
              <a:t> D.C. </a:t>
            </a:r>
            <a:br>
              <a:rPr lang="en-US" dirty="0"/>
            </a:br>
            <a:r>
              <a:rPr lang="en-US" dirty="0"/>
              <a:t>Courtesy the Library of Congress. </a:t>
            </a:r>
          </a:p>
        </p:txBody>
      </p:sp>
      <p:sp>
        <p:nvSpPr>
          <p:cNvPr id="246787" name="Slide Number Placeholder 3"/>
          <p:cNvSpPr>
            <a:spLocks noGrp="1"/>
          </p:cNvSpPr>
          <p:nvPr>
            <p:ph type="sldNum" sz="quarter" idx="5"/>
          </p:nvPr>
        </p:nvSpPr>
        <p:spPr bwMode="auto">
          <a:noFill/>
          <a:ln>
            <a:miter lim="800000"/>
            <a:headEnd/>
            <a:tailEnd/>
          </a:ln>
        </p:spPr>
        <p:txBody>
          <a:bodyPr/>
          <a:lstStyle/>
          <a:p>
            <a:fld id="{7AE6A84B-4145-9F4F-B7D7-F3BAAFF6D09D}" type="slidenum">
              <a:rPr lang="en-US"/>
              <a:pPr/>
              <a:t>61</a:t>
            </a:fld>
            <a:endParaRPr lang="en-US"/>
          </a:p>
        </p:txBody>
      </p:sp>
    </p:spTree>
    <p:extLst>
      <p:ext uri="{BB962C8B-B14F-4D97-AF65-F5344CB8AC3E}">
        <p14:creationId xmlns:p14="http://schemas.microsoft.com/office/powerpoint/2010/main" val="7901977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Slide Image Placeholder 1"/>
          <p:cNvSpPr>
            <a:spLocks noGrp="1" noRot="1" noChangeAspect="1" noTextEdit="1"/>
          </p:cNvSpPr>
          <p:nvPr>
            <p:ph type="sldImg"/>
          </p:nvPr>
        </p:nvSpPr>
        <p:spPr bwMode="auto">
          <a:noFill/>
          <a:ln>
            <a:solidFill>
              <a:srgbClr val="000000"/>
            </a:solidFill>
            <a:miter lim="800000"/>
            <a:headEnd/>
            <a:tailEnd/>
          </a:ln>
        </p:spPr>
      </p:sp>
      <p:sp>
        <p:nvSpPr>
          <p:cNvPr id="249858" name="Notes Placeholder 2"/>
          <p:cNvSpPr>
            <a:spLocks noGrp="1"/>
          </p:cNvSpPr>
          <p:nvPr>
            <p:ph type="body" idx="1"/>
          </p:nvPr>
        </p:nvSpPr>
        <p:spPr bwMode="auto">
          <a:noFill/>
        </p:spPr>
        <p:txBody>
          <a:bodyPr/>
          <a:lstStyle/>
          <a:p>
            <a:pPr>
              <a:spcBef>
                <a:spcPct val="0"/>
              </a:spcBef>
            </a:pPr>
            <a:r>
              <a:rPr lang="en-US" dirty="0"/>
              <a:t>Thomas Jefferson MONTICELLO</a:t>
            </a:r>
            <a:br>
              <a:rPr lang="en-US" dirty="0"/>
            </a:br>
            <a:r>
              <a:rPr lang="en-US" dirty="0"/>
              <a:t>Charlottesville, Virginia. 1769–1782, 1796–1809.</a:t>
            </a:r>
            <a:br>
              <a:rPr lang="en-US" dirty="0"/>
            </a:br>
            <a:r>
              <a:rPr lang="en-US" dirty="0"/>
              <a:t>© </a:t>
            </a:r>
            <a:r>
              <a:rPr lang="en-US" dirty="0" err="1"/>
              <a:t>Ffooter</a:t>
            </a:r>
            <a:r>
              <a:rPr lang="en-US" dirty="0"/>
              <a:t>/Shutterstock.</a:t>
            </a:r>
          </a:p>
        </p:txBody>
      </p:sp>
      <p:sp>
        <p:nvSpPr>
          <p:cNvPr id="249859" name="Slide Number Placeholder 3"/>
          <p:cNvSpPr>
            <a:spLocks noGrp="1"/>
          </p:cNvSpPr>
          <p:nvPr>
            <p:ph type="sldNum" sz="quarter" idx="5"/>
          </p:nvPr>
        </p:nvSpPr>
        <p:spPr bwMode="auto">
          <a:noFill/>
          <a:ln>
            <a:miter lim="800000"/>
            <a:headEnd/>
            <a:tailEnd/>
          </a:ln>
        </p:spPr>
        <p:txBody>
          <a:bodyPr/>
          <a:lstStyle/>
          <a:p>
            <a:fld id="{13CE2EBF-1C9C-4D44-8F03-F1F074195BC3}" type="slidenum">
              <a:rPr lang="en-US"/>
              <a:pPr/>
              <a:t>63</a:t>
            </a:fld>
            <a:endParaRPr lang="en-US"/>
          </a:p>
        </p:txBody>
      </p:sp>
    </p:spTree>
    <p:extLst>
      <p:ext uri="{BB962C8B-B14F-4D97-AF65-F5344CB8AC3E}">
        <p14:creationId xmlns:p14="http://schemas.microsoft.com/office/powerpoint/2010/main" val="814778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6/22/2020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6/22/2020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6/22/2020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6/22/2020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6/22/2020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7C4B8-E91F-3246-9B9A-12380F6A5EAB}"/>
              </a:ext>
            </a:extLst>
          </p:cNvPr>
          <p:cNvSpPr>
            <a:spLocks noGrp="1"/>
          </p:cNvSpPr>
          <p:nvPr>
            <p:ph type="ctrTitle"/>
          </p:nvPr>
        </p:nvSpPr>
        <p:spPr/>
        <p:txBody>
          <a:bodyPr/>
          <a:lstStyle/>
          <a:p>
            <a:r>
              <a:rPr lang="en-US" dirty="0"/>
              <a:t>Chapter 24</a:t>
            </a:r>
          </a:p>
        </p:txBody>
      </p:sp>
      <p:sp>
        <p:nvSpPr>
          <p:cNvPr id="3" name="Subtitle 2">
            <a:extLst>
              <a:ext uri="{FF2B5EF4-FFF2-40B4-BE49-F238E27FC236}">
                <a16:creationId xmlns:a16="http://schemas.microsoft.com/office/drawing/2014/main" id="{D68F5EF6-E767-8C46-81C1-2372E4793E37}"/>
              </a:ext>
            </a:extLst>
          </p:cNvPr>
          <p:cNvSpPr>
            <a:spLocks noGrp="1"/>
          </p:cNvSpPr>
          <p:nvPr>
            <p:ph type="subTitle" idx="1"/>
          </p:nvPr>
        </p:nvSpPr>
        <p:spPr/>
        <p:txBody>
          <a:bodyPr/>
          <a:lstStyle/>
          <a:p>
            <a:r>
              <a:rPr lang="en-US"/>
              <a:t>Art in the Age of Romanticism, 1789–1848</a:t>
            </a:r>
            <a:endParaRPr lang="en-US" dirty="0"/>
          </a:p>
        </p:txBody>
      </p:sp>
    </p:spTree>
    <p:extLst>
      <p:ext uri="{BB962C8B-B14F-4D97-AF65-F5344CB8AC3E}">
        <p14:creationId xmlns:p14="http://schemas.microsoft.com/office/powerpoint/2010/main" val="4221425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Trace the impact of the French Revolution and Napoleonic Wars on art and architecture in the first half of the nineteenth century.</a:t>
            </a:r>
          </a:p>
          <a:p>
            <a:pPr marL="457200" lvl="0" indent="-457200" fontAlgn="base">
              <a:buFont typeface="+mj-lt"/>
              <a:buAutoNum type="arabicPeriod"/>
            </a:pPr>
            <a:r>
              <a:rPr lang="en-US" dirty="0"/>
              <a:t>Discuss how the dramatic increase of nationalism was a function of Romantic fervor and the influence it had on art.</a:t>
            </a:r>
          </a:p>
          <a:p>
            <a:pPr marL="457200" lvl="0" indent="-457200" fontAlgn="base">
              <a:buFont typeface="+mj-lt"/>
              <a:buAutoNum type="arabicPeriod"/>
            </a:pPr>
            <a:r>
              <a:rPr lang="en-US" dirty="0"/>
              <a:t>Discuss the new attitude toward nature that became dominant toward 1800 and the different ways that landscape was used in art to project Romantic emotion.</a:t>
            </a:r>
          </a:p>
          <a:p>
            <a:pPr marL="457200" lvl="0" indent="-457200" fontAlgn="base">
              <a:buFont typeface="+mj-lt"/>
              <a:buAutoNum type="arabicPeriod"/>
            </a:pPr>
            <a:r>
              <a:rPr lang="en-US" dirty="0"/>
              <a:t>Explain why Romantic Art is not a style and instead is an attitude that can be expressed in different styles.</a:t>
            </a:r>
          </a:p>
          <a:p>
            <a:pPr marL="457200" lvl="0" indent="-457200" fontAlgn="base">
              <a:buFont typeface="+mj-lt"/>
              <a:buAutoNum type="arabicPeriod"/>
            </a:pPr>
            <a:r>
              <a:rPr lang="en-US" dirty="0"/>
              <a:t>Describe the range of emotions and exotic themes that appealed to the Romantic imagination.</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13"/>
          <p:cNvSpPr>
            <a:spLocks noGrp="1"/>
          </p:cNvSpPr>
          <p:nvPr>
            <p:ph type="title"/>
          </p:nvPr>
        </p:nvSpPr>
        <p:spPr/>
        <p:txBody>
          <a:bodyPr/>
          <a:lstStyle/>
          <a:p>
            <a:r>
              <a:rPr lang="en-US"/>
              <a:t>Spain and Spanish America</a:t>
            </a:r>
          </a:p>
        </p:txBody>
      </p:sp>
      <p:sp>
        <p:nvSpPr>
          <p:cNvPr id="158722" name="Content Placeholder 14"/>
          <p:cNvSpPr>
            <a:spLocks noGrp="1"/>
          </p:cNvSpPr>
          <p:nvPr>
            <p:ph idx="1"/>
          </p:nvPr>
        </p:nvSpPr>
        <p:spPr/>
        <p:txBody>
          <a:bodyPr/>
          <a:lstStyle/>
          <a:p>
            <a:r>
              <a:rPr lang="en-US"/>
              <a:t>Spanish artists did not embrace Neoclassicism with as much enthusiasm as the Baroque style.</a:t>
            </a:r>
          </a:p>
          <a:p>
            <a:r>
              <a:rPr lang="en-US"/>
              <a:t>Court painter Francisco Goya shaped art at the end of the eighteenth century.</a:t>
            </a:r>
          </a:p>
          <a:p>
            <a:r>
              <a:rPr lang="en-US"/>
              <a:t>Colonial art and architecture intermingled Spanish Baroque with the traditions of native peoples.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Title 13"/>
          <p:cNvSpPr>
            <a:spLocks noGrp="1"/>
          </p:cNvSpPr>
          <p:nvPr>
            <p:ph type="title"/>
          </p:nvPr>
        </p:nvSpPr>
        <p:spPr/>
        <p:txBody>
          <a:bodyPr/>
          <a:lstStyle/>
          <a:p>
            <a:r>
              <a:rPr lang="en-US"/>
              <a:t>Goya (1 of 3)</a:t>
            </a:r>
          </a:p>
        </p:txBody>
      </p:sp>
      <p:sp>
        <p:nvSpPr>
          <p:cNvPr id="159746" name="Content Placeholder 14"/>
          <p:cNvSpPr>
            <a:spLocks noGrp="1"/>
          </p:cNvSpPr>
          <p:nvPr>
            <p:ph idx="1"/>
          </p:nvPr>
        </p:nvSpPr>
        <p:spPr/>
        <p:txBody>
          <a:bodyPr/>
          <a:lstStyle/>
          <a:p>
            <a:r>
              <a:rPr lang="en-US"/>
              <a:t>Francisco Goya (1746–1828) published a series of 80 etchings called </a:t>
            </a:r>
            <a:r>
              <a:rPr lang="en-US" i="1"/>
              <a:t>Los Caprichos </a:t>
            </a:r>
            <a:r>
              <a:rPr lang="en-US"/>
              <a:t>that included </a:t>
            </a:r>
            <a:r>
              <a:rPr lang="en-US" i="1"/>
              <a:t>The Sleep of Reason Produces Monsters</a:t>
            </a:r>
            <a:r>
              <a:rPr lang="en-US"/>
              <a:t>.</a:t>
            </a:r>
          </a:p>
          <a:p>
            <a:pPr lvl="1"/>
            <a:r>
              <a:rPr lang="en-US"/>
              <a:t>The images are an attack on contemporary Spanish morals.</a:t>
            </a:r>
          </a:p>
          <a:p>
            <a:pPr lvl="1"/>
            <a:r>
              <a:rPr lang="en-US"/>
              <a:t>Goya had to present the original metal plates to the king to insist that the images were not intentionally critical of the monarchy.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3"/>
          <p:cNvSpPr>
            <a:spLocks noGrp="1"/>
          </p:cNvSpPr>
          <p:nvPr>
            <p:ph type="title"/>
          </p:nvPr>
        </p:nvSpPr>
        <p:spPr/>
        <p:txBody>
          <a:bodyPr>
            <a:normAutofit fontScale="90000"/>
          </a:bodyPr>
          <a:lstStyle/>
          <a:p>
            <a:r>
              <a:rPr lang="en-US" dirty="0"/>
              <a:t>Francisco Goya THE SLEEP OF REASON PRODUCES MONSTERS</a:t>
            </a:r>
            <a:br>
              <a:rPr lang="en-US" dirty="0"/>
            </a:br>
            <a:r>
              <a:rPr lang="en-US" dirty="0"/>
              <a:t>No. 43 from </a:t>
            </a:r>
            <a:r>
              <a:rPr lang="en-US" i="1" dirty="0"/>
              <a:t>Los </a:t>
            </a:r>
            <a:r>
              <a:rPr lang="en-US" i="1" dirty="0" err="1"/>
              <a:t>Caprichos</a:t>
            </a:r>
            <a:r>
              <a:rPr lang="en-US" i="1" dirty="0"/>
              <a:t> (The Caprices)</a:t>
            </a:r>
            <a:r>
              <a:rPr lang="en-US" dirty="0"/>
              <a:t>. 1796–1798; published 1799. Etching and aquatint, 8-1/2</a:t>
            </a:r>
            <a:r>
              <a:rPr lang="ru-RU" dirty="0"/>
              <a:t>"</a:t>
            </a:r>
            <a:r>
              <a:rPr lang="en-US" dirty="0"/>
              <a:t> × 6</a:t>
            </a:r>
            <a:r>
              <a:rPr lang="ru-RU" dirty="0"/>
              <a:t>"</a:t>
            </a:r>
            <a:r>
              <a:rPr lang="en-US" dirty="0"/>
              <a:t> (21.6 × 15.2 cm). Yale University Art Gallery. Bequest of Ralph Kirkpatrick, Hon. M.A. 1965 (1984.54.92.43). Image courtesy Yale University Art Gallery. </a:t>
            </a:r>
          </a:p>
        </p:txBody>
      </p:sp>
      <p:pic>
        <p:nvPicPr>
          <p:cNvPr id="2" name="Picture 1" descr="Reason, depicted as a young gentleman in a fine suit, is seated at his desk, sleeping with his head on his folded arms. The painting’s title appears on the side of the desk, in a hue only slightly lighter than the background, making it easy to mis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13"/>
          <p:cNvSpPr>
            <a:spLocks noGrp="1"/>
          </p:cNvSpPr>
          <p:nvPr>
            <p:ph type="title"/>
          </p:nvPr>
        </p:nvSpPr>
        <p:spPr/>
        <p:txBody>
          <a:bodyPr/>
          <a:lstStyle/>
          <a:p>
            <a:r>
              <a:rPr lang="en-US"/>
              <a:t>Goya (2 of 3)</a:t>
            </a:r>
          </a:p>
        </p:txBody>
      </p:sp>
      <p:sp>
        <p:nvSpPr>
          <p:cNvPr id="162818" name="Content Placeholder 14"/>
          <p:cNvSpPr>
            <a:spLocks noGrp="1"/>
          </p:cNvSpPr>
          <p:nvPr>
            <p:ph idx="1"/>
          </p:nvPr>
        </p:nvSpPr>
        <p:spPr/>
        <p:txBody>
          <a:bodyPr/>
          <a:lstStyle/>
          <a:p>
            <a:r>
              <a:rPr lang="en-US"/>
              <a:t>The portrait of the </a:t>
            </a:r>
            <a:r>
              <a:rPr lang="en-US" i="1"/>
              <a:t>Family of Charles IV</a:t>
            </a:r>
            <a:r>
              <a:rPr lang="en-US"/>
              <a:t> reveals Goya</a:t>
            </a:r>
            <a:r>
              <a:rPr lang="uk-UA"/>
              <a:t>'</a:t>
            </a:r>
            <a:r>
              <a:rPr lang="en-US"/>
              <a:t>s desire for a more open Spain despite his allegiance to the king.</a:t>
            </a:r>
          </a:p>
          <a:p>
            <a:pPr lvl="1"/>
            <a:r>
              <a:rPr lang="en-US"/>
              <a:t>It was painted to resemble Velásquez</a:t>
            </a:r>
            <a:r>
              <a:rPr lang="uk-UA"/>
              <a:t>'</a:t>
            </a:r>
            <a:r>
              <a:rPr lang="en-US"/>
              <a:t>s </a:t>
            </a:r>
            <a:r>
              <a:rPr lang="en-US" i="1"/>
              <a:t>Las Meninas</a:t>
            </a:r>
            <a:r>
              <a:rPr lang="en-US"/>
              <a:t>, but the figures seem bored and plain rather than regal.</a:t>
            </a:r>
          </a:p>
          <a:p>
            <a:pPr lvl="1"/>
            <a:r>
              <a:rPr lang="en-US"/>
              <a:t>Despite this, the royal family was satisfied with the depiction.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Title 3"/>
          <p:cNvSpPr>
            <a:spLocks noGrp="1"/>
          </p:cNvSpPr>
          <p:nvPr>
            <p:ph type="title"/>
          </p:nvPr>
        </p:nvSpPr>
        <p:spPr/>
        <p:txBody>
          <a:bodyPr>
            <a:normAutofit fontScale="90000"/>
          </a:bodyPr>
          <a:lstStyle/>
          <a:p>
            <a:r>
              <a:rPr lang="en-US" dirty="0"/>
              <a:t>Francisco Goya FAMILY OF CHARLES IV</a:t>
            </a:r>
            <a:br>
              <a:rPr lang="en-US" dirty="0"/>
            </a:br>
            <a:r>
              <a:rPr lang="en-US" dirty="0"/>
              <a:t>1800. Oil on canvas, 9</a:t>
            </a:r>
            <a:r>
              <a:rPr lang="uk-UA" dirty="0"/>
              <a:t>'</a:t>
            </a:r>
            <a:r>
              <a:rPr lang="en-US" dirty="0"/>
              <a:t>2</a:t>
            </a:r>
            <a:r>
              <a:rPr lang="ru-RU" dirty="0"/>
              <a:t>"</a:t>
            </a:r>
            <a:r>
              <a:rPr lang="en-US" dirty="0"/>
              <a:t> × 11</a:t>
            </a:r>
            <a:r>
              <a:rPr lang="uk-UA" dirty="0"/>
              <a:t>'</a:t>
            </a:r>
            <a:r>
              <a:rPr lang="en-US" dirty="0"/>
              <a:t> (2.79 × 3.36 m).</a:t>
            </a:r>
            <a:br>
              <a:rPr lang="en-US" dirty="0"/>
            </a:br>
            <a:r>
              <a:rPr lang="en-US" dirty="0"/>
              <a:t>Museo del Prado, Madrid. © 2016. Image copyright Museo Nacional del Prado. © Photo MNP/Photo Scala, Florence. </a:t>
            </a:r>
          </a:p>
        </p:txBody>
      </p:sp>
      <p:pic>
        <p:nvPicPr>
          <p:cNvPr id="2" name="Picture 1" descr="The Spanish king and his family pose in a gallery of paintings. The family seems largely disinterested in the process. The artists appears in the painting, but in shadow to one side and, paradoxically, behind the people he has painte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13"/>
          <p:cNvSpPr>
            <a:spLocks noGrp="1"/>
          </p:cNvSpPr>
          <p:nvPr>
            <p:ph type="title"/>
          </p:nvPr>
        </p:nvSpPr>
        <p:spPr/>
        <p:txBody>
          <a:bodyPr/>
          <a:lstStyle/>
          <a:p>
            <a:r>
              <a:rPr lang="en-US"/>
              <a:t>Goya (3 of 3)</a:t>
            </a:r>
          </a:p>
        </p:txBody>
      </p:sp>
      <p:sp>
        <p:nvSpPr>
          <p:cNvPr id="165890" name="Content Placeholder 14"/>
          <p:cNvSpPr>
            <a:spLocks noGrp="1"/>
          </p:cNvSpPr>
          <p:nvPr>
            <p:ph idx="1"/>
          </p:nvPr>
        </p:nvSpPr>
        <p:spPr/>
        <p:txBody>
          <a:bodyPr/>
          <a:lstStyle/>
          <a:p>
            <a:r>
              <a:rPr lang="en-US" i="1"/>
              <a:t>The Third of May, 1808 </a:t>
            </a:r>
            <a:r>
              <a:rPr lang="en-US"/>
              <a:t>depicts the murder of hundreds of Spanish with its victims in blind terror.</a:t>
            </a:r>
          </a:p>
          <a:p>
            <a:pPr lvl="1"/>
            <a:r>
              <a:rPr lang="en-US"/>
              <a:t>The sensational event, loose brushwork, lifelike poses, unbalanced composition, and dramatic lighting reflect Romanticism.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3"/>
          <p:cNvSpPr>
            <a:spLocks noGrp="1"/>
          </p:cNvSpPr>
          <p:nvPr>
            <p:ph type="title"/>
          </p:nvPr>
        </p:nvSpPr>
        <p:spPr/>
        <p:txBody>
          <a:bodyPr>
            <a:normAutofit fontScale="90000"/>
          </a:bodyPr>
          <a:lstStyle/>
          <a:p>
            <a:r>
              <a:rPr lang="en-US" dirty="0"/>
              <a:t>Francisco Goya THIRD OF MAY, 1808</a:t>
            </a:r>
            <a:br>
              <a:rPr lang="en-US" dirty="0"/>
            </a:br>
            <a:r>
              <a:rPr lang="en-US" dirty="0"/>
              <a:t>1814–1815. Oil on canvas, 8</a:t>
            </a:r>
            <a:r>
              <a:rPr lang="uk-UA" dirty="0"/>
              <a:t>'</a:t>
            </a:r>
            <a:r>
              <a:rPr lang="en-US" dirty="0"/>
              <a:t>9</a:t>
            </a:r>
            <a:r>
              <a:rPr lang="ru-RU" dirty="0"/>
              <a:t>"</a:t>
            </a:r>
            <a:r>
              <a:rPr lang="en-US" dirty="0"/>
              <a:t> × 13</a:t>
            </a:r>
            <a:r>
              <a:rPr lang="uk-UA" dirty="0"/>
              <a:t>'</a:t>
            </a:r>
            <a:r>
              <a:rPr lang="en-US" dirty="0"/>
              <a:t>4</a:t>
            </a:r>
            <a:r>
              <a:rPr lang="ru-RU" dirty="0"/>
              <a:t>"</a:t>
            </a:r>
            <a:r>
              <a:rPr lang="en-US" dirty="0"/>
              <a:t> (2.67 × 4.06 m).</a:t>
            </a:r>
            <a:br>
              <a:rPr lang="en-US" dirty="0"/>
            </a:br>
            <a:r>
              <a:rPr lang="en-US" dirty="0"/>
              <a:t>Museo del Prado, Madrid. © 2016. Image copyright Museo Nacional del Prado. © Photo MNP/Scala, Florence. </a:t>
            </a:r>
          </a:p>
        </p:txBody>
      </p:sp>
      <p:pic>
        <p:nvPicPr>
          <p:cNvPr id="2" name="Picture 1" descr="Prisoners are lined up in front of an earthen mound outside a village at night to be executed by firing squad. A cluster of the prisoners stands spotlighted, between the bloodied corpses of those already shot, and those who will be lined up nex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13"/>
          <p:cNvSpPr>
            <a:spLocks noGrp="1"/>
          </p:cNvSpPr>
          <p:nvPr>
            <p:ph type="title"/>
          </p:nvPr>
        </p:nvSpPr>
        <p:spPr/>
        <p:txBody>
          <a:bodyPr/>
          <a:lstStyle/>
          <a:p>
            <a:r>
              <a:rPr lang="en-US"/>
              <a:t>The Art of the Americas Under Spain</a:t>
            </a:r>
            <a:br>
              <a:rPr lang="en-US"/>
            </a:br>
            <a:r>
              <a:rPr lang="en-US"/>
              <a:t>(1 of 3)</a:t>
            </a:r>
          </a:p>
        </p:txBody>
      </p:sp>
      <p:sp>
        <p:nvSpPr>
          <p:cNvPr id="168962" name="Content Placeholder 14"/>
          <p:cNvSpPr>
            <a:spLocks noGrp="1"/>
          </p:cNvSpPr>
          <p:nvPr>
            <p:ph idx="1"/>
          </p:nvPr>
        </p:nvSpPr>
        <p:spPr/>
        <p:txBody>
          <a:bodyPr/>
          <a:lstStyle/>
          <a:p>
            <a:r>
              <a:rPr lang="en-US"/>
              <a:t>After the forced conversion of native peoples to Roman Catholicism, Christian iconography mixed with indigenous symbols.</a:t>
            </a:r>
          </a:p>
          <a:p>
            <a:r>
              <a:rPr lang="en-US"/>
              <a:t>Atrial crosses, such as the one in Mexico City, weaved the images from illustrated Bibles with representations of sacrificial blood and the tree of life, symbols common in indigenous 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Title 3"/>
          <p:cNvSpPr>
            <a:spLocks noGrp="1"/>
          </p:cNvSpPr>
          <p:nvPr>
            <p:ph type="title"/>
          </p:nvPr>
        </p:nvSpPr>
        <p:spPr/>
        <p:txBody>
          <a:bodyPr>
            <a:normAutofit fontScale="90000"/>
          </a:bodyPr>
          <a:lstStyle/>
          <a:p>
            <a:r>
              <a:rPr lang="en-US" dirty="0"/>
              <a:t>ATRIAL CROSS</a:t>
            </a:r>
            <a:br>
              <a:rPr lang="en-US" dirty="0"/>
            </a:br>
            <a:r>
              <a:rPr lang="en-US" dirty="0"/>
              <a:t>Before 1556. Stone, height 11</a:t>
            </a:r>
            <a:r>
              <a:rPr lang="uk-UA" dirty="0"/>
              <a:t>'</a:t>
            </a:r>
            <a:r>
              <a:rPr lang="en-US" dirty="0"/>
              <a:t>3</a:t>
            </a:r>
            <a:r>
              <a:rPr lang="ru-RU" dirty="0"/>
              <a:t>"</a:t>
            </a:r>
            <a:r>
              <a:rPr lang="en-US" dirty="0"/>
              <a:t> (3.45 m).</a:t>
            </a:r>
            <a:br>
              <a:rPr lang="en-US" dirty="0"/>
            </a:br>
            <a:r>
              <a:rPr lang="en-US" dirty="0"/>
              <a:t>Chapel of the Indians, Basilica of Guadalupe, Mexico City. © Jamie Lara</a:t>
            </a:r>
          </a:p>
        </p:txBody>
      </p:sp>
      <p:pic>
        <p:nvPicPr>
          <p:cNvPr id="2" name="Picture 1" descr="Christ’s body is not concretely depicted on this cross; his head appears in the proper place, as do the nails and rosettes of blood bursting out from them, but the areas between are carved with other decorative forms, both animal and botanica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13"/>
          <p:cNvSpPr>
            <a:spLocks noGrp="1"/>
          </p:cNvSpPr>
          <p:nvPr>
            <p:ph type="title"/>
          </p:nvPr>
        </p:nvSpPr>
        <p:spPr/>
        <p:txBody>
          <a:bodyPr/>
          <a:lstStyle/>
          <a:p>
            <a:r>
              <a:rPr lang="en-US"/>
              <a:t>The Art of the Americas Under Spain</a:t>
            </a:r>
            <a:br>
              <a:rPr lang="en-US"/>
            </a:br>
            <a:r>
              <a:rPr lang="en-US"/>
              <a:t>(2 of 3)</a:t>
            </a:r>
          </a:p>
        </p:txBody>
      </p:sp>
      <p:sp>
        <p:nvSpPr>
          <p:cNvPr id="172034" name="Content Placeholder 14"/>
          <p:cNvSpPr>
            <a:spLocks noGrp="1"/>
          </p:cNvSpPr>
          <p:nvPr>
            <p:ph idx="1"/>
          </p:nvPr>
        </p:nvSpPr>
        <p:spPr/>
        <p:txBody>
          <a:bodyPr/>
          <a:lstStyle/>
          <a:p>
            <a:r>
              <a:rPr lang="en-US"/>
              <a:t>In 1754, Pope Benedict XIV declared the Virgin of Guadalupe to be the patron saint of the Americas.</a:t>
            </a:r>
          </a:p>
          <a:p>
            <a:pPr lvl="1"/>
            <a:r>
              <a:rPr lang="en-US"/>
              <a:t>Guadalupe was the location where a Mexican peasant named Juan Diego claimed the Virgin Mary visited him to tell him to build a church on a particular hill.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Title 3"/>
          <p:cNvSpPr>
            <a:spLocks noGrp="1"/>
          </p:cNvSpPr>
          <p:nvPr>
            <p:ph type="title"/>
          </p:nvPr>
        </p:nvSpPr>
        <p:spPr/>
        <p:txBody>
          <a:bodyPr>
            <a:normAutofit fontScale="90000"/>
          </a:bodyPr>
          <a:lstStyle/>
          <a:p>
            <a:r>
              <a:rPr lang="en-US" dirty="0"/>
              <a:t>Sebastian Salcedo VIRGIN OF GUADALUPE</a:t>
            </a:r>
            <a:br>
              <a:rPr lang="en-US" dirty="0"/>
            </a:br>
            <a:r>
              <a:rPr lang="en-US" dirty="0"/>
              <a:t>1779. Oil on panel and copper, 25</a:t>
            </a:r>
            <a:r>
              <a:rPr lang="ru-RU" dirty="0"/>
              <a:t>"</a:t>
            </a:r>
            <a:r>
              <a:rPr lang="en-US" dirty="0"/>
              <a:t> × 19</a:t>
            </a:r>
            <a:r>
              <a:rPr lang="ru-RU" dirty="0"/>
              <a:t>"</a:t>
            </a:r>
            <a:r>
              <a:rPr lang="en-US" dirty="0"/>
              <a:t> (63.5 × 48.3 cm).</a:t>
            </a:r>
            <a:br>
              <a:rPr lang="en-US" dirty="0"/>
            </a:br>
            <a:r>
              <a:rPr lang="en-US" dirty="0"/>
              <a:t>Denver Art Museum. Funds contributed by Mr. and Mrs. George G. Anderman and an anonymous donor (1976.56). </a:t>
            </a:r>
          </a:p>
        </p:txBody>
      </p:sp>
      <p:pic>
        <p:nvPicPr>
          <p:cNvPr id="2" name="Picture 1" descr="Winged putti accompany the saints and prophets who hover above and around the central figure of Mary, offering their crowns to her. Ribbons inscribed with names and prayers hang around the framed scenes surrounding Mar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Title 13"/>
          <p:cNvSpPr>
            <a:spLocks noGrp="1"/>
          </p:cNvSpPr>
          <p:nvPr>
            <p:ph type="title"/>
          </p:nvPr>
        </p:nvSpPr>
        <p:spPr/>
        <p:txBody>
          <a:bodyPr/>
          <a:lstStyle/>
          <a:p>
            <a:r>
              <a:rPr lang="en-US"/>
              <a:t>The Art of the Americas Under Spain</a:t>
            </a:r>
            <a:br>
              <a:rPr lang="en-US"/>
            </a:br>
            <a:r>
              <a:rPr lang="en-US"/>
              <a:t>(3 of 3)</a:t>
            </a:r>
          </a:p>
        </p:txBody>
      </p:sp>
      <p:sp>
        <p:nvSpPr>
          <p:cNvPr id="175106" name="Content Placeholder 14"/>
          <p:cNvSpPr>
            <a:spLocks noGrp="1"/>
          </p:cNvSpPr>
          <p:nvPr>
            <p:ph idx="1"/>
          </p:nvPr>
        </p:nvSpPr>
        <p:spPr/>
        <p:txBody>
          <a:bodyPr/>
          <a:lstStyle/>
          <a:p>
            <a:r>
              <a:rPr lang="en-US"/>
              <a:t>Spanish architecture found its way to missionaries such as the Mission San Xavier del Bac near Tuscon, Arizona.</a:t>
            </a:r>
          </a:p>
          <a:p>
            <a:pPr lvl="1"/>
            <a:r>
              <a:rPr lang="en-US"/>
              <a:t>The people of the Pima nation prepared the site, which was built upon by Velderrain in 1776.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Title 3"/>
          <p:cNvSpPr>
            <a:spLocks noGrp="1"/>
          </p:cNvSpPr>
          <p:nvPr>
            <p:ph type="title"/>
          </p:nvPr>
        </p:nvSpPr>
        <p:spPr/>
        <p:txBody>
          <a:bodyPr>
            <a:normAutofit fontScale="90000"/>
          </a:bodyPr>
          <a:lstStyle/>
          <a:p>
            <a:r>
              <a:rPr lang="en-US" dirty="0"/>
              <a:t>MISSION SAN XAVIER DEL BAC</a:t>
            </a:r>
            <a:br>
              <a:rPr lang="en-US" dirty="0"/>
            </a:br>
            <a:r>
              <a:rPr lang="en-US" dirty="0"/>
              <a:t>Near Tucson, Arizona. 1784–1797.</a:t>
            </a:r>
            <a:br>
              <a:rPr lang="en-US" dirty="0"/>
            </a:br>
            <a:r>
              <a:rPr lang="en-US" dirty="0"/>
              <a:t>Paul Moore/</a:t>
            </a:r>
            <a:r>
              <a:rPr lang="en-US" dirty="0" err="1"/>
              <a:t>Fotolia</a:t>
            </a:r>
            <a:r>
              <a:rPr lang="en-US" dirty="0"/>
              <a:t>.</a:t>
            </a:r>
          </a:p>
        </p:txBody>
      </p:sp>
      <p:pic>
        <p:nvPicPr>
          <p:cNvPr id="2" name="Picture 1" descr="Several types of spiny cacti grow in a small garden in front of the mission. The mission’s central façade is a tan color, similar to sandstone and the soil in the arid environment, while the surrounding walls and towers are bright whit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609600"/>
            <a:ext cx="8107680" cy="5031232"/>
          </a:xfrm>
          <a:prstGeom prst="rect">
            <a:avLst/>
          </a:prstGeom>
        </p:spPr>
      </p:pic>
    </p:spTree>
  </p:cSld>
  <p:clrMapOvr>
    <a:masterClrMapping/>
  </p:clrMapOvr>
  <p:transition spd="slow"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13"/>
          <p:cNvSpPr>
            <a:spLocks noGrp="1"/>
          </p:cNvSpPr>
          <p:nvPr>
            <p:ph type="title"/>
          </p:nvPr>
        </p:nvSpPr>
        <p:spPr/>
        <p:txBody>
          <a:bodyPr/>
          <a:lstStyle/>
          <a:p>
            <a:r>
              <a:rPr lang="en-US" sz="3000"/>
              <a:t>The Development of Neoclassicism and Romanticism into the Nineteenth Century</a:t>
            </a:r>
          </a:p>
        </p:txBody>
      </p:sp>
      <p:sp>
        <p:nvSpPr>
          <p:cNvPr id="178178" name="Content Placeholder 14"/>
          <p:cNvSpPr>
            <a:spLocks noGrp="1"/>
          </p:cNvSpPr>
          <p:nvPr>
            <p:ph idx="1"/>
          </p:nvPr>
        </p:nvSpPr>
        <p:spPr/>
        <p:txBody>
          <a:bodyPr/>
          <a:lstStyle/>
          <a:p>
            <a:r>
              <a:rPr lang="en-US"/>
              <a:t>Neoclassicism and Romanticism  existed side by side in European and American art.</a:t>
            </a:r>
          </a:p>
          <a:p>
            <a:r>
              <a:rPr lang="en-US"/>
              <a:t>Romanticism took a variety of forms with the common thread of emotional expressiveness.</a:t>
            </a:r>
          </a:p>
          <a:p>
            <a:pPr lvl="1"/>
            <a:r>
              <a:rPr lang="en-US"/>
              <a:t>Subject matter was dramatic and took cues from literature, current events, nature, or the artist</a:t>
            </a:r>
            <a:r>
              <a:rPr lang="uk-UA"/>
              <a:t>'</a:t>
            </a:r>
            <a:r>
              <a:rPr lang="en-US"/>
              <a:t>s imagination.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Title 13"/>
          <p:cNvSpPr>
            <a:spLocks noGrp="1"/>
          </p:cNvSpPr>
          <p:nvPr>
            <p:ph type="title"/>
          </p:nvPr>
        </p:nvSpPr>
        <p:spPr/>
        <p:txBody>
          <a:bodyPr/>
          <a:lstStyle/>
          <a:p>
            <a:r>
              <a:rPr lang="en-US"/>
              <a:t>Developments in France (1 of 10)</a:t>
            </a:r>
          </a:p>
        </p:txBody>
      </p:sp>
      <p:sp>
        <p:nvSpPr>
          <p:cNvPr id="179202" name="Content Placeholder 14"/>
          <p:cNvSpPr>
            <a:spLocks noGrp="1"/>
          </p:cNvSpPr>
          <p:nvPr>
            <p:ph idx="1"/>
          </p:nvPr>
        </p:nvSpPr>
        <p:spPr/>
        <p:txBody>
          <a:bodyPr/>
          <a:lstStyle/>
          <a:p>
            <a:r>
              <a:rPr lang="en-US"/>
              <a:t>Paris attracted students due to the École des Beaux-Arts as well as private instruction from </a:t>
            </a:r>
            <a:r>
              <a:rPr lang="en-US" b="1"/>
              <a:t>ateliers</a:t>
            </a:r>
            <a:r>
              <a:rPr lang="en-US"/>
              <a:t>.</a:t>
            </a:r>
          </a:p>
          <a:p>
            <a:r>
              <a:rPr lang="en-US"/>
              <a:t>There was a divide between </a:t>
            </a:r>
            <a:r>
              <a:rPr lang="en-US" i="1"/>
              <a:t>poussinistes</a:t>
            </a:r>
            <a:r>
              <a:rPr lang="en-US"/>
              <a:t> and </a:t>
            </a:r>
            <a:r>
              <a:rPr lang="en-US" i="1"/>
              <a:t>rubénistes</a:t>
            </a:r>
            <a:r>
              <a:rPr lang="en-US"/>
              <a:t> as to whether line or color was more important in art.</a:t>
            </a:r>
          </a:p>
          <a:p>
            <a:pPr lvl="1"/>
            <a:r>
              <a:rPr lang="en-US"/>
              <a:t>The value of the preliminary sketch, </a:t>
            </a:r>
            <a:r>
              <a:rPr lang="en-US" b="1"/>
              <a:t>esquisse</a:t>
            </a:r>
            <a:r>
              <a:rPr lang="en-US"/>
              <a:t>, was hotly debated.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Title 13"/>
          <p:cNvSpPr>
            <a:spLocks noGrp="1"/>
          </p:cNvSpPr>
          <p:nvPr>
            <p:ph type="title"/>
          </p:nvPr>
        </p:nvSpPr>
        <p:spPr/>
        <p:txBody>
          <a:bodyPr/>
          <a:lstStyle/>
          <a:p>
            <a:r>
              <a:rPr lang="en-US"/>
              <a:t>Developments in France (2 of 10)</a:t>
            </a:r>
          </a:p>
        </p:txBody>
      </p:sp>
      <p:sp>
        <p:nvSpPr>
          <p:cNvPr id="180226" name="Content Placeholder 14"/>
          <p:cNvSpPr>
            <a:spLocks noGrp="1"/>
          </p:cNvSpPr>
          <p:nvPr>
            <p:ph idx="1"/>
          </p:nvPr>
        </p:nvSpPr>
        <p:spPr/>
        <p:txBody>
          <a:bodyPr/>
          <a:lstStyle/>
          <a:p>
            <a:r>
              <a:rPr lang="en-US"/>
              <a:t>The Grand Manner Paintings of David and Gros</a:t>
            </a:r>
          </a:p>
          <a:p>
            <a:pPr lvl="1"/>
            <a:r>
              <a:rPr lang="en-US"/>
              <a:t>Four years before Napoleon became emperor, David painted </a:t>
            </a:r>
            <a:r>
              <a:rPr lang="en-US" i="1"/>
              <a:t>Napoleon Crossing the Saint-Bernard</a:t>
            </a:r>
            <a:r>
              <a:rPr lang="en-US"/>
              <a:t>, an idealized vision of the emperor leading his troops across the Alps.</a:t>
            </a:r>
          </a:p>
          <a:p>
            <a:pPr lvl="2"/>
            <a:r>
              <a:rPr lang="en-US"/>
              <a:t>Neoclassical delineation of forms meets the diagonals and flowing draperies of the Baroque Grand Manner.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Title 3"/>
          <p:cNvSpPr>
            <a:spLocks noGrp="1"/>
          </p:cNvSpPr>
          <p:nvPr>
            <p:ph type="title"/>
          </p:nvPr>
        </p:nvSpPr>
        <p:spPr/>
        <p:txBody>
          <a:bodyPr>
            <a:normAutofit fontScale="90000"/>
          </a:bodyPr>
          <a:lstStyle/>
          <a:p>
            <a:r>
              <a:rPr lang="en-US" dirty="0"/>
              <a:t>Jacques-Louis David NAPOLEON CROSSING THE SAINT-BERNARD</a:t>
            </a:r>
            <a:br>
              <a:rPr lang="en-US" dirty="0"/>
            </a:br>
            <a:r>
              <a:rPr lang="en-US" dirty="0"/>
              <a:t>1800–1801. Oil on canvas, 8</a:t>
            </a:r>
            <a:r>
              <a:rPr lang="uk-UA" dirty="0"/>
              <a:t>'</a:t>
            </a:r>
            <a:r>
              <a:rPr lang="en-US" dirty="0"/>
              <a:t>11</a:t>
            </a:r>
            <a:r>
              <a:rPr lang="ru-RU" dirty="0"/>
              <a:t>"</a:t>
            </a:r>
            <a:r>
              <a:rPr lang="en-US" dirty="0"/>
              <a:t> × 7</a:t>
            </a:r>
            <a:r>
              <a:rPr lang="uk-UA" dirty="0"/>
              <a:t>'</a:t>
            </a:r>
            <a:r>
              <a:rPr lang="en-US" dirty="0"/>
              <a:t>7</a:t>
            </a:r>
            <a:r>
              <a:rPr lang="ru-RU" dirty="0"/>
              <a:t>"</a:t>
            </a:r>
            <a:r>
              <a:rPr lang="en-US" dirty="0"/>
              <a:t> (2.7 × 2.3 m).</a:t>
            </a:r>
            <a:br>
              <a:rPr lang="en-US" dirty="0"/>
            </a:br>
            <a:r>
              <a:rPr lang="en-US" dirty="0"/>
              <a:t>Versailles, Châteaux de Versailles et de Trianon. Photo © RMN-Grand Palais (Château de Versailles)/Franck </a:t>
            </a:r>
            <a:r>
              <a:rPr lang="en-US" dirty="0" err="1"/>
              <a:t>Raux</a:t>
            </a:r>
            <a:r>
              <a:rPr lang="en-US" dirty="0"/>
              <a:t>. </a:t>
            </a:r>
          </a:p>
        </p:txBody>
      </p:sp>
      <p:pic>
        <p:nvPicPr>
          <p:cNvPr id="2" name="Picture 1" descr="Napoleon and his horse dominate the foreground, at the horse rearing on its hind hooves at the edge of a drop into a ravine. The new emperor looks at the viewer, but points up the mountains to the left, and to the dark gray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Title 13"/>
          <p:cNvSpPr>
            <a:spLocks noGrp="1"/>
          </p:cNvSpPr>
          <p:nvPr>
            <p:ph type="title"/>
          </p:nvPr>
        </p:nvSpPr>
        <p:spPr/>
        <p:txBody>
          <a:bodyPr/>
          <a:lstStyle/>
          <a:p>
            <a:r>
              <a:rPr lang="en-US"/>
              <a:t>Developments in France (3 of 10)</a:t>
            </a:r>
          </a:p>
        </p:txBody>
      </p:sp>
      <p:sp>
        <p:nvSpPr>
          <p:cNvPr id="183298" name="Content Placeholder 14"/>
          <p:cNvSpPr>
            <a:spLocks noGrp="1"/>
          </p:cNvSpPr>
          <p:nvPr>
            <p:ph idx="1"/>
          </p:nvPr>
        </p:nvSpPr>
        <p:spPr/>
        <p:txBody>
          <a:bodyPr/>
          <a:lstStyle/>
          <a:p>
            <a:r>
              <a:rPr lang="en-US"/>
              <a:t>The Grand Manner Paintings of David and Gros</a:t>
            </a:r>
          </a:p>
          <a:p>
            <a:pPr lvl="1"/>
            <a:r>
              <a:rPr lang="en-US"/>
              <a:t>Antoine-Jean Gros worked in David</a:t>
            </a:r>
            <a:r>
              <a:rPr lang="uk-UA"/>
              <a:t>'</a:t>
            </a:r>
            <a:r>
              <a:rPr lang="en-US"/>
              <a:t>s studio and eventually gained commissions from Napoleon as well.</a:t>
            </a:r>
          </a:p>
          <a:p>
            <a:pPr lvl="2"/>
            <a:r>
              <a:rPr lang="en-US" i="1"/>
              <a:t>Napoleon in the Plague House at Jaffa </a:t>
            </a:r>
            <a:r>
              <a:rPr lang="en-US"/>
              <a:t>represents an actual event in the Grand Manner.</a:t>
            </a:r>
          </a:p>
          <a:p>
            <a:pPr lvl="2"/>
            <a:r>
              <a:rPr lang="en-US"/>
              <a:t>The scene is meant to incite veneration of Napoleon specifically.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Title 3"/>
          <p:cNvSpPr>
            <a:spLocks noGrp="1"/>
          </p:cNvSpPr>
          <p:nvPr>
            <p:ph type="title"/>
          </p:nvPr>
        </p:nvSpPr>
        <p:spPr/>
        <p:txBody>
          <a:bodyPr>
            <a:normAutofit fontScale="90000"/>
          </a:bodyPr>
          <a:lstStyle/>
          <a:p>
            <a:r>
              <a:rPr lang="en-US" dirty="0"/>
              <a:t>Antoine-Jean Gros NAPOLEON IN THE PLAGUE HOUSE AT JAFFA</a:t>
            </a:r>
            <a:br>
              <a:rPr lang="en-US" dirty="0"/>
            </a:br>
            <a:r>
              <a:rPr lang="en-US" dirty="0"/>
              <a:t>1804. Oil on canvas, 17</a:t>
            </a:r>
            <a:r>
              <a:rPr lang="uk-UA" dirty="0"/>
              <a:t>'</a:t>
            </a:r>
            <a:r>
              <a:rPr lang="en-US" dirty="0"/>
              <a:t>5</a:t>
            </a:r>
            <a:r>
              <a:rPr lang="ru-RU" dirty="0"/>
              <a:t>"</a:t>
            </a:r>
            <a:r>
              <a:rPr lang="en-US" dirty="0"/>
              <a:t> × 23</a:t>
            </a:r>
            <a:r>
              <a:rPr lang="uk-UA" dirty="0"/>
              <a:t>'</a:t>
            </a:r>
            <a:r>
              <a:rPr lang="en-US" dirty="0"/>
              <a:t>7</a:t>
            </a:r>
            <a:r>
              <a:rPr lang="ru-RU" dirty="0"/>
              <a:t>"</a:t>
            </a:r>
            <a:r>
              <a:rPr lang="en-US" dirty="0"/>
              <a:t> (5.32 × 7.2 m).</a:t>
            </a:r>
            <a:br>
              <a:rPr lang="en-US" dirty="0"/>
            </a:br>
            <a:r>
              <a:rPr lang="en-US" dirty="0" err="1"/>
              <a:t>Musée</a:t>
            </a:r>
            <a:r>
              <a:rPr lang="en-US" dirty="0"/>
              <a:t> du Louvre, Paris. Photo © RMN-Grand Palais (</a:t>
            </a:r>
            <a:r>
              <a:rPr lang="en-US" dirty="0" err="1"/>
              <a:t>musée</a:t>
            </a:r>
            <a:r>
              <a:rPr lang="en-US" dirty="0"/>
              <a:t> du Louvre)/Thierry Le Mage. </a:t>
            </a:r>
          </a:p>
        </p:txBody>
      </p:sp>
      <p:pic>
        <p:nvPicPr>
          <p:cNvPr id="2" name="Picture 1" descr="The sick and dying line the foreground, in the peristyle around a mosque courtyard. Half the people are in shadow that makes their pallor seem more extreme, but Napoleon stands in rays of sunlight that fall from a cloudy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itle 13"/>
          <p:cNvSpPr>
            <a:spLocks noGrp="1"/>
          </p:cNvSpPr>
          <p:nvPr>
            <p:ph type="title"/>
          </p:nvPr>
        </p:nvSpPr>
        <p:spPr/>
        <p:txBody>
          <a:bodyPr/>
          <a:lstStyle/>
          <a:p>
            <a:r>
              <a:rPr lang="en-US"/>
              <a:t>Developments in France (4 of 10)</a:t>
            </a:r>
          </a:p>
        </p:txBody>
      </p:sp>
      <p:sp>
        <p:nvSpPr>
          <p:cNvPr id="186370" name="Content Placeholder 14"/>
          <p:cNvSpPr>
            <a:spLocks noGrp="1"/>
          </p:cNvSpPr>
          <p:nvPr>
            <p:ph idx="1"/>
          </p:nvPr>
        </p:nvSpPr>
        <p:spPr/>
        <p:txBody>
          <a:bodyPr/>
          <a:lstStyle/>
          <a:p>
            <a:r>
              <a:rPr lang="en-US"/>
              <a:t>Géricault</a:t>
            </a:r>
          </a:p>
          <a:p>
            <a:pPr lvl="1"/>
            <a:r>
              <a:rPr lang="en-US"/>
              <a:t>Théodore Géricault</a:t>
            </a:r>
            <a:r>
              <a:rPr lang="uk-UA"/>
              <a:t>'</a:t>
            </a:r>
            <a:r>
              <a:rPr lang="en-US"/>
              <a:t>s brief career was launched by the scandalous painting of the </a:t>
            </a:r>
            <a:r>
              <a:rPr lang="ru-RU"/>
              <a:t>"</a:t>
            </a:r>
            <a:r>
              <a:rPr lang="en-US" i="1"/>
              <a:t>Medusa</a:t>
            </a:r>
            <a:r>
              <a:rPr lang="ru-RU"/>
              <a:t>"</a:t>
            </a:r>
            <a:r>
              <a:rPr lang="en-US"/>
              <a:t> shipwreck.</a:t>
            </a:r>
          </a:p>
          <a:p>
            <a:pPr lvl="2"/>
            <a:r>
              <a:rPr lang="en-US"/>
              <a:t>Critics and royalists interpreted the painting as a political jibe at the king.</a:t>
            </a:r>
          </a:p>
          <a:p>
            <a:pPr lvl="2"/>
            <a:r>
              <a:rPr lang="en-US"/>
              <a:t>A debate was sparked about the point at which a work crosses the line between art and political advocacy.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Title 13"/>
          <p:cNvSpPr>
            <a:spLocks noGrp="1"/>
          </p:cNvSpPr>
          <p:nvPr>
            <p:ph type="title"/>
          </p:nvPr>
        </p:nvSpPr>
        <p:spPr/>
        <p:txBody>
          <a:bodyPr/>
          <a:lstStyle/>
          <a:p>
            <a:r>
              <a:rPr lang="en-US"/>
              <a:t>Developments in France (5 of 10)</a:t>
            </a:r>
          </a:p>
        </p:txBody>
      </p:sp>
      <p:sp>
        <p:nvSpPr>
          <p:cNvPr id="187394" name="Content Placeholder 14"/>
          <p:cNvSpPr>
            <a:spLocks noGrp="1"/>
          </p:cNvSpPr>
          <p:nvPr>
            <p:ph idx="1"/>
          </p:nvPr>
        </p:nvSpPr>
        <p:spPr/>
        <p:txBody>
          <a:bodyPr/>
          <a:lstStyle/>
          <a:p>
            <a:r>
              <a:rPr lang="en-US"/>
              <a:t>Géricault </a:t>
            </a:r>
          </a:p>
          <a:p>
            <a:pPr lvl="1"/>
            <a:r>
              <a:rPr lang="en-US"/>
              <a:t>Géricault painted a dramatic representation of the shipwreck of the </a:t>
            </a:r>
            <a:r>
              <a:rPr lang="en-US" i="1"/>
              <a:t>Medusa</a:t>
            </a:r>
            <a:r>
              <a:rPr lang="en-US"/>
              <a:t>.</a:t>
            </a:r>
          </a:p>
          <a:p>
            <a:pPr lvl="2"/>
            <a:r>
              <a:rPr lang="en-US"/>
              <a:t>In reality, 15 passengers survived by eating human flesh; Géricault paints the moment when their rescue ship is spotted.</a:t>
            </a:r>
          </a:p>
          <a:p>
            <a:pPr lvl="2"/>
            <a:r>
              <a:rPr lang="en-US"/>
              <a:t>Struggle of humanity against the elements is a greater theme of the work.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Title 3"/>
          <p:cNvSpPr>
            <a:spLocks noGrp="1"/>
          </p:cNvSpPr>
          <p:nvPr>
            <p:ph type="title"/>
          </p:nvPr>
        </p:nvSpPr>
        <p:spPr/>
        <p:txBody>
          <a:bodyPr>
            <a:normAutofit fontScale="90000"/>
          </a:bodyPr>
          <a:lstStyle/>
          <a:p>
            <a:r>
              <a:rPr lang="en-US" dirty="0"/>
              <a:t>Théodore </a:t>
            </a:r>
            <a:r>
              <a:rPr lang="en-US" dirty="0" err="1"/>
              <a:t>Géricault</a:t>
            </a:r>
            <a:r>
              <a:rPr lang="en-US" dirty="0"/>
              <a:t> THE RAFT OF THE MEDUSA</a:t>
            </a:r>
            <a:br>
              <a:rPr lang="en-US" dirty="0"/>
            </a:br>
            <a:r>
              <a:rPr lang="en-US" dirty="0"/>
              <a:t>1818–1819. Oil on canvas, 16</a:t>
            </a:r>
            <a:r>
              <a:rPr lang="uk-UA" dirty="0"/>
              <a:t>'</a:t>
            </a:r>
            <a:r>
              <a:rPr lang="en-US" dirty="0"/>
              <a:t>1</a:t>
            </a:r>
            <a:r>
              <a:rPr lang="ru-RU" dirty="0"/>
              <a:t>"</a:t>
            </a:r>
            <a:r>
              <a:rPr lang="en-US" dirty="0"/>
              <a:t> × 23</a:t>
            </a:r>
            <a:r>
              <a:rPr lang="uk-UA" dirty="0"/>
              <a:t>'</a:t>
            </a:r>
            <a:r>
              <a:rPr lang="en-US" dirty="0"/>
              <a:t>6</a:t>
            </a:r>
            <a:r>
              <a:rPr lang="ru-RU" dirty="0"/>
              <a:t>"</a:t>
            </a:r>
            <a:r>
              <a:rPr lang="en-US" dirty="0"/>
              <a:t> (4.9 × 7.16 m).</a:t>
            </a:r>
            <a:br>
              <a:rPr lang="en-US" dirty="0"/>
            </a:br>
            <a:r>
              <a:rPr lang="en-US" dirty="0" err="1"/>
              <a:t>Musée</a:t>
            </a:r>
            <a:r>
              <a:rPr lang="en-US" dirty="0"/>
              <a:t> du Louvre, Paris. © </a:t>
            </a:r>
            <a:r>
              <a:rPr lang="en-US" dirty="0" err="1"/>
              <a:t>akg</a:t>
            </a:r>
            <a:r>
              <a:rPr lang="en-US" dirty="0"/>
              <a:t>-images/Erich Lessing.</a:t>
            </a:r>
          </a:p>
        </p:txBody>
      </p:sp>
      <p:pic>
        <p:nvPicPr>
          <p:cNvPr id="2" name="Picture 1" descr="A few weakened survivors of a shipwreck cling to a large, poorly made raft, littered with debris and the bodies of their dead companions. An African man stands atop a barrel, despite the incoming waves, trying to signal a distant ship."/>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Title 3"/>
          <p:cNvSpPr>
            <a:spLocks noGrp="1"/>
          </p:cNvSpPr>
          <p:nvPr>
            <p:ph type="title"/>
          </p:nvPr>
        </p:nvSpPr>
        <p:spPr/>
        <p:txBody>
          <a:bodyPr>
            <a:normAutofit fontScale="90000"/>
          </a:bodyPr>
          <a:lstStyle/>
          <a:p>
            <a:r>
              <a:rPr lang="en-US" dirty="0"/>
              <a:t>Théodore </a:t>
            </a:r>
            <a:r>
              <a:rPr lang="en-US" dirty="0" err="1"/>
              <a:t>Géricault</a:t>
            </a:r>
            <a:r>
              <a:rPr lang="en-US" dirty="0"/>
              <a:t> THE SIGHTING OF THE ARGUS</a:t>
            </a:r>
            <a:br>
              <a:rPr lang="en-US" dirty="0"/>
            </a:br>
            <a:r>
              <a:rPr lang="en-US" dirty="0"/>
              <a:t>1818. Pen and ink on paper, 13-3/4</a:t>
            </a:r>
            <a:r>
              <a:rPr lang="ru-RU" dirty="0"/>
              <a:t>"</a:t>
            </a:r>
            <a:r>
              <a:rPr lang="en-US" dirty="0"/>
              <a:t> × 16-1/8</a:t>
            </a:r>
            <a:r>
              <a:rPr lang="ru-RU" dirty="0"/>
              <a:t>"</a:t>
            </a:r>
            <a:r>
              <a:rPr lang="en-US" dirty="0"/>
              <a:t> (34.9 × 41 cm).</a:t>
            </a:r>
            <a:br>
              <a:rPr lang="en-US" dirty="0"/>
            </a:br>
            <a:r>
              <a:rPr lang="en-US" dirty="0" err="1"/>
              <a:t>Musée</a:t>
            </a:r>
            <a:r>
              <a:rPr lang="en-US" dirty="0"/>
              <a:t> des Beaux-Arts, Lille. Photo © RMN-Grand Palais/Philipp Bernard.</a:t>
            </a:r>
          </a:p>
        </p:txBody>
      </p:sp>
      <p:pic>
        <p:nvPicPr>
          <p:cNvPr id="2" name="Picture 1" descr="An early sketch, with nude, muscular figures and uniform light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Title 3"/>
          <p:cNvSpPr>
            <a:spLocks noGrp="1"/>
          </p:cNvSpPr>
          <p:nvPr>
            <p:ph type="title"/>
          </p:nvPr>
        </p:nvSpPr>
        <p:spPr/>
        <p:txBody>
          <a:bodyPr>
            <a:normAutofit fontScale="90000"/>
          </a:bodyPr>
          <a:lstStyle/>
          <a:p>
            <a:r>
              <a:rPr lang="en-US" dirty="0"/>
              <a:t>Théodore </a:t>
            </a:r>
            <a:r>
              <a:rPr lang="en-US" dirty="0" err="1"/>
              <a:t>Géricault</a:t>
            </a:r>
            <a:r>
              <a:rPr lang="en-US" dirty="0"/>
              <a:t> THE SIGHTING OF THE </a:t>
            </a:r>
            <a:r>
              <a:rPr lang="ru-RU" dirty="0"/>
              <a:t>"</a:t>
            </a:r>
            <a:r>
              <a:rPr lang="en-US" dirty="0"/>
              <a:t>ARGUS</a:t>
            </a:r>
            <a:r>
              <a:rPr lang="ru-RU" dirty="0"/>
              <a:t>"</a:t>
            </a:r>
            <a:br>
              <a:rPr lang="en-US" dirty="0"/>
            </a:br>
            <a:r>
              <a:rPr lang="en-US" dirty="0"/>
              <a:t>1818. Pen and ink, sepia wash on paper, 8-1/8</a:t>
            </a:r>
            <a:r>
              <a:rPr lang="ru-RU" dirty="0"/>
              <a:t>"</a:t>
            </a:r>
            <a:r>
              <a:rPr lang="en-US" dirty="0"/>
              <a:t> × 11-1/4</a:t>
            </a:r>
            <a:r>
              <a:rPr lang="ru-RU" dirty="0"/>
              <a:t>"</a:t>
            </a:r>
            <a:r>
              <a:rPr lang="en-US" dirty="0"/>
              <a:t> (20.6 × 28.6 cm).</a:t>
            </a:r>
            <a:br>
              <a:rPr lang="en-US" dirty="0"/>
            </a:br>
            <a:r>
              <a:rPr lang="en-US" dirty="0" err="1"/>
              <a:t>Musée</a:t>
            </a:r>
            <a:r>
              <a:rPr lang="en-US" dirty="0"/>
              <a:t> des Beaux-Arts, Rouen. Photo © RMN-Grand Palais/Philipp Bernard.</a:t>
            </a:r>
          </a:p>
        </p:txBody>
      </p:sp>
      <p:pic>
        <p:nvPicPr>
          <p:cNvPr id="2" name="Picture 1" descr="A later sketch, illuminated from a different angle, casting the raft’s sail and the survivors in deep shadow against blindingly right sunlight reflecting off a calm ocean, obscuring the horizo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Title 3"/>
          <p:cNvSpPr>
            <a:spLocks noGrp="1"/>
          </p:cNvSpPr>
          <p:nvPr>
            <p:ph type="title"/>
          </p:nvPr>
        </p:nvSpPr>
        <p:spPr/>
        <p:txBody>
          <a:bodyPr>
            <a:normAutofit fontScale="90000"/>
          </a:bodyPr>
          <a:lstStyle/>
          <a:p>
            <a:r>
              <a:rPr lang="en-US" dirty="0"/>
              <a:t>Théodore </a:t>
            </a:r>
            <a:r>
              <a:rPr lang="en-US" dirty="0" err="1"/>
              <a:t>Géricault</a:t>
            </a:r>
            <a:r>
              <a:rPr lang="en-US" dirty="0"/>
              <a:t> STUDY OF HANDS AND FEET</a:t>
            </a:r>
            <a:br>
              <a:rPr lang="en-US" dirty="0"/>
            </a:br>
            <a:r>
              <a:rPr lang="en-US" dirty="0"/>
              <a:t>1818–1819. Oil on canvas, 20-1/2</a:t>
            </a:r>
            <a:r>
              <a:rPr lang="ru-RU" dirty="0"/>
              <a:t>"</a:t>
            </a:r>
            <a:r>
              <a:rPr lang="en-US" dirty="0"/>
              <a:t> × 25-3/18</a:t>
            </a:r>
            <a:r>
              <a:rPr lang="ru-RU" dirty="0"/>
              <a:t>"</a:t>
            </a:r>
            <a:r>
              <a:rPr lang="en-US" dirty="0"/>
              <a:t> (52 × 64 cm).</a:t>
            </a:r>
            <a:br>
              <a:rPr lang="en-US" dirty="0"/>
            </a:br>
            <a:r>
              <a:rPr lang="en-US" dirty="0" err="1"/>
              <a:t>Musée</a:t>
            </a:r>
            <a:r>
              <a:rPr lang="en-US" dirty="0"/>
              <a:t> Fabre de Montpellier. </a:t>
            </a:r>
            <a:r>
              <a:rPr lang="en-US" dirty="0" err="1"/>
              <a:t>Musée</a:t>
            </a:r>
            <a:r>
              <a:rPr lang="en-US" dirty="0"/>
              <a:t> Fabre de Montpellier </a:t>
            </a:r>
            <a:r>
              <a:rPr lang="en-US" dirty="0" err="1"/>
              <a:t>Agglomération</a:t>
            </a:r>
            <a:r>
              <a:rPr lang="en-US" dirty="0"/>
              <a:t>. </a:t>
            </a:r>
            <a:br>
              <a:rPr lang="en-US" dirty="0"/>
            </a:br>
            <a:r>
              <a:rPr lang="en-US" dirty="0"/>
              <a:t>Photo: Frédéric </a:t>
            </a:r>
            <a:r>
              <a:rPr lang="en-US" dirty="0" err="1"/>
              <a:t>Jaulmes</a:t>
            </a:r>
            <a:r>
              <a:rPr lang="en-US" dirty="0"/>
              <a:t>.</a:t>
            </a:r>
          </a:p>
        </p:txBody>
      </p:sp>
      <p:pic>
        <p:nvPicPr>
          <p:cNvPr id="2" name="Picture 1" descr="A right arm, dismembered above the shoulder, lies atop a pile of dismembered feet and legs, lit from above and to the lef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Title 13"/>
          <p:cNvSpPr>
            <a:spLocks noGrp="1"/>
          </p:cNvSpPr>
          <p:nvPr>
            <p:ph type="title"/>
          </p:nvPr>
        </p:nvSpPr>
        <p:spPr/>
        <p:txBody>
          <a:bodyPr/>
          <a:lstStyle/>
          <a:p>
            <a:r>
              <a:rPr lang="en-US"/>
              <a:t>Developments in France (6 of 10)</a:t>
            </a:r>
          </a:p>
        </p:txBody>
      </p:sp>
      <p:sp>
        <p:nvSpPr>
          <p:cNvPr id="196610" name="Content Placeholder 14"/>
          <p:cNvSpPr>
            <a:spLocks noGrp="1"/>
          </p:cNvSpPr>
          <p:nvPr>
            <p:ph idx="1"/>
          </p:nvPr>
        </p:nvSpPr>
        <p:spPr/>
        <p:txBody>
          <a:bodyPr/>
          <a:lstStyle/>
          <a:p>
            <a:r>
              <a:rPr lang="en-US"/>
              <a:t>Delacroix and Rude</a:t>
            </a:r>
          </a:p>
          <a:p>
            <a:pPr lvl="1"/>
            <a:r>
              <a:rPr lang="en-US"/>
              <a:t>Eugène Delacroix became the leader of the Romantic movement.</a:t>
            </a:r>
          </a:p>
          <a:p>
            <a:pPr lvl="2"/>
            <a:r>
              <a:rPr lang="en-US" i="1"/>
              <a:t>Liberty Leading the People </a:t>
            </a:r>
            <a:r>
              <a:rPr lang="en-US"/>
              <a:t>is his most famous work, summarizing the destiny of France after the fall of Napoleon.</a:t>
            </a:r>
          </a:p>
          <a:p>
            <a:pPr lvl="3"/>
            <a:r>
              <a:rPr lang="en-US"/>
              <a:t>This is not the record of the massive July 1830 uprising, but an imaginative re-creation taking the emotional climate into account.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Title 3"/>
          <p:cNvSpPr>
            <a:spLocks noGrp="1"/>
          </p:cNvSpPr>
          <p:nvPr>
            <p:ph type="title"/>
          </p:nvPr>
        </p:nvSpPr>
        <p:spPr/>
        <p:txBody>
          <a:bodyPr>
            <a:normAutofit fontScale="90000"/>
          </a:bodyPr>
          <a:lstStyle/>
          <a:p>
            <a:r>
              <a:rPr lang="en-US" dirty="0"/>
              <a:t>Eugène Delacroix LIBERTY LEADING THE PEOPLE: JULY 28, 1830</a:t>
            </a:r>
            <a:br>
              <a:rPr lang="en-US" dirty="0"/>
            </a:br>
            <a:r>
              <a:rPr lang="en-US" dirty="0"/>
              <a:t>1830. Oil on canvas, 8</a:t>
            </a:r>
            <a:r>
              <a:rPr lang="uk-UA" dirty="0"/>
              <a:t>'</a:t>
            </a:r>
            <a:r>
              <a:rPr lang="en-US" dirty="0"/>
              <a:t>6-1/2</a:t>
            </a:r>
            <a:r>
              <a:rPr lang="ru-RU" dirty="0"/>
              <a:t>"</a:t>
            </a:r>
            <a:r>
              <a:rPr lang="en-US" dirty="0"/>
              <a:t> × 10</a:t>
            </a:r>
            <a:r>
              <a:rPr lang="uk-UA" dirty="0"/>
              <a:t>'</a:t>
            </a:r>
            <a:r>
              <a:rPr lang="en-US" dirty="0"/>
              <a:t>8</a:t>
            </a:r>
            <a:r>
              <a:rPr lang="ru-RU" dirty="0"/>
              <a:t>"</a:t>
            </a:r>
            <a:r>
              <a:rPr lang="en-US" dirty="0"/>
              <a:t> (2.6 × 3.25 m).</a:t>
            </a:r>
            <a:br>
              <a:rPr lang="en-US" dirty="0"/>
            </a:br>
            <a:r>
              <a:rPr lang="en-US" dirty="0" err="1"/>
              <a:t>Musée</a:t>
            </a:r>
            <a:r>
              <a:rPr lang="en-US" dirty="0"/>
              <a:t> du Louvre, Paris. Photo © </a:t>
            </a:r>
            <a:r>
              <a:rPr lang="en-US" dirty="0" err="1"/>
              <a:t>Musée</a:t>
            </a:r>
            <a:r>
              <a:rPr lang="en-US" dirty="0"/>
              <a:t> du Louvre, Dist. RMN-Grand Palais/Philippe </a:t>
            </a:r>
            <a:r>
              <a:rPr lang="en-US" dirty="0" err="1"/>
              <a:t>Fuzeau</a:t>
            </a:r>
            <a:r>
              <a:rPr lang="en-US" dirty="0"/>
              <a:t>.</a:t>
            </a:r>
          </a:p>
        </p:txBody>
      </p:sp>
      <p:pic>
        <p:nvPicPr>
          <p:cNvPr id="2" name="Picture 1" descr="A personification of Liberty, her breasts uncovered, raises the blue, white, and red French flag and leads a charge across the war-town, smoky battlefield of Paris itself."/>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Title 13"/>
          <p:cNvSpPr>
            <a:spLocks noGrp="1"/>
          </p:cNvSpPr>
          <p:nvPr>
            <p:ph type="title"/>
          </p:nvPr>
        </p:nvSpPr>
        <p:spPr/>
        <p:txBody>
          <a:bodyPr/>
          <a:lstStyle/>
          <a:p>
            <a:r>
              <a:rPr lang="en-US"/>
              <a:t>Developments in France (7 of 10)</a:t>
            </a:r>
          </a:p>
        </p:txBody>
      </p:sp>
      <p:sp>
        <p:nvSpPr>
          <p:cNvPr id="199682" name="Content Placeholder 14"/>
          <p:cNvSpPr>
            <a:spLocks noGrp="1"/>
          </p:cNvSpPr>
          <p:nvPr>
            <p:ph idx="1"/>
          </p:nvPr>
        </p:nvSpPr>
        <p:spPr/>
        <p:txBody>
          <a:bodyPr/>
          <a:lstStyle/>
          <a:p>
            <a:r>
              <a:rPr lang="en-US"/>
              <a:t>Delacroix and Rude</a:t>
            </a:r>
          </a:p>
          <a:p>
            <a:pPr lvl="1"/>
            <a:r>
              <a:rPr lang="en-US"/>
              <a:t>François Rude was commissioned for a sculpture to decorate the main arcade on the triumphal arch on the Champs-Élysées.</a:t>
            </a:r>
          </a:p>
          <a:p>
            <a:pPr lvl="1"/>
            <a:r>
              <a:rPr lang="en-US"/>
              <a:t>The sculpture, known as the </a:t>
            </a:r>
            <a:r>
              <a:rPr lang="en-US" i="1"/>
              <a:t>Marsellaise</a:t>
            </a:r>
            <a:r>
              <a:rPr lang="en-US"/>
              <a:t>, portrays Classical details but an overall Romantic impact with a crowded, excited group of figures.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Title 3"/>
          <p:cNvSpPr>
            <a:spLocks noGrp="1"/>
          </p:cNvSpPr>
          <p:nvPr>
            <p:ph type="title"/>
          </p:nvPr>
        </p:nvSpPr>
        <p:spPr/>
        <p:txBody>
          <a:bodyPr>
            <a:normAutofit fontScale="90000"/>
          </a:bodyPr>
          <a:lstStyle/>
          <a:p>
            <a:r>
              <a:rPr lang="en-US" dirty="0"/>
              <a:t>François Rude DEPARTURE OF THE VOLUNTEERS OF 1792 (THE MARSEILLAISE)</a:t>
            </a:r>
            <a:br>
              <a:rPr lang="en-US" dirty="0"/>
            </a:br>
            <a:r>
              <a:rPr lang="en-US" dirty="0"/>
              <a:t>Arc de </a:t>
            </a:r>
            <a:r>
              <a:rPr lang="en-US" dirty="0" err="1"/>
              <a:t>Triomphe</a:t>
            </a:r>
            <a:r>
              <a:rPr lang="en-US" dirty="0"/>
              <a:t>, Place de l</a:t>
            </a:r>
            <a:r>
              <a:rPr lang="uk-UA" dirty="0"/>
              <a:t>'</a:t>
            </a:r>
            <a:r>
              <a:rPr lang="en-US" dirty="0" err="1"/>
              <a:t>Étoile</a:t>
            </a:r>
            <a:r>
              <a:rPr lang="en-US" dirty="0"/>
              <a:t>, Paris. 1833–1836.</a:t>
            </a:r>
            <a:br>
              <a:rPr lang="en-US" dirty="0"/>
            </a:br>
            <a:r>
              <a:rPr lang="en-US" dirty="0"/>
              <a:t>Limestone, height approx. 42</a:t>
            </a:r>
            <a:r>
              <a:rPr lang="uk-UA" dirty="0"/>
              <a:t>'</a:t>
            </a:r>
            <a:r>
              <a:rPr lang="en-US" dirty="0"/>
              <a:t> (12.8 m).</a:t>
            </a:r>
            <a:br>
              <a:rPr lang="en-US" dirty="0"/>
            </a:br>
            <a:r>
              <a:rPr lang="en-US" dirty="0"/>
              <a:t>© </a:t>
            </a:r>
            <a:r>
              <a:rPr lang="en-US" dirty="0" err="1"/>
              <a:t>Kiev.Victor</a:t>
            </a:r>
            <a:r>
              <a:rPr lang="en-US" dirty="0"/>
              <a:t>/Shutterstock. </a:t>
            </a:r>
          </a:p>
        </p:txBody>
      </p:sp>
      <p:pic>
        <p:nvPicPr>
          <p:cNvPr id="2" name="Picture 1" descr="Personified Liberty, now seen with angelic wings and an armored breastplate, leads a charge by a small group of soldiers, ranging in age from a nude boy, to proud, bearded men, to a frightened, older ma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Title 13"/>
          <p:cNvSpPr>
            <a:spLocks noGrp="1"/>
          </p:cNvSpPr>
          <p:nvPr>
            <p:ph type="title"/>
          </p:nvPr>
        </p:nvSpPr>
        <p:spPr/>
        <p:txBody>
          <a:bodyPr/>
          <a:lstStyle/>
          <a:p>
            <a:r>
              <a:rPr lang="en-US"/>
              <a:t>Developments in France (8 of 10)</a:t>
            </a:r>
          </a:p>
        </p:txBody>
      </p:sp>
      <p:sp>
        <p:nvSpPr>
          <p:cNvPr id="202754" name="Content Placeholder 14"/>
          <p:cNvSpPr>
            <a:spLocks noGrp="1"/>
          </p:cNvSpPr>
          <p:nvPr>
            <p:ph idx="1"/>
          </p:nvPr>
        </p:nvSpPr>
        <p:spPr/>
        <p:txBody>
          <a:bodyPr/>
          <a:lstStyle/>
          <a:p>
            <a:r>
              <a:rPr lang="en-US"/>
              <a:t>Ingres</a:t>
            </a:r>
          </a:p>
          <a:p>
            <a:pPr lvl="1"/>
            <a:r>
              <a:rPr lang="en-US"/>
              <a:t>Jean-Auguste-Dominique Ingres, trained by David, won the Prix de Rome and eventually served as director of the French Academy in Rome until 1841.</a:t>
            </a:r>
          </a:p>
          <a:p>
            <a:pPr lvl="2"/>
            <a:r>
              <a:rPr lang="en-US" i="1"/>
              <a:t>His Large Odalisque </a:t>
            </a:r>
            <a:r>
              <a:rPr lang="en-US"/>
              <a:t>shows a woman turning her naked body away from her (assumed) master</a:t>
            </a:r>
            <a:r>
              <a:rPr lang="uk-UA"/>
              <a:t>'</a:t>
            </a:r>
            <a:r>
              <a:rPr lang="en-US"/>
              <a:t>s gaze.</a:t>
            </a:r>
          </a:p>
          <a:p>
            <a:pPr lvl="3"/>
            <a:r>
              <a:rPr lang="en-US"/>
              <a:t>Although the posture is Neoclassical, elongated, anatomically incorrect lines of her back and hip reflect Romanticism.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Title 3"/>
          <p:cNvSpPr>
            <a:spLocks noGrp="1"/>
          </p:cNvSpPr>
          <p:nvPr>
            <p:ph type="title"/>
          </p:nvPr>
        </p:nvSpPr>
        <p:spPr/>
        <p:txBody>
          <a:bodyPr>
            <a:normAutofit fontScale="90000"/>
          </a:bodyPr>
          <a:lstStyle/>
          <a:p>
            <a:r>
              <a:rPr lang="en-US" dirty="0"/>
              <a:t>Jean-Auguste-Dominique Ingres LARGE ODALISQUE</a:t>
            </a:r>
            <a:br>
              <a:rPr lang="en-US" dirty="0"/>
            </a:br>
            <a:r>
              <a:rPr lang="en-US" dirty="0"/>
              <a:t>1814. Oil on canvas, approx. 35</a:t>
            </a:r>
            <a:r>
              <a:rPr lang="ru-RU" dirty="0"/>
              <a:t>"</a:t>
            </a:r>
            <a:r>
              <a:rPr lang="en-US" dirty="0"/>
              <a:t> × 64</a:t>
            </a:r>
            <a:r>
              <a:rPr lang="ru-RU" dirty="0"/>
              <a:t>"</a:t>
            </a:r>
            <a:r>
              <a:rPr lang="en-US" dirty="0"/>
              <a:t> (88.9 × 162.5 cm).</a:t>
            </a:r>
            <a:br>
              <a:rPr lang="en-US" dirty="0"/>
            </a:br>
            <a:r>
              <a:rPr lang="en-US" dirty="0" err="1"/>
              <a:t>Musée</a:t>
            </a:r>
            <a:r>
              <a:rPr lang="en-US" dirty="0"/>
              <a:t> du Louvre, Paris. Photo © RMN-Grand Palais (</a:t>
            </a:r>
            <a:r>
              <a:rPr lang="en-US" dirty="0" err="1"/>
              <a:t>musée</a:t>
            </a:r>
            <a:r>
              <a:rPr lang="en-US" dirty="0"/>
              <a:t> du Louvre)/Thierry Le Mage.</a:t>
            </a:r>
          </a:p>
        </p:txBody>
      </p:sp>
      <p:pic>
        <p:nvPicPr>
          <p:cNvPr id="2" name="Picture 1" descr="A nude woman reclines on a couch, facing the viewer over her shoulder, revealing portions of the curvature of her breast and buttocks. A long-stemmed pipe stands against a rack near her feet.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Title 13"/>
          <p:cNvSpPr>
            <a:spLocks noGrp="1"/>
          </p:cNvSpPr>
          <p:nvPr>
            <p:ph type="title"/>
          </p:nvPr>
        </p:nvSpPr>
        <p:spPr/>
        <p:txBody>
          <a:bodyPr/>
          <a:lstStyle/>
          <a:p>
            <a:r>
              <a:rPr lang="en-US"/>
              <a:t>Developments in France (9 of 10)</a:t>
            </a:r>
          </a:p>
        </p:txBody>
      </p:sp>
      <p:sp>
        <p:nvSpPr>
          <p:cNvPr id="205826" name="Content Placeholder 14"/>
          <p:cNvSpPr>
            <a:spLocks noGrp="1"/>
          </p:cNvSpPr>
          <p:nvPr>
            <p:ph idx="1"/>
          </p:nvPr>
        </p:nvSpPr>
        <p:spPr/>
        <p:txBody>
          <a:bodyPr/>
          <a:lstStyle/>
          <a:p>
            <a:r>
              <a:rPr lang="en-US"/>
              <a:t>Ingres</a:t>
            </a:r>
          </a:p>
          <a:p>
            <a:pPr lvl="1"/>
            <a:r>
              <a:rPr lang="en-US"/>
              <a:t>Despite his distaste for portraiture, Ingres created a flattering and credible representation of his subject in </a:t>
            </a:r>
            <a:r>
              <a:rPr lang="en-US" i="1"/>
              <a:t>Portrait of Madame Désiré Raoul-Rochette</a:t>
            </a:r>
            <a:r>
              <a:rPr lang="en-US"/>
              <a:t>. </a:t>
            </a:r>
          </a:p>
          <a:p>
            <a:pPr lvl="2"/>
            <a:r>
              <a:rPr lang="en-US"/>
              <a:t>The sitter</a:t>
            </a:r>
            <a:r>
              <a:rPr lang="uk-UA"/>
              <a:t>'</a:t>
            </a:r>
            <a:r>
              <a:rPr lang="en-US"/>
              <a:t>s face is emphasized with careful shading; the details in her clothing are subdued.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Title 3"/>
          <p:cNvSpPr>
            <a:spLocks noGrp="1"/>
          </p:cNvSpPr>
          <p:nvPr>
            <p:ph type="title"/>
          </p:nvPr>
        </p:nvSpPr>
        <p:spPr/>
        <p:txBody>
          <a:bodyPr>
            <a:normAutofit fontScale="90000"/>
          </a:bodyPr>
          <a:lstStyle/>
          <a:p>
            <a:r>
              <a:rPr lang="en-US" dirty="0"/>
              <a:t>Jean-Auguste-Dominique Ingres PORTRAIT OF MADAME DÉSIRÉ RAOUL-ROCHETTE</a:t>
            </a:r>
            <a:br>
              <a:rPr lang="en-US" dirty="0"/>
            </a:br>
            <a:r>
              <a:rPr lang="en-US" dirty="0"/>
              <a:t>1830. Graphite on paper, 12-5/8</a:t>
            </a:r>
            <a:r>
              <a:rPr lang="ru-RU" dirty="0"/>
              <a:t>"</a:t>
            </a:r>
            <a:r>
              <a:rPr lang="en-US" dirty="0"/>
              <a:t> × 9-1/2</a:t>
            </a:r>
            <a:r>
              <a:rPr lang="ru-RU" dirty="0"/>
              <a:t>"</a:t>
            </a:r>
            <a:r>
              <a:rPr lang="en-US" dirty="0"/>
              <a:t> (32.2 × 24.1 cm).</a:t>
            </a:r>
            <a:br>
              <a:rPr lang="en-US" dirty="0"/>
            </a:br>
            <a:r>
              <a:rPr lang="en-US" dirty="0"/>
              <a:t>Cleveland Museum of Art. Purchase from the J. H. Wade Fund (1927.437).</a:t>
            </a:r>
            <a:br>
              <a:rPr lang="en-US" dirty="0"/>
            </a:br>
            <a:r>
              <a:rPr lang="en-US" dirty="0"/>
              <a:t>Bridgeman Images. </a:t>
            </a:r>
          </a:p>
        </p:txBody>
      </p:sp>
      <p:pic>
        <p:nvPicPr>
          <p:cNvPr id="2" name="Picture 1" descr="The pencil portrait captures the subject’s face and hair with almost photorealistic clarity, while leaving her dress in less detail, as if it was drawn quickl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Title 13"/>
          <p:cNvSpPr>
            <a:spLocks noGrp="1"/>
          </p:cNvSpPr>
          <p:nvPr>
            <p:ph type="title"/>
          </p:nvPr>
        </p:nvSpPr>
        <p:spPr/>
        <p:txBody>
          <a:bodyPr/>
          <a:lstStyle/>
          <a:p>
            <a:r>
              <a:rPr lang="en-US"/>
              <a:t>Technique: Lithography</a:t>
            </a:r>
          </a:p>
        </p:txBody>
      </p:sp>
      <p:sp>
        <p:nvSpPr>
          <p:cNvPr id="208898" name="Content Placeholder 14"/>
          <p:cNvSpPr>
            <a:spLocks noGrp="1"/>
          </p:cNvSpPr>
          <p:nvPr>
            <p:ph idx="1"/>
          </p:nvPr>
        </p:nvSpPr>
        <p:spPr/>
        <p:txBody>
          <a:bodyPr/>
          <a:lstStyle/>
          <a:p>
            <a:r>
              <a:rPr lang="en-US"/>
              <a:t>In this technique, the artists draws on a flat surface with a crayonlike instrument, then wipes the surface with water and an oil-based ink.</a:t>
            </a:r>
          </a:p>
          <a:p>
            <a:r>
              <a:rPr lang="en-US"/>
              <a:t>Paper is pressed to the stone with a scraper and rolled through a flatbed press.</a:t>
            </a:r>
          </a:p>
          <a:p>
            <a:r>
              <a:rPr lang="en-US"/>
              <a:t>Daumier</a:t>
            </a:r>
            <a:r>
              <a:rPr lang="uk-UA"/>
              <a:t>'</a:t>
            </a:r>
            <a:r>
              <a:rPr lang="en-US"/>
              <a:t>s </a:t>
            </a:r>
            <a:r>
              <a:rPr lang="en-US" i="1"/>
              <a:t>The Print Lovers </a:t>
            </a:r>
            <a:r>
              <a:rPr lang="en-US"/>
              <a:t>shows the trend growing among artists.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Title 3"/>
          <p:cNvSpPr>
            <a:spLocks noGrp="1"/>
          </p:cNvSpPr>
          <p:nvPr>
            <p:ph type="title"/>
          </p:nvPr>
        </p:nvSpPr>
        <p:spPr/>
        <p:txBody>
          <a:bodyPr>
            <a:normAutofit fontScale="90000"/>
          </a:bodyPr>
          <a:lstStyle/>
          <a:p>
            <a:r>
              <a:rPr lang="en-US" dirty="0" err="1"/>
              <a:t>Honoré</a:t>
            </a:r>
            <a:r>
              <a:rPr lang="en-US" dirty="0"/>
              <a:t> Daumier THE PRINT LOVERS</a:t>
            </a:r>
            <a:br>
              <a:rPr lang="en-US" dirty="0"/>
            </a:br>
            <a:r>
              <a:rPr lang="en-US" dirty="0"/>
              <a:t>c. 1863–1865. Watercolor, black pencil, black ink, gray wash, 10-1/8</a:t>
            </a:r>
            <a:r>
              <a:rPr lang="ru-RU" dirty="0"/>
              <a:t>"</a:t>
            </a:r>
            <a:r>
              <a:rPr lang="en-US" dirty="0"/>
              <a:t> × 12-1/8</a:t>
            </a:r>
            <a:r>
              <a:rPr lang="ru-RU" dirty="0"/>
              <a:t>"</a:t>
            </a:r>
            <a:r>
              <a:rPr lang="en-US" dirty="0"/>
              <a:t> (25.8 × 30.7 cm). </a:t>
            </a:r>
            <a:r>
              <a:rPr lang="en-US" dirty="0" err="1"/>
              <a:t>Musée</a:t>
            </a:r>
            <a:r>
              <a:rPr lang="en-US" dirty="0"/>
              <a:t> du Louvre, Paris. Photo © RMN-Grand Palais (</a:t>
            </a:r>
            <a:r>
              <a:rPr lang="en-US" dirty="0" err="1"/>
              <a:t>musée</a:t>
            </a:r>
            <a:r>
              <a:rPr lang="en-US" dirty="0"/>
              <a:t> du Louvre).</a:t>
            </a:r>
            <a:br>
              <a:rPr lang="en-US" dirty="0"/>
            </a:br>
            <a:endParaRPr lang="en-US" dirty="0"/>
          </a:p>
        </p:txBody>
      </p:sp>
      <p:pic>
        <p:nvPicPr>
          <p:cNvPr id="2" name="Picture 1" descr="Three well-dressed men gather in a room decorated by many framed paintings, devoting their attention to a lithographic print on a simple white matt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Title 3"/>
          <p:cNvSpPr>
            <a:spLocks noGrp="1"/>
          </p:cNvSpPr>
          <p:nvPr>
            <p:ph type="title"/>
          </p:nvPr>
        </p:nvSpPr>
        <p:spPr/>
        <p:txBody>
          <a:bodyPr/>
          <a:lstStyle/>
          <a:p>
            <a:r>
              <a:rPr lang="en-US"/>
              <a:t>TECHNIQUE: Lithography</a:t>
            </a:r>
            <a:br>
              <a:rPr lang="en-US"/>
            </a:br>
            <a:r>
              <a:rPr lang="en-US"/>
              <a:t>Diagram of the lithographic process.</a:t>
            </a:r>
          </a:p>
        </p:txBody>
      </p:sp>
      <p:pic>
        <p:nvPicPr>
          <p:cNvPr id="2" name="Picture 1" descr="The lithographic process involves preparing the inked stone, placing it on a moving base, and covering the stone with several sheets of paper. A scraper, resembling a wooden ruler, is then drawn over the paper repeatedly to transfer ink to pap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3"/>
          <p:cNvSpPr>
            <a:spLocks noGrp="1"/>
          </p:cNvSpPr>
          <p:nvPr>
            <p:ph type="title"/>
          </p:nvPr>
        </p:nvSpPr>
        <p:spPr/>
        <p:txBody>
          <a:bodyPr/>
          <a:lstStyle/>
          <a:p>
            <a:r>
              <a:rPr lang="en-US"/>
              <a:t>Developments in France (10 of 10)</a:t>
            </a:r>
          </a:p>
        </p:txBody>
      </p:sp>
      <p:sp>
        <p:nvSpPr>
          <p:cNvPr id="214018" name="Content Placeholder 14"/>
          <p:cNvSpPr>
            <a:spLocks noGrp="1"/>
          </p:cNvSpPr>
          <p:nvPr>
            <p:ph idx="1"/>
          </p:nvPr>
        </p:nvSpPr>
        <p:spPr/>
        <p:txBody>
          <a:bodyPr/>
          <a:lstStyle/>
          <a:p>
            <a:r>
              <a:rPr lang="en-US"/>
              <a:t>Daumier</a:t>
            </a:r>
          </a:p>
          <a:p>
            <a:pPr lvl="1"/>
            <a:r>
              <a:rPr lang="en-US"/>
              <a:t>Honoré Daumier was a skillful  </a:t>
            </a:r>
            <a:r>
              <a:rPr lang="en-US" b="1"/>
              <a:t>lithographer</a:t>
            </a:r>
            <a:r>
              <a:rPr lang="en-US"/>
              <a:t>, portraying the atrocities on Rue Transnonain wherein a riot squad killed everyone in the building in which they believe a marksman was hiding.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Title 3"/>
          <p:cNvSpPr>
            <a:spLocks noGrp="1"/>
          </p:cNvSpPr>
          <p:nvPr>
            <p:ph type="title"/>
          </p:nvPr>
        </p:nvSpPr>
        <p:spPr/>
        <p:txBody>
          <a:bodyPr>
            <a:normAutofit fontScale="90000"/>
          </a:bodyPr>
          <a:lstStyle/>
          <a:p>
            <a:r>
              <a:rPr lang="en-US" dirty="0" err="1"/>
              <a:t>Honoré</a:t>
            </a:r>
            <a:r>
              <a:rPr lang="en-US" dirty="0"/>
              <a:t> Daumier RUE TRANSNONAIN, LE 15 AVRIL 1834</a:t>
            </a:r>
            <a:br>
              <a:rPr lang="en-US" dirty="0"/>
            </a:br>
            <a:r>
              <a:rPr lang="en-US" dirty="0"/>
              <a:t>1834. Lithograph, 11</a:t>
            </a:r>
            <a:r>
              <a:rPr lang="ru-RU" dirty="0"/>
              <a:t>"</a:t>
            </a:r>
            <a:r>
              <a:rPr lang="en-US" dirty="0"/>
              <a:t> × 17-3/8</a:t>
            </a:r>
            <a:r>
              <a:rPr lang="ru-RU" dirty="0"/>
              <a:t>"</a:t>
            </a:r>
            <a:r>
              <a:rPr lang="en-US" dirty="0"/>
              <a:t> (28 × 44 cm).</a:t>
            </a:r>
            <a:br>
              <a:rPr lang="en-US" dirty="0"/>
            </a:br>
            <a:r>
              <a:rPr lang="en-US" dirty="0"/>
              <a:t>Yale University Art Gallery, Everett V. Meeks, B.A. 1901, Fund (1982.120.4). </a:t>
            </a:r>
            <a:br>
              <a:rPr lang="en-US" dirty="0"/>
            </a:br>
            <a:r>
              <a:rPr lang="en-US" dirty="0"/>
              <a:t>Image courtesy Yale University Art Gallery. </a:t>
            </a:r>
          </a:p>
        </p:txBody>
      </p:sp>
      <p:pic>
        <p:nvPicPr>
          <p:cNvPr id="2" name="Picture 1" descr="A family’s bedroom lies in disarray, with the sheets falling off the bed and a chair tipped over. Four figures lie dead on the bloodstained floor, still in their bedcloth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Title 13"/>
          <p:cNvSpPr>
            <a:spLocks noGrp="1"/>
          </p:cNvSpPr>
          <p:nvPr>
            <p:ph type="title"/>
          </p:nvPr>
        </p:nvSpPr>
        <p:spPr/>
        <p:txBody>
          <a:bodyPr/>
          <a:lstStyle/>
          <a:p>
            <a:r>
              <a:rPr lang="en-US"/>
              <a:t>Romantic Landscape Painting (1 of 7)</a:t>
            </a:r>
          </a:p>
        </p:txBody>
      </p:sp>
      <p:sp>
        <p:nvSpPr>
          <p:cNvPr id="217090" name="Content Placeholder 14"/>
          <p:cNvSpPr>
            <a:spLocks noGrp="1"/>
          </p:cNvSpPr>
          <p:nvPr>
            <p:ph idx="1"/>
          </p:nvPr>
        </p:nvSpPr>
        <p:spPr/>
        <p:txBody>
          <a:bodyPr/>
          <a:lstStyle/>
          <a:p>
            <a:r>
              <a:rPr lang="en-US"/>
              <a:t>Landscape painting was either tranquil or dramatic based on subject matter.</a:t>
            </a:r>
          </a:p>
          <a:p>
            <a:r>
              <a:rPr lang="en-US"/>
              <a:t>Romantic artists found the unpredictable, uncontrollable force of nature as an analogy to human moods and emotions.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Title 13"/>
          <p:cNvSpPr>
            <a:spLocks noGrp="1"/>
          </p:cNvSpPr>
          <p:nvPr>
            <p:ph type="title"/>
          </p:nvPr>
        </p:nvSpPr>
        <p:spPr/>
        <p:txBody>
          <a:bodyPr/>
          <a:lstStyle/>
          <a:p>
            <a:r>
              <a:rPr lang="en-US"/>
              <a:t>Romantic Landscape Painting (2 of 7)</a:t>
            </a:r>
          </a:p>
        </p:txBody>
      </p:sp>
      <p:sp>
        <p:nvSpPr>
          <p:cNvPr id="218114" name="Content Placeholder 14"/>
          <p:cNvSpPr>
            <a:spLocks noGrp="1"/>
          </p:cNvSpPr>
          <p:nvPr>
            <p:ph idx="1"/>
          </p:nvPr>
        </p:nvSpPr>
        <p:spPr/>
        <p:txBody>
          <a:bodyPr/>
          <a:lstStyle/>
          <a:p>
            <a:r>
              <a:rPr lang="en-US"/>
              <a:t>Constable</a:t>
            </a:r>
          </a:p>
          <a:p>
            <a:pPr lvl="1"/>
            <a:r>
              <a:rPr lang="en-US"/>
              <a:t>John Constable (1776–1837) specialized in scenes of rural tranquility.</a:t>
            </a:r>
          </a:p>
          <a:p>
            <a:pPr lvl="2"/>
            <a:r>
              <a:rPr lang="en-US" i="1"/>
              <a:t>The Hay Wain</a:t>
            </a:r>
            <a:r>
              <a:rPr lang="en-US"/>
              <a:t> shows a slow-moving, carefully constructed scene of England.</a:t>
            </a:r>
          </a:p>
          <a:p>
            <a:pPr lvl="2"/>
            <a:r>
              <a:rPr lang="en-US"/>
              <a:t>The nostalgic landscape is comfortable, rural, and idyllic, in contrast to the industrializing world around it.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Title 3"/>
          <p:cNvSpPr>
            <a:spLocks noGrp="1"/>
          </p:cNvSpPr>
          <p:nvPr>
            <p:ph type="title"/>
          </p:nvPr>
        </p:nvSpPr>
        <p:spPr/>
        <p:txBody>
          <a:bodyPr>
            <a:normAutofit fontScale="90000"/>
          </a:bodyPr>
          <a:lstStyle/>
          <a:p>
            <a:r>
              <a:rPr lang="en-US" dirty="0"/>
              <a:t>John Constable THE HAY WAIN</a:t>
            </a:r>
            <a:br>
              <a:rPr lang="en-US" dirty="0"/>
            </a:br>
            <a:r>
              <a:rPr lang="en-US" dirty="0"/>
              <a:t>1821. Oil on canvas, 51-1/4</a:t>
            </a:r>
            <a:r>
              <a:rPr lang="ru-RU" dirty="0"/>
              <a:t>"</a:t>
            </a:r>
            <a:r>
              <a:rPr lang="en-US" dirty="0"/>
              <a:t> × 73</a:t>
            </a:r>
            <a:r>
              <a:rPr lang="ru-RU" dirty="0"/>
              <a:t>"</a:t>
            </a:r>
            <a:r>
              <a:rPr lang="en-US" dirty="0"/>
              <a:t> (130.2 × 185.4 cm).</a:t>
            </a:r>
            <a:br>
              <a:rPr lang="en-US" dirty="0"/>
            </a:br>
            <a:r>
              <a:rPr lang="en-US" dirty="0"/>
              <a:t>National Gallery, London. Gift of Henry Vaughan, 1886.</a:t>
            </a:r>
            <a:br>
              <a:rPr lang="en-US" dirty="0"/>
            </a:br>
            <a:r>
              <a:rPr lang="en-US" dirty="0"/>
              <a:t>© 2016. Copyright The National Gallery, London/Scala, Florence. </a:t>
            </a:r>
          </a:p>
        </p:txBody>
      </p:sp>
      <p:pic>
        <p:nvPicPr>
          <p:cNvPr id="2" name="Picture 1" descr="Two farmers ride a horse-drawn cart across a shallow brook that flows past a cottage. A dog watches the men as they head toward a green field, surrounded by tall tre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Title 13"/>
          <p:cNvSpPr>
            <a:spLocks noGrp="1"/>
          </p:cNvSpPr>
          <p:nvPr>
            <p:ph type="title"/>
          </p:nvPr>
        </p:nvSpPr>
        <p:spPr/>
        <p:txBody>
          <a:bodyPr/>
          <a:lstStyle/>
          <a:p>
            <a:r>
              <a:rPr lang="en-US"/>
              <a:t>Romantic Landscape Painting (3 of 7)</a:t>
            </a:r>
          </a:p>
        </p:txBody>
      </p:sp>
      <p:sp>
        <p:nvSpPr>
          <p:cNvPr id="221186" name="Content Placeholder 14"/>
          <p:cNvSpPr>
            <a:spLocks noGrp="1"/>
          </p:cNvSpPr>
          <p:nvPr>
            <p:ph idx="1"/>
          </p:nvPr>
        </p:nvSpPr>
        <p:spPr/>
        <p:txBody>
          <a:bodyPr/>
          <a:lstStyle/>
          <a:p>
            <a:r>
              <a:rPr lang="en-US"/>
              <a:t>Turner</a:t>
            </a:r>
          </a:p>
          <a:p>
            <a:pPr lvl="1"/>
            <a:r>
              <a:rPr lang="en-US"/>
              <a:t>The notion of the </a:t>
            </a:r>
            <a:r>
              <a:rPr lang="en-US" b="1"/>
              <a:t>sublime</a:t>
            </a:r>
            <a:r>
              <a:rPr lang="en-US"/>
              <a:t> according to Edmund Burke involves feelings that transcend everyday feelings when one views something that instills fascination mixed with fear.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Title 13"/>
          <p:cNvSpPr>
            <a:spLocks noGrp="1"/>
          </p:cNvSpPr>
          <p:nvPr>
            <p:ph type="title"/>
          </p:nvPr>
        </p:nvSpPr>
        <p:spPr/>
        <p:txBody>
          <a:bodyPr/>
          <a:lstStyle/>
          <a:p>
            <a:r>
              <a:rPr lang="en-US"/>
              <a:t>Romantic Landscape Painting (4 of 7)</a:t>
            </a:r>
          </a:p>
        </p:txBody>
      </p:sp>
      <p:sp>
        <p:nvSpPr>
          <p:cNvPr id="222210" name="Content Placeholder 14"/>
          <p:cNvSpPr>
            <a:spLocks noGrp="1"/>
          </p:cNvSpPr>
          <p:nvPr>
            <p:ph idx="1"/>
          </p:nvPr>
        </p:nvSpPr>
        <p:spPr/>
        <p:txBody>
          <a:bodyPr/>
          <a:lstStyle/>
          <a:p>
            <a:r>
              <a:rPr lang="en-US"/>
              <a:t>Turner</a:t>
            </a:r>
          </a:p>
          <a:p>
            <a:pPr lvl="1"/>
            <a:r>
              <a:rPr lang="en-US"/>
              <a:t>Joseph Mallord William Turner (1775–1851) manipulated colored light and atmosphere in dramatic, moody storm settings.</a:t>
            </a:r>
          </a:p>
          <a:p>
            <a:pPr lvl="2"/>
            <a:r>
              <a:rPr lang="en-US" i="1"/>
              <a:t>Snowstorm: Hannibal and His Army Crossing the Alps </a:t>
            </a:r>
            <a:r>
              <a:rPr lang="en-US"/>
              <a:t>shows figures reduced to specks as a vortex of wind, mist, and snow become the subject.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Title 3"/>
          <p:cNvSpPr>
            <a:spLocks noGrp="1"/>
          </p:cNvSpPr>
          <p:nvPr>
            <p:ph type="title"/>
          </p:nvPr>
        </p:nvSpPr>
        <p:spPr/>
        <p:txBody>
          <a:bodyPr>
            <a:normAutofit fontScale="90000"/>
          </a:bodyPr>
          <a:lstStyle/>
          <a:p>
            <a:r>
              <a:rPr lang="en-US" dirty="0"/>
              <a:t>Joseph </a:t>
            </a:r>
            <a:r>
              <a:rPr lang="en-US" dirty="0" err="1"/>
              <a:t>Mallord</a:t>
            </a:r>
            <a:r>
              <a:rPr lang="en-US" dirty="0"/>
              <a:t> William Turner SNOWSTORM: HANNIBAL AND HIS ARMY</a:t>
            </a:r>
            <a:br>
              <a:rPr lang="en-US" dirty="0"/>
            </a:br>
            <a:r>
              <a:rPr lang="en-US" dirty="0"/>
              <a:t>CROSSING THE ALPS</a:t>
            </a:r>
            <a:br>
              <a:rPr lang="en-US" dirty="0"/>
            </a:br>
            <a:r>
              <a:rPr lang="en-US" dirty="0"/>
              <a:t>1812. Oil on canvas, 4</a:t>
            </a:r>
            <a:r>
              <a:rPr lang="uk-UA" dirty="0"/>
              <a:t>'</a:t>
            </a:r>
            <a:r>
              <a:rPr lang="en-US" dirty="0"/>
              <a:t>9</a:t>
            </a:r>
            <a:r>
              <a:rPr lang="ru-RU" dirty="0"/>
              <a:t>"</a:t>
            </a:r>
            <a:r>
              <a:rPr lang="en-US" dirty="0"/>
              <a:t> × 7</a:t>
            </a:r>
            <a:r>
              <a:rPr lang="uk-UA" dirty="0"/>
              <a:t>'</a:t>
            </a:r>
            <a:r>
              <a:rPr lang="en-US" dirty="0"/>
              <a:t>9</a:t>
            </a:r>
            <a:r>
              <a:rPr lang="ru-RU" dirty="0"/>
              <a:t>"</a:t>
            </a:r>
            <a:r>
              <a:rPr lang="en-US" dirty="0"/>
              <a:t> (1.46 × 2.39 m).</a:t>
            </a:r>
            <a:br>
              <a:rPr lang="en-US" dirty="0"/>
            </a:br>
            <a:r>
              <a:rPr lang="en-US" dirty="0"/>
              <a:t>Tate, London. © </a:t>
            </a:r>
            <a:r>
              <a:rPr lang="en-US" dirty="0" err="1"/>
              <a:t>akg</a:t>
            </a:r>
            <a:r>
              <a:rPr lang="en-US" dirty="0"/>
              <a:t>-images/De Agostini Picture Library. </a:t>
            </a:r>
          </a:p>
        </p:txBody>
      </p:sp>
      <p:pic>
        <p:nvPicPr>
          <p:cNvPr id="2" name="Picture 1" descr="A massive wall of snowy haze descends toward Hannibal and his soldiers from the heights of the Alps, casting the landscape as well as its own expanse into deep shadow as it obscures the sun, high in the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Title 13"/>
          <p:cNvSpPr>
            <a:spLocks noGrp="1"/>
          </p:cNvSpPr>
          <p:nvPr>
            <p:ph type="title"/>
          </p:nvPr>
        </p:nvSpPr>
        <p:spPr/>
        <p:txBody>
          <a:bodyPr/>
          <a:lstStyle/>
          <a:p>
            <a:r>
              <a:rPr lang="en-US"/>
              <a:t>Romantic Landscape Painting (5 of 7)</a:t>
            </a:r>
          </a:p>
        </p:txBody>
      </p:sp>
      <p:sp>
        <p:nvSpPr>
          <p:cNvPr id="225282" name="Content Placeholder 14"/>
          <p:cNvSpPr>
            <a:spLocks noGrp="1"/>
          </p:cNvSpPr>
          <p:nvPr>
            <p:ph idx="1"/>
          </p:nvPr>
        </p:nvSpPr>
        <p:spPr/>
        <p:txBody>
          <a:bodyPr/>
          <a:lstStyle/>
          <a:p>
            <a:r>
              <a:rPr lang="en-US"/>
              <a:t>Turner</a:t>
            </a:r>
          </a:p>
          <a:p>
            <a:pPr lvl="1"/>
            <a:r>
              <a:rPr lang="en-US"/>
              <a:t>The artist brought the sublime to a contemporary event in </a:t>
            </a:r>
            <a:r>
              <a:rPr lang="en-US" i="1"/>
              <a:t>The Burning of the Houses of Lords and Commons, 16th October 1834</a:t>
            </a:r>
            <a:r>
              <a:rPr lang="en-US"/>
              <a:t>.</a:t>
            </a:r>
          </a:p>
          <a:p>
            <a:pPr lvl="2"/>
            <a:r>
              <a:rPr lang="en-US"/>
              <a:t>Turner witnessed the event himself and made watercolor sketches on the site from which to create the large-scale painting.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Title 3"/>
          <p:cNvSpPr>
            <a:spLocks noGrp="1"/>
          </p:cNvSpPr>
          <p:nvPr>
            <p:ph type="title"/>
          </p:nvPr>
        </p:nvSpPr>
        <p:spPr/>
        <p:txBody>
          <a:bodyPr>
            <a:normAutofit fontScale="90000"/>
          </a:bodyPr>
          <a:lstStyle/>
          <a:p>
            <a:r>
              <a:rPr lang="en-US" dirty="0"/>
              <a:t>Joseph </a:t>
            </a:r>
            <a:r>
              <a:rPr lang="en-US" dirty="0" err="1"/>
              <a:t>Mallord</a:t>
            </a:r>
            <a:r>
              <a:rPr lang="en-US" dirty="0"/>
              <a:t> William Turner THE BURNING OF THE HOUSES OF LORDS AND COMMONS, 16TH OCTOBER 1834</a:t>
            </a:r>
            <a:br>
              <a:rPr lang="en-US" dirty="0"/>
            </a:br>
            <a:r>
              <a:rPr lang="en-US" dirty="0"/>
              <a:t>Oil on canvas, 36-1/4</a:t>
            </a:r>
            <a:r>
              <a:rPr lang="ru-RU" dirty="0"/>
              <a:t>"</a:t>
            </a:r>
            <a:r>
              <a:rPr lang="en-US" dirty="0"/>
              <a:t> × 48-1/2</a:t>
            </a:r>
            <a:r>
              <a:rPr lang="ru-RU" dirty="0"/>
              <a:t>"</a:t>
            </a:r>
            <a:r>
              <a:rPr lang="en-US" dirty="0"/>
              <a:t> (92.1 × 123.2 cm).</a:t>
            </a:r>
            <a:br>
              <a:rPr lang="en-US" dirty="0"/>
            </a:br>
            <a:r>
              <a:rPr lang="en-US" dirty="0"/>
              <a:t>Philadelphia Museum of Art. The John Howard McFadden Collection, 1928. © 2016. Photo The Philadelphia Museum of Art/Art Resource/Scala, Florence. </a:t>
            </a:r>
          </a:p>
        </p:txBody>
      </p:sp>
      <p:pic>
        <p:nvPicPr>
          <p:cNvPr id="2" name="Picture 1" descr="A tall column of bright yellow and orange fire rises above the British Parliament building, in the background, at left. The light is reflected but dimmed in the waters of the Thames, across which spectators stand in the foreground to watch the blaz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Title 13"/>
          <p:cNvSpPr>
            <a:spLocks noGrp="1"/>
          </p:cNvSpPr>
          <p:nvPr>
            <p:ph type="title"/>
          </p:nvPr>
        </p:nvSpPr>
        <p:spPr/>
        <p:txBody>
          <a:bodyPr/>
          <a:lstStyle/>
          <a:p>
            <a:r>
              <a:rPr lang="en-US"/>
              <a:t>Romantic Landscape Painting (6 of 7)</a:t>
            </a:r>
          </a:p>
        </p:txBody>
      </p:sp>
      <p:sp>
        <p:nvSpPr>
          <p:cNvPr id="228354" name="Content Placeholder 14"/>
          <p:cNvSpPr>
            <a:spLocks noGrp="1"/>
          </p:cNvSpPr>
          <p:nvPr>
            <p:ph idx="1"/>
          </p:nvPr>
        </p:nvSpPr>
        <p:spPr/>
        <p:txBody>
          <a:bodyPr/>
          <a:lstStyle/>
          <a:p>
            <a:r>
              <a:rPr lang="en-US"/>
              <a:t>Cole and Friedrich</a:t>
            </a:r>
          </a:p>
          <a:p>
            <a:pPr lvl="1"/>
            <a:r>
              <a:rPr lang="en-US"/>
              <a:t>Thomas Cole</a:t>
            </a:r>
            <a:r>
              <a:rPr lang="uk-UA"/>
              <a:t>'</a:t>
            </a:r>
            <a:r>
              <a:rPr lang="en-US"/>
              <a:t>s </a:t>
            </a:r>
            <a:r>
              <a:rPr lang="en-US" i="1"/>
              <a:t>The Oxbow </a:t>
            </a:r>
            <a:r>
              <a:rPr lang="en-US"/>
              <a:t>was a dramatic, monumentally-scaled painting of a view from Mount Holyoke, MA.</a:t>
            </a:r>
          </a:p>
          <a:p>
            <a:pPr lvl="2"/>
            <a:r>
              <a:rPr lang="en-US"/>
              <a:t>The artist frequently worked from observation and this painting represents a specific place and time.</a:t>
            </a:r>
          </a:p>
          <a:p>
            <a:pPr lvl="2"/>
            <a:r>
              <a:rPr lang="en-US"/>
              <a:t>He contrasts two sides of the American landscape: the dense, stormy wilderness and the congenial, pastoral valleys.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Title 3"/>
          <p:cNvSpPr>
            <a:spLocks noGrp="1"/>
          </p:cNvSpPr>
          <p:nvPr>
            <p:ph type="title"/>
          </p:nvPr>
        </p:nvSpPr>
        <p:spPr/>
        <p:txBody>
          <a:bodyPr>
            <a:normAutofit fontScale="90000"/>
          </a:bodyPr>
          <a:lstStyle/>
          <a:p>
            <a:r>
              <a:rPr lang="en-US" dirty="0"/>
              <a:t>Thomas Cole THE OXBOW</a:t>
            </a:r>
            <a:br>
              <a:rPr lang="en-US" dirty="0"/>
            </a:br>
            <a:r>
              <a:rPr lang="en-US" dirty="0"/>
              <a:t>1836. Oil on canvas, 51-1/2</a:t>
            </a:r>
            <a:r>
              <a:rPr lang="ru-RU" dirty="0"/>
              <a:t>"</a:t>
            </a:r>
            <a:r>
              <a:rPr lang="en-US" dirty="0"/>
              <a:t> × 76</a:t>
            </a:r>
            <a:r>
              <a:rPr lang="ru-RU" dirty="0"/>
              <a:t>"</a:t>
            </a:r>
            <a:r>
              <a:rPr lang="en-US" dirty="0"/>
              <a:t> (1.31 × 1.94 m).</a:t>
            </a:r>
            <a:br>
              <a:rPr lang="en-US" dirty="0"/>
            </a:br>
            <a:r>
              <a:rPr lang="en-US" dirty="0"/>
              <a:t>Metropolitan Museum of Art, New York. Gift of Mrs. Russell Sage, 1908 (08.228).</a:t>
            </a:r>
            <a:br>
              <a:rPr lang="en-US" dirty="0"/>
            </a:br>
            <a:r>
              <a:rPr lang="en-US" dirty="0"/>
              <a:t>© 2016. Image copyright The Metropolitan Museum of Art/Art Resource/Scala, Florence. </a:t>
            </a:r>
          </a:p>
        </p:txBody>
      </p:sp>
      <p:pic>
        <p:nvPicPr>
          <p:cNvPr id="2" name="Picture 1" descr="In the middle distance, a blue river winds its way across a lush, agrarian landscape. The river’s curvature is obscured by a forested hill in the foreground, but the visible portion twists into a wide loop, resembling a shepherd’s croo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Title 13"/>
          <p:cNvSpPr>
            <a:spLocks noGrp="1"/>
          </p:cNvSpPr>
          <p:nvPr>
            <p:ph type="title"/>
          </p:nvPr>
        </p:nvSpPr>
        <p:spPr/>
        <p:txBody>
          <a:bodyPr/>
          <a:lstStyle/>
          <a:p>
            <a:r>
              <a:rPr lang="en-US"/>
              <a:t>Romantic Landscape Painting (7 of 7)</a:t>
            </a:r>
          </a:p>
        </p:txBody>
      </p:sp>
      <p:sp>
        <p:nvSpPr>
          <p:cNvPr id="231426" name="Content Placeholder 14"/>
          <p:cNvSpPr>
            <a:spLocks noGrp="1"/>
          </p:cNvSpPr>
          <p:nvPr>
            <p:ph idx="1"/>
          </p:nvPr>
        </p:nvSpPr>
        <p:spPr/>
        <p:txBody>
          <a:bodyPr/>
          <a:lstStyle/>
          <a:p>
            <a:r>
              <a:rPr lang="en-US"/>
              <a:t>Cole and Friedrich</a:t>
            </a:r>
          </a:p>
          <a:p>
            <a:pPr lvl="1"/>
            <a:r>
              <a:rPr lang="en-US"/>
              <a:t>In Germany, Caspar David Friedrich (1774–1840) used landscape toward spiritual revelation.</a:t>
            </a:r>
          </a:p>
          <a:p>
            <a:pPr lvl="2"/>
            <a:r>
              <a:rPr lang="en-US"/>
              <a:t>He was inspired by Kosegarten</a:t>
            </a:r>
            <a:r>
              <a:rPr lang="uk-UA"/>
              <a:t>'</a:t>
            </a:r>
            <a:r>
              <a:rPr lang="en-US"/>
              <a:t>s writings and teachings, believing landscape to be God</a:t>
            </a:r>
            <a:r>
              <a:rPr lang="uk-UA"/>
              <a:t>'</a:t>
            </a:r>
            <a:r>
              <a:rPr lang="en-US"/>
              <a:t>s </a:t>
            </a:r>
            <a:r>
              <a:rPr lang="ru-RU"/>
              <a:t>"</a:t>
            </a:r>
            <a:r>
              <a:rPr lang="en-US"/>
              <a:t>Book of Nature.</a:t>
            </a:r>
            <a:r>
              <a:rPr lang="ru-RU"/>
              <a:t>"</a:t>
            </a:r>
            <a:endParaRPr lang="en-US"/>
          </a:p>
          <a:p>
            <a:pPr lvl="2"/>
            <a:r>
              <a:rPr lang="en-US" i="1"/>
              <a:t>Abbey in an Oak Forest </a:t>
            </a:r>
            <a:r>
              <a:rPr lang="en-US"/>
              <a:t>shows a funeral procession in the fog with silhouetted tree branches a Gothic wall in ruins.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Title 3"/>
          <p:cNvSpPr>
            <a:spLocks noGrp="1"/>
          </p:cNvSpPr>
          <p:nvPr>
            <p:ph type="title"/>
          </p:nvPr>
        </p:nvSpPr>
        <p:spPr/>
        <p:txBody>
          <a:bodyPr>
            <a:normAutofit fontScale="90000"/>
          </a:bodyPr>
          <a:lstStyle/>
          <a:p>
            <a:r>
              <a:rPr lang="en-US" dirty="0"/>
              <a:t>Caspar David Friedrich ABBEY IN AN OAK FOREST</a:t>
            </a:r>
            <a:br>
              <a:rPr lang="en-US" dirty="0"/>
            </a:br>
            <a:r>
              <a:rPr lang="en-US" dirty="0"/>
              <a:t>1809–1810. Oil on canvas, 44</a:t>
            </a:r>
            <a:r>
              <a:rPr lang="ru-RU" dirty="0"/>
              <a:t>"</a:t>
            </a:r>
            <a:r>
              <a:rPr lang="en-US" dirty="0"/>
              <a:t> × 68-1/2</a:t>
            </a:r>
            <a:r>
              <a:rPr lang="ru-RU" dirty="0"/>
              <a:t>"</a:t>
            </a:r>
            <a:r>
              <a:rPr lang="en-US" dirty="0"/>
              <a:t> (111.8 × 174 cm).</a:t>
            </a:r>
            <a:br>
              <a:rPr lang="en-US" dirty="0"/>
            </a:br>
            <a:r>
              <a:rPr lang="en-US" dirty="0" err="1"/>
              <a:t>Nationalgalerie</a:t>
            </a:r>
            <a:r>
              <a:rPr lang="en-US" dirty="0"/>
              <a:t>, Berlin. ©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Photo: Joerg P. Anders. </a:t>
            </a:r>
          </a:p>
        </p:txBody>
      </p:sp>
      <p:pic>
        <p:nvPicPr>
          <p:cNvPr id="2" name="Picture 1" descr="A single lancet window is silhouetted in the middle of a freestanding, ruined cathedral wall, in a churchyard covered with snow. The sun is either rising or setting, leaving the scene dark below a red sky."/>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Title 13"/>
          <p:cNvSpPr>
            <a:spLocks noGrp="1"/>
          </p:cNvSpPr>
          <p:nvPr>
            <p:ph type="title"/>
          </p:nvPr>
        </p:nvSpPr>
        <p:spPr/>
        <p:txBody>
          <a:bodyPr/>
          <a:lstStyle/>
          <a:p>
            <a:r>
              <a:rPr lang="en-US"/>
              <a:t>British and American Architecture </a:t>
            </a:r>
            <a:br>
              <a:rPr lang="en-US"/>
            </a:br>
            <a:r>
              <a:rPr lang="en-US"/>
              <a:t>(1 of 6)</a:t>
            </a:r>
          </a:p>
        </p:txBody>
      </p:sp>
      <p:sp>
        <p:nvSpPr>
          <p:cNvPr id="234498" name="Content Placeholder 14"/>
          <p:cNvSpPr>
            <a:spLocks noGrp="1"/>
          </p:cNvSpPr>
          <p:nvPr>
            <p:ph idx="1"/>
          </p:nvPr>
        </p:nvSpPr>
        <p:spPr/>
        <p:txBody>
          <a:bodyPr/>
          <a:lstStyle/>
          <a:p>
            <a:r>
              <a:rPr lang="en-US"/>
              <a:t>Neoclassicism was often applied to secular public buildings for a sense of grandeur and timelessness.</a:t>
            </a:r>
          </a:p>
          <a:p>
            <a:r>
              <a:rPr lang="en-US"/>
              <a:t>Romanticism in architecture evoked the Gothic with its associations of spirituality and community.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Title 13"/>
          <p:cNvSpPr>
            <a:spLocks noGrp="1"/>
          </p:cNvSpPr>
          <p:nvPr>
            <p:ph type="title"/>
          </p:nvPr>
        </p:nvSpPr>
        <p:spPr/>
        <p:txBody>
          <a:bodyPr/>
          <a:lstStyle/>
          <a:p>
            <a:r>
              <a:rPr lang="en-US"/>
              <a:t>British and American Architecture</a:t>
            </a:r>
            <a:br>
              <a:rPr lang="en-US"/>
            </a:br>
            <a:r>
              <a:rPr lang="en-US"/>
              <a:t>(2 of 6)</a:t>
            </a:r>
          </a:p>
        </p:txBody>
      </p:sp>
      <p:sp>
        <p:nvSpPr>
          <p:cNvPr id="235522" name="Content Placeholder 14"/>
          <p:cNvSpPr>
            <a:spLocks noGrp="1"/>
          </p:cNvSpPr>
          <p:nvPr>
            <p:ph idx="1"/>
          </p:nvPr>
        </p:nvSpPr>
        <p:spPr/>
        <p:txBody>
          <a:bodyPr/>
          <a:lstStyle/>
          <a:p>
            <a:r>
              <a:rPr lang="en-US"/>
              <a:t>Gothic Architecture</a:t>
            </a:r>
          </a:p>
          <a:p>
            <a:pPr lvl="1"/>
            <a:r>
              <a:rPr lang="en-US"/>
              <a:t>The Houses of Parliament were erected in the Gothic Revival style.</a:t>
            </a:r>
          </a:p>
          <a:p>
            <a:pPr lvl="2"/>
            <a:r>
              <a:rPr lang="en-US"/>
              <a:t>Barry and Pugin devised a Classical plan with balanced symmetry.</a:t>
            </a:r>
          </a:p>
          <a:p>
            <a:pPr lvl="1"/>
            <a:r>
              <a:rPr lang="en-US"/>
              <a:t>For Pugin, Gothic was more of a principle than a style.</a:t>
            </a:r>
          </a:p>
          <a:p>
            <a:pPr lvl="2"/>
            <a:r>
              <a:rPr lang="en-US"/>
              <a:t>It embodied two </a:t>
            </a:r>
            <a:r>
              <a:rPr lang="ru-RU"/>
              <a:t>"</a:t>
            </a:r>
            <a:r>
              <a:rPr lang="en-US"/>
              <a:t>great rules</a:t>
            </a:r>
            <a:r>
              <a:rPr lang="ru-RU"/>
              <a:t>"</a:t>
            </a:r>
            <a:r>
              <a:rPr lang="en-US"/>
              <a:t> of architecture regarding convenience and ornamentation.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Title 3"/>
          <p:cNvSpPr>
            <a:spLocks noGrp="1"/>
          </p:cNvSpPr>
          <p:nvPr>
            <p:ph type="title"/>
          </p:nvPr>
        </p:nvSpPr>
        <p:spPr/>
        <p:txBody>
          <a:bodyPr>
            <a:normAutofit fontScale="90000"/>
          </a:bodyPr>
          <a:lstStyle/>
          <a:p>
            <a:r>
              <a:rPr lang="en-US" dirty="0"/>
              <a:t>Charles Barry and Augustus </a:t>
            </a:r>
            <a:r>
              <a:rPr lang="en-US" dirty="0" err="1"/>
              <a:t>Welby</a:t>
            </a:r>
            <a:r>
              <a:rPr lang="en-US" dirty="0"/>
              <a:t> </a:t>
            </a:r>
            <a:r>
              <a:rPr lang="en-US" dirty="0" err="1"/>
              <a:t>Northmore</a:t>
            </a:r>
            <a:r>
              <a:rPr lang="en-US" dirty="0"/>
              <a:t> Pugin HOUSES OF PARLIAMENT, LONDON</a:t>
            </a:r>
            <a:br>
              <a:rPr lang="en-US" dirty="0"/>
            </a:br>
            <a:r>
              <a:rPr lang="en-US" dirty="0"/>
              <a:t>1836–1860. Royal Commission on the Historical Monuments of England, London. </a:t>
            </a:r>
            <a:br>
              <a:rPr lang="en-US" dirty="0"/>
            </a:br>
            <a:r>
              <a:rPr lang="en-US" dirty="0"/>
              <a:t>© </a:t>
            </a:r>
            <a:r>
              <a:rPr lang="en-US" dirty="0" err="1"/>
              <a:t>S.Borisov</a:t>
            </a:r>
            <a:r>
              <a:rPr lang="en-US" dirty="0"/>
              <a:t>/Shutterstock. </a:t>
            </a:r>
          </a:p>
        </p:txBody>
      </p:sp>
      <p:pic>
        <p:nvPicPr>
          <p:cNvPr id="2" name="Picture 1" descr="Standing almost directly on the waters of the Thames River, the Houses of Parliament present a staggeringly wide structure with two tiers of windows, separated by vertical ribs that terminate in sharp points against the halls’ gabled roof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Title 13"/>
          <p:cNvSpPr>
            <a:spLocks noGrp="1"/>
          </p:cNvSpPr>
          <p:nvPr>
            <p:ph type="title"/>
          </p:nvPr>
        </p:nvSpPr>
        <p:spPr/>
        <p:txBody>
          <a:bodyPr/>
          <a:lstStyle/>
          <a:p>
            <a:r>
              <a:rPr lang="en-US"/>
              <a:t>British and American Architecture</a:t>
            </a:r>
            <a:br>
              <a:rPr lang="en-US"/>
            </a:br>
            <a:r>
              <a:rPr lang="en-US"/>
              <a:t>(3 of 6)</a:t>
            </a:r>
          </a:p>
        </p:txBody>
      </p:sp>
      <p:sp>
        <p:nvSpPr>
          <p:cNvPr id="238594" name="Content Placeholder 14"/>
          <p:cNvSpPr>
            <a:spLocks noGrp="1"/>
          </p:cNvSpPr>
          <p:nvPr>
            <p:ph idx="1"/>
          </p:nvPr>
        </p:nvSpPr>
        <p:spPr/>
        <p:txBody>
          <a:bodyPr/>
          <a:lstStyle/>
          <a:p>
            <a:r>
              <a:rPr lang="en-US"/>
              <a:t>Gothic Architecture</a:t>
            </a:r>
          </a:p>
          <a:p>
            <a:pPr lvl="1"/>
            <a:r>
              <a:rPr lang="en-US"/>
              <a:t>Most early Gothic Revival buildings were Roman Catholic or Anglican/Episcopalian churches.</a:t>
            </a:r>
          </a:p>
          <a:p>
            <a:pPr lvl="2"/>
            <a:r>
              <a:rPr lang="en-US"/>
              <a:t>The Trinity Church in New York is an example.</a:t>
            </a:r>
          </a:p>
          <a:p>
            <a:pPr lvl="2"/>
            <a:r>
              <a:rPr lang="en-US"/>
              <a:t>Details are rendered with historical accuracy, aside from the vaults being plaster and not masonry.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Title 3"/>
          <p:cNvSpPr>
            <a:spLocks noGrp="1"/>
          </p:cNvSpPr>
          <p:nvPr>
            <p:ph type="title"/>
          </p:nvPr>
        </p:nvSpPr>
        <p:spPr/>
        <p:txBody>
          <a:bodyPr>
            <a:normAutofit fontScale="90000"/>
          </a:bodyPr>
          <a:lstStyle/>
          <a:p>
            <a:r>
              <a:rPr lang="en-US" dirty="0"/>
              <a:t>Richard Upjohn TRINITY CHURCH, NEW YORK CITY</a:t>
            </a:r>
            <a:br>
              <a:rPr lang="en-US" dirty="0"/>
            </a:br>
            <a:r>
              <a:rPr lang="en-US" dirty="0"/>
              <a:t>1839–1846.</a:t>
            </a:r>
            <a:br>
              <a:rPr lang="en-US" dirty="0"/>
            </a:br>
            <a:r>
              <a:rPr lang="en-US" dirty="0"/>
              <a:t>Leo Sorel Photography. </a:t>
            </a:r>
          </a:p>
        </p:txBody>
      </p:sp>
      <p:pic>
        <p:nvPicPr>
          <p:cNvPr id="2" name="Picture 1" descr="Trinity Church’s octagonal spire rises from a rectangular tower standing above the church’s narthex, with the nave extending behind, decorated by bossed spires between each pair of window arch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Title 13"/>
          <p:cNvSpPr>
            <a:spLocks noGrp="1"/>
          </p:cNvSpPr>
          <p:nvPr>
            <p:ph type="title"/>
          </p:nvPr>
        </p:nvSpPr>
        <p:spPr/>
        <p:txBody>
          <a:bodyPr/>
          <a:lstStyle/>
          <a:p>
            <a:r>
              <a:rPr lang="en-US"/>
              <a:t>British and American Architecture</a:t>
            </a:r>
            <a:br>
              <a:rPr lang="en-US"/>
            </a:br>
            <a:r>
              <a:rPr lang="en-US"/>
              <a:t>(4 of 6)</a:t>
            </a:r>
          </a:p>
        </p:txBody>
      </p:sp>
      <p:sp>
        <p:nvSpPr>
          <p:cNvPr id="241666" name="Content Placeholder 14"/>
          <p:cNvSpPr>
            <a:spLocks noGrp="1"/>
          </p:cNvSpPr>
          <p:nvPr>
            <p:ph idx="1"/>
          </p:nvPr>
        </p:nvSpPr>
        <p:spPr/>
        <p:txBody>
          <a:bodyPr/>
          <a:lstStyle/>
          <a:p>
            <a:r>
              <a:rPr lang="en-US"/>
              <a:t>Neoclassical Architecture</a:t>
            </a:r>
          </a:p>
          <a:p>
            <a:pPr lvl="1"/>
            <a:r>
              <a:rPr lang="en-US"/>
              <a:t>Neoclassical designs of national museums in European capitals evoked them as temples of culture and expressions of nationalism.</a:t>
            </a:r>
          </a:p>
          <a:p>
            <a:pPr lvl="1"/>
            <a:r>
              <a:rPr lang="en-US"/>
              <a:t>The Altes Museum in Berlin features a façade comprised of 18 Ionic columns raised on a platform.</a:t>
            </a:r>
          </a:p>
          <a:p>
            <a:pPr lvl="2"/>
            <a:r>
              <a:rPr lang="en-US"/>
              <a:t>Karl Friedrich Schinkel was commissioned to build it for the royal art collection.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Title 3"/>
          <p:cNvSpPr>
            <a:spLocks noGrp="1"/>
          </p:cNvSpPr>
          <p:nvPr>
            <p:ph type="title"/>
          </p:nvPr>
        </p:nvSpPr>
        <p:spPr/>
        <p:txBody>
          <a:bodyPr>
            <a:normAutofit fontScale="90000"/>
          </a:bodyPr>
          <a:lstStyle/>
          <a:p>
            <a:r>
              <a:rPr lang="en-US" dirty="0"/>
              <a:t>Karl Friedrich Schinkel ALTES MUSEUM, BERLIN</a:t>
            </a:r>
            <a:br>
              <a:rPr lang="en-US" dirty="0"/>
            </a:br>
            <a:r>
              <a:rPr lang="en-US" dirty="0"/>
              <a:t>1822–1830.</a:t>
            </a:r>
            <a:br>
              <a:rPr lang="en-US" dirty="0"/>
            </a:br>
            <a:r>
              <a:rPr lang="en-US" dirty="0"/>
              <a:t>©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Photo: Volker-H Schneider. </a:t>
            </a:r>
          </a:p>
        </p:txBody>
      </p:sp>
      <p:pic>
        <p:nvPicPr>
          <p:cNvPr id="2" name="Picture 1" descr="The imposing structure of the Altes Museum stands close to the canal-walled Spree River, where people are depicted walking to the water with fishing rods, or working a river barg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Title 13"/>
          <p:cNvSpPr>
            <a:spLocks noGrp="1"/>
          </p:cNvSpPr>
          <p:nvPr>
            <p:ph type="title"/>
          </p:nvPr>
        </p:nvSpPr>
        <p:spPr/>
        <p:txBody>
          <a:bodyPr/>
          <a:lstStyle/>
          <a:p>
            <a:r>
              <a:rPr lang="en-US"/>
              <a:t>British and American Architecture</a:t>
            </a:r>
            <a:br>
              <a:rPr lang="en-US"/>
            </a:br>
            <a:r>
              <a:rPr lang="en-US"/>
              <a:t>(5 of 6)</a:t>
            </a:r>
          </a:p>
        </p:txBody>
      </p:sp>
      <p:sp>
        <p:nvSpPr>
          <p:cNvPr id="244738" name="Content Placeholder 14"/>
          <p:cNvSpPr>
            <a:spLocks noGrp="1"/>
          </p:cNvSpPr>
          <p:nvPr>
            <p:ph idx="1"/>
          </p:nvPr>
        </p:nvSpPr>
        <p:spPr/>
        <p:txBody>
          <a:bodyPr/>
          <a:lstStyle/>
          <a:p>
            <a:r>
              <a:rPr lang="en-US"/>
              <a:t>Neoclassical Architecture</a:t>
            </a:r>
          </a:p>
          <a:p>
            <a:pPr lvl="1"/>
            <a:r>
              <a:rPr lang="en-US"/>
              <a:t>Neoclassical style was utilized for the building of the U.S. Capitol in Washington, D.C.</a:t>
            </a:r>
          </a:p>
          <a:p>
            <a:pPr lvl="2"/>
            <a:r>
              <a:rPr lang="en-US"/>
              <a:t>Benjamin Henry Latrobe was hired to expand upon the symbolism introduced by amateur architect, William Thornton.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Title 3"/>
          <p:cNvSpPr>
            <a:spLocks noGrp="1"/>
          </p:cNvSpPr>
          <p:nvPr>
            <p:ph type="title"/>
          </p:nvPr>
        </p:nvSpPr>
        <p:spPr/>
        <p:txBody>
          <a:bodyPr>
            <a:normAutofit fontScale="90000"/>
          </a:bodyPr>
          <a:lstStyle/>
          <a:p>
            <a:r>
              <a:rPr lang="en-US" dirty="0"/>
              <a:t>Benjamin Henry Latrobe U.S. CAPITOL, WASHINGTON, DC</a:t>
            </a:r>
            <a:br>
              <a:rPr lang="en-US" dirty="0"/>
            </a:br>
            <a:r>
              <a:rPr lang="en-US" dirty="0"/>
              <a:t>c. 1808. Engraving by T. Sutherland, 1825.</a:t>
            </a:r>
            <a:br>
              <a:rPr lang="en-US" dirty="0"/>
            </a:br>
            <a:r>
              <a:rPr lang="en-US" dirty="0"/>
              <a:t>Library of Congress, Prints and Photographs </a:t>
            </a:r>
            <a:r>
              <a:rPr lang="en-US" dirty="0" err="1"/>
              <a:t>Division,Washington</a:t>
            </a:r>
            <a:r>
              <a:rPr lang="en-US" dirty="0"/>
              <a:t> D.C. </a:t>
            </a:r>
            <a:br>
              <a:rPr lang="en-US" dirty="0"/>
            </a:br>
            <a:r>
              <a:rPr lang="en-US" dirty="0"/>
              <a:t>Courtesy the Library of Congress. </a:t>
            </a:r>
          </a:p>
        </p:txBody>
      </p:sp>
      <p:pic>
        <p:nvPicPr>
          <p:cNvPr id="2" name="Picture 1" descr="Well-dressed Washingtonian families stroll along the expansive lawn in front of the I S Capitol Building. Its sides are decorated by integrated columns, and a screen of freestanding columns line the building’s wide portico."/>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Title 13"/>
          <p:cNvSpPr>
            <a:spLocks noGrp="1"/>
          </p:cNvSpPr>
          <p:nvPr>
            <p:ph type="title"/>
          </p:nvPr>
        </p:nvSpPr>
        <p:spPr/>
        <p:txBody>
          <a:bodyPr/>
          <a:lstStyle/>
          <a:p>
            <a:r>
              <a:rPr lang="en-US"/>
              <a:t>British and American Architecture</a:t>
            </a:r>
            <a:br>
              <a:rPr lang="en-US"/>
            </a:br>
            <a:r>
              <a:rPr lang="en-US"/>
              <a:t>(6 of 6)</a:t>
            </a:r>
          </a:p>
        </p:txBody>
      </p:sp>
      <p:sp>
        <p:nvSpPr>
          <p:cNvPr id="247810" name="Content Placeholder 14"/>
          <p:cNvSpPr>
            <a:spLocks noGrp="1"/>
          </p:cNvSpPr>
          <p:nvPr>
            <p:ph idx="1"/>
          </p:nvPr>
        </p:nvSpPr>
        <p:spPr/>
        <p:txBody>
          <a:bodyPr/>
          <a:lstStyle/>
          <a:p>
            <a:r>
              <a:rPr lang="en-US"/>
              <a:t>Neoclassical Architecture</a:t>
            </a:r>
          </a:p>
          <a:p>
            <a:pPr lvl="1"/>
            <a:r>
              <a:rPr lang="en-US"/>
              <a:t>Thomas Jefferson designed his Virginia residence, Monticello, in the 1770s as influenced by Roman architecture and British Palladian villas.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3"/>
          <p:cNvSpPr>
            <a:spLocks noGrp="1"/>
          </p:cNvSpPr>
          <p:nvPr>
            <p:ph type="title"/>
          </p:nvPr>
        </p:nvSpPr>
        <p:spPr/>
        <p:txBody>
          <a:bodyPr>
            <a:normAutofit fontScale="90000"/>
          </a:bodyPr>
          <a:lstStyle/>
          <a:p>
            <a:r>
              <a:rPr lang="en-US" dirty="0"/>
              <a:t>Thomas Jefferson MONTICELLO</a:t>
            </a:r>
            <a:br>
              <a:rPr lang="en-US" dirty="0"/>
            </a:br>
            <a:r>
              <a:rPr lang="en-US" dirty="0"/>
              <a:t>Charlottesville, Virginia. 1769–1782, 1796–1809.</a:t>
            </a:r>
            <a:br>
              <a:rPr lang="en-US" dirty="0"/>
            </a:br>
            <a:r>
              <a:rPr lang="en-US" dirty="0"/>
              <a:t>© </a:t>
            </a:r>
            <a:r>
              <a:rPr lang="en-US" dirty="0" err="1"/>
              <a:t>Ffooter</a:t>
            </a:r>
            <a:r>
              <a:rPr lang="en-US" dirty="0"/>
              <a:t>/Shutterstock. </a:t>
            </a:r>
          </a:p>
        </p:txBody>
      </p:sp>
      <p:pic>
        <p:nvPicPr>
          <p:cNvPr id="2" name="Picture 1" descr="A screen of four white columns decorates Monticello’s narrow portico, in strong contrast against the building’s red brick construction and black shutters. A semicircular window decorates the gable above the portico."/>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1775</TotalTime>
  <Words>4503</Words>
  <Application>Microsoft Office PowerPoint</Application>
  <PresentationFormat>On-screen Show (4:3)</PresentationFormat>
  <Paragraphs>226</Paragraphs>
  <Slides>63</Slides>
  <Notes>29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63</vt:i4>
      </vt:variant>
    </vt:vector>
  </HeadingPairs>
  <TitlesOfParts>
    <vt:vector size="68" baseType="lpstr">
      <vt:lpstr>Arial</vt:lpstr>
      <vt:lpstr>Verdana</vt:lpstr>
      <vt:lpstr>Wingdings</vt:lpstr>
      <vt:lpstr>508 Lecture</vt:lpstr>
      <vt:lpstr>Custom Design</vt:lpstr>
      <vt:lpstr>Chapter 24</vt:lpstr>
      <vt:lpstr>Learning Objectives</vt:lpstr>
      <vt:lpstr>Spain and Spanish America</vt:lpstr>
      <vt:lpstr>Goya (1 of 3)</vt:lpstr>
      <vt:lpstr>Francisco Goya THE SLEEP OF REASON PRODUCES MONSTERS No. 43 from Los Caprichos (The Caprices). 1796–1798; published 1799. Etching and aquatint, 8-1/2" × 6" (21.6 × 15.2 cm). Yale University Art Gallery. Bequest of Ralph Kirkpatrick, Hon. M.A. 1965 (1984.54.92.43). Image courtesy Yale University Art Gallery. </vt:lpstr>
      <vt:lpstr>Goya (2 of 3)</vt:lpstr>
      <vt:lpstr>Francisco Goya FAMILY OF CHARLES IV 1800. Oil on canvas, 9'2" × 11' (2.79 × 3.36 m). Museo del Prado, Madrid. © 2016. Image copyright Museo Nacional del Prado. © Photo MNP/Photo Scala, Florence. </vt:lpstr>
      <vt:lpstr>Goya (3 of 3)</vt:lpstr>
      <vt:lpstr>Francisco Goya THIRD OF MAY, 1808 1814–1815. Oil on canvas, 8'9" × 13'4" (2.67 × 4.06 m). Museo del Prado, Madrid. © 2016. Image copyright Museo Nacional del Prado. © Photo MNP/Scala, Florence. </vt:lpstr>
      <vt:lpstr>The Art of the Americas Under Spain (1 of 3)</vt:lpstr>
      <vt:lpstr>ATRIAL CROSS Before 1556. Stone, height 11'3" (3.45 m). Chapel of the Indians, Basilica of Guadalupe, Mexico City. © Jamie Lara</vt:lpstr>
      <vt:lpstr>The Art of the Americas Under Spain (2 of 3)</vt:lpstr>
      <vt:lpstr>Sebastian Salcedo VIRGIN OF GUADALUPE 1779. Oil on panel and copper, 25" × 19" (63.5 × 48.3 cm). Denver Art Museum. Funds contributed by Mr. and Mrs. George G. Anderman and an anonymous donor (1976.56). </vt:lpstr>
      <vt:lpstr>The Art of the Americas Under Spain (3 of 3)</vt:lpstr>
      <vt:lpstr>MISSION SAN XAVIER DEL BAC Near Tucson, Arizona. 1784–1797. Paul Moore/Fotolia.</vt:lpstr>
      <vt:lpstr>The Development of Neoclassicism and Romanticism into the Nineteenth Century</vt:lpstr>
      <vt:lpstr>Developments in France (1 of 10)</vt:lpstr>
      <vt:lpstr>Developments in France (2 of 10)</vt:lpstr>
      <vt:lpstr>Jacques-Louis David NAPOLEON CROSSING THE SAINT-BERNARD 1800–1801. Oil on canvas, 8'11" × 7'7" (2.7 × 2.3 m). Versailles, Châteaux de Versailles et de Trianon. Photo © RMN-Grand Palais (Château de Versailles)/Franck Raux. </vt:lpstr>
      <vt:lpstr>Developments in France (3 of 10)</vt:lpstr>
      <vt:lpstr>Antoine-Jean Gros NAPOLEON IN THE PLAGUE HOUSE AT JAFFA 1804. Oil on canvas, 17'5" × 23'7" (5.32 × 7.2 m). Musée du Louvre, Paris. Photo © RMN-Grand Palais (musée du Louvre)/Thierry Le Mage. </vt:lpstr>
      <vt:lpstr>Developments in France (4 of 10)</vt:lpstr>
      <vt:lpstr>Developments in France (5 of 10)</vt:lpstr>
      <vt:lpstr>Théodore Géricault THE RAFT OF THE MEDUSA 1818–1819. Oil on canvas, 16'1" × 23'6" (4.9 × 7.16 m). Musée du Louvre, Paris. © akg-images/Erich Lessing.</vt:lpstr>
      <vt:lpstr>Théodore Géricault THE SIGHTING OF THE ARGUS 1818. Pen and ink on paper, 13-3/4" × 16-1/8" (34.9 × 41 cm). Musée des Beaux-Arts, Lille. Photo © RMN-Grand Palais/Philipp Bernard.</vt:lpstr>
      <vt:lpstr>Théodore Géricault THE SIGHTING OF THE "ARGUS" 1818. Pen and ink, sepia wash on paper, 8-1/8" × 11-1/4" (20.6 × 28.6 cm). Musée des Beaux-Arts, Rouen. Photo © RMN-Grand Palais/Philipp Bernard.</vt:lpstr>
      <vt:lpstr>Théodore Géricault STUDY OF HANDS AND FEET 1818–1819. Oil on canvas, 20-1/2" × 25-3/18" (52 × 64 cm). Musée Fabre de Montpellier. Musée Fabre de Montpellier Agglomération.  Photo: Frédéric Jaulmes.</vt:lpstr>
      <vt:lpstr>Developments in France (6 of 10)</vt:lpstr>
      <vt:lpstr>Eugène Delacroix LIBERTY LEADING THE PEOPLE: JULY 28, 1830 1830. Oil on canvas, 8'6-1/2" × 10'8" (2.6 × 3.25 m). Musée du Louvre, Paris. Photo © Musée du Louvre, Dist. RMN-Grand Palais/Philippe Fuzeau.</vt:lpstr>
      <vt:lpstr>Developments in France (7 of 10)</vt:lpstr>
      <vt:lpstr>François Rude DEPARTURE OF THE VOLUNTEERS OF 1792 (THE MARSEILLAISE) Arc de Triomphe, Place de l'Étoile, Paris. 1833–1836. Limestone, height approx. 42' (12.8 m). © Kiev.Victor/Shutterstock. </vt:lpstr>
      <vt:lpstr>Developments in France (8 of 10)</vt:lpstr>
      <vt:lpstr>Jean-Auguste-Dominique Ingres LARGE ODALISQUE 1814. Oil on canvas, approx. 35" × 64" (88.9 × 162.5 cm). Musée du Louvre, Paris. Photo © RMN-Grand Palais (musée du Louvre)/Thierry Le Mage.</vt:lpstr>
      <vt:lpstr>Developments in France (9 of 10)</vt:lpstr>
      <vt:lpstr>Jean-Auguste-Dominique Ingres PORTRAIT OF MADAME DÉSIRÉ RAOUL-ROCHETTE 1830. Graphite on paper, 12-5/8" × 9-1/2" (32.2 × 24.1 cm). Cleveland Museum of Art. Purchase from the J. H. Wade Fund (1927.437). Bridgeman Images. </vt:lpstr>
      <vt:lpstr>Technique: Lithography</vt:lpstr>
      <vt:lpstr>Honoré Daumier THE PRINT LOVERS c. 1863–1865. Watercolor, black pencil, black ink, gray wash, 10-1/8" × 12-1/8" (25.8 × 30.7 cm). Musée du Louvre, Paris. Photo © RMN-Grand Palais (musée du Louvre). </vt:lpstr>
      <vt:lpstr>TECHNIQUE: Lithography Diagram of the lithographic process.</vt:lpstr>
      <vt:lpstr>Developments in France (10 of 10)</vt:lpstr>
      <vt:lpstr>Honoré Daumier RUE TRANSNONAIN, LE 15 AVRIL 1834 1834. Lithograph, 11" × 17-3/8" (28 × 44 cm). Yale University Art Gallery, Everett V. Meeks, B.A. 1901, Fund (1982.120.4).  Image courtesy Yale University Art Gallery. </vt:lpstr>
      <vt:lpstr>Romantic Landscape Painting (1 of 7)</vt:lpstr>
      <vt:lpstr>Romantic Landscape Painting (2 of 7)</vt:lpstr>
      <vt:lpstr>John Constable THE HAY WAIN 1821. Oil on canvas, 51-1/4" × 73" (130.2 × 185.4 cm). National Gallery, London. Gift of Henry Vaughan, 1886. © 2016. Copyright The National Gallery, London/Scala, Florence. </vt:lpstr>
      <vt:lpstr>Romantic Landscape Painting (3 of 7)</vt:lpstr>
      <vt:lpstr>Romantic Landscape Painting (4 of 7)</vt:lpstr>
      <vt:lpstr>Joseph Mallord William Turner SNOWSTORM: HANNIBAL AND HIS ARMY CROSSING THE ALPS 1812. Oil on canvas, 4'9" × 7'9" (1.46 × 2.39 m). Tate, London. © akg-images/De Agostini Picture Library. </vt:lpstr>
      <vt:lpstr>Romantic Landscape Painting (5 of 7)</vt:lpstr>
      <vt:lpstr>Joseph Mallord William Turner THE BURNING OF THE HOUSES OF LORDS AND COMMONS, 16TH OCTOBER 1834 Oil on canvas, 36-1/4" × 48-1/2" (92.1 × 123.2 cm). Philadelphia Museum of Art. The John Howard McFadden Collection, 1928. © 2016. Photo The Philadelphia Museum of Art/Art Resource/Scala, Florence. </vt:lpstr>
      <vt:lpstr>Romantic Landscape Painting (6 of 7)</vt:lpstr>
      <vt:lpstr>Thomas Cole THE OXBOW 1836. Oil on canvas, 51-1/2" × 76" (1.31 × 1.94 m). Metropolitan Museum of Art, New York. Gift of Mrs. Russell Sage, 1908 (08.228). © 2016. Image copyright The Metropolitan Museum of Art/Art Resource/Scala, Florence. </vt:lpstr>
      <vt:lpstr>Romantic Landscape Painting (7 of 7)</vt:lpstr>
      <vt:lpstr>Caspar David Friedrich ABBEY IN AN OAK FOREST 1809–1810. Oil on canvas, 44" × 68-1/2" (111.8 × 174 cm). Nationalgalerie, Berlin. © Photo Scala, Florence/bpk, Bildagentur für Kunst, Kultur und Geschichte, Berlin. Photo: Joerg P. Anders. </vt:lpstr>
      <vt:lpstr>British and American Architecture  (1 of 6)</vt:lpstr>
      <vt:lpstr>British and American Architecture (2 of 6)</vt:lpstr>
      <vt:lpstr>Charles Barry and Augustus Welby Northmore Pugin HOUSES OF PARLIAMENT, LONDON 1836–1860. Royal Commission on the Historical Monuments of England, London.  © S.Borisov/Shutterstock. </vt:lpstr>
      <vt:lpstr>British and American Architecture (3 of 6)</vt:lpstr>
      <vt:lpstr>Richard Upjohn TRINITY CHURCH, NEW YORK CITY 1839–1846. Leo Sorel Photography. </vt:lpstr>
      <vt:lpstr>British and American Architecture (4 of 6)</vt:lpstr>
      <vt:lpstr>Karl Friedrich Schinkel ALTES MUSEUM, BERLIN 1822–1830. © 2016. Photo Scala, Florence/bpk, Bildagentur für Kunst, Kultur und Geschichte, Berlin. Photo: Volker-H Schneider. </vt:lpstr>
      <vt:lpstr>British and American Architecture (5 of 6)</vt:lpstr>
      <vt:lpstr>Benjamin Henry Latrobe U.S. CAPITOL, WASHINGTON, DC c. 1808. Engraving by T. Sutherland, 1825. Library of Congress, Prints and Photographs Division,Washington D.C.  Courtesy the Library of Congress. </vt:lpstr>
      <vt:lpstr>British and American Architecture (6 of 6)</vt:lpstr>
      <vt:lpstr>Thomas Jefferson MONTICELLO Charlottesville, Virginia. 1769–1782, 1796–1809. © Ffooter/Shutterstock. </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214</cp:revision>
  <dcterms:created xsi:type="dcterms:W3CDTF">2016-12-06T19:25:09Z</dcterms:created>
  <dcterms:modified xsi:type="dcterms:W3CDTF">2020-06-22T09:42:58Z</dcterms:modified>
</cp:coreProperties>
</file>