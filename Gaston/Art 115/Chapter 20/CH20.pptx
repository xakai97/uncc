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6"/>
  </p:notesMasterIdLst>
  <p:handoutMasterIdLst>
    <p:handoutMasterId r:id="rId57"/>
  </p:handoutMasterIdLst>
  <p:sldIdLst>
    <p:sldId id="650" r:id="rId3"/>
    <p:sldId id="507" r:id="rId4"/>
    <p:sldId id="566" r:id="rId5"/>
    <p:sldId id="568" r:id="rId6"/>
    <p:sldId id="569" r:id="rId7"/>
    <p:sldId id="570" r:id="rId8"/>
    <p:sldId id="571" r:id="rId9"/>
    <p:sldId id="572" r:id="rId10"/>
    <p:sldId id="573" r:id="rId11"/>
    <p:sldId id="574" r:id="rId12"/>
    <p:sldId id="575" r:id="rId13"/>
    <p:sldId id="576" r:id="rId14"/>
    <p:sldId id="577" r:id="rId15"/>
    <p:sldId id="578" r:id="rId16"/>
    <p:sldId id="579" r:id="rId17"/>
    <p:sldId id="580" r:id="rId18"/>
    <p:sldId id="581" r:id="rId19"/>
    <p:sldId id="582" r:id="rId20"/>
    <p:sldId id="583" r:id="rId21"/>
    <p:sldId id="584" r:id="rId22"/>
    <p:sldId id="585" r:id="rId23"/>
    <p:sldId id="586" r:id="rId24"/>
    <p:sldId id="587" r:id="rId25"/>
    <p:sldId id="588" r:id="rId26"/>
    <p:sldId id="589" r:id="rId27"/>
    <p:sldId id="590" r:id="rId28"/>
    <p:sldId id="591" r:id="rId29"/>
    <p:sldId id="592" r:id="rId30"/>
    <p:sldId id="593" r:id="rId31"/>
    <p:sldId id="594" r:id="rId32"/>
    <p:sldId id="595" r:id="rId33"/>
    <p:sldId id="596" r:id="rId34"/>
    <p:sldId id="597" r:id="rId35"/>
    <p:sldId id="598" r:id="rId36"/>
    <p:sldId id="599" r:id="rId37"/>
    <p:sldId id="600" r:id="rId38"/>
    <p:sldId id="601" r:id="rId39"/>
    <p:sldId id="602" r:id="rId40"/>
    <p:sldId id="603" r:id="rId41"/>
    <p:sldId id="604" r:id="rId42"/>
    <p:sldId id="605" r:id="rId43"/>
    <p:sldId id="606" r:id="rId44"/>
    <p:sldId id="607" r:id="rId45"/>
    <p:sldId id="608" r:id="rId46"/>
    <p:sldId id="609" r:id="rId47"/>
    <p:sldId id="610" r:id="rId48"/>
    <p:sldId id="611" r:id="rId49"/>
    <p:sldId id="612" r:id="rId50"/>
    <p:sldId id="613" r:id="rId51"/>
    <p:sldId id="614" r:id="rId52"/>
    <p:sldId id="615" r:id="rId53"/>
    <p:sldId id="616" r:id="rId54"/>
    <p:sldId id="617"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6" autoAdjust="0"/>
    <p:restoredTop sz="86524" autoAdjust="0"/>
  </p:normalViewPr>
  <p:slideViewPr>
    <p:cSldViewPr>
      <p:cViewPr varScale="1">
        <p:scale>
          <a:sx n="89" d="100"/>
          <a:sy n="89" d="100"/>
        </p:scale>
        <p:origin x="1179" y="66"/>
      </p:cViewPr>
      <p:guideLst>
        <p:guide orient="horz" pos="2160"/>
        <p:guide pos="2880"/>
      </p:guideLst>
    </p:cSldViewPr>
  </p:slideViewPr>
  <p:outlineViewPr>
    <p:cViewPr>
      <p:scale>
        <a:sx n="33" d="100"/>
        <a:sy n="33" d="100"/>
      </p:scale>
      <p:origin x="0" y="-8084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p:cNvSpPr>
            <a:spLocks noGrp="1" noRot="1" noChangeAspect="1" noTextEdit="1"/>
          </p:cNvSpPr>
          <p:nvPr>
            <p:ph type="sldImg"/>
          </p:nvPr>
        </p:nvSpPr>
        <p:spPr bwMode="auto">
          <a:noFill/>
          <a:ln>
            <a:solidFill>
              <a:srgbClr val="000000"/>
            </a:solidFill>
            <a:miter lim="800000"/>
            <a:headEnd/>
            <a:tailEnd/>
          </a:ln>
        </p:spPr>
      </p:sp>
      <p:sp>
        <p:nvSpPr>
          <p:cNvPr id="99330" name="Notes Placeholder 2"/>
          <p:cNvSpPr>
            <a:spLocks noGrp="1"/>
          </p:cNvSpPr>
          <p:nvPr>
            <p:ph type="body" idx="1"/>
          </p:nvPr>
        </p:nvSpPr>
        <p:spPr bwMode="auto">
          <a:noFill/>
        </p:spPr>
        <p:txBody>
          <a:bodyPr/>
          <a:lstStyle/>
          <a:p>
            <a:pPr>
              <a:spcBef>
                <a:spcPct val="0"/>
              </a:spcBef>
            </a:pPr>
            <a:r>
              <a:rPr lang="en-US" dirty="0"/>
              <a:t>Peter Paul Rubens SELF-PORTRAIT WITH ISABELLA BRANDT</a:t>
            </a:r>
            <a:br>
              <a:rPr lang="en-US" dirty="0"/>
            </a:br>
            <a:r>
              <a:rPr lang="en-US" dirty="0"/>
              <a:t>1609–1610. Oil on canvas, 5</a:t>
            </a:r>
            <a:r>
              <a:rPr lang="uk-UA" dirty="0"/>
              <a:t>'</a:t>
            </a:r>
            <a:r>
              <a:rPr lang="en-US" dirty="0"/>
              <a:t>9</a:t>
            </a:r>
            <a:r>
              <a:rPr lang="ru-RU" dirty="0"/>
              <a:t>"</a:t>
            </a:r>
            <a:r>
              <a:rPr lang="en-US" dirty="0"/>
              <a:t> × 4</a:t>
            </a:r>
            <a:r>
              <a:rPr lang="uk-UA" dirty="0"/>
              <a:t>'</a:t>
            </a:r>
            <a:r>
              <a:rPr lang="en-US" dirty="0"/>
              <a:t>5</a:t>
            </a:r>
            <a:r>
              <a:rPr lang="ru-RU" dirty="0"/>
              <a:t>"</a:t>
            </a:r>
            <a:r>
              <a:rPr lang="en-US" dirty="0"/>
              <a:t> (1.78 × 1.36 m).</a:t>
            </a:r>
            <a:br>
              <a:rPr lang="en-US" dirty="0"/>
            </a:br>
            <a:r>
              <a:rPr lang="en-US" dirty="0"/>
              <a:t>Alte </a:t>
            </a:r>
            <a:r>
              <a:rPr lang="en-US" dirty="0" err="1"/>
              <a:t>Pinakothek</a:t>
            </a:r>
            <a:r>
              <a:rPr lang="en-US" dirty="0"/>
              <a:t>, Munich. Photo © </a:t>
            </a:r>
            <a:r>
              <a:rPr lang="en-US" dirty="0" err="1"/>
              <a:t>Blauel</a:t>
            </a:r>
            <a:r>
              <a:rPr lang="en-US" dirty="0"/>
              <a:t> </a:t>
            </a:r>
            <a:r>
              <a:rPr lang="en-US" dirty="0" err="1"/>
              <a:t>Gnamm</a:t>
            </a:r>
            <a:r>
              <a:rPr lang="en-US" dirty="0"/>
              <a:t>/ARTOTHEK.</a:t>
            </a:r>
          </a:p>
        </p:txBody>
      </p:sp>
      <p:sp>
        <p:nvSpPr>
          <p:cNvPr id="99331" name="Slide Number Placeholder 3"/>
          <p:cNvSpPr>
            <a:spLocks noGrp="1"/>
          </p:cNvSpPr>
          <p:nvPr>
            <p:ph type="sldNum" sz="quarter" idx="5"/>
          </p:nvPr>
        </p:nvSpPr>
        <p:spPr bwMode="auto">
          <a:noFill/>
          <a:ln>
            <a:miter lim="800000"/>
            <a:headEnd/>
            <a:tailEnd/>
          </a:ln>
        </p:spPr>
        <p:txBody>
          <a:bodyPr/>
          <a:lstStyle/>
          <a:p>
            <a:fld id="{CAEDC071-996D-4A4A-A57E-99EC14EA7C03}" type="slidenum">
              <a:rPr lang="en-US"/>
              <a:pPr/>
              <a:t>5</a:t>
            </a:fld>
            <a:endParaRPr lang="en-US"/>
          </a:p>
        </p:txBody>
      </p:sp>
    </p:spTree>
    <p:extLst>
      <p:ext uri="{BB962C8B-B14F-4D97-AF65-F5344CB8AC3E}">
        <p14:creationId xmlns:p14="http://schemas.microsoft.com/office/powerpoint/2010/main" val="101153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p:cNvSpPr>
            <a:spLocks noGrp="1" noRot="1" noChangeAspect="1" noTextEdit="1"/>
          </p:cNvSpPr>
          <p:nvPr>
            <p:ph type="sldImg"/>
          </p:nvPr>
        </p:nvSpPr>
        <p:spPr bwMode="auto">
          <a:noFill/>
          <a:ln>
            <a:solidFill>
              <a:srgbClr val="000000"/>
            </a:solidFill>
            <a:miter lim="800000"/>
            <a:headEnd/>
            <a:tailEnd/>
          </a:ln>
        </p:spPr>
      </p:sp>
      <p:sp>
        <p:nvSpPr>
          <p:cNvPr id="102402" name="Notes Placeholder 2"/>
          <p:cNvSpPr>
            <a:spLocks noGrp="1"/>
          </p:cNvSpPr>
          <p:nvPr>
            <p:ph type="body" idx="1"/>
          </p:nvPr>
        </p:nvSpPr>
        <p:spPr bwMode="auto">
          <a:noFill/>
        </p:spPr>
        <p:txBody>
          <a:bodyPr/>
          <a:lstStyle/>
          <a:p>
            <a:pPr>
              <a:spcBef>
                <a:spcPct val="0"/>
              </a:spcBef>
            </a:pPr>
            <a:r>
              <a:rPr lang="en-US" dirty="0"/>
              <a:t>Peter Paul Rubens RUBENS</a:t>
            </a:r>
            <a:r>
              <a:rPr lang="uk-UA" dirty="0"/>
              <a:t>'</a:t>
            </a:r>
            <a:r>
              <a:rPr lang="en-US" dirty="0"/>
              <a:t>S HOUSE</a:t>
            </a:r>
            <a:br>
              <a:rPr lang="en-US" dirty="0"/>
            </a:br>
            <a:r>
              <a:rPr lang="en-US" dirty="0"/>
              <a:t>Italianate addition built 1610–1615. Looking toward the garden: house at left, studio at right; house restored and opened as a museum in 1946. From an engraving of 1684. Rijksmuseum, Amsterdam.</a:t>
            </a:r>
          </a:p>
        </p:txBody>
      </p:sp>
      <p:sp>
        <p:nvSpPr>
          <p:cNvPr id="102403" name="Slide Number Placeholder 3"/>
          <p:cNvSpPr>
            <a:spLocks noGrp="1"/>
          </p:cNvSpPr>
          <p:nvPr>
            <p:ph type="sldNum" sz="quarter" idx="5"/>
          </p:nvPr>
        </p:nvSpPr>
        <p:spPr bwMode="auto">
          <a:noFill/>
          <a:ln>
            <a:miter lim="800000"/>
            <a:headEnd/>
            <a:tailEnd/>
          </a:ln>
        </p:spPr>
        <p:txBody>
          <a:bodyPr/>
          <a:lstStyle/>
          <a:p>
            <a:fld id="{0D4A15F2-C5AB-3D4F-80D1-B4E121F03CB5}" type="slidenum">
              <a:rPr lang="en-US"/>
              <a:pPr/>
              <a:t>7</a:t>
            </a:fld>
            <a:endParaRPr lang="en-US"/>
          </a:p>
        </p:txBody>
      </p:sp>
    </p:spTree>
    <p:extLst>
      <p:ext uri="{BB962C8B-B14F-4D97-AF65-F5344CB8AC3E}">
        <p14:creationId xmlns:p14="http://schemas.microsoft.com/office/powerpoint/2010/main" val="1427561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bwMode="auto">
          <a:noFill/>
          <a:ln>
            <a:solidFill>
              <a:srgbClr val="000000"/>
            </a:solidFill>
            <a:miter lim="800000"/>
            <a:headEnd/>
            <a:tailEnd/>
          </a:ln>
        </p:spPr>
      </p:sp>
      <p:sp>
        <p:nvSpPr>
          <p:cNvPr id="104450" name="Notes Placeholder 2"/>
          <p:cNvSpPr>
            <a:spLocks noGrp="1"/>
          </p:cNvSpPr>
          <p:nvPr>
            <p:ph type="body" idx="1"/>
          </p:nvPr>
        </p:nvSpPr>
        <p:spPr bwMode="auto">
          <a:noFill/>
        </p:spPr>
        <p:txBody>
          <a:bodyPr/>
          <a:lstStyle/>
          <a:p>
            <a:pPr>
              <a:spcBef>
                <a:spcPct val="0"/>
              </a:spcBef>
            </a:pPr>
            <a:r>
              <a:rPr lang="en-US" dirty="0"/>
              <a:t>Peter Paul Rubens THE RAISING OF THE CROSS</a:t>
            </a:r>
            <a:br>
              <a:rPr lang="en-US" dirty="0"/>
            </a:br>
            <a:r>
              <a:rPr lang="en-US" dirty="0"/>
              <a:t>Made for the church of St. </a:t>
            </a:r>
            <a:r>
              <a:rPr lang="en-US" dirty="0" err="1"/>
              <a:t>Walpurga</a:t>
            </a:r>
            <a:r>
              <a:rPr lang="en-US" dirty="0"/>
              <a:t>, Antwerp, Belgium. 1610-1611.</a:t>
            </a:r>
            <a:br>
              <a:rPr lang="en-US" dirty="0"/>
            </a:br>
            <a:r>
              <a:rPr lang="en-US" dirty="0"/>
              <a:t>Oil on panel, center panel 15</a:t>
            </a:r>
            <a:r>
              <a:rPr lang="uk-UA" dirty="0"/>
              <a:t>'</a:t>
            </a:r>
            <a:r>
              <a:rPr lang="en-US" dirty="0"/>
              <a:t>1-7/8</a:t>
            </a:r>
            <a:r>
              <a:rPr lang="ru-RU" dirty="0"/>
              <a:t>"</a:t>
            </a:r>
            <a:r>
              <a:rPr lang="en-US" dirty="0"/>
              <a:t> × 11</a:t>
            </a:r>
            <a:r>
              <a:rPr lang="uk-UA" dirty="0"/>
              <a:t>'</a:t>
            </a:r>
            <a:r>
              <a:rPr lang="en-US" dirty="0"/>
              <a:t>1-1/2</a:t>
            </a:r>
            <a:r>
              <a:rPr lang="ru-RU" dirty="0"/>
              <a:t>"</a:t>
            </a:r>
            <a:r>
              <a:rPr lang="en-US" dirty="0"/>
              <a:t> (4.62 × 3.39 m),</a:t>
            </a:r>
            <a:br>
              <a:rPr lang="en-US" dirty="0"/>
            </a:br>
            <a:r>
              <a:rPr lang="en-US" dirty="0"/>
              <a:t>each wing 15</a:t>
            </a:r>
            <a:r>
              <a:rPr lang="uk-UA" dirty="0"/>
              <a:t>'</a:t>
            </a:r>
            <a:r>
              <a:rPr lang="en-US" dirty="0"/>
              <a:t>1-7/8</a:t>
            </a:r>
            <a:r>
              <a:rPr lang="ru-RU" dirty="0"/>
              <a:t>"</a:t>
            </a:r>
            <a:r>
              <a:rPr lang="en-US" dirty="0"/>
              <a:t> × 4</a:t>
            </a:r>
            <a:r>
              <a:rPr lang="uk-UA" dirty="0"/>
              <a:t>'</a:t>
            </a:r>
            <a:r>
              <a:rPr lang="en-US" dirty="0"/>
              <a:t>11</a:t>
            </a:r>
            <a:r>
              <a:rPr lang="ru-RU" dirty="0"/>
              <a:t>"</a:t>
            </a:r>
            <a:r>
              <a:rPr lang="en-US" dirty="0"/>
              <a:t> (4.62 × 1.52 m).</a:t>
            </a:r>
            <a:br>
              <a:rPr lang="en-US" dirty="0"/>
            </a:br>
            <a:r>
              <a:rPr lang="en-US" dirty="0"/>
              <a:t>Now in Cathedral of Our Lady, Antwerp. </a:t>
            </a:r>
            <a:r>
              <a:rPr lang="en-US" dirty="0" err="1"/>
              <a:t>Onze</a:t>
            </a:r>
            <a:r>
              <a:rPr lang="en-US" dirty="0"/>
              <a:t> </a:t>
            </a:r>
            <a:r>
              <a:rPr lang="en-US" dirty="0" err="1"/>
              <a:t>Lieve</a:t>
            </a:r>
            <a:r>
              <a:rPr lang="en-US" dirty="0"/>
              <a:t> </a:t>
            </a:r>
            <a:r>
              <a:rPr lang="en-US" dirty="0" err="1"/>
              <a:t>Vrouwkerk</a:t>
            </a:r>
            <a:r>
              <a:rPr lang="en-US" dirty="0"/>
              <a:t>, Antwerp Cathedral, Belgium/Bridgeman Images.</a:t>
            </a:r>
          </a:p>
        </p:txBody>
      </p:sp>
      <p:sp>
        <p:nvSpPr>
          <p:cNvPr id="104451" name="Slide Number Placeholder 3"/>
          <p:cNvSpPr>
            <a:spLocks noGrp="1"/>
          </p:cNvSpPr>
          <p:nvPr>
            <p:ph type="sldNum" sz="quarter" idx="5"/>
          </p:nvPr>
        </p:nvSpPr>
        <p:spPr bwMode="auto">
          <a:noFill/>
          <a:ln>
            <a:miter lim="800000"/>
            <a:headEnd/>
            <a:tailEnd/>
          </a:ln>
        </p:spPr>
        <p:txBody>
          <a:bodyPr/>
          <a:lstStyle/>
          <a:p>
            <a:fld id="{6E7E81E4-E15F-9E42-80E8-C5EBCE51D783}" type="slidenum">
              <a:rPr lang="en-US"/>
              <a:pPr/>
              <a:t>8</a:t>
            </a:fld>
            <a:endParaRPr lang="en-US"/>
          </a:p>
        </p:txBody>
      </p:sp>
    </p:spTree>
    <p:extLst>
      <p:ext uri="{BB962C8B-B14F-4D97-AF65-F5344CB8AC3E}">
        <p14:creationId xmlns:p14="http://schemas.microsoft.com/office/powerpoint/2010/main" val="1344338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bwMode="auto">
          <a:noFill/>
          <a:ln>
            <a:solidFill>
              <a:srgbClr val="000000"/>
            </a:solidFill>
            <a:miter lim="800000"/>
            <a:headEnd/>
            <a:tailEnd/>
          </a:ln>
        </p:spPr>
      </p:sp>
      <p:sp>
        <p:nvSpPr>
          <p:cNvPr id="107522" name="Notes Placeholder 2"/>
          <p:cNvSpPr>
            <a:spLocks noGrp="1"/>
          </p:cNvSpPr>
          <p:nvPr>
            <p:ph type="body" idx="1"/>
          </p:nvPr>
        </p:nvSpPr>
        <p:spPr bwMode="auto">
          <a:noFill/>
        </p:spPr>
        <p:txBody>
          <a:bodyPr/>
          <a:lstStyle/>
          <a:p>
            <a:pPr>
              <a:spcBef>
                <a:spcPct val="0"/>
              </a:spcBef>
            </a:pPr>
            <a:r>
              <a:rPr lang="en-US" dirty="0"/>
              <a:t>Peter Paul Rubens HENRY IV RECEIVING THE PORTRAIT OF MARIE DE</a:t>
            </a:r>
            <a:r>
              <a:rPr lang="uk-UA" dirty="0"/>
              <a:t>'</a:t>
            </a:r>
            <a:r>
              <a:rPr lang="en-US" dirty="0"/>
              <a:t> MEDICI</a:t>
            </a:r>
            <a:br>
              <a:rPr lang="en-US" dirty="0"/>
            </a:br>
            <a:r>
              <a:rPr lang="en-US" dirty="0"/>
              <a:t>1621–1625. Oil on canvas, 12</a:t>
            </a:r>
            <a:r>
              <a:rPr lang="uk-UA" dirty="0"/>
              <a:t>'</a:t>
            </a:r>
            <a:r>
              <a:rPr lang="en-US" dirty="0"/>
              <a:t>11-1/8</a:t>
            </a:r>
            <a:r>
              <a:rPr lang="ru-RU" dirty="0"/>
              <a:t>"</a:t>
            </a:r>
            <a:r>
              <a:rPr lang="en-US" dirty="0"/>
              <a:t> × 9</a:t>
            </a:r>
            <a:r>
              <a:rPr lang="uk-UA" dirty="0"/>
              <a:t>'</a:t>
            </a:r>
            <a:r>
              <a:rPr lang="en-US" dirty="0"/>
              <a:t>8-1/8</a:t>
            </a:r>
            <a:r>
              <a:rPr lang="ru-RU" dirty="0"/>
              <a:t>"</a:t>
            </a:r>
            <a:r>
              <a:rPr lang="en-US" dirty="0"/>
              <a:t> (3.94 × 2.95 m).</a:t>
            </a:r>
            <a:br>
              <a:rPr lang="en-US" dirty="0"/>
            </a:br>
            <a:r>
              <a:rPr lang="en-US" dirty="0" err="1"/>
              <a:t>Musée</a:t>
            </a:r>
            <a:r>
              <a:rPr lang="en-US" dirty="0"/>
              <a:t> du Louvre, Paris. Photo © RMN-Grand Palais (</a:t>
            </a:r>
            <a:r>
              <a:rPr lang="en-US" dirty="0" err="1"/>
              <a:t>Musée</a:t>
            </a:r>
            <a:r>
              <a:rPr lang="en-US" dirty="0"/>
              <a:t> du Louvre)/René-Gabriel </a:t>
            </a:r>
            <a:r>
              <a:rPr lang="en-US" dirty="0" err="1"/>
              <a:t>Ojéda</a:t>
            </a:r>
            <a:r>
              <a:rPr lang="en-US" dirty="0"/>
              <a:t>/Thierry Le Mage</a:t>
            </a:r>
          </a:p>
        </p:txBody>
      </p:sp>
      <p:sp>
        <p:nvSpPr>
          <p:cNvPr id="107523" name="Slide Number Placeholder 3"/>
          <p:cNvSpPr>
            <a:spLocks noGrp="1"/>
          </p:cNvSpPr>
          <p:nvPr>
            <p:ph type="sldNum" sz="quarter" idx="5"/>
          </p:nvPr>
        </p:nvSpPr>
        <p:spPr bwMode="auto">
          <a:noFill/>
          <a:ln>
            <a:miter lim="800000"/>
            <a:headEnd/>
            <a:tailEnd/>
          </a:ln>
        </p:spPr>
        <p:txBody>
          <a:bodyPr/>
          <a:lstStyle/>
          <a:p>
            <a:fld id="{C1B21C32-E9E9-4E48-8245-B955ADAF3764}" type="slidenum">
              <a:rPr lang="en-US"/>
              <a:pPr/>
              <a:t>10</a:t>
            </a:fld>
            <a:endParaRPr lang="en-US"/>
          </a:p>
        </p:txBody>
      </p:sp>
    </p:spTree>
    <p:extLst>
      <p:ext uri="{BB962C8B-B14F-4D97-AF65-F5344CB8AC3E}">
        <p14:creationId xmlns:p14="http://schemas.microsoft.com/office/powerpoint/2010/main" val="628643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a:lstStyle/>
          <a:p>
            <a:pPr>
              <a:spcBef>
                <a:spcPct val="0"/>
              </a:spcBef>
            </a:pPr>
            <a:r>
              <a:rPr lang="en-US" dirty="0"/>
              <a:t>A CLOSER LOOK: Prometheus Bound by Peter Paul Rubens and Frans </a:t>
            </a:r>
            <a:r>
              <a:rPr lang="en-US" dirty="0" err="1"/>
              <a:t>Snyders</a:t>
            </a:r>
            <a:r>
              <a:rPr lang="en-US" dirty="0"/>
              <a:t> </a:t>
            </a:r>
            <a:br>
              <a:rPr lang="en-US" dirty="0"/>
            </a:br>
            <a:r>
              <a:rPr lang="en-US" dirty="0"/>
              <a:t>c. 1611–1618. Oil on canvas, 95-1/2</a:t>
            </a:r>
            <a:r>
              <a:rPr lang="ru-RU" dirty="0"/>
              <a:t>"</a:t>
            </a:r>
            <a:r>
              <a:rPr lang="en-US" dirty="0"/>
              <a:t> × 82-1/2</a:t>
            </a:r>
            <a:r>
              <a:rPr lang="ru-RU" dirty="0"/>
              <a:t>"</a:t>
            </a:r>
            <a:r>
              <a:rPr lang="en-US" dirty="0"/>
              <a:t> (2.43 × 2.1 m).</a:t>
            </a:r>
            <a:br>
              <a:rPr lang="en-US" dirty="0"/>
            </a:br>
            <a:r>
              <a:rPr lang="en-US" dirty="0"/>
              <a:t>Philadelphia Museum of Art. © 2016. Photo The Philadelphia Museum of Art/Art Resource/Scala, Florence. </a:t>
            </a:r>
          </a:p>
        </p:txBody>
      </p:sp>
      <p:sp>
        <p:nvSpPr>
          <p:cNvPr id="110595" name="Slide Number Placeholder 3"/>
          <p:cNvSpPr>
            <a:spLocks noGrp="1"/>
          </p:cNvSpPr>
          <p:nvPr>
            <p:ph type="sldNum" sz="quarter" idx="5"/>
          </p:nvPr>
        </p:nvSpPr>
        <p:spPr bwMode="auto">
          <a:noFill/>
          <a:ln>
            <a:miter lim="800000"/>
            <a:headEnd/>
            <a:tailEnd/>
          </a:ln>
        </p:spPr>
        <p:txBody>
          <a:bodyPr/>
          <a:lstStyle/>
          <a:p>
            <a:fld id="{C66F320E-DA07-B140-9601-854A47F31F87}" type="slidenum">
              <a:rPr lang="en-US"/>
              <a:pPr/>
              <a:t>12</a:t>
            </a:fld>
            <a:endParaRPr lang="en-US"/>
          </a:p>
        </p:txBody>
      </p:sp>
    </p:spTree>
    <p:extLst>
      <p:ext uri="{BB962C8B-B14F-4D97-AF65-F5344CB8AC3E}">
        <p14:creationId xmlns:p14="http://schemas.microsoft.com/office/powerpoint/2010/main" val="2145917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a:lstStyle/>
          <a:p>
            <a:pPr>
              <a:spcBef>
                <a:spcPct val="0"/>
              </a:spcBef>
            </a:pPr>
            <a:r>
              <a:rPr lang="en-US" dirty="0"/>
              <a:t>Anthony van Dyck CHARLES I AT THE HUNT</a:t>
            </a:r>
            <a:br>
              <a:rPr lang="en-US" dirty="0"/>
            </a:br>
            <a:r>
              <a:rPr lang="en-US" dirty="0"/>
              <a:t>1635. Oil on canvas, 8</a:t>
            </a:r>
            <a:r>
              <a:rPr lang="uk-UA" dirty="0"/>
              <a:t>'</a:t>
            </a:r>
            <a:r>
              <a:rPr lang="en-US" dirty="0"/>
              <a:t>11</a:t>
            </a:r>
            <a:r>
              <a:rPr lang="ru-RU" dirty="0"/>
              <a:t>"</a:t>
            </a:r>
            <a:r>
              <a:rPr lang="en-US" dirty="0"/>
              <a:t> × 6</a:t>
            </a:r>
            <a:r>
              <a:rPr lang="uk-UA" dirty="0"/>
              <a:t>'</a:t>
            </a:r>
            <a:r>
              <a:rPr lang="en-US" dirty="0"/>
              <a:t>11</a:t>
            </a:r>
            <a:r>
              <a:rPr lang="ru-RU" dirty="0"/>
              <a:t>"</a:t>
            </a:r>
            <a:r>
              <a:rPr lang="en-US" dirty="0"/>
              <a:t> (2.75 × 2.14 m).</a:t>
            </a:r>
            <a:br>
              <a:rPr lang="en-US" dirty="0"/>
            </a:br>
            <a:r>
              <a:rPr lang="en-US" dirty="0" err="1"/>
              <a:t>Musée</a:t>
            </a:r>
            <a:r>
              <a:rPr lang="en-US" dirty="0"/>
              <a:t> du Louvre, Paris. Photo © Photo RMN (</a:t>
            </a:r>
            <a:r>
              <a:rPr lang="en-US" dirty="0" err="1"/>
              <a:t>Musee</a:t>
            </a:r>
            <a:r>
              <a:rPr lang="en-US" dirty="0"/>
              <a:t> du Louvre, Paris).</a:t>
            </a:r>
          </a:p>
        </p:txBody>
      </p:sp>
      <p:sp>
        <p:nvSpPr>
          <p:cNvPr id="113667" name="Slide Number Placeholder 3"/>
          <p:cNvSpPr>
            <a:spLocks noGrp="1"/>
          </p:cNvSpPr>
          <p:nvPr>
            <p:ph type="sldNum" sz="quarter" idx="5"/>
          </p:nvPr>
        </p:nvSpPr>
        <p:spPr bwMode="auto">
          <a:noFill/>
          <a:ln>
            <a:miter lim="800000"/>
            <a:headEnd/>
            <a:tailEnd/>
          </a:ln>
        </p:spPr>
        <p:txBody>
          <a:bodyPr/>
          <a:lstStyle/>
          <a:p>
            <a:fld id="{2B451139-E14F-2148-A4E8-844CCB33B989}" type="slidenum">
              <a:rPr lang="en-US"/>
              <a:pPr/>
              <a:t>14</a:t>
            </a:fld>
            <a:endParaRPr lang="en-US"/>
          </a:p>
        </p:txBody>
      </p:sp>
    </p:spTree>
    <p:extLst>
      <p:ext uri="{BB962C8B-B14F-4D97-AF65-F5344CB8AC3E}">
        <p14:creationId xmlns:p14="http://schemas.microsoft.com/office/powerpoint/2010/main" val="1591458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Image Placeholder 1"/>
          <p:cNvSpPr>
            <a:spLocks noGrp="1" noRot="1" noChangeAspect="1" noTextEdit="1"/>
          </p:cNvSpPr>
          <p:nvPr>
            <p:ph type="sldImg"/>
          </p:nvPr>
        </p:nvSpPr>
        <p:spPr bwMode="auto">
          <a:noFill/>
          <a:ln>
            <a:solidFill>
              <a:srgbClr val="000000"/>
            </a:solidFill>
            <a:miter lim="800000"/>
            <a:headEnd/>
            <a:tailEnd/>
          </a:ln>
        </p:spPr>
      </p:sp>
      <p:sp>
        <p:nvSpPr>
          <p:cNvPr id="116738" name="Notes Placeholder 2"/>
          <p:cNvSpPr>
            <a:spLocks noGrp="1"/>
          </p:cNvSpPr>
          <p:nvPr>
            <p:ph type="body" idx="1"/>
          </p:nvPr>
        </p:nvSpPr>
        <p:spPr bwMode="auto">
          <a:noFill/>
        </p:spPr>
        <p:txBody>
          <a:bodyPr/>
          <a:lstStyle/>
          <a:p>
            <a:pPr>
              <a:spcBef>
                <a:spcPct val="0"/>
              </a:spcBef>
            </a:pPr>
            <a:r>
              <a:rPr lang="en-US" dirty="0">
                <a:latin typeface="Verdana" charset="0"/>
              </a:rPr>
              <a:t>Clara </a:t>
            </a:r>
            <a:r>
              <a:rPr lang="en-US" dirty="0" err="1">
                <a:latin typeface="Verdana" charset="0"/>
              </a:rPr>
              <a:t>Peeters</a:t>
            </a:r>
            <a:r>
              <a:rPr lang="en-US" dirty="0">
                <a:latin typeface="Verdana" charset="0"/>
              </a:rPr>
              <a:t> STILL LIFE WITH FLOWERS, GOBLET, DRIED FRUIT, AND PRETZELS</a:t>
            </a:r>
            <a:br>
              <a:rPr lang="en-US" dirty="0">
                <a:latin typeface="Verdana" charset="0"/>
              </a:rPr>
            </a:br>
            <a:r>
              <a:rPr lang="en-US" dirty="0">
                <a:latin typeface="Verdana" charset="0"/>
              </a:rPr>
              <a:t>1611. Oil on panel, 20-1/2</a:t>
            </a:r>
            <a:r>
              <a:rPr lang="ru-RU" dirty="0">
                <a:latin typeface="Verdana" charset="0"/>
              </a:rPr>
              <a:t>"</a:t>
            </a:r>
            <a:r>
              <a:rPr lang="en-US" dirty="0">
                <a:latin typeface="Verdana" charset="0"/>
              </a:rPr>
              <a:t> × 28-3/4</a:t>
            </a:r>
            <a:r>
              <a:rPr lang="ru-RU" dirty="0">
                <a:latin typeface="Verdana" charset="0"/>
              </a:rPr>
              <a:t>"</a:t>
            </a:r>
            <a:r>
              <a:rPr lang="en-US" dirty="0">
                <a:latin typeface="Verdana" charset="0"/>
              </a:rPr>
              <a:t> (52 × 73 cm).</a:t>
            </a:r>
            <a:br>
              <a:rPr lang="en-US" dirty="0">
                <a:latin typeface="Verdana" charset="0"/>
              </a:rPr>
            </a:br>
            <a:r>
              <a:rPr lang="en-US" dirty="0">
                <a:latin typeface="Verdana" charset="0"/>
              </a:rPr>
              <a:t>Museo del Prado, Madrid. © 2016. Image Copyright Museo Nacional del Prado. © Photo MNP/Scala, Florence. </a:t>
            </a:r>
            <a:endParaRPr lang="en-US" dirty="0"/>
          </a:p>
        </p:txBody>
      </p:sp>
      <p:sp>
        <p:nvSpPr>
          <p:cNvPr id="116739" name="Slide Number Placeholder 3"/>
          <p:cNvSpPr>
            <a:spLocks noGrp="1"/>
          </p:cNvSpPr>
          <p:nvPr>
            <p:ph type="sldNum" sz="quarter" idx="5"/>
          </p:nvPr>
        </p:nvSpPr>
        <p:spPr bwMode="auto">
          <a:noFill/>
          <a:ln>
            <a:miter lim="800000"/>
            <a:headEnd/>
            <a:tailEnd/>
          </a:ln>
        </p:spPr>
        <p:txBody>
          <a:bodyPr/>
          <a:lstStyle/>
          <a:p>
            <a:fld id="{B0390C4D-038B-5540-B5F0-551A09B13DE0}" type="slidenum">
              <a:rPr lang="en-US"/>
              <a:pPr/>
              <a:t>16</a:t>
            </a:fld>
            <a:endParaRPr lang="en-US"/>
          </a:p>
        </p:txBody>
      </p:sp>
    </p:spTree>
    <p:extLst>
      <p:ext uri="{BB962C8B-B14F-4D97-AF65-F5344CB8AC3E}">
        <p14:creationId xmlns:p14="http://schemas.microsoft.com/office/powerpoint/2010/main" val="1276425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4" name="Notes Placeholder 2"/>
          <p:cNvSpPr>
            <a:spLocks noGrp="1"/>
          </p:cNvSpPr>
          <p:nvPr>
            <p:ph type="body" idx="1"/>
          </p:nvPr>
        </p:nvSpPr>
        <p:spPr bwMode="auto">
          <a:noFill/>
        </p:spPr>
        <p:txBody>
          <a:bodyPr/>
          <a:lstStyle/>
          <a:p>
            <a:pPr>
              <a:spcBef>
                <a:spcPct val="0"/>
              </a:spcBef>
            </a:pPr>
            <a:r>
              <a:rPr lang="en-US" dirty="0">
                <a:latin typeface="Verdana" charset="0"/>
              </a:rPr>
              <a:t>Hendrick </a:t>
            </a:r>
            <a:r>
              <a:rPr lang="en-US" dirty="0" err="1">
                <a:latin typeface="Verdana" charset="0"/>
              </a:rPr>
              <a:t>ter</a:t>
            </a:r>
            <a:r>
              <a:rPr lang="en-US" dirty="0">
                <a:latin typeface="Verdana" charset="0"/>
              </a:rPr>
              <a:t> </a:t>
            </a:r>
            <a:r>
              <a:rPr lang="en-US" dirty="0" err="1">
                <a:latin typeface="Verdana" charset="0"/>
              </a:rPr>
              <a:t>Brugghen</a:t>
            </a:r>
            <a:r>
              <a:rPr lang="en-US" dirty="0">
                <a:latin typeface="Verdana" charset="0"/>
              </a:rPr>
              <a:t> ST. SEBASTIAN TENDED BY ST. IRENE</a:t>
            </a:r>
            <a:br>
              <a:rPr lang="en-US" dirty="0">
                <a:latin typeface="Verdana" charset="0"/>
              </a:rPr>
            </a:br>
            <a:r>
              <a:rPr lang="en-US" dirty="0">
                <a:latin typeface="Verdana" charset="0"/>
              </a:rPr>
              <a:t>1625. Oil on canvas, 58-15/16</a:t>
            </a:r>
            <a:r>
              <a:rPr lang="ru-RU" dirty="0">
                <a:latin typeface="Verdana" charset="0"/>
              </a:rPr>
              <a:t>"</a:t>
            </a:r>
            <a:r>
              <a:rPr lang="en-US" dirty="0">
                <a:latin typeface="Verdana" charset="0"/>
              </a:rPr>
              <a:t> × 47-1/2</a:t>
            </a:r>
            <a:r>
              <a:rPr lang="ru-RU" dirty="0">
                <a:latin typeface="Verdana" charset="0"/>
              </a:rPr>
              <a:t>"</a:t>
            </a:r>
            <a:r>
              <a:rPr lang="en-US" dirty="0">
                <a:latin typeface="Verdana" charset="0"/>
              </a:rPr>
              <a:t> (149.6 × 120 cm).</a:t>
            </a:r>
            <a:br>
              <a:rPr lang="en-US" dirty="0">
                <a:latin typeface="Verdana" charset="0"/>
              </a:rPr>
            </a:br>
            <a:r>
              <a:rPr lang="en-US" dirty="0">
                <a:latin typeface="Verdana" charset="0"/>
              </a:rPr>
              <a:t>Allen Memorial Art Museum, Oberlin College, Ohio. R.T. Miller Jr. Fund (1953.256).</a:t>
            </a:r>
            <a:br>
              <a:rPr lang="en-US" dirty="0">
                <a:latin typeface="Verdana" charset="0"/>
              </a:rPr>
            </a:br>
            <a:r>
              <a:rPr lang="en-US" dirty="0">
                <a:latin typeface="Verdana" charset="0"/>
              </a:rPr>
              <a:t>Bridgeman Images.</a:t>
            </a:r>
            <a:endParaRPr lang="en-US" dirty="0"/>
          </a:p>
        </p:txBody>
      </p:sp>
      <p:sp>
        <p:nvSpPr>
          <p:cNvPr id="120835" name="Slide Number Placeholder 3"/>
          <p:cNvSpPr>
            <a:spLocks noGrp="1"/>
          </p:cNvSpPr>
          <p:nvPr>
            <p:ph type="sldNum" sz="quarter" idx="5"/>
          </p:nvPr>
        </p:nvSpPr>
        <p:spPr bwMode="auto">
          <a:noFill/>
          <a:ln>
            <a:miter lim="800000"/>
            <a:headEnd/>
            <a:tailEnd/>
          </a:ln>
        </p:spPr>
        <p:txBody>
          <a:bodyPr/>
          <a:lstStyle/>
          <a:p>
            <a:fld id="{D5EE8B32-8696-924A-B815-63A0640ADBBD}" type="slidenum">
              <a:rPr lang="en-US"/>
              <a:pPr/>
              <a:t>19</a:t>
            </a:fld>
            <a:endParaRPr lang="en-US"/>
          </a:p>
        </p:txBody>
      </p:sp>
    </p:spTree>
    <p:extLst>
      <p:ext uri="{BB962C8B-B14F-4D97-AF65-F5344CB8AC3E}">
        <p14:creationId xmlns:p14="http://schemas.microsoft.com/office/powerpoint/2010/main" val="1674758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bwMode="auto">
          <a:noFill/>
          <a:ln>
            <a:solidFill>
              <a:srgbClr val="000000"/>
            </a:solidFill>
            <a:miter lim="800000"/>
            <a:headEnd/>
            <a:tailEnd/>
          </a:ln>
        </p:spPr>
      </p:sp>
      <p:sp>
        <p:nvSpPr>
          <p:cNvPr id="123906" name="Notes Placeholder 2"/>
          <p:cNvSpPr>
            <a:spLocks noGrp="1"/>
          </p:cNvSpPr>
          <p:nvPr>
            <p:ph type="body" idx="1"/>
          </p:nvPr>
        </p:nvSpPr>
        <p:spPr bwMode="auto">
          <a:noFill/>
        </p:spPr>
        <p:txBody>
          <a:bodyPr/>
          <a:lstStyle/>
          <a:p>
            <a:pPr>
              <a:spcBef>
                <a:spcPct val="0"/>
              </a:spcBef>
            </a:pPr>
            <a:r>
              <a:rPr lang="en-US" dirty="0">
                <a:latin typeface="Verdana" charset="0"/>
              </a:rPr>
              <a:t>Frans Hals OFFICERS OF THE HAARLEM MILITIA COMPANY OF ST. ADRIAN</a:t>
            </a:r>
            <a:br>
              <a:rPr lang="en-US" dirty="0">
                <a:latin typeface="Verdana" charset="0"/>
              </a:rPr>
            </a:br>
            <a:r>
              <a:rPr lang="en-US" dirty="0">
                <a:latin typeface="Verdana" charset="0"/>
              </a:rPr>
              <a:t>c. 1627. Oil on canvas, 6</a:t>
            </a:r>
            <a:r>
              <a:rPr lang="uk-UA" dirty="0">
                <a:latin typeface="Verdana" charset="0"/>
              </a:rPr>
              <a:t>'</a:t>
            </a:r>
            <a:r>
              <a:rPr lang="en-US" dirty="0">
                <a:latin typeface="Verdana" charset="0"/>
              </a:rPr>
              <a:t> × 8</a:t>
            </a:r>
            <a:r>
              <a:rPr lang="uk-UA" dirty="0">
                <a:latin typeface="Verdana" charset="0"/>
              </a:rPr>
              <a:t>'</a:t>
            </a:r>
            <a:r>
              <a:rPr lang="en-US" dirty="0">
                <a:latin typeface="Verdana" charset="0"/>
              </a:rPr>
              <a:t>8</a:t>
            </a:r>
            <a:r>
              <a:rPr lang="ru-RU" dirty="0">
                <a:latin typeface="Verdana" charset="0"/>
              </a:rPr>
              <a:t>"</a:t>
            </a:r>
            <a:r>
              <a:rPr lang="en-US" dirty="0">
                <a:latin typeface="Verdana" charset="0"/>
              </a:rPr>
              <a:t> (1.83 × 2.67 m).</a:t>
            </a:r>
            <a:br>
              <a:rPr lang="en-US" dirty="0">
                <a:latin typeface="Verdana" charset="0"/>
              </a:rPr>
            </a:br>
            <a:r>
              <a:rPr lang="en-US" dirty="0">
                <a:latin typeface="Verdana" charset="0"/>
              </a:rPr>
              <a:t>Frans </a:t>
            </a:r>
            <a:r>
              <a:rPr lang="en-US" dirty="0" err="1">
                <a:latin typeface="Verdana" charset="0"/>
              </a:rPr>
              <a:t>Halsmuseum</a:t>
            </a:r>
            <a:r>
              <a:rPr lang="en-US" dirty="0">
                <a:latin typeface="Verdana" charset="0"/>
              </a:rPr>
              <a:t>, Haarlem. Photo: © Margareta </a:t>
            </a:r>
            <a:r>
              <a:rPr lang="en-US" dirty="0" err="1">
                <a:latin typeface="Verdana" charset="0"/>
              </a:rPr>
              <a:t>Svensson</a:t>
            </a:r>
            <a:r>
              <a:rPr lang="en-US" dirty="0">
                <a:latin typeface="Verdana" charset="0"/>
              </a:rPr>
              <a:t>.</a:t>
            </a:r>
            <a:endParaRPr lang="en-US" dirty="0"/>
          </a:p>
        </p:txBody>
      </p:sp>
      <p:sp>
        <p:nvSpPr>
          <p:cNvPr id="123907" name="Slide Number Placeholder 3"/>
          <p:cNvSpPr>
            <a:spLocks noGrp="1"/>
          </p:cNvSpPr>
          <p:nvPr>
            <p:ph type="sldNum" sz="quarter" idx="5"/>
          </p:nvPr>
        </p:nvSpPr>
        <p:spPr bwMode="auto">
          <a:noFill/>
          <a:ln>
            <a:miter lim="800000"/>
            <a:headEnd/>
            <a:tailEnd/>
          </a:ln>
        </p:spPr>
        <p:txBody>
          <a:bodyPr/>
          <a:lstStyle/>
          <a:p>
            <a:fld id="{772E25D9-A89D-FC46-8D04-55D5F50D988D}" type="slidenum">
              <a:rPr lang="en-US"/>
              <a:pPr/>
              <a:t>21</a:t>
            </a:fld>
            <a:endParaRPr lang="en-US"/>
          </a:p>
        </p:txBody>
      </p:sp>
    </p:spTree>
    <p:extLst>
      <p:ext uri="{BB962C8B-B14F-4D97-AF65-F5344CB8AC3E}">
        <p14:creationId xmlns:p14="http://schemas.microsoft.com/office/powerpoint/2010/main" val="591561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8" name="Notes Placeholder 2"/>
          <p:cNvSpPr>
            <a:spLocks noGrp="1"/>
          </p:cNvSpPr>
          <p:nvPr>
            <p:ph type="body" idx="1"/>
          </p:nvPr>
        </p:nvSpPr>
        <p:spPr bwMode="auto">
          <a:noFill/>
        </p:spPr>
        <p:txBody>
          <a:bodyPr/>
          <a:lstStyle/>
          <a:p>
            <a:pPr>
              <a:spcBef>
                <a:spcPct val="0"/>
              </a:spcBef>
            </a:pPr>
            <a:r>
              <a:rPr lang="en-US" dirty="0"/>
              <a:t>Frans Hals MALLE BABBE</a:t>
            </a:r>
            <a:br>
              <a:rPr lang="en-US" dirty="0"/>
            </a:br>
            <a:r>
              <a:rPr lang="en-US" dirty="0"/>
              <a:t>c. 1630–1633. Oil on canvas, 30-7/8</a:t>
            </a:r>
            <a:r>
              <a:rPr lang="ru-RU" dirty="0"/>
              <a:t>"</a:t>
            </a:r>
            <a:r>
              <a:rPr lang="en-US" dirty="0"/>
              <a:t> × 26</a:t>
            </a:r>
            <a:r>
              <a:rPr lang="ru-RU" dirty="0"/>
              <a:t>"</a:t>
            </a:r>
            <a:r>
              <a:rPr lang="en-US" dirty="0"/>
              <a:t> (78.5 × 66.2 cm).</a:t>
            </a:r>
            <a:br>
              <a:rPr lang="en-US" dirty="0"/>
            </a:br>
            <a:r>
              <a:rPr lang="en-US" dirty="0"/>
              <a:t>Staatliche </a:t>
            </a:r>
            <a:r>
              <a:rPr lang="en-US" dirty="0" err="1"/>
              <a:t>Museen</a:t>
            </a:r>
            <a:r>
              <a:rPr lang="en-US" dirty="0"/>
              <a:t>, Berlin.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a:t>
            </a:r>
          </a:p>
        </p:txBody>
      </p:sp>
      <p:sp>
        <p:nvSpPr>
          <p:cNvPr id="126979" name="Slide Number Placeholder 3"/>
          <p:cNvSpPr>
            <a:spLocks noGrp="1"/>
          </p:cNvSpPr>
          <p:nvPr>
            <p:ph type="sldNum" sz="quarter" idx="5"/>
          </p:nvPr>
        </p:nvSpPr>
        <p:spPr bwMode="auto">
          <a:noFill/>
          <a:ln>
            <a:miter lim="800000"/>
            <a:headEnd/>
            <a:tailEnd/>
          </a:ln>
        </p:spPr>
        <p:txBody>
          <a:bodyPr/>
          <a:lstStyle/>
          <a:p>
            <a:fld id="{6752F36E-A9DD-5A42-9AE1-964EACA76182}" type="slidenum">
              <a:rPr lang="en-US"/>
              <a:pPr/>
              <a:t>23</a:t>
            </a:fld>
            <a:endParaRPr lang="en-US"/>
          </a:p>
        </p:txBody>
      </p:sp>
    </p:spTree>
    <p:extLst>
      <p:ext uri="{BB962C8B-B14F-4D97-AF65-F5344CB8AC3E}">
        <p14:creationId xmlns:p14="http://schemas.microsoft.com/office/powerpoint/2010/main" val="1674194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bwMode="auto">
          <a:noFill/>
          <a:ln>
            <a:solidFill>
              <a:srgbClr val="000000"/>
            </a:solidFill>
            <a:miter lim="800000"/>
            <a:headEnd/>
            <a:tailEnd/>
          </a:ln>
        </p:spPr>
      </p:sp>
      <p:sp>
        <p:nvSpPr>
          <p:cNvPr id="130050" name="Notes Placeholder 2"/>
          <p:cNvSpPr>
            <a:spLocks noGrp="1"/>
          </p:cNvSpPr>
          <p:nvPr>
            <p:ph type="body" idx="1"/>
          </p:nvPr>
        </p:nvSpPr>
        <p:spPr bwMode="auto">
          <a:noFill/>
        </p:spPr>
        <p:txBody>
          <a:bodyPr/>
          <a:lstStyle/>
          <a:p>
            <a:pPr>
              <a:spcBef>
                <a:spcPct val="0"/>
              </a:spcBef>
            </a:pPr>
            <a:r>
              <a:rPr lang="en-US" dirty="0">
                <a:latin typeface="Verdana" charset="0"/>
              </a:rPr>
              <a:t>Judith Leyster SELF-PORTRAIT</a:t>
            </a:r>
            <a:br>
              <a:rPr lang="en-US" dirty="0">
                <a:latin typeface="Verdana" charset="0"/>
              </a:rPr>
            </a:br>
            <a:r>
              <a:rPr lang="en-US" dirty="0">
                <a:latin typeface="Verdana" charset="0"/>
              </a:rPr>
              <a:t>1635. Oil on canvas, 29-3/8</a:t>
            </a:r>
            <a:r>
              <a:rPr lang="ru-RU" dirty="0">
                <a:latin typeface="Verdana" charset="0"/>
              </a:rPr>
              <a:t>"</a:t>
            </a:r>
            <a:r>
              <a:rPr lang="en-US" dirty="0">
                <a:latin typeface="Verdana" charset="0"/>
              </a:rPr>
              <a:t> × 25-5/8</a:t>
            </a:r>
            <a:r>
              <a:rPr lang="ru-RU" dirty="0">
                <a:latin typeface="Verdana" charset="0"/>
              </a:rPr>
              <a:t>"</a:t>
            </a:r>
            <a:r>
              <a:rPr lang="en-US" dirty="0">
                <a:latin typeface="Verdana" charset="0"/>
              </a:rPr>
              <a:t> (74.6 × 65.1 cm).</a:t>
            </a:r>
            <a:br>
              <a:rPr lang="en-US" dirty="0">
                <a:latin typeface="Verdana" charset="0"/>
              </a:rPr>
            </a:br>
            <a:r>
              <a:rPr lang="en-US" dirty="0">
                <a:latin typeface="Verdana" charset="0"/>
              </a:rPr>
              <a:t>National Gallery of Art, Washington, DC. Gift of Mr. and Mrs. Robert Woods Bliss (1949.6.4). Image courtesy the National Gallery of Art, Washington.</a:t>
            </a:r>
            <a:endParaRPr lang="en-US" dirty="0"/>
          </a:p>
        </p:txBody>
      </p:sp>
      <p:sp>
        <p:nvSpPr>
          <p:cNvPr id="130051" name="Slide Number Placeholder 3"/>
          <p:cNvSpPr>
            <a:spLocks noGrp="1"/>
          </p:cNvSpPr>
          <p:nvPr>
            <p:ph type="sldNum" sz="quarter" idx="5"/>
          </p:nvPr>
        </p:nvSpPr>
        <p:spPr bwMode="auto">
          <a:noFill/>
          <a:ln>
            <a:miter lim="800000"/>
            <a:headEnd/>
            <a:tailEnd/>
          </a:ln>
        </p:spPr>
        <p:txBody>
          <a:bodyPr/>
          <a:lstStyle/>
          <a:p>
            <a:fld id="{46835184-66CF-1C49-A5B8-CB7EFC84B693}" type="slidenum">
              <a:rPr lang="en-US"/>
              <a:pPr/>
              <a:t>25</a:t>
            </a:fld>
            <a:endParaRPr lang="en-US"/>
          </a:p>
        </p:txBody>
      </p:sp>
    </p:spTree>
    <p:extLst>
      <p:ext uri="{BB962C8B-B14F-4D97-AF65-F5344CB8AC3E}">
        <p14:creationId xmlns:p14="http://schemas.microsoft.com/office/powerpoint/2010/main" val="1849731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Slide Image Placeholder 1"/>
          <p:cNvSpPr>
            <a:spLocks noGrp="1" noRot="1" noChangeAspect="1" noTextEdit="1"/>
          </p:cNvSpPr>
          <p:nvPr>
            <p:ph type="sldImg"/>
          </p:nvPr>
        </p:nvSpPr>
        <p:spPr bwMode="auto">
          <a:noFill/>
          <a:ln>
            <a:solidFill>
              <a:srgbClr val="000000"/>
            </a:solidFill>
            <a:miter lim="800000"/>
            <a:headEnd/>
            <a:tailEnd/>
          </a:ln>
        </p:spPr>
      </p:sp>
      <p:sp>
        <p:nvSpPr>
          <p:cNvPr id="133122" name="Notes Placeholder 2"/>
          <p:cNvSpPr>
            <a:spLocks noGrp="1"/>
          </p:cNvSpPr>
          <p:nvPr>
            <p:ph type="body" idx="1"/>
          </p:nvPr>
        </p:nvSpPr>
        <p:spPr bwMode="auto">
          <a:noFill/>
        </p:spPr>
        <p:txBody>
          <a:bodyPr/>
          <a:lstStyle/>
          <a:p>
            <a:pPr>
              <a:spcBef>
                <a:spcPct val="0"/>
              </a:spcBef>
            </a:pPr>
            <a:r>
              <a:rPr lang="en-US" dirty="0">
                <a:latin typeface="Verdana" charset="0"/>
              </a:rPr>
              <a:t>Rembrandt van Rijn THE ANATOMY LESSON OF DR. NICOLAES TULP</a:t>
            </a:r>
            <a:br>
              <a:rPr lang="en-US" dirty="0">
                <a:latin typeface="Verdana" charset="0"/>
              </a:rPr>
            </a:br>
            <a:r>
              <a:rPr lang="en-US" dirty="0">
                <a:latin typeface="Verdana" charset="0"/>
              </a:rPr>
              <a:t>1632. Oil on canvas, 5</a:t>
            </a:r>
            <a:r>
              <a:rPr lang="uk-UA" dirty="0">
                <a:latin typeface="Verdana" charset="0"/>
              </a:rPr>
              <a:t>'</a:t>
            </a:r>
            <a:r>
              <a:rPr lang="en-US" dirty="0">
                <a:latin typeface="Verdana" charset="0"/>
              </a:rPr>
              <a:t>3-3/4</a:t>
            </a:r>
            <a:r>
              <a:rPr lang="ru-RU" dirty="0">
                <a:latin typeface="Verdana" charset="0"/>
              </a:rPr>
              <a:t>"</a:t>
            </a:r>
            <a:r>
              <a:rPr lang="en-US" dirty="0">
                <a:latin typeface="Verdana" charset="0"/>
              </a:rPr>
              <a:t> × 7</a:t>
            </a:r>
            <a:r>
              <a:rPr lang="uk-UA" dirty="0">
                <a:latin typeface="Verdana" charset="0"/>
              </a:rPr>
              <a:t>'</a:t>
            </a:r>
            <a:r>
              <a:rPr lang="en-US" dirty="0">
                <a:latin typeface="Verdana" charset="0"/>
              </a:rPr>
              <a:t>1-1/4</a:t>
            </a:r>
            <a:r>
              <a:rPr lang="ru-RU" dirty="0">
                <a:latin typeface="Verdana" charset="0"/>
              </a:rPr>
              <a:t>"</a:t>
            </a:r>
            <a:r>
              <a:rPr lang="en-US" dirty="0">
                <a:latin typeface="Verdana" charset="0"/>
              </a:rPr>
              <a:t> (1.6 × 2.1 m).</a:t>
            </a:r>
            <a:br>
              <a:rPr lang="en-US" dirty="0">
                <a:latin typeface="Verdana" charset="0"/>
              </a:rPr>
            </a:br>
            <a:r>
              <a:rPr lang="en-US" dirty="0" err="1">
                <a:latin typeface="Verdana" charset="0"/>
              </a:rPr>
              <a:t>Mauritshuis</a:t>
            </a:r>
            <a:r>
              <a:rPr lang="en-US" dirty="0">
                <a:latin typeface="Verdana" charset="0"/>
              </a:rPr>
              <a:t>, The Hague. © 2016. Photo Scala, Florence.</a:t>
            </a:r>
            <a:endParaRPr lang="en-US" dirty="0"/>
          </a:p>
        </p:txBody>
      </p:sp>
      <p:sp>
        <p:nvSpPr>
          <p:cNvPr id="133123" name="Slide Number Placeholder 3"/>
          <p:cNvSpPr>
            <a:spLocks noGrp="1"/>
          </p:cNvSpPr>
          <p:nvPr>
            <p:ph type="sldNum" sz="quarter" idx="5"/>
          </p:nvPr>
        </p:nvSpPr>
        <p:spPr bwMode="auto">
          <a:noFill/>
          <a:ln>
            <a:miter lim="800000"/>
            <a:headEnd/>
            <a:tailEnd/>
          </a:ln>
        </p:spPr>
        <p:txBody>
          <a:bodyPr/>
          <a:lstStyle/>
          <a:p>
            <a:fld id="{B8903C58-3073-A547-85C3-5D8FBDEAF26A}" type="slidenum">
              <a:rPr lang="en-US"/>
              <a:pPr/>
              <a:t>27</a:t>
            </a:fld>
            <a:endParaRPr lang="en-US"/>
          </a:p>
        </p:txBody>
      </p:sp>
    </p:spTree>
    <p:extLst>
      <p:ext uri="{BB962C8B-B14F-4D97-AF65-F5344CB8AC3E}">
        <p14:creationId xmlns:p14="http://schemas.microsoft.com/office/powerpoint/2010/main" val="1455710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bwMode="auto">
          <a:noFill/>
          <a:ln>
            <a:solidFill>
              <a:srgbClr val="000000"/>
            </a:solidFill>
            <a:miter lim="800000"/>
            <a:headEnd/>
            <a:tailEnd/>
          </a:ln>
        </p:spPr>
      </p:sp>
      <p:sp>
        <p:nvSpPr>
          <p:cNvPr id="136194" name="Notes Placeholder 2"/>
          <p:cNvSpPr>
            <a:spLocks noGrp="1"/>
          </p:cNvSpPr>
          <p:nvPr>
            <p:ph type="body" idx="1"/>
          </p:nvPr>
        </p:nvSpPr>
        <p:spPr bwMode="auto">
          <a:noFill/>
        </p:spPr>
        <p:txBody>
          <a:bodyPr/>
          <a:lstStyle/>
          <a:p>
            <a:pPr>
              <a:spcBef>
                <a:spcPct val="0"/>
              </a:spcBef>
            </a:pPr>
            <a:r>
              <a:rPr lang="en-US" dirty="0"/>
              <a:t>Rembrandt van Rijn THE COMPANY OF CAPTAIN FRANS BANNING COCQ</a:t>
            </a:r>
            <a:br>
              <a:rPr lang="en-US" dirty="0"/>
            </a:br>
            <a:r>
              <a:rPr lang="en-US" dirty="0"/>
              <a:t>(THE NIGHT WATCH)</a:t>
            </a:r>
            <a:br>
              <a:rPr lang="en-US" dirty="0"/>
            </a:br>
            <a:r>
              <a:rPr lang="en-US" dirty="0"/>
              <a:t>1642. Oil on canvas, 11</a:t>
            </a:r>
            <a:r>
              <a:rPr lang="uk-UA" dirty="0"/>
              <a:t>'</a:t>
            </a:r>
            <a:r>
              <a:rPr lang="en-US" dirty="0"/>
              <a:t>11</a:t>
            </a:r>
            <a:r>
              <a:rPr lang="ru-RU" dirty="0"/>
              <a:t>"</a:t>
            </a:r>
            <a:r>
              <a:rPr lang="en-US" dirty="0"/>
              <a:t> × 14</a:t>
            </a:r>
            <a:r>
              <a:rPr lang="uk-UA" dirty="0"/>
              <a:t>'</a:t>
            </a:r>
            <a:r>
              <a:rPr lang="en-US" dirty="0"/>
              <a:t>4</a:t>
            </a:r>
            <a:r>
              <a:rPr lang="ru-RU" dirty="0"/>
              <a:t>"</a:t>
            </a:r>
            <a:r>
              <a:rPr lang="en-US" dirty="0"/>
              <a:t> (3.63 × 4.37 m) (cut down from the original size).</a:t>
            </a:r>
            <a:br>
              <a:rPr lang="en-US" dirty="0"/>
            </a:br>
            <a:r>
              <a:rPr lang="en-US" dirty="0"/>
              <a:t>Rijksmuseum, Amsterdam.</a:t>
            </a:r>
          </a:p>
        </p:txBody>
      </p:sp>
      <p:sp>
        <p:nvSpPr>
          <p:cNvPr id="136195" name="Slide Number Placeholder 3"/>
          <p:cNvSpPr>
            <a:spLocks noGrp="1"/>
          </p:cNvSpPr>
          <p:nvPr>
            <p:ph type="sldNum" sz="quarter" idx="5"/>
          </p:nvPr>
        </p:nvSpPr>
        <p:spPr bwMode="auto">
          <a:noFill/>
          <a:ln>
            <a:miter lim="800000"/>
            <a:headEnd/>
            <a:tailEnd/>
          </a:ln>
        </p:spPr>
        <p:txBody>
          <a:bodyPr/>
          <a:lstStyle/>
          <a:p>
            <a:fld id="{00CF3180-6DDF-DF4A-805D-596AF3D23C95}" type="slidenum">
              <a:rPr lang="en-US"/>
              <a:pPr/>
              <a:t>29</a:t>
            </a:fld>
            <a:endParaRPr lang="en-US"/>
          </a:p>
        </p:txBody>
      </p:sp>
    </p:spTree>
    <p:extLst>
      <p:ext uri="{BB962C8B-B14F-4D97-AF65-F5344CB8AC3E}">
        <p14:creationId xmlns:p14="http://schemas.microsoft.com/office/powerpoint/2010/main" val="1988565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bwMode="auto">
          <a:noFill/>
          <a:ln>
            <a:solidFill>
              <a:srgbClr val="000000"/>
            </a:solidFill>
            <a:miter lim="800000"/>
            <a:headEnd/>
            <a:tailEnd/>
          </a:ln>
        </p:spPr>
      </p:sp>
      <p:sp>
        <p:nvSpPr>
          <p:cNvPr id="140290" name="Notes Placeholder 2"/>
          <p:cNvSpPr>
            <a:spLocks noGrp="1"/>
          </p:cNvSpPr>
          <p:nvPr>
            <p:ph type="body" idx="1"/>
          </p:nvPr>
        </p:nvSpPr>
        <p:spPr bwMode="auto">
          <a:noFill/>
        </p:spPr>
        <p:txBody>
          <a:bodyPr/>
          <a:lstStyle/>
          <a:p>
            <a:pPr>
              <a:spcBef>
                <a:spcPct val="0"/>
              </a:spcBef>
            </a:pPr>
            <a:r>
              <a:rPr lang="en-US" dirty="0">
                <a:latin typeface="Verdana" charset="0"/>
              </a:rPr>
              <a:t>Rembrandt van Rijn THREE CROSSES (FIRST STATE)</a:t>
            </a:r>
            <a:br>
              <a:rPr lang="en-US" dirty="0">
                <a:latin typeface="Verdana" charset="0"/>
              </a:rPr>
            </a:br>
            <a:r>
              <a:rPr lang="en-US" dirty="0">
                <a:latin typeface="Verdana" charset="0"/>
              </a:rPr>
              <a:t>1653. </a:t>
            </a:r>
            <a:r>
              <a:rPr lang="en-US" dirty="0" err="1">
                <a:latin typeface="Verdana" charset="0"/>
              </a:rPr>
              <a:t>Drypoint</a:t>
            </a:r>
            <a:r>
              <a:rPr lang="en-US" dirty="0">
                <a:latin typeface="Verdana" charset="0"/>
              </a:rPr>
              <a:t>, 15-1/6</a:t>
            </a:r>
            <a:r>
              <a:rPr lang="ru-RU" dirty="0">
                <a:latin typeface="Verdana" charset="0"/>
              </a:rPr>
              <a:t>"</a:t>
            </a:r>
            <a:r>
              <a:rPr lang="en-US" dirty="0">
                <a:latin typeface="Verdana" charset="0"/>
              </a:rPr>
              <a:t> × 17-3/4</a:t>
            </a:r>
            <a:r>
              <a:rPr lang="ru-RU" dirty="0">
                <a:latin typeface="Verdana" charset="0"/>
              </a:rPr>
              <a:t>"</a:t>
            </a:r>
            <a:r>
              <a:rPr lang="en-US" dirty="0">
                <a:latin typeface="Verdana" charset="0"/>
              </a:rPr>
              <a:t> (38.5 × 45 cm).</a:t>
            </a:r>
            <a:br>
              <a:rPr lang="en-US" dirty="0">
                <a:latin typeface="Verdana" charset="0"/>
              </a:rPr>
            </a:br>
            <a:r>
              <a:rPr lang="en-US" dirty="0">
                <a:latin typeface="Verdana" charset="0"/>
              </a:rPr>
              <a:t>Rijksmuseum, Amsterdam.</a:t>
            </a:r>
            <a:endParaRPr lang="en-US" dirty="0"/>
          </a:p>
        </p:txBody>
      </p:sp>
      <p:sp>
        <p:nvSpPr>
          <p:cNvPr id="140291" name="Slide Number Placeholder 3"/>
          <p:cNvSpPr>
            <a:spLocks noGrp="1"/>
          </p:cNvSpPr>
          <p:nvPr>
            <p:ph type="sldNum" sz="quarter" idx="5"/>
          </p:nvPr>
        </p:nvSpPr>
        <p:spPr bwMode="auto">
          <a:noFill/>
          <a:ln>
            <a:miter lim="800000"/>
            <a:headEnd/>
            <a:tailEnd/>
          </a:ln>
        </p:spPr>
        <p:txBody>
          <a:bodyPr/>
          <a:lstStyle/>
          <a:p>
            <a:fld id="{F534FE18-83FC-0840-ABC3-551CB97CE97D}" type="slidenum">
              <a:rPr lang="en-US"/>
              <a:pPr/>
              <a:t>32</a:t>
            </a:fld>
            <a:endParaRPr lang="en-US"/>
          </a:p>
        </p:txBody>
      </p:sp>
    </p:spTree>
    <p:extLst>
      <p:ext uri="{BB962C8B-B14F-4D97-AF65-F5344CB8AC3E}">
        <p14:creationId xmlns:p14="http://schemas.microsoft.com/office/powerpoint/2010/main" val="540225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Slide Image Placeholder 1"/>
          <p:cNvSpPr>
            <a:spLocks noGrp="1" noRot="1" noChangeAspect="1" noTextEdit="1"/>
          </p:cNvSpPr>
          <p:nvPr>
            <p:ph type="sldImg"/>
          </p:nvPr>
        </p:nvSpPr>
        <p:spPr bwMode="auto">
          <a:noFill/>
          <a:ln>
            <a:solidFill>
              <a:srgbClr val="000000"/>
            </a:solidFill>
            <a:miter lim="800000"/>
            <a:headEnd/>
            <a:tailEnd/>
          </a:ln>
        </p:spPr>
      </p:sp>
      <p:sp>
        <p:nvSpPr>
          <p:cNvPr id="142338" name="Notes Placeholder 2"/>
          <p:cNvSpPr>
            <a:spLocks noGrp="1"/>
          </p:cNvSpPr>
          <p:nvPr>
            <p:ph type="body" idx="1"/>
          </p:nvPr>
        </p:nvSpPr>
        <p:spPr bwMode="auto">
          <a:noFill/>
        </p:spPr>
        <p:txBody>
          <a:bodyPr/>
          <a:lstStyle/>
          <a:p>
            <a:pPr>
              <a:spcBef>
                <a:spcPct val="0"/>
              </a:spcBef>
            </a:pPr>
            <a:r>
              <a:rPr lang="en-US" dirty="0"/>
              <a:t>Rembrandt van Rijn THREE CROSSES (FOURTH STATE)</a:t>
            </a:r>
            <a:br>
              <a:rPr lang="en-US" dirty="0"/>
            </a:br>
            <a:r>
              <a:rPr lang="en-US" dirty="0"/>
              <a:t>1653. </a:t>
            </a:r>
            <a:r>
              <a:rPr lang="en-US" dirty="0" err="1"/>
              <a:t>Drypoint</a:t>
            </a:r>
            <a:r>
              <a:rPr lang="en-US" dirty="0"/>
              <a:t>, 15-1/6</a:t>
            </a:r>
            <a:r>
              <a:rPr lang="ru-RU" dirty="0"/>
              <a:t>"</a:t>
            </a:r>
            <a:r>
              <a:rPr lang="en-US" dirty="0"/>
              <a:t> × 17-3/4</a:t>
            </a:r>
            <a:r>
              <a:rPr lang="ru-RU" dirty="0"/>
              <a:t>"</a:t>
            </a:r>
            <a:r>
              <a:rPr lang="en-US" dirty="0"/>
              <a:t> (38.5 × 45 cm). Rijksmuseum, Amsterdam.</a:t>
            </a:r>
          </a:p>
        </p:txBody>
      </p:sp>
      <p:sp>
        <p:nvSpPr>
          <p:cNvPr id="142339" name="Slide Number Placeholder 3"/>
          <p:cNvSpPr>
            <a:spLocks noGrp="1"/>
          </p:cNvSpPr>
          <p:nvPr>
            <p:ph type="sldNum" sz="quarter" idx="5"/>
          </p:nvPr>
        </p:nvSpPr>
        <p:spPr bwMode="auto">
          <a:noFill/>
          <a:ln>
            <a:miter lim="800000"/>
            <a:headEnd/>
            <a:tailEnd/>
          </a:ln>
        </p:spPr>
        <p:txBody>
          <a:bodyPr/>
          <a:lstStyle/>
          <a:p>
            <a:fld id="{7F1B84B5-885F-A340-993B-FCB08AD90BDA}" type="slidenum">
              <a:rPr lang="en-US"/>
              <a:pPr/>
              <a:t>33</a:t>
            </a:fld>
            <a:endParaRPr lang="en-US"/>
          </a:p>
        </p:txBody>
      </p:sp>
    </p:spTree>
    <p:extLst>
      <p:ext uri="{BB962C8B-B14F-4D97-AF65-F5344CB8AC3E}">
        <p14:creationId xmlns:p14="http://schemas.microsoft.com/office/powerpoint/2010/main" val="16093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Slide Image Placeholder 1"/>
          <p:cNvSpPr>
            <a:spLocks noGrp="1" noRot="1" noChangeAspect="1" noTextEdit="1"/>
          </p:cNvSpPr>
          <p:nvPr>
            <p:ph type="sldImg"/>
          </p:nvPr>
        </p:nvSpPr>
        <p:spPr bwMode="auto">
          <a:noFill/>
          <a:ln>
            <a:solidFill>
              <a:srgbClr val="000000"/>
            </a:solidFill>
            <a:miter lim="800000"/>
            <a:headEnd/>
            <a:tailEnd/>
          </a:ln>
        </p:spPr>
      </p:sp>
      <p:sp>
        <p:nvSpPr>
          <p:cNvPr id="145410" name="Notes Placeholder 2"/>
          <p:cNvSpPr>
            <a:spLocks noGrp="1"/>
          </p:cNvSpPr>
          <p:nvPr>
            <p:ph type="body" idx="1"/>
          </p:nvPr>
        </p:nvSpPr>
        <p:spPr bwMode="auto">
          <a:noFill/>
        </p:spPr>
        <p:txBody>
          <a:bodyPr/>
          <a:lstStyle/>
          <a:p>
            <a:pPr>
              <a:spcBef>
                <a:spcPct val="0"/>
              </a:spcBef>
            </a:pPr>
            <a:r>
              <a:rPr lang="en-US" dirty="0"/>
              <a:t>Rembrandt van Rijn SELF-PORTRAIT</a:t>
            </a:r>
            <a:br>
              <a:rPr lang="en-US" dirty="0"/>
            </a:br>
            <a:r>
              <a:rPr lang="en-US" dirty="0"/>
              <a:t>1658. Oil on canvas, 52-5/8</a:t>
            </a:r>
            <a:r>
              <a:rPr lang="ru-RU" dirty="0"/>
              <a:t>"</a:t>
            </a:r>
            <a:r>
              <a:rPr lang="en-US" dirty="0"/>
              <a:t> × 40-7/8</a:t>
            </a:r>
            <a:r>
              <a:rPr lang="ru-RU" dirty="0"/>
              <a:t>"</a:t>
            </a:r>
            <a:r>
              <a:rPr lang="en-US" dirty="0"/>
              <a:t> (133.6 × 103.8 cm).</a:t>
            </a:r>
            <a:br>
              <a:rPr lang="en-US" dirty="0"/>
            </a:br>
            <a:r>
              <a:rPr lang="en-US" dirty="0"/>
              <a:t>The Frick Collection, New York. Henry Clay Frick Bequest. (1906.1.97). </a:t>
            </a:r>
            <a:br>
              <a:rPr lang="en-US" dirty="0"/>
            </a:br>
            <a:r>
              <a:rPr lang="en-US" dirty="0"/>
              <a:t>Photo: Michael </a:t>
            </a:r>
            <a:r>
              <a:rPr lang="en-US" dirty="0" err="1"/>
              <a:t>Bodycomb</a:t>
            </a:r>
            <a:r>
              <a:rPr lang="en-US" dirty="0"/>
              <a:t>. </a:t>
            </a:r>
          </a:p>
        </p:txBody>
      </p:sp>
      <p:sp>
        <p:nvSpPr>
          <p:cNvPr id="145411" name="Slide Number Placeholder 3"/>
          <p:cNvSpPr>
            <a:spLocks noGrp="1"/>
          </p:cNvSpPr>
          <p:nvPr>
            <p:ph type="sldNum" sz="quarter" idx="5"/>
          </p:nvPr>
        </p:nvSpPr>
        <p:spPr bwMode="auto">
          <a:noFill/>
          <a:ln>
            <a:miter lim="800000"/>
            <a:headEnd/>
            <a:tailEnd/>
          </a:ln>
        </p:spPr>
        <p:txBody>
          <a:bodyPr/>
          <a:lstStyle/>
          <a:p>
            <a:fld id="{A4E039A6-4018-B94F-9678-B088B6AB467B}" type="slidenum">
              <a:rPr lang="en-US"/>
              <a:pPr/>
              <a:t>35</a:t>
            </a:fld>
            <a:endParaRPr lang="en-US"/>
          </a:p>
        </p:txBody>
      </p:sp>
    </p:spTree>
    <p:extLst>
      <p:ext uri="{BB962C8B-B14F-4D97-AF65-F5344CB8AC3E}">
        <p14:creationId xmlns:p14="http://schemas.microsoft.com/office/powerpoint/2010/main" val="2054536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bwMode="auto">
          <a:noFill/>
          <a:ln>
            <a:solidFill>
              <a:srgbClr val="000000"/>
            </a:solidFill>
            <a:miter lim="800000"/>
            <a:headEnd/>
            <a:tailEnd/>
          </a:ln>
        </p:spPr>
      </p:sp>
      <p:sp>
        <p:nvSpPr>
          <p:cNvPr id="148482" name="Notes Placeholder 2"/>
          <p:cNvSpPr>
            <a:spLocks noGrp="1"/>
          </p:cNvSpPr>
          <p:nvPr>
            <p:ph type="body" idx="1"/>
          </p:nvPr>
        </p:nvSpPr>
        <p:spPr bwMode="auto">
          <a:noFill/>
        </p:spPr>
        <p:txBody>
          <a:bodyPr/>
          <a:lstStyle/>
          <a:p>
            <a:pPr>
              <a:spcBef>
                <a:spcPct val="0"/>
              </a:spcBef>
            </a:pPr>
            <a:r>
              <a:rPr lang="en-US" dirty="0">
                <a:latin typeface="Verdana" charset="0"/>
              </a:rPr>
              <a:t>Johannes Vermeer VIEW OF DELFT</a:t>
            </a:r>
            <a:br>
              <a:rPr lang="en-US" dirty="0">
                <a:latin typeface="Verdana" charset="0"/>
              </a:rPr>
            </a:br>
            <a:r>
              <a:rPr lang="en-US" dirty="0">
                <a:latin typeface="Verdana" charset="0"/>
              </a:rPr>
              <a:t>c. 1662. Oil on canvas, 38-1/2</a:t>
            </a:r>
            <a:r>
              <a:rPr lang="ru-RU" dirty="0">
                <a:latin typeface="Verdana" charset="0"/>
              </a:rPr>
              <a:t>"</a:t>
            </a:r>
            <a:r>
              <a:rPr lang="en-US" dirty="0">
                <a:latin typeface="Verdana" charset="0"/>
              </a:rPr>
              <a:t> × 46-1/4</a:t>
            </a:r>
            <a:r>
              <a:rPr lang="ru-RU" dirty="0">
                <a:latin typeface="Verdana" charset="0"/>
              </a:rPr>
              <a:t>"</a:t>
            </a:r>
            <a:r>
              <a:rPr lang="en-US" dirty="0">
                <a:latin typeface="Verdana" charset="0"/>
              </a:rPr>
              <a:t> (97.8 × 117.5 cm).</a:t>
            </a:r>
            <a:br>
              <a:rPr lang="en-US" dirty="0">
                <a:latin typeface="Verdana" charset="0"/>
              </a:rPr>
            </a:br>
            <a:r>
              <a:rPr lang="en-US" dirty="0">
                <a:latin typeface="Verdana" charset="0"/>
              </a:rPr>
              <a:t>Royal Picture Gallery, </a:t>
            </a:r>
            <a:r>
              <a:rPr lang="en-US" dirty="0" err="1">
                <a:latin typeface="Verdana" charset="0"/>
              </a:rPr>
              <a:t>Mauritshuis</a:t>
            </a:r>
            <a:r>
              <a:rPr lang="en-US" dirty="0">
                <a:latin typeface="Verdana" charset="0"/>
              </a:rPr>
              <a:t>, The Hague. </a:t>
            </a:r>
            <a:endParaRPr lang="en-US" dirty="0"/>
          </a:p>
        </p:txBody>
      </p:sp>
      <p:sp>
        <p:nvSpPr>
          <p:cNvPr id="148483" name="Slide Number Placeholder 3"/>
          <p:cNvSpPr>
            <a:spLocks noGrp="1"/>
          </p:cNvSpPr>
          <p:nvPr>
            <p:ph type="sldNum" sz="quarter" idx="5"/>
          </p:nvPr>
        </p:nvSpPr>
        <p:spPr bwMode="auto">
          <a:noFill/>
          <a:ln>
            <a:miter lim="800000"/>
            <a:headEnd/>
            <a:tailEnd/>
          </a:ln>
        </p:spPr>
        <p:txBody>
          <a:bodyPr/>
          <a:lstStyle/>
          <a:p>
            <a:fld id="{32DCC272-9DAA-4A4E-80E0-8BA46AA867CA}" type="slidenum">
              <a:rPr lang="en-US"/>
              <a:pPr/>
              <a:t>37</a:t>
            </a:fld>
            <a:endParaRPr lang="en-US"/>
          </a:p>
        </p:txBody>
      </p:sp>
    </p:spTree>
    <p:extLst>
      <p:ext uri="{BB962C8B-B14F-4D97-AF65-F5344CB8AC3E}">
        <p14:creationId xmlns:p14="http://schemas.microsoft.com/office/powerpoint/2010/main" val="1206202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Slide Image Placeholder 1"/>
          <p:cNvSpPr>
            <a:spLocks noGrp="1" noRot="1" noChangeAspect="1" noTextEdit="1"/>
          </p:cNvSpPr>
          <p:nvPr>
            <p:ph type="sldImg"/>
          </p:nvPr>
        </p:nvSpPr>
        <p:spPr bwMode="auto">
          <a:noFill/>
          <a:ln>
            <a:solidFill>
              <a:srgbClr val="000000"/>
            </a:solidFill>
            <a:miter lim="800000"/>
            <a:headEnd/>
            <a:tailEnd/>
          </a:ln>
        </p:spPr>
      </p:sp>
      <p:sp>
        <p:nvSpPr>
          <p:cNvPr id="151554" name="Notes Placeholder 2"/>
          <p:cNvSpPr>
            <a:spLocks noGrp="1"/>
          </p:cNvSpPr>
          <p:nvPr>
            <p:ph type="body" idx="1"/>
          </p:nvPr>
        </p:nvSpPr>
        <p:spPr bwMode="auto">
          <a:noFill/>
        </p:spPr>
        <p:txBody>
          <a:bodyPr/>
          <a:lstStyle/>
          <a:p>
            <a:pPr>
              <a:spcBef>
                <a:spcPct val="0"/>
              </a:spcBef>
            </a:pPr>
            <a:r>
              <a:rPr lang="en-US" dirty="0">
                <a:latin typeface="Verdana" charset="0"/>
              </a:rPr>
              <a:t>Johannes Vermeer WOMAN HOLDING A BALANCE</a:t>
            </a:r>
            <a:br>
              <a:rPr lang="en-US" dirty="0">
                <a:latin typeface="Verdana" charset="0"/>
              </a:rPr>
            </a:br>
            <a:r>
              <a:rPr lang="en-US" dirty="0">
                <a:latin typeface="Verdana" charset="0"/>
              </a:rPr>
              <a:t>c. 1664. Oil on canvas, 15-5/8</a:t>
            </a:r>
            <a:r>
              <a:rPr lang="ru-RU" dirty="0">
                <a:latin typeface="Verdana" charset="0"/>
              </a:rPr>
              <a:t>"</a:t>
            </a:r>
            <a:r>
              <a:rPr lang="en-US" dirty="0">
                <a:latin typeface="Verdana" charset="0"/>
              </a:rPr>
              <a:t> × 14</a:t>
            </a:r>
            <a:r>
              <a:rPr lang="ru-RU" dirty="0">
                <a:latin typeface="Verdana" charset="0"/>
              </a:rPr>
              <a:t>"</a:t>
            </a:r>
            <a:r>
              <a:rPr lang="en-US" dirty="0">
                <a:latin typeface="Verdana" charset="0"/>
              </a:rPr>
              <a:t> (39.7 × 35.5 cm).</a:t>
            </a:r>
            <a:br>
              <a:rPr lang="en-US" dirty="0">
                <a:latin typeface="Verdana" charset="0"/>
              </a:rPr>
            </a:br>
            <a:r>
              <a:rPr lang="en-US" dirty="0">
                <a:latin typeface="Verdana" charset="0"/>
              </a:rPr>
              <a:t>National Gallery of Art, Washington, DC. Widener Collection (1942.9.97). Image courtesy the National Gallery of Art, Washington.</a:t>
            </a:r>
            <a:endParaRPr lang="en-US" dirty="0"/>
          </a:p>
        </p:txBody>
      </p:sp>
      <p:sp>
        <p:nvSpPr>
          <p:cNvPr id="151555" name="Slide Number Placeholder 3"/>
          <p:cNvSpPr>
            <a:spLocks noGrp="1"/>
          </p:cNvSpPr>
          <p:nvPr>
            <p:ph type="sldNum" sz="quarter" idx="5"/>
          </p:nvPr>
        </p:nvSpPr>
        <p:spPr bwMode="auto">
          <a:noFill/>
          <a:ln>
            <a:miter lim="800000"/>
            <a:headEnd/>
            <a:tailEnd/>
          </a:ln>
        </p:spPr>
        <p:txBody>
          <a:bodyPr/>
          <a:lstStyle/>
          <a:p>
            <a:fld id="{15C00740-EA22-6942-B214-F8294FD32AEE}" type="slidenum">
              <a:rPr lang="en-US"/>
              <a:pPr/>
              <a:t>39</a:t>
            </a:fld>
            <a:endParaRPr lang="en-US"/>
          </a:p>
        </p:txBody>
      </p:sp>
    </p:spTree>
    <p:extLst>
      <p:ext uri="{BB962C8B-B14F-4D97-AF65-F5344CB8AC3E}">
        <p14:creationId xmlns:p14="http://schemas.microsoft.com/office/powerpoint/2010/main" val="393453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bwMode="auto">
          <a:noFill/>
          <a:ln>
            <a:solidFill>
              <a:srgbClr val="000000"/>
            </a:solidFill>
            <a:miter lim="800000"/>
            <a:headEnd/>
            <a:tailEnd/>
          </a:ln>
        </p:spPr>
      </p:sp>
      <p:sp>
        <p:nvSpPr>
          <p:cNvPr id="154626" name="Notes Placeholder 2"/>
          <p:cNvSpPr>
            <a:spLocks noGrp="1"/>
          </p:cNvSpPr>
          <p:nvPr>
            <p:ph type="body" idx="1"/>
          </p:nvPr>
        </p:nvSpPr>
        <p:spPr bwMode="auto">
          <a:noFill/>
        </p:spPr>
        <p:txBody>
          <a:bodyPr/>
          <a:lstStyle/>
          <a:p>
            <a:pPr>
              <a:spcBef>
                <a:spcPct val="0"/>
              </a:spcBef>
            </a:pPr>
            <a:r>
              <a:rPr lang="en-US" dirty="0"/>
              <a:t>Gerard </a:t>
            </a:r>
            <a:r>
              <a:rPr lang="en-US" dirty="0" err="1"/>
              <a:t>ter</a:t>
            </a:r>
            <a:r>
              <a:rPr lang="en-US" dirty="0"/>
              <a:t> </a:t>
            </a:r>
            <a:r>
              <a:rPr lang="en-US" dirty="0" err="1"/>
              <a:t>Borch</a:t>
            </a:r>
            <a:r>
              <a:rPr lang="en-US" dirty="0"/>
              <a:t> THE SUITOR</a:t>
            </a:r>
            <a:r>
              <a:rPr lang="uk-UA" dirty="0"/>
              <a:t>'</a:t>
            </a:r>
            <a:r>
              <a:rPr lang="en-US" dirty="0"/>
              <a:t>S VISIT</a:t>
            </a:r>
            <a:br>
              <a:rPr lang="en-US" dirty="0"/>
            </a:br>
            <a:r>
              <a:rPr lang="en-US" dirty="0"/>
              <a:t>c. 1658. Oil on canvas, 32-1/2</a:t>
            </a:r>
            <a:r>
              <a:rPr lang="ru-RU" dirty="0"/>
              <a:t>"</a:t>
            </a:r>
            <a:r>
              <a:rPr lang="en-US" dirty="0"/>
              <a:t> × 29-5/8</a:t>
            </a:r>
            <a:r>
              <a:rPr lang="ru-RU" dirty="0"/>
              <a:t>"</a:t>
            </a:r>
            <a:r>
              <a:rPr lang="en-US" dirty="0"/>
              <a:t> (82.6 × 75.3 cm).</a:t>
            </a:r>
            <a:br>
              <a:rPr lang="en-US" dirty="0"/>
            </a:br>
            <a:r>
              <a:rPr lang="en-US" dirty="0"/>
              <a:t>National Gallery of Art, Washington, DC. Andrew W. Mellon Collection. Image courtesy the National Gallery of Art, Washington. </a:t>
            </a:r>
          </a:p>
        </p:txBody>
      </p:sp>
      <p:sp>
        <p:nvSpPr>
          <p:cNvPr id="154627" name="Slide Number Placeholder 3"/>
          <p:cNvSpPr>
            <a:spLocks noGrp="1"/>
          </p:cNvSpPr>
          <p:nvPr>
            <p:ph type="sldNum" sz="quarter" idx="5"/>
          </p:nvPr>
        </p:nvSpPr>
        <p:spPr bwMode="auto">
          <a:noFill/>
          <a:ln>
            <a:miter lim="800000"/>
            <a:headEnd/>
            <a:tailEnd/>
          </a:ln>
        </p:spPr>
        <p:txBody>
          <a:bodyPr/>
          <a:lstStyle/>
          <a:p>
            <a:fld id="{F5891899-0F3D-D340-9C2D-AA7B9CB90310}" type="slidenum">
              <a:rPr lang="en-US"/>
              <a:pPr/>
              <a:t>41</a:t>
            </a:fld>
            <a:endParaRPr lang="en-US"/>
          </a:p>
        </p:txBody>
      </p:sp>
    </p:spTree>
    <p:extLst>
      <p:ext uri="{BB962C8B-B14F-4D97-AF65-F5344CB8AC3E}">
        <p14:creationId xmlns:p14="http://schemas.microsoft.com/office/powerpoint/2010/main" val="672186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Slide Image Placeholder 1"/>
          <p:cNvSpPr>
            <a:spLocks noGrp="1" noRot="1" noChangeAspect="1" noTextEdit="1"/>
          </p:cNvSpPr>
          <p:nvPr>
            <p:ph type="sldImg"/>
          </p:nvPr>
        </p:nvSpPr>
        <p:spPr bwMode="auto">
          <a:noFill/>
          <a:ln>
            <a:solidFill>
              <a:srgbClr val="000000"/>
            </a:solidFill>
            <a:miter lim="800000"/>
            <a:headEnd/>
            <a:tailEnd/>
          </a:ln>
        </p:spPr>
      </p:sp>
      <p:sp>
        <p:nvSpPr>
          <p:cNvPr id="157698" name="Notes Placeholder 2"/>
          <p:cNvSpPr>
            <a:spLocks noGrp="1"/>
          </p:cNvSpPr>
          <p:nvPr>
            <p:ph type="body" idx="1"/>
          </p:nvPr>
        </p:nvSpPr>
        <p:spPr bwMode="auto">
          <a:noFill/>
        </p:spPr>
        <p:txBody>
          <a:bodyPr/>
          <a:lstStyle/>
          <a:p>
            <a:pPr>
              <a:spcBef>
                <a:spcPct val="0"/>
              </a:spcBef>
            </a:pPr>
            <a:r>
              <a:rPr lang="en-US" dirty="0"/>
              <a:t>Jan Steen THE FEAST OF ST. NICHOLAS</a:t>
            </a:r>
            <a:br>
              <a:rPr lang="en-US" dirty="0"/>
            </a:br>
            <a:r>
              <a:rPr lang="en-US" dirty="0"/>
              <a:t>c. 1660–1665. Oil on canvas, 32-1/4</a:t>
            </a:r>
            <a:r>
              <a:rPr lang="ru-RU" dirty="0"/>
              <a:t>"</a:t>
            </a:r>
            <a:r>
              <a:rPr lang="en-US" dirty="0"/>
              <a:t> × 27-3/4</a:t>
            </a:r>
            <a:r>
              <a:rPr lang="ru-RU" dirty="0"/>
              <a:t>"</a:t>
            </a:r>
            <a:r>
              <a:rPr lang="en-US" dirty="0"/>
              <a:t> (82 × 70.5 cm).</a:t>
            </a:r>
            <a:br>
              <a:rPr lang="en-US" dirty="0"/>
            </a:br>
            <a:r>
              <a:rPr lang="en-US" dirty="0"/>
              <a:t>Rijksmuseum, Amsterdam.</a:t>
            </a:r>
          </a:p>
        </p:txBody>
      </p:sp>
      <p:sp>
        <p:nvSpPr>
          <p:cNvPr id="157699" name="Slide Number Placeholder 3"/>
          <p:cNvSpPr>
            <a:spLocks noGrp="1"/>
          </p:cNvSpPr>
          <p:nvPr>
            <p:ph type="sldNum" sz="quarter" idx="5"/>
          </p:nvPr>
        </p:nvSpPr>
        <p:spPr bwMode="auto">
          <a:noFill/>
          <a:ln>
            <a:miter lim="800000"/>
            <a:headEnd/>
            <a:tailEnd/>
          </a:ln>
        </p:spPr>
        <p:txBody>
          <a:bodyPr/>
          <a:lstStyle/>
          <a:p>
            <a:fld id="{49C2FC50-0382-184E-B551-AEDA24030038}" type="slidenum">
              <a:rPr lang="en-US"/>
              <a:pPr/>
              <a:t>43</a:t>
            </a:fld>
            <a:endParaRPr lang="en-US"/>
          </a:p>
        </p:txBody>
      </p:sp>
    </p:spTree>
    <p:extLst>
      <p:ext uri="{BB962C8B-B14F-4D97-AF65-F5344CB8AC3E}">
        <p14:creationId xmlns:p14="http://schemas.microsoft.com/office/powerpoint/2010/main" val="1678791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Slide Image Placeholder 1"/>
          <p:cNvSpPr>
            <a:spLocks noGrp="1" noRot="1" noChangeAspect="1" noTextEdit="1"/>
          </p:cNvSpPr>
          <p:nvPr>
            <p:ph type="sldImg"/>
          </p:nvPr>
        </p:nvSpPr>
        <p:spPr bwMode="auto">
          <a:noFill/>
          <a:ln>
            <a:solidFill>
              <a:srgbClr val="000000"/>
            </a:solidFill>
            <a:miter lim="800000"/>
            <a:headEnd/>
            <a:tailEnd/>
          </a:ln>
        </p:spPr>
      </p:sp>
      <p:sp>
        <p:nvSpPr>
          <p:cNvPr id="160770"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Emanuel de Witte PORTUGUESE SYNAGOGUE, AMSTERDAM</a:t>
            </a:r>
            <a:br>
              <a:rPr lang="en-US" dirty="0">
                <a:solidFill>
                  <a:schemeClr val="bg1"/>
                </a:solidFill>
                <a:latin typeface="Verdana" charset="0"/>
              </a:rPr>
            </a:br>
            <a:r>
              <a:rPr lang="en-US" dirty="0">
                <a:solidFill>
                  <a:schemeClr val="bg1"/>
                </a:solidFill>
                <a:latin typeface="Verdana" charset="0"/>
              </a:rPr>
              <a:t>1680. Oil on canvas, 43-1/2</a:t>
            </a:r>
            <a:r>
              <a:rPr lang="ru-RU" dirty="0">
                <a:solidFill>
                  <a:schemeClr val="bg1"/>
                </a:solidFill>
                <a:latin typeface="Verdana" charset="0"/>
              </a:rPr>
              <a:t>"</a:t>
            </a:r>
            <a:r>
              <a:rPr lang="en-US" dirty="0">
                <a:solidFill>
                  <a:schemeClr val="bg1"/>
                </a:solidFill>
                <a:latin typeface="Verdana" charset="0"/>
              </a:rPr>
              <a:t> × 39</a:t>
            </a:r>
            <a:r>
              <a:rPr lang="ru-RU" dirty="0">
                <a:solidFill>
                  <a:schemeClr val="bg1"/>
                </a:solidFill>
                <a:latin typeface="Verdana" charset="0"/>
              </a:rPr>
              <a:t>"</a:t>
            </a:r>
            <a:r>
              <a:rPr lang="en-US" dirty="0">
                <a:solidFill>
                  <a:schemeClr val="bg1"/>
                </a:solidFill>
                <a:latin typeface="Verdana" charset="0"/>
              </a:rPr>
              <a:t> (110.5 × 99.1 cm).</a:t>
            </a:r>
            <a:br>
              <a:rPr lang="en-US" dirty="0">
                <a:solidFill>
                  <a:schemeClr val="bg1"/>
                </a:solidFill>
                <a:latin typeface="Verdana" charset="0"/>
              </a:rPr>
            </a:br>
            <a:r>
              <a:rPr lang="en-US" dirty="0">
                <a:solidFill>
                  <a:schemeClr val="bg1"/>
                </a:solidFill>
                <a:latin typeface="Verdana" charset="0"/>
              </a:rPr>
              <a:t>Rijksmuseum, Amsterdam.</a:t>
            </a:r>
            <a:endParaRPr lang="en-US" dirty="0"/>
          </a:p>
        </p:txBody>
      </p:sp>
      <p:sp>
        <p:nvSpPr>
          <p:cNvPr id="160771" name="Slide Number Placeholder 3"/>
          <p:cNvSpPr>
            <a:spLocks noGrp="1"/>
          </p:cNvSpPr>
          <p:nvPr>
            <p:ph type="sldNum" sz="quarter" idx="5"/>
          </p:nvPr>
        </p:nvSpPr>
        <p:spPr bwMode="auto">
          <a:noFill/>
          <a:ln>
            <a:miter lim="800000"/>
            <a:headEnd/>
            <a:tailEnd/>
          </a:ln>
        </p:spPr>
        <p:txBody>
          <a:bodyPr/>
          <a:lstStyle/>
          <a:p>
            <a:fld id="{A6B43E25-B34F-6E46-A77C-033D85C03A69}" type="slidenum">
              <a:rPr lang="en-US"/>
              <a:pPr/>
              <a:t>45</a:t>
            </a:fld>
            <a:endParaRPr lang="en-US"/>
          </a:p>
        </p:txBody>
      </p:sp>
    </p:spTree>
    <p:extLst>
      <p:ext uri="{BB962C8B-B14F-4D97-AF65-F5344CB8AC3E}">
        <p14:creationId xmlns:p14="http://schemas.microsoft.com/office/powerpoint/2010/main" val="1804518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Slide Image Placeholder 1"/>
          <p:cNvSpPr>
            <a:spLocks noGrp="1" noRot="1" noChangeAspect="1" noTextEdit="1"/>
          </p:cNvSpPr>
          <p:nvPr>
            <p:ph type="sldImg"/>
          </p:nvPr>
        </p:nvSpPr>
        <p:spPr bwMode="auto">
          <a:noFill/>
          <a:ln>
            <a:solidFill>
              <a:srgbClr val="000000"/>
            </a:solidFill>
            <a:miter lim="800000"/>
            <a:headEnd/>
            <a:tailEnd/>
          </a:ln>
        </p:spPr>
      </p:sp>
      <p:sp>
        <p:nvSpPr>
          <p:cNvPr id="163842"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Jacob van Ruisdael VIEW OF HAARLEM FROM THE DUNES AT OVERVEEN</a:t>
            </a:r>
            <a:br>
              <a:rPr lang="en-US" dirty="0">
                <a:solidFill>
                  <a:schemeClr val="bg1"/>
                </a:solidFill>
                <a:latin typeface="Verdana" charset="0"/>
              </a:rPr>
            </a:br>
            <a:r>
              <a:rPr lang="en-US" dirty="0">
                <a:solidFill>
                  <a:schemeClr val="bg1"/>
                </a:solidFill>
                <a:latin typeface="Verdana" charset="0"/>
              </a:rPr>
              <a:t>c. 1670. Oil on canvas, 22</a:t>
            </a:r>
            <a:r>
              <a:rPr lang="ru-RU" dirty="0">
                <a:solidFill>
                  <a:schemeClr val="bg1"/>
                </a:solidFill>
                <a:latin typeface="Verdana" charset="0"/>
              </a:rPr>
              <a:t>"</a:t>
            </a:r>
            <a:r>
              <a:rPr lang="en-US" dirty="0">
                <a:solidFill>
                  <a:schemeClr val="bg1"/>
                </a:solidFill>
                <a:latin typeface="Verdana" charset="0"/>
              </a:rPr>
              <a:t> × 24-1/4</a:t>
            </a:r>
            <a:r>
              <a:rPr lang="ru-RU" dirty="0">
                <a:solidFill>
                  <a:schemeClr val="bg1"/>
                </a:solidFill>
                <a:latin typeface="Verdana" charset="0"/>
              </a:rPr>
              <a:t>"</a:t>
            </a:r>
            <a:r>
              <a:rPr lang="en-US" dirty="0">
                <a:solidFill>
                  <a:schemeClr val="bg1"/>
                </a:solidFill>
                <a:latin typeface="Verdana" charset="0"/>
              </a:rPr>
              <a:t> (55.8 × 62.8 cm).</a:t>
            </a:r>
            <a:br>
              <a:rPr lang="en-US" dirty="0">
                <a:solidFill>
                  <a:schemeClr val="bg1"/>
                </a:solidFill>
                <a:latin typeface="Verdana" charset="0"/>
              </a:rPr>
            </a:br>
            <a:r>
              <a:rPr lang="en-US" dirty="0">
                <a:solidFill>
                  <a:schemeClr val="bg1"/>
                </a:solidFill>
                <a:latin typeface="Verdana" charset="0"/>
              </a:rPr>
              <a:t>Royal Picture Gallery, </a:t>
            </a:r>
            <a:r>
              <a:rPr lang="en-US" dirty="0" err="1">
                <a:solidFill>
                  <a:schemeClr val="bg1"/>
                </a:solidFill>
                <a:latin typeface="Verdana" charset="0"/>
              </a:rPr>
              <a:t>Mauritshuis</a:t>
            </a:r>
            <a:r>
              <a:rPr lang="en-US" dirty="0">
                <a:solidFill>
                  <a:schemeClr val="bg1"/>
                </a:solidFill>
                <a:latin typeface="Verdana" charset="0"/>
              </a:rPr>
              <a:t>, The Hague. </a:t>
            </a:r>
            <a:endParaRPr lang="en-US" dirty="0"/>
          </a:p>
        </p:txBody>
      </p:sp>
      <p:sp>
        <p:nvSpPr>
          <p:cNvPr id="163843" name="Slide Number Placeholder 3"/>
          <p:cNvSpPr>
            <a:spLocks noGrp="1"/>
          </p:cNvSpPr>
          <p:nvPr>
            <p:ph type="sldNum" sz="quarter" idx="5"/>
          </p:nvPr>
        </p:nvSpPr>
        <p:spPr bwMode="auto">
          <a:noFill/>
          <a:ln>
            <a:miter lim="800000"/>
            <a:headEnd/>
            <a:tailEnd/>
          </a:ln>
        </p:spPr>
        <p:txBody>
          <a:bodyPr/>
          <a:lstStyle/>
          <a:p>
            <a:fld id="{FFE6A575-7438-9448-A429-689089F2A95C}" type="slidenum">
              <a:rPr lang="en-US"/>
              <a:pPr/>
              <a:t>47</a:t>
            </a:fld>
            <a:endParaRPr lang="en-US"/>
          </a:p>
        </p:txBody>
      </p:sp>
    </p:spTree>
    <p:extLst>
      <p:ext uri="{BB962C8B-B14F-4D97-AF65-F5344CB8AC3E}">
        <p14:creationId xmlns:p14="http://schemas.microsoft.com/office/powerpoint/2010/main" val="1785425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Slide Image Placeholder 1"/>
          <p:cNvSpPr>
            <a:spLocks noGrp="1" noRot="1" noChangeAspect="1" noTextEdit="1"/>
          </p:cNvSpPr>
          <p:nvPr>
            <p:ph type="sldImg"/>
          </p:nvPr>
        </p:nvSpPr>
        <p:spPr bwMode="auto">
          <a:noFill/>
          <a:ln>
            <a:solidFill>
              <a:srgbClr val="000000"/>
            </a:solidFill>
            <a:miter lim="800000"/>
            <a:headEnd/>
            <a:tailEnd/>
          </a:ln>
        </p:spPr>
      </p:sp>
      <p:sp>
        <p:nvSpPr>
          <p:cNvPr id="166914"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Pieter </a:t>
            </a:r>
            <a:r>
              <a:rPr lang="en-US" dirty="0" err="1">
                <a:solidFill>
                  <a:schemeClr val="bg1"/>
                </a:solidFill>
                <a:latin typeface="Verdana" charset="0"/>
              </a:rPr>
              <a:t>Claesz</a:t>
            </a:r>
            <a:r>
              <a:rPr lang="en-US" dirty="0">
                <a:solidFill>
                  <a:schemeClr val="bg1"/>
                </a:solidFill>
                <a:latin typeface="Verdana" charset="0"/>
              </a:rPr>
              <a:t> STILL LIFE WITH TAZZA</a:t>
            </a:r>
            <a:br>
              <a:rPr lang="en-US" dirty="0">
                <a:solidFill>
                  <a:schemeClr val="bg1"/>
                </a:solidFill>
                <a:latin typeface="Verdana" charset="0"/>
              </a:rPr>
            </a:br>
            <a:r>
              <a:rPr lang="en-US" dirty="0">
                <a:solidFill>
                  <a:schemeClr val="bg1"/>
                </a:solidFill>
                <a:latin typeface="Verdana" charset="0"/>
              </a:rPr>
              <a:t>1636. Oil on panel, 17-3/8</a:t>
            </a:r>
            <a:r>
              <a:rPr lang="ru-RU" dirty="0">
                <a:solidFill>
                  <a:schemeClr val="bg1"/>
                </a:solidFill>
                <a:latin typeface="Verdana" charset="0"/>
              </a:rPr>
              <a:t>"</a:t>
            </a:r>
            <a:r>
              <a:rPr lang="en-US" dirty="0">
                <a:solidFill>
                  <a:schemeClr val="bg1"/>
                </a:solidFill>
                <a:latin typeface="Verdana" charset="0"/>
              </a:rPr>
              <a:t> × 24</a:t>
            </a:r>
            <a:r>
              <a:rPr lang="ru-RU" dirty="0">
                <a:solidFill>
                  <a:schemeClr val="bg1"/>
                </a:solidFill>
                <a:latin typeface="Verdana" charset="0"/>
              </a:rPr>
              <a:t>"</a:t>
            </a:r>
            <a:r>
              <a:rPr lang="en-US" dirty="0">
                <a:solidFill>
                  <a:schemeClr val="bg1"/>
                </a:solidFill>
                <a:latin typeface="Verdana" charset="0"/>
              </a:rPr>
              <a:t> (44 × 61 cm).</a:t>
            </a:r>
            <a:br>
              <a:rPr lang="en-US" dirty="0">
                <a:solidFill>
                  <a:schemeClr val="bg1"/>
                </a:solidFill>
                <a:latin typeface="Verdana" charset="0"/>
              </a:rPr>
            </a:br>
            <a:r>
              <a:rPr lang="en-US" dirty="0">
                <a:solidFill>
                  <a:schemeClr val="bg1"/>
                </a:solidFill>
                <a:latin typeface="Verdana" charset="0"/>
              </a:rPr>
              <a:t>Royal Cabinet of Paintings </a:t>
            </a:r>
            <a:r>
              <a:rPr lang="en-US" dirty="0" err="1">
                <a:solidFill>
                  <a:schemeClr val="bg1"/>
                </a:solidFill>
                <a:latin typeface="Verdana" charset="0"/>
              </a:rPr>
              <a:t>Mauritshuis</a:t>
            </a:r>
            <a:r>
              <a:rPr lang="en-US" dirty="0">
                <a:solidFill>
                  <a:schemeClr val="bg1"/>
                </a:solidFill>
                <a:latin typeface="Verdana" charset="0"/>
              </a:rPr>
              <a:t>, The Hague. </a:t>
            </a:r>
            <a:endParaRPr lang="en-US" dirty="0"/>
          </a:p>
        </p:txBody>
      </p:sp>
      <p:sp>
        <p:nvSpPr>
          <p:cNvPr id="166915" name="Slide Number Placeholder 3"/>
          <p:cNvSpPr>
            <a:spLocks noGrp="1"/>
          </p:cNvSpPr>
          <p:nvPr>
            <p:ph type="sldNum" sz="quarter" idx="5"/>
          </p:nvPr>
        </p:nvSpPr>
        <p:spPr bwMode="auto">
          <a:noFill/>
          <a:ln>
            <a:miter lim="800000"/>
            <a:headEnd/>
            <a:tailEnd/>
          </a:ln>
        </p:spPr>
        <p:txBody>
          <a:bodyPr/>
          <a:lstStyle/>
          <a:p>
            <a:fld id="{1FF8C3EA-D911-5C4B-90B0-49E327676244}" type="slidenum">
              <a:rPr lang="en-US"/>
              <a:pPr/>
              <a:t>49</a:t>
            </a:fld>
            <a:endParaRPr lang="en-US"/>
          </a:p>
        </p:txBody>
      </p:sp>
    </p:spTree>
    <p:extLst>
      <p:ext uri="{BB962C8B-B14F-4D97-AF65-F5344CB8AC3E}">
        <p14:creationId xmlns:p14="http://schemas.microsoft.com/office/powerpoint/2010/main" val="857479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Slide Image Placeholder 1"/>
          <p:cNvSpPr>
            <a:spLocks noGrp="1" noRot="1" noChangeAspect="1" noTextEdit="1"/>
          </p:cNvSpPr>
          <p:nvPr>
            <p:ph type="sldImg"/>
          </p:nvPr>
        </p:nvSpPr>
        <p:spPr bwMode="auto">
          <a:noFill/>
          <a:ln>
            <a:solidFill>
              <a:srgbClr val="000000"/>
            </a:solidFill>
            <a:miter lim="800000"/>
            <a:headEnd/>
            <a:tailEnd/>
          </a:ln>
        </p:spPr>
      </p:sp>
      <p:sp>
        <p:nvSpPr>
          <p:cNvPr id="169986" name="Notes Placeholder 2"/>
          <p:cNvSpPr>
            <a:spLocks noGrp="1"/>
          </p:cNvSpPr>
          <p:nvPr>
            <p:ph type="body" idx="1"/>
          </p:nvPr>
        </p:nvSpPr>
        <p:spPr bwMode="auto">
          <a:noFill/>
        </p:spPr>
        <p:txBody>
          <a:bodyPr/>
          <a:lstStyle/>
          <a:p>
            <a:pPr>
              <a:spcBef>
                <a:spcPct val="0"/>
              </a:spcBef>
            </a:pPr>
            <a:r>
              <a:rPr lang="en-US" dirty="0"/>
              <a:t>Rachel </a:t>
            </a:r>
            <a:r>
              <a:rPr lang="en-US" dirty="0" err="1"/>
              <a:t>Ruysch</a:t>
            </a:r>
            <a:r>
              <a:rPr lang="en-US" dirty="0"/>
              <a:t> FLOWER STILL LIFE</a:t>
            </a:r>
            <a:br>
              <a:rPr lang="en-US" dirty="0"/>
            </a:br>
            <a:r>
              <a:rPr lang="en-US" dirty="0"/>
              <a:t>After 1700. Oil on canvas, 30</a:t>
            </a:r>
            <a:r>
              <a:rPr lang="ru-RU" dirty="0"/>
              <a:t>"</a:t>
            </a:r>
            <a:r>
              <a:rPr lang="en-US" dirty="0"/>
              <a:t> × 24</a:t>
            </a:r>
            <a:r>
              <a:rPr lang="ru-RU" dirty="0"/>
              <a:t>"</a:t>
            </a:r>
            <a:r>
              <a:rPr lang="en-US" dirty="0"/>
              <a:t> (76.2 × 61 cm).</a:t>
            </a:r>
            <a:br>
              <a:rPr lang="en-US" dirty="0"/>
            </a:br>
            <a:r>
              <a:rPr lang="en-US" dirty="0"/>
              <a:t>The Toledo Museum of Art, Ohio. Purchased with funds from the Libbey Endowment.</a:t>
            </a:r>
            <a:br>
              <a:rPr lang="en-US" dirty="0"/>
            </a:br>
            <a:r>
              <a:rPr lang="en-US" dirty="0"/>
              <a:t>Gift of Edward Drummond Libbey (1956.57). The Toledo Museum of Art, Toledo, Ohio (1956.57)</a:t>
            </a:r>
          </a:p>
        </p:txBody>
      </p:sp>
      <p:sp>
        <p:nvSpPr>
          <p:cNvPr id="169987" name="Slide Number Placeholder 3"/>
          <p:cNvSpPr>
            <a:spLocks noGrp="1"/>
          </p:cNvSpPr>
          <p:nvPr>
            <p:ph type="sldNum" sz="quarter" idx="5"/>
          </p:nvPr>
        </p:nvSpPr>
        <p:spPr bwMode="auto">
          <a:noFill/>
          <a:ln>
            <a:miter lim="800000"/>
            <a:headEnd/>
            <a:tailEnd/>
          </a:ln>
        </p:spPr>
        <p:txBody>
          <a:bodyPr/>
          <a:lstStyle/>
          <a:p>
            <a:fld id="{56800B18-0C87-C745-9DB7-087AD6C2196F}" type="slidenum">
              <a:rPr lang="en-US"/>
              <a:pPr/>
              <a:t>51</a:t>
            </a:fld>
            <a:endParaRPr lang="en-US"/>
          </a:p>
        </p:txBody>
      </p:sp>
    </p:spTree>
    <p:extLst>
      <p:ext uri="{BB962C8B-B14F-4D97-AF65-F5344CB8AC3E}">
        <p14:creationId xmlns:p14="http://schemas.microsoft.com/office/powerpoint/2010/main" val="20479121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8" name="Notes Placeholder 2"/>
          <p:cNvSpPr>
            <a:spLocks noGrp="1"/>
          </p:cNvSpPr>
          <p:nvPr>
            <p:ph type="body" idx="1"/>
          </p:nvPr>
        </p:nvSpPr>
        <p:spPr bwMode="auto">
          <a:noFill/>
        </p:spPr>
        <p:txBody>
          <a:bodyPr/>
          <a:lstStyle/>
          <a:p>
            <a:pPr eaLnBrk="1" hangingPunct="1">
              <a:spcBef>
                <a:spcPct val="0"/>
              </a:spcBef>
            </a:pPr>
            <a:r>
              <a:rPr lang="en-US" dirty="0"/>
              <a:t>Anna Maria Sibylla </a:t>
            </a:r>
            <a:r>
              <a:rPr lang="en-US" dirty="0" err="1"/>
              <a:t>Merian</a:t>
            </a:r>
            <a:r>
              <a:rPr lang="en-US" dirty="0"/>
              <a:t> PLATE 9 FROM THE METAMORPHOSIS OF THE INSECTS OF SURINAM</a:t>
            </a:r>
            <a:br>
              <a:rPr lang="en-US" dirty="0"/>
            </a:br>
            <a:r>
              <a:rPr lang="en-US" dirty="0"/>
              <a:t>1719. Hand-colored engraving, 18-7/8</a:t>
            </a:r>
            <a:r>
              <a:rPr lang="ru-RU" dirty="0"/>
              <a:t>"</a:t>
            </a:r>
            <a:r>
              <a:rPr lang="en-US" dirty="0"/>
              <a:t> × 13</a:t>
            </a:r>
            <a:r>
              <a:rPr lang="ru-RU" dirty="0"/>
              <a:t>"</a:t>
            </a:r>
            <a:r>
              <a:rPr lang="en-US" dirty="0"/>
              <a:t> (47.9 × 33 cm). Getty Research Institute, Los Angeles (89-B10750) </a:t>
            </a:r>
          </a:p>
        </p:txBody>
      </p:sp>
      <p:sp>
        <p:nvSpPr>
          <p:cNvPr id="173059" name="Slide Number Placeholder 3"/>
          <p:cNvSpPr>
            <a:spLocks noGrp="1"/>
          </p:cNvSpPr>
          <p:nvPr>
            <p:ph type="sldNum" sz="quarter" idx="5"/>
          </p:nvPr>
        </p:nvSpPr>
        <p:spPr bwMode="auto">
          <a:noFill/>
          <a:ln>
            <a:miter lim="800000"/>
            <a:headEnd/>
            <a:tailEnd/>
          </a:ln>
        </p:spPr>
        <p:txBody>
          <a:bodyPr/>
          <a:lstStyle/>
          <a:p>
            <a:fld id="{749FC43E-229D-8F4B-9DCC-E6E9491F877B}" type="slidenum">
              <a:rPr lang="en-US"/>
              <a:pPr/>
              <a:t>53</a:t>
            </a:fld>
            <a:endParaRPr lang="en-US"/>
          </a:p>
        </p:txBody>
      </p:sp>
    </p:spTree>
    <p:extLst>
      <p:ext uri="{BB962C8B-B14F-4D97-AF65-F5344CB8AC3E}">
        <p14:creationId xmlns:p14="http://schemas.microsoft.com/office/powerpoint/2010/main" val="1538371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C049C-C809-2D4D-BBA6-601081C74059}"/>
              </a:ext>
            </a:extLst>
          </p:cNvPr>
          <p:cNvSpPr>
            <a:spLocks noGrp="1"/>
          </p:cNvSpPr>
          <p:nvPr>
            <p:ph type="ctrTitle"/>
          </p:nvPr>
        </p:nvSpPr>
        <p:spPr/>
        <p:txBody>
          <a:bodyPr/>
          <a:lstStyle/>
          <a:p>
            <a:r>
              <a:rPr lang="en-US" dirty="0"/>
              <a:t>Chapter 20</a:t>
            </a:r>
          </a:p>
        </p:txBody>
      </p:sp>
      <p:sp>
        <p:nvSpPr>
          <p:cNvPr id="3" name="Subtitle 2">
            <a:extLst>
              <a:ext uri="{FF2B5EF4-FFF2-40B4-BE49-F238E27FC236}">
                <a16:creationId xmlns:a16="http://schemas.microsoft.com/office/drawing/2014/main" id="{0AB8D2AD-9A88-E541-ACF8-0D0091634EC0}"/>
              </a:ext>
            </a:extLst>
          </p:cNvPr>
          <p:cNvSpPr>
            <a:spLocks noGrp="1"/>
          </p:cNvSpPr>
          <p:nvPr>
            <p:ph type="subTitle" idx="1"/>
          </p:nvPr>
        </p:nvSpPr>
        <p:spPr/>
        <p:txBody>
          <a:bodyPr/>
          <a:lstStyle/>
          <a:p>
            <a:r>
              <a:rPr lang="en-US" dirty="0"/>
              <a:t>The Baroque in the Netherlands </a:t>
            </a:r>
          </a:p>
        </p:txBody>
      </p:sp>
    </p:spTree>
    <p:extLst>
      <p:ext uri="{BB962C8B-B14F-4D97-AF65-F5344CB8AC3E}">
        <p14:creationId xmlns:p14="http://schemas.microsoft.com/office/powerpoint/2010/main" val="1659876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Assess the influence of Caravaggio on Northern Baroque artists.</a:t>
            </a:r>
          </a:p>
          <a:p>
            <a:pPr marL="457200" lvl="0" indent="-457200" fontAlgn="base">
              <a:buFont typeface="+mj-lt"/>
              <a:buAutoNum type="arabicPeriod"/>
            </a:pPr>
            <a:r>
              <a:rPr lang="en-US" dirty="0"/>
              <a:t>Explore the variations of Baroque art in the North and South Netherlands and the reasons for this difference.</a:t>
            </a:r>
          </a:p>
          <a:p>
            <a:pPr marL="457200" lvl="0" indent="-457200" fontAlgn="base">
              <a:buFont typeface="+mj-lt"/>
              <a:buAutoNum type="arabicPeriod"/>
            </a:pPr>
            <a:r>
              <a:rPr lang="en-US" dirty="0"/>
              <a:t>Discover how Dutch artists explored new subject matter to cater to the needs of new patrons.</a:t>
            </a:r>
          </a:p>
          <a:p>
            <a:pPr marL="457200" lvl="0" indent="-457200" fontAlgn="base">
              <a:buFont typeface="+mj-lt"/>
              <a:buAutoNum type="arabicPeriod"/>
            </a:pPr>
            <a:r>
              <a:rPr lang="en-US" dirty="0"/>
              <a:t>Explore the changing concept and use of self-portraiture.</a:t>
            </a:r>
          </a:p>
          <a:p>
            <a:pPr marL="457200" lvl="0" indent="-457200" fontAlgn="base">
              <a:buFont typeface="+mj-lt"/>
              <a:buAutoNum type="arabicPeriod"/>
            </a:pPr>
            <a:r>
              <a:rPr lang="en-US" dirty="0"/>
              <a:t>Evaluate the role of light in the art of Rembrandt and Vermeer.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p:txBody>
          <a:bodyPr/>
          <a:lstStyle/>
          <a:p>
            <a:r>
              <a:rPr lang="en-US" dirty="0"/>
              <a:t>Flanders</a:t>
            </a:r>
          </a:p>
        </p:txBody>
      </p:sp>
      <p:sp>
        <p:nvSpPr>
          <p:cNvPr id="95234" name="Content Placeholder 2"/>
          <p:cNvSpPr>
            <a:spLocks noGrp="1"/>
          </p:cNvSpPr>
          <p:nvPr>
            <p:ph idx="1"/>
          </p:nvPr>
        </p:nvSpPr>
        <p:spPr/>
        <p:txBody>
          <a:bodyPr/>
          <a:lstStyle/>
          <a:p>
            <a:r>
              <a:rPr lang="en-US" dirty="0"/>
              <a:t>The northern provinces of the Netherlands rebelled against Spain in 1568 and only achieved independence in 1648.</a:t>
            </a:r>
          </a:p>
          <a:p>
            <a:pPr lvl="1"/>
            <a:r>
              <a:rPr lang="en-US" dirty="0"/>
              <a:t>It was known as the Peace of Westphalia.</a:t>
            </a:r>
          </a:p>
          <a:p>
            <a:r>
              <a:rPr lang="en-US" dirty="0"/>
              <a:t>Flanders, the southern part of the Netherlands, returned to direct Spanish rule in 1621.</a:t>
            </a:r>
          </a:p>
          <a:p>
            <a:r>
              <a:rPr lang="en-US" dirty="0"/>
              <a:t>Catholic churches were restored, among many other important sacred works.</a:t>
            </a:r>
          </a:p>
          <a:p>
            <a:r>
              <a:rPr lang="en-US" dirty="0"/>
              <a:t>Following religious wars, artists such as Rubens and van Dyck established reputations there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p:txBody>
          <a:bodyPr/>
          <a:lstStyle/>
          <a:p>
            <a:r>
              <a:rPr lang="en-US"/>
              <a:t>Rubens (1 of 4)</a:t>
            </a:r>
          </a:p>
        </p:txBody>
      </p:sp>
      <p:sp>
        <p:nvSpPr>
          <p:cNvPr id="97282" name="Content Placeholder 2"/>
          <p:cNvSpPr>
            <a:spLocks noGrp="1"/>
          </p:cNvSpPr>
          <p:nvPr>
            <p:ph idx="1"/>
          </p:nvPr>
        </p:nvSpPr>
        <p:spPr/>
        <p:txBody>
          <a:bodyPr/>
          <a:lstStyle/>
          <a:p>
            <a:r>
              <a:rPr lang="en-US"/>
              <a:t>The work of Peter Paul Rubens typifies the Flemish Baroque style.</a:t>
            </a:r>
          </a:p>
          <a:p>
            <a:r>
              <a:rPr lang="en-US"/>
              <a:t>Rubens visited every major Italian city, returning to Antwerp in 1609 to accept a position as court painter to the Habsburg regents of Flanders.</a:t>
            </a:r>
          </a:p>
          <a:p>
            <a:pPr lvl="1"/>
            <a:r>
              <a:rPr lang="en-US"/>
              <a:t>His first painting there commemorated his marriage to Isabella Brandt, which occurred ten days after he arrived.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3"/>
          <p:cNvSpPr>
            <a:spLocks noGrp="1"/>
          </p:cNvSpPr>
          <p:nvPr>
            <p:ph type="title"/>
          </p:nvPr>
        </p:nvSpPr>
        <p:spPr/>
        <p:txBody>
          <a:bodyPr>
            <a:normAutofit fontScale="90000"/>
          </a:bodyPr>
          <a:lstStyle/>
          <a:p>
            <a:r>
              <a:rPr lang="en-US" dirty="0"/>
              <a:t>Peter Paul Rubens SELF-PORTRAIT WITH ISABELLA BRANDT</a:t>
            </a:r>
            <a:br>
              <a:rPr lang="en-US" dirty="0"/>
            </a:br>
            <a:r>
              <a:rPr lang="en-US" dirty="0"/>
              <a:t>1609–1610. Oil on canvas, 5</a:t>
            </a:r>
            <a:r>
              <a:rPr lang="uk-UA" dirty="0"/>
              <a:t>'</a:t>
            </a:r>
            <a:r>
              <a:rPr lang="en-US" dirty="0"/>
              <a:t>9</a:t>
            </a:r>
            <a:r>
              <a:rPr lang="ru-RU" dirty="0"/>
              <a:t>"</a:t>
            </a:r>
            <a:r>
              <a:rPr lang="en-US" dirty="0"/>
              <a:t> × 4</a:t>
            </a:r>
            <a:r>
              <a:rPr lang="uk-UA" dirty="0"/>
              <a:t>'</a:t>
            </a:r>
            <a:r>
              <a:rPr lang="en-US" dirty="0"/>
              <a:t>5</a:t>
            </a:r>
            <a:r>
              <a:rPr lang="ru-RU" dirty="0"/>
              <a:t>"</a:t>
            </a:r>
            <a:r>
              <a:rPr lang="en-US" dirty="0"/>
              <a:t> (1.78 × 1.36 m).</a:t>
            </a:r>
            <a:br>
              <a:rPr lang="en-US" dirty="0"/>
            </a:br>
            <a:r>
              <a:rPr lang="en-US" dirty="0"/>
              <a:t>Alte </a:t>
            </a:r>
            <a:r>
              <a:rPr lang="en-US" dirty="0" err="1"/>
              <a:t>Pinakothek</a:t>
            </a:r>
            <a:r>
              <a:rPr lang="en-US" dirty="0"/>
              <a:t>, Munich. Photo © </a:t>
            </a:r>
            <a:r>
              <a:rPr lang="en-US" dirty="0" err="1"/>
              <a:t>Blauel</a:t>
            </a:r>
            <a:r>
              <a:rPr lang="en-US" dirty="0"/>
              <a:t> </a:t>
            </a:r>
            <a:r>
              <a:rPr lang="en-US" dirty="0" err="1"/>
              <a:t>Gnamm</a:t>
            </a:r>
            <a:r>
              <a:rPr lang="en-US" dirty="0"/>
              <a:t>/ARTOTHEK. </a:t>
            </a:r>
          </a:p>
        </p:txBody>
      </p:sp>
      <p:pic>
        <p:nvPicPr>
          <p:cNvPr id="2" name="Picture 1" descr="A man and a woman in finely embroidered attire sit under a tree, hand in hand but facing the viewer.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54106"/>
            <a:ext cx="8107680" cy="5031232"/>
          </a:xfrm>
          <a:prstGeom prst="rect">
            <a:avLst/>
          </a:prstGeom>
        </p:spPr>
      </p:pic>
    </p:spTree>
  </p:cSld>
  <p:clrMapOvr>
    <a:masterClrMapping/>
  </p:clrMapOvr>
  <p:transition spd="slow"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p:cNvSpPr>
            <a:spLocks noGrp="1"/>
          </p:cNvSpPr>
          <p:nvPr>
            <p:ph type="title"/>
          </p:nvPr>
        </p:nvSpPr>
        <p:spPr/>
        <p:txBody>
          <a:bodyPr/>
          <a:lstStyle/>
          <a:p>
            <a:r>
              <a:rPr lang="en-US"/>
              <a:t>Rubens (2 of 4)</a:t>
            </a:r>
          </a:p>
        </p:txBody>
      </p:sp>
      <p:sp>
        <p:nvSpPr>
          <p:cNvPr id="100354" name="Content Placeholder 2"/>
          <p:cNvSpPr>
            <a:spLocks noGrp="1"/>
          </p:cNvSpPr>
          <p:nvPr>
            <p:ph idx="1"/>
          </p:nvPr>
        </p:nvSpPr>
        <p:spPr/>
        <p:txBody>
          <a:bodyPr/>
          <a:lstStyle/>
          <a:p>
            <a:r>
              <a:rPr lang="en-US"/>
              <a:t>His first major commission in Antwerp was the </a:t>
            </a:r>
            <a:r>
              <a:rPr lang="en-US" i="1"/>
              <a:t>Raising of the Cross </a:t>
            </a:r>
            <a:r>
              <a:rPr lang="en-US"/>
              <a:t>triptych for the church of St. Walpurga.</a:t>
            </a:r>
          </a:p>
          <a:p>
            <a:pPr lvl="1"/>
            <a:r>
              <a:rPr lang="en-US"/>
              <a:t>This work uniquely stretches the action and landscape of the central scene across all three panels.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3"/>
          <p:cNvSpPr>
            <a:spLocks noGrp="1"/>
          </p:cNvSpPr>
          <p:nvPr>
            <p:ph type="title"/>
          </p:nvPr>
        </p:nvSpPr>
        <p:spPr/>
        <p:txBody>
          <a:bodyPr>
            <a:normAutofit fontScale="90000"/>
          </a:bodyPr>
          <a:lstStyle/>
          <a:p>
            <a:r>
              <a:rPr lang="en-US" dirty="0"/>
              <a:t>Peter Paul Rubens RUBENS</a:t>
            </a:r>
            <a:r>
              <a:rPr lang="uk-UA" dirty="0"/>
              <a:t>'</a:t>
            </a:r>
            <a:r>
              <a:rPr lang="en-US" dirty="0"/>
              <a:t>S HOUSE</a:t>
            </a:r>
            <a:br>
              <a:rPr lang="en-US" dirty="0"/>
            </a:br>
            <a:r>
              <a:rPr lang="en-US" dirty="0"/>
              <a:t>Italianate addition built 1610–1615. Looking toward the garden: house at left, studio at right; house restored and opened as a museum in 1946. From an engraving of 1684. Rijksmuseum, Amsterdam. </a:t>
            </a:r>
          </a:p>
        </p:txBody>
      </p:sp>
      <p:pic>
        <p:nvPicPr>
          <p:cNvPr id="2" name="Picture 1" descr="Rubens’s three-story house stood to one side of his home’s large courtyard, with his two-story studio on the opposite side. The house’s façade and the triple-arched gate between the two buildings each bore numerous architectural and sculptural decoration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3"/>
          <p:cNvSpPr>
            <a:spLocks noGrp="1"/>
          </p:cNvSpPr>
          <p:nvPr>
            <p:ph type="title"/>
          </p:nvPr>
        </p:nvSpPr>
        <p:spPr>
          <a:xfrm>
            <a:off x="457200" y="5715000"/>
            <a:ext cx="8229600" cy="685800"/>
          </a:xfrm>
        </p:spPr>
        <p:txBody>
          <a:bodyPr>
            <a:normAutofit fontScale="90000"/>
          </a:bodyPr>
          <a:lstStyle/>
          <a:p>
            <a:r>
              <a:rPr lang="en-US" dirty="0"/>
              <a:t>Peter Paul Rubens THE RAISING OF THE CROSS</a:t>
            </a:r>
            <a:br>
              <a:rPr lang="en-US" dirty="0"/>
            </a:br>
            <a:r>
              <a:rPr lang="en-US" dirty="0"/>
              <a:t>Made for the church of St. </a:t>
            </a:r>
            <a:r>
              <a:rPr lang="en-US" dirty="0" err="1"/>
              <a:t>Walpurga</a:t>
            </a:r>
            <a:r>
              <a:rPr lang="en-US" dirty="0"/>
              <a:t>, Antwerp, Belgium. 1610-1611.</a:t>
            </a:r>
            <a:br>
              <a:rPr lang="en-US" dirty="0"/>
            </a:br>
            <a:r>
              <a:rPr lang="en-US" dirty="0"/>
              <a:t>Oil on panel, center panel 15</a:t>
            </a:r>
            <a:r>
              <a:rPr lang="uk-UA" dirty="0"/>
              <a:t>'</a:t>
            </a:r>
            <a:r>
              <a:rPr lang="en-US" dirty="0"/>
              <a:t>1-7/8</a:t>
            </a:r>
            <a:r>
              <a:rPr lang="ru-RU" dirty="0"/>
              <a:t>"</a:t>
            </a:r>
            <a:r>
              <a:rPr lang="en-US" dirty="0"/>
              <a:t> × 11</a:t>
            </a:r>
            <a:r>
              <a:rPr lang="uk-UA" dirty="0"/>
              <a:t>'</a:t>
            </a:r>
            <a:r>
              <a:rPr lang="en-US" dirty="0"/>
              <a:t>1-1/2</a:t>
            </a:r>
            <a:r>
              <a:rPr lang="ru-RU" dirty="0"/>
              <a:t>"</a:t>
            </a:r>
            <a:r>
              <a:rPr lang="en-US" dirty="0"/>
              <a:t> (4.62 × 3.39 m),</a:t>
            </a:r>
            <a:br>
              <a:rPr lang="en-US" dirty="0"/>
            </a:br>
            <a:r>
              <a:rPr lang="en-US" dirty="0"/>
              <a:t>each wing 15</a:t>
            </a:r>
            <a:r>
              <a:rPr lang="uk-UA" dirty="0"/>
              <a:t>'</a:t>
            </a:r>
            <a:r>
              <a:rPr lang="en-US" dirty="0"/>
              <a:t>1-7/8</a:t>
            </a:r>
            <a:r>
              <a:rPr lang="ru-RU" dirty="0"/>
              <a:t>"</a:t>
            </a:r>
            <a:r>
              <a:rPr lang="en-US" dirty="0"/>
              <a:t> × 4</a:t>
            </a:r>
            <a:r>
              <a:rPr lang="uk-UA" dirty="0"/>
              <a:t>'</a:t>
            </a:r>
            <a:r>
              <a:rPr lang="en-US" dirty="0"/>
              <a:t>11</a:t>
            </a:r>
            <a:r>
              <a:rPr lang="ru-RU" dirty="0"/>
              <a:t>"</a:t>
            </a:r>
            <a:r>
              <a:rPr lang="en-US" dirty="0"/>
              <a:t> (4.62 × 1.52 m).</a:t>
            </a:r>
            <a:br>
              <a:rPr lang="en-US" dirty="0"/>
            </a:br>
            <a:r>
              <a:rPr lang="en-US" dirty="0"/>
              <a:t>Now in Cathedral of Our Lady, Antwerp. </a:t>
            </a:r>
            <a:r>
              <a:rPr lang="en-US" dirty="0" err="1"/>
              <a:t>Onze</a:t>
            </a:r>
            <a:r>
              <a:rPr lang="en-US" dirty="0"/>
              <a:t> </a:t>
            </a:r>
            <a:r>
              <a:rPr lang="en-US" dirty="0" err="1"/>
              <a:t>Lieve</a:t>
            </a:r>
            <a:r>
              <a:rPr lang="en-US" dirty="0"/>
              <a:t> </a:t>
            </a:r>
            <a:r>
              <a:rPr lang="en-US" dirty="0" err="1"/>
              <a:t>Vrouwkerk</a:t>
            </a:r>
            <a:r>
              <a:rPr lang="en-US" dirty="0"/>
              <a:t>, Antwerp Cathedral, Belgium/Bridgeman Images. </a:t>
            </a:r>
          </a:p>
        </p:txBody>
      </p:sp>
      <p:pic>
        <p:nvPicPr>
          <p:cNvPr id="2" name="Picture 1" descr="Rubens depicts the crucifixion of Christ against the backdrop of a tree with a massive, dark trunk, spread across the left and center panels. On the right, the sun is high, but red, and wreathed in thick shadow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p:cNvSpPr>
            <a:spLocks noGrp="1"/>
          </p:cNvSpPr>
          <p:nvPr>
            <p:ph type="title"/>
          </p:nvPr>
        </p:nvSpPr>
        <p:spPr/>
        <p:txBody>
          <a:bodyPr/>
          <a:lstStyle/>
          <a:p>
            <a:r>
              <a:rPr lang="en-US"/>
              <a:t>Rubens (3 of 4)</a:t>
            </a:r>
          </a:p>
        </p:txBody>
      </p:sp>
      <p:sp>
        <p:nvSpPr>
          <p:cNvPr id="105474" name="Content Placeholder 2"/>
          <p:cNvSpPr>
            <a:spLocks noGrp="1"/>
          </p:cNvSpPr>
          <p:nvPr>
            <p:ph idx="1"/>
          </p:nvPr>
        </p:nvSpPr>
        <p:spPr/>
        <p:txBody>
          <a:bodyPr/>
          <a:lstStyle/>
          <a:p>
            <a:r>
              <a:rPr lang="en-US"/>
              <a:t>In the painting of the royal engagement of Henry IV and Marie de</a:t>
            </a:r>
            <a:r>
              <a:rPr lang="uk-UA"/>
              <a:t>'</a:t>
            </a:r>
            <a:r>
              <a:rPr lang="en-US"/>
              <a:t> Medici, Henry IV is seen falling in love with Marie as he gazes at her portrait; he is surrounded by Roman gods in full, lavish color.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3"/>
          <p:cNvSpPr>
            <a:spLocks noGrp="1"/>
          </p:cNvSpPr>
          <p:nvPr>
            <p:ph type="title"/>
          </p:nvPr>
        </p:nvSpPr>
        <p:spPr/>
        <p:txBody>
          <a:bodyPr>
            <a:normAutofit fontScale="90000"/>
          </a:bodyPr>
          <a:lstStyle/>
          <a:p>
            <a:r>
              <a:rPr lang="en-US" dirty="0"/>
              <a:t>Peter Paul Rubens HENRY IV RECEIVING THE PORTRAIT OF MARIE DE</a:t>
            </a:r>
            <a:r>
              <a:rPr lang="uk-UA" dirty="0"/>
              <a:t>'</a:t>
            </a:r>
            <a:r>
              <a:rPr lang="en-US" dirty="0"/>
              <a:t> MEDICI</a:t>
            </a:r>
            <a:br>
              <a:rPr lang="en-US" dirty="0"/>
            </a:br>
            <a:r>
              <a:rPr lang="en-US" dirty="0"/>
              <a:t>1621–1625. Oil on canvas, 12</a:t>
            </a:r>
            <a:r>
              <a:rPr lang="uk-UA" dirty="0"/>
              <a:t>'</a:t>
            </a:r>
            <a:r>
              <a:rPr lang="en-US" dirty="0"/>
              <a:t>11-1/8</a:t>
            </a:r>
            <a:r>
              <a:rPr lang="ru-RU" dirty="0"/>
              <a:t>"</a:t>
            </a:r>
            <a:r>
              <a:rPr lang="en-US" dirty="0"/>
              <a:t> × 9</a:t>
            </a:r>
            <a:r>
              <a:rPr lang="uk-UA" dirty="0"/>
              <a:t>'</a:t>
            </a:r>
            <a:r>
              <a:rPr lang="en-US" dirty="0"/>
              <a:t>8-1/8</a:t>
            </a:r>
            <a:r>
              <a:rPr lang="ru-RU" dirty="0"/>
              <a:t>"</a:t>
            </a:r>
            <a:r>
              <a:rPr lang="en-US" dirty="0"/>
              <a:t> (3.94 × 2.95 m).</a:t>
            </a:r>
            <a:br>
              <a:rPr lang="en-US" dirty="0"/>
            </a:br>
            <a:r>
              <a:rPr lang="en-US" dirty="0" err="1"/>
              <a:t>Musée</a:t>
            </a:r>
            <a:r>
              <a:rPr lang="en-US" dirty="0"/>
              <a:t> du Louvre, Paris. Photo © RMN-Grand Palais (</a:t>
            </a:r>
            <a:r>
              <a:rPr lang="en-US" dirty="0" err="1"/>
              <a:t>Musée</a:t>
            </a:r>
            <a:r>
              <a:rPr lang="en-US" dirty="0"/>
              <a:t> du Louvre)/René-Gabriel </a:t>
            </a:r>
            <a:r>
              <a:rPr lang="en-US" dirty="0" err="1"/>
              <a:t>Ojéda</a:t>
            </a:r>
            <a:r>
              <a:rPr lang="en-US" dirty="0"/>
              <a:t>/Thierry Le Mage. </a:t>
            </a:r>
          </a:p>
        </p:txBody>
      </p:sp>
      <p:pic>
        <p:nvPicPr>
          <p:cNvPr id="2" name="Picture 1" descr="France is personified as a pale-skinned figure with a blue drape and a dark metal helmet, decorated by a large white plume, carrying a sheathed dagger at the hip.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p:txBody>
          <a:bodyPr/>
          <a:lstStyle/>
          <a:p>
            <a:r>
              <a:rPr lang="en-US"/>
              <a:t>Rubens (4 of 4)</a:t>
            </a:r>
          </a:p>
        </p:txBody>
      </p:sp>
      <p:sp>
        <p:nvSpPr>
          <p:cNvPr id="108546" name="Content Placeholder 2"/>
          <p:cNvSpPr>
            <a:spLocks noGrp="1"/>
          </p:cNvSpPr>
          <p:nvPr>
            <p:ph idx="1"/>
          </p:nvPr>
        </p:nvSpPr>
        <p:spPr/>
        <p:txBody>
          <a:bodyPr/>
          <a:lstStyle/>
          <a:p>
            <a:r>
              <a:rPr lang="en-US"/>
              <a:t>For </a:t>
            </a:r>
            <a:r>
              <a:rPr lang="en-US" i="1"/>
              <a:t>Prometheus Bound</a:t>
            </a:r>
            <a:r>
              <a:rPr lang="en-US"/>
              <a:t>, Rubens brought in Frans Snyders to paint the large eagle who devours Prometheus</a:t>
            </a:r>
            <a:r>
              <a:rPr lang="uk-UA"/>
              <a:t>'</a:t>
            </a:r>
            <a:r>
              <a:rPr lang="en-US"/>
              <a:t>s liver.</a:t>
            </a:r>
          </a:p>
          <a:p>
            <a:pPr lvl="1"/>
            <a:r>
              <a:rPr lang="en-US"/>
              <a:t>Elements of lighting, composition, and energetic brushwork identify Rubens</a:t>
            </a:r>
            <a:r>
              <a:rPr lang="uk-UA"/>
              <a:t>'</a:t>
            </a:r>
            <a:r>
              <a:rPr lang="en-US"/>
              <a:t>s style, while Snyders</a:t>
            </a:r>
            <a:r>
              <a:rPr lang="uk-UA"/>
              <a:t>'</a:t>
            </a:r>
            <a:r>
              <a:rPr lang="en-US"/>
              <a:t>s imprint is tight and detailed.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3"/>
          <p:cNvSpPr>
            <a:spLocks noGrp="1"/>
          </p:cNvSpPr>
          <p:nvPr>
            <p:ph type="title"/>
          </p:nvPr>
        </p:nvSpPr>
        <p:spPr/>
        <p:txBody>
          <a:bodyPr>
            <a:normAutofit fontScale="90000"/>
          </a:bodyPr>
          <a:lstStyle/>
          <a:p>
            <a:r>
              <a:rPr lang="en-US" dirty="0"/>
              <a:t>A CLOSER LOOK: Prometheus Bound by Peter Paul Rubens and Frans </a:t>
            </a:r>
            <a:r>
              <a:rPr lang="en-US" dirty="0" err="1"/>
              <a:t>Snyders</a:t>
            </a:r>
            <a:r>
              <a:rPr lang="en-US" dirty="0"/>
              <a:t> </a:t>
            </a:r>
            <a:br>
              <a:rPr lang="en-US" dirty="0"/>
            </a:br>
            <a:r>
              <a:rPr lang="en-US" dirty="0"/>
              <a:t>c. 1611–1618. Oil on canvas, 95-1/2</a:t>
            </a:r>
            <a:r>
              <a:rPr lang="ru-RU" dirty="0"/>
              <a:t>"</a:t>
            </a:r>
            <a:r>
              <a:rPr lang="en-US" dirty="0"/>
              <a:t> × 82-1/2</a:t>
            </a:r>
            <a:r>
              <a:rPr lang="ru-RU" dirty="0"/>
              <a:t>"</a:t>
            </a:r>
            <a:r>
              <a:rPr lang="en-US" dirty="0"/>
              <a:t> (2.43 × 2.1 m).</a:t>
            </a:r>
            <a:br>
              <a:rPr lang="en-US" dirty="0"/>
            </a:br>
            <a:r>
              <a:rPr lang="en-US" dirty="0"/>
              <a:t>Philadelphia Museum of Art. © 2016. Photo The Philadelphia Museum of Art/Art Resource/Scala, Florence. </a:t>
            </a:r>
          </a:p>
        </p:txBody>
      </p:sp>
      <p:pic>
        <p:nvPicPr>
          <p:cNvPr id="2" name="Picture 1" descr="A diagram of the painting, Prometheus Bound.  The eagle in this picture was painted by Frans Snyders, a specialist in painting animals and flowers, whom Rubens brought in to render the detailed feathers and powerful posture of this bird of prey. During the seventeenth century, the struggle between Prometheus and the eagle was interpreted allegorically sometimes as the struggle involved in artistic creativity, and other times as the heroism involved in enduring suffering of body and soul. Some saw in Prometheus a prototype of the Christ of the Crucifixion, an association furthered here by the placement of the gash on Prometheus’s side. The eagle has pierced Prometheus’s side to devour his liver, an action that identifies the subject here. This hero of Greek myth was chained to Mount Caucasus and sentenced to this sensational punishment because, in direct defiance of Zeus’s command, he stole fire from Mount Olympus and brought it to earth so humankind would no longer be confined to cold and darkness. Since Prometheus’s liver regrew each night, his fate was to have it plucked out again and again, day after day. The eagle’s talons are poised to dig into the struggling hero’s groin and face at the same time, to underline for viewers the excruciating nature of this pain. The small chains that confine Prometheus to the rock seem hardly adequate to confine the powerfully muscular hero, leading some to speculate that the artist wanted his incarceration to seem more psychological than physical. After the main composition was completed, Rubens added a seventeen and one-half inch strip of canvas to the left side of the painting to provide more space for the dramatic action, allowing the inclusion at the lower left of the fire that got Prometheus into trouble, and, on the horizon, the bright light that some have interpreted as a touch of optimism to counteract the punishment in the foreground.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p:cNvSpPr>
            <a:spLocks noGrp="1"/>
          </p:cNvSpPr>
          <p:nvPr>
            <p:ph type="title"/>
          </p:nvPr>
        </p:nvSpPr>
        <p:spPr/>
        <p:txBody>
          <a:bodyPr/>
          <a:lstStyle/>
          <a:p>
            <a:r>
              <a:rPr lang="en-US"/>
              <a:t>Van Dyck and Peeters: Portraits and Still Lifes (1 of 2)</a:t>
            </a:r>
          </a:p>
        </p:txBody>
      </p:sp>
      <p:sp>
        <p:nvSpPr>
          <p:cNvPr id="111618" name="Content Placeholder 2"/>
          <p:cNvSpPr>
            <a:spLocks noGrp="1"/>
          </p:cNvSpPr>
          <p:nvPr>
            <p:ph idx="1"/>
          </p:nvPr>
        </p:nvSpPr>
        <p:spPr/>
        <p:txBody>
          <a:bodyPr/>
          <a:lstStyle/>
          <a:p>
            <a:r>
              <a:rPr lang="en-US"/>
              <a:t>Anthony van Dyck associated with Rubens as a specialist in painting heads.</a:t>
            </a:r>
          </a:p>
          <a:p>
            <a:r>
              <a:rPr lang="en-US" i="1"/>
              <a:t>Charles I at the Hunt </a:t>
            </a:r>
            <a:r>
              <a:rPr lang="en-US"/>
              <a:t>portrayed the king truthfully short but with imposing presence.</a:t>
            </a:r>
          </a:p>
          <a:p>
            <a:pPr lvl="1"/>
            <a:r>
              <a:rPr lang="en-US"/>
              <a:t>Both the horse and the tree branches bow to him in forms that echo the lines of his hat.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3"/>
          <p:cNvSpPr>
            <a:spLocks noGrp="1"/>
          </p:cNvSpPr>
          <p:nvPr>
            <p:ph type="title"/>
          </p:nvPr>
        </p:nvSpPr>
        <p:spPr/>
        <p:txBody>
          <a:bodyPr>
            <a:normAutofit fontScale="90000"/>
          </a:bodyPr>
          <a:lstStyle/>
          <a:p>
            <a:r>
              <a:rPr lang="en-US" dirty="0"/>
              <a:t>Anthony van Dyck CHARLES I AT THE HUNT</a:t>
            </a:r>
            <a:br>
              <a:rPr lang="en-US" dirty="0"/>
            </a:br>
            <a:r>
              <a:rPr lang="en-US" dirty="0"/>
              <a:t>1635. Oil on canvas, 8</a:t>
            </a:r>
            <a:r>
              <a:rPr lang="uk-UA" dirty="0"/>
              <a:t>'</a:t>
            </a:r>
            <a:r>
              <a:rPr lang="en-US" dirty="0"/>
              <a:t>11</a:t>
            </a:r>
            <a:r>
              <a:rPr lang="ru-RU" dirty="0"/>
              <a:t>"</a:t>
            </a:r>
            <a:r>
              <a:rPr lang="en-US" dirty="0"/>
              <a:t> × 6</a:t>
            </a:r>
            <a:r>
              <a:rPr lang="uk-UA" dirty="0"/>
              <a:t>'</a:t>
            </a:r>
            <a:r>
              <a:rPr lang="en-US" dirty="0"/>
              <a:t>11</a:t>
            </a:r>
            <a:r>
              <a:rPr lang="ru-RU" dirty="0"/>
              <a:t>"</a:t>
            </a:r>
            <a:r>
              <a:rPr lang="en-US" dirty="0"/>
              <a:t> (2.75 × 2.14 m).</a:t>
            </a:r>
            <a:br>
              <a:rPr lang="en-US" dirty="0"/>
            </a:br>
            <a:r>
              <a:rPr lang="en-US" dirty="0" err="1"/>
              <a:t>Musée</a:t>
            </a:r>
            <a:r>
              <a:rPr lang="en-US" dirty="0"/>
              <a:t> du Louvre, Paris. Photo © Photo RMN (</a:t>
            </a:r>
            <a:r>
              <a:rPr lang="en-US" dirty="0" err="1"/>
              <a:t>Musee</a:t>
            </a:r>
            <a:r>
              <a:rPr lang="en-US" dirty="0"/>
              <a:t> du Louvre, Paris). </a:t>
            </a:r>
          </a:p>
        </p:txBody>
      </p:sp>
      <p:pic>
        <p:nvPicPr>
          <p:cNvPr id="2" name="Picture 1" descr="The king stands under a tree in a clearing on a hill, dressed in red breeches, white shirt, and wide-brimmed hat, turning his head to face the viewer rather than the wilderness ahead. Behind him, servants attend to his hors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p:txBody>
          <a:bodyPr/>
          <a:lstStyle/>
          <a:p>
            <a:r>
              <a:rPr lang="en-US"/>
              <a:t>Van Dyck and Peeters: Portraits and Still Lifes (2 of 2)</a:t>
            </a:r>
          </a:p>
        </p:txBody>
      </p:sp>
      <p:sp>
        <p:nvSpPr>
          <p:cNvPr id="114690" name="Content Placeholder 2"/>
          <p:cNvSpPr>
            <a:spLocks noGrp="1"/>
          </p:cNvSpPr>
          <p:nvPr>
            <p:ph idx="1"/>
          </p:nvPr>
        </p:nvSpPr>
        <p:spPr/>
        <p:txBody>
          <a:bodyPr/>
          <a:lstStyle/>
          <a:p>
            <a:r>
              <a:rPr lang="en-US"/>
              <a:t>Clara Peeters</a:t>
            </a:r>
            <a:r>
              <a:rPr lang="uk-UA"/>
              <a:t>'</a:t>
            </a:r>
            <a:r>
              <a:rPr lang="en-US"/>
              <a:t>s </a:t>
            </a:r>
            <a:r>
              <a:rPr lang="en-US" i="1"/>
              <a:t>Still Life with Flowers, Goblet, Dried Fruit, and Pretzels </a:t>
            </a:r>
            <a:r>
              <a:rPr lang="en-US"/>
              <a:t>shows an arrangement of tableware and food against a neutral background to emphasize surface textures of the objects.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3"/>
          <p:cNvSpPr>
            <a:spLocks noGrp="1"/>
          </p:cNvSpPr>
          <p:nvPr>
            <p:ph type="title"/>
          </p:nvPr>
        </p:nvSpPr>
        <p:spPr/>
        <p:txBody>
          <a:bodyPr>
            <a:normAutofit fontScale="90000"/>
          </a:bodyPr>
          <a:lstStyle/>
          <a:p>
            <a:r>
              <a:rPr lang="en-US" dirty="0"/>
              <a:t>Clara </a:t>
            </a:r>
            <a:r>
              <a:rPr lang="en-US" dirty="0" err="1"/>
              <a:t>Peeters</a:t>
            </a:r>
            <a:r>
              <a:rPr lang="en-US" dirty="0"/>
              <a:t> STILL LIFE WITH FLOWERS, GOBLET, DRIED FRUIT, AND PRETZELS</a:t>
            </a:r>
            <a:br>
              <a:rPr lang="en-US" dirty="0"/>
            </a:br>
            <a:r>
              <a:rPr lang="en-US" dirty="0"/>
              <a:t>1611. Oil on panel, 20-1/2</a:t>
            </a:r>
            <a:r>
              <a:rPr lang="ru-RU" dirty="0"/>
              <a:t>"</a:t>
            </a:r>
            <a:r>
              <a:rPr lang="en-US" dirty="0"/>
              <a:t> × 28-3/4</a:t>
            </a:r>
            <a:r>
              <a:rPr lang="ru-RU" dirty="0"/>
              <a:t>"</a:t>
            </a:r>
            <a:r>
              <a:rPr lang="en-US" dirty="0"/>
              <a:t> (52 × 73 cm).</a:t>
            </a:r>
            <a:br>
              <a:rPr lang="en-US" dirty="0"/>
            </a:br>
            <a:r>
              <a:rPr lang="en-US" dirty="0"/>
              <a:t>Museo del Prado, Madrid. © 2016. Image Copyright Museo Nacional del Prado. © Photo MNP/Scala, Florence. </a:t>
            </a:r>
          </a:p>
        </p:txBody>
      </p:sp>
      <p:pic>
        <p:nvPicPr>
          <p:cNvPr id="2" name="Picture 1" descr="Two plates of food and drinking vessels sit on a table, next to an ornately carved vase that holds a colorful bouquet. Three flowers have fallen out of the arrangement, one of which hangs slightly off the tabl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p:cNvSpPr>
            <a:spLocks noGrp="1"/>
          </p:cNvSpPr>
          <p:nvPr>
            <p:ph type="title"/>
          </p:nvPr>
        </p:nvSpPr>
        <p:spPr/>
        <p:txBody>
          <a:bodyPr/>
          <a:lstStyle/>
          <a:p>
            <a:r>
              <a:rPr lang="en-US"/>
              <a:t>The Dutch Republic</a:t>
            </a:r>
          </a:p>
        </p:txBody>
      </p:sp>
      <p:sp>
        <p:nvSpPr>
          <p:cNvPr id="117762" name="Content Placeholder 2"/>
          <p:cNvSpPr>
            <a:spLocks noGrp="1"/>
          </p:cNvSpPr>
          <p:nvPr>
            <p:ph idx="1"/>
          </p:nvPr>
        </p:nvSpPr>
        <p:spPr/>
        <p:txBody>
          <a:bodyPr/>
          <a:lstStyle/>
          <a:p>
            <a:r>
              <a:rPr lang="en-US"/>
              <a:t>Prince Frederick Henry improved patronage of the arts in the House of Orange.</a:t>
            </a:r>
          </a:p>
          <a:p>
            <a:r>
              <a:rPr lang="en-US"/>
              <a:t>The Dutch were interested in scenes depicting themselves and their country, as well as history, mythology, science, and colonial exploration.</a:t>
            </a:r>
          </a:p>
          <a:p>
            <a:r>
              <a:rPr lang="en-US"/>
              <a:t>Art was popular among merchants and working people.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p:txBody>
          <a:bodyPr/>
          <a:lstStyle/>
          <a:p>
            <a:r>
              <a:rPr lang="en-US"/>
              <a:t>Painting (1 of 14)</a:t>
            </a:r>
          </a:p>
        </p:txBody>
      </p:sp>
      <p:sp>
        <p:nvSpPr>
          <p:cNvPr id="118786" name="Content Placeholder 2"/>
          <p:cNvSpPr>
            <a:spLocks noGrp="1"/>
          </p:cNvSpPr>
          <p:nvPr>
            <p:ph idx="1"/>
          </p:nvPr>
        </p:nvSpPr>
        <p:spPr/>
        <p:txBody>
          <a:bodyPr/>
          <a:lstStyle/>
          <a:p>
            <a:r>
              <a:rPr lang="en-US"/>
              <a:t>Hendrick ter Brugghen introduced Caravaggio</a:t>
            </a:r>
            <a:r>
              <a:rPr lang="uk-UA"/>
              <a:t>'</a:t>
            </a:r>
            <a:r>
              <a:rPr lang="en-US"/>
              <a:t>s influential style in paintings such as </a:t>
            </a:r>
            <a:r>
              <a:rPr lang="en-US" i="1"/>
              <a:t>St. Sebastian Tended by St. Irene</a:t>
            </a:r>
            <a:r>
              <a:rPr lang="en-US"/>
              <a:t>.</a:t>
            </a:r>
          </a:p>
          <a:p>
            <a:pPr lvl="1"/>
            <a:r>
              <a:rPr lang="en-US"/>
              <a:t>The diagonal created by St. Sebastian</a:t>
            </a:r>
            <a:r>
              <a:rPr lang="uk-UA"/>
              <a:t>'</a:t>
            </a:r>
            <a:r>
              <a:rPr lang="en-US"/>
              <a:t>s left arm dislodges him from the triangular stability of the group.</a:t>
            </a:r>
          </a:p>
          <a:p>
            <a:pPr lvl="1"/>
            <a:r>
              <a:rPr lang="en-US"/>
              <a:t>Crowding the figures to the foreground plane was another Caravaggesque element.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3"/>
          <p:cNvSpPr>
            <a:spLocks noGrp="1"/>
          </p:cNvSpPr>
          <p:nvPr>
            <p:ph type="title"/>
          </p:nvPr>
        </p:nvSpPr>
        <p:spPr/>
        <p:txBody>
          <a:bodyPr>
            <a:normAutofit fontScale="90000"/>
          </a:bodyPr>
          <a:lstStyle/>
          <a:p>
            <a:r>
              <a:rPr lang="en-US" dirty="0"/>
              <a:t>Hendrick </a:t>
            </a:r>
            <a:r>
              <a:rPr lang="en-US" dirty="0" err="1"/>
              <a:t>ter</a:t>
            </a:r>
            <a:r>
              <a:rPr lang="en-US" dirty="0"/>
              <a:t> </a:t>
            </a:r>
            <a:r>
              <a:rPr lang="en-US" dirty="0" err="1"/>
              <a:t>Brugghen</a:t>
            </a:r>
            <a:r>
              <a:rPr lang="en-US" dirty="0"/>
              <a:t> ST. SEBASTIAN TENDED BY ST. IRENE</a:t>
            </a:r>
            <a:br>
              <a:rPr lang="en-US" dirty="0"/>
            </a:br>
            <a:r>
              <a:rPr lang="en-US" dirty="0"/>
              <a:t>1625. Oil on canvas, 58-15/16</a:t>
            </a:r>
            <a:r>
              <a:rPr lang="ru-RU" dirty="0"/>
              <a:t>"</a:t>
            </a:r>
            <a:r>
              <a:rPr lang="en-US" dirty="0"/>
              <a:t> × 47-1/2</a:t>
            </a:r>
            <a:r>
              <a:rPr lang="ru-RU" dirty="0"/>
              <a:t>"</a:t>
            </a:r>
            <a:r>
              <a:rPr lang="en-US" dirty="0"/>
              <a:t> (149.6 × 120 cm).</a:t>
            </a:r>
            <a:br>
              <a:rPr lang="en-US" dirty="0"/>
            </a:br>
            <a:r>
              <a:rPr lang="en-US" dirty="0"/>
              <a:t>Allen Memorial Art Museum, Oberlin College, Ohio. R.T. Miller Jr. Fund (1953.256).</a:t>
            </a:r>
            <a:br>
              <a:rPr lang="en-US" dirty="0"/>
            </a:br>
            <a:r>
              <a:rPr lang="en-US" dirty="0"/>
              <a:t>Bridgeman Images. </a:t>
            </a:r>
          </a:p>
        </p:txBody>
      </p:sp>
      <p:pic>
        <p:nvPicPr>
          <p:cNvPr id="2" name="Picture 1" descr="A pale man slumps on the ground against a tree, with arrows lodged deeply in his chest and his back. A third arrow pierces his thigh, sticking out the opposite side. One woman moves to untie his wrists, while another woman touches one of the arrow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p:cNvSpPr>
            <a:spLocks noGrp="1"/>
          </p:cNvSpPr>
          <p:nvPr>
            <p:ph type="title"/>
          </p:nvPr>
        </p:nvSpPr>
        <p:spPr/>
        <p:txBody>
          <a:bodyPr/>
          <a:lstStyle/>
          <a:p>
            <a:r>
              <a:rPr lang="en-US"/>
              <a:t>Painting (2 of 14)</a:t>
            </a:r>
          </a:p>
        </p:txBody>
      </p:sp>
      <p:sp>
        <p:nvSpPr>
          <p:cNvPr id="121858" name="Content Placeholder 2"/>
          <p:cNvSpPr>
            <a:spLocks noGrp="1"/>
          </p:cNvSpPr>
          <p:nvPr>
            <p:ph idx="1"/>
          </p:nvPr>
        </p:nvSpPr>
        <p:spPr/>
        <p:txBody>
          <a:bodyPr/>
          <a:lstStyle/>
          <a:p>
            <a:r>
              <a:rPr lang="en-US"/>
              <a:t>Hals and Leyster</a:t>
            </a:r>
          </a:p>
          <a:p>
            <a:pPr lvl="1"/>
            <a:r>
              <a:rPr lang="en-US"/>
              <a:t>Group portraiture documenting the membership of corporate organizations became popular in the Dutch Republic.</a:t>
            </a:r>
          </a:p>
          <a:p>
            <a:pPr lvl="1"/>
            <a:r>
              <a:rPr lang="en-US" i="1"/>
              <a:t>Officers of the Haarlem Militia Company of St. Adrian </a:t>
            </a:r>
            <a:r>
              <a:rPr lang="en-US"/>
              <a:t>transforms the portrait into a social event.</a:t>
            </a:r>
          </a:p>
          <a:p>
            <a:pPr lvl="2"/>
            <a:r>
              <a:rPr lang="en-US"/>
              <a:t>Strong diagonal lines underlie the composition.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3"/>
          <p:cNvSpPr>
            <a:spLocks noGrp="1"/>
          </p:cNvSpPr>
          <p:nvPr>
            <p:ph type="title"/>
          </p:nvPr>
        </p:nvSpPr>
        <p:spPr/>
        <p:txBody>
          <a:bodyPr>
            <a:normAutofit fontScale="90000"/>
          </a:bodyPr>
          <a:lstStyle/>
          <a:p>
            <a:r>
              <a:rPr lang="en-US" dirty="0"/>
              <a:t>Frans Hals OFFICERS OF THE HAARLEM MILITIA COMPANY OF ST. ADRIAN</a:t>
            </a:r>
            <a:br>
              <a:rPr lang="en-US" dirty="0"/>
            </a:br>
            <a:r>
              <a:rPr lang="en-US" dirty="0"/>
              <a:t>c. 1627. Oil on canvas, 6</a:t>
            </a:r>
            <a:r>
              <a:rPr lang="uk-UA" dirty="0"/>
              <a:t>'</a:t>
            </a:r>
            <a:r>
              <a:rPr lang="en-US" dirty="0"/>
              <a:t> × 8</a:t>
            </a:r>
            <a:r>
              <a:rPr lang="uk-UA" dirty="0"/>
              <a:t>'</a:t>
            </a:r>
            <a:r>
              <a:rPr lang="en-US" dirty="0"/>
              <a:t>8</a:t>
            </a:r>
            <a:r>
              <a:rPr lang="ru-RU" dirty="0"/>
              <a:t>"</a:t>
            </a:r>
            <a:r>
              <a:rPr lang="en-US" dirty="0"/>
              <a:t> (1.83 × 2.67 m).</a:t>
            </a:r>
            <a:br>
              <a:rPr lang="en-US" dirty="0"/>
            </a:br>
            <a:r>
              <a:rPr lang="en-US" dirty="0"/>
              <a:t>Frans </a:t>
            </a:r>
            <a:r>
              <a:rPr lang="en-US" dirty="0" err="1"/>
              <a:t>Halsmuseum</a:t>
            </a:r>
            <a:r>
              <a:rPr lang="en-US" dirty="0"/>
              <a:t>, Haarlem. Photo: © Margareta </a:t>
            </a:r>
            <a:r>
              <a:rPr lang="en-US" dirty="0" err="1"/>
              <a:t>Svensson</a:t>
            </a:r>
            <a:r>
              <a:rPr lang="en-US" dirty="0"/>
              <a:t>.</a:t>
            </a:r>
          </a:p>
        </p:txBody>
      </p:sp>
      <p:pic>
        <p:nvPicPr>
          <p:cNvPr id="2" name="Picture 1" descr="Uniformed militiamen gather around a feasting table at a party held in a large but plainly decorated room. The men’s uniforms are black, with wide, frilled white collars, even wider-brimmed black hats, and white and gold sash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p:txBody>
          <a:bodyPr/>
          <a:lstStyle/>
          <a:p>
            <a:r>
              <a:rPr lang="en-US"/>
              <a:t>Painting (3 of 14)</a:t>
            </a:r>
          </a:p>
        </p:txBody>
      </p:sp>
      <p:sp>
        <p:nvSpPr>
          <p:cNvPr id="124930" name="Content Placeholder 2"/>
          <p:cNvSpPr>
            <a:spLocks noGrp="1"/>
          </p:cNvSpPr>
          <p:nvPr>
            <p:ph idx="1"/>
          </p:nvPr>
        </p:nvSpPr>
        <p:spPr/>
        <p:txBody>
          <a:bodyPr/>
          <a:lstStyle/>
          <a:p>
            <a:r>
              <a:rPr lang="en-US"/>
              <a:t>Hals and Leyster</a:t>
            </a:r>
          </a:p>
          <a:p>
            <a:pPr lvl="1"/>
            <a:r>
              <a:rPr lang="en-US"/>
              <a:t>Hals delighted in painting portraits of eccentric local figures that served doubly as genre paintings.</a:t>
            </a:r>
          </a:p>
          <a:p>
            <a:pPr lvl="1"/>
            <a:r>
              <a:rPr lang="en-US"/>
              <a:t>The subject of </a:t>
            </a:r>
            <a:r>
              <a:rPr lang="en-US" i="1"/>
              <a:t>Malle Babbe </a:t>
            </a:r>
            <a:r>
              <a:rPr lang="en-US"/>
              <a:t>was a well-known barmaid.</a:t>
            </a:r>
          </a:p>
          <a:p>
            <a:pPr lvl="2"/>
            <a:r>
              <a:rPr lang="en-US"/>
              <a:t>The technique in this character study is looser and more energetic than in formal portraits.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3"/>
          <p:cNvSpPr>
            <a:spLocks noGrp="1"/>
          </p:cNvSpPr>
          <p:nvPr>
            <p:ph type="title"/>
          </p:nvPr>
        </p:nvSpPr>
        <p:spPr/>
        <p:txBody>
          <a:bodyPr>
            <a:normAutofit fontScale="90000"/>
          </a:bodyPr>
          <a:lstStyle/>
          <a:p>
            <a:r>
              <a:rPr lang="en-US" dirty="0"/>
              <a:t>Frans Hals MALLE BABBE</a:t>
            </a:r>
            <a:br>
              <a:rPr lang="en-US" dirty="0"/>
            </a:br>
            <a:r>
              <a:rPr lang="en-US" dirty="0"/>
              <a:t>c. 1630–1633. Oil on canvas, 30-7/8</a:t>
            </a:r>
            <a:r>
              <a:rPr lang="ru-RU" dirty="0"/>
              <a:t>"</a:t>
            </a:r>
            <a:r>
              <a:rPr lang="en-US" dirty="0"/>
              <a:t> × 26</a:t>
            </a:r>
            <a:r>
              <a:rPr lang="ru-RU" dirty="0"/>
              <a:t>"</a:t>
            </a:r>
            <a:r>
              <a:rPr lang="en-US" dirty="0"/>
              <a:t> (78.5 × 66.2 cm).</a:t>
            </a:r>
            <a:br>
              <a:rPr lang="en-US" dirty="0"/>
            </a:br>
            <a:r>
              <a:rPr lang="en-US" dirty="0"/>
              <a:t>Staatliche </a:t>
            </a:r>
            <a:r>
              <a:rPr lang="en-US" dirty="0" err="1"/>
              <a:t>Museen</a:t>
            </a:r>
            <a:r>
              <a:rPr lang="en-US" dirty="0"/>
              <a:t>, Berlin. © 2016. Photo Scala, Florence/</a:t>
            </a:r>
            <a:r>
              <a:rPr lang="en-US" dirty="0" err="1"/>
              <a:t>bpk</a:t>
            </a:r>
            <a:r>
              <a:rPr lang="en-US" dirty="0"/>
              <a:t>, </a:t>
            </a:r>
            <a:r>
              <a:rPr lang="en-US" dirty="0" err="1"/>
              <a:t>Bildagentur</a:t>
            </a:r>
            <a:r>
              <a:rPr lang="en-US" dirty="0"/>
              <a:t> </a:t>
            </a:r>
            <a:r>
              <a:rPr lang="en-US" dirty="0" err="1"/>
              <a:t>für</a:t>
            </a:r>
            <a:r>
              <a:rPr lang="en-US" dirty="0"/>
              <a:t> Kunst, </a:t>
            </a:r>
            <a:r>
              <a:rPr lang="en-US" dirty="0" err="1"/>
              <a:t>Kultur</a:t>
            </a:r>
            <a:r>
              <a:rPr lang="en-US" dirty="0"/>
              <a:t> und </a:t>
            </a:r>
            <a:r>
              <a:rPr lang="en-US" dirty="0" err="1"/>
              <a:t>Geschichte</a:t>
            </a:r>
            <a:r>
              <a:rPr lang="en-US" dirty="0"/>
              <a:t>, Berlin. </a:t>
            </a:r>
          </a:p>
        </p:txBody>
      </p:sp>
      <p:pic>
        <p:nvPicPr>
          <p:cNvPr id="2" name="Picture 1" descr="A small owl perches on a smiling barmaid’s shoulder as the middle-aged woman prepares to pour a drink."/>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p:cNvSpPr>
          <p:nvPr>
            <p:ph type="title"/>
          </p:nvPr>
        </p:nvSpPr>
        <p:spPr/>
        <p:txBody>
          <a:bodyPr/>
          <a:lstStyle/>
          <a:p>
            <a:r>
              <a:rPr lang="en-US"/>
              <a:t>Painting (4 of 14)</a:t>
            </a:r>
          </a:p>
        </p:txBody>
      </p:sp>
      <p:sp>
        <p:nvSpPr>
          <p:cNvPr id="128002" name="Content Placeholder 2"/>
          <p:cNvSpPr>
            <a:spLocks noGrp="1"/>
          </p:cNvSpPr>
          <p:nvPr>
            <p:ph idx="1"/>
          </p:nvPr>
        </p:nvSpPr>
        <p:spPr/>
        <p:txBody>
          <a:bodyPr/>
          <a:lstStyle/>
          <a:p>
            <a:r>
              <a:rPr lang="en-US"/>
              <a:t>Hals and Leyster</a:t>
            </a:r>
          </a:p>
          <a:p>
            <a:pPr lvl="1"/>
            <a:r>
              <a:rPr lang="en-US"/>
              <a:t>Judith Leyster created portraits more typical of the Dutch painters of the time.</a:t>
            </a:r>
          </a:p>
          <a:p>
            <a:pPr lvl="1"/>
            <a:r>
              <a:rPr lang="en-US" i="1"/>
              <a:t>Self-Portrait</a:t>
            </a:r>
            <a:r>
              <a:rPr lang="en-US"/>
              <a:t> is lively, showing two styles of painting as exhibited in her figure and the easel behind her.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3"/>
          <p:cNvSpPr>
            <a:spLocks noGrp="1"/>
          </p:cNvSpPr>
          <p:nvPr>
            <p:ph type="title"/>
          </p:nvPr>
        </p:nvSpPr>
        <p:spPr/>
        <p:txBody>
          <a:bodyPr>
            <a:normAutofit fontScale="90000"/>
          </a:bodyPr>
          <a:lstStyle/>
          <a:p>
            <a:r>
              <a:rPr lang="en-US" dirty="0"/>
              <a:t>Judith Leyster SELF-PORTRAIT</a:t>
            </a:r>
            <a:br>
              <a:rPr lang="en-US" dirty="0"/>
            </a:br>
            <a:r>
              <a:rPr lang="en-US" dirty="0"/>
              <a:t>1635. Oil on canvas, 29-3/8</a:t>
            </a:r>
            <a:r>
              <a:rPr lang="ru-RU" dirty="0"/>
              <a:t>"</a:t>
            </a:r>
            <a:r>
              <a:rPr lang="en-US" dirty="0"/>
              <a:t> × 25-5/8</a:t>
            </a:r>
            <a:r>
              <a:rPr lang="ru-RU" dirty="0"/>
              <a:t>"</a:t>
            </a:r>
            <a:r>
              <a:rPr lang="en-US" dirty="0"/>
              <a:t> (74.6 × 65.1 cm).</a:t>
            </a:r>
            <a:br>
              <a:rPr lang="en-US" dirty="0"/>
            </a:br>
            <a:r>
              <a:rPr lang="en-US" dirty="0"/>
              <a:t>National Gallery of Art, Washington, DC. Gift of Mr. and Mrs. Robert Woods Bliss (1949.6.4). Image courtesy the National Gallery of Art, Washington. </a:t>
            </a:r>
          </a:p>
        </p:txBody>
      </p:sp>
      <p:pic>
        <p:nvPicPr>
          <p:cNvPr id="2" name="Picture 1" descr="The artist takes a break from her painting to smile at the viewer. She wears a tight, dark bodice over a red dress, and a very wide, starched circular collar, with a ring of lace triangles at its outer edg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p:txBody>
          <a:bodyPr/>
          <a:lstStyle/>
          <a:p>
            <a:r>
              <a:rPr lang="en-US"/>
              <a:t>Painting (5 of 14)</a:t>
            </a:r>
          </a:p>
        </p:txBody>
      </p:sp>
      <p:sp>
        <p:nvSpPr>
          <p:cNvPr id="131074" name="Content Placeholder 2"/>
          <p:cNvSpPr>
            <a:spLocks noGrp="1"/>
          </p:cNvSpPr>
          <p:nvPr>
            <p:ph idx="1"/>
          </p:nvPr>
        </p:nvSpPr>
        <p:spPr/>
        <p:txBody>
          <a:bodyPr/>
          <a:lstStyle/>
          <a:p>
            <a:r>
              <a:rPr lang="en-US"/>
              <a:t>Rembrandt van Rijn</a:t>
            </a:r>
          </a:p>
          <a:p>
            <a:pPr lvl="1"/>
            <a:r>
              <a:rPr lang="en-US"/>
              <a:t>Rembrandt trained under Pieter Lastman and grew an interest in elements of the Caravaggesque style.</a:t>
            </a:r>
          </a:p>
          <a:p>
            <a:pPr lvl="1"/>
            <a:r>
              <a:rPr lang="en-US" i="1"/>
              <a:t>The Anatomy Lesson of Dr. Nicolaes Tulp</a:t>
            </a:r>
            <a:r>
              <a:rPr lang="en-US"/>
              <a:t> is a charged moment from a life story rather than a posed portrait.</a:t>
            </a:r>
          </a:p>
          <a:p>
            <a:pPr lvl="2"/>
            <a:r>
              <a:rPr lang="en-US"/>
              <a:t>Figures</a:t>
            </a:r>
            <a:r>
              <a:rPr lang="uk-UA"/>
              <a:t>'</a:t>
            </a:r>
            <a:r>
              <a:rPr lang="en-US"/>
              <a:t> attentive faces are framed by brilliant white ruffs, contrasting the darkness of the ambiance.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3"/>
          <p:cNvSpPr>
            <a:spLocks noGrp="1"/>
          </p:cNvSpPr>
          <p:nvPr>
            <p:ph type="title"/>
          </p:nvPr>
        </p:nvSpPr>
        <p:spPr/>
        <p:txBody>
          <a:bodyPr>
            <a:normAutofit fontScale="90000"/>
          </a:bodyPr>
          <a:lstStyle/>
          <a:p>
            <a:r>
              <a:rPr lang="en-US" dirty="0"/>
              <a:t>Rembrandt van Rijn THE ANATOMY LESSON OF DR. NICOLAES TULP</a:t>
            </a:r>
            <a:br>
              <a:rPr lang="en-US" dirty="0"/>
            </a:br>
            <a:r>
              <a:rPr lang="en-US" dirty="0"/>
              <a:t>1632. Oil on canvas, 5</a:t>
            </a:r>
            <a:r>
              <a:rPr lang="uk-UA" dirty="0"/>
              <a:t>'</a:t>
            </a:r>
            <a:r>
              <a:rPr lang="en-US" dirty="0"/>
              <a:t>3-3/4</a:t>
            </a:r>
            <a:r>
              <a:rPr lang="ru-RU" dirty="0"/>
              <a:t>"</a:t>
            </a:r>
            <a:r>
              <a:rPr lang="en-US" dirty="0"/>
              <a:t> × 7</a:t>
            </a:r>
            <a:r>
              <a:rPr lang="uk-UA" dirty="0"/>
              <a:t>'</a:t>
            </a:r>
            <a:r>
              <a:rPr lang="en-US" dirty="0"/>
              <a:t>1-1/4</a:t>
            </a:r>
            <a:r>
              <a:rPr lang="ru-RU" dirty="0"/>
              <a:t>"</a:t>
            </a:r>
            <a:r>
              <a:rPr lang="en-US" dirty="0"/>
              <a:t> (1.6 × 2.1 m).</a:t>
            </a:r>
            <a:br>
              <a:rPr lang="en-US" dirty="0"/>
            </a:br>
            <a:r>
              <a:rPr lang="en-US" dirty="0" err="1"/>
              <a:t>Mauritshuis</a:t>
            </a:r>
            <a:r>
              <a:rPr lang="en-US" dirty="0"/>
              <a:t>, The Hague. © 2016. Photo Scala, Florence. </a:t>
            </a:r>
          </a:p>
        </p:txBody>
      </p:sp>
      <p:pic>
        <p:nvPicPr>
          <p:cNvPr id="2" name="Picture 1" descr="Well-dressed gentlemen gather around an operating table, where a man in a black suit uses tongs to peal open the flesh on the arm of a corps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p:cNvSpPr>
            <a:spLocks noGrp="1"/>
          </p:cNvSpPr>
          <p:nvPr>
            <p:ph type="title"/>
          </p:nvPr>
        </p:nvSpPr>
        <p:spPr/>
        <p:txBody>
          <a:bodyPr/>
          <a:lstStyle/>
          <a:p>
            <a:r>
              <a:rPr lang="en-US"/>
              <a:t>Painting (6 of 14)</a:t>
            </a:r>
          </a:p>
        </p:txBody>
      </p:sp>
      <p:sp>
        <p:nvSpPr>
          <p:cNvPr id="134146" name="Content Placeholder 2"/>
          <p:cNvSpPr>
            <a:spLocks noGrp="1"/>
          </p:cNvSpPr>
          <p:nvPr>
            <p:ph idx="1"/>
          </p:nvPr>
        </p:nvSpPr>
        <p:spPr/>
        <p:txBody>
          <a:bodyPr/>
          <a:lstStyle/>
          <a:p>
            <a:r>
              <a:rPr lang="en-US"/>
              <a:t>Rembrandt van Rijn</a:t>
            </a:r>
          </a:p>
          <a:p>
            <a:pPr lvl="1"/>
            <a:r>
              <a:rPr lang="en-US" i="1"/>
              <a:t>The Company of Captain Frans Banning Cocq </a:t>
            </a:r>
            <a:r>
              <a:rPr lang="en-US"/>
              <a:t>transforms a group portrait into a dramatic event.</a:t>
            </a:r>
          </a:p>
          <a:p>
            <a:pPr lvl="2"/>
            <a:r>
              <a:rPr lang="en-US"/>
              <a:t>A girl in the gathering crowd carries a chicken with prominent claws, which is a pun in Dutch about the company</a:t>
            </a:r>
            <a:r>
              <a:rPr lang="uk-UA"/>
              <a:t>'</a:t>
            </a:r>
            <a:r>
              <a:rPr lang="en-US"/>
              <a:t>s name, </a:t>
            </a:r>
            <a:r>
              <a:rPr lang="ru-RU"/>
              <a:t>"</a:t>
            </a:r>
            <a:r>
              <a:rPr lang="en-US"/>
              <a:t>The Kloveniers.</a:t>
            </a:r>
            <a:r>
              <a:rPr lang="ru-RU"/>
              <a:t>"</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3"/>
          <p:cNvSpPr>
            <a:spLocks noGrp="1"/>
          </p:cNvSpPr>
          <p:nvPr>
            <p:ph type="title"/>
          </p:nvPr>
        </p:nvSpPr>
        <p:spPr/>
        <p:txBody>
          <a:bodyPr>
            <a:normAutofit fontScale="90000"/>
          </a:bodyPr>
          <a:lstStyle/>
          <a:p>
            <a:r>
              <a:rPr lang="en-US" dirty="0"/>
              <a:t>Rembrandt van Rijn THE COMPANY OF CAPTAIN FRANS BANNING COCQ</a:t>
            </a:r>
            <a:br>
              <a:rPr lang="en-US" dirty="0"/>
            </a:br>
            <a:r>
              <a:rPr lang="en-US" dirty="0"/>
              <a:t>(THE NIGHT WATCH)</a:t>
            </a:r>
            <a:br>
              <a:rPr lang="en-US" dirty="0"/>
            </a:br>
            <a:r>
              <a:rPr lang="en-US" dirty="0"/>
              <a:t>1642. Oil on canvas, 11</a:t>
            </a:r>
            <a:r>
              <a:rPr lang="uk-UA" dirty="0"/>
              <a:t>'</a:t>
            </a:r>
            <a:r>
              <a:rPr lang="en-US" dirty="0"/>
              <a:t>11</a:t>
            </a:r>
            <a:r>
              <a:rPr lang="ru-RU" dirty="0"/>
              <a:t>"</a:t>
            </a:r>
            <a:r>
              <a:rPr lang="en-US" dirty="0"/>
              <a:t> × 14</a:t>
            </a:r>
            <a:r>
              <a:rPr lang="uk-UA" dirty="0"/>
              <a:t>'</a:t>
            </a:r>
            <a:r>
              <a:rPr lang="en-US" dirty="0"/>
              <a:t>4</a:t>
            </a:r>
            <a:r>
              <a:rPr lang="ru-RU" dirty="0"/>
              <a:t>"</a:t>
            </a:r>
            <a:r>
              <a:rPr lang="en-US" dirty="0"/>
              <a:t> (3.63 × 4.37 m) (cut down from the original size).</a:t>
            </a:r>
            <a:br>
              <a:rPr lang="en-US" dirty="0"/>
            </a:br>
            <a:r>
              <a:rPr lang="en-US" dirty="0"/>
              <a:t>Rijksmuseum, Amsterdam.</a:t>
            </a:r>
          </a:p>
        </p:txBody>
      </p:sp>
      <p:pic>
        <p:nvPicPr>
          <p:cNvPr id="2" name="Picture 1" descr="Two well-dressed men walk along a city street at the head of a group of soldiers, holding their own conversation amid the lively activity around them. A military drummer plays to one sid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p:cNvSpPr>
            <a:spLocks noGrp="1"/>
          </p:cNvSpPr>
          <p:nvPr>
            <p:ph type="title"/>
          </p:nvPr>
        </p:nvSpPr>
        <p:spPr/>
        <p:txBody>
          <a:bodyPr/>
          <a:lstStyle/>
          <a:p>
            <a:r>
              <a:rPr lang="en-US"/>
              <a:t>Technique: Etching and Drypoint</a:t>
            </a:r>
          </a:p>
        </p:txBody>
      </p:sp>
      <p:sp>
        <p:nvSpPr>
          <p:cNvPr id="137218" name="Content Placeholder 2"/>
          <p:cNvSpPr>
            <a:spLocks noGrp="1"/>
          </p:cNvSpPr>
          <p:nvPr>
            <p:ph idx="1"/>
          </p:nvPr>
        </p:nvSpPr>
        <p:spPr/>
        <p:txBody>
          <a:bodyPr/>
          <a:lstStyle/>
          <a:p>
            <a:r>
              <a:rPr lang="en-US"/>
              <a:t>Rembrandt popularized </a:t>
            </a:r>
            <a:r>
              <a:rPr lang="en-US" b="1"/>
              <a:t>etching</a:t>
            </a:r>
            <a:r>
              <a:rPr lang="en-US"/>
              <a:t>, which is an intaglio technique that carves designs out of the surface of a printing plate.</a:t>
            </a:r>
          </a:p>
          <a:p>
            <a:pPr lvl="1"/>
            <a:r>
              <a:rPr lang="en-US"/>
              <a:t>Metal is coated with an acid-resistant resin, then scratched into.</a:t>
            </a:r>
          </a:p>
          <a:p>
            <a:r>
              <a:rPr lang="en-US" b="1"/>
              <a:t>Drypoint</a:t>
            </a:r>
            <a:r>
              <a:rPr lang="en-US"/>
              <a:t> is another intaglio technique in which a sharp needle directly scratches into the metal.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Title 1"/>
          <p:cNvSpPr>
            <a:spLocks noGrp="1"/>
          </p:cNvSpPr>
          <p:nvPr>
            <p:ph type="title"/>
          </p:nvPr>
        </p:nvSpPr>
        <p:spPr/>
        <p:txBody>
          <a:bodyPr/>
          <a:lstStyle/>
          <a:p>
            <a:r>
              <a:rPr lang="en-US"/>
              <a:t>Painting (7 of 14)</a:t>
            </a:r>
          </a:p>
        </p:txBody>
      </p:sp>
      <p:sp>
        <p:nvSpPr>
          <p:cNvPr id="138242" name="Content Placeholder 2"/>
          <p:cNvSpPr>
            <a:spLocks noGrp="1"/>
          </p:cNvSpPr>
          <p:nvPr>
            <p:ph idx="1"/>
          </p:nvPr>
        </p:nvSpPr>
        <p:spPr/>
        <p:txBody>
          <a:bodyPr/>
          <a:lstStyle/>
          <a:p>
            <a:r>
              <a:rPr lang="en-US"/>
              <a:t>Rembrandt van Rijn</a:t>
            </a:r>
          </a:p>
          <a:p>
            <a:pPr lvl="1"/>
            <a:r>
              <a:rPr lang="en-US"/>
              <a:t>In the </a:t>
            </a:r>
            <a:r>
              <a:rPr lang="en-US" i="1"/>
              <a:t>Three Crosses</a:t>
            </a:r>
            <a:r>
              <a:rPr lang="en-US"/>
              <a:t>, four states of the work exist and show Rembrandt</a:t>
            </a:r>
            <a:r>
              <a:rPr lang="uk-UA"/>
              <a:t>'</a:t>
            </a:r>
            <a:r>
              <a:rPr lang="en-US"/>
              <a:t>s process from first anecdotal draft to the haunting blackness in the final state.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3"/>
          <p:cNvSpPr>
            <a:spLocks noGrp="1"/>
          </p:cNvSpPr>
          <p:nvPr>
            <p:ph type="title"/>
          </p:nvPr>
        </p:nvSpPr>
        <p:spPr/>
        <p:txBody>
          <a:bodyPr>
            <a:normAutofit fontScale="90000"/>
          </a:bodyPr>
          <a:lstStyle/>
          <a:p>
            <a:r>
              <a:rPr lang="en-US" dirty="0"/>
              <a:t>Rembrandt van Rijn THREE CROSSES (FIRST STATE)</a:t>
            </a:r>
            <a:br>
              <a:rPr lang="en-US" dirty="0"/>
            </a:br>
            <a:r>
              <a:rPr lang="en-US" dirty="0"/>
              <a:t>1653. </a:t>
            </a:r>
            <a:r>
              <a:rPr lang="en-US" dirty="0" err="1"/>
              <a:t>Drypoint</a:t>
            </a:r>
            <a:r>
              <a:rPr lang="en-US" dirty="0"/>
              <a:t>, 15-1/6</a:t>
            </a:r>
            <a:r>
              <a:rPr lang="ru-RU" dirty="0"/>
              <a:t>"</a:t>
            </a:r>
            <a:r>
              <a:rPr lang="en-US" dirty="0"/>
              <a:t> × 17-3/4</a:t>
            </a:r>
            <a:r>
              <a:rPr lang="ru-RU" dirty="0"/>
              <a:t>"</a:t>
            </a:r>
            <a:r>
              <a:rPr lang="en-US" dirty="0"/>
              <a:t> (38.5 × 45 cm).</a:t>
            </a:r>
            <a:br>
              <a:rPr lang="en-US" dirty="0"/>
            </a:br>
            <a:r>
              <a:rPr lang="en-US" dirty="0"/>
              <a:t>Rijksmuseum, Amsterdam. </a:t>
            </a:r>
          </a:p>
        </p:txBody>
      </p:sp>
      <p:pic>
        <p:nvPicPr>
          <p:cNvPr id="2" name="Picture 1" descr="Three crosses stand on a rough hill, surrounded by people who suddenly turn to run. Bright light streams from above, highlighting the scene.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3"/>
          <p:cNvSpPr>
            <a:spLocks noGrp="1"/>
          </p:cNvSpPr>
          <p:nvPr>
            <p:ph type="title"/>
          </p:nvPr>
        </p:nvSpPr>
        <p:spPr/>
        <p:txBody>
          <a:bodyPr/>
          <a:lstStyle/>
          <a:p>
            <a:r>
              <a:rPr lang="en-US" dirty="0"/>
              <a:t>Rembrandt van Rijn THREE CROSSES (FOURTH STATE)</a:t>
            </a:r>
            <a:br>
              <a:rPr lang="en-US" dirty="0"/>
            </a:br>
            <a:r>
              <a:rPr lang="en-US" dirty="0"/>
              <a:t>1653. </a:t>
            </a:r>
            <a:r>
              <a:rPr lang="en-US" dirty="0" err="1"/>
              <a:t>Drypoint</a:t>
            </a:r>
            <a:r>
              <a:rPr lang="en-US" dirty="0"/>
              <a:t>, 15-1/6</a:t>
            </a:r>
            <a:r>
              <a:rPr lang="ru-RU" dirty="0"/>
              <a:t>"</a:t>
            </a:r>
            <a:r>
              <a:rPr lang="en-US" dirty="0"/>
              <a:t> × 17-3/4</a:t>
            </a:r>
            <a:r>
              <a:rPr lang="ru-RU" dirty="0"/>
              <a:t>"</a:t>
            </a:r>
            <a:r>
              <a:rPr lang="en-US" dirty="0"/>
              <a:t> (38.5 × 45 cm). Rijksmuseum, Amsterdam. </a:t>
            </a:r>
          </a:p>
        </p:txBody>
      </p:sp>
      <p:pic>
        <p:nvPicPr>
          <p:cNvPr id="2" name="Picture 1" descr="Though light still streams from heaven, it only provides adequate illumination for Christ’s cross, and the patch of bare, skull-like ground beneath 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Title 1"/>
          <p:cNvSpPr>
            <a:spLocks noGrp="1"/>
          </p:cNvSpPr>
          <p:nvPr>
            <p:ph type="title"/>
          </p:nvPr>
        </p:nvSpPr>
        <p:spPr/>
        <p:txBody>
          <a:bodyPr/>
          <a:lstStyle/>
          <a:p>
            <a:r>
              <a:rPr lang="en-US"/>
              <a:t>Painting (8 of 14)</a:t>
            </a:r>
          </a:p>
        </p:txBody>
      </p:sp>
      <p:sp>
        <p:nvSpPr>
          <p:cNvPr id="143362" name="Content Placeholder 2"/>
          <p:cNvSpPr>
            <a:spLocks noGrp="1"/>
          </p:cNvSpPr>
          <p:nvPr>
            <p:ph idx="1"/>
          </p:nvPr>
        </p:nvSpPr>
        <p:spPr/>
        <p:txBody>
          <a:bodyPr/>
          <a:lstStyle/>
          <a:p>
            <a:r>
              <a:rPr lang="en-US"/>
              <a:t>Rembrandt van Rijn</a:t>
            </a:r>
          </a:p>
          <a:p>
            <a:pPr lvl="1"/>
            <a:r>
              <a:rPr lang="en-US"/>
              <a:t>The aging artist used a wider range of textures in paint, creating a rich </a:t>
            </a:r>
            <a:r>
              <a:rPr lang="en-US" i="1"/>
              <a:t>chiaroscuro</a:t>
            </a:r>
            <a:r>
              <a:rPr lang="en-US"/>
              <a:t> ranging from thin glazes to </a:t>
            </a:r>
            <a:r>
              <a:rPr lang="en-US" b="1"/>
              <a:t>impasto</a:t>
            </a:r>
            <a:r>
              <a:rPr lang="en-US"/>
              <a:t>.</a:t>
            </a:r>
          </a:p>
          <a:p>
            <a:pPr lvl="1"/>
            <a:r>
              <a:rPr lang="en-US"/>
              <a:t>In a </a:t>
            </a:r>
            <a:r>
              <a:rPr lang="en-US" i="1"/>
              <a:t>Self-Portrait</a:t>
            </a:r>
            <a:r>
              <a:rPr lang="en-US"/>
              <a:t> of 1658, the artist</a:t>
            </a:r>
            <a:r>
              <a:rPr lang="uk-UA"/>
              <a:t>'</a:t>
            </a:r>
            <a:r>
              <a:rPr lang="en-US"/>
              <a:t>s expression is inward and weary, reflecting his stressful bankruptcy.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Title 3"/>
          <p:cNvSpPr>
            <a:spLocks noGrp="1"/>
          </p:cNvSpPr>
          <p:nvPr>
            <p:ph type="title"/>
          </p:nvPr>
        </p:nvSpPr>
        <p:spPr/>
        <p:txBody>
          <a:bodyPr>
            <a:normAutofit fontScale="90000"/>
          </a:bodyPr>
          <a:lstStyle/>
          <a:p>
            <a:r>
              <a:rPr lang="en-US" dirty="0"/>
              <a:t>Rembrandt van Rijn SELF-PORTRAIT</a:t>
            </a:r>
            <a:br>
              <a:rPr lang="en-US" dirty="0"/>
            </a:br>
            <a:r>
              <a:rPr lang="en-US" dirty="0"/>
              <a:t>1658. Oil on canvas, 52-5/8</a:t>
            </a:r>
            <a:r>
              <a:rPr lang="ru-RU" dirty="0"/>
              <a:t>"</a:t>
            </a:r>
            <a:r>
              <a:rPr lang="en-US" dirty="0"/>
              <a:t> × 40-7/8</a:t>
            </a:r>
            <a:r>
              <a:rPr lang="ru-RU" dirty="0"/>
              <a:t>"</a:t>
            </a:r>
            <a:r>
              <a:rPr lang="en-US" dirty="0"/>
              <a:t> (133.6 × 103.8 cm).</a:t>
            </a:r>
            <a:br>
              <a:rPr lang="en-US" dirty="0"/>
            </a:br>
            <a:r>
              <a:rPr lang="en-US" dirty="0"/>
              <a:t>The Frick Collection, New York. Henry Clay Frick Bequest. (1906.1.97). </a:t>
            </a:r>
            <a:br>
              <a:rPr lang="en-US" dirty="0"/>
            </a:br>
            <a:r>
              <a:rPr lang="en-US" dirty="0"/>
              <a:t>Photo: Michael </a:t>
            </a:r>
            <a:r>
              <a:rPr lang="en-US" dirty="0" err="1"/>
              <a:t>Bodycomb</a:t>
            </a:r>
            <a:r>
              <a:rPr lang="en-US" dirty="0"/>
              <a:t>.</a:t>
            </a:r>
          </a:p>
        </p:txBody>
      </p:sp>
      <p:pic>
        <p:nvPicPr>
          <p:cNvPr id="2" name="Picture 1" descr="A man sits in an arm chair, facing forward with a blank expression. He is middle-aged and overweight, wearing a well-made, regal-looking shirt, sash, necktie, fur cloak, and ha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itle 1"/>
          <p:cNvSpPr>
            <a:spLocks noGrp="1"/>
          </p:cNvSpPr>
          <p:nvPr>
            <p:ph type="title"/>
          </p:nvPr>
        </p:nvSpPr>
        <p:spPr/>
        <p:txBody>
          <a:bodyPr/>
          <a:lstStyle/>
          <a:p>
            <a:r>
              <a:rPr lang="en-US"/>
              <a:t>Painting (9 of 14)</a:t>
            </a:r>
          </a:p>
        </p:txBody>
      </p:sp>
      <p:sp>
        <p:nvSpPr>
          <p:cNvPr id="146434" name="Content Placeholder 2"/>
          <p:cNvSpPr>
            <a:spLocks noGrp="1"/>
          </p:cNvSpPr>
          <p:nvPr>
            <p:ph idx="1"/>
          </p:nvPr>
        </p:nvSpPr>
        <p:spPr/>
        <p:txBody>
          <a:bodyPr/>
          <a:lstStyle/>
          <a:p>
            <a:r>
              <a:rPr lang="en-US"/>
              <a:t>Johannes Vermeer</a:t>
            </a:r>
          </a:p>
          <a:p>
            <a:pPr lvl="1"/>
            <a:r>
              <a:rPr lang="en-US"/>
              <a:t>Although Vermeer produced fewer than 40 canvases that are indisputably his work, he was famous for his highly structured compositional approach.</a:t>
            </a:r>
          </a:p>
          <a:p>
            <a:pPr lvl="1"/>
            <a:r>
              <a:rPr lang="en-US" i="1"/>
              <a:t>View of Delft </a:t>
            </a:r>
            <a:r>
              <a:rPr lang="en-US"/>
              <a:t>shows a city with timeless stability, and buildings moved for ideal placement.</a:t>
            </a:r>
          </a:p>
          <a:p>
            <a:pPr lvl="2"/>
            <a:r>
              <a:rPr lang="en-US"/>
              <a:t>It may have been aided by a </a:t>
            </a:r>
            <a:r>
              <a:rPr lang="en-US" b="1"/>
              <a:t>camera obscura</a:t>
            </a:r>
            <a:r>
              <a:rPr lang="en-US"/>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itle 3"/>
          <p:cNvSpPr>
            <a:spLocks noGrp="1"/>
          </p:cNvSpPr>
          <p:nvPr>
            <p:ph type="title"/>
          </p:nvPr>
        </p:nvSpPr>
        <p:spPr/>
        <p:txBody>
          <a:bodyPr>
            <a:normAutofit fontScale="90000"/>
          </a:bodyPr>
          <a:lstStyle/>
          <a:p>
            <a:r>
              <a:rPr lang="en-US" dirty="0"/>
              <a:t>Johannes Vermeer VIEW OF DELFT</a:t>
            </a:r>
            <a:br>
              <a:rPr lang="en-US" dirty="0"/>
            </a:br>
            <a:r>
              <a:rPr lang="en-US" dirty="0"/>
              <a:t>c. 1662. Oil on canvas, 38-1/2</a:t>
            </a:r>
            <a:r>
              <a:rPr lang="ru-RU" dirty="0"/>
              <a:t>"</a:t>
            </a:r>
            <a:r>
              <a:rPr lang="en-US" dirty="0"/>
              <a:t> × 46-1/4</a:t>
            </a:r>
            <a:r>
              <a:rPr lang="ru-RU" dirty="0"/>
              <a:t>"</a:t>
            </a:r>
            <a:r>
              <a:rPr lang="en-US" dirty="0"/>
              <a:t> (97.8 × 117.5 cm).</a:t>
            </a:r>
            <a:br>
              <a:rPr lang="en-US" dirty="0"/>
            </a:br>
            <a:r>
              <a:rPr lang="en-US" dirty="0"/>
              <a:t>Royal Picture Gallery, </a:t>
            </a:r>
            <a:r>
              <a:rPr lang="en-US" dirty="0" err="1"/>
              <a:t>Mauritshuis</a:t>
            </a:r>
            <a:r>
              <a:rPr lang="en-US" dirty="0"/>
              <a:t>, The Hague. </a:t>
            </a:r>
          </a:p>
        </p:txBody>
      </p:sp>
      <p:pic>
        <p:nvPicPr>
          <p:cNvPr id="2" name="Picture 1" descr="In the foreground, men and women stand along a sandy beach, bordering a harbor or canal. Barges and sailing vessels are moored across the way, with a town behind them, obscuring the horizon."/>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1"/>
          <p:cNvSpPr>
            <a:spLocks noGrp="1"/>
          </p:cNvSpPr>
          <p:nvPr>
            <p:ph type="title"/>
          </p:nvPr>
        </p:nvSpPr>
        <p:spPr/>
        <p:txBody>
          <a:bodyPr/>
          <a:lstStyle/>
          <a:p>
            <a:r>
              <a:rPr lang="en-US"/>
              <a:t>Painting (10 of 14)</a:t>
            </a:r>
          </a:p>
        </p:txBody>
      </p:sp>
      <p:sp>
        <p:nvSpPr>
          <p:cNvPr id="149506" name="Content Placeholder 2"/>
          <p:cNvSpPr>
            <a:spLocks noGrp="1"/>
          </p:cNvSpPr>
          <p:nvPr>
            <p:ph idx="1"/>
          </p:nvPr>
        </p:nvSpPr>
        <p:spPr/>
        <p:txBody>
          <a:bodyPr/>
          <a:lstStyle/>
          <a:p>
            <a:r>
              <a:rPr lang="en-US"/>
              <a:t>Johannes Vermeer</a:t>
            </a:r>
          </a:p>
          <a:p>
            <a:pPr lvl="1"/>
            <a:r>
              <a:rPr lang="en-US"/>
              <a:t>He also produced genre paintings of quiet interior scenes.</a:t>
            </a:r>
          </a:p>
          <a:p>
            <a:pPr lvl="2"/>
            <a:r>
              <a:rPr lang="en-US" i="1"/>
              <a:t>Woman Holding a Balance </a:t>
            </a:r>
            <a:r>
              <a:rPr lang="en-US"/>
              <a:t>evokes the </a:t>
            </a:r>
            <a:r>
              <a:rPr lang="en-US" i="1"/>
              <a:t>vanitas</a:t>
            </a:r>
            <a:r>
              <a:rPr lang="en-US"/>
              <a:t> theme of the transience of earthly life as the woman stands underneath a painting of the Last Judgment.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itle 3"/>
          <p:cNvSpPr>
            <a:spLocks noGrp="1"/>
          </p:cNvSpPr>
          <p:nvPr>
            <p:ph type="title"/>
          </p:nvPr>
        </p:nvSpPr>
        <p:spPr/>
        <p:txBody>
          <a:bodyPr>
            <a:normAutofit fontScale="90000"/>
          </a:bodyPr>
          <a:lstStyle/>
          <a:p>
            <a:r>
              <a:rPr lang="en-US" dirty="0"/>
              <a:t>Johannes Vermeer WOMAN HOLDING A BALANCE</a:t>
            </a:r>
            <a:br>
              <a:rPr lang="en-US" dirty="0"/>
            </a:br>
            <a:r>
              <a:rPr lang="en-US" dirty="0"/>
              <a:t>c. 1664. Oil on canvas, 15-5/8</a:t>
            </a:r>
            <a:r>
              <a:rPr lang="ru-RU" dirty="0"/>
              <a:t>"</a:t>
            </a:r>
            <a:r>
              <a:rPr lang="en-US" dirty="0"/>
              <a:t> × 14</a:t>
            </a:r>
            <a:r>
              <a:rPr lang="ru-RU" dirty="0"/>
              <a:t>"</a:t>
            </a:r>
            <a:r>
              <a:rPr lang="en-US" dirty="0"/>
              <a:t> (39.7 × 35.5 cm).</a:t>
            </a:r>
            <a:br>
              <a:rPr lang="en-US" dirty="0"/>
            </a:br>
            <a:r>
              <a:rPr lang="en-US" dirty="0"/>
              <a:t>National Gallery of Art, Washington, DC. Widener Collection (1942.9.97). Image courtesy the National Gallery of Art, Washington. </a:t>
            </a:r>
          </a:p>
        </p:txBody>
      </p:sp>
      <p:pic>
        <p:nvPicPr>
          <p:cNvPr id="2" name="Picture 1" descr="A woman stands at a table in a private space, lit by a high window. Several small boxes are set open on the table, revealing gold chains A painting hangs on the wall behind her, depicting Jesus in the sky and people bel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Title 1"/>
          <p:cNvSpPr>
            <a:spLocks noGrp="1"/>
          </p:cNvSpPr>
          <p:nvPr>
            <p:ph type="title"/>
          </p:nvPr>
        </p:nvSpPr>
        <p:spPr/>
        <p:txBody>
          <a:bodyPr/>
          <a:lstStyle/>
          <a:p>
            <a:r>
              <a:rPr lang="en-US"/>
              <a:t>Painting (11 of 14)</a:t>
            </a:r>
          </a:p>
        </p:txBody>
      </p:sp>
      <p:sp>
        <p:nvSpPr>
          <p:cNvPr id="152578" name="Content Placeholder 2"/>
          <p:cNvSpPr>
            <a:spLocks noGrp="1"/>
          </p:cNvSpPr>
          <p:nvPr>
            <p:ph idx="1"/>
          </p:nvPr>
        </p:nvSpPr>
        <p:spPr/>
        <p:txBody>
          <a:bodyPr/>
          <a:lstStyle/>
          <a:p>
            <a:r>
              <a:rPr lang="en-US"/>
              <a:t>Genre Scenes</a:t>
            </a:r>
          </a:p>
          <a:p>
            <a:pPr lvl="1"/>
            <a:r>
              <a:rPr lang="en-US"/>
              <a:t>These paintings are often laden with symbolic references.</a:t>
            </a:r>
          </a:p>
          <a:p>
            <a:pPr lvl="1"/>
            <a:r>
              <a:rPr lang="en-US" i="1"/>
              <a:t>The Suitor</a:t>
            </a:r>
            <a:r>
              <a:rPr lang="uk-UA" i="1"/>
              <a:t>'</a:t>
            </a:r>
            <a:r>
              <a:rPr lang="en-US" i="1"/>
              <a:t>s Visit </a:t>
            </a:r>
            <a:r>
              <a:rPr lang="en-US"/>
              <a:t>shows a scene where a well-dressed man bows to an elegant woman in a sumptuously furnished room.</a:t>
            </a:r>
          </a:p>
          <a:p>
            <a:pPr lvl="2"/>
            <a:r>
              <a:rPr lang="en-US"/>
              <a:t>The dog symbolizes loyalty, while instruments in the room symbolize both harmony of soul and sensory pleasure.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3"/>
          <p:cNvSpPr>
            <a:spLocks noGrp="1"/>
          </p:cNvSpPr>
          <p:nvPr>
            <p:ph type="title"/>
          </p:nvPr>
        </p:nvSpPr>
        <p:spPr/>
        <p:txBody>
          <a:bodyPr>
            <a:normAutofit fontScale="90000"/>
          </a:bodyPr>
          <a:lstStyle/>
          <a:p>
            <a:r>
              <a:rPr lang="en-US" dirty="0"/>
              <a:t>Gerard </a:t>
            </a:r>
            <a:r>
              <a:rPr lang="en-US" dirty="0" err="1"/>
              <a:t>ter</a:t>
            </a:r>
            <a:r>
              <a:rPr lang="en-US" dirty="0"/>
              <a:t> </a:t>
            </a:r>
            <a:r>
              <a:rPr lang="en-US" dirty="0" err="1"/>
              <a:t>Borch</a:t>
            </a:r>
            <a:r>
              <a:rPr lang="en-US" dirty="0"/>
              <a:t> THE SUITOR</a:t>
            </a:r>
            <a:r>
              <a:rPr lang="uk-UA" dirty="0"/>
              <a:t>'</a:t>
            </a:r>
            <a:r>
              <a:rPr lang="en-US" dirty="0"/>
              <a:t>S VISIT</a:t>
            </a:r>
            <a:br>
              <a:rPr lang="en-US" dirty="0"/>
            </a:br>
            <a:r>
              <a:rPr lang="en-US" dirty="0"/>
              <a:t>c. 1658. Oil on canvas, 32-1/2</a:t>
            </a:r>
            <a:r>
              <a:rPr lang="ru-RU" dirty="0"/>
              <a:t>"</a:t>
            </a:r>
            <a:r>
              <a:rPr lang="en-US" dirty="0"/>
              <a:t> × 29-5/8</a:t>
            </a:r>
            <a:r>
              <a:rPr lang="ru-RU" dirty="0"/>
              <a:t>"</a:t>
            </a:r>
            <a:r>
              <a:rPr lang="en-US" dirty="0"/>
              <a:t> (82.6 × 75.3 cm).</a:t>
            </a:r>
            <a:br>
              <a:rPr lang="en-US" dirty="0"/>
            </a:br>
            <a:r>
              <a:rPr lang="en-US" dirty="0"/>
              <a:t>National Gallery of Art, Washington, DC. Andrew W. Mellon Collection. Image courtesy the National Gallery of Art, Washington. </a:t>
            </a:r>
          </a:p>
        </p:txBody>
      </p:sp>
      <p:pic>
        <p:nvPicPr>
          <p:cNvPr id="2" name="Picture 1" descr="A young man in a fine suit steps into a private home, taking off his wide hat and bowing to the young lady who greets him, wearing a pink and silver dress. Another woman sits nearby, practicing music, and an older man watches from the back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p:txBody>
          <a:bodyPr/>
          <a:lstStyle/>
          <a:p>
            <a:r>
              <a:rPr lang="en-US"/>
              <a:t>Painting (12 of 14)</a:t>
            </a:r>
          </a:p>
        </p:txBody>
      </p:sp>
      <p:sp>
        <p:nvSpPr>
          <p:cNvPr id="155650" name="Content Placeholder 2"/>
          <p:cNvSpPr>
            <a:spLocks noGrp="1"/>
          </p:cNvSpPr>
          <p:nvPr>
            <p:ph idx="1"/>
          </p:nvPr>
        </p:nvSpPr>
        <p:spPr/>
        <p:txBody>
          <a:bodyPr/>
          <a:lstStyle/>
          <a:p>
            <a:r>
              <a:rPr lang="en-US"/>
              <a:t>Genre Scenes</a:t>
            </a:r>
          </a:p>
          <a:p>
            <a:pPr lvl="1"/>
            <a:r>
              <a:rPr lang="en-US"/>
              <a:t>Jan Steen painted over 800 works, the most remarkable of which being paintings of children.</a:t>
            </a:r>
          </a:p>
          <a:p>
            <a:pPr lvl="2"/>
            <a:r>
              <a:rPr lang="en-US" i="1"/>
              <a:t>The Feast of St. Nicholas </a:t>
            </a:r>
            <a:r>
              <a:rPr lang="en-US"/>
              <a:t>displays a household boisterous with a family get-together.</a:t>
            </a:r>
          </a:p>
          <a:p>
            <a:pPr lvl="3"/>
            <a:r>
              <a:rPr lang="en-US"/>
              <a:t>Children react in various ways to pre-Christmas gifts.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Title 3"/>
          <p:cNvSpPr>
            <a:spLocks noGrp="1"/>
          </p:cNvSpPr>
          <p:nvPr>
            <p:ph type="title"/>
          </p:nvPr>
        </p:nvSpPr>
        <p:spPr/>
        <p:txBody>
          <a:bodyPr>
            <a:normAutofit fontScale="90000"/>
          </a:bodyPr>
          <a:lstStyle/>
          <a:p>
            <a:r>
              <a:rPr lang="en-US" dirty="0"/>
              <a:t>Jan Steen THE FEAST OF ST. NICHOLAS</a:t>
            </a:r>
            <a:br>
              <a:rPr lang="en-US" dirty="0"/>
            </a:br>
            <a:r>
              <a:rPr lang="en-US" dirty="0"/>
              <a:t>c. 1660–1665. Oil on canvas, 32-1/4</a:t>
            </a:r>
            <a:r>
              <a:rPr lang="ru-RU" dirty="0"/>
              <a:t>"</a:t>
            </a:r>
            <a:r>
              <a:rPr lang="en-US" dirty="0"/>
              <a:t> × 27-3/4</a:t>
            </a:r>
            <a:r>
              <a:rPr lang="ru-RU" dirty="0"/>
              <a:t>"</a:t>
            </a:r>
            <a:r>
              <a:rPr lang="en-US" dirty="0"/>
              <a:t> (82 × 70.5 cm).</a:t>
            </a:r>
            <a:br>
              <a:rPr lang="en-US" dirty="0"/>
            </a:br>
            <a:r>
              <a:rPr lang="en-US" dirty="0"/>
              <a:t>Rijksmuseum, Amsterdam. </a:t>
            </a:r>
          </a:p>
        </p:txBody>
      </p:sp>
      <p:pic>
        <p:nvPicPr>
          <p:cNvPr id="2" name="Picture 1" descr="A family celebration, with four adults and six children pictured. One boy cries while a younger boy points and laughs. A woman holds her arms open to a little girl, who respond by recoiling, clutching a new doll.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Title 1"/>
          <p:cNvSpPr>
            <a:spLocks noGrp="1"/>
          </p:cNvSpPr>
          <p:nvPr>
            <p:ph type="title"/>
          </p:nvPr>
        </p:nvSpPr>
        <p:spPr/>
        <p:txBody>
          <a:bodyPr/>
          <a:lstStyle/>
          <a:p>
            <a:r>
              <a:rPr lang="en-US"/>
              <a:t>Painting (13 of 14)</a:t>
            </a:r>
          </a:p>
        </p:txBody>
      </p:sp>
      <p:sp>
        <p:nvSpPr>
          <p:cNvPr id="158722" name="Content Placeholder 2"/>
          <p:cNvSpPr>
            <a:spLocks noGrp="1"/>
          </p:cNvSpPr>
          <p:nvPr>
            <p:ph idx="1"/>
          </p:nvPr>
        </p:nvSpPr>
        <p:spPr/>
        <p:txBody>
          <a:bodyPr/>
          <a:lstStyle/>
          <a:p>
            <a:r>
              <a:rPr lang="en-US"/>
              <a:t>Genre Scenes</a:t>
            </a:r>
          </a:p>
          <a:p>
            <a:pPr lvl="1"/>
            <a:r>
              <a:rPr lang="en-US"/>
              <a:t>Emanuel de Witte specialized in architectural interiors, some called </a:t>
            </a:r>
            <a:r>
              <a:rPr lang="ru-RU"/>
              <a:t>"</a:t>
            </a:r>
            <a:r>
              <a:rPr lang="en-US"/>
              <a:t>portraits</a:t>
            </a:r>
            <a:r>
              <a:rPr lang="ru-RU"/>
              <a:t>"</a:t>
            </a:r>
            <a:r>
              <a:rPr lang="en-US"/>
              <a:t> of actual buildings.</a:t>
            </a:r>
          </a:p>
          <a:p>
            <a:pPr lvl="2"/>
            <a:r>
              <a:rPr lang="en-US" i="1"/>
              <a:t>Portuguese Synagogue, Amsterdam </a:t>
            </a:r>
            <a:r>
              <a:rPr lang="en-US"/>
              <a:t>depicts an extant location and serves as a record of seventeenth-century synagogue architecture.</a:t>
            </a:r>
          </a:p>
          <a:p>
            <a:pPr lvl="3"/>
            <a:r>
              <a:rPr lang="en-US"/>
              <a:t>It reflects Dutch religious tolerance in an age where Jews were often persecuted.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Title 3"/>
          <p:cNvSpPr>
            <a:spLocks noGrp="1"/>
          </p:cNvSpPr>
          <p:nvPr>
            <p:ph type="title"/>
          </p:nvPr>
        </p:nvSpPr>
        <p:spPr/>
        <p:txBody>
          <a:bodyPr>
            <a:normAutofit fontScale="90000"/>
          </a:bodyPr>
          <a:lstStyle/>
          <a:p>
            <a:r>
              <a:rPr lang="en-US" dirty="0"/>
              <a:t>Emanuel de Witte PORTUGUESE SYNAGOGUE, AMSTERDAM</a:t>
            </a:r>
            <a:br>
              <a:rPr lang="en-US" dirty="0"/>
            </a:br>
            <a:r>
              <a:rPr lang="en-US" dirty="0"/>
              <a:t>1680. Oil on canvas, 43-1/2</a:t>
            </a:r>
            <a:r>
              <a:rPr lang="ru-RU" dirty="0"/>
              <a:t>"</a:t>
            </a:r>
            <a:r>
              <a:rPr lang="en-US" dirty="0"/>
              <a:t> × 39</a:t>
            </a:r>
            <a:r>
              <a:rPr lang="ru-RU" dirty="0"/>
              <a:t>"</a:t>
            </a:r>
            <a:r>
              <a:rPr lang="en-US" dirty="0"/>
              <a:t> (110.5 × 99.1 cm).</a:t>
            </a:r>
            <a:br>
              <a:rPr lang="en-US" dirty="0"/>
            </a:br>
            <a:r>
              <a:rPr lang="en-US" dirty="0"/>
              <a:t>Rijksmuseum, Amsterdam. </a:t>
            </a:r>
          </a:p>
        </p:txBody>
      </p:sp>
      <p:pic>
        <p:nvPicPr>
          <p:cNvPr id="2" name="Picture 1" descr="Two women stand at the back of a crowded, basilican synagogue during a service, holding a conversation. One wears a black and gold dress, the other a bright blue dress that stands out from the surrounding darker, drab colors. Two dogs stand nearby.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Title 1"/>
          <p:cNvSpPr>
            <a:spLocks noGrp="1"/>
          </p:cNvSpPr>
          <p:nvPr>
            <p:ph type="title"/>
          </p:nvPr>
        </p:nvSpPr>
        <p:spPr/>
        <p:txBody>
          <a:bodyPr/>
          <a:lstStyle/>
          <a:p>
            <a:r>
              <a:rPr lang="en-US"/>
              <a:t>Painting (14 of 14)</a:t>
            </a:r>
          </a:p>
        </p:txBody>
      </p:sp>
      <p:sp>
        <p:nvSpPr>
          <p:cNvPr id="161794" name="Content Placeholder 2"/>
          <p:cNvSpPr>
            <a:spLocks noGrp="1"/>
          </p:cNvSpPr>
          <p:nvPr>
            <p:ph idx="1"/>
          </p:nvPr>
        </p:nvSpPr>
        <p:spPr/>
        <p:txBody>
          <a:bodyPr/>
          <a:lstStyle/>
          <a:p>
            <a:r>
              <a:rPr lang="en-US"/>
              <a:t>Landscape and Still Life</a:t>
            </a:r>
          </a:p>
          <a:p>
            <a:pPr lvl="1"/>
            <a:r>
              <a:rPr lang="en-US"/>
              <a:t>Jacob von Ruisdael</a:t>
            </a:r>
            <a:r>
              <a:rPr lang="uk-UA"/>
              <a:t>'</a:t>
            </a:r>
            <a:r>
              <a:rPr lang="en-US"/>
              <a:t>s </a:t>
            </a:r>
            <a:r>
              <a:rPr lang="en-US" i="1"/>
              <a:t>View of Haarlem from the Dunes at Overveen </a:t>
            </a:r>
            <a:r>
              <a:rPr lang="en-US"/>
              <a:t>showcases the Dutch love of landscapes, with religious undertones of restoration following Noah</a:t>
            </a:r>
            <a:r>
              <a:rPr lang="uk-UA"/>
              <a:t>'</a:t>
            </a:r>
            <a:r>
              <a:rPr lang="en-US"/>
              <a:t>s flood.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Title 3"/>
          <p:cNvSpPr>
            <a:spLocks noGrp="1"/>
          </p:cNvSpPr>
          <p:nvPr>
            <p:ph type="title"/>
          </p:nvPr>
        </p:nvSpPr>
        <p:spPr/>
        <p:txBody>
          <a:bodyPr>
            <a:normAutofit fontScale="90000"/>
          </a:bodyPr>
          <a:lstStyle/>
          <a:p>
            <a:r>
              <a:rPr lang="en-US" dirty="0"/>
              <a:t>Jacob van Ruisdael VIEW OF HAARLEM FROM THE DUNES AT OVERVEEN</a:t>
            </a:r>
            <a:br>
              <a:rPr lang="en-US" dirty="0"/>
            </a:br>
            <a:r>
              <a:rPr lang="en-US" dirty="0"/>
              <a:t>c. 1670. Oil on canvas, 22</a:t>
            </a:r>
            <a:r>
              <a:rPr lang="ru-RU" dirty="0"/>
              <a:t>"</a:t>
            </a:r>
            <a:r>
              <a:rPr lang="en-US" dirty="0"/>
              <a:t> × 24-1/4</a:t>
            </a:r>
            <a:r>
              <a:rPr lang="ru-RU" dirty="0"/>
              <a:t>"</a:t>
            </a:r>
            <a:r>
              <a:rPr lang="en-US" dirty="0"/>
              <a:t> (55.8 × 62.8 cm).</a:t>
            </a:r>
            <a:br>
              <a:rPr lang="en-US" dirty="0"/>
            </a:br>
            <a:r>
              <a:rPr lang="en-US" dirty="0"/>
              <a:t>Royal Picture Gallery, </a:t>
            </a:r>
            <a:r>
              <a:rPr lang="en-US" dirty="0" err="1"/>
              <a:t>Mauritshuis</a:t>
            </a:r>
            <a:r>
              <a:rPr lang="en-US" dirty="0"/>
              <a:t>, The Hague. </a:t>
            </a:r>
          </a:p>
        </p:txBody>
      </p:sp>
      <p:pic>
        <p:nvPicPr>
          <p:cNvPr id="2" name="Picture 1" descr="A farm and fields sit below the viewer, in the foreground, under a vast painting of a cloudy sky. A gothic church stands at the horizon, still in the lower third of the image, with hints of color suggesting the town surrounding it."/>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
          <p:cNvSpPr>
            <a:spLocks noGrp="1"/>
          </p:cNvSpPr>
          <p:nvPr>
            <p:ph type="title"/>
          </p:nvPr>
        </p:nvSpPr>
        <p:spPr/>
        <p:txBody>
          <a:bodyPr/>
          <a:lstStyle/>
          <a:p>
            <a:r>
              <a:rPr lang="en-US"/>
              <a:t>The Dutch Republic (1 of 2)</a:t>
            </a:r>
          </a:p>
        </p:txBody>
      </p:sp>
      <p:sp>
        <p:nvSpPr>
          <p:cNvPr id="164866" name="Content Placeholder 2"/>
          <p:cNvSpPr>
            <a:spLocks noGrp="1"/>
          </p:cNvSpPr>
          <p:nvPr>
            <p:ph idx="1"/>
          </p:nvPr>
        </p:nvSpPr>
        <p:spPr/>
        <p:txBody>
          <a:bodyPr/>
          <a:lstStyle/>
          <a:p>
            <a:r>
              <a:rPr lang="en-US"/>
              <a:t>Landscape and Still Life</a:t>
            </a:r>
          </a:p>
          <a:p>
            <a:pPr lvl="1"/>
            <a:r>
              <a:rPr lang="en-US"/>
              <a:t>Pieter Claesz, like Clara Peeters, painted </a:t>
            </a:r>
            <a:r>
              <a:rPr lang="ru-RU"/>
              <a:t>"</a:t>
            </a:r>
            <a:r>
              <a:rPr lang="en-US"/>
              <a:t>breakfast pieces</a:t>
            </a:r>
            <a:r>
              <a:rPr lang="ru-RU"/>
              <a:t>"</a:t>
            </a:r>
            <a:r>
              <a:rPr lang="en-US"/>
              <a:t> with nearly monochromatic colors.</a:t>
            </a:r>
          </a:p>
          <a:p>
            <a:pPr lvl="2"/>
            <a:r>
              <a:rPr lang="en-US"/>
              <a:t>Claesz gives the objects a strong sense of space and lifelikeness.</a:t>
            </a:r>
          </a:p>
          <a:p>
            <a:pPr lvl="2"/>
            <a:r>
              <a:rPr lang="en-US"/>
              <a:t>Contrast of textures and materials, such as the plainness of the food but the richness of the silver </a:t>
            </a:r>
            <a:r>
              <a:rPr lang="en-US" i="1"/>
              <a:t>tazza</a:t>
            </a:r>
            <a:r>
              <a:rPr lang="en-US"/>
              <a:t>, mark his mastery of the work.</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3"/>
          <p:cNvSpPr>
            <a:spLocks noGrp="1"/>
          </p:cNvSpPr>
          <p:nvPr>
            <p:ph type="title"/>
          </p:nvPr>
        </p:nvSpPr>
        <p:spPr/>
        <p:txBody>
          <a:bodyPr>
            <a:normAutofit fontScale="90000"/>
          </a:bodyPr>
          <a:lstStyle/>
          <a:p>
            <a:r>
              <a:rPr lang="en-US" dirty="0"/>
              <a:t>Pieter </a:t>
            </a:r>
            <a:r>
              <a:rPr lang="en-US" dirty="0" err="1"/>
              <a:t>Claesz</a:t>
            </a:r>
            <a:r>
              <a:rPr lang="en-US" dirty="0"/>
              <a:t> STILL LIFE WITH TAZZA</a:t>
            </a:r>
            <a:br>
              <a:rPr lang="en-US" dirty="0"/>
            </a:br>
            <a:r>
              <a:rPr lang="en-US" dirty="0"/>
              <a:t>1636. Oil on panel, 17-3/8</a:t>
            </a:r>
            <a:r>
              <a:rPr lang="ru-RU" dirty="0"/>
              <a:t>"</a:t>
            </a:r>
            <a:r>
              <a:rPr lang="en-US" dirty="0"/>
              <a:t> × 24</a:t>
            </a:r>
            <a:r>
              <a:rPr lang="ru-RU" dirty="0"/>
              <a:t>"</a:t>
            </a:r>
            <a:r>
              <a:rPr lang="en-US" dirty="0"/>
              <a:t> (44 × 61 cm).</a:t>
            </a:r>
            <a:br>
              <a:rPr lang="en-US" dirty="0"/>
            </a:br>
            <a:r>
              <a:rPr lang="en-US" dirty="0"/>
              <a:t>Royal Cabinet of Paintings </a:t>
            </a:r>
            <a:r>
              <a:rPr lang="en-US" dirty="0" err="1"/>
              <a:t>Mauritshuis</a:t>
            </a:r>
            <a:r>
              <a:rPr lang="en-US" dirty="0"/>
              <a:t>, The Hague. </a:t>
            </a:r>
          </a:p>
        </p:txBody>
      </p:sp>
      <p:pic>
        <p:nvPicPr>
          <p:cNvPr id="2" name="Picture 1" descr="Two silver plates sit on a table with a loaf of bread, a half-filled glass of water, and an intricately decorated silver goblet that has tipped over and now rests on a closed book.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
          <p:cNvSpPr>
            <a:spLocks noGrp="1"/>
          </p:cNvSpPr>
          <p:nvPr>
            <p:ph type="title"/>
          </p:nvPr>
        </p:nvSpPr>
        <p:spPr/>
        <p:txBody>
          <a:bodyPr/>
          <a:lstStyle/>
          <a:p>
            <a:r>
              <a:rPr lang="en-US"/>
              <a:t>The Dutch Republic (2 of 2)</a:t>
            </a:r>
          </a:p>
        </p:txBody>
      </p:sp>
      <p:sp>
        <p:nvSpPr>
          <p:cNvPr id="167938" name="Content Placeholder 2"/>
          <p:cNvSpPr>
            <a:spLocks noGrp="1"/>
          </p:cNvSpPr>
          <p:nvPr>
            <p:ph idx="1"/>
          </p:nvPr>
        </p:nvSpPr>
        <p:spPr/>
        <p:txBody>
          <a:bodyPr/>
          <a:lstStyle/>
          <a:p>
            <a:r>
              <a:rPr lang="en-US"/>
              <a:t>Landscape and Still Life</a:t>
            </a:r>
          </a:p>
          <a:p>
            <a:pPr lvl="1"/>
            <a:r>
              <a:rPr lang="en-US"/>
              <a:t>Rachel Ruysch was a sought-after flower painter in Amsterdam with a 70-year career.</a:t>
            </a:r>
          </a:p>
          <a:p>
            <a:pPr lvl="1"/>
            <a:r>
              <a:rPr lang="en-US" i="1"/>
              <a:t>Flower Still Life </a:t>
            </a:r>
            <a:r>
              <a:rPr lang="en-US"/>
              <a:t>may be a less daring work, but it is sumptuous and scientific in study.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3"/>
          <p:cNvSpPr>
            <a:spLocks noGrp="1"/>
          </p:cNvSpPr>
          <p:nvPr>
            <p:ph type="title"/>
          </p:nvPr>
        </p:nvSpPr>
        <p:spPr/>
        <p:txBody>
          <a:bodyPr>
            <a:normAutofit fontScale="90000"/>
          </a:bodyPr>
          <a:lstStyle/>
          <a:p>
            <a:r>
              <a:rPr lang="en-US" dirty="0"/>
              <a:t>Rachel </a:t>
            </a:r>
            <a:r>
              <a:rPr lang="en-US" dirty="0" err="1"/>
              <a:t>Ruysch</a:t>
            </a:r>
            <a:r>
              <a:rPr lang="en-US" dirty="0"/>
              <a:t> FLOWER STILL LIFE</a:t>
            </a:r>
            <a:br>
              <a:rPr lang="en-US" dirty="0"/>
            </a:br>
            <a:r>
              <a:rPr lang="en-US" dirty="0"/>
              <a:t>After 1700. Oil on canvas, 30</a:t>
            </a:r>
            <a:r>
              <a:rPr lang="ru-RU" dirty="0"/>
              <a:t>"</a:t>
            </a:r>
            <a:r>
              <a:rPr lang="en-US" dirty="0"/>
              <a:t> × 24</a:t>
            </a:r>
            <a:r>
              <a:rPr lang="ru-RU" dirty="0"/>
              <a:t>"</a:t>
            </a:r>
            <a:r>
              <a:rPr lang="en-US" dirty="0"/>
              <a:t> (76.2 × 61 cm).</a:t>
            </a:r>
            <a:br>
              <a:rPr lang="en-US" dirty="0"/>
            </a:br>
            <a:r>
              <a:rPr lang="en-US" dirty="0"/>
              <a:t>The Toledo Museum of Art, Ohio. Purchased with funds from the Libbey Endowment.</a:t>
            </a:r>
            <a:br>
              <a:rPr lang="en-US" dirty="0"/>
            </a:br>
            <a:r>
              <a:rPr lang="en-US" dirty="0"/>
              <a:t>Gift of Edward Drummond Libbey (1956.57). The Toledo Museum of Art, Toledo, Ohio (1956.57)</a:t>
            </a:r>
          </a:p>
        </p:txBody>
      </p:sp>
      <p:pic>
        <p:nvPicPr>
          <p:cNvPr id="2" name="Picture 1" descr="A large bouquet of diverse, colorful flowers and greenery sits in a short, round vase near the edge of a table. The room is dark, but the flowers are clearly illuminate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Title 1"/>
          <p:cNvSpPr>
            <a:spLocks noGrp="1"/>
          </p:cNvSpPr>
          <p:nvPr>
            <p:ph type="title"/>
          </p:nvPr>
        </p:nvSpPr>
        <p:spPr/>
        <p:txBody>
          <a:bodyPr/>
          <a:lstStyle/>
          <a:p>
            <a:r>
              <a:rPr lang="en-US"/>
              <a:t>Art and Its Contexts: Science and the Changing Worldview</a:t>
            </a:r>
          </a:p>
        </p:txBody>
      </p:sp>
      <p:sp>
        <p:nvSpPr>
          <p:cNvPr id="171010" name="Content Placeholder 2"/>
          <p:cNvSpPr>
            <a:spLocks noGrp="1"/>
          </p:cNvSpPr>
          <p:nvPr>
            <p:ph idx="1"/>
          </p:nvPr>
        </p:nvSpPr>
        <p:spPr/>
        <p:txBody>
          <a:bodyPr/>
          <a:lstStyle/>
          <a:p>
            <a:r>
              <a:rPr lang="en-US"/>
              <a:t>Anna Maria Sibylla Merian (1647–1717) was a researcher and artist who published </a:t>
            </a:r>
            <a:r>
              <a:rPr lang="en-US" i="1"/>
              <a:t>Metamorphosis of Insects in Surinam</a:t>
            </a:r>
            <a:r>
              <a:rPr lang="en-US"/>
              <a:t>.</a:t>
            </a:r>
          </a:p>
          <a:p>
            <a:pPr lvl="1"/>
            <a:r>
              <a:rPr lang="en-US"/>
              <a:t>Large plates were engraved after her watercolors.</a:t>
            </a:r>
          </a:p>
          <a:p>
            <a:r>
              <a:rPr lang="en-US"/>
              <a:t>Francis Bacon and René Descartes insisted on scrupulous objectivity and logical reasoning in philosophy.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itle 3"/>
          <p:cNvSpPr>
            <a:spLocks noGrp="1"/>
          </p:cNvSpPr>
          <p:nvPr>
            <p:ph type="title"/>
          </p:nvPr>
        </p:nvSpPr>
        <p:spPr/>
        <p:txBody>
          <a:bodyPr>
            <a:normAutofit fontScale="90000"/>
          </a:bodyPr>
          <a:lstStyle/>
          <a:p>
            <a:r>
              <a:rPr lang="en-US" dirty="0"/>
              <a:t>Anna Maria Sibylla </a:t>
            </a:r>
            <a:r>
              <a:rPr lang="en-US" dirty="0" err="1"/>
              <a:t>Merian</a:t>
            </a:r>
            <a:r>
              <a:rPr lang="en-US" dirty="0"/>
              <a:t> PLATE 9 FROM THE METAMORPHOSIS OF THE INSECTS OF SURINAM</a:t>
            </a:r>
            <a:br>
              <a:rPr lang="en-US" dirty="0"/>
            </a:br>
            <a:r>
              <a:rPr lang="en-US" dirty="0"/>
              <a:t>1719. Hand-colored engraving, 18-7/8</a:t>
            </a:r>
            <a:r>
              <a:rPr lang="ru-RU" dirty="0"/>
              <a:t>"</a:t>
            </a:r>
            <a:r>
              <a:rPr lang="en-US" dirty="0"/>
              <a:t> × 13</a:t>
            </a:r>
            <a:r>
              <a:rPr lang="ru-RU" dirty="0"/>
              <a:t>"</a:t>
            </a:r>
            <a:r>
              <a:rPr lang="en-US" dirty="0"/>
              <a:t> (47.9 × 33 cm). Getty Research Institute, Los Angeles (89-B10750) </a:t>
            </a:r>
          </a:p>
        </p:txBody>
      </p:sp>
      <p:pic>
        <p:nvPicPr>
          <p:cNvPr id="2" name="Picture 1" descr="Two caterpillars crawl along the branch of a fruit tree, presumably drawn by the ripe fruit that has broken open. A yellow butterfly lands on one of the branch’s red blossoms, while a blue butterfly swoops close behi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1762</TotalTime>
  <Words>3851</Words>
  <Application>Microsoft Office PowerPoint</Application>
  <PresentationFormat>On-screen Show (4:3)</PresentationFormat>
  <Paragraphs>189</Paragraphs>
  <Slides>53</Slides>
  <Notes>25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53</vt:i4>
      </vt:variant>
    </vt:vector>
  </HeadingPairs>
  <TitlesOfParts>
    <vt:vector size="58" baseType="lpstr">
      <vt:lpstr>Arial</vt:lpstr>
      <vt:lpstr>Verdana</vt:lpstr>
      <vt:lpstr>Wingdings</vt:lpstr>
      <vt:lpstr>508 Lecture</vt:lpstr>
      <vt:lpstr>Custom Design</vt:lpstr>
      <vt:lpstr>Chapter 20</vt:lpstr>
      <vt:lpstr>Learning Objectives</vt:lpstr>
      <vt:lpstr>Flanders</vt:lpstr>
      <vt:lpstr>Rubens (1 of 4)</vt:lpstr>
      <vt:lpstr>Peter Paul Rubens SELF-PORTRAIT WITH ISABELLA BRANDT 1609–1610. Oil on canvas, 5'9" × 4'5" (1.78 × 1.36 m). Alte Pinakothek, Munich. Photo © Blauel Gnamm/ARTOTHEK. </vt:lpstr>
      <vt:lpstr>Rubens (2 of 4)</vt:lpstr>
      <vt:lpstr>Peter Paul Rubens RUBENS'S HOUSE Italianate addition built 1610–1615. Looking toward the garden: house at left, studio at right; house restored and opened as a museum in 1946. From an engraving of 1684. Rijksmuseum, Amsterdam. </vt:lpstr>
      <vt:lpstr>Peter Paul Rubens THE RAISING OF THE CROSS Made for the church of St. Walpurga, Antwerp, Belgium. 1610-1611. Oil on panel, center panel 15'1-7/8" × 11'1-1/2" (4.62 × 3.39 m), each wing 15'1-7/8" × 4'11" (4.62 × 1.52 m). Now in Cathedral of Our Lady, Antwerp. Onze Lieve Vrouwkerk, Antwerp Cathedral, Belgium/Bridgeman Images. </vt:lpstr>
      <vt:lpstr>Rubens (3 of 4)</vt:lpstr>
      <vt:lpstr>Peter Paul Rubens HENRY IV RECEIVING THE PORTRAIT OF MARIE DE' MEDICI 1621–1625. Oil on canvas, 12'11-1/8" × 9'8-1/8" (3.94 × 2.95 m). Musée du Louvre, Paris. Photo © RMN-Grand Palais (Musée du Louvre)/René-Gabriel Ojéda/Thierry Le Mage. </vt:lpstr>
      <vt:lpstr>Rubens (4 of 4)</vt:lpstr>
      <vt:lpstr>A CLOSER LOOK: Prometheus Bound by Peter Paul Rubens and Frans Snyders  c. 1611–1618. Oil on canvas, 95-1/2" × 82-1/2" (2.43 × 2.1 m). Philadelphia Museum of Art. © 2016. Photo The Philadelphia Museum of Art/Art Resource/Scala, Florence. </vt:lpstr>
      <vt:lpstr>Van Dyck and Peeters: Portraits and Still Lifes (1 of 2)</vt:lpstr>
      <vt:lpstr>Anthony van Dyck CHARLES I AT THE HUNT 1635. Oil on canvas, 8'11" × 6'11" (2.75 × 2.14 m). Musée du Louvre, Paris. Photo © Photo RMN (Musee du Louvre, Paris). </vt:lpstr>
      <vt:lpstr>Van Dyck and Peeters: Portraits and Still Lifes (2 of 2)</vt:lpstr>
      <vt:lpstr>Clara Peeters STILL LIFE WITH FLOWERS, GOBLET, DRIED FRUIT, AND PRETZELS 1611. Oil on panel, 20-1/2" × 28-3/4" (52 × 73 cm). Museo del Prado, Madrid. © 2016. Image Copyright Museo Nacional del Prado. © Photo MNP/Scala, Florence. </vt:lpstr>
      <vt:lpstr>The Dutch Republic</vt:lpstr>
      <vt:lpstr>Painting (1 of 14)</vt:lpstr>
      <vt:lpstr>Hendrick ter Brugghen ST. SEBASTIAN TENDED BY ST. IRENE 1625. Oil on canvas, 58-15/16" × 47-1/2" (149.6 × 120 cm). Allen Memorial Art Museum, Oberlin College, Ohio. R.T. Miller Jr. Fund (1953.256). Bridgeman Images. </vt:lpstr>
      <vt:lpstr>Painting (2 of 14)</vt:lpstr>
      <vt:lpstr>Frans Hals OFFICERS OF THE HAARLEM MILITIA COMPANY OF ST. ADRIAN c. 1627. Oil on canvas, 6' × 8'8" (1.83 × 2.67 m). Frans Halsmuseum, Haarlem. Photo: © Margareta Svensson.</vt:lpstr>
      <vt:lpstr>Painting (3 of 14)</vt:lpstr>
      <vt:lpstr>Frans Hals MALLE BABBE c. 1630–1633. Oil on canvas, 30-7/8" × 26" (78.5 × 66.2 cm). Staatliche Museen, Berlin. © 2016. Photo Scala, Florence/bpk, Bildagentur für Kunst, Kultur und Geschichte, Berlin. </vt:lpstr>
      <vt:lpstr>Painting (4 of 14)</vt:lpstr>
      <vt:lpstr>Judith Leyster SELF-PORTRAIT 1635. Oil on canvas, 29-3/8" × 25-5/8" (74.6 × 65.1 cm). National Gallery of Art, Washington, DC. Gift of Mr. and Mrs. Robert Woods Bliss (1949.6.4). Image courtesy the National Gallery of Art, Washington. </vt:lpstr>
      <vt:lpstr>Painting (5 of 14)</vt:lpstr>
      <vt:lpstr>Rembrandt van Rijn THE ANATOMY LESSON OF DR. NICOLAES TULP 1632. Oil on canvas, 5'3-3/4" × 7'1-1/4" (1.6 × 2.1 m). Mauritshuis, The Hague. © 2016. Photo Scala, Florence. </vt:lpstr>
      <vt:lpstr>Painting (6 of 14)</vt:lpstr>
      <vt:lpstr>Rembrandt van Rijn THE COMPANY OF CAPTAIN FRANS BANNING COCQ (THE NIGHT WATCH) 1642. Oil on canvas, 11'11" × 14'4" (3.63 × 4.37 m) (cut down from the original size). Rijksmuseum, Amsterdam.</vt:lpstr>
      <vt:lpstr>Technique: Etching and Drypoint</vt:lpstr>
      <vt:lpstr>Painting (7 of 14)</vt:lpstr>
      <vt:lpstr>Rembrandt van Rijn THREE CROSSES (FIRST STATE) 1653. Drypoint, 15-1/6" × 17-3/4" (38.5 × 45 cm). Rijksmuseum, Amsterdam. </vt:lpstr>
      <vt:lpstr>Rembrandt van Rijn THREE CROSSES (FOURTH STATE) 1653. Drypoint, 15-1/6" × 17-3/4" (38.5 × 45 cm). Rijksmuseum, Amsterdam. </vt:lpstr>
      <vt:lpstr>Painting (8 of 14)</vt:lpstr>
      <vt:lpstr>Rembrandt van Rijn SELF-PORTRAIT 1658. Oil on canvas, 52-5/8" × 40-7/8" (133.6 × 103.8 cm). The Frick Collection, New York. Henry Clay Frick Bequest. (1906.1.97).  Photo: Michael Bodycomb.</vt:lpstr>
      <vt:lpstr>Painting (9 of 14)</vt:lpstr>
      <vt:lpstr>Johannes Vermeer VIEW OF DELFT c. 1662. Oil on canvas, 38-1/2" × 46-1/4" (97.8 × 117.5 cm). Royal Picture Gallery, Mauritshuis, The Hague. </vt:lpstr>
      <vt:lpstr>Painting (10 of 14)</vt:lpstr>
      <vt:lpstr>Johannes Vermeer WOMAN HOLDING A BALANCE c. 1664. Oil on canvas, 15-5/8" × 14" (39.7 × 35.5 cm). National Gallery of Art, Washington, DC. Widener Collection (1942.9.97). Image courtesy the National Gallery of Art, Washington. </vt:lpstr>
      <vt:lpstr>Painting (11 of 14)</vt:lpstr>
      <vt:lpstr>Gerard ter Borch THE SUITOR'S VISIT c. 1658. Oil on canvas, 32-1/2" × 29-5/8" (82.6 × 75.3 cm). National Gallery of Art, Washington, DC. Andrew W. Mellon Collection. Image courtesy the National Gallery of Art, Washington. </vt:lpstr>
      <vt:lpstr>Painting (12 of 14)</vt:lpstr>
      <vt:lpstr>Jan Steen THE FEAST OF ST. NICHOLAS c. 1660–1665. Oil on canvas, 32-1/4" × 27-3/4" (82 × 70.5 cm). Rijksmuseum, Amsterdam. </vt:lpstr>
      <vt:lpstr>Painting (13 of 14)</vt:lpstr>
      <vt:lpstr>Emanuel de Witte PORTUGUESE SYNAGOGUE, AMSTERDAM 1680. Oil on canvas, 43-1/2" × 39" (110.5 × 99.1 cm). Rijksmuseum, Amsterdam. </vt:lpstr>
      <vt:lpstr>Painting (14 of 14)</vt:lpstr>
      <vt:lpstr>Jacob van Ruisdael VIEW OF HAARLEM FROM THE DUNES AT OVERVEEN c. 1670. Oil on canvas, 22" × 24-1/4" (55.8 × 62.8 cm). Royal Picture Gallery, Mauritshuis, The Hague. </vt:lpstr>
      <vt:lpstr>The Dutch Republic (1 of 2)</vt:lpstr>
      <vt:lpstr>Pieter Claesz STILL LIFE WITH TAZZA 1636. Oil on panel, 17-3/8" × 24" (44 × 61 cm). Royal Cabinet of Paintings Mauritshuis, The Hague. </vt:lpstr>
      <vt:lpstr>The Dutch Republic (2 of 2)</vt:lpstr>
      <vt:lpstr>Rachel Ruysch FLOWER STILL LIFE After 1700. Oil on canvas, 30" × 24" (76.2 × 61 cm). The Toledo Museum of Art, Ohio. Purchased with funds from the Libbey Endowment. Gift of Edward Drummond Libbey (1956.57). The Toledo Museum of Art, Toledo, Ohio (1956.57)</vt:lpstr>
      <vt:lpstr>Art and Its Contexts: Science and the Changing Worldview</vt:lpstr>
      <vt:lpstr>Anna Maria Sibylla Merian PLATE 9 FROM THE METAMORPHOSIS OF THE INSECTS OF SURINAM 1719. Hand-colored engraving, 18-7/8" × 13" (47.9 × 33 cm). Getty Research Institute, Los Angeles (89-B10750) </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212</cp:revision>
  <dcterms:created xsi:type="dcterms:W3CDTF">2016-12-02T18:28:54Z</dcterms:created>
  <dcterms:modified xsi:type="dcterms:W3CDTF">2020-06-19T21:09:05Z</dcterms:modified>
</cp:coreProperties>
</file>