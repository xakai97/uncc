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9"/>
  </p:notesMasterIdLst>
  <p:handoutMasterIdLst>
    <p:handoutMasterId r:id="rId80"/>
  </p:handoutMasterIdLst>
  <p:sldIdLst>
    <p:sldId id="653" r:id="rId3"/>
    <p:sldId id="507" r:id="rId4"/>
    <p:sldId id="588" r:id="rId5"/>
    <p:sldId id="589" r:id="rId6"/>
    <p:sldId id="591" r:id="rId7"/>
    <p:sldId id="592" r:id="rId8"/>
    <p:sldId id="593" r:id="rId9"/>
    <p:sldId id="594" r:id="rId10"/>
    <p:sldId id="595" r:id="rId11"/>
    <p:sldId id="596" r:id="rId12"/>
    <p:sldId id="597" r:id="rId13"/>
    <p:sldId id="598" r:id="rId14"/>
    <p:sldId id="599" r:id="rId15"/>
    <p:sldId id="600" r:id="rId16"/>
    <p:sldId id="601" r:id="rId17"/>
    <p:sldId id="602" r:id="rId18"/>
    <p:sldId id="603" r:id="rId19"/>
    <p:sldId id="604" r:id="rId20"/>
    <p:sldId id="605" r:id="rId21"/>
    <p:sldId id="606" r:id="rId22"/>
    <p:sldId id="607" r:id="rId23"/>
    <p:sldId id="608" r:id="rId24"/>
    <p:sldId id="609" r:id="rId25"/>
    <p:sldId id="610" r:id="rId26"/>
    <p:sldId id="611" r:id="rId27"/>
    <p:sldId id="612" r:id="rId28"/>
    <p:sldId id="613" r:id="rId29"/>
    <p:sldId id="614" r:id="rId30"/>
    <p:sldId id="615" r:id="rId31"/>
    <p:sldId id="616" r:id="rId32"/>
    <p:sldId id="617" r:id="rId33"/>
    <p:sldId id="618" r:id="rId34"/>
    <p:sldId id="619" r:id="rId35"/>
    <p:sldId id="620" r:id="rId36"/>
    <p:sldId id="621" r:id="rId37"/>
    <p:sldId id="622" r:id="rId38"/>
    <p:sldId id="623" r:id="rId39"/>
    <p:sldId id="624" r:id="rId40"/>
    <p:sldId id="625" r:id="rId41"/>
    <p:sldId id="626" r:id="rId42"/>
    <p:sldId id="627" r:id="rId43"/>
    <p:sldId id="628" r:id="rId44"/>
    <p:sldId id="629" r:id="rId45"/>
    <p:sldId id="630" r:id="rId46"/>
    <p:sldId id="631" r:id="rId47"/>
    <p:sldId id="632" r:id="rId48"/>
    <p:sldId id="633" r:id="rId49"/>
    <p:sldId id="634" r:id="rId50"/>
    <p:sldId id="635" r:id="rId51"/>
    <p:sldId id="636" r:id="rId52"/>
    <p:sldId id="637" r:id="rId53"/>
    <p:sldId id="638" r:id="rId54"/>
    <p:sldId id="639" r:id="rId55"/>
    <p:sldId id="640" r:id="rId56"/>
    <p:sldId id="641" r:id="rId57"/>
    <p:sldId id="642" r:id="rId58"/>
    <p:sldId id="643" r:id="rId59"/>
    <p:sldId id="644" r:id="rId60"/>
    <p:sldId id="645" r:id="rId61"/>
    <p:sldId id="646" r:id="rId62"/>
    <p:sldId id="647" r:id="rId63"/>
    <p:sldId id="648" r:id="rId64"/>
    <p:sldId id="649" r:id="rId65"/>
    <p:sldId id="526" r:id="rId66"/>
    <p:sldId id="527" r:id="rId67"/>
    <p:sldId id="528" r:id="rId68"/>
    <p:sldId id="529" r:id="rId69"/>
    <p:sldId id="530" r:id="rId70"/>
    <p:sldId id="531" r:id="rId71"/>
    <p:sldId id="532" r:id="rId72"/>
    <p:sldId id="533" r:id="rId73"/>
    <p:sldId id="534" r:id="rId74"/>
    <p:sldId id="535" r:id="rId75"/>
    <p:sldId id="536" r:id="rId76"/>
    <p:sldId id="537" r:id="rId77"/>
    <p:sldId id="538"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5" autoAdjust="0"/>
    <p:restoredTop sz="86524" autoAdjust="0"/>
  </p:normalViewPr>
  <p:slideViewPr>
    <p:cSldViewPr>
      <p:cViewPr varScale="1">
        <p:scale>
          <a:sx n="89" d="100"/>
          <a:sy n="89" d="100"/>
        </p:scale>
        <p:origin x="1182" y="66"/>
      </p:cViewPr>
      <p:guideLst>
        <p:guide orient="horz" pos="2160"/>
        <p:guide pos="2880"/>
      </p:guideLst>
    </p:cSldViewPr>
  </p:slideViewPr>
  <p:outlineViewPr>
    <p:cViewPr>
      <p:scale>
        <a:sx n="33" d="100"/>
        <a:sy n="33" d="100"/>
      </p:scale>
      <p:origin x="0" y="-82656"/>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6/22/2020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6/22/2020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6" name="Notes Placeholder 2"/>
          <p:cNvSpPr>
            <a:spLocks noGrp="1"/>
          </p:cNvSpPr>
          <p:nvPr>
            <p:ph type="body" idx="1"/>
          </p:nvPr>
        </p:nvSpPr>
        <p:spPr bwMode="auto">
          <a:noFill/>
        </p:spPr>
        <p:txBody>
          <a:bodyPr/>
          <a:lstStyle/>
          <a:p>
            <a:pPr>
              <a:spcBef>
                <a:spcPct val="0"/>
              </a:spcBef>
            </a:pPr>
            <a:r>
              <a:rPr lang="en-US" dirty="0"/>
              <a:t>Edgar Degas THE REHEARSAL ON STAGE</a:t>
            </a:r>
            <a:br>
              <a:rPr lang="en-US" dirty="0"/>
            </a:br>
            <a:r>
              <a:rPr lang="en-US" dirty="0"/>
              <a:t>c. 1874. Pastel over brush-and-ink drawing on thin, cream-colored wove paper, laid on </a:t>
            </a:r>
            <a:r>
              <a:rPr lang="en-US" dirty="0" err="1"/>
              <a:t>bristol</a:t>
            </a:r>
            <a:r>
              <a:rPr lang="en-US" dirty="0"/>
              <a:t> board, mounted on canvas, 21-3/8</a:t>
            </a:r>
            <a:r>
              <a:rPr lang="ru-RU" dirty="0"/>
              <a:t>"</a:t>
            </a:r>
            <a:r>
              <a:rPr lang="en-US" dirty="0"/>
              <a:t> × 28-3/4</a:t>
            </a:r>
            <a:r>
              <a:rPr lang="ru-RU" dirty="0"/>
              <a:t>"</a:t>
            </a:r>
            <a:r>
              <a:rPr lang="en-US" dirty="0"/>
              <a:t> (54.3 × 73 cm).</a:t>
            </a:r>
            <a:br>
              <a:rPr lang="en-US" dirty="0"/>
            </a:br>
            <a:r>
              <a:rPr lang="en-US" dirty="0"/>
              <a:t>Metropolitan Museum of Art, New York. Bequest of Mrs. H. O. </a:t>
            </a:r>
            <a:r>
              <a:rPr lang="en-US" dirty="0" err="1"/>
              <a:t>Havemeyer</a:t>
            </a:r>
            <a:r>
              <a:rPr lang="en-US" dirty="0"/>
              <a:t> Collection, Gift of Horace </a:t>
            </a:r>
            <a:r>
              <a:rPr lang="en-US" dirty="0" err="1"/>
              <a:t>Havemeyer</a:t>
            </a:r>
            <a:r>
              <a:rPr lang="en-US" dirty="0"/>
              <a:t>, 1929 (29.160.26). © 2016. Image copyright The Metropolitan Museum of Art/Art Resource, NY/Scala, Florence.</a:t>
            </a:r>
          </a:p>
        </p:txBody>
      </p:sp>
      <p:sp>
        <p:nvSpPr>
          <p:cNvPr id="129027" name="Slide Number Placeholder 3"/>
          <p:cNvSpPr>
            <a:spLocks noGrp="1"/>
          </p:cNvSpPr>
          <p:nvPr>
            <p:ph type="sldNum" sz="quarter" idx="5"/>
          </p:nvPr>
        </p:nvSpPr>
        <p:spPr bwMode="auto">
          <a:noFill/>
          <a:ln>
            <a:miter lim="800000"/>
            <a:headEnd/>
            <a:tailEnd/>
          </a:ln>
        </p:spPr>
        <p:txBody>
          <a:bodyPr/>
          <a:lstStyle/>
          <a:p>
            <a:fld id="{E5E161CA-81EC-6440-B984-120DF1AD46B5}" type="slidenum">
              <a:rPr lang="en-US"/>
              <a:pPr/>
              <a:t>4</a:t>
            </a:fld>
            <a:endParaRPr lang="en-US"/>
          </a:p>
        </p:txBody>
      </p:sp>
    </p:spTree>
    <p:extLst>
      <p:ext uri="{BB962C8B-B14F-4D97-AF65-F5344CB8AC3E}">
        <p14:creationId xmlns:p14="http://schemas.microsoft.com/office/powerpoint/2010/main" val="203723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bwMode="auto">
          <a:noFill/>
          <a:ln>
            <a:solidFill>
              <a:srgbClr val="000000"/>
            </a:solidFill>
            <a:miter lim="800000"/>
            <a:headEnd/>
            <a:tailEnd/>
          </a:ln>
        </p:spPr>
      </p:sp>
      <p:sp>
        <p:nvSpPr>
          <p:cNvPr id="132098" name="Notes Placeholder 2"/>
          <p:cNvSpPr>
            <a:spLocks noGrp="1"/>
          </p:cNvSpPr>
          <p:nvPr>
            <p:ph type="body" idx="1"/>
          </p:nvPr>
        </p:nvSpPr>
        <p:spPr bwMode="auto">
          <a:noFill/>
        </p:spPr>
        <p:txBody>
          <a:bodyPr/>
          <a:lstStyle/>
          <a:p>
            <a:pPr>
              <a:spcBef>
                <a:spcPct val="0"/>
              </a:spcBef>
            </a:pPr>
            <a:r>
              <a:rPr lang="en-US" dirty="0"/>
              <a:t>Edgar Degas THE TUB</a:t>
            </a:r>
            <a:br>
              <a:rPr lang="en-US" dirty="0"/>
            </a:br>
            <a:r>
              <a:rPr lang="en-US" dirty="0"/>
              <a:t>1886. Pastel on cardboard, 23-5/8</a:t>
            </a:r>
            <a:r>
              <a:rPr lang="ru-RU" dirty="0"/>
              <a:t>"</a:t>
            </a:r>
            <a:r>
              <a:rPr lang="en-US" dirty="0"/>
              <a:t> × 32-5/8</a:t>
            </a:r>
            <a:r>
              <a:rPr lang="ru-RU" dirty="0"/>
              <a:t>"</a:t>
            </a:r>
            <a:r>
              <a:rPr lang="en-US" dirty="0"/>
              <a:t> (60 × 83 cm).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 </a:t>
            </a:r>
          </a:p>
        </p:txBody>
      </p:sp>
      <p:sp>
        <p:nvSpPr>
          <p:cNvPr id="132099" name="Slide Number Placeholder 3"/>
          <p:cNvSpPr>
            <a:spLocks noGrp="1"/>
          </p:cNvSpPr>
          <p:nvPr>
            <p:ph type="sldNum" sz="quarter" idx="5"/>
          </p:nvPr>
        </p:nvSpPr>
        <p:spPr bwMode="auto">
          <a:noFill/>
          <a:ln>
            <a:miter lim="800000"/>
            <a:headEnd/>
            <a:tailEnd/>
          </a:ln>
        </p:spPr>
        <p:txBody>
          <a:bodyPr/>
          <a:lstStyle/>
          <a:p>
            <a:fld id="{A49099D7-22F4-7246-AF6F-0115371F1B6F}" type="slidenum">
              <a:rPr lang="en-US"/>
              <a:pPr/>
              <a:t>5</a:t>
            </a:fld>
            <a:endParaRPr lang="en-US"/>
          </a:p>
        </p:txBody>
      </p:sp>
    </p:spTree>
    <p:extLst>
      <p:ext uri="{BB962C8B-B14F-4D97-AF65-F5344CB8AC3E}">
        <p14:creationId xmlns:p14="http://schemas.microsoft.com/office/powerpoint/2010/main" val="889426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Slide Image Placeholder 1"/>
          <p:cNvSpPr>
            <a:spLocks noGrp="1" noRot="1" noChangeAspect="1" noTextEdit="1"/>
          </p:cNvSpPr>
          <p:nvPr>
            <p:ph type="sldImg"/>
          </p:nvPr>
        </p:nvSpPr>
        <p:spPr bwMode="auto">
          <a:noFill/>
          <a:ln>
            <a:solidFill>
              <a:srgbClr val="000000"/>
            </a:solidFill>
            <a:miter lim="800000"/>
            <a:headEnd/>
            <a:tailEnd/>
          </a:ln>
        </p:spPr>
      </p:sp>
      <p:sp>
        <p:nvSpPr>
          <p:cNvPr id="135170"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Mary Cassatt MOTHER AND CHILD</a:t>
            </a:r>
            <a:br>
              <a:rPr lang="en-US" dirty="0">
                <a:solidFill>
                  <a:schemeClr val="bg1"/>
                </a:solidFill>
                <a:latin typeface="Verdana" charset="0"/>
              </a:rPr>
            </a:br>
            <a:r>
              <a:rPr lang="en-US" dirty="0">
                <a:solidFill>
                  <a:schemeClr val="bg1"/>
                </a:solidFill>
                <a:latin typeface="Verdana" charset="0"/>
              </a:rPr>
              <a:t>c. 1890. Oil on canvas, 35-1/2</a:t>
            </a:r>
            <a:r>
              <a:rPr lang="ru-RU" dirty="0">
                <a:solidFill>
                  <a:schemeClr val="bg1"/>
                </a:solidFill>
                <a:latin typeface="Verdana" charset="0"/>
              </a:rPr>
              <a:t>"</a:t>
            </a:r>
            <a:r>
              <a:rPr lang="en-US" dirty="0">
                <a:solidFill>
                  <a:schemeClr val="bg1"/>
                </a:solidFill>
                <a:latin typeface="Verdana" charset="0"/>
              </a:rPr>
              <a:t> × 25-3/8</a:t>
            </a:r>
            <a:r>
              <a:rPr lang="ru-RU" dirty="0">
                <a:solidFill>
                  <a:schemeClr val="bg1"/>
                </a:solidFill>
                <a:latin typeface="Verdana" charset="0"/>
              </a:rPr>
              <a:t>"</a:t>
            </a:r>
            <a:r>
              <a:rPr lang="en-US" dirty="0">
                <a:solidFill>
                  <a:schemeClr val="bg1"/>
                </a:solidFill>
                <a:latin typeface="Verdana" charset="0"/>
              </a:rPr>
              <a:t> (90.2 × 64.5 cm).</a:t>
            </a:r>
            <a:br>
              <a:rPr lang="en-US" dirty="0">
                <a:solidFill>
                  <a:schemeClr val="bg1"/>
                </a:solidFill>
                <a:latin typeface="Verdana" charset="0"/>
              </a:rPr>
            </a:br>
            <a:r>
              <a:rPr lang="en-US" dirty="0">
                <a:solidFill>
                  <a:schemeClr val="bg1"/>
                </a:solidFill>
                <a:latin typeface="Verdana" charset="0"/>
              </a:rPr>
              <a:t>Wichita Art Museum, Kansas.</a:t>
            </a:r>
            <a:endParaRPr lang="en-US" dirty="0"/>
          </a:p>
        </p:txBody>
      </p:sp>
      <p:sp>
        <p:nvSpPr>
          <p:cNvPr id="135171" name="Slide Number Placeholder 3"/>
          <p:cNvSpPr>
            <a:spLocks noGrp="1"/>
          </p:cNvSpPr>
          <p:nvPr>
            <p:ph type="sldNum" sz="quarter" idx="5"/>
          </p:nvPr>
        </p:nvSpPr>
        <p:spPr bwMode="auto">
          <a:noFill/>
          <a:ln>
            <a:miter lim="800000"/>
            <a:headEnd/>
            <a:tailEnd/>
          </a:ln>
        </p:spPr>
        <p:txBody>
          <a:bodyPr/>
          <a:lstStyle/>
          <a:p>
            <a:fld id="{936A3FCC-AE5B-E645-94E9-A42D23E1B4F0}" type="slidenum">
              <a:rPr lang="en-US"/>
              <a:pPr/>
              <a:t>7</a:t>
            </a:fld>
            <a:endParaRPr lang="en-US"/>
          </a:p>
        </p:txBody>
      </p:sp>
    </p:spTree>
    <p:extLst>
      <p:ext uri="{BB962C8B-B14F-4D97-AF65-F5344CB8AC3E}">
        <p14:creationId xmlns:p14="http://schemas.microsoft.com/office/powerpoint/2010/main" val="2112380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bwMode="auto">
          <a:noFill/>
          <a:ln>
            <a:solidFill>
              <a:srgbClr val="000000"/>
            </a:solidFill>
            <a:miter lim="800000"/>
            <a:headEnd/>
            <a:tailEnd/>
          </a:ln>
        </p:spPr>
      </p:sp>
      <p:sp>
        <p:nvSpPr>
          <p:cNvPr id="138242" name="Notes Placeholder 2"/>
          <p:cNvSpPr>
            <a:spLocks noGrp="1"/>
          </p:cNvSpPr>
          <p:nvPr>
            <p:ph type="body" idx="1"/>
          </p:nvPr>
        </p:nvSpPr>
        <p:spPr bwMode="auto">
          <a:noFill/>
        </p:spPr>
        <p:txBody>
          <a:bodyPr/>
          <a:lstStyle/>
          <a:p>
            <a:pPr>
              <a:spcBef>
                <a:spcPct val="0"/>
              </a:spcBef>
            </a:pPr>
            <a:r>
              <a:rPr lang="en-US" dirty="0">
                <a:latin typeface="Verdana" charset="0"/>
              </a:rPr>
              <a:t>Gustave Caillebotte PARIS STREET, RAINY DAY</a:t>
            </a:r>
            <a:br>
              <a:rPr lang="en-US" dirty="0">
                <a:latin typeface="Verdana" charset="0"/>
              </a:rPr>
            </a:br>
            <a:r>
              <a:rPr lang="en-US" dirty="0">
                <a:latin typeface="Verdana" charset="0"/>
              </a:rPr>
              <a:t>1877. Oil on canvas, 83-1/2</a:t>
            </a:r>
            <a:r>
              <a:rPr lang="ru-RU" dirty="0">
                <a:latin typeface="Verdana" charset="0"/>
              </a:rPr>
              <a:t>"</a:t>
            </a:r>
            <a:r>
              <a:rPr lang="en-US" dirty="0">
                <a:latin typeface="Verdana" charset="0"/>
              </a:rPr>
              <a:t> × 108-3/4</a:t>
            </a:r>
            <a:r>
              <a:rPr lang="ru-RU" dirty="0">
                <a:latin typeface="Verdana" charset="0"/>
              </a:rPr>
              <a:t>"</a:t>
            </a:r>
            <a:r>
              <a:rPr lang="en-US" dirty="0">
                <a:latin typeface="Verdana" charset="0"/>
              </a:rPr>
              <a:t> (212.2 × 276.2 cm).</a:t>
            </a:r>
            <a:br>
              <a:rPr lang="en-US" dirty="0">
                <a:latin typeface="Verdana" charset="0"/>
              </a:rPr>
            </a:br>
            <a:r>
              <a:rPr lang="en-US" dirty="0">
                <a:latin typeface="Verdana" charset="0"/>
              </a:rPr>
              <a:t>The Art Institute of Chicago. Charles H. and Mary F.S. Worcester Collection (1964.336). Photo © The Art Institute of Chicago.</a:t>
            </a:r>
            <a:endParaRPr lang="en-US" dirty="0"/>
          </a:p>
        </p:txBody>
      </p:sp>
      <p:sp>
        <p:nvSpPr>
          <p:cNvPr id="138243" name="Slide Number Placeholder 3"/>
          <p:cNvSpPr>
            <a:spLocks noGrp="1"/>
          </p:cNvSpPr>
          <p:nvPr>
            <p:ph type="sldNum" sz="quarter" idx="5"/>
          </p:nvPr>
        </p:nvSpPr>
        <p:spPr bwMode="auto">
          <a:noFill/>
          <a:ln>
            <a:miter lim="800000"/>
            <a:headEnd/>
            <a:tailEnd/>
          </a:ln>
        </p:spPr>
        <p:txBody>
          <a:bodyPr/>
          <a:lstStyle/>
          <a:p>
            <a:fld id="{73124249-1823-864E-AEFE-3C84C94ED28C}" type="slidenum">
              <a:rPr lang="en-US"/>
              <a:pPr/>
              <a:t>9</a:t>
            </a:fld>
            <a:endParaRPr lang="en-US"/>
          </a:p>
        </p:txBody>
      </p:sp>
    </p:spTree>
    <p:extLst>
      <p:ext uri="{BB962C8B-B14F-4D97-AF65-F5344CB8AC3E}">
        <p14:creationId xmlns:p14="http://schemas.microsoft.com/office/powerpoint/2010/main" val="581982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Slide Image Placeholder 1"/>
          <p:cNvSpPr>
            <a:spLocks noGrp="1" noRot="1" noChangeAspect="1" noTextEdit="1"/>
          </p:cNvSpPr>
          <p:nvPr>
            <p:ph type="sldImg"/>
          </p:nvPr>
        </p:nvSpPr>
        <p:spPr bwMode="auto">
          <a:noFill/>
          <a:ln>
            <a:solidFill>
              <a:srgbClr val="000000"/>
            </a:solidFill>
            <a:miter lim="800000"/>
            <a:headEnd/>
            <a:tailEnd/>
          </a:ln>
        </p:spPr>
      </p:sp>
      <p:sp>
        <p:nvSpPr>
          <p:cNvPr id="224258" name="Notes Placeholder 2"/>
          <p:cNvSpPr>
            <a:spLocks noGrp="1"/>
          </p:cNvSpPr>
          <p:nvPr>
            <p:ph type="body" idx="1"/>
          </p:nvPr>
        </p:nvSpPr>
        <p:spPr bwMode="auto">
          <a:noFill/>
        </p:spPr>
        <p:txBody>
          <a:bodyPr/>
          <a:lstStyle/>
          <a:p>
            <a:r>
              <a:rPr lang="en-US" dirty="0"/>
              <a:t>Suzuki </a:t>
            </a:r>
            <a:r>
              <a:rPr lang="en-US" dirty="0" err="1"/>
              <a:t>Harunobu</a:t>
            </a:r>
            <a:r>
              <a:rPr lang="en-US" dirty="0"/>
              <a:t> YOUNG WOMAN LOOKING AT A POT OF PINKS</a:t>
            </a:r>
            <a:br>
              <a:rPr lang="en-US" dirty="0"/>
            </a:br>
            <a:r>
              <a:rPr lang="en-US" dirty="0"/>
              <a:t>c. 1767. Woodblock print, 10-5⁄8 × 7-1⁄2″ (27 × 19.2 cm).</a:t>
            </a:r>
            <a:br>
              <a:rPr lang="en-US" dirty="0"/>
            </a:br>
            <a:r>
              <a:rPr lang="en-US" dirty="0"/>
              <a:t>The Cleveland Museum of Art. Bridgeman Images. </a:t>
            </a:r>
          </a:p>
        </p:txBody>
      </p:sp>
      <p:sp>
        <p:nvSpPr>
          <p:cNvPr id="224259" name="Slide Number Placeholder 3"/>
          <p:cNvSpPr>
            <a:spLocks noGrp="1"/>
          </p:cNvSpPr>
          <p:nvPr>
            <p:ph type="sldNum" sz="quarter" idx="5"/>
          </p:nvPr>
        </p:nvSpPr>
        <p:spPr bwMode="auto">
          <a:noFill/>
          <a:ln>
            <a:miter lim="800000"/>
            <a:headEnd/>
            <a:tailEnd/>
          </a:ln>
        </p:spPr>
        <p:txBody>
          <a:bodyPr/>
          <a:lstStyle/>
          <a:p>
            <a:fld id="{8C37B45C-519C-1F4E-BE48-B23D8293590E}" type="slidenum">
              <a:rPr lang="en-US"/>
              <a:pPr/>
              <a:t>11</a:t>
            </a:fld>
            <a:endParaRPr lang="en-US"/>
          </a:p>
        </p:txBody>
      </p:sp>
    </p:spTree>
    <p:extLst>
      <p:ext uri="{BB962C8B-B14F-4D97-AF65-F5344CB8AC3E}">
        <p14:creationId xmlns:p14="http://schemas.microsoft.com/office/powerpoint/2010/main" val="174383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Slide Image Placeholder 1"/>
          <p:cNvSpPr>
            <a:spLocks noGrp="1" noRot="1" noChangeAspect="1" noTextEdit="1"/>
          </p:cNvSpPr>
          <p:nvPr>
            <p:ph type="sldImg"/>
          </p:nvPr>
        </p:nvSpPr>
        <p:spPr bwMode="auto">
          <a:noFill/>
          <a:ln>
            <a:solidFill>
              <a:srgbClr val="000000"/>
            </a:solidFill>
            <a:miter lim="800000"/>
            <a:headEnd/>
            <a:tailEnd/>
          </a:ln>
        </p:spPr>
      </p:sp>
      <p:sp>
        <p:nvSpPr>
          <p:cNvPr id="227330" name="Notes Placeholder 2"/>
          <p:cNvSpPr>
            <a:spLocks noGrp="1"/>
          </p:cNvSpPr>
          <p:nvPr>
            <p:ph type="body" idx="1"/>
          </p:nvPr>
        </p:nvSpPr>
        <p:spPr bwMode="auto">
          <a:noFill/>
        </p:spPr>
        <p:txBody>
          <a:bodyPr/>
          <a:lstStyle/>
          <a:p>
            <a:r>
              <a:rPr lang="en-US" dirty="0"/>
              <a:t>Mary Cassatt WOMAN BATHING</a:t>
            </a:r>
            <a:br>
              <a:rPr lang="en-US" dirty="0"/>
            </a:br>
            <a:r>
              <a:rPr lang="en-US" dirty="0"/>
              <a:t>1890–1891. Color </a:t>
            </a:r>
            <a:r>
              <a:rPr lang="en-US" dirty="0" err="1"/>
              <a:t>drypoint</a:t>
            </a:r>
            <a:r>
              <a:rPr lang="en-US" dirty="0"/>
              <a:t> and aquatint, 16-5⁄8</a:t>
            </a:r>
            <a:r>
              <a:rPr lang="ru-RU" dirty="0"/>
              <a:t>"</a:t>
            </a:r>
            <a:r>
              <a:rPr lang="en-US" dirty="0"/>
              <a:t> × 12″ (42.3 × 30.5 cm). National Gallery of Art, Washington, D.C., Chester Dale Collection (1963.10.253)</a:t>
            </a:r>
            <a:br>
              <a:rPr lang="en-US" dirty="0"/>
            </a:br>
            <a:r>
              <a:rPr lang="en-US" dirty="0"/>
              <a:t>Image courtesy the National Gallery of Art, Washington</a:t>
            </a:r>
          </a:p>
        </p:txBody>
      </p:sp>
      <p:sp>
        <p:nvSpPr>
          <p:cNvPr id="227331" name="Slide Number Placeholder 3"/>
          <p:cNvSpPr>
            <a:spLocks noGrp="1"/>
          </p:cNvSpPr>
          <p:nvPr>
            <p:ph type="sldNum" sz="quarter" idx="5"/>
          </p:nvPr>
        </p:nvSpPr>
        <p:spPr bwMode="auto">
          <a:noFill/>
          <a:ln>
            <a:miter lim="800000"/>
            <a:headEnd/>
            <a:tailEnd/>
          </a:ln>
        </p:spPr>
        <p:txBody>
          <a:bodyPr/>
          <a:lstStyle/>
          <a:p>
            <a:fld id="{028853D0-BFC9-D543-8D1B-010A53BE1EC8}" type="slidenum">
              <a:rPr lang="en-US"/>
              <a:pPr/>
              <a:t>13</a:t>
            </a:fld>
            <a:endParaRPr lang="en-US"/>
          </a:p>
        </p:txBody>
      </p:sp>
    </p:spTree>
    <p:extLst>
      <p:ext uri="{BB962C8B-B14F-4D97-AF65-F5344CB8AC3E}">
        <p14:creationId xmlns:p14="http://schemas.microsoft.com/office/powerpoint/2010/main" val="1951245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p:spPr>
      </p:sp>
      <p:sp>
        <p:nvSpPr>
          <p:cNvPr id="143362" name="Notes Placeholder 2"/>
          <p:cNvSpPr>
            <a:spLocks noGrp="1"/>
          </p:cNvSpPr>
          <p:nvPr>
            <p:ph type="body" idx="1"/>
          </p:nvPr>
        </p:nvSpPr>
        <p:spPr bwMode="auto">
          <a:noFill/>
        </p:spPr>
        <p:txBody>
          <a:bodyPr/>
          <a:lstStyle/>
          <a:p>
            <a:pPr>
              <a:spcBef>
                <a:spcPct val="0"/>
              </a:spcBef>
            </a:pPr>
            <a:r>
              <a:rPr lang="en-US" dirty="0"/>
              <a:t>Georges Seurat A SUNDAY AFTERNOON ON THE ISLAND OF LA GRANDE JATTE</a:t>
            </a:r>
            <a:br>
              <a:rPr lang="en-US" dirty="0"/>
            </a:br>
            <a:r>
              <a:rPr lang="en-US" dirty="0"/>
              <a:t>1884–1886. Oil on canvas, 6</a:t>
            </a:r>
            <a:r>
              <a:rPr lang="uk-UA" dirty="0"/>
              <a:t>'</a:t>
            </a:r>
            <a:r>
              <a:rPr lang="en-US" dirty="0"/>
              <a:t>9-1/2</a:t>
            </a:r>
            <a:r>
              <a:rPr lang="ru-RU" dirty="0"/>
              <a:t>"</a:t>
            </a:r>
            <a:r>
              <a:rPr lang="en-US" dirty="0"/>
              <a:t> × 10</a:t>
            </a:r>
            <a:r>
              <a:rPr lang="uk-UA" dirty="0"/>
              <a:t>'</a:t>
            </a:r>
            <a:r>
              <a:rPr lang="en-US" dirty="0"/>
              <a:t>1-1/4</a:t>
            </a:r>
            <a:r>
              <a:rPr lang="ru-RU" dirty="0"/>
              <a:t>"</a:t>
            </a:r>
            <a:r>
              <a:rPr lang="en-US" dirty="0"/>
              <a:t> (207 × 308 cm).</a:t>
            </a:r>
            <a:br>
              <a:rPr lang="en-US" dirty="0"/>
            </a:br>
            <a:r>
              <a:rPr lang="en-US" dirty="0"/>
              <a:t>The Art Institute of Chicago. Helen Birch Bartlett Memorial Collection (1926.22).</a:t>
            </a:r>
            <a:br>
              <a:rPr lang="en-US" dirty="0"/>
            </a:br>
            <a:r>
              <a:rPr lang="en-US" dirty="0"/>
              <a:t>Photo © The Art Institute of Chicago. </a:t>
            </a:r>
          </a:p>
        </p:txBody>
      </p:sp>
      <p:sp>
        <p:nvSpPr>
          <p:cNvPr id="143363" name="Slide Number Placeholder 3"/>
          <p:cNvSpPr>
            <a:spLocks noGrp="1"/>
          </p:cNvSpPr>
          <p:nvPr>
            <p:ph type="sldNum" sz="quarter" idx="5"/>
          </p:nvPr>
        </p:nvSpPr>
        <p:spPr bwMode="auto">
          <a:noFill/>
          <a:ln>
            <a:miter lim="800000"/>
            <a:headEnd/>
            <a:tailEnd/>
          </a:ln>
        </p:spPr>
        <p:txBody>
          <a:bodyPr/>
          <a:lstStyle/>
          <a:p>
            <a:fld id="{C884E2EA-3DDB-384A-8FD2-84EF4A967ADF}" type="slidenum">
              <a:rPr lang="en-US"/>
              <a:pPr/>
              <a:t>17</a:t>
            </a:fld>
            <a:endParaRPr lang="en-US"/>
          </a:p>
        </p:txBody>
      </p:sp>
    </p:spTree>
    <p:extLst>
      <p:ext uri="{BB962C8B-B14F-4D97-AF65-F5344CB8AC3E}">
        <p14:creationId xmlns:p14="http://schemas.microsoft.com/office/powerpoint/2010/main" val="367202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8" name="Notes Placeholder 2"/>
          <p:cNvSpPr>
            <a:spLocks noGrp="1"/>
          </p:cNvSpPr>
          <p:nvPr>
            <p:ph type="body" idx="1"/>
          </p:nvPr>
        </p:nvSpPr>
        <p:spPr bwMode="auto">
          <a:noFill/>
        </p:spPr>
        <p:txBody>
          <a:bodyPr/>
          <a:lstStyle/>
          <a:p>
            <a:pPr>
              <a:spcBef>
                <a:spcPct val="0"/>
              </a:spcBef>
            </a:pPr>
            <a:r>
              <a:rPr lang="en-US" dirty="0"/>
              <a:t>Vincent van Gogh THE STARRY NIGHT</a:t>
            </a:r>
            <a:br>
              <a:rPr lang="en-US" dirty="0"/>
            </a:br>
            <a:r>
              <a:rPr lang="en-US" dirty="0"/>
              <a:t>1889. Oil on canvas, 28-3/4 × 36-1/4</a:t>
            </a:r>
            <a:r>
              <a:rPr lang="ru-RU" dirty="0"/>
              <a:t>"</a:t>
            </a:r>
            <a:r>
              <a:rPr lang="en-US" dirty="0"/>
              <a:t> (73 × 93 cm).</a:t>
            </a:r>
            <a:br>
              <a:rPr lang="en-US" dirty="0"/>
            </a:br>
            <a:r>
              <a:rPr lang="en-US" dirty="0"/>
              <a:t>Museum of Modern Art, New York. Acquired through the Lillie P. Bliss Bequest (472.1941). © 2016. Digital Image, The Museum of Modern Art, New York/Scala, Florence. </a:t>
            </a:r>
          </a:p>
        </p:txBody>
      </p:sp>
      <p:sp>
        <p:nvSpPr>
          <p:cNvPr id="147459" name="Slide Number Placeholder 3"/>
          <p:cNvSpPr>
            <a:spLocks noGrp="1"/>
          </p:cNvSpPr>
          <p:nvPr>
            <p:ph type="sldNum" sz="quarter" idx="5"/>
          </p:nvPr>
        </p:nvSpPr>
        <p:spPr bwMode="auto">
          <a:noFill/>
          <a:ln>
            <a:miter lim="800000"/>
            <a:headEnd/>
            <a:tailEnd/>
          </a:ln>
        </p:spPr>
        <p:txBody>
          <a:bodyPr/>
          <a:lstStyle/>
          <a:p>
            <a:fld id="{5C732282-259F-D843-9122-29FD6A1B6974}" type="slidenum">
              <a:rPr lang="en-US"/>
              <a:pPr/>
              <a:t>20</a:t>
            </a:fld>
            <a:endParaRPr lang="en-US"/>
          </a:p>
        </p:txBody>
      </p:sp>
    </p:spTree>
    <p:extLst>
      <p:ext uri="{BB962C8B-B14F-4D97-AF65-F5344CB8AC3E}">
        <p14:creationId xmlns:p14="http://schemas.microsoft.com/office/powerpoint/2010/main" val="1850538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0" name="Notes Placeholder 2"/>
          <p:cNvSpPr>
            <a:spLocks noGrp="1"/>
          </p:cNvSpPr>
          <p:nvPr>
            <p:ph type="body" idx="1"/>
          </p:nvPr>
        </p:nvSpPr>
        <p:spPr bwMode="auto">
          <a:noFill/>
        </p:spPr>
        <p:txBody>
          <a:bodyPr/>
          <a:lstStyle/>
          <a:p>
            <a:pPr>
              <a:spcBef>
                <a:spcPct val="0"/>
              </a:spcBef>
            </a:pPr>
            <a:r>
              <a:rPr lang="en-US" dirty="0"/>
              <a:t>A CLOSER LOOK: </a:t>
            </a:r>
            <a:r>
              <a:rPr lang="en-US" dirty="0" err="1"/>
              <a:t>Mahana</a:t>
            </a:r>
            <a:r>
              <a:rPr lang="en-US" dirty="0"/>
              <a:t> no </a:t>
            </a:r>
            <a:r>
              <a:rPr lang="en-US" dirty="0" err="1"/>
              <a:t>atua</a:t>
            </a:r>
            <a:r>
              <a:rPr lang="en-US" dirty="0"/>
              <a:t> (Day of the God) by Paul Gauguin</a:t>
            </a:r>
            <a:br>
              <a:rPr lang="en-US" dirty="0"/>
            </a:br>
            <a:r>
              <a:rPr lang="en-US" dirty="0"/>
              <a:t>1894. Oil on canvas. 27-3/8</a:t>
            </a:r>
            <a:r>
              <a:rPr lang="ru-RU" dirty="0"/>
              <a:t>"</a:t>
            </a:r>
            <a:r>
              <a:rPr lang="en-US" dirty="0"/>
              <a:t> × 35-5/8</a:t>
            </a:r>
            <a:r>
              <a:rPr lang="ru-RU" dirty="0"/>
              <a:t>"</a:t>
            </a:r>
            <a:r>
              <a:rPr lang="en-US" dirty="0"/>
              <a:t> (69.5 × 90.5 cm).</a:t>
            </a:r>
            <a:br>
              <a:rPr lang="en-US" dirty="0"/>
            </a:br>
            <a:r>
              <a:rPr lang="en-US" dirty="0"/>
              <a:t>The Art Institute of Chicago. Helen Birch Bartlett Memorial Collection (1926.198).</a:t>
            </a:r>
            <a:br>
              <a:rPr lang="en-US" dirty="0"/>
            </a:br>
            <a:r>
              <a:rPr lang="en-US" dirty="0"/>
              <a:t> Photo © The Art Institute of Chicago. </a:t>
            </a:r>
          </a:p>
        </p:txBody>
      </p:sp>
      <p:sp>
        <p:nvSpPr>
          <p:cNvPr id="150531" name="Slide Number Placeholder 3"/>
          <p:cNvSpPr>
            <a:spLocks noGrp="1"/>
          </p:cNvSpPr>
          <p:nvPr>
            <p:ph type="sldNum" sz="quarter" idx="5"/>
          </p:nvPr>
        </p:nvSpPr>
        <p:spPr bwMode="auto">
          <a:noFill/>
          <a:ln>
            <a:miter lim="800000"/>
            <a:headEnd/>
            <a:tailEnd/>
          </a:ln>
        </p:spPr>
        <p:txBody>
          <a:bodyPr/>
          <a:lstStyle/>
          <a:p>
            <a:fld id="{DA9814DF-8857-A949-9822-2794B1DA98B9}" type="slidenum">
              <a:rPr lang="en-US"/>
              <a:pPr/>
              <a:t>22</a:t>
            </a:fld>
            <a:endParaRPr lang="en-US"/>
          </a:p>
        </p:txBody>
      </p:sp>
    </p:spTree>
    <p:extLst>
      <p:ext uri="{BB962C8B-B14F-4D97-AF65-F5344CB8AC3E}">
        <p14:creationId xmlns:p14="http://schemas.microsoft.com/office/powerpoint/2010/main" val="213906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6" name="Notes Placeholder 2"/>
          <p:cNvSpPr>
            <a:spLocks noGrp="1"/>
          </p:cNvSpPr>
          <p:nvPr>
            <p:ph type="body" idx="1"/>
          </p:nvPr>
        </p:nvSpPr>
        <p:spPr bwMode="auto">
          <a:noFill/>
        </p:spPr>
        <p:txBody>
          <a:bodyPr/>
          <a:lstStyle/>
          <a:p>
            <a:pPr>
              <a:spcBef>
                <a:spcPct val="0"/>
              </a:spcBef>
            </a:pPr>
            <a:r>
              <a:rPr lang="en-US" dirty="0"/>
              <a:t>Gustave Moreau THE APPARITION</a:t>
            </a:r>
            <a:br>
              <a:rPr lang="en-US" dirty="0"/>
            </a:br>
            <a:r>
              <a:rPr lang="en-US" dirty="0"/>
              <a:t>1874–1876. Watercolor on paper, 41-5/16</a:t>
            </a:r>
            <a:r>
              <a:rPr lang="ru-RU" dirty="0"/>
              <a:t>"</a:t>
            </a:r>
            <a:r>
              <a:rPr lang="en-US" dirty="0"/>
              <a:t> × 28-3/16</a:t>
            </a:r>
            <a:r>
              <a:rPr lang="ru-RU" dirty="0"/>
              <a:t>"</a:t>
            </a:r>
            <a:r>
              <a:rPr lang="en-US" dirty="0"/>
              <a:t> (106 × 72.2 cm).</a:t>
            </a:r>
            <a:br>
              <a:rPr lang="en-US" dirty="0"/>
            </a:br>
            <a:r>
              <a:rPr lang="en-US" dirty="0" err="1"/>
              <a:t>Musée</a:t>
            </a:r>
            <a:r>
              <a:rPr lang="en-US" dirty="0"/>
              <a:t> du Louvre, Paris. Photo © RMN-Grand Palais (</a:t>
            </a:r>
            <a:r>
              <a:rPr lang="en-US" dirty="0" err="1"/>
              <a:t>musée</a:t>
            </a:r>
            <a:r>
              <a:rPr lang="en-US" dirty="0"/>
              <a:t> d'Orsay)/Jean-Gilles </a:t>
            </a:r>
            <a:r>
              <a:rPr lang="en-US" dirty="0" err="1"/>
              <a:t>Berizzi</a:t>
            </a:r>
            <a:r>
              <a:rPr lang="en-US" dirty="0"/>
              <a:t>. [Fig. </a:t>
            </a:r>
          </a:p>
        </p:txBody>
      </p:sp>
      <p:sp>
        <p:nvSpPr>
          <p:cNvPr id="154627" name="Slide Number Placeholder 3"/>
          <p:cNvSpPr>
            <a:spLocks noGrp="1"/>
          </p:cNvSpPr>
          <p:nvPr>
            <p:ph type="sldNum" sz="quarter" idx="5"/>
          </p:nvPr>
        </p:nvSpPr>
        <p:spPr bwMode="auto">
          <a:noFill/>
          <a:ln>
            <a:miter lim="800000"/>
            <a:headEnd/>
            <a:tailEnd/>
          </a:ln>
        </p:spPr>
        <p:txBody>
          <a:bodyPr/>
          <a:lstStyle/>
          <a:p>
            <a:fld id="{F8C1F73B-4205-9E4B-9EBE-6B36AD5A5557}" type="slidenum">
              <a:rPr lang="en-US"/>
              <a:pPr/>
              <a:t>25</a:t>
            </a:fld>
            <a:endParaRPr lang="en-US"/>
          </a:p>
        </p:txBody>
      </p:sp>
    </p:spTree>
    <p:extLst>
      <p:ext uri="{BB962C8B-B14F-4D97-AF65-F5344CB8AC3E}">
        <p14:creationId xmlns:p14="http://schemas.microsoft.com/office/powerpoint/2010/main" val="256174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8" name="Notes Placeholder 2"/>
          <p:cNvSpPr>
            <a:spLocks noGrp="1"/>
          </p:cNvSpPr>
          <p:nvPr>
            <p:ph type="body" idx="1"/>
          </p:nvPr>
        </p:nvSpPr>
        <p:spPr bwMode="auto">
          <a:noFill/>
        </p:spPr>
        <p:txBody>
          <a:bodyPr/>
          <a:lstStyle/>
          <a:p>
            <a:pPr>
              <a:spcBef>
                <a:spcPct val="0"/>
              </a:spcBef>
            </a:pPr>
            <a:r>
              <a:rPr lang="en-US" dirty="0"/>
              <a:t>Edvard Munch THE SCREAM</a:t>
            </a:r>
            <a:br>
              <a:rPr lang="en-US" dirty="0"/>
            </a:br>
            <a:r>
              <a:rPr lang="en-US" dirty="0"/>
              <a:t>1893. Tempera and oil on unprimed canvas, 33 × 26</a:t>
            </a:r>
            <a:r>
              <a:rPr lang="ru-RU" dirty="0"/>
              <a:t>"</a:t>
            </a:r>
            <a:r>
              <a:rPr lang="en-US" dirty="0"/>
              <a:t> (83.5 × 66 cm).</a:t>
            </a:r>
            <a:br>
              <a:rPr lang="en-US" dirty="0"/>
            </a:br>
            <a:r>
              <a:rPr lang="en-US" dirty="0"/>
              <a:t>Munch Museum, Oslo. © 2016 Artists Rights Society (ARS), New York. </a:t>
            </a:r>
            <a:r>
              <a:rPr lang="en-US" dirty="0" err="1"/>
              <a:t>Nasjonalgalleriet</a:t>
            </a:r>
            <a:r>
              <a:rPr lang="en-US" dirty="0"/>
              <a:t>, Oslo, Norway/Bridgeman Images.</a:t>
            </a:r>
          </a:p>
        </p:txBody>
      </p:sp>
      <p:sp>
        <p:nvSpPr>
          <p:cNvPr id="157699" name="Slide Number Placeholder 3"/>
          <p:cNvSpPr>
            <a:spLocks noGrp="1"/>
          </p:cNvSpPr>
          <p:nvPr>
            <p:ph type="sldNum" sz="quarter" idx="5"/>
          </p:nvPr>
        </p:nvSpPr>
        <p:spPr bwMode="auto">
          <a:noFill/>
          <a:ln>
            <a:miter lim="800000"/>
            <a:headEnd/>
            <a:tailEnd/>
          </a:ln>
        </p:spPr>
        <p:txBody>
          <a:bodyPr/>
          <a:lstStyle/>
          <a:p>
            <a:fld id="{A36AC9D8-F63B-C14F-B7DC-9EDB486532AA}" type="slidenum">
              <a:rPr lang="en-US"/>
              <a:pPr/>
              <a:t>27</a:t>
            </a:fld>
            <a:endParaRPr lang="en-US"/>
          </a:p>
        </p:txBody>
      </p:sp>
    </p:spTree>
    <p:extLst>
      <p:ext uri="{BB962C8B-B14F-4D97-AF65-F5344CB8AC3E}">
        <p14:creationId xmlns:p14="http://schemas.microsoft.com/office/powerpoint/2010/main" val="1969155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Slide Image Placeholder 1"/>
          <p:cNvSpPr>
            <a:spLocks noGrp="1" noRot="1" noChangeAspect="1" noTextEdit="1"/>
          </p:cNvSpPr>
          <p:nvPr>
            <p:ph type="sldImg"/>
          </p:nvPr>
        </p:nvSpPr>
        <p:spPr bwMode="auto">
          <a:noFill/>
          <a:ln>
            <a:solidFill>
              <a:srgbClr val="000000"/>
            </a:solidFill>
            <a:miter lim="800000"/>
            <a:headEnd/>
            <a:tailEnd/>
          </a:ln>
        </p:spPr>
      </p:sp>
      <p:sp>
        <p:nvSpPr>
          <p:cNvPr id="159746" name="Notes Placeholder 2"/>
          <p:cNvSpPr>
            <a:spLocks noGrp="1"/>
          </p:cNvSpPr>
          <p:nvPr>
            <p:ph type="body" idx="1"/>
          </p:nvPr>
        </p:nvSpPr>
        <p:spPr bwMode="auto">
          <a:noFill/>
        </p:spPr>
        <p:txBody>
          <a:bodyPr/>
          <a:lstStyle/>
          <a:p>
            <a:pPr>
              <a:spcBef>
                <a:spcPct val="0"/>
              </a:spcBef>
            </a:pPr>
            <a:r>
              <a:rPr lang="en-US" dirty="0">
                <a:latin typeface="Verdana" charset="0"/>
              </a:rPr>
              <a:t>James Ensor THE INTRIGUE</a:t>
            </a:r>
            <a:br>
              <a:rPr lang="en-US" dirty="0">
                <a:latin typeface="Verdana" charset="0"/>
              </a:rPr>
            </a:br>
            <a:r>
              <a:rPr lang="en-US" dirty="0">
                <a:latin typeface="Verdana" charset="0"/>
              </a:rPr>
              <a:t>1890. Oil on canvas, 35-1/2</a:t>
            </a:r>
            <a:r>
              <a:rPr lang="ru-RU" dirty="0">
                <a:latin typeface="Verdana" charset="0"/>
              </a:rPr>
              <a:t>"</a:t>
            </a:r>
            <a:r>
              <a:rPr lang="en-US" dirty="0">
                <a:latin typeface="Verdana" charset="0"/>
              </a:rPr>
              <a:t> × 59</a:t>
            </a:r>
            <a:r>
              <a:rPr lang="ru-RU" dirty="0">
                <a:latin typeface="Verdana" charset="0"/>
              </a:rPr>
              <a:t>"</a:t>
            </a:r>
            <a:r>
              <a:rPr lang="en-US" dirty="0">
                <a:latin typeface="Verdana" charset="0"/>
              </a:rPr>
              <a:t> (90.3 × 150 cm).</a:t>
            </a:r>
            <a:br>
              <a:rPr lang="en-US" dirty="0">
                <a:latin typeface="Verdana" charset="0"/>
              </a:rPr>
            </a:br>
            <a:r>
              <a:rPr lang="en-US" dirty="0" err="1">
                <a:latin typeface="Verdana" charset="0"/>
              </a:rPr>
              <a:t>Koninklijk</a:t>
            </a:r>
            <a:r>
              <a:rPr lang="en-US" dirty="0">
                <a:latin typeface="Verdana" charset="0"/>
              </a:rPr>
              <a:t> Museum </a:t>
            </a:r>
            <a:r>
              <a:rPr lang="en-US" dirty="0" err="1">
                <a:latin typeface="Verdana" charset="0"/>
              </a:rPr>
              <a:t>voor</a:t>
            </a:r>
            <a:r>
              <a:rPr lang="en-US" dirty="0">
                <a:latin typeface="Verdana" charset="0"/>
              </a:rPr>
              <a:t> </a:t>
            </a:r>
            <a:r>
              <a:rPr lang="en-US" dirty="0" err="1">
                <a:latin typeface="Verdana" charset="0"/>
              </a:rPr>
              <a:t>Schone</a:t>
            </a:r>
            <a:r>
              <a:rPr lang="en-US" dirty="0">
                <a:latin typeface="Verdana" charset="0"/>
              </a:rPr>
              <a:t> </a:t>
            </a:r>
            <a:r>
              <a:rPr lang="en-US" dirty="0" err="1">
                <a:latin typeface="Verdana" charset="0"/>
              </a:rPr>
              <a:t>Kunsten</a:t>
            </a:r>
            <a:r>
              <a:rPr lang="en-US" dirty="0">
                <a:latin typeface="Verdana" charset="0"/>
              </a:rPr>
              <a:t>, Antwerp. © Lukas - Art in Flanders VZW/Photo: Hugo </a:t>
            </a:r>
            <a:r>
              <a:rPr lang="en-US" dirty="0" err="1">
                <a:latin typeface="Verdana" charset="0"/>
              </a:rPr>
              <a:t>Maertens</a:t>
            </a:r>
            <a:r>
              <a:rPr lang="en-US" dirty="0">
                <a:latin typeface="Verdana" charset="0"/>
              </a:rPr>
              <a:t>/Bridgeman Images.</a:t>
            </a:r>
            <a:endParaRPr lang="en-US" dirty="0"/>
          </a:p>
        </p:txBody>
      </p:sp>
      <p:sp>
        <p:nvSpPr>
          <p:cNvPr id="159747" name="Slide Number Placeholder 3"/>
          <p:cNvSpPr>
            <a:spLocks noGrp="1"/>
          </p:cNvSpPr>
          <p:nvPr>
            <p:ph type="sldNum" sz="quarter" idx="5"/>
          </p:nvPr>
        </p:nvSpPr>
        <p:spPr bwMode="auto">
          <a:noFill/>
          <a:ln>
            <a:miter lim="800000"/>
            <a:headEnd/>
            <a:tailEnd/>
          </a:ln>
        </p:spPr>
        <p:txBody>
          <a:bodyPr/>
          <a:lstStyle/>
          <a:p>
            <a:fld id="{DBE95953-15EF-A142-9CF8-9176ABB1036C}" type="slidenum">
              <a:rPr lang="en-US"/>
              <a:pPr/>
              <a:t>28</a:t>
            </a:fld>
            <a:endParaRPr lang="en-US"/>
          </a:p>
        </p:txBody>
      </p:sp>
    </p:spTree>
    <p:extLst>
      <p:ext uri="{BB962C8B-B14F-4D97-AF65-F5344CB8AC3E}">
        <p14:creationId xmlns:p14="http://schemas.microsoft.com/office/powerpoint/2010/main" val="733786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Slide Image Placeholder 1"/>
          <p:cNvSpPr>
            <a:spLocks noGrp="1" noRot="1" noChangeAspect="1" noTextEdit="1"/>
          </p:cNvSpPr>
          <p:nvPr>
            <p:ph type="sldImg"/>
          </p:nvPr>
        </p:nvSpPr>
        <p:spPr bwMode="auto">
          <a:noFill/>
          <a:ln>
            <a:solidFill>
              <a:srgbClr val="000000"/>
            </a:solidFill>
            <a:miter lim="800000"/>
            <a:headEnd/>
            <a:tailEnd/>
          </a:ln>
        </p:spPr>
      </p:sp>
      <p:sp>
        <p:nvSpPr>
          <p:cNvPr id="162818" name="Notes Placeholder 2"/>
          <p:cNvSpPr>
            <a:spLocks noGrp="1"/>
          </p:cNvSpPr>
          <p:nvPr>
            <p:ph type="body" idx="1"/>
          </p:nvPr>
        </p:nvSpPr>
        <p:spPr bwMode="auto">
          <a:noFill/>
        </p:spPr>
        <p:txBody>
          <a:bodyPr/>
          <a:lstStyle/>
          <a:p>
            <a:pPr>
              <a:spcBef>
                <a:spcPct val="0"/>
              </a:spcBef>
            </a:pPr>
            <a:r>
              <a:rPr lang="en-US" dirty="0"/>
              <a:t>Auguste Rodin THE BURGHERS OF CALAIS</a:t>
            </a:r>
            <a:br>
              <a:rPr lang="en-US" dirty="0"/>
            </a:br>
            <a:r>
              <a:rPr lang="en-US" dirty="0"/>
              <a:t>1884–1889. Bronze, 6</a:t>
            </a:r>
            <a:r>
              <a:rPr lang="uk-UA" dirty="0"/>
              <a:t>'</a:t>
            </a:r>
            <a:r>
              <a:rPr lang="en-US" dirty="0"/>
              <a:t>10-1/2</a:t>
            </a:r>
            <a:r>
              <a:rPr lang="ru-RU" dirty="0"/>
              <a:t>"</a:t>
            </a:r>
            <a:r>
              <a:rPr lang="en-US" dirty="0"/>
              <a:t> × 7</a:t>
            </a:r>
            <a:r>
              <a:rPr lang="uk-UA" dirty="0"/>
              <a:t>'</a:t>
            </a:r>
            <a:r>
              <a:rPr lang="en-US" dirty="0"/>
              <a:t>11</a:t>
            </a:r>
            <a:r>
              <a:rPr lang="ru-RU" dirty="0"/>
              <a:t>"</a:t>
            </a:r>
            <a:r>
              <a:rPr lang="en-US" dirty="0"/>
              <a:t> × 6</a:t>
            </a:r>
            <a:r>
              <a:rPr lang="uk-UA" dirty="0"/>
              <a:t>'</a:t>
            </a:r>
            <a:r>
              <a:rPr lang="en-US" dirty="0"/>
              <a:t>6</a:t>
            </a:r>
            <a:r>
              <a:rPr lang="ru-RU" dirty="0"/>
              <a:t>"</a:t>
            </a:r>
            <a:r>
              <a:rPr lang="en-US" dirty="0"/>
              <a:t> (2.1 × 2.4 × 2 m).</a:t>
            </a:r>
            <a:br>
              <a:rPr lang="en-US" dirty="0"/>
            </a:br>
            <a:r>
              <a:rPr lang="en-US" dirty="0" err="1"/>
              <a:t>Hirshhorn</a:t>
            </a:r>
            <a:r>
              <a:rPr lang="en-US" dirty="0"/>
              <a:t> Museum and Sculpture Garden, Smithsonian Institution, Washington, DC. Gift of Joseph H. </a:t>
            </a:r>
            <a:r>
              <a:rPr lang="en-US" dirty="0" err="1"/>
              <a:t>Hirshhorn</a:t>
            </a:r>
            <a:r>
              <a:rPr lang="en-US" dirty="0"/>
              <a:t>, 1966 </a:t>
            </a:r>
            <a:r>
              <a:rPr lang="en-GB" dirty="0"/>
              <a:t>(66.4340).</a:t>
            </a:r>
            <a:r>
              <a:rPr lang="en-US" dirty="0"/>
              <a:t> </a:t>
            </a:r>
          </a:p>
        </p:txBody>
      </p:sp>
      <p:sp>
        <p:nvSpPr>
          <p:cNvPr id="162819" name="Slide Number Placeholder 3"/>
          <p:cNvSpPr>
            <a:spLocks noGrp="1"/>
          </p:cNvSpPr>
          <p:nvPr>
            <p:ph type="sldNum" sz="quarter" idx="5"/>
          </p:nvPr>
        </p:nvSpPr>
        <p:spPr bwMode="auto">
          <a:noFill/>
          <a:ln>
            <a:miter lim="800000"/>
            <a:headEnd/>
            <a:tailEnd/>
          </a:ln>
        </p:spPr>
        <p:txBody>
          <a:bodyPr/>
          <a:lstStyle/>
          <a:p>
            <a:fld id="{F2EA2ECD-402D-7A42-8B6A-6C238DF8AEF7}" type="slidenum">
              <a:rPr lang="en-US"/>
              <a:pPr/>
              <a:t>30</a:t>
            </a:fld>
            <a:endParaRPr lang="en-US"/>
          </a:p>
        </p:txBody>
      </p:sp>
    </p:spTree>
    <p:extLst>
      <p:ext uri="{BB962C8B-B14F-4D97-AF65-F5344CB8AC3E}">
        <p14:creationId xmlns:p14="http://schemas.microsoft.com/office/powerpoint/2010/main" val="1893965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Slide Image Placeholder 1"/>
          <p:cNvSpPr>
            <a:spLocks noGrp="1" noRot="1" noChangeAspect="1" noTextEdit="1"/>
          </p:cNvSpPr>
          <p:nvPr>
            <p:ph type="sldImg"/>
          </p:nvPr>
        </p:nvSpPr>
        <p:spPr bwMode="auto">
          <a:noFill/>
          <a:ln>
            <a:solidFill>
              <a:srgbClr val="000000"/>
            </a:solidFill>
            <a:miter lim="800000"/>
            <a:headEnd/>
            <a:tailEnd/>
          </a:ln>
        </p:spPr>
      </p:sp>
      <p:sp>
        <p:nvSpPr>
          <p:cNvPr id="165890" name="Notes Placeholder 2"/>
          <p:cNvSpPr>
            <a:spLocks noGrp="1"/>
          </p:cNvSpPr>
          <p:nvPr>
            <p:ph type="body" idx="1"/>
          </p:nvPr>
        </p:nvSpPr>
        <p:spPr bwMode="auto">
          <a:noFill/>
        </p:spPr>
        <p:txBody>
          <a:bodyPr/>
          <a:lstStyle/>
          <a:p>
            <a:pPr>
              <a:spcBef>
                <a:spcPct val="0"/>
              </a:spcBef>
            </a:pPr>
            <a:r>
              <a:rPr lang="en-US" dirty="0"/>
              <a:t>Camille Claudel THE WALTZ</a:t>
            </a:r>
            <a:br>
              <a:rPr lang="en-US" dirty="0"/>
            </a:br>
            <a:r>
              <a:rPr lang="en-US" dirty="0"/>
              <a:t>1892–1905. Bronze, height 9-7/8</a:t>
            </a:r>
            <a:r>
              <a:rPr lang="ru-RU" dirty="0"/>
              <a:t>"</a:t>
            </a:r>
            <a:r>
              <a:rPr lang="en-US" dirty="0"/>
              <a:t> (25 cm).</a:t>
            </a:r>
            <a:br>
              <a:rPr lang="en-US" dirty="0"/>
            </a:br>
            <a:r>
              <a:rPr lang="en-US" dirty="0"/>
              <a:t>Neue </a:t>
            </a:r>
            <a:r>
              <a:rPr lang="en-US" dirty="0" err="1"/>
              <a:t>Pinakothek</a:t>
            </a:r>
            <a:r>
              <a:rPr lang="en-US" dirty="0"/>
              <a:t>, Munich. Photo © </a:t>
            </a:r>
            <a:r>
              <a:rPr lang="en-US" dirty="0" err="1"/>
              <a:t>Blauel</a:t>
            </a:r>
            <a:r>
              <a:rPr lang="en-US" dirty="0"/>
              <a:t>/</a:t>
            </a:r>
            <a:r>
              <a:rPr lang="en-US" dirty="0" err="1"/>
              <a:t>Gnamm</a:t>
            </a:r>
            <a:r>
              <a:rPr lang="en-US" dirty="0"/>
              <a:t>/ARTOTHEK. </a:t>
            </a:r>
          </a:p>
        </p:txBody>
      </p:sp>
      <p:sp>
        <p:nvSpPr>
          <p:cNvPr id="165891" name="Slide Number Placeholder 3"/>
          <p:cNvSpPr>
            <a:spLocks noGrp="1"/>
          </p:cNvSpPr>
          <p:nvPr>
            <p:ph type="sldNum" sz="quarter" idx="5"/>
          </p:nvPr>
        </p:nvSpPr>
        <p:spPr bwMode="auto">
          <a:noFill/>
          <a:ln>
            <a:miter lim="800000"/>
            <a:headEnd/>
            <a:tailEnd/>
          </a:ln>
        </p:spPr>
        <p:txBody>
          <a:bodyPr/>
          <a:lstStyle/>
          <a:p>
            <a:fld id="{9D61A8BF-1CCC-2A4B-8059-7258E6CDD890}" type="slidenum">
              <a:rPr lang="en-US"/>
              <a:pPr/>
              <a:t>32</a:t>
            </a:fld>
            <a:endParaRPr lang="en-US"/>
          </a:p>
        </p:txBody>
      </p:sp>
    </p:spTree>
    <p:extLst>
      <p:ext uri="{BB962C8B-B14F-4D97-AF65-F5344CB8AC3E}">
        <p14:creationId xmlns:p14="http://schemas.microsoft.com/office/powerpoint/2010/main" val="1878803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Slide Image Placeholder 1"/>
          <p:cNvSpPr>
            <a:spLocks noGrp="1" noRot="1" noChangeAspect="1" noTextEdit="1"/>
          </p:cNvSpPr>
          <p:nvPr>
            <p:ph type="sldImg"/>
          </p:nvPr>
        </p:nvSpPr>
        <p:spPr bwMode="auto">
          <a:noFill/>
          <a:ln>
            <a:solidFill>
              <a:srgbClr val="000000"/>
            </a:solidFill>
            <a:miter lim="800000"/>
            <a:headEnd/>
            <a:tailEnd/>
          </a:ln>
        </p:spPr>
      </p:sp>
      <p:sp>
        <p:nvSpPr>
          <p:cNvPr id="169986" name="Notes Placeholder 2"/>
          <p:cNvSpPr>
            <a:spLocks noGrp="1"/>
          </p:cNvSpPr>
          <p:nvPr>
            <p:ph type="body" idx="1"/>
          </p:nvPr>
        </p:nvSpPr>
        <p:spPr bwMode="auto">
          <a:noFill/>
        </p:spPr>
        <p:txBody>
          <a:bodyPr/>
          <a:lstStyle/>
          <a:p>
            <a:pPr>
              <a:spcBef>
                <a:spcPct val="0"/>
              </a:spcBef>
            </a:pPr>
            <a:r>
              <a:rPr lang="en-US" dirty="0"/>
              <a:t>Victor Horta STAIRWAY, TASSEL HOUSE, BRUSSELS</a:t>
            </a:r>
            <a:br>
              <a:rPr lang="en-US" dirty="0"/>
            </a:br>
            <a:r>
              <a:rPr lang="en-US" dirty="0"/>
              <a:t>1892–1893. © 2016 – Victor Horta, </a:t>
            </a:r>
            <a:r>
              <a:rPr lang="en-US" dirty="0" err="1"/>
              <a:t>Bastin</a:t>
            </a:r>
            <a:r>
              <a:rPr lang="en-US" dirty="0"/>
              <a:t> &amp; </a:t>
            </a:r>
            <a:r>
              <a:rPr lang="en-US" dirty="0" err="1"/>
              <a:t>Evrard</a:t>
            </a:r>
            <a:r>
              <a:rPr lang="en-US" dirty="0"/>
              <a:t>/DACS, London.</a:t>
            </a:r>
          </a:p>
        </p:txBody>
      </p:sp>
      <p:sp>
        <p:nvSpPr>
          <p:cNvPr id="169987" name="Slide Number Placeholder 3"/>
          <p:cNvSpPr>
            <a:spLocks noGrp="1"/>
          </p:cNvSpPr>
          <p:nvPr>
            <p:ph type="sldNum" sz="quarter" idx="5"/>
          </p:nvPr>
        </p:nvSpPr>
        <p:spPr bwMode="auto">
          <a:noFill/>
          <a:ln>
            <a:miter lim="800000"/>
            <a:headEnd/>
            <a:tailEnd/>
          </a:ln>
        </p:spPr>
        <p:txBody>
          <a:bodyPr/>
          <a:lstStyle/>
          <a:p>
            <a:fld id="{6034447D-B098-944D-B010-CCEF74FD5E92}" type="slidenum">
              <a:rPr lang="en-US"/>
              <a:pPr/>
              <a:t>35</a:t>
            </a:fld>
            <a:endParaRPr lang="en-US"/>
          </a:p>
        </p:txBody>
      </p:sp>
    </p:spTree>
    <p:extLst>
      <p:ext uri="{BB962C8B-B14F-4D97-AF65-F5344CB8AC3E}">
        <p14:creationId xmlns:p14="http://schemas.microsoft.com/office/powerpoint/2010/main" val="446240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8" name="Notes Placeholder 2"/>
          <p:cNvSpPr>
            <a:spLocks noGrp="1"/>
          </p:cNvSpPr>
          <p:nvPr>
            <p:ph type="body" idx="1"/>
          </p:nvPr>
        </p:nvSpPr>
        <p:spPr bwMode="auto">
          <a:noFill/>
        </p:spPr>
        <p:txBody>
          <a:bodyPr/>
          <a:lstStyle/>
          <a:p>
            <a:pPr>
              <a:spcBef>
                <a:spcPct val="0"/>
              </a:spcBef>
            </a:pPr>
            <a:r>
              <a:rPr lang="en-US" dirty="0"/>
              <a:t>Antonio </a:t>
            </a:r>
            <a:r>
              <a:rPr lang="en-US" dirty="0" err="1"/>
              <a:t>Gaudí</a:t>
            </a:r>
            <a:r>
              <a:rPr lang="en-US" dirty="0"/>
              <a:t> CASA BATLLÒ, BARCELONA</a:t>
            </a:r>
            <a:br>
              <a:rPr lang="en-US" dirty="0"/>
            </a:br>
            <a:r>
              <a:rPr lang="en-US" dirty="0"/>
              <a:t>43 </a:t>
            </a:r>
            <a:r>
              <a:rPr lang="en-US" dirty="0" err="1"/>
              <a:t>Passeig</a:t>
            </a:r>
            <a:r>
              <a:rPr lang="en-US" dirty="0"/>
              <a:t> de </a:t>
            </a:r>
            <a:r>
              <a:rPr lang="en-US" dirty="0" err="1"/>
              <a:t>Gracia</a:t>
            </a:r>
            <a:r>
              <a:rPr lang="en-US" dirty="0"/>
              <a:t>. 1900–1907.</a:t>
            </a:r>
            <a:br>
              <a:rPr lang="en-US" dirty="0"/>
            </a:br>
            <a:r>
              <a:rPr lang="en-US" dirty="0"/>
              <a:t>Vincent Abbey Photography.</a:t>
            </a:r>
          </a:p>
        </p:txBody>
      </p:sp>
      <p:sp>
        <p:nvSpPr>
          <p:cNvPr id="173059" name="Slide Number Placeholder 3"/>
          <p:cNvSpPr>
            <a:spLocks noGrp="1"/>
          </p:cNvSpPr>
          <p:nvPr>
            <p:ph type="sldNum" sz="quarter" idx="5"/>
          </p:nvPr>
        </p:nvSpPr>
        <p:spPr bwMode="auto">
          <a:noFill/>
          <a:ln>
            <a:miter lim="800000"/>
            <a:headEnd/>
            <a:tailEnd/>
          </a:ln>
        </p:spPr>
        <p:txBody>
          <a:bodyPr/>
          <a:lstStyle/>
          <a:p>
            <a:fld id="{C055A701-1838-A94F-AF70-C618AB1D2135}" type="slidenum">
              <a:rPr lang="en-US"/>
              <a:pPr/>
              <a:t>37</a:t>
            </a:fld>
            <a:endParaRPr lang="en-US"/>
          </a:p>
        </p:txBody>
      </p:sp>
    </p:spTree>
    <p:extLst>
      <p:ext uri="{BB962C8B-B14F-4D97-AF65-F5344CB8AC3E}">
        <p14:creationId xmlns:p14="http://schemas.microsoft.com/office/powerpoint/2010/main" val="947490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Slide Image Placeholder 1"/>
          <p:cNvSpPr>
            <a:spLocks noGrp="1" noRot="1" noChangeAspect="1" noTextEdit="1"/>
          </p:cNvSpPr>
          <p:nvPr>
            <p:ph type="sldImg"/>
          </p:nvPr>
        </p:nvSpPr>
        <p:spPr bwMode="auto">
          <a:noFill/>
          <a:ln>
            <a:solidFill>
              <a:srgbClr val="000000"/>
            </a:solidFill>
            <a:miter lim="800000"/>
            <a:headEnd/>
            <a:tailEnd/>
          </a:ln>
        </p:spPr>
      </p:sp>
      <p:sp>
        <p:nvSpPr>
          <p:cNvPr id="176130" name="Notes Placeholder 2"/>
          <p:cNvSpPr>
            <a:spLocks noGrp="1"/>
          </p:cNvSpPr>
          <p:nvPr>
            <p:ph type="body" idx="1"/>
          </p:nvPr>
        </p:nvSpPr>
        <p:spPr bwMode="auto">
          <a:noFill/>
        </p:spPr>
        <p:txBody>
          <a:bodyPr/>
          <a:lstStyle/>
          <a:p>
            <a:pPr>
              <a:spcBef>
                <a:spcPct val="0"/>
              </a:spcBef>
            </a:pPr>
            <a:r>
              <a:rPr lang="en-US" dirty="0"/>
              <a:t>Hector </a:t>
            </a:r>
            <a:r>
              <a:rPr lang="en-US" dirty="0" err="1"/>
              <a:t>Guimard</a:t>
            </a:r>
            <a:r>
              <a:rPr lang="en-US" dirty="0"/>
              <a:t> DESK</a:t>
            </a:r>
            <a:br>
              <a:rPr lang="en-US" dirty="0"/>
            </a:br>
            <a:r>
              <a:rPr lang="en-US" dirty="0"/>
              <a:t>c. 1899 (remodeled after 1909).</a:t>
            </a:r>
            <a:br>
              <a:rPr lang="en-US" dirty="0"/>
            </a:br>
            <a:r>
              <a:rPr lang="en-US" dirty="0"/>
              <a:t>Olive wood with ash panels, 28-3/4</a:t>
            </a:r>
            <a:r>
              <a:rPr lang="ru-RU" dirty="0"/>
              <a:t>"</a:t>
            </a:r>
            <a:r>
              <a:rPr lang="en-US" dirty="0"/>
              <a:t> × 47-3/4</a:t>
            </a:r>
            <a:r>
              <a:rPr lang="ru-RU" dirty="0"/>
              <a:t>"</a:t>
            </a:r>
            <a:r>
              <a:rPr lang="en-US" dirty="0"/>
              <a:t> (73 × 121 cm).</a:t>
            </a:r>
            <a:br>
              <a:rPr lang="en-US" dirty="0"/>
            </a:br>
            <a:r>
              <a:rPr lang="en-US" dirty="0"/>
              <a:t>Museum of Modern Art, New York. Gift of Madame Hector </a:t>
            </a:r>
            <a:r>
              <a:rPr lang="en-US" dirty="0" err="1"/>
              <a:t>Guimard</a:t>
            </a:r>
            <a:r>
              <a:rPr lang="en-US" dirty="0"/>
              <a:t>. © 2016. Digital Image, The Museum of Modern Art/Scala, Florence/ Art Resource, NY.</a:t>
            </a:r>
          </a:p>
        </p:txBody>
      </p:sp>
      <p:sp>
        <p:nvSpPr>
          <p:cNvPr id="176131" name="Slide Number Placeholder 3"/>
          <p:cNvSpPr>
            <a:spLocks noGrp="1"/>
          </p:cNvSpPr>
          <p:nvPr>
            <p:ph type="sldNum" sz="quarter" idx="5"/>
          </p:nvPr>
        </p:nvSpPr>
        <p:spPr bwMode="auto">
          <a:noFill/>
          <a:ln>
            <a:miter lim="800000"/>
            <a:headEnd/>
            <a:tailEnd/>
          </a:ln>
        </p:spPr>
        <p:txBody>
          <a:bodyPr/>
          <a:lstStyle/>
          <a:p>
            <a:fld id="{B98BE1A1-83F1-DD40-A8E9-9DA24892B906}" type="slidenum">
              <a:rPr lang="en-US"/>
              <a:pPr/>
              <a:t>39</a:t>
            </a:fld>
            <a:endParaRPr lang="en-US"/>
          </a:p>
        </p:txBody>
      </p:sp>
    </p:spTree>
    <p:extLst>
      <p:ext uri="{BB962C8B-B14F-4D97-AF65-F5344CB8AC3E}">
        <p14:creationId xmlns:p14="http://schemas.microsoft.com/office/powerpoint/2010/main" val="883876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bwMode="auto">
          <a:noFill/>
          <a:ln>
            <a:solidFill>
              <a:srgbClr val="000000"/>
            </a:solidFill>
            <a:miter lim="800000"/>
            <a:headEnd/>
            <a:tailEnd/>
          </a:ln>
        </p:spPr>
      </p:sp>
      <p:sp>
        <p:nvSpPr>
          <p:cNvPr id="179202" name="Notes Placeholder 2"/>
          <p:cNvSpPr>
            <a:spLocks noGrp="1"/>
          </p:cNvSpPr>
          <p:nvPr>
            <p:ph type="body" idx="1"/>
          </p:nvPr>
        </p:nvSpPr>
        <p:spPr bwMode="auto">
          <a:noFill/>
        </p:spPr>
        <p:txBody>
          <a:bodyPr/>
          <a:lstStyle/>
          <a:p>
            <a:pPr>
              <a:spcBef>
                <a:spcPct val="0"/>
              </a:spcBef>
            </a:pPr>
            <a:r>
              <a:rPr lang="en-US" dirty="0"/>
              <a:t>Henri de Toulouse-Lautrec JANE AVRIL</a:t>
            </a:r>
            <a:br>
              <a:rPr lang="en-US" dirty="0"/>
            </a:br>
            <a:r>
              <a:rPr lang="en-US" dirty="0"/>
              <a:t>1893. Four color lithograph, 51-1/8</a:t>
            </a:r>
            <a:r>
              <a:rPr lang="ru-RU" dirty="0"/>
              <a:t>"</a:t>
            </a:r>
            <a:r>
              <a:rPr lang="en-US" dirty="0"/>
              <a:t> × 37/3/8</a:t>
            </a:r>
            <a:r>
              <a:rPr lang="ru-RU" dirty="0"/>
              <a:t>"</a:t>
            </a:r>
            <a:r>
              <a:rPr lang="en-US" dirty="0"/>
              <a:t> (129.85 × 94.93 cm).</a:t>
            </a:r>
            <a:br>
              <a:rPr lang="en-US" dirty="0"/>
            </a:br>
            <a:r>
              <a:rPr lang="en-US" dirty="0"/>
              <a:t>Los Angeles County Museum of Art, Los Angeles. Gift of Mr. and Mrs. Billy Wilder (59.80.15</a:t>
            </a:r>
            <a:r>
              <a:rPr lang="en-GB" dirty="0"/>
              <a:t>).</a:t>
            </a:r>
            <a:r>
              <a:rPr lang="en-US" dirty="0"/>
              <a:t>  </a:t>
            </a:r>
          </a:p>
        </p:txBody>
      </p:sp>
      <p:sp>
        <p:nvSpPr>
          <p:cNvPr id="179203" name="Slide Number Placeholder 3"/>
          <p:cNvSpPr>
            <a:spLocks noGrp="1"/>
          </p:cNvSpPr>
          <p:nvPr>
            <p:ph type="sldNum" sz="quarter" idx="5"/>
          </p:nvPr>
        </p:nvSpPr>
        <p:spPr bwMode="auto">
          <a:noFill/>
          <a:ln>
            <a:miter lim="800000"/>
            <a:headEnd/>
            <a:tailEnd/>
          </a:ln>
        </p:spPr>
        <p:txBody>
          <a:bodyPr/>
          <a:lstStyle/>
          <a:p>
            <a:fld id="{CCFDCD16-FA78-E04A-A72B-4E7538854702}" type="slidenum">
              <a:rPr lang="en-US"/>
              <a:pPr/>
              <a:t>41</a:t>
            </a:fld>
            <a:endParaRPr lang="en-US"/>
          </a:p>
        </p:txBody>
      </p:sp>
    </p:spTree>
    <p:extLst>
      <p:ext uri="{BB962C8B-B14F-4D97-AF65-F5344CB8AC3E}">
        <p14:creationId xmlns:p14="http://schemas.microsoft.com/office/powerpoint/2010/main" val="1172100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Slide Image Placeholder 1"/>
          <p:cNvSpPr>
            <a:spLocks noGrp="1" noRot="1" noChangeAspect="1" noTextEdit="1"/>
          </p:cNvSpPr>
          <p:nvPr>
            <p:ph type="sldImg"/>
          </p:nvPr>
        </p:nvSpPr>
        <p:spPr bwMode="auto">
          <a:noFill/>
          <a:ln>
            <a:solidFill>
              <a:srgbClr val="000000"/>
            </a:solidFill>
            <a:miter lim="800000"/>
            <a:headEnd/>
            <a:tailEnd/>
          </a:ln>
        </p:spPr>
      </p:sp>
      <p:sp>
        <p:nvSpPr>
          <p:cNvPr id="184322" name="Notes Placeholder 2"/>
          <p:cNvSpPr>
            <a:spLocks noGrp="1"/>
          </p:cNvSpPr>
          <p:nvPr>
            <p:ph type="body" idx="1"/>
          </p:nvPr>
        </p:nvSpPr>
        <p:spPr bwMode="auto">
          <a:noFill/>
        </p:spPr>
        <p:txBody>
          <a:bodyPr/>
          <a:lstStyle/>
          <a:p>
            <a:pPr>
              <a:spcBef>
                <a:spcPct val="0"/>
              </a:spcBef>
            </a:pPr>
            <a:r>
              <a:rPr lang="en-US" dirty="0"/>
              <a:t>Joseph Paxton THE CRYSTAL PALACE</a:t>
            </a:r>
            <a:br>
              <a:rPr lang="en-US" dirty="0"/>
            </a:br>
            <a:r>
              <a:rPr lang="en-US" dirty="0"/>
              <a:t>London. 1850–1851. Iron, glass, and wood. </a:t>
            </a:r>
            <a:br>
              <a:rPr lang="en-US" dirty="0"/>
            </a:br>
            <a:r>
              <a:rPr lang="en-US" dirty="0"/>
              <a:t>(Print of the Great Exhibition of 1851; printed and published by Dickinson Brothers, London, 1854. Illustration by Joseph Nash and Robert </a:t>
            </a:r>
            <a:r>
              <a:rPr lang="en-US" dirty="0" err="1"/>
              <a:t>Haghe</a:t>
            </a:r>
            <a:r>
              <a:rPr lang="en-US" dirty="0"/>
              <a:t>). British Library, London.</a:t>
            </a:r>
          </a:p>
        </p:txBody>
      </p:sp>
      <p:sp>
        <p:nvSpPr>
          <p:cNvPr id="184323" name="Slide Number Placeholder 3"/>
          <p:cNvSpPr>
            <a:spLocks noGrp="1"/>
          </p:cNvSpPr>
          <p:nvPr>
            <p:ph type="sldNum" sz="quarter" idx="5"/>
          </p:nvPr>
        </p:nvSpPr>
        <p:spPr bwMode="auto">
          <a:noFill/>
          <a:ln>
            <a:miter lim="800000"/>
            <a:headEnd/>
            <a:tailEnd/>
          </a:ln>
        </p:spPr>
        <p:txBody>
          <a:bodyPr/>
          <a:lstStyle/>
          <a:p>
            <a:fld id="{DD3921FC-F684-FB45-96DA-C739913639C5}" type="slidenum">
              <a:rPr lang="en-US"/>
              <a:pPr/>
              <a:t>45</a:t>
            </a:fld>
            <a:endParaRPr lang="en-US"/>
          </a:p>
        </p:txBody>
      </p:sp>
    </p:spTree>
    <p:extLst>
      <p:ext uri="{BB962C8B-B14F-4D97-AF65-F5344CB8AC3E}">
        <p14:creationId xmlns:p14="http://schemas.microsoft.com/office/powerpoint/2010/main" val="626113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bwMode="auto">
          <a:noFill/>
          <a:ln>
            <a:solidFill>
              <a:srgbClr val="000000"/>
            </a:solidFill>
            <a:miter lim="800000"/>
            <a:headEnd/>
            <a:tailEnd/>
          </a:ln>
        </p:spPr>
      </p:sp>
      <p:sp>
        <p:nvSpPr>
          <p:cNvPr id="187394" name="Notes Placeholder 2"/>
          <p:cNvSpPr>
            <a:spLocks noGrp="1"/>
          </p:cNvSpPr>
          <p:nvPr>
            <p:ph type="body" idx="1"/>
          </p:nvPr>
        </p:nvSpPr>
        <p:spPr bwMode="auto">
          <a:noFill/>
        </p:spPr>
        <p:txBody>
          <a:bodyPr/>
          <a:lstStyle/>
          <a:p>
            <a:pPr>
              <a:spcBef>
                <a:spcPct val="0"/>
              </a:spcBef>
            </a:pPr>
            <a:r>
              <a:rPr lang="en-US" dirty="0"/>
              <a:t>Henri </a:t>
            </a:r>
            <a:r>
              <a:rPr lang="en-US" dirty="0" err="1"/>
              <a:t>Labrouste</a:t>
            </a:r>
            <a:r>
              <a:rPr lang="en-US" dirty="0"/>
              <a:t> READING ROOM, BIBLIOTHÈQUE NATIONALE, PARIS</a:t>
            </a:r>
            <a:br>
              <a:rPr lang="en-US" dirty="0"/>
            </a:br>
            <a:r>
              <a:rPr lang="en-US" dirty="0"/>
              <a:t>1862–1868.</a:t>
            </a:r>
            <a:br>
              <a:rPr lang="en-US" dirty="0"/>
            </a:br>
            <a:r>
              <a:rPr lang="en-US" dirty="0"/>
              <a:t>© Paul </a:t>
            </a:r>
            <a:r>
              <a:rPr lang="en-US" dirty="0" err="1"/>
              <a:t>Almasy</a:t>
            </a:r>
            <a:r>
              <a:rPr lang="en-US" dirty="0"/>
              <a:t>/Corbis.</a:t>
            </a:r>
          </a:p>
        </p:txBody>
      </p:sp>
      <p:sp>
        <p:nvSpPr>
          <p:cNvPr id="187395" name="Slide Number Placeholder 3"/>
          <p:cNvSpPr>
            <a:spLocks noGrp="1"/>
          </p:cNvSpPr>
          <p:nvPr>
            <p:ph type="sldNum" sz="quarter" idx="5"/>
          </p:nvPr>
        </p:nvSpPr>
        <p:spPr bwMode="auto">
          <a:noFill/>
          <a:ln>
            <a:miter lim="800000"/>
            <a:headEnd/>
            <a:tailEnd/>
          </a:ln>
        </p:spPr>
        <p:txBody>
          <a:bodyPr/>
          <a:lstStyle/>
          <a:p>
            <a:fld id="{0534D48C-4C44-DD45-A4A6-5F24DD608323}" type="slidenum">
              <a:rPr lang="en-US"/>
              <a:pPr/>
              <a:t>47</a:t>
            </a:fld>
            <a:endParaRPr lang="en-US"/>
          </a:p>
        </p:txBody>
      </p:sp>
    </p:spTree>
    <p:extLst>
      <p:ext uri="{BB962C8B-B14F-4D97-AF65-F5344CB8AC3E}">
        <p14:creationId xmlns:p14="http://schemas.microsoft.com/office/powerpoint/2010/main" val="424413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Slide Image Placeholder 1"/>
          <p:cNvSpPr>
            <a:spLocks noGrp="1" noRot="1" noChangeAspect="1" noTextEdit="1"/>
          </p:cNvSpPr>
          <p:nvPr>
            <p:ph type="sldImg"/>
          </p:nvPr>
        </p:nvSpPr>
        <p:spPr bwMode="auto">
          <a:noFill/>
          <a:ln>
            <a:solidFill>
              <a:srgbClr val="000000"/>
            </a:solidFill>
            <a:miter lim="800000"/>
            <a:headEnd/>
            <a:tailEnd/>
          </a:ln>
        </p:spPr>
      </p:sp>
      <p:sp>
        <p:nvSpPr>
          <p:cNvPr id="191490" name="Notes Placeholder 2"/>
          <p:cNvSpPr>
            <a:spLocks noGrp="1"/>
          </p:cNvSpPr>
          <p:nvPr>
            <p:ph type="body" idx="1"/>
          </p:nvPr>
        </p:nvSpPr>
        <p:spPr bwMode="auto">
          <a:noFill/>
        </p:spPr>
        <p:txBody>
          <a:bodyPr/>
          <a:lstStyle/>
          <a:p>
            <a:pPr>
              <a:spcBef>
                <a:spcPct val="0"/>
              </a:spcBef>
            </a:pPr>
            <a:r>
              <a:rPr lang="en-US" dirty="0"/>
              <a:t>COURT OF HONOR, WORLD</a:t>
            </a:r>
            <a:r>
              <a:rPr lang="uk-UA" dirty="0"/>
              <a:t>'</a:t>
            </a:r>
            <a:r>
              <a:rPr lang="en-US" dirty="0"/>
              <a:t>S COLUMBIAN EXPOSITION, CHICAGO</a:t>
            </a:r>
            <a:br>
              <a:rPr lang="en-US" dirty="0"/>
            </a:br>
            <a:r>
              <a:rPr lang="en-US" dirty="0"/>
              <a:t>1893. View from the east.</a:t>
            </a:r>
            <a:br>
              <a:rPr lang="en-US" dirty="0"/>
            </a:br>
            <a:r>
              <a:rPr lang="en-US" dirty="0"/>
              <a:t>© Corbis.</a:t>
            </a:r>
          </a:p>
        </p:txBody>
      </p:sp>
      <p:sp>
        <p:nvSpPr>
          <p:cNvPr id="191491" name="Slide Number Placeholder 3"/>
          <p:cNvSpPr>
            <a:spLocks noGrp="1"/>
          </p:cNvSpPr>
          <p:nvPr>
            <p:ph type="sldNum" sz="quarter" idx="5"/>
          </p:nvPr>
        </p:nvSpPr>
        <p:spPr bwMode="auto">
          <a:noFill/>
          <a:ln>
            <a:miter lim="800000"/>
            <a:headEnd/>
            <a:tailEnd/>
          </a:ln>
        </p:spPr>
        <p:txBody>
          <a:bodyPr/>
          <a:lstStyle/>
          <a:p>
            <a:fld id="{7A5909B9-664A-4648-B41C-45F99EDC0C09}" type="slidenum">
              <a:rPr lang="en-US"/>
              <a:pPr/>
              <a:t>50</a:t>
            </a:fld>
            <a:endParaRPr lang="en-US"/>
          </a:p>
        </p:txBody>
      </p:sp>
    </p:spTree>
    <p:extLst>
      <p:ext uri="{BB962C8B-B14F-4D97-AF65-F5344CB8AC3E}">
        <p14:creationId xmlns:p14="http://schemas.microsoft.com/office/powerpoint/2010/main" val="1322032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Slide Image Placeholder 1"/>
          <p:cNvSpPr>
            <a:spLocks noGrp="1" noRot="1" noChangeAspect="1" noTextEdit="1"/>
          </p:cNvSpPr>
          <p:nvPr>
            <p:ph type="sldImg"/>
          </p:nvPr>
        </p:nvSpPr>
        <p:spPr bwMode="auto">
          <a:noFill/>
          <a:ln>
            <a:solidFill>
              <a:srgbClr val="000000"/>
            </a:solidFill>
            <a:miter lim="800000"/>
            <a:headEnd/>
            <a:tailEnd/>
          </a:ln>
        </p:spPr>
      </p:sp>
      <p:sp>
        <p:nvSpPr>
          <p:cNvPr id="194562" name="Notes Placeholder 2"/>
          <p:cNvSpPr>
            <a:spLocks noGrp="1"/>
          </p:cNvSpPr>
          <p:nvPr>
            <p:ph type="body" idx="1"/>
          </p:nvPr>
        </p:nvSpPr>
        <p:spPr bwMode="auto">
          <a:noFill/>
        </p:spPr>
        <p:txBody>
          <a:bodyPr/>
          <a:lstStyle/>
          <a:p>
            <a:pPr>
              <a:spcBef>
                <a:spcPct val="0"/>
              </a:spcBef>
            </a:pPr>
            <a:r>
              <a:rPr lang="en-US" dirty="0"/>
              <a:t>Henry Hobson Richardson MARSHALL FIELD WHOLESALE STORE, CHICAGO</a:t>
            </a:r>
            <a:br>
              <a:rPr lang="en-US" dirty="0"/>
            </a:br>
            <a:r>
              <a:rPr lang="en-US" dirty="0"/>
              <a:t>1885–1887. Demolished c. 1935.</a:t>
            </a:r>
            <a:br>
              <a:rPr lang="en-US" dirty="0"/>
            </a:br>
            <a:r>
              <a:rPr lang="en-US" dirty="0"/>
              <a:t>Courtesy the Library of Congress.</a:t>
            </a:r>
          </a:p>
        </p:txBody>
      </p:sp>
      <p:sp>
        <p:nvSpPr>
          <p:cNvPr id="194563" name="Slide Number Placeholder 3"/>
          <p:cNvSpPr>
            <a:spLocks noGrp="1"/>
          </p:cNvSpPr>
          <p:nvPr>
            <p:ph type="sldNum" sz="quarter" idx="5"/>
          </p:nvPr>
        </p:nvSpPr>
        <p:spPr bwMode="auto">
          <a:noFill/>
          <a:ln>
            <a:miter lim="800000"/>
            <a:headEnd/>
            <a:tailEnd/>
          </a:ln>
        </p:spPr>
        <p:txBody>
          <a:bodyPr/>
          <a:lstStyle/>
          <a:p>
            <a:fld id="{1CBB2602-0F08-8E47-9CF9-6124FE5F6B77}" type="slidenum">
              <a:rPr lang="en-US"/>
              <a:pPr/>
              <a:t>52</a:t>
            </a:fld>
            <a:endParaRPr lang="en-US"/>
          </a:p>
        </p:txBody>
      </p:sp>
    </p:spTree>
    <p:extLst>
      <p:ext uri="{BB962C8B-B14F-4D97-AF65-F5344CB8AC3E}">
        <p14:creationId xmlns:p14="http://schemas.microsoft.com/office/powerpoint/2010/main" val="1529104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Slide Image Placeholder 1"/>
          <p:cNvSpPr>
            <a:spLocks noGrp="1" noRot="1" noChangeAspect="1" noTextEdit="1"/>
          </p:cNvSpPr>
          <p:nvPr>
            <p:ph type="sldImg"/>
          </p:nvPr>
        </p:nvSpPr>
        <p:spPr bwMode="auto">
          <a:noFill/>
          <a:ln>
            <a:solidFill>
              <a:srgbClr val="000000"/>
            </a:solidFill>
            <a:miter lim="800000"/>
            <a:headEnd/>
            <a:tailEnd/>
          </a:ln>
        </p:spPr>
      </p:sp>
      <p:sp>
        <p:nvSpPr>
          <p:cNvPr id="197634" name="Notes Placeholder 2"/>
          <p:cNvSpPr>
            <a:spLocks noGrp="1"/>
          </p:cNvSpPr>
          <p:nvPr>
            <p:ph type="body" idx="1"/>
          </p:nvPr>
        </p:nvSpPr>
        <p:spPr bwMode="auto">
          <a:noFill/>
        </p:spPr>
        <p:txBody>
          <a:bodyPr/>
          <a:lstStyle/>
          <a:p>
            <a:pPr>
              <a:spcBef>
                <a:spcPct val="0"/>
              </a:spcBef>
            </a:pPr>
            <a:r>
              <a:rPr lang="en-US" dirty="0"/>
              <a:t>Louis Sullivan WAINWRIGHT BUILDING, ST. LOUIS</a:t>
            </a:r>
            <a:br>
              <a:rPr lang="en-US" dirty="0"/>
            </a:br>
            <a:r>
              <a:rPr lang="en-US" dirty="0"/>
              <a:t>Missouri. 1890–1891.</a:t>
            </a:r>
            <a:br>
              <a:rPr lang="en-US" dirty="0"/>
            </a:br>
            <a:r>
              <a:rPr lang="en-US" dirty="0"/>
              <a:t>© Art on File/Corbis. </a:t>
            </a:r>
          </a:p>
        </p:txBody>
      </p:sp>
      <p:sp>
        <p:nvSpPr>
          <p:cNvPr id="197635" name="Slide Number Placeholder 3"/>
          <p:cNvSpPr>
            <a:spLocks noGrp="1"/>
          </p:cNvSpPr>
          <p:nvPr>
            <p:ph type="sldNum" sz="quarter" idx="5"/>
          </p:nvPr>
        </p:nvSpPr>
        <p:spPr bwMode="auto">
          <a:noFill/>
          <a:ln>
            <a:miter lim="800000"/>
            <a:headEnd/>
            <a:tailEnd/>
          </a:ln>
        </p:spPr>
        <p:txBody>
          <a:bodyPr/>
          <a:lstStyle/>
          <a:p>
            <a:fld id="{E8DAA484-DF2B-3141-9AB0-07FBB09A670E}" type="slidenum">
              <a:rPr lang="en-US"/>
              <a:pPr/>
              <a:t>54</a:t>
            </a:fld>
            <a:endParaRPr lang="en-US"/>
          </a:p>
        </p:txBody>
      </p:sp>
    </p:spTree>
    <p:extLst>
      <p:ext uri="{BB962C8B-B14F-4D97-AF65-F5344CB8AC3E}">
        <p14:creationId xmlns:p14="http://schemas.microsoft.com/office/powerpoint/2010/main" val="724645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Slide Image Placeholder 1"/>
          <p:cNvSpPr>
            <a:spLocks noGrp="1" noRot="1" noChangeAspect="1" noTextEdit="1"/>
          </p:cNvSpPr>
          <p:nvPr>
            <p:ph type="sldImg"/>
          </p:nvPr>
        </p:nvSpPr>
        <p:spPr bwMode="auto">
          <a:noFill/>
          <a:ln>
            <a:solidFill>
              <a:srgbClr val="000000"/>
            </a:solidFill>
            <a:miter lim="800000"/>
            <a:headEnd/>
            <a:tailEnd/>
          </a:ln>
        </p:spPr>
      </p:sp>
      <p:sp>
        <p:nvSpPr>
          <p:cNvPr id="200706" name="Notes Placeholder 2"/>
          <p:cNvSpPr>
            <a:spLocks noGrp="1"/>
          </p:cNvSpPr>
          <p:nvPr>
            <p:ph type="body" idx="1"/>
          </p:nvPr>
        </p:nvSpPr>
        <p:spPr bwMode="auto">
          <a:noFill/>
        </p:spPr>
        <p:txBody>
          <a:bodyPr/>
          <a:lstStyle/>
          <a:p>
            <a:pPr>
              <a:spcBef>
                <a:spcPct val="0"/>
              </a:spcBef>
            </a:pPr>
            <a:r>
              <a:rPr lang="en-US" dirty="0"/>
              <a:t>Frederick Law Olmsted and Calvert Vaux MAP OF CENTRAL PARK, NEW YORK CITY</a:t>
            </a:r>
            <a:br>
              <a:rPr lang="en-US" dirty="0"/>
            </a:br>
            <a:r>
              <a:rPr lang="en-US" dirty="0"/>
              <a:t>Revised and extended park layout as shown in a map of 1873.</a:t>
            </a:r>
            <a:br>
              <a:rPr lang="en-US" dirty="0"/>
            </a:br>
            <a:r>
              <a:rPr lang="en-US" dirty="0"/>
              <a:t>Frederick Law Olmsted &amp; Calvert Vaux/City of New York, Department of Parks.</a:t>
            </a:r>
          </a:p>
        </p:txBody>
      </p:sp>
      <p:sp>
        <p:nvSpPr>
          <p:cNvPr id="200707" name="Slide Number Placeholder 3"/>
          <p:cNvSpPr>
            <a:spLocks noGrp="1"/>
          </p:cNvSpPr>
          <p:nvPr>
            <p:ph type="sldNum" sz="quarter" idx="5"/>
          </p:nvPr>
        </p:nvSpPr>
        <p:spPr bwMode="auto">
          <a:noFill/>
          <a:ln>
            <a:miter lim="800000"/>
            <a:headEnd/>
            <a:tailEnd/>
          </a:ln>
        </p:spPr>
        <p:txBody>
          <a:bodyPr/>
          <a:lstStyle/>
          <a:p>
            <a:fld id="{C7CBFA5B-E0D8-C945-8A2A-B41C6F8DC413}" type="slidenum">
              <a:rPr lang="en-US"/>
              <a:pPr/>
              <a:t>56</a:t>
            </a:fld>
            <a:endParaRPr lang="en-US"/>
          </a:p>
        </p:txBody>
      </p:sp>
    </p:spTree>
    <p:extLst>
      <p:ext uri="{BB962C8B-B14F-4D97-AF65-F5344CB8AC3E}">
        <p14:creationId xmlns:p14="http://schemas.microsoft.com/office/powerpoint/2010/main" val="737710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Slide Image Placeholder 1"/>
          <p:cNvSpPr>
            <a:spLocks noGrp="1" noRot="1" noChangeAspect="1" noTextEdit="1"/>
          </p:cNvSpPr>
          <p:nvPr>
            <p:ph type="sldImg"/>
          </p:nvPr>
        </p:nvSpPr>
        <p:spPr bwMode="auto">
          <a:noFill/>
          <a:ln>
            <a:solidFill>
              <a:srgbClr val="000000"/>
            </a:solidFill>
            <a:miter lim="800000"/>
            <a:headEnd/>
            <a:tailEnd/>
          </a:ln>
        </p:spPr>
      </p:sp>
      <p:sp>
        <p:nvSpPr>
          <p:cNvPr id="204802" name="Notes Placeholder 2"/>
          <p:cNvSpPr>
            <a:spLocks noGrp="1"/>
          </p:cNvSpPr>
          <p:nvPr>
            <p:ph type="body" idx="1"/>
          </p:nvPr>
        </p:nvSpPr>
        <p:spPr bwMode="auto">
          <a:noFill/>
        </p:spPr>
        <p:txBody>
          <a:bodyPr/>
          <a:lstStyle/>
          <a:p>
            <a:pPr>
              <a:spcBef>
                <a:spcPct val="0"/>
              </a:spcBef>
            </a:pPr>
            <a:r>
              <a:rPr lang="en-US" dirty="0"/>
              <a:t>Paul Cézanne MONT SAINTE-VICTOIRE</a:t>
            </a:r>
            <a:br>
              <a:rPr lang="en-US" dirty="0"/>
            </a:br>
            <a:r>
              <a:rPr lang="en-US" dirty="0"/>
              <a:t>c. 1885–1887. Oil on canvas, 25-1/2</a:t>
            </a:r>
            <a:r>
              <a:rPr lang="ru-RU" dirty="0"/>
              <a:t>"</a:t>
            </a:r>
            <a:r>
              <a:rPr lang="en-US" dirty="0"/>
              <a:t> × 32</a:t>
            </a:r>
            <a:r>
              <a:rPr lang="ru-RU" dirty="0"/>
              <a:t>"</a:t>
            </a:r>
            <a:r>
              <a:rPr lang="en-US" dirty="0"/>
              <a:t> (64.8 × 92.3 cm).</a:t>
            </a:r>
            <a:br>
              <a:rPr lang="en-US" dirty="0"/>
            </a:br>
            <a:r>
              <a:rPr lang="en-US" dirty="0"/>
              <a:t>The Samuel </a:t>
            </a:r>
            <a:r>
              <a:rPr lang="en-US" dirty="0" err="1"/>
              <a:t>Courtauld</a:t>
            </a:r>
            <a:r>
              <a:rPr lang="en-US" dirty="0"/>
              <a:t> Trust, The </a:t>
            </a:r>
            <a:r>
              <a:rPr lang="en-US" dirty="0" err="1"/>
              <a:t>Courtauld</a:t>
            </a:r>
            <a:r>
              <a:rPr lang="en-US" dirty="0"/>
              <a:t> Gallery, London. </a:t>
            </a:r>
            <a:r>
              <a:rPr lang="en-GB" dirty="0"/>
              <a:t>(P.1934.SC.55).</a:t>
            </a:r>
            <a:r>
              <a:rPr lang="en-US" dirty="0"/>
              <a:t> © Samuel </a:t>
            </a:r>
            <a:r>
              <a:rPr lang="en-US" dirty="0" err="1"/>
              <a:t>Courtauld</a:t>
            </a:r>
            <a:r>
              <a:rPr lang="en-US" dirty="0"/>
              <a:t> Trust, The </a:t>
            </a:r>
            <a:r>
              <a:rPr lang="en-US" dirty="0" err="1"/>
              <a:t>Courtauld</a:t>
            </a:r>
            <a:r>
              <a:rPr lang="en-US" dirty="0"/>
              <a:t> Gallery, London, UK/Bridgeman Images.</a:t>
            </a:r>
          </a:p>
        </p:txBody>
      </p:sp>
      <p:sp>
        <p:nvSpPr>
          <p:cNvPr id="204803" name="Slide Number Placeholder 3"/>
          <p:cNvSpPr>
            <a:spLocks noGrp="1"/>
          </p:cNvSpPr>
          <p:nvPr>
            <p:ph type="sldNum" sz="quarter" idx="5"/>
          </p:nvPr>
        </p:nvSpPr>
        <p:spPr bwMode="auto">
          <a:noFill/>
          <a:ln>
            <a:miter lim="800000"/>
            <a:headEnd/>
            <a:tailEnd/>
          </a:ln>
        </p:spPr>
        <p:txBody>
          <a:bodyPr/>
          <a:lstStyle/>
          <a:p>
            <a:fld id="{D23C06ED-7012-7E47-9DFE-757205BB0792}" type="slidenum">
              <a:rPr lang="en-US"/>
              <a:pPr/>
              <a:t>59</a:t>
            </a:fld>
            <a:endParaRPr lang="en-US"/>
          </a:p>
        </p:txBody>
      </p:sp>
    </p:spTree>
    <p:extLst>
      <p:ext uri="{BB962C8B-B14F-4D97-AF65-F5344CB8AC3E}">
        <p14:creationId xmlns:p14="http://schemas.microsoft.com/office/powerpoint/2010/main" val="988072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Slide Image Placeholder 1"/>
          <p:cNvSpPr>
            <a:spLocks noGrp="1" noRot="1" noChangeAspect="1" noTextEdit="1"/>
          </p:cNvSpPr>
          <p:nvPr>
            <p:ph type="sldImg"/>
          </p:nvPr>
        </p:nvSpPr>
        <p:spPr bwMode="auto">
          <a:noFill/>
          <a:ln>
            <a:solidFill>
              <a:srgbClr val="000000"/>
            </a:solidFill>
            <a:miter lim="800000"/>
            <a:headEnd/>
            <a:tailEnd/>
          </a:ln>
        </p:spPr>
      </p:sp>
      <p:sp>
        <p:nvSpPr>
          <p:cNvPr id="207874" name="Notes Placeholder 2"/>
          <p:cNvSpPr>
            <a:spLocks noGrp="1"/>
          </p:cNvSpPr>
          <p:nvPr>
            <p:ph type="body" idx="1"/>
          </p:nvPr>
        </p:nvSpPr>
        <p:spPr bwMode="auto">
          <a:noFill/>
        </p:spPr>
        <p:txBody>
          <a:bodyPr/>
          <a:lstStyle/>
          <a:p>
            <a:pPr>
              <a:spcBef>
                <a:spcPct val="0"/>
              </a:spcBef>
            </a:pPr>
            <a:r>
              <a:rPr lang="en-US" dirty="0"/>
              <a:t>Paul Cézanne STILL LIFE WITH BASKET OF APPLES</a:t>
            </a:r>
            <a:br>
              <a:rPr lang="en-US" dirty="0"/>
            </a:br>
            <a:r>
              <a:rPr lang="en-US" dirty="0"/>
              <a:t>1880–1894. Oil on canvas, 24-7/16</a:t>
            </a:r>
            <a:r>
              <a:rPr lang="ru-RU" dirty="0"/>
              <a:t>"</a:t>
            </a:r>
            <a:r>
              <a:rPr lang="en-US" dirty="0"/>
              <a:t> × 31-1/2</a:t>
            </a:r>
            <a:r>
              <a:rPr lang="ru-RU" dirty="0"/>
              <a:t>"</a:t>
            </a:r>
            <a:r>
              <a:rPr lang="en-US" dirty="0"/>
              <a:t> (64.8 × 80 cm).</a:t>
            </a:r>
            <a:br>
              <a:rPr lang="en-US" dirty="0"/>
            </a:br>
            <a:r>
              <a:rPr lang="en-US" dirty="0"/>
              <a:t>The Art Institute of Chicago. Helen Birch Bartlett Memorial Collection (1926.252).</a:t>
            </a:r>
            <a:br>
              <a:rPr lang="en-US" dirty="0"/>
            </a:br>
            <a:r>
              <a:rPr lang="en-US" dirty="0"/>
              <a:t>Photo © The Art Institute of Chicago.</a:t>
            </a:r>
          </a:p>
        </p:txBody>
      </p:sp>
      <p:sp>
        <p:nvSpPr>
          <p:cNvPr id="207875" name="Slide Number Placeholder 3"/>
          <p:cNvSpPr>
            <a:spLocks noGrp="1"/>
          </p:cNvSpPr>
          <p:nvPr>
            <p:ph type="sldNum" sz="quarter" idx="5"/>
          </p:nvPr>
        </p:nvSpPr>
        <p:spPr bwMode="auto">
          <a:noFill/>
          <a:ln>
            <a:miter lim="800000"/>
            <a:headEnd/>
            <a:tailEnd/>
          </a:ln>
        </p:spPr>
        <p:txBody>
          <a:bodyPr/>
          <a:lstStyle/>
          <a:p>
            <a:fld id="{A17273BF-0F0E-2B49-9A20-718F5EBCBEE9}" type="slidenum">
              <a:rPr lang="en-US"/>
              <a:pPr/>
              <a:t>61</a:t>
            </a:fld>
            <a:endParaRPr lang="en-US"/>
          </a:p>
        </p:txBody>
      </p:sp>
    </p:spTree>
    <p:extLst>
      <p:ext uri="{BB962C8B-B14F-4D97-AF65-F5344CB8AC3E}">
        <p14:creationId xmlns:p14="http://schemas.microsoft.com/office/powerpoint/2010/main" val="470115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Slide Image Placeholder 1"/>
          <p:cNvSpPr>
            <a:spLocks noGrp="1" noRot="1" noChangeAspect="1" noTextEdit="1"/>
          </p:cNvSpPr>
          <p:nvPr>
            <p:ph type="sldImg"/>
          </p:nvPr>
        </p:nvSpPr>
        <p:spPr bwMode="auto">
          <a:noFill/>
          <a:ln>
            <a:solidFill>
              <a:srgbClr val="000000"/>
            </a:solidFill>
            <a:miter lim="800000"/>
            <a:headEnd/>
            <a:tailEnd/>
          </a:ln>
        </p:spPr>
      </p:sp>
      <p:sp>
        <p:nvSpPr>
          <p:cNvPr id="210946" name="Notes Placeholder 2"/>
          <p:cNvSpPr>
            <a:spLocks noGrp="1"/>
          </p:cNvSpPr>
          <p:nvPr>
            <p:ph type="body" idx="1"/>
          </p:nvPr>
        </p:nvSpPr>
        <p:spPr bwMode="auto">
          <a:noFill/>
        </p:spPr>
        <p:txBody>
          <a:bodyPr/>
          <a:lstStyle/>
          <a:p>
            <a:pPr>
              <a:spcBef>
                <a:spcPct val="0"/>
              </a:spcBef>
            </a:pPr>
            <a:r>
              <a:rPr lang="en-US" dirty="0"/>
              <a:t>Paul Cézanne THE LARGE BATHERS</a:t>
            </a:r>
            <a:br>
              <a:rPr lang="en-US" dirty="0"/>
            </a:br>
            <a:r>
              <a:rPr lang="en-US" dirty="0"/>
              <a:t>1906. Oil on canvas, 6</a:t>
            </a:r>
            <a:r>
              <a:rPr lang="uk-UA" dirty="0"/>
              <a:t>'</a:t>
            </a:r>
            <a:r>
              <a:rPr lang="en-US" dirty="0"/>
              <a:t>10</a:t>
            </a:r>
            <a:r>
              <a:rPr lang="ru-RU" dirty="0"/>
              <a:t>"</a:t>
            </a:r>
            <a:r>
              <a:rPr lang="en-US" dirty="0"/>
              <a:t> × 8</a:t>
            </a:r>
            <a:r>
              <a:rPr lang="uk-UA" dirty="0"/>
              <a:t>'</a:t>
            </a:r>
            <a:r>
              <a:rPr lang="en-US" dirty="0"/>
              <a:t>2</a:t>
            </a:r>
            <a:r>
              <a:rPr lang="ru-RU" dirty="0"/>
              <a:t>"</a:t>
            </a:r>
            <a:r>
              <a:rPr lang="en-US" dirty="0"/>
              <a:t> (2.08 × 2.49 m).</a:t>
            </a:r>
            <a:br>
              <a:rPr lang="en-US" dirty="0"/>
            </a:br>
            <a:r>
              <a:rPr lang="en-US" dirty="0"/>
              <a:t>Philadelphia Museum of Art. The W.P. </a:t>
            </a:r>
            <a:r>
              <a:rPr lang="en-US" dirty="0" err="1"/>
              <a:t>Wilstach</a:t>
            </a:r>
            <a:r>
              <a:rPr lang="en-US" dirty="0"/>
              <a:t> Collection. © 2016. Philadelphia Museum of Art/Art Resource, NY/Scala, Florence.</a:t>
            </a:r>
          </a:p>
        </p:txBody>
      </p:sp>
      <p:sp>
        <p:nvSpPr>
          <p:cNvPr id="210947" name="Slide Number Placeholder 3"/>
          <p:cNvSpPr>
            <a:spLocks noGrp="1"/>
          </p:cNvSpPr>
          <p:nvPr>
            <p:ph type="sldNum" sz="quarter" idx="5"/>
          </p:nvPr>
        </p:nvSpPr>
        <p:spPr bwMode="auto">
          <a:noFill/>
          <a:ln>
            <a:miter lim="800000"/>
            <a:headEnd/>
            <a:tailEnd/>
          </a:ln>
        </p:spPr>
        <p:txBody>
          <a:bodyPr/>
          <a:lstStyle/>
          <a:p>
            <a:fld id="{B4EDDC2B-3D62-E942-BC7E-A03D0DB7E902}" type="slidenum">
              <a:rPr lang="en-US"/>
              <a:pPr/>
              <a:t>63</a:t>
            </a:fld>
            <a:endParaRPr lang="en-US"/>
          </a:p>
        </p:txBody>
      </p:sp>
    </p:spTree>
    <p:extLst>
      <p:ext uri="{BB962C8B-B14F-4D97-AF65-F5344CB8AC3E}">
        <p14:creationId xmlns:p14="http://schemas.microsoft.com/office/powerpoint/2010/main" val="1996219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a:lstStyle/>
          <a:p>
            <a:pPr>
              <a:spcBef>
                <a:spcPct val="0"/>
              </a:spcBef>
            </a:pPr>
            <a:r>
              <a:rPr lang="en-US">
                <a:solidFill>
                  <a:schemeClr val="bg1"/>
                </a:solidFill>
                <a:latin typeface="Verdana" charset="0"/>
              </a:rPr>
              <a:t>TECHNIQUE: The Photographic Process</a:t>
            </a:r>
            <a:endParaRPr lang="en-US"/>
          </a:p>
        </p:txBody>
      </p:sp>
      <p:sp>
        <p:nvSpPr>
          <p:cNvPr id="37891" name="Slide Number Placeholder 3"/>
          <p:cNvSpPr>
            <a:spLocks noGrp="1"/>
          </p:cNvSpPr>
          <p:nvPr>
            <p:ph type="sldNum" sz="quarter" idx="5"/>
          </p:nvPr>
        </p:nvSpPr>
        <p:spPr bwMode="auto">
          <a:noFill/>
          <a:ln>
            <a:miter lim="800000"/>
            <a:headEnd/>
            <a:tailEnd/>
          </a:ln>
        </p:spPr>
        <p:txBody>
          <a:bodyPr/>
          <a:lstStyle/>
          <a:p>
            <a:fld id="{299098F0-CDC2-1F49-A974-0E79C0815D36}" type="slidenum">
              <a:rPr lang="en-US"/>
              <a:pPr/>
              <a:t>65</a:t>
            </a:fld>
            <a:endParaRPr lang="en-US"/>
          </a:p>
        </p:txBody>
      </p:sp>
    </p:spTree>
    <p:extLst>
      <p:ext uri="{BB962C8B-B14F-4D97-AF65-F5344CB8AC3E}">
        <p14:creationId xmlns:p14="http://schemas.microsoft.com/office/powerpoint/2010/main" val="14865510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a:lstStyle/>
          <a:p>
            <a:pPr>
              <a:spcBef>
                <a:spcPct val="0"/>
              </a:spcBef>
            </a:pPr>
            <a:r>
              <a:rPr lang="en-US" dirty="0">
                <a:latin typeface="Verdana" charset="0"/>
              </a:rPr>
              <a:t>Louis-Jacques-</a:t>
            </a:r>
            <a:r>
              <a:rPr lang="en-US" dirty="0" err="1">
                <a:latin typeface="Verdana" charset="0"/>
              </a:rPr>
              <a:t>Mandé</a:t>
            </a:r>
            <a:r>
              <a:rPr lang="en-US" dirty="0">
                <a:latin typeface="Verdana" charset="0"/>
              </a:rPr>
              <a:t> Daguerre THE ARTIST</a:t>
            </a:r>
            <a:r>
              <a:rPr lang="uk-UA" dirty="0">
                <a:latin typeface="Verdana" charset="0"/>
              </a:rPr>
              <a:t>'</a:t>
            </a:r>
            <a:r>
              <a:rPr lang="en-US" dirty="0">
                <a:latin typeface="Verdana" charset="0"/>
              </a:rPr>
              <a:t>S STUDIO</a:t>
            </a:r>
            <a:br>
              <a:rPr lang="en-US" dirty="0">
                <a:latin typeface="Verdana" charset="0"/>
              </a:rPr>
            </a:br>
            <a:r>
              <a:rPr lang="en-US" dirty="0">
                <a:latin typeface="Verdana" charset="0"/>
              </a:rPr>
              <a:t>1837. Daguerreotype, 6-1/2</a:t>
            </a:r>
            <a:r>
              <a:rPr lang="ru-RU" dirty="0">
                <a:latin typeface="Verdana" charset="0"/>
              </a:rPr>
              <a:t>"</a:t>
            </a:r>
            <a:r>
              <a:rPr lang="en-US" dirty="0">
                <a:latin typeface="Verdana" charset="0"/>
              </a:rPr>
              <a:t> × 8-1/2</a:t>
            </a:r>
            <a:r>
              <a:rPr lang="ru-RU" dirty="0">
                <a:latin typeface="Verdana" charset="0"/>
              </a:rPr>
              <a:t>"</a:t>
            </a:r>
            <a:r>
              <a:rPr lang="en-US" dirty="0">
                <a:latin typeface="Verdana" charset="0"/>
              </a:rPr>
              <a:t> (16.5 × 21.6 cm).</a:t>
            </a:r>
            <a:br>
              <a:rPr lang="en-US" dirty="0">
                <a:latin typeface="Verdana" charset="0"/>
              </a:rPr>
            </a:br>
            <a:r>
              <a:rPr lang="en-US" dirty="0">
                <a:latin typeface="Verdana" charset="0"/>
              </a:rPr>
              <a:t>Société </a:t>
            </a:r>
            <a:r>
              <a:rPr lang="en-US" dirty="0" err="1">
                <a:latin typeface="Verdana" charset="0"/>
              </a:rPr>
              <a:t>Française</a:t>
            </a:r>
            <a:r>
              <a:rPr lang="en-US" dirty="0">
                <a:latin typeface="Verdana" charset="0"/>
              </a:rPr>
              <a:t> de </a:t>
            </a:r>
            <a:r>
              <a:rPr lang="en-US" dirty="0" err="1">
                <a:latin typeface="Verdana" charset="0"/>
              </a:rPr>
              <a:t>Photographie</a:t>
            </a:r>
            <a:r>
              <a:rPr lang="en-US" dirty="0">
                <a:latin typeface="Verdana" charset="0"/>
              </a:rPr>
              <a:t>, Paris. © </a:t>
            </a:r>
            <a:r>
              <a:rPr lang="en-US" dirty="0" err="1">
                <a:latin typeface="Verdana" charset="0"/>
              </a:rPr>
              <a:t>akg</a:t>
            </a:r>
            <a:r>
              <a:rPr lang="en-US" dirty="0">
                <a:latin typeface="Verdana" charset="0"/>
              </a:rPr>
              <a:t>-images. </a:t>
            </a:r>
            <a:endParaRPr lang="en-US" dirty="0"/>
          </a:p>
        </p:txBody>
      </p:sp>
      <p:sp>
        <p:nvSpPr>
          <p:cNvPr id="40963" name="Slide Number Placeholder 3"/>
          <p:cNvSpPr>
            <a:spLocks noGrp="1"/>
          </p:cNvSpPr>
          <p:nvPr>
            <p:ph type="sldNum" sz="quarter" idx="5"/>
          </p:nvPr>
        </p:nvSpPr>
        <p:spPr bwMode="auto">
          <a:noFill/>
          <a:ln>
            <a:miter lim="800000"/>
            <a:headEnd/>
            <a:tailEnd/>
          </a:ln>
        </p:spPr>
        <p:txBody>
          <a:bodyPr/>
          <a:lstStyle/>
          <a:p>
            <a:fld id="{5B27CE98-2FD0-A747-B3D8-08CFF16FDB85}" type="slidenum">
              <a:rPr lang="en-US"/>
              <a:pPr/>
              <a:t>67</a:t>
            </a:fld>
            <a:endParaRPr lang="en-US"/>
          </a:p>
        </p:txBody>
      </p:sp>
    </p:spTree>
    <p:extLst>
      <p:ext uri="{BB962C8B-B14F-4D97-AF65-F5344CB8AC3E}">
        <p14:creationId xmlns:p14="http://schemas.microsoft.com/office/powerpoint/2010/main" val="638210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p:spPr>
      </p:sp>
      <p:sp>
        <p:nvSpPr>
          <p:cNvPr id="44034" name="Notes Placeholder 2"/>
          <p:cNvSpPr>
            <a:spLocks noGrp="1"/>
          </p:cNvSpPr>
          <p:nvPr>
            <p:ph type="body" idx="1"/>
          </p:nvPr>
        </p:nvSpPr>
        <p:spPr bwMode="auto">
          <a:noFill/>
        </p:spPr>
        <p:txBody>
          <a:bodyPr/>
          <a:lstStyle/>
          <a:p>
            <a:pPr>
              <a:spcBef>
                <a:spcPct val="0"/>
              </a:spcBef>
            </a:pPr>
            <a:r>
              <a:rPr lang="en-US" dirty="0"/>
              <a:t>DAGUERREOTYPE OF SAMUEL FINLEY BREESE MORSE</a:t>
            </a:r>
            <a:br>
              <a:rPr lang="en-US" dirty="0"/>
            </a:br>
            <a:r>
              <a:rPr lang="en-US" dirty="0"/>
              <a:t>c. 1845. Sixth plate daguerreotype, 2-3/4</a:t>
            </a:r>
            <a:r>
              <a:rPr lang="ru-RU" dirty="0"/>
              <a:t>"</a:t>
            </a:r>
            <a:r>
              <a:rPr lang="en-US" dirty="0"/>
              <a:t> × 3-1/4</a:t>
            </a:r>
            <a:r>
              <a:rPr lang="ru-RU" dirty="0"/>
              <a:t>"</a:t>
            </a:r>
            <a:r>
              <a:rPr lang="en-US" dirty="0"/>
              <a:t> (7 × 8.3 cm).</a:t>
            </a:r>
            <a:br>
              <a:rPr lang="en-US" dirty="0"/>
            </a:br>
            <a:r>
              <a:rPr lang="en-US" dirty="0"/>
              <a:t>The Daguerreotype Collection of the Library of Congress, Washington, DC. Courtesy the Library of Congress. </a:t>
            </a:r>
          </a:p>
        </p:txBody>
      </p:sp>
      <p:sp>
        <p:nvSpPr>
          <p:cNvPr id="44035" name="Slide Number Placeholder 3"/>
          <p:cNvSpPr>
            <a:spLocks noGrp="1"/>
          </p:cNvSpPr>
          <p:nvPr>
            <p:ph type="sldNum" sz="quarter" idx="5"/>
          </p:nvPr>
        </p:nvSpPr>
        <p:spPr bwMode="auto">
          <a:noFill/>
          <a:ln>
            <a:miter lim="800000"/>
            <a:headEnd/>
            <a:tailEnd/>
          </a:ln>
        </p:spPr>
        <p:txBody>
          <a:bodyPr/>
          <a:lstStyle/>
          <a:p>
            <a:fld id="{BE564ADB-6FCE-4947-B479-08BCA655A0B0}" type="slidenum">
              <a:rPr lang="en-US"/>
              <a:pPr/>
              <a:t>69</a:t>
            </a:fld>
            <a:endParaRPr lang="en-US"/>
          </a:p>
        </p:txBody>
      </p:sp>
    </p:spTree>
    <p:extLst>
      <p:ext uri="{BB962C8B-B14F-4D97-AF65-F5344CB8AC3E}">
        <p14:creationId xmlns:p14="http://schemas.microsoft.com/office/powerpoint/2010/main" val="18676495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p:spPr>
      </p:sp>
      <p:sp>
        <p:nvSpPr>
          <p:cNvPr id="48130" name="Notes Placeholder 2"/>
          <p:cNvSpPr>
            <a:spLocks noGrp="1"/>
          </p:cNvSpPr>
          <p:nvPr>
            <p:ph type="body" idx="1"/>
          </p:nvPr>
        </p:nvSpPr>
        <p:spPr bwMode="auto">
          <a:noFill/>
        </p:spPr>
        <p:txBody>
          <a:bodyPr/>
          <a:lstStyle/>
          <a:p>
            <a:pPr>
              <a:spcBef>
                <a:spcPct val="0"/>
              </a:spcBef>
            </a:pPr>
            <a:r>
              <a:rPr lang="en-US" dirty="0"/>
              <a:t>Henry Fox Talbot THE OPEN DOOR</a:t>
            </a:r>
            <a:br>
              <a:rPr lang="en-US" dirty="0"/>
            </a:br>
            <a:r>
              <a:rPr lang="en-US" dirty="0"/>
              <a:t>1843. Salt-paper print from a calotype negative, 5-5/8</a:t>
            </a:r>
            <a:r>
              <a:rPr lang="ru-RU" dirty="0"/>
              <a:t>"</a:t>
            </a:r>
            <a:r>
              <a:rPr lang="en-US" dirty="0"/>
              <a:t> × 7-11/16</a:t>
            </a:r>
            <a:r>
              <a:rPr lang="ru-RU" dirty="0"/>
              <a:t>"</a:t>
            </a:r>
            <a:r>
              <a:rPr lang="en-US" dirty="0"/>
              <a:t> (14.3 × 19.5 cm). Science Museum, London. Fox Talbot Collection. © National Media Museum/Science &amp; Society Picture Library.</a:t>
            </a:r>
          </a:p>
        </p:txBody>
      </p:sp>
      <p:sp>
        <p:nvSpPr>
          <p:cNvPr id="48131" name="Slide Number Placeholder 3"/>
          <p:cNvSpPr>
            <a:spLocks noGrp="1"/>
          </p:cNvSpPr>
          <p:nvPr>
            <p:ph type="sldNum" sz="quarter" idx="5"/>
          </p:nvPr>
        </p:nvSpPr>
        <p:spPr bwMode="auto">
          <a:noFill/>
          <a:ln>
            <a:miter lim="800000"/>
            <a:headEnd/>
            <a:tailEnd/>
          </a:ln>
        </p:spPr>
        <p:txBody>
          <a:bodyPr/>
          <a:lstStyle/>
          <a:p>
            <a:fld id="{C6379FF7-0C32-8443-90E3-4B3392D42C2F}" type="slidenum">
              <a:rPr lang="en-US"/>
              <a:pPr/>
              <a:t>72</a:t>
            </a:fld>
            <a:endParaRPr lang="en-US"/>
          </a:p>
        </p:txBody>
      </p:sp>
    </p:spTree>
    <p:extLst>
      <p:ext uri="{BB962C8B-B14F-4D97-AF65-F5344CB8AC3E}">
        <p14:creationId xmlns:p14="http://schemas.microsoft.com/office/powerpoint/2010/main" val="1965472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a:lstStyle/>
          <a:p>
            <a:pPr>
              <a:spcBef>
                <a:spcPct val="0"/>
              </a:spcBef>
            </a:pPr>
            <a:r>
              <a:rPr lang="en-US" dirty="0"/>
              <a:t>Alexander Gardner THE HOME OF THE REBEL SHARPSHOOTER:</a:t>
            </a:r>
            <a:br>
              <a:rPr lang="en-US" dirty="0"/>
            </a:br>
            <a:r>
              <a:rPr lang="en-US" dirty="0"/>
              <a:t>BATTLEFIELD AT GETTYSBURG</a:t>
            </a:r>
            <a:br>
              <a:rPr lang="en-US" dirty="0"/>
            </a:br>
            <a:r>
              <a:rPr lang="en-US" dirty="0"/>
              <a:t>1863. Albumen print, 7</a:t>
            </a:r>
            <a:r>
              <a:rPr lang="ru-RU" dirty="0"/>
              <a:t>"</a:t>
            </a:r>
            <a:r>
              <a:rPr lang="en-US" dirty="0"/>
              <a:t> × 9</a:t>
            </a:r>
            <a:r>
              <a:rPr lang="ru-RU" dirty="0"/>
              <a:t>"</a:t>
            </a:r>
            <a:r>
              <a:rPr lang="en-US" dirty="0"/>
              <a:t> (18 × 23 cm).</a:t>
            </a:r>
            <a:br>
              <a:rPr lang="en-US" dirty="0"/>
            </a:br>
            <a:r>
              <a:rPr lang="en-US" dirty="0"/>
              <a:t>Library of Congress, Washington, DC. Courtesy the Library of Congress </a:t>
            </a:r>
          </a:p>
        </p:txBody>
      </p:sp>
      <p:sp>
        <p:nvSpPr>
          <p:cNvPr id="51203" name="Slide Number Placeholder 3"/>
          <p:cNvSpPr>
            <a:spLocks noGrp="1"/>
          </p:cNvSpPr>
          <p:nvPr>
            <p:ph type="sldNum" sz="quarter" idx="5"/>
          </p:nvPr>
        </p:nvSpPr>
        <p:spPr bwMode="auto">
          <a:noFill/>
          <a:ln>
            <a:miter lim="800000"/>
            <a:headEnd/>
            <a:tailEnd/>
          </a:ln>
        </p:spPr>
        <p:txBody>
          <a:bodyPr/>
          <a:lstStyle/>
          <a:p>
            <a:fld id="{0785F8E4-980E-464A-AF3E-1490986928C9}" type="slidenum">
              <a:rPr lang="en-US"/>
              <a:pPr/>
              <a:t>74</a:t>
            </a:fld>
            <a:endParaRPr lang="en-US"/>
          </a:p>
        </p:txBody>
      </p:sp>
    </p:spTree>
    <p:extLst>
      <p:ext uri="{BB962C8B-B14F-4D97-AF65-F5344CB8AC3E}">
        <p14:creationId xmlns:p14="http://schemas.microsoft.com/office/powerpoint/2010/main" val="11094713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p:spPr>
      </p:sp>
      <p:sp>
        <p:nvSpPr>
          <p:cNvPr id="54274"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Julia Margaret Cameron PORTRAIT OF THOMAS CARLYLE</a:t>
            </a:r>
            <a:br>
              <a:rPr lang="en-US" dirty="0">
                <a:solidFill>
                  <a:schemeClr val="bg1"/>
                </a:solidFill>
                <a:latin typeface="Verdana" charset="0"/>
              </a:rPr>
            </a:br>
            <a:r>
              <a:rPr lang="en-US" dirty="0">
                <a:solidFill>
                  <a:schemeClr val="bg1"/>
                </a:solidFill>
                <a:latin typeface="Verdana" charset="0"/>
              </a:rPr>
              <a:t>1867. Silver print, 10</a:t>
            </a:r>
            <a:r>
              <a:rPr lang="ru-RU" dirty="0">
                <a:solidFill>
                  <a:schemeClr val="bg1"/>
                </a:solidFill>
                <a:latin typeface="Verdana" charset="0"/>
              </a:rPr>
              <a:t>"</a:t>
            </a:r>
            <a:r>
              <a:rPr lang="en-US" dirty="0">
                <a:solidFill>
                  <a:schemeClr val="bg1"/>
                </a:solidFill>
                <a:latin typeface="Verdana" charset="0"/>
              </a:rPr>
              <a:t> × 8</a:t>
            </a:r>
            <a:r>
              <a:rPr lang="ru-RU" dirty="0">
                <a:solidFill>
                  <a:schemeClr val="bg1"/>
                </a:solidFill>
                <a:latin typeface="Verdana" charset="0"/>
              </a:rPr>
              <a:t>"</a:t>
            </a:r>
            <a:r>
              <a:rPr lang="en-US" dirty="0">
                <a:solidFill>
                  <a:schemeClr val="bg1"/>
                </a:solidFill>
                <a:latin typeface="Verdana" charset="0"/>
              </a:rPr>
              <a:t> (25.4 × 20.3 cm).</a:t>
            </a:r>
            <a:br>
              <a:rPr lang="en-US" dirty="0">
                <a:solidFill>
                  <a:schemeClr val="bg1"/>
                </a:solidFill>
                <a:latin typeface="Verdana" charset="0"/>
              </a:rPr>
            </a:br>
            <a:r>
              <a:rPr lang="en-US" dirty="0">
                <a:solidFill>
                  <a:schemeClr val="bg1"/>
                </a:solidFill>
                <a:latin typeface="Verdana" charset="0"/>
              </a:rPr>
              <a:t>The Royal Photographic Society, Collection at National Museum of Photography, Film, and Television, </a:t>
            </a:r>
            <a:r>
              <a:rPr lang="en-US">
                <a:solidFill>
                  <a:schemeClr val="bg1"/>
                </a:solidFill>
                <a:latin typeface="Verdana" charset="0"/>
              </a:rPr>
              <a:t>England.</a:t>
            </a:r>
            <a:endParaRPr lang="en-US" dirty="0"/>
          </a:p>
        </p:txBody>
      </p:sp>
      <p:sp>
        <p:nvSpPr>
          <p:cNvPr id="54275" name="Slide Number Placeholder 3"/>
          <p:cNvSpPr>
            <a:spLocks noGrp="1"/>
          </p:cNvSpPr>
          <p:nvPr>
            <p:ph type="sldNum" sz="quarter" idx="5"/>
          </p:nvPr>
        </p:nvSpPr>
        <p:spPr bwMode="auto">
          <a:noFill/>
          <a:ln>
            <a:miter lim="800000"/>
            <a:headEnd/>
            <a:tailEnd/>
          </a:ln>
        </p:spPr>
        <p:txBody>
          <a:bodyPr/>
          <a:lstStyle/>
          <a:p>
            <a:fld id="{BEAFB9B1-078D-9B4A-8F69-F652C54033D0}" type="slidenum">
              <a:rPr lang="en-US"/>
              <a:pPr/>
              <a:t>76</a:t>
            </a:fld>
            <a:endParaRPr lang="en-US"/>
          </a:p>
        </p:txBody>
      </p:sp>
    </p:spTree>
    <p:extLst>
      <p:ext uri="{BB962C8B-B14F-4D97-AF65-F5344CB8AC3E}">
        <p14:creationId xmlns:p14="http://schemas.microsoft.com/office/powerpoint/2010/main" val="283699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6/22/2020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6/22/2020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A26AD-098D-244B-A030-BB4F03A4F828}"/>
              </a:ext>
            </a:extLst>
          </p:cNvPr>
          <p:cNvSpPr>
            <a:spLocks noGrp="1"/>
          </p:cNvSpPr>
          <p:nvPr>
            <p:ph type="ctrTitle"/>
          </p:nvPr>
        </p:nvSpPr>
        <p:spPr/>
        <p:txBody>
          <a:bodyPr/>
          <a:lstStyle/>
          <a:p>
            <a:r>
              <a:rPr lang="en-US" dirty="0"/>
              <a:t>Chapter 26</a:t>
            </a:r>
          </a:p>
        </p:txBody>
      </p:sp>
      <p:sp>
        <p:nvSpPr>
          <p:cNvPr id="3" name="Subtitle 2">
            <a:extLst>
              <a:ext uri="{FF2B5EF4-FFF2-40B4-BE49-F238E27FC236}">
                <a16:creationId xmlns:a16="http://schemas.microsoft.com/office/drawing/2014/main" id="{6679DDB0-516C-364C-92B4-C7BD46517DE7}"/>
              </a:ext>
            </a:extLst>
          </p:cNvPr>
          <p:cNvSpPr>
            <a:spLocks noGrp="1"/>
          </p:cNvSpPr>
          <p:nvPr>
            <p:ph type="subTitle" idx="1"/>
          </p:nvPr>
        </p:nvSpPr>
        <p:spPr/>
        <p:txBody>
          <a:bodyPr/>
          <a:lstStyle/>
          <a:p>
            <a:r>
              <a:rPr lang="en-US" dirty="0"/>
              <a:t>Progress and Its Discontents:</a:t>
            </a:r>
            <a:br>
              <a:rPr lang="en-US" dirty="0"/>
            </a:br>
            <a:r>
              <a:rPr lang="en-US" dirty="0"/>
              <a:t>Post-Impressionism, Symbolism, and Art Nouveau, 1880–1905 </a:t>
            </a:r>
          </a:p>
        </p:txBody>
      </p:sp>
    </p:spTree>
    <p:extLst>
      <p:ext uri="{BB962C8B-B14F-4D97-AF65-F5344CB8AC3E}">
        <p14:creationId xmlns:p14="http://schemas.microsoft.com/office/powerpoint/2010/main" val="259463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76200"/>
            <a:ext cx="8229600" cy="1097280"/>
          </a:xfrm>
        </p:spPr>
        <p:txBody>
          <a:bodyPr/>
          <a:lstStyle/>
          <a:p>
            <a:r>
              <a:rPr lang="en-US" dirty="0"/>
              <a:t>Learning Objectives</a:t>
            </a:r>
          </a:p>
        </p:txBody>
      </p:sp>
      <p:sp>
        <p:nvSpPr>
          <p:cNvPr id="9218" name="Content Placeholder 2"/>
          <p:cNvSpPr>
            <a:spLocks noGrp="1"/>
          </p:cNvSpPr>
          <p:nvPr>
            <p:ph idx="1"/>
          </p:nvPr>
        </p:nvSpPr>
        <p:spPr>
          <a:xfrm>
            <a:off x="457200" y="1308628"/>
            <a:ext cx="8229600" cy="4525963"/>
          </a:xfrm>
        </p:spPr>
        <p:txBody>
          <a:bodyPr/>
          <a:lstStyle/>
          <a:p>
            <a:pPr marL="457200" lvl="0" indent="-457200" fontAlgn="base">
              <a:buFont typeface="+mj-lt"/>
              <a:buAutoNum type="arabicPeriod"/>
            </a:pPr>
            <a:r>
              <a:rPr lang="en-US" dirty="0"/>
              <a:t>Describe the Modernity that emerged in the closing decades of the century, the many complex issues surrounding it, and the broad impact that Modernity had on avant-garde art.</a:t>
            </a:r>
          </a:p>
          <a:p>
            <a:pPr marL="457200" lvl="0" indent="-457200" fontAlgn="base">
              <a:buFont typeface="+mj-lt"/>
              <a:buAutoNum type="arabicPeriod"/>
            </a:pPr>
            <a:r>
              <a:rPr lang="en-US" dirty="0"/>
              <a:t>Discuss the different ways American and European modern architecture of this period from 1880 to 1906 both broke away from the previously dominant revival styles and also was spiritual, thus sharing some of the concerns of the Postmodernists and Symbolists.</a:t>
            </a:r>
          </a:p>
          <a:p>
            <a:pPr marL="457200" lvl="0" indent="-457200" fontAlgn="base">
              <a:buFont typeface="+mj-lt"/>
              <a:buAutoNum type="arabicPeriod"/>
            </a:pPr>
            <a:r>
              <a:rPr lang="en-US" dirty="0"/>
              <a:t>Identify the qualities that the Post-Impressionists and Symbolists took from the Impressionists, and the qualities they abandoned or rejected.</a:t>
            </a:r>
          </a:p>
          <a:p>
            <a:pPr marL="457200" lvl="0" indent="-457200" fontAlgn="base">
              <a:buFont typeface="+mj-lt"/>
              <a:buAutoNum type="arabicPeriod"/>
            </a:pPr>
            <a:r>
              <a:rPr lang="en-US" dirty="0"/>
              <a:t>Explain why fine art photographers were so preoccupied with establishing their medium as a major art form, and how their work reflects the same issues found in painting, sculpture, and architecture of the late nineteenth/early twentieth century.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9"/>
          <p:cNvSpPr>
            <a:spLocks noGrp="1"/>
          </p:cNvSpPr>
          <p:nvPr>
            <p:ph type="title"/>
          </p:nvPr>
        </p:nvSpPr>
        <p:spPr/>
        <p:txBody>
          <a:bodyPr/>
          <a:lstStyle/>
          <a:p>
            <a:r>
              <a:rPr lang="en-US" dirty="0"/>
              <a:t>Modern Life (1)</a:t>
            </a:r>
          </a:p>
        </p:txBody>
      </p:sp>
      <p:sp>
        <p:nvSpPr>
          <p:cNvPr id="126978" name="Content Placeholder 20"/>
          <p:cNvSpPr>
            <a:spLocks noGrp="1"/>
          </p:cNvSpPr>
          <p:nvPr>
            <p:ph idx="1"/>
          </p:nvPr>
        </p:nvSpPr>
        <p:spPr/>
        <p:txBody>
          <a:bodyPr/>
          <a:lstStyle/>
          <a:p>
            <a:r>
              <a:rPr lang="en-US" dirty="0"/>
              <a:t>The work of Edgar Degas often depicted observances of rehearsals and performance of ballet.</a:t>
            </a:r>
          </a:p>
          <a:p>
            <a:pPr lvl="1"/>
            <a:r>
              <a:rPr lang="en-US" i="1" dirty="0"/>
              <a:t>The Rehearsal on Stage </a:t>
            </a:r>
            <a:r>
              <a:rPr lang="en-US" dirty="0"/>
              <a:t>is not a factual record, but a contrivance viewed from the angled perspective of an opera box.</a:t>
            </a:r>
          </a:p>
          <a:p>
            <a:pPr lvl="1"/>
            <a:r>
              <a:rPr lang="en-US" dirty="0"/>
              <a:t>Dancers stretch, look bored or exhausted, and are watched over by several </a:t>
            </a:r>
            <a:r>
              <a:rPr lang="ru-RU" dirty="0"/>
              <a:t>"</a:t>
            </a:r>
            <a:r>
              <a:rPr lang="en-US" dirty="0"/>
              <a:t>protectors.</a:t>
            </a:r>
            <a:r>
              <a:rPr lang="ru-RU" dirty="0"/>
              <a:t>”</a:t>
            </a:r>
            <a:endParaRPr lang="en-US" dirty="0"/>
          </a:p>
          <a:p>
            <a:r>
              <a:rPr lang="en-US" dirty="0"/>
              <a:t>Degas</a:t>
            </a:r>
            <a:r>
              <a:rPr lang="uk-UA" dirty="0"/>
              <a:t>'</a:t>
            </a:r>
            <a:r>
              <a:rPr lang="en-US" dirty="0"/>
              <a:t>s later images include intimate scenes of bathing women.</a:t>
            </a:r>
          </a:p>
          <a:p>
            <a:pPr lvl="1"/>
            <a:r>
              <a:rPr lang="en-US" i="1" dirty="0"/>
              <a:t>The Tub </a:t>
            </a:r>
            <a:r>
              <a:rPr lang="en-US" dirty="0"/>
              <a:t>is rendered from an elevated, domineering vantage point, evidenced by the tipped-up table with a still life of objects associated with bathing.</a:t>
            </a:r>
          </a:p>
          <a:p>
            <a:pPr lvl="1"/>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3"/>
          <p:cNvSpPr>
            <a:spLocks noGrp="1"/>
          </p:cNvSpPr>
          <p:nvPr>
            <p:ph type="title"/>
          </p:nvPr>
        </p:nvSpPr>
        <p:spPr>
          <a:xfrm>
            <a:off x="457200" y="5715000"/>
            <a:ext cx="8229600" cy="685800"/>
          </a:xfrm>
        </p:spPr>
        <p:txBody>
          <a:bodyPr>
            <a:normAutofit fontScale="90000"/>
          </a:bodyPr>
          <a:lstStyle/>
          <a:p>
            <a:r>
              <a:rPr lang="en-US" dirty="0"/>
              <a:t>Edgar Degas THE REHEARSAL ON STAGE</a:t>
            </a:r>
            <a:br>
              <a:rPr lang="en-US" dirty="0"/>
            </a:br>
            <a:r>
              <a:rPr lang="en-US" dirty="0"/>
              <a:t>c. 1874. Pastel over brush-and-ink drawing on thin, cream-colored wove paper, laid on </a:t>
            </a:r>
            <a:r>
              <a:rPr lang="en-US" dirty="0" err="1"/>
              <a:t>bristol</a:t>
            </a:r>
            <a:r>
              <a:rPr lang="en-US" dirty="0"/>
              <a:t> board, mounted on canvas, 21-3/8</a:t>
            </a:r>
            <a:r>
              <a:rPr lang="ru-RU" dirty="0"/>
              <a:t>"</a:t>
            </a:r>
            <a:r>
              <a:rPr lang="en-US" dirty="0"/>
              <a:t> × 28-3/4</a:t>
            </a:r>
            <a:r>
              <a:rPr lang="ru-RU" dirty="0"/>
              <a:t>"</a:t>
            </a:r>
            <a:r>
              <a:rPr lang="en-US" dirty="0"/>
              <a:t> (54.3 × 73 cm).</a:t>
            </a:r>
            <a:br>
              <a:rPr lang="en-US" dirty="0"/>
            </a:br>
            <a:r>
              <a:rPr lang="en-US" dirty="0"/>
              <a:t>Metropolitan Museum of Art, New York. Bequest of Mrs. H. O. </a:t>
            </a:r>
            <a:r>
              <a:rPr lang="en-US" dirty="0" err="1"/>
              <a:t>Havemeyer</a:t>
            </a:r>
            <a:r>
              <a:rPr lang="en-US" dirty="0"/>
              <a:t> Collection, Gift of Horace </a:t>
            </a:r>
            <a:r>
              <a:rPr lang="en-US" dirty="0" err="1"/>
              <a:t>Havemeyer</a:t>
            </a:r>
            <a:r>
              <a:rPr lang="en-US" dirty="0"/>
              <a:t>, 1929 (29.160.26). © 2016. Image copyright The Metropolitan Museum of Art/Art Resource, NY/Scala, Florence. </a:t>
            </a:r>
          </a:p>
        </p:txBody>
      </p:sp>
      <p:pic>
        <p:nvPicPr>
          <p:cNvPr id="2" name="Picture 1" descr="Young women, or perhaps girls, gather in a large studio to practice steps under the direction of a man in a black suit, who gestures with his hands like an orchestra conducto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3"/>
          <p:cNvSpPr>
            <a:spLocks noGrp="1"/>
          </p:cNvSpPr>
          <p:nvPr>
            <p:ph type="title"/>
          </p:nvPr>
        </p:nvSpPr>
        <p:spPr/>
        <p:txBody>
          <a:bodyPr>
            <a:normAutofit fontScale="90000"/>
          </a:bodyPr>
          <a:lstStyle/>
          <a:p>
            <a:r>
              <a:rPr lang="en-US" dirty="0"/>
              <a:t>Edgar Degas THE TUB</a:t>
            </a:r>
            <a:br>
              <a:rPr lang="en-US" dirty="0"/>
            </a:br>
            <a:r>
              <a:rPr lang="en-US" dirty="0"/>
              <a:t>1886. Pastel on cardboard, 23-5/8</a:t>
            </a:r>
            <a:r>
              <a:rPr lang="ru-RU" dirty="0"/>
              <a:t>"</a:t>
            </a:r>
            <a:r>
              <a:rPr lang="en-US" dirty="0"/>
              <a:t> × 32-5/8</a:t>
            </a:r>
            <a:r>
              <a:rPr lang="ru-RU" dirty="0"/>
              <a:t>"</a:t>
            </a:r>
            <a:r>
              <a:rPr lang="en-US" dirty="0"/>
              <a:t> (60 × 83 cm).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 </a:t>
            </a:r>
          </a:p>
        </p:txBody>
      </p:sp>
      <p:pic>
        <p:nvPicPr>
          <p:cNvPr id="2" name="Picture 1" descr="A nude woman kneels in a wide but shallow, circular metal tub, rubbing her neck with a large sponge. A table stands behind the woman, with two pitchers, hairpins, and a hairbrush atop 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9"/>
          <p:cNvSpPr>
            <a:spLocks noGrp="1"/>
          </p:cNvSpPr>
          <p:nvPr>
            <p:ph type="title"/>
          </p:nvPr>
        </p:nvSpPr>
        <p:spPr/>
        <p:txBody>
          <a:bodyPr/>
          <a:lstStyle/>
          <a:p>
            <a:r>
              <a:rPr lang="en-US" dirty="0"/>
              <a:t>Modern Life (2)</a:t>
            </a:r>
          </a:p>
        </p:txBody>
      </p:sp>
      <p:sp>
        <p:nvSpPr>
          <p:cNvPr id="133122" name="Content Placeholder 20"/>
          <p:cNvSpPr>
            <a:spLocks noGrp="1"/>
          </p:cNvSpPr>
          <p:nvPr>
            <p:ph idx="1"/>
          </p:nvPr>
        </p:nvSpPr>
        <p:spPr/>
        <p:txBody>
          <a:bodyPr/>
          <a:lstStyle/>
          <a:p>
            <a:r>
              <a:rPr lang="en-US"/>
              <a:t>Mary Cassatt was an American expatriate living in Paris who befriended Degas.</a:t>
            </a:r>
          </a:p>
          <a:p>
            <a:pPr lvl="1"/>
            <a:r>
              <a:rPr lang="en-US"/>
              <a:t>Her work sought to counteract the clichéd conceptions of the domestic and social life of bourgeois women.</a:t>
            </a:r>
          </a:p>
          <a:p>
            <a:pPr lvl="1"/>
            <a:r>
              <a:rPr lang="en-US" i="1"/>
              <a:t>Mother and Child </a:t>
            </a:r>
            <a:r>
              <a:rPr lang="en-US"/>
              <a:t>features contrast between loosely painted clothing and solidly modeled forms of faces and hands.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3"/>
          <p:cNvSpPr>
            <a:spLocks noGrp="1"/>
          </p:cNvSpPr>
          <p:nvPr>
            <p:ph type="title"/>
          </p:nvPr>
        </p:nvSpPr>
        <p:spPr/>
        <p:txBody>
          <a:bodyPr>
            <a:normAutofit fontScale="90000"/>
          </a:bodyPr>
          <a:lstStyle/>
          <a:p>
            <a:r>
              <a:rPr lang="en-US" dirty="0"/>
              <a:t>Mary Cassatt MOTHER AND CHILD</a:t>
            </a:r>
            <a:br>
              <a:rPr lang="en-US" dirty="0"/>
            </a:br>
            <a:r>
              <a:rPr lang="en-US" dirty="0"/>
              <a:t>c. 1890. Oil on canvas, 35-1/2</a:t>
            </a:r>
            <a:r>
              <a:rPr lang="ru-RU" dirty="0"/>
              <a:t>"</a:t>
            </a:r>
            <a:r>
              <a:rPr lang="en-US" dirty="0"/>
              <a:t> × 25-3/8</a:t>
            </a:r>
            <a:r>
              <a:rPr lang="ru-RU" dirty="0"/>
              <a:t>"</a:t>
            </a:r>
            <a:r>
              <a:rPr lang="en-US" dirty="0"/>
              <a:t> (90.2 × 64.5 cm).</a:t>
            </a:r>
            <a:br>
              <a:rPr lang="en-US" dirty="0"/>
            </a:br>
            <a:r>
              <a:rPr lang="en-US" dirty="0"/>
              <a:t>Wichita Art Museum, Kansas. </a:t>
            </a:r>
          </a:p>
        </p:txBody>
      </p:sp>
      <p:pic>
        <p:nvPicPr>
          <p:cNvPr id="2" name="Picture 1" descr="A woman in a patterned, pink dress sits with a child on her lap, dressed in a white nightshirt. A wash basin and large pitcher sit on tables in the back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9"/>
          <p:cNvSpPr>
            <a:spLocks noGrp="1"/>
          </p:cNvSpPr>
          <p:nvPr>
            <p:ph type="title"/>
          </p:nvPr>
        </p:nvSpPr>
        <p:spPr/>
        <p:txBody>
          <a:bodyPr/>
          <a:lstStyle/>
          <a:p>
            <a:r>
              <a:rPr lang="en-US"/>
              <a:t>Modern Life (4 of 4)</a:t>
            </a:r>
          </a:p>
        </p:txBody>
      </p:sp>
      <p:sp>
        <p:nvSpPr>
          <p:cNvPr id="136194" name="Content Placeholder 20"/>
          <p:cNvSpPr>
            <a:spLocks noGrp="1"/>
          </p:cNvSpPr>
          <p:nvPr>
            <p:ph idx="1"/>
          </p:nvPr>
        </p:nvSpPr>
        <p:spPr/>
        <p:txBody>
          <a:bodyPr/>
          <a:lstStyle/>
          <a:p>
            <a:r>
              <a:rPr lang="en-US"/>
              <a:t>Gustave Caillebotte expressed his fascination for the regularized, radiating streets of Paris in </a:t>
            </a:r>
            <a:r>
              <a:rPr lang="en-US" i="1"/>
              <a:t>Paris Street, Rainy Day</a:t>
            </a:r>
            <a:r>
              <a:rPr lang="en-US"/>
              <a:t>.</a:t>
            </a:r>
          </a:p>
          <a:p>
            <a:pPr lvl="1"/>
            <a:r>
              <a:rPr lang="en-US"/>
              <a:t>This asymmetrical composition and tipped perspective highlights the streets as the subject amidst bustling, anonymous crowds.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3"/>
          <p:cNvSpPr>
            <a:spLocks noGrp="1"/>
          </p:cNvSpPr>
          <p:nvPr>
            <p:ph type="title"/>
          </p:nvPr>
        </p:nvSpPr>
        <p:spPr/>
        <p:txBody>
          <a:bodyPr>
            <a:normAutofit fontScale="90000"/>
          </a:bodyPr>
          <a:lstStyle/>
          <a:p>
            <a:r>
              <a:rPr lang="en-US" dirty="0"/>
              <a:t>Gustave Caillebotte PARIS STREET, RAINY DAY</a:t>
            </a:r>
            <a:br>
              <a:rPr lang="en-US" dirty="0"/>
            </a:br>
            <a:r>
              <a:rPr lang="en-US" dirty="0"/>
              <a:t>1877. Oil on canvas, 83-1/2</a:t>
            </a:r>
            <a:r>
              <a:rPr lang="ru-RU" dirty="0"/>
              <a:t>"</a:t>
            </a:r>
            <a:r>
              <a:rPr lang="en-US" dirty="0"/>
              <a:t> × 108-3/4</a:t>
            </a:r>
            <a:r>
              <a:rPr lang="ru-RU" dirty="0"/>
              <a:t>"</a:t>
            </a:r>
            <a:r>
              <a:rPr lang="en-US" dirty="0"/>
              <a:t> (212.2 × 276.2 cm).</a:t>
            </a:r>
            <a:br>
              <a:rPr lang="en-US" dirty="0"/>
            </a:br>
            <a:r>
              <a:rPr lang="en-US" dirty="0"/>
              <a:t>The Art Institute of Chicago. Charles H. and Mary F.S. Worcester Collection (1964.336). Photo © The Art Institute of Chicago. </a:t>
            </a:r>
          </a:p>
        </p:txBody>
      </p:sp>
      <p:pic>
        <p:nvPicPr>
          <p:cNvPr id="2" name="Picture 1" descr="A lamp post divides the scene into two smaller ones: on the left, a cobblestoned intersection diverges into other roads at acute angles, while on the right, a well-dressed couple approaches the viewer on the sidewalk, sharing an umbrella."/>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Title 1"/>
          <p:cNvSpPr>
            <a:spLocks noGrp="1"/>
          </p:cNvSpPr>
          <p:nvPr>
            <p:ph type="title"/>
          </p:nvPr>
        </p:nvSpPr>
        <p:spPr/>
        <p:txBody>
          <a:bodyPr/>
          <a:lstStyle/>
          <a:p>
            <a:r>
              <a:rPr lang="en-US"/>
              <a:t>Japonisme (1 of 2)</a:t>
            </a:r>
          </a:p>
        </p:txBody>
      </p:sp>
      <p:sp>
        <p:nvSpPr>
          <p:cNvPr id="222210" name="Content Placeholder 2"/>
          <p:cNvSpPr>
            <a:spLocks noGrp="1"/>
          </p:cNvSpPr>
          <p:nvPr>
            <p:ph idx="1"/>
          </p:nvPr>
        </p:nvSpPr>
        <p:spPr/>
        <p:txBody>
          <a:bodyPr/>
          <a:lstStyle/>
          <a:p>
            <a:r>
              <a:rPr lang="en-US"/>
              <a:t>After the forced reopening of the borders of Japan in 1853, artworks began to be distributed through Paris.</a:t>
            </a:r>
          </a:p>
          <a:p>
            <a:pPr lvl="1"/>
            <a:r>
              <a:rPr lang="en-US"/>
              <a:t>Soon, obsession with collecting Japanese objects and art was termed Japonisme. </a:t>
            </a:r>
          </a:p>
          <a:p>
            <a:r>
              <a:rPr lang="en-US"/>
              <a:t>Individual Japanese artists worked purely on aesthetic conception rather than Renaissance rules.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Title 1"/>
          <p:cNvSpPr>
            <a:spLocks noGrp="1"/>
          </p:cNvSpPr>
          <p:nvPr>
            <p:ph type="title"/>
          </p:nvPr>
        </p:nvSpPr>
        <p:spPr/>
        <p:txBody>
          <a:bodyPr>
            <a:normAutofit fontScale="90000"/>
          </a:bodyPr>
          <a:lstStyle/>
          <a:p>
            <a:r>
              <a:rPr lang="en-US" dirty="0"/>
              <a:t>Suzuki </a:t>
            </a:r>
            <a:r>
              <a:rPr lang="en-US" dirty="0" err="1"/>
              <a:t>Harunobu</a:t>
            </a:r>
            <a:r>
              <a:rPr lang="en-US" dirty="0"/>
              <a:t> YOUNG WOMAN LOOKING AT A POT OF PINKS</a:t>
            </a:r>
            <a:br>
              <a:rPr lang="en-US" dirty="0"/>
            </a:br>
            <a:r>
              <a:rPr lang="en-US" dirty="0"/>
              <a:t>c. 1767. Woodblock print, 10-5⁄8</a:t>
            </a:r>
            <a:r>
              <a:rPr lang="ru-RU" dirty="0"/>
              <a:t>"</a:t>
            </a:r>
            <a:r>
              <a:rPr lang="en-US" dirty="0"/>
              <a:t> × 7-1⁄2″ (27 × 19.2 cm).</a:t>
            </a:r>
            <a:br>
              <a:rPr lang="en-US" dirty="0"/>
            </a:br>
            <a:r>
              <a:rPr lang="en-US" dirty="0"/>
              <a:t>The Cleveland Museum of Art. Bridgeman Images. </a:t>
            </a:r>
          </a:p>
        </p:txBody>
      </p:sp>
      <p:pic>
        <p:nvPicPr>
          <p:cNvPr id="2" name="Picture 1" descr="A Japanese woman stands on the raised porch outside her home, near a river that expands to fill the background. In the middle of dressing in a robe, or perhaps undressing, her gaze falls on a small pot of pink flowers on the groun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Title 1"/>
          <p:cNvSpPr>
            <a:spLocks noGrp="1"/>
          </p:cNvSpPr>
          <p:nvPr>
            <p:ph type="title"/>
          </p:nvPr>
        </p:nvSpPr>
        <p:spPr/>
        <p:txBody>
          <a:bodyPr/>
          <a:lstStyle/>
          <a:p>
            <a:r>
              <a:rPr lang="en-US"/>
              <a:t>Japonisme (2 of 2)</a:t>
            </a:r>
          </a:p>
        </p:txBody>
      </p:sp>
      <p:sp>
        <p:nvSpPr>
          <p:cNvPr id="225282" name="Content Placeholder 2"/>
          <p:cNvSpPr>
            <a:spLocks noGrp="1"/>
          </p:cNvSpPr>
          <p:nvPr>
            <p:ph idx="1"/>
          </p:nvPr>
        </p:nvSpPr>
        <p:spPr/>
        <p:txBody>
          <a:bodyPr/>
          <a:lstStyle/>
          <a:p>
            <a:r>
              <a:rPr lang="en-US"/>
              <a:t>Cassatt directly emulated the </a:t>
            </a:r>
            <a:r>
              <a:rPr lang="en-US" i="1"/>
              <a:t>ukiyo-e</a:t>
            </a:r>
            <a:r>
              <a:rPr lang="en-US"/>
              <a:t> style, which she had seen at a 1890 exhibition of Japanese woodblock prints.</a:t>
            </a:r>
          </a:p>
          <a:p>
            <a:pPr lvl="1"/>
            <a:r>
              <a:rPr lang="en-US"/>
              <a:t>She created ten prints using aquatint and drypoint, and they featured cropped, asymmetrical compositions that would have been seen in Japanese prints.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Title 1"/>
          <p:cNvSpPr>
            <a:spLocks noGrp="1"/>
          </p:cNvSpPr>
          <p:nvPr>
            <p:ph type="title"/>
          </p:nvPr>
        </p:nvSpPr>
        <p:spPr/>
        <p:txBody>
          <a:bodyPr>
            <a:normAutofit fontScale="90000"/>
          </a:bodyPr>
          <a:lstStyle/>
          <a:p>
            <a:r>
              <a:rPr lang="en-US" dirty="0"/>
              <a:t>Mary Cassatt WOMAN BATHING</a:t>
            </a:r>
            <a:br>
              <a:rPr lang="en-US" dirty="0"/>
            </a:br>
            <a:r>
              <a:rPr lang="en-US" dirty="0"/>
              <a:t>1890–1891. Color </a:t>
            </a:r>
            <a:r>
              <a:rPr lang="en-US" dirty="0" err="1"/>
              <a:t>drypoint</a:t>
            </a:r>
            <a:r>
              <a:rPr lang="en-US" dirty="0"/>
              <a:t> and aquatint, 16-5⁄8</a:t>
            </a:r>
            <a:r>
              <a:rPr lang="ru-RU" dirty="0"/>
              <a:t>"</a:t>
            </a:r>
            <a:r>
              <a:rPr lang="en-US" dirty="0"/>
              <a:t> × 12″ (42.3 × 30.5 cm). National Gallery of Art, Washington, D.C., Chester Dale Collection (1963.10.253)</a:t>
            </a:r>
            <a:br>
              <a:rPr lang="en-US" dirty="0"/>
            </a:br>
            <a:r>
              <a:rPr lang="en-US" dirty="0"/>
              <a:t>Image courtesy the National Gallery of Art, Washington</a:t>
            </a:r>
          </a:p>
        </p:txBody>
      </p:sp>
      <p:pic>
        <p:nvPicPr>
          <p:cNvPr id="2" name="Picture 1" descr="A woman stands at her vanity with her back to the viewer, cupping a handful of water from her wash basin. She is naked above the waist, with her drape hanging down over her hips. The wall behind the vanity is solid blu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9"/>
          <p:cNvSpPr>
            <a:spLocks noGrp="1"/>
          </p:cNvSpPr>
          <p:nvPr>
            <p:ph type="title"/>
          </p:nvPr>
        </p:nvSpPr>
        <p:spPr/>
        <p:txBody>
          <a:bodyPr/>
          <a:lstStyle/>
          <a:p>
            <a:r>
              <a:rPr lang="en-US"/>
              <a:t>The Late Nineteenth Century</a:t>
            </a:r>
          </a:p>
        </p:txBody>
      </p:sp>
      <p:sp>
        <p:nvSpPr>
          <p:cNvPr id="139266" name="Content Placeholder 20"/>
          <p:cNvSpPr>
            <a:spLocks noGrp="1"/>
          </p:cNvSpPr>
          <p:nvPr>
            <p:ph idx="1"/>
          </p:nvPr>
        </p:nvSpPr>
        <p:spPr/>
        <p:txBody>
          <a:bodyPr/>
          <a:lstStyle/>
          <a:p>
            <a:r>
              <a:rPr lang="en-US"/>
              <a:t>Artists worked to developed new visual languages for their messages.</a:t>
            </a:r>
          </a:p>
          <a:p>
            <a:r>
              <a:rPr lang="en-US"/>
              <a:t>French Post-Impressionists interpreted art as an expression of the imagination.</a:t>
            </a:r>
          </a:p>
          <a:p>
            <a:pPr lvl="1"/>
            <a:r>
              <a:rPr lang="en-US"/>
              <a:t>Symbolist artists found a similar retreat in the imagination.</a:t>
            </a:r>
          </a:p>
          <a:p>
            <a:r>
              <a:rPr lang="en-US"/>
              <a:t>Art Nouveau artists rejected rational order in favor of whimsical, writhing designs.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Title 19"/>
          <p:cNvSpPr>
            <a:spLocks noGrp="1"/>
          </p:cNvSpPr>
          <p:nvPr>
            <p:ph type="title"/>
          </p:nvPr>
        </p:nvSpPr>
        <p:spPr/>
        <p:txBody>
          <a:bodyPr/>
          <a:lstStyle/>
          <a:p>
            <a:r>
              <a:rPr lang="en-US"/>
              <a:t>Post-Impressionism (1 of 5)</a:t>
            </a:r>
          </a:p>
        </p:txBody>
      </p:sp>
      <p:sp>
        <p:nvSpPr>
          <p:cNvPr id="140290" name="Content Placeholder 20"/>
          <p:cNvSpPr>
            <a:spLocks noGrp="1"/>
          </p:cNvSpPr>
          <p:nvPr>
            <p:ph idx="1"/>
          </p:nvPr>
        </p:nvSpPr>
        <p:spPr/>
        <p:txBody>
          <a:bodyPr/>
          <a:lstStyle/>
          <a:p>
            <a:r>
              <a:rPr lang="en-US"/>
              <a:t>Critic Roger Fry used this term as a description for a group of artists whose work was not unified, but shared the founding principles of Impressionism from which to adapt.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19"/>
          <p:cNvSpPr>
            <a:spLocks noGrp="1"/>
          </p:cNvSpPr>
          <p:nvPr>
            <p:ph type="title"/>
          </p:nvPr>
        </p:nvSpPr>
        <p:spPr/>
        <p:txBody>
          <a:bodyPr/>
          <a:lstStyle/>
          <a:p>
            <a:r>
              <a:rPr lang="en-US"/>
              <a:t>Post-Impressionism (2 of 5)</a:t>
            </a:r>
          </a:p>
        </p:txBody>
      </p:sp>
      <p:sp>
        <p:nvSpPr>
          <p:cNvPr id="141314" name="Content Placeholder 20"/>
          <p:cNvSpPr>
            <a:spLocks noGrp="1"/>
          </p:cNvSpPr>
          <p:nvPr>
            <p:ph idx="1"/>
          </p:nvPr>
        </p:nvSpPr>
        <p:spPr/>
        <p:txBody>
          <a:bodyPr/>
          <a:lstStyle/>
          <a:p>
            <a:r>
              <a:rPr lang="en-US"/>
              <a:t>Seurat</a:t>
            </a:r>
          </a:p>
          <a:p>
            <a:pPr lvl="1"/>
            <a:r>
              <a:rPr lang="en-US"/>
              <a:t>Georges Seurat (1859–1891) devoted his life to </a:t>
            </a:r>
            <a:r>
              <a:rPr lang="ru-RU"/>
              <a:t>"</a:t>
            </a:r>
            <a:r>
              <a:rPr lang="en-US"/>
              <a:t>correcting</a:t>
            </a:r>
            <a:r>
              <a:rPr lang="ru-RU"/>
              <a:t>"</a:t>
            </a:r>
            <a:r>
              <a:rPr lang="en-US"/>
              <a:t> shallow aspects of Impressionism.</a:t>
            </a:r>
          </a:p>
          <a:p>
            <a:pPr lvl="2"/>
            <a:r>
              <a:rPr lang="en-US"/>
              <a:t>He juxtaposed small strokes of pure, unblended color, creating </a:t>
            </a:r>
            <a:r>
              <a:rPr lang="en-US" i="1"/>
              <a:t>pointilism</a:t>
            </a:r>
            <a:r>
              <a:rPr lang="en-US"/>
              <a:t> and the effect of </a:t>
            </a:r>
            <a:r>
              <a:rPr lang="en-US" b="1"/>
              <a:t>complementary color </a:t>
            </a:r>
            <a:r>
              <a:rPr lang="en-US"/>
              <a:t>proposed by Chevreul.</a:t>
            </a:r>
          </a:p>
          <a:p>
            <a:pPr lvl="2"/>
            <a:r>
              <a:rPr lang="en-US" i="1"/>
              <a:t>Sunday Afternoon</a:t>
            </a:r>
            <a:r>
              <a:rPr lang="en-US"/>
              <a:t>... was painted with 11 colors in three values.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3"/>
          <p:cNvSpPr>
            <a:spLocks noGrp="1"/>
          </p:cNvSpPr>
          <p:nvPr>
            <p:ph type="title"/>
          </p:nvPr>
        </p:nvSpPr>
        <p:spPr/>
        <p:txBody>
          <a:bodyPr>
            <a:normAutofit fontScale="90000"/>
          </a:bodyPr>
          <a:lstStyle/>
          <a:p>
            <a:r>
              <a:rPr lang="en-US" dirty="0"/>
              <a:t>Georges Seurat A SUNDAY AFTERNOON ON THE ISLAND OF LA GRANDE JATTE</a:t>
            </a:r>
            <a:br>
              <a:rPr lang="en-US" dirty="0"/>
            </a:br>
            <a:r>
              <a:rPr lang="en-US" dirty="0"/>
              <a:t>1884–1886. Oil on canvas, 6</a:t>
            </a:r>
            <a:r>
              <a:rPr lang="uk-UA" dirty="0"/>
              <a:t>'</a:t>
            </a:r>
            <a:r>
              <a:rPr lang="en-US" dirty="0"/>
              <a:t>9-1/2</a:t>
            </a:r>
            <a:r>
              <a:rPr lang="ru-RU" dirty="0"/>
              <a:t>"</a:t>
            </a:r>
            <a:r>
              <a:rPr lang="en-US" dirty="0"/>
              <a:t> × 10</a:t>
            </a:r>
            <a:r>
              <a:rPr lang="uk-UA" dirty="0"/>
              <a:t>'</a:t>
            </a:r>
            <a:r>
              <a:rPr lang="en-US" dirty="0"/>
              <a:t>1-1/4</a:t>
            </a:r>
            <a:r>
              <a:rPr lang="ru-RU" dirty="0"/>
              <a:t>"</a:t>
            </a:r>
            <a:r>
              <a:rPr lang="en-US" dirty="0"/>
              <a:t> (207 × 308 cm).</a:t>
            </a:r>
            <a:br>
              <a:rPr lang="en-US" dirty="0"/>
            </a:br>
            <a:r>
              <a:rPr lang="en-US" dirty="0"/>
              <a:t>The Art Institute of Chicago. Helen Birch Bartlett Memorial Collection (1926.22).</a:t>
            </a:r>
            <a:br>
              <a:rPr lang="en-US" dirty="0"/>
            </a:br>
            <a:r>
              <a:rPr lang="en-US" dirty="0"/>
              <a:t>Photo © The Art Institute of Chicago. </a:t>
            </a:r>
          </a:p>
        </p:txBody>
      </p:sp>
      <p:pic>
        <p:nvPicPr>
          <p:cNvPr id="2" name="Picture 1" descr="The artist’s use of a staggering number of small dots of color allowed him not only to create very clean-looking and distinct shapes, but also to use a limited number of colors to evoke blending light and gradual changes in sha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Title 19"/>
          <p:cNvSpPr>
            <a:spLocks noGrp="1"/>
          </p:cNvSpPr>
          <p:nvPr>
            <p:ph type="title"/>
          </p:nvPr>
        </p:nvSpPr>
        <p:spPr/>
        <p:txBody>
          <a:bodyPr/>
          <a:lstStyle/>
          <a:p>
            <a:r>
              <a:rPr lang="en-US"/>
              <a:t>Post-Impressionism (3 of 5)</a:t>
            </a:r>
          </a:p>
        </p:txBody>
      </p:sp>
      <p:sp>
        <p:nvSpPr>
          <p:cNvPr id="144386" name="Content Placeholder 20"/>
          <p:cNvSpPr>
            <a:spLocks noGrp="1"/>
          </p:cNvSpPr>
          <p:nvPr>
            <p:ph idx="1"/>
          </p:nvPr>
        </p:nvSpPr>
        <p:spPr/>
        <p:txBody>
          <a:bodyPr/>
          <a:lstStyle/>
          <a:p>
            <a:r>
              <a:rPr lang="en-US"/>
              <a:t>Van Gogh and Gauguin</a:t>
            </a:r>
          </a:p>
          <a:p>
            <a:pPr lvl="1"/>
            <a:r>
              <a:rPr lang="en-US"/>
              <a:t>One of the most famous Post-Impressionists, Van Gogh was a socialist who believed that modern life alienated people from both one another and themselves.</a:t>
            </a:r>
          </a:p>
          <a:p>
            <a:pPr lvl="1"/>
            <a:r>
              <a:rPr lang="en-US"/>
              <a:t>His contributions to art would lead to the later emergence of Expressionism, art that exaggerates aspects of form to evoke subjective emotion.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Title 19"/>
          <p:cNvSpPr>
            <a:spLocks noGrp="1"/>
          </p:cNvSpPr>
          <p:nvPr>
            <p:ph type="title"/>
          </p:nvPr>
        </p:nvSpPr>
        <p:spPr/>
        <p:txBody>
          <a:bodyPr/>
          <a:lstStyle/>
          <a:p>
            <a:r>
              <a:rPr lang="en-US"/>
              <a:t>Post-Impressionism (4 of 5)</a:t>
            </a:r>
          </a:p>
        </p:txBody>
      </p:sp>
      <p:sp>
        <p:nvSpPr>
          <p:cNvPr id="145410" name="Content Placeholder 20"/>
          <p:cNvSpPr>
            <a:spLocks noGrp="1"/>
          </p:cNvSpPr>
          <p:nvPr>
            <p:ph idx="1"/>
          </p:nvPr>
        </p:nvSpPr>
        <p:spPr/>
        <p:txBody>
          <a:bodyPr/>
          <a:lstStyle/>
          <a:p>
            <a:r>
              <a:rPr lang="en-US"/>
              <a:t>Van Gogh and Gauguin</a:t>
            </a:r>
          </a:p>
          <a:p>
            <a:pPr lvl="1"/>
            <a:r>
              <a:rPr lang="en-US"/>
              <a:t>The artist adapted Seurat</a:t>
            </a:r>
            <a:r>
              <a:rPr lang="uk-UA"/>
              <a:t>'</a:t>
            </a:r>
            <a:r>
              <a:rPr lang="en-US"/>
              <a:t>s technique, painting in free, multidirectional impasto lines.</a:t>
            </a:r>
          </a:p>
          <a:p>
            <a:pPr lvl="1"/>
            <a:r>
              <a:rPr lang="en-US" i="1"/>
              <a:t>The Starry Night </a:t>
            </a:r>
            <a:r>
              <a:rPr lang="en-US"/>
              <a:t>explores his contemplation of life and death with psychological, energetic intensity.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itle 3"/>
          <p:cNvSpPr>
            <a:spLocks noGrp="1"/>
          </p:cNvSpPr>
          <p:nvPr>
            <p:ph type="title"/>
          </p:nvPr>
        </p:nvSpPr>
        <p:spPr/>
        <p:txBody>
          <a:bodyPr>
            <a:normAutofit fontScale="90000"/>
          </a:bodyPr>
          <a:lstStyle/>
          <a:p>
            <a:r>
              <a:rPr lang="en-US" dirty="0"/>
              <a:t>Vincent van Gogh THE STARRY NIGHT</a:t>
            </a:r>
            <a:br>
              <a:rPr lang="en-US" dirty="0"/>
            </a:br>
            <a:r>
              <a:rPr lang="en-US" dirty="0"/>
              <a:t>1889. Oil on canvas, 28-3/4 × 36-1/4</a:t>
            </a:r>
            <a:r>
              <a:rPr lang="ru-RU" dirty="0"/>
              <a:t>"</a:t>
            </a:r>
            <a:r>
              <a:rPr lang="en-US" dirty="0"/>
              <a:t> (73 × 93 cm).</a:t>
            </a:r>
            <a:br>
              <a:rPr lang="en-US" dirty="0"/>
            </a:br>
            <a:r>
              <a:rPr lang="en-US" dirty="0"/>
              <a:t>Museum of Modern Art, New York. Acquired through the Lillie P. Bliss Bequest (472.1941). © 2016. Digital Image, The Museum of Modern Art, New York/Scala, Florence. </a:t>
            </a:r>
          </a:p>
        </p:txBody>
      </p:sp>
      <p:pic>
        <p:nvPicPr>
          <p:cNvPr id="2" name="Picture 1" descr="Long, thin, wavy brush strokes evoke a night sky of blue, swirling clouds and celestial bodies with wide, golden halos above a small village, with a tall-spired church. The cypress trees in the foreground are rendered like black and red flam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Title 19"/>
          <p:cNvSpPr>
            <a:spLocks noGrp="1"/>
          </p:cNvSpPr>
          <p:nvPr>
            <p:ph type="title"/>
          </p:nvPr>
        </p:nvSpPr>
        <p:spPr/>
        <p:txBody>
          <a:bodyPr/>
          <a:lstStyle/>
          <a:p>
            <a:r>
              <a:rPr lang="en-US"/>
              <a:t>Post-Impressionism (5 of 5)</a:t>
            </a:r>
          </a:p>
        </p:txBody>
      </p:sp>
      <p:sp>
        <p:nvSpPr>
          <p:cNvPr id="148482" name="Content Placeholder 20"/>
          <p:cNvSpPr>
            <a:spLocks noGrp="1"/>
          </p:cNvSpPr>
          <p:nvPr>
            <p:ph idx="1"/>
          </p:nvPr>
        </p:nvSpPr>
        <p:spPr/>
        <p:txBody>
          <a:bodyPr/>
          <a:lstStyle/>
          <a:p>
            <a:r>
              <a:rPr lang="en-US"/>
              <a:t>Van Gogh and Gauguin</a:t>
            </a:r>
          </a:p>
          <a:p>
            <a:pPr lvl="1"/>
            <a:r>
              <a:rPr lang="en-US"/>
              <a:t>Paul Gauguin created a style he called synthetism, which mixed the observation of a subject with the artist</a:t>
            </a:r>
            <a:r>
              <a:rPr lang="uk-UA"/>
              <a:t>'</a:t>
            </a:r>
            <a:r>
              <a:rPr lang="en-US"/>
              <a:t>s feelings on that subject.</a:t>
            </a:r>
          </a:p>
          <a:p>
            <a:pPr lvl="2"/>
            <a:r>
              <a:rPr lang="en-US" i="1"/>
              <a:t>Mahana no Atua</a:t>
            </a:r>
            <a:r>
              <a:rPr lang="en-US"/>
              <a:t>, painted during his brief return from travels to the South Pacific, depicts an Edenic ideal closer to his imagination than the colonized cultural reality.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3"/>
          <p:cNvSpPr>
            <a:spLocks noGrp="1"/>
          </p:cNvSpPr>
          <p:nvPr>
            <p:ph type="title"/>
          </p:nvPr>
        </p:nvSpPr>
        <p:spPr/>
        <p:txBody>
          <a:bodyPr>
            <a:normAutofit fontScale="90000"/>
          </a:bodyPr>
          <a:lstStyle/>
          <a:p>
            <a:r>
              <a:rPr lang="en-US" dirty="0"/>
              <a:t>A CLOSER LOOK: </a:t>
            </a:r>
            <a:r>
              <a:rPr lang="en-US" dirty="0" err="1"/>
              <a:t>Mahana</a:t>
            </a:r>
            <a:r>
              <a:rPr lang="en-US" dirty="0"/>
              <a:t> no </a:t>
            </a:r>
            <a:r>
              <a:rPr lang="en-US" dirty="0" err="1"/>
              <a:t>atua</a:t>
            </a:r>
            <a:r>
              <a:rPr lang="en-US" dirty="0"/>
              <a:t> (Day of the God) by Paul Gauguin</a:t>
            </a:r>
            <a:br>
              <a:rPr lang="en-US" dirty="0"/>
            </a:br>
            <a:r>
              <a:rPr lang="en-US" dirty="0"/>
              <a:t>1894. Oil on canvas. 27-3/8</a:t>
            </a:r>
            <a:r>
              <a:rPr lang="ru-RU" dirty="0"/>
              <a:t>"</a:t>
            </a:r>
            <a:r>
              <a:rPr lang="en-US" dirty="0"/>
              <a:t> × 35-5/8</a:t>
            </a:r>
            <a:r>
              <a:rPr lang="ru-RU" dirty="0"/>
              <a:t>"</a:t>
            </a:r>
            <a:r>
              <a:rPr lang="en-US" dirty="0"/>
              <a:t> (69.5 × 90.5 cm).</a:t>
            </a:r>
            <a:br>
              <a:rPr lang="en-US" dirty="0"/>
            </a:br>
            <a:r>
              <a:rPr lang="en-US" dirty="0"/>
              <a:t>The Art Institute of Chicago. Helen Birch Bartlett Memorial Collection (1926.198).</a:t>
            </a:r>
            <a:br>
              <a:rPr lang="en-US" dirty="0"/>
            </a:br>
            <a:r>
              <a:rPr lang="en-US" dirty="0"/>
              <a:t> Photo © The Art Institute of Chicago. </a:t>
            </a:r>
          </a:p>
        </p:txBody>
      </p:sp>
      <p:pic>
        <p:nvPicPr>
          <p:cNvPr id="2" name="Picture 1" descr="A diagram of Gauguin’s, Mahana No Atua, or Day of the God. Gauguin divided the painting into three horizontal zones, increasingly abstract from top to bottom. The upper zone, painted in the most lifelike manner, centers on the statue of a god set in a beach landscape, populated by Tahitians. As was his practice in many of his Tahitian paintings, Gauguin did not base this sculpted idol on a statue he saw in Tahiti, but rather on pictures he owned of the Buddhist temple compels at Borobudur; see figure 10 dash 36. The middle zone contains three figures posed on a naturalistically pink beach. The green, arched form behind the central woman links her visually to the idol immediately above her, which has a similar arch of green behind it. In this zone, the central female bather dips her feet in the water and looks coyly out at viewers while, on either side of her, two androgynous figures recline in fetus-like postures. The three poses perhaps symbolize, from left to right, birth, life, and death, with life facing the viewer and death facing away. Filling the bottom third of the painting is a striking pool of water, abstracted into a dazzling array of bright colors and arranged in a puzzlelike pattern of flat, curvilinear shapes. The left half of this pool seems rooted in natural description, evoking spatial recession. But on the right it becomes flatter and more abstract. By reflecting a strange and unexpected reality exactly where we expect to see a mirror image of the familiar world, this magic pool seems the perfect symbol of Gauguin’s desire to evoke, the mysterious centers of thought. His aim was symbolic rather than descriptive works of ar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Title 19"/>
          <p:cNvSpPr>
            <a:spLocks noGrp="1"/>
          </p:cNvSpPr>
          <p:nvPr>
            <p:ph type="title"/>
          </p:nvPr>
        </p:nvSpPr>
        <p:spPr/>
        <p:txBody>
          <a:bodyPr/>
          <a:lstStyle/>
          <a:p>
            <a:r>
              <a:rPr lang="en-US"/>
              <a:t>Symbolism (1 of 3)</a:t>
            </a:r>
          </a:p>
        </p:txBody>
      </p:sp>
      <p:sp>
        <p:nvSpPr>
          <p:cNvPr id="151554" name="Content Placeholder 20"/>
          <p:cNvSpPr>
            <a:spLocks noGrp="1"/>
          </p:cNvSpPr>
          <p:nvPr>
            <p:ph idx="1"/>
          </p:nvPr>
        </p:nvSpPr>
        <p:spPr/>
        <p:txBody>
          <a:bodyPr/>
          <a:lstStyle/>
          <a:p>
            <a:r>
              <a:rPr lang="en-US"/>
              <a:t>This movement addressed the fears, desires, and impulses of the human mind.</a:t>
            </a:r>
          </a:p>
          <a:p>
            <a:r>
              <a:rPr lang="en-US"/>
              <a:t>Artists rejected the value of rationalism and utilized strange and ambiguous subject matter in stylized forms.</a:t>
            </a:r>
          </a:p>
          <a:p>
            <a:pPr lvl="1"/>
            <a:r>
              <a:rPr lang="en-US"/>
              <a:t>Paintings paralleled a similar movement among poets and writers.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Title 19"/>
          <p:cNvSpPr>
            <a:spLocks noGrp="1"/>
          </p:cNvSpPr>
          <p:nvPr>
            <p:ph type="title"/>
          </p:nvPr>
        </p:nvSpPr>
        <p:spPr/>
        <p:txBody>
          <a:bodyPr/>
          <a:lstStyle/>
          <a:p>
            <a:r>
              <a:rPr lang="en-US"/>
              <a:t>Symbolism (2 of 3)</a:t>
            </a:r>
          </a:p>
        </p:txBody>
      </p:sp>
      <p:sp>
        <p:nvSpPr>
          <p:cNvPr id="152578" name="Content Placeholder 20"/>
          <p:cNvSpPr>
            <a:spLocks noGrp="1"/>
          </p:cNvSpPr>
          <p:nvPr>
            <p:ph idx="1"/>
          </p:nvPr>
        </p:nvSpPr>
        <p:spPr/>
        <p:txBody>
          <a:bodyPr/>
          <a:lstStyle/>
          <a:p>
            <a:r>
              <a:rPr lang="en-US"/>
              <a:t>Moreau</a:t>
            </a:r>
          </a:p>
          <a:p>
            <a:pPr lvl="1"/>
            <a:r>
              <a:rPr lang="en-US"/>
              <a:t>Gustave Moreau rendered </a:t>
            </a:r>
            <a:r>
              <a:rPr lang="en-US" i="1"/>
              <a:t>The Apparition </a:t>
            </a:r>
            <a:r>
              <a:rPr lang="en-US"/>
              <a:t>with the macabre head of John the Baptist dripping blood as it hovers in midair.</a:t>
            </a:r>
          </a:p>
          <a:p>
            <a:pPr lvl="2"/>
            <a:r>
              <a:rPr lang="en-US"/>
              <a:t>A seductive Salomé drips with decadence in the foreground, symbolizing her role as </a:t>
            </a:r>
            <a:r>
              <a:rPr lang="en-US" i="1"/>
              <a:t>femme fatale </a:t>
            </a:r>
            <a:r>
              <a:rPr lang="en-US"/>
              <a:t>who uses her sensuality to destroy a male victim.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3"/>
          <p:cNvSpPr>
            <a:spLocks noGrp="1"/>
          </p:cNvSpPr>
          <p:nvPr>
            <p:ph type="title"/>
          </p:nvPr>
        </p:nvSpPr>
        <p:spPr/>
        <p:txBody>
          <a:bodyPr>
            <a:normAutofit fontScale="90000"/>
          </a:bodyPr>
          <a:lstStyle/>
          <a:p>
            <a:r>
              <a:rPr lang="en-US" dirty="0"/>
              <a:t>Gustave Moreau THE APPARITION</a:t>
            </a:r>
            <a:br>
              <a:rPr lang="en-US" dirty="0"/>
            </a:br>
            <a:r>
              <a:rPr lang="en-US" dirty="0"/>
              <a:t>1874–1876. Watercolor on paper, 41-5/16</a:t>
            </a:r>
            <a:r>
              <a:rPr lang="ru-RU" dirty="0"/>
              <a:t>"</a:t>
            </a:r>
            <a:r>
              <a:rPr lang="en-US" dirty="0"/>
              <a:t> × 28-3/16</a:t>
            </a:r>
            <a:r>
              <a:rPr lang="ru-RU" dirty="0"/>
              <a:t>"</a:t>
            </a:r>
            <a:r>
              <a:rPr lang="en-US" dirty="0"/>
              <a:t> (106 × 72.2 cm).</a:t>
            </a:r>
            <a:br>
              <a:rPr lang="en-US" dirty="0"/>
            </a:br>
            <a:r>
              <a:rPr lang="en-US" dirty="0" err="1"/>
              <a:t>Musée</a:t>
            </a:r>
            <a:r>
              <a:rPr lang="en-US" dirty="0"/>
              <a:t> du Louvre, Paris. Photo © RMN-Grand Palais (</a:t>
            </a:r>
            <a:r>
              <a:rPr lang="en-US" dirty="0" err="1"/>
              <a:t>musée</a:t>
            </a:r>
            <a:r>
              <a:rPr lang="en-US" dirty="0"/>
              <a:t> d'Orsay)/Jean-Gilles </a:t>
            </a:r>
            <a:r>
              <a:rPr lang="en-US" dirty="0" err="1"/>
              <a:t>Berizzi</a:t>
            </a:r>
            <a:r>
              <a:rPr lang="en-US" dirty="0"/>
              <a:t>.</a:t>
            </a:r>
          </a:p>
        </p:txBody>
      </p:sp>
      <p:pic>
        <p:nvPicPr>
          <p:cNvPr id="2" name="Picture 1" descr="King Herod’s court seem frozen, by shock or some other means, at the sight of John the Baptist’s haloed, decapitated head floating before them, bleeding onto the palace floor. Salome gestures to it, as if its appearance was choreograph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9"/>
          <p:cNvSpPr>
            <a:spLocks noGrp="1"/>
          </p:cNvSpPr>
          <p:nvPr>
            <p:ph type="title"/>
          </p:nvPr>
        </p:nvSpPr>
        <p:spPr/>
        <p:txBody>
          <a:bodyPr/>
          <a:lstStyle/>
          <a:p>
            <a:r>
              <a:rPr lang="en-US"/>
              <a:t>Symbolism (3 of 3)</a:t>
            </a:r>
          </a:p>
        </p:txBody>
      </p:sp>
      <p:sp>
        <p:nvSpPr>
          <p:cNvPr id="155650" name="Content Placeholder 20"/>
          <p:cNvSpPr>
            <a:spLocks noGrp="1"/>
          </p:cNvSpPr>
          <p:nvPr>
            <p:ph idx="1"/>
          </p:nvPr>
        </p:nvSpPr>
        <p:spPr/>
        <p:txBody>
          <a:bodyPr/>
          <a:lstStyle/>
          <a:p>
            <a:r>
              <a:rPr lang="en-US"/>
              <a:t>Munch</a:t>
            </a:r>
          </a:p>
          <a:p>
            <a:pPr lvl="1"/>
            <a:r>
              <a:rPr lang="en-US"/>
              <a:t>Edvard Munch</a:t>
            </a:r>
            <a:r>
              <a:rPr lang="uk-UA"/>
              <a:t>'</a:t>
            </a:r>
            <a:r>
              <a:rPr lang="en-US"/>
              <a:t>s </a:t>
            </a:r>
            <a:r>
              <a:rPr lang="en-US" i="1"/>
              <a:t>The Scream </a:t>
            </a:r>
            <a:r>
              <a:rPr lang="en-US"/>
              <a:t>depicts a feeling of overwhelming anxiety culminating in a primal scream.</a:t>
            </a:r>
          </a:p>
          <a:p>
            <a:r>
              <a:rPr lang="en-US"/>
              <a:t>Ensor</a:t>
            </a:r>
          </a:p>
          <a:p>
            <a:pPr lvl="1"/>
            <a:r>
              <a:rPr lang="en-US"/>
              <a:t>A group of agitated people in the foreground of </a:t>
            </a:r>
            <a:r>
              <a:rPr lang="en-US" i="1"/>
              <a:t>The Intrigue </a:t>
            </a:r>
            <a:r>
              <a:rPr lang="en-US"/>
              <a:t>are rendered with masks on their faces, giving them a disturbing and menacing quality.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3"/>
          <p:cNvSpPr>
            <a:spLocks noGrp="1"/>
          </p:cNvSpPr>
          <p:nvPr>
            <p:ph type="title"/>
          </p:nvPr>
        </p:nvSpPr>
        <p:spPr/>
        <p:txBody>
          <a:bodyPr>
            <a:normAutofit fontScale="90000"/>
          </a:bodyPr>
          <a:lstStyle/>
          <a:p>
            <a:r>
              <a:rPr lang="en-US" dirty="0"/>
              <a:t>Edvard Munch THE SCREAM</a:t>
            </a:r>
            <a:br>
              <a:rPr lang="en-US" dirty="0"/>
            </a:br>
            <a:r>
              <a:rPr lang="en-US" dirty="0"/>
              <a:t>1893. Tempera and oil on unprimed canvas, 33 × 26</a:t>
            </a:r>
            <a:r>
              <a:rPr lang="ru-RU" dirty="0"/>
              <a:t>"</a:t>
            </a:r>
            <a:r>
              <a:rPr lang="en-US" dirty="0"/>
              <a:t> (83.5 × 66 cm).</a:t>
            </a:r>
            <a:br>
              <a:rPr lang="en-US" dirty="0"/>
            </a:br>
            <a:r>
              <a:rPr lang="en-US" dirty="0"/>
              <a:t>Munch Museum, Oslo. © 2016 Artists Rights Society (ARS), New York. </a:t>
            </a:r>
            <a:r>
              <a:rPr lang="en-US" dirty="0" err="1"/>
              <a:t>Nasjonalgalleriet</a:t>
            </a:r>
            <a:r>
              <a:rPr lang="en-US" dirty="0"/>
              <a:t>, Oslo, Norway/Bridgeman Images. </a:t>
            </a:r>
          </a:p>
        </p:txBody>
      </p:sp>
      <p:pic>
        <p:nvPicPr>
          <p:cNvPr id="2" name="Picture 1" descr="The artist uses diagonal, brown brush strokes for the pier, extending from the foreground up and to the left, then bluish swirls to the beach and water in the background, and finally wide, horizontal ribbons of red and orange across the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3"/>
          <p:cNvSpPr>
            <a:spLocks noGrp="1"/>
          </p:cNvSpPr>
          <p:nvPr>
            <p:ph type="title"/>
          </p:nvPr>
        </p:nvSpPr>
        <p:spPr/>
        <p:txBody>
          <a:bodyPr>
            <a:normAutofit fontScale="90000"/>
          </a:bodyPr>
          <a:lstStyle/>
          <a:p>
            <a:r>
              <a:rPr lang="en-US" dirty="0"/>
              <a:t>James Ensor THE INTRIGUE</a:t>
            </a:r>
            <a:br>
              <a:rPr lang="en-US" dirty="0"/>
            </a:br>
            <a:r>
              <a:rPr lang="en-US" dirty="0"/>
              <a:t>1890. Oil on canvas, 35-1/2</a:t>
            </a:r>
            <a:r>
              <a:rPr lang="ru-RU" dirty="0"/>
              <a:t>"</a:t>
            </a:r>
            <a:r>
              <a:rPr lang="en-US" dirty="0"/>
              <a:t> × 59</a:t>
            </a:r>
            <a:r>
              <a:rPr lang="ru-RU" dirty="0"/>
              <a:t>"</a:t>
            </a:r>
            <a:r>
              <a:rPr lang="en-US" dirty="0"/>
              <a:t> (90.3 × 150 cm).</a:t>
            </a:r>
            <a:br>
              <a:rPr lang="en-US" dirty="0"/>
            </a:br>
            <a:r>
              <a:rPr lang="en-US" dirty="0" err="1"/>
              <a:t>Koninklijk</a:t>
            </a:r>
            <a:r>
              <a:rPr lang="en-US" dirty="0"/>
              <a:t> Museum </a:t>
            </a:r>
            <a:r>
              <a:rPr lang="en-US" dirty="0" err="1"/>
              <a:t>voor</a:t>
            </a:r>
            <a:r>
              <a:rPr lang="en-US" dirty="0"/>
              <a:t> </a:t>
            </a:r>
            <a:r>
              <a:rPr lang="en-US" dirty="0" err="1"/>
              <a:t>Schone</a:t>
            </a:r>
            <a:r>
              <a:rPr lang="en-US" dirty="0"/>
              <a:t> </a:t>
            </a:r>
            <a:r>
              <a:rPr lang="en-US" dirty="0" err="1"/>
              <a:t>Kunsten</a:t>
            </a:r>
            <a:r>
              <a:rPr lang="en-US" dirty="0"/>
              <a:t>, Antwerp. © Lukas - Art in Flanders VZW/Photo: Hugo </a:t>
            </a:r>
            <a:r>
              <a:rPr lang="en-US" dirty="0" err="1"/>
              <a:t>Maertens</a:t>
            </a:r>
            <a:r>
              <a:rPr lang="en-US" dirty="0"/>
              <a:t>/Bridgeman Images. </a:t>
            </a:r>
          </a:p>
        </p:txBody>
      </p:sp>
      <p:pic>
        <p:nvPicPr>
          <p:cNvPr id="2" name="Picture 1" descr="The group of masked celebrants wears colorful clothing, in stark hues of yellow, red and green, mostly without pattern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Title 19"/>
          <p:cNvSpPr>
            <a:spLocks noGrp="1"/>
          </p:cNvSpPr>
          <p:nvPr>
            <p:ph type="title"/>
          </p:nvPr>
        </p:nvSpPr>
        <p:spPr/>
        <p:txBody>
          <a:bodyPr/>
          <a:lstStyle/>
          <a:p>
            <a:r>
              <a:rPr lang="en-US"/>
              <a:t>French Sculpture (1 of 2)</a:t>
            </a:r>
          </a:p>
        </p:txBody>
      </p:sp>
      <p:sp>
        <p:nvSpPr>
          <p:cNvPr id="160770" name="Content Placeholder 20"/>
          <p:cNvSpPr>
            <a:spLocks noGrp="1"/>
          </p:cNvSpPr>
          <p:nvPr>
            <p:ph idx="1"/>
          </p:nvPr>
        </p:nvSpPr>
        <p:spPr/>
        <p:txBody>
          <a:bodyPr/>
          <a:lstStyle/>
          <a:p>
            <a:r>
              <a:rPr lang="en-US"/>
              <a:t>Auguste Rodin (1840–1917) failed to get into the École des Beaux-Arts, leading him to assist other sculptors.</a:t>
            </a:r>
          </a:p>
          <a:p>
            <a:pPr lvl="1"/>
            <a:r>
              <a:rPr lang="en-US"/>
              <a:t>He developed a vigorously modeled style, exhibited in the </a:t>
            </a:r>
            <a:r>
              <a:rPr lang="en-US" i="1"/>
              <a:t>Burghers of Calais </a:t>
            </a:r>
            <a:r>
              <a:rPr lang="en-US"/>
              <a:t>monument commissioned to commemorate an event from the Hundred Years</a:t>
            </a:r>
            <a:r>
              <a:rPr lang="uk-UA"/>
              <a:t>'</a:t>
            </a:r>
            <a:r>
              <a:rPr lang="en-US"/>
              <a:t> War.</a:t>
            </a:r>
          </a:p>
          <a:p>
            <a:pPr lvl="2"/>
            <a:r>
              <a:rPr lang="en-US"/>
              <a:t>Critics in Calais were not please with the exaggerated expressions.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itle 3"/>
          <p:cNvSpPr>
            <a:spLocks noGrp="1"/>
          </p:cNvSpPr>
          <p:nvPr>
            <p:ph type="title"/>
          </p:nvPr>
        </p:nvSpPr>
        <p:spPr/>
        <p:txBody>
          <a:bodyPr>
            <a:normAutofit fontScale="90000"/>
          </a:bodyPr>
          <a:lstStyle/>
          <a:p>
            <a:r>
              <a:rPr lang="en-US" dirty="0"/>
              <a:t>Auguste Rodin THE BURGHERS OF CALAIS</a:t>
            </a:r>
            <a:br>
              <a:rPr lang="en-US" dirty="0"/>
            </a:br>
            <a:r>
              <a:rPr lang="en-US" dirty="0"/>
              <a:t>1884–1889. Bronze, 6</a:t>
            </a:r>
            <a:r>
              <a:rPr lang="uk-UA" dirty="0"/>
              <a:t>'</a:t>
            </a:r>
            <a:r>
              <a:rPr lang="en-US" dirty="0"/>
              <a:t>10-1/2</a:t>
            </a:r>
            <a:r>
              <a:rPr lang="ru-RU" dirty="0"/>
              <a:t>"</a:t>
            </a:r>
            <a:r>
              <a:rPr lang="en-US" dirty="0"/>
              <a:t> × 7</a:t>
            </a:r>
            <a:r>
              <a:rPr lang="uk-UA" dirty="0"/>
              <a:t>'</a:t>
            </a:r>
            <a:r>
              <a:rPr lang="en-US" dirty="0"/>
              <a:t>11</a:t>
            </a:r>
            <a:r>
              <a:rPr lang="ru-RU" dirty="0"/>
              <a:t>"</a:t>
            </a:r>
            <a:r>
              <a:rPr lang="en-US" dirty="0"/>
              <a:t> × 6</a:t>
            </a:r>
            <a:r>
              <a:rPr lang="uk-UA" dirty="0"/>
              <a:t>'</a:t>
            </a:r>
            <a:r>
              <a:rPr lang="en-US" dirty="0"/>
              <a:t>6</a:t>
            </a:r>
            <a:r>
              <a:rPr lang="ru-RU" dirty="0"/>
              <a:t>"</a:t>
            </a:r>
            <a:r>
              <a:rPr lang="en-US" dirty="0"/>
              <a:t> (2.1 × 2.4 × 2 m).</a:t>
            </a:r>
            <a:br>
              <a:rPr lang="en-US" dirty="0"/>
            </a:br>
            <a:r>
              <a:rPr lang="en-US" dirty="0" err="1"/>
              <a:t>Hirshhorn</a:t>
            </a:r>
            <a:r>
              <a:rPr lang="en-US" dirty="0"/>
              <a:t> Museum and Sculpture Garden, Smithsonian Institution, Washington, DC. Gift of Joseph H. </a:t>
            </a:r>
            <a:r>
              <a:rPr lang="en-US" dirty="0" err="1"/>
              <a:t>Hirshhorn</a:t>
            </a:r>
            <a:r>
              <a:rPr lang="en-US" dirty="0"/>
              <a:t>, 1966 </a:t>
            </a:r>
            <a:r>
              <a:rPr lang="en-GB" dirty="0"/>
              <a:t>(66.4340).</a:t>
            </a:r>
            <a:endParaRPr lang="en-US" dirty="0"/>
          </a:p>
        </p:txBody>
      </p:sp>
      <p:pic>
        <p:nvPicPr>
          <p:cNvPr id="2" name="Picture 1" descr="Six similarly dressed men stand in a loose group on a low platform. Most of the men anxious, talking animatedly with each other. One simply covers his head with his hands, while another stands stoically with a scowl on his fa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Title 19"/>
          <p:cNvSpPr>
            <a:spLocks noGrp="1"/>
          </p:cNvSpPr>
          <p:nvPr>
            <p:ph type="title"/>
          </p:nvPr>
        </p:nvSpPr>
        <p:spPr/>
        <p:txBody>
          <a:bodyPr/>
          <a:lstStyle/>
          <a:p>
            <a:r>
              <a:rPr lang="en-US"/>
              <a:t>French Sculpture (2 of 2)</a:t>
            </a:r>
          </a:p>
        </p:txBody>
      </p:sp>
      <p:sp>
        <p:nvSpPr>
          <p:cNvPr id="163842" name="Content Placeholder 20"/>
          <p:cNvSpPr>
            <a:spLocks noGrp="1"/>
          </p:cNvSpPr>
          <p:nvPr>
            <p:ph idx="1"/>
          </p:nvPr>
        </p:nvSpPr>
        <p:spPr/>
        <p:txBody>
          <a:bodyPr/>
          <a:lstStyle/>
          <a:p>
            <a:r>
              <a:rPr lang="en-US"/>
              <a:t>Camille Claudel, assistant and later mistress to Rodin, was herself an accomplished sculptor. </a:t>
            </a:r>
          </a:p>
          <a:p>
            <a:pPr lvl="1"/>
            <a:r>
              <a:rPr lang="en-US" i="1"/>
              <a:t>The Waltz </a:t>
            </a:r>
            <a:r>
              <a:rPr lang="en-US"/>
              <a:t>is a celebrated sculpture of a dancing couple in the nude.</a:t>
            </a:r>
          </a:p>
          <a:p>
            <a:pPr lvl="2"/>
            <a:r>
              <a:rPr lang="en-US"/>
              <a:t>After a government inspector called the nudity indecent, she added a swirling cloth to the woman</a:t>
            </a:r>
            <a:r>
              <a:rPr lang="uk-UA"/>
              <a:t>'</a:t>
            </a:r>
            <a:r>
              <a:rPr lang="en-US"/>
              <a:t>s lower body.</a:t>
            </a:r>
          </a:p>
          <a:p>
            <a:pPr lvl="2"/>
            <a:r>
              <a:rPr lang="en-US"/>
              <a:t>Sinuous poses recall fluid lines of the Art Nouveau.</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3"/>
          <p:cNvSpPr>
            <a:spLocks noGrp="1"/>
          </p:cNvSpPr>
          <p:nvPr>
            <p:ph type="title"/>
          </p:nvPr>
        </p:nvSpPr>
        <p:spPr/>
        <p:txBody>
          <a:bodyPr>
            <a:normAutofit fontScale="90000"/>
          </a:bodyPr>
          <a:lstStyle/>
          <a:p>
            <a:r>
              <a:rPr lang="en-US" dirty="0"/>
              <a:t>Camille Claudel THE WALTZ</a:t>
            </a:r>
            <a:br>
              <a:rPr lang="en-US" dirty="0"/>
            </a:br>
            <a:r>
              <a:rPr lang="en-US" dirty="0"/>
              <a:t>1892–1905. Bronze, height 9-7/8</a:t>
            </a:r>
            <a:r>
              <a:rPr lang="ru-RU" dirty="0"/>
              <a:t>"</a:t>
            </a:r>
            <a:r>
              <a:rPr lang="en-US" dirty="0"/>
              <a:t> (25 cm).</a:t>
            </a:r>
            <a:br>
              <a:rPr lang="en-US" dirty="0"/>
            </a:br>
            <a:r>
              <a:rPr lang="en-US" dirty="0"/>
              <a:t>Neue </a:t>
            </a:r>
            <a:r>
              <a:rPr lang="en-US" dirty="0" err="1"/>
              <a:t>Pinakothek</a:t>
            </a:r>
            <a:r>
              <a:rPr lang="en-US" dirty="0"/>
              <a:t>, Munich. Photo © </a:t>
            </a:r>
            <a:r>
              <a:rPr lang="en-US" dirty="0" err="1"/>
              <a:t>Blauel</a:t>
            </a:r>
            <a:r>
              <a:rPr lang="en-US" dirty="0"/>
              <a:t>/</a:t>
            </a:r>
            <a:r>
              <a:rPr lang="en-US" dirty="0" err="1"/>
              <a:t>Gnamm</a:t>
            </a:r>
            <a:r>
              <a:rPr lang="en-US" dirty="0"/>
              <a:t>/ARTOTHEK.</a:t>
            </a:r>
          </a:p>
        </p:txBody>
      </p:sp>
      <p:pic>
        <p:nvPicPr>
          <p:cNvPr id="2" name="Picture 1" descr="A nude man and woman embrace each other as they dance the waltz, with most of their bodies in contact with each other. A crumpled drapery hides the lower curvature of the woman’s buttock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9"/>
          <p:cNvSpPr>
            <a:spLocks noGrp="1"/>
          </p:cNvSpPr>
          <p:nvPr>
            <p:ph type="title"/>
          </p:nvPr>
        </p:nvSpPr>
        <p:spPr/>
        <p:txBody>
          <a:bodyPr/>
          <a:lstStyle/>
          <a:p>
            <a:r>
              <a:rPr lang="en-US"/>
              <a:t>Art Nouveau (1 of 5)</a:t>
            </a:r>
          </a:p>
        </p:txBody>
      </p:sp>
      <p:sp>
        <p:nvSpPr>
          <p:cNvPr id="166914" name="Content Placeholder 20"/>
          <p:cNvSpPr>
            <a:spLocks noGrp="1"/>
          </p:cNvSpPr>
          <p:nvPr>
            <p:ph idx="1"/>
          </p:nvPr>
        </p:nvSpPr>
        <p:spPr/>
        <p:txBody>
          <a:bodyPr/>
          <a:lstStyle/>
          <a:p>
            <a:r>
              <a:rPr lang="en-US"/>
              <a:t>Literally </a:t>
            </a:r>
            <a:r>
              <a:rPr lang="ru-RU"/>
              <a:t>"</a:t>
            </a:r>
            <a:r>
              <a:rPr lang="en-US"/>
              <a:t>new art,</a:t>
            </a:r>
            <a:r>
              <a:rPr lang="ru-RU"/>
              <a:t>"</a:t>
            </a:r>
            <a:r>
              <a:rPr lang="en-US"/>
              <a:t> the Art Nouveau movement rejected values of modern industrial society.</a:t>
            </a:r>
          </a:p>
          <a:p>
            <a:r>
              <a:rPr lang="en-US"/>
              <a:t>Rejecting the functional aesthetic in works such as the Eiffel Tower, artists and architects drew their inspiration from nature and delicate, graceful forms.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9"/>
          <p:cNvSpPr>
            <a:spLocks noGrp="1"/>
          </p:cNvSpPr>
          <p:nvPr>
            <p:ph type="title"/>
          </p:nvPr>
        </p:nvSpPr>
        <p:spPr/>
        <p:txBody>
          <a:bodyPr/>
          <a:lstStyle/>
          <a:p>
            <a:r>
              <a:rPr lang="en-US"/>
              <a:t>Art Nouveau (2 of 5)</a:t>
            </a:r>
          </a:p>
        </p:txBody>
      </p:sp>
      <p:sp>
        <p:nvSpPr>
          <p:cNvPr id="167938" name="Content Placeholder 20"/>
          <p:cNvSpPr>
            <a:spLocks noGrp="1"/>
          </p:cNvSpPr>
          <p:nvPr>
            <p:ph idx="1"/>
          </p:nvPr>
        </p:nvSpPr>
        <p:spPr/>
        <p:txBody>
          <a:bodyPr/>
          <a:lstStyle/>
          <a:p>
            <a:r>
              <a:rPr lang="en-US"/>
              <a:t>Horta</a:t>
            </a:r>
          </a:p>
          <a:p>
            <a:pPr lvl="1"/>
            <a:r>
              <a:rPr lang="en-US"/>
              <a:t>Victor Horta (1861–1947) designed Tassel House with graceful and attenuated curvilinear designs.</a:t>
            </a:r>
          </a:p>
          <a:p>
            <a:pPr lvl="2"/>
            <a:r>
              <a:rPr lang="en-US"/>
              <a:t>The use of ironwork, wall decoration, and floor mosaic formed an exquisite and unified whole.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3"/>
          <p:cNvSpPr>
            <a:spLocks noGrp="1"/>
          </p:cNvSpPr>
          <p:nvPr>
            <p:ph type="title"/>
          </p:nvPr>
        </p:nvSpPr>
        <p:spPr/>
        <p:txBody>
          <a:bodyPr/>
          <a:lstStyle/>
          <a:p>
            <a:r>
              <a:rPr lang="en-US" dirty="0"/>
              <a:t>Victor Horta STAIRWAY, TASSEL HOUSE, BRUSSELS</a:t>
            </a:r>
            <a:br>
              <a:rPr lang="en-US" dirty="0"/>
            </a:br>
            <a:r>
              <a:rPr lang="en-US" dirty="0"/>
              <a:t>1892–1893. © 2016 – Victor Horta, </a:t>
            </a:r>
            <a:r>
              <a:rPr lang="en-US" dirty="0" err="1"/>
              <a:t>Bastin</a:t>
            </a:r>
            <a:r>
              <a:rPr lang="en-US" dirty="0"/>
              <a:t> &amp; </a:t>
            </a:r>
            <a:r>
              <a:rPr lang="en-US" dirty="0" err="1"/>
              <a:t>Evrard</a:t>
            </a:r>
            <a:r>
              <a:rPr lang="en-US" dirty="0"/>
              <a:t>/DACS, London.</a:t>
            </a:r>
          </a:p>
        </p:txBody>
      </p:sp>
      <p:pic>
        <p:nvPicPr>
          <p:cNvPr id="2" name="Picture 1" descr="The main artistic feature of Tassel’s entryway and staircase is a calligraphic curve, resembling a curling scroll, or a botanical element, and appears in abstract on the floor and ceiling, and as climbing vines and tree branches on the wall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9"/>
          <p:cNvSpPr>
            <a:spLocks noGrp="1"/>
          </p:cNvSpPr>
          <p:nvPr>
            <p:ph type="title"/>
          </p:nvPr>
        </p:nvSpPr>
        <p:spPr/>
        <p:txBody>
          <a:bodyPr/>
          <a:lstStyle/>
          <a:p>
            <a:r>
              <a:rPr lang="en-US"/>
              <a:t>Art Nouveau (3 of 5)</a:t>
            </a:r>
          </a:p>
        </p:txBody>
      </p:sp>
      <p:sp>
        <p:nvSpPr>
          <p:cNvPr id="171010" name="Content Placeholder 20"/>
          <p:cNvSpPr>
            <a:spLocks noGrp="1"/>
          </p:cNvSpPr>
          <p:nvPr>
            <p:ph idx="1"/>
          </p:nvPr>
        </p:nvSpPr>
        <p:spPr/>
        <p:txBody>
          <a:bodyPr/>
          <a:lstStyle/>
          <a:p>
            <a:r>
              <a:rPr lang="en-US"/>
              <a:t>Gaudí</a:t>
            </a:r>
          </a:p>
          <a:p>
            <a:pPr lvl="1"/>
            <a:r>
              <a:rPr lang="en-US"/>
              <a:t>Before Horta</a:t>
            </a:r>
            <a:r>
              <a:rPr lang="uk-UA"/>
              <a:t>'</a:t>
            </a:r>
            <a:r>
              <a:rPr lang="en-US"/>
              <a:t>s Tassel House, Antoní Gaudí was designing Art Nouveau buildings in Barcelona.</a:t>
            </a:r>
          </a:p>
          <a:p>
            <a:pPr lvl="2"/>
            <a:r>
              <a:rPr lang="en-US"/>
              <a:t>Casa Batlló draws on Islamic, Gothic, and Baroque traditions.</a:t>
            </a:r>
          </a:p>
          <a:p>
            <a:pPr lvl="3"/>
            <a:r>
              <a:rPr lang="en-US"/>
              <a:t>The façade is a dreamlike fantasy of sandstone sculpture and multicolor glass mosaic.</a:t>
            </a:r>
          </a:p>
          <a:p>
            <a:pPr lvl="3"/>
            <a:r>
              <a:rPr lang="en-US"/>
              <a:t>Its roof resembles a recumbent dragon.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3"/>
          <p:cNvSpPr>
            <a:spLocks noGrp="1"/>
          </p:cNvSpPr>
          <p:nvPr>
            <p:ph type="title"/>
          </p:nvPr>
        </p:nvSpPr>
        <p:spPr/>
        <p:txBody>
          <a:bodyPr>
            <a:normAutofit fontScale="90000"/>
          </a:bodyPr>
          <a:lstStyle/>
          <a:p>
            <a:r>
              <a:rPr lang="en-US" dirty="0"/>
              <a:t>Antonio </a:t>
            </a:r>
            <a:r>
              <a:rPr lang="en-US" dirty="0" err="1"/>
              <a:t>Gaudí</a:t>
            </a:r>
            <a:r>
              <a:rPr lang="en-US" dirty="0"/>
              <a:t> CASA BATLLÒ, BARCELONA</a:t>
            </a:r>
            <a:br>
              <a:rPr lang="en-US" dirty="0"/>
            </a:br>
            <a:r>
              <a:rPr lang="en-US" dirty="0"/>
              <a:t>43 </a:t>
            </a:r>
            <a:r>
              <a:rPr lang="en-US" dirty="0" err="1"/>
              <a:t>Passeig</a:t>
            </a:r>
            <a:r>
              <a:rPr lang="en-US" dirty="0"/>
              <a:t> de </a:t>
            </a:r>
            <a:r>
              <a:rPr lang="en-US" dirty="0" err="1"/>
              <a:t>Gracia</a:t>
            </a:r>
            <a:r>
              <a:rPr lang="en-US" dirty="0"/>
              <a:t>. 1900–1907.</a:t>
            </a:r>
            <a:br>
              <a:rPr lang="en-US" dirty="0"/>
            </a:br>
            <a:r>
              <a:rPr lang="en-US" dirty="0"/>
              <a:t>Vincent Abbey Photography. </a:t>
            </a:r>
          </a:p>
        </p:txBody>
      </p:sp>
      <p:pic>
        <p:nvPicPr>
          <p:cNvPr id="2" name="Picture 1" descr="Gaudi’s vividly colored, imaginatively shaped façade dominates the image, flanked by brick and slat-sided buildings, with no airways between the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itle 19"/>
          <p:cNvSpPr>
            <a:spLocks noGrp="1"/>
          </p:cNvSpPr>
          <p:nvPr>
            <p:ph type="title"/>
          </p:nvPr>
        </p:nvSpPr>
        <p:spPr/>
        <p:txBody>
          <a:bodyPr/>
          <a:lstStyle/>
          <a:p>
            <a:r>
              <a:rPr lang="en-US"/>
              <a:t>Art Nouveau (4 of 5)</a:t>
            </a:r>
          </a:p>
        </p:txBody>
      </p:sp>
      <p:sp>
        <p:nvSpPr>
          <p:cNvPr id="174082" name="Content Placeholder 20"/>
          <p:cNvSpPr>
            <a:spLocks noGrp="1"/>
          </p:cNvSpPr>
          <p:nvPr>
            <p:ph idx="1"/>
          </p:nvPr>
        </p:nvSpPr>
        <p:spPr/>
        <p:txBody>
          <a:bodyPr/>
          <a:lstStyle/>
          <a:p>
            <a:r>
              <a:rPr lang="en-US"/>
              <a:t>Guimard</a:t>
            </a:r>
          </a:p>
          <a:p>
            <a:pPr lvl="1"/>
            <a:r>
              <a:rPr lang="en-US"/>
              <a:t>Hector Guimard is best known for his designs of entrances to the Paris Métro.</a:t>
            </a:r>
          </a:p>
          <a:p>
            <a:pPr lvl="1"/>
            <a:r>
              <a:rPr lang="en-US"/>
              <a:t>Much of the rest of his career dealt with interior design and furnishings. </a:t>
            </a:r>
          </a:p>
          <a:p>
            <a:pPr lvl="1"/>
            <a:r>
              <a:rPr lang="en-US" i="1"/>
              <a:t>Desk</a:t>
            </a:r>
            <a:r>
              <a:rPr lang="en-US"/>
              <a:t> is asymmetrical and organic.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3"/>
          <p:cNvSpPr>
            <a:spLocks noGrp="1"/>
          </p:cNvSpPr>
          <p:nvPr>
            <p:ph type="title"/>
          </p:nvPr>
        </p:nvSpPr>
        <p:spPr/>
        <p:txBody>
          <a:bodyPr>
            <a:normAutofit fontScale="90000"/>
          </a:bodyPr>
          <a:lstStyle/>
          <a:p>
            <a:r>
              <a:rPr lang="en-US" dirty="0"/>
              <a:t>Hector </a:t>
            </a:r>
            <a:r>
              <a:rPr lang="en-US" dirty="0" err="1"/>
              <a:t>Guimard</a:t>
            </a:r>
            <a:r>
              <a:rPr lang="en-US" dirty="0"/>
              <a:t> DESK</a:t>
            </a:r>
            <a:br>
              <a:rPr lang="en-US" dirty="0"/>
            </a:br>
            <a:r>
              <a:rPr lang="en-US" dirty="0"/>
              <a:t>c. 1899 (remodeled after 1909).</a:t>
            </a:r>
            <a:br>
              <a:rPr lang="en-US" dirty="0"/>
            </a:br>
            <a:r>
              <a:rPr lang="en-US" dirty="0"/>
              <a:t>Olive wood with ash panels, 28-3/4</a:t>
            </a:r>
            <a:r>
              <a:rPr lang="ru-RU" dirty="0"/>
              <a:t>"</a:t>
            </a:r>
            <a:r>
              <a:rPr lang="en-US" dirty="0"/>
              <a:t> × 47-3/4</a:t>
            </a:r>
            <a:r>
              <a:rPr lang="ru-RU" dirty="0"/>
              <a:t>"</a:t>
            </a:r>
            <a:r>
              <a:rPr lang="en-US" dirty="0"/>
              <a:t> (73 × 121 cm).</a:t>
            </a:r>
            <a:br>
              <a:rPr lang="en-US" dirty="0"/>
            </a:br>
            <a:r>
              <a:rPr lang="en-US" dirty="0"/>
              <a:t>Museum of Modern Art, New York. Gift of Madame Hector </a:t>
            </a:r>
            <a:r>
              <a:rPr lang="en-US" dirty="0" err="1"/>
              <a:t>Guimard</a:t>
            </a:r>
            <a:r>
              <a:rPr lang="en-US" dirty="0"/>
              <a:t>. © 2016. Digital Image, The Museum of Modern Art/Scala, Florence/ Art Resource, NY.</a:t>
            </a:r>
          </a:p>
        </p:txBody>
      </p:sp>
      <p:pic>
        <p:nvPicPr>
          <p:cNvPr id="2" name="Picture 1" descr="The desk’s surface is shaped like an L, with rounded edges, narrowing in the middle. The top is supported by two rectangular wooden cabinets, paneled with dark wood over light wood, subdividing rectangles into three rounded triangl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Title 19"/>
          <p:cNvSpPr>
            <a:spLocks noGrp="1"/>
          </p:cNvSpPr>
          <p:nvPr>
            <p:ph type="title"/>
          </p:nvPr>
        </p:nvSpPr>
        <p:spPr/>
        <p:txBody>
          <a:bodyPr/>
          <a:lstStyle/>
          <a:p>
            <a:r>
              <a:rPr lang="en-US"/>
              <a:t>Art Nouveau (5 of 5)</a:t>
            </a:r>
          </a:p>
        </p:txBody>
      </p:sp>
      <p:sp>
        <p:nvSpPr>
          <p:cNvPr id="177154" name="Content Placeholder 20"/>
          <p:cNvSpPr>
            <a:spLocks noGrp="1"/>
          </p:cNvSpPr>
          <p:nvPr>
            <p:ph idx="1"/>
          </p:nvPr>
        </p:nvSpPr>
        <p:spPr/>
        <p:txBody>
          <a:bodyPr/>
          <a:lstStyle/>
          <a:p>
            <a:r>
              <a:rPr lang="en-US"/>
              <a:t>Toulouse-Lautrec</a:t>
            </a:r>
          </a:p>
          <a:p>
            <a:pPr lvl="1"/>
            <a:r>
              <a:rPr lang="en-US"/>
              <a:t>Henri de Toulouse-Lautrec chronicled life in Montmartre, capturing café dancer </a:t>
            </a:r>
            <a:r>
              <a:rPr lang="en-US" i="1"/>
              <a:t>Jane Avril</a:t>
            </a:r>
            <a:r>
              <a:rPr lang="en-US"/>
              <a:t>.</a:t>
            </a:r>
          </a:p>
          <a:p>
            <a:pPr lvl="2"/>
            <a:r>
              <a:rPr lang="en-US"/>
              <a:t>Emphasis on outline, tipped-up ground, and integration of blank paper reflect </a:t>
            </a:r>
            <a:r>
              <a:rPr lang="en-US" i="1"/>
              <a:t>japonisme</a:t>
            </a:r>
            <a:r>
              <a:rPr lang="en-US"/>
              <a:t> in addition to expressionism.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3"/>
          <p:cNvSpPr>
            <a:spLocks noGrp="1"/>
          </p:cNvSpPr>
          <p:nvPr>
            <p:ph type="title"/>
          </p:nvPr>
        </p:nvSpPr>
        <p:spPr/>
        <p:txBody>
          <a:bodyPr>
            <a:normAutofit fontScale="90000"/>
          </a:bodyPr>
          <a:lstStyle/>
          <a:p>
            <a:r>
              <a:rPr lang="en-US" dirty="0"/>
              <a:t>Henri de Toulouse-Lautrec JANE AVRIL</a:t>
            </a:r>
            <a:br>
              <a:rPr lang="en-US" dirty="0"/>
            </a:br>
            <a:r>
              <a:rPr lang="en-US" dirty="0"/>
              <a:t>1893. Four color lithograph, 51-1/8</a:t>
            </a:r>
            <a:r>
              <a:rPr lang="ru-RU" dirty="0"/>
              <a:t>"</a:t>
            </a:r>
            <a:r>
              <a:rPr lang="en-US" dirty="0"/>
              <a:t> × 37/3/8</a:t>
            </a:r>
            <a:r>
              <a:rPr lang="ru-RU" dirty="0"/>
              <a:t>"</a:t>
            </a:r>
            <a:r>
              <a:rPr lang="en-US" dirty="0"/>
              <a:t> (129.85 × 94.93 cm).</a:t>
            </a:r>
            <a:br>
              <a:rPr lang="en-US" dirty="0"/>
            </a:br>
            <a:r>
              <a:rPr lang="en-US" dirty="0"/>
              <a:t>Los Angeles County Museum of Art, Los Angeles. Gift of Mr. and Mrs. Billy Wilder (59.80.15</a:t>
            </a:r>
            <a:r>
              <a:rPr lang="en-GB" dirty="0"/>
              <a:t>).</a:t>
            </a:r>
            <a:endParaRPr lang="en-US" dirty="0"/>
          </a:p>
        </p:txBody>
      </p:sp>
      <p:pic>
        <p:nvPicPr>
          <p:cNvPr id="2" name="Picture 1" descr="The sweep of the dancer’s saffron-orange dress, and the curving comma shape described in the air by her yellow and white petticoats, contrast sharply with the rest of the image’s sepia and black color schem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Title 19"/>
          <p:cNvSpPr>
            <a:spLocks noGrp="1"/>
          </p:cNvSpPr>
          <p:nvPr>
            <p:ph type="title"/>
          </p:nvPr>
        </p:nvSpPr>
        <p:spPr/>
        <p:txBody>
          <a:bodyPr/>
          <a:lstStyle/>
          <a:p>
            <a:r>
              <a:rPr lang="en-US"/>
              <a:t>The Beginnings of Modernism</a:t>
            </a:r>
          </a:p>
        </p:txBody>
      </p:sp>
      <p:sp>
        <p:nvSpPr>
          <p:cNvPr id="180226" name="Content Placeholder 20"/>
          <p:cNvSpPr>
            <a:spLocks noGrp="1"/>
          </p:cNvSpPr>
          <p:nvPr>
            <p:ph idx="1"/>
          </p:nvPr>
        </p:nvSpPr>
        <p:spPr/>
        <p:txBody>
          <a:bodyPr/>
          <a:lstStyle/>
          <a:p>
            <a:r>
              <a:rPr lang="en-US"/>
              <a:t>At this time in history, the industrial industry was caught between the classical traditions of the Beaux-Arts style and the new aesthetic.</a:t>
            </a:r>
          </a:p>
          <a:p>
            <a:r>
              <a:rPr lang="en-US"/>
              <a:t>Cities like the industrialized Chicago demanded new ways of designing and creating tall buildings.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Title 19"/>
          <p:cNvSpPr>
            <a:spLocks noGrp="1"/>
          </p:cNvSpPr>
          <p:nvPr>
            <p:ph type="title"/>
          </p:nvPr>
        </p:nvSpPr>
        <p:spPr/>
        <p:txBody>
          <a:bodyPr/>
          <a:lstStyle/>
          <a:p>
            <a:r>
              <a:rPr lang="en-US"/>
              <a:t>European Architecture: Technology and Structure (1 of 3)</a:t>
            </a:r>
          </a:p>
        </p:txBody>
      </p:sp>
      <p:sp>
        <p:nvSpPr>
          <p:cNvPr id="181250" name="Content Placeholder 20"/>
          <p:cNvSpPr>
            <a:spLocks noGrp="1"/>
          </p:cNvSpPr>
          <p:nvPr>
            <p:ph idx="1"/>
          </p:nvPr>
        </p:nvSpPr>
        <p:spPr/>
        <p:txBody>
          <a:bodyPr/>
          <a:lstStyle/>
          <a:p>
            <a:r>
              <a:rPr lang="en-US"/>
              <a:t>A fast-paced life was born of the ability for people to manufacture more, consume more, and travel more.</a:t>
            </a:r>
          </a:p>
          <a:p>
            <a:r>
              <a:rPr lang="en-US"/>
              <a:t>There was a growing belief in the perfectibility of society that spawned international fairs celebrating innovations in industry and technology.</a:t>
            </a:r>
          </a:p>
          <a:p>
            <a:r>
              <a:rPr lang="en-US"/>
              <a:t>Britain asserted their right to empire at the Great Exhibition in 1851.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Title 19"/>
          <p:cNvSpPr>
            <a:spLocks noGrp="1"/>
          </p:cNvSpPr>
          <p:nvPr>
            <p:ph type="title"/>
          </p:nvPr>
        </p:nvSpPr>
        <p:spPr/>
        <p:txBody>
          <a:bodyPr/>
          <a:lstStyle/>
          <a:p>
            <a:r>
              <a:rPr lang="en-US"/>
              <a:t>European Architecture: Technology and Structure (2 of 3)</a:t>
            </a:r>
          </a:p>
        </p:txBody>
      </p:sp>
      <p:sp>
        <p:nvSpPr>
          <p:cNvPr id="182274" name="Content Placeholder 20"/>
          <p:cNvSpPr>
            <a:spLocks noGrp="1"/>
          </p:cNvSpPr>
          <p:nvPr>
            <p:ph idx="1"/>
          </p:nvPr>
        </p:nvSpPr>
        <p:spPr/>
        <p:txBody>
          <a:bodyPr/>
          <a:lstStyle/>
          <a:p>
            <a:r>
              <a:rPr lang="en-US"/>
              <a:t>The Crystal Palace</a:t>
            </a:r>
          </a:p>
          <a:p>
            <a:pPr lvl="1"/>
            <a:r>
              <a:rPr lang="en-US"/>
              <a:t>Created by Joseph Paxton, this structure consisted of an cast-iron skeleton holding the largest glass panes that could be mass-produced at the time.</a:t>
            </a:r>
          </a:p>
          <a:p>
            <a:pPr lvl="1"/>
            <a:r>
              <a:rPr lang="en-US"/>
              <a:t>The triple-tiered edifice covered over 18 acres, unsurprisingly the largest space ever enclosed up to that time.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itle 3"/>
          <p:cNvSpPr>
            <a:spLocks noGrp="1"/>
          </p:cNvSpPr>
          <p:nvPr>
            <p:ph type="title"/>
          </p:nvPr>
        </p:nvSpPr>
        <p:spPr/>
        <p:txBody>
          <a:bodyPr>
            <a:normAutofit fontScale="90000"/>
          </a:bodyPr>
          <a:lstStyle/>
          <a:p>
            <a:r>
              <a:rPr lang="en-US" dirty="0"/>
              <a:t>Joseph Paxton THE CRYSTAL PALACE</a:t>
            </a:r>
            <a:br>
              <a:rPr lang="en-US" dirty="0"/>
            </a:br>
            <a:r>
              <a:rPr lang="en-US" dirty="0"/>
              <a:t>London. 1850–1851. Iron, glass, and wood. </a:t>
            </a:r>
            <a:br>
              <a:rPr lang="en-US" dirty="0"/>
            </a:br>
            <a:r>
              <a:rPr lang="en-US" dirty="0"/>
              <a:t>(Print of the Great Exhibition of 1851; printed and published by Dickinson Brothers, London, 1854. Illustration by Joseph Nash and Robert </a:t>
            </a:r>
            <a:r>
              <a:rPr lang="en-US" dirty="0" err="1"/>
              <a:t>Haghe</a:t>
            </a:r>
            <a:r>
              <a:rPr lang="en-US" dirty="0"/>
              <a:t>). British Library, London.</a:t>
            </a:r>
          </a:p>
        </p:txBody>
      </p:sp>
      <p:pic>
        <p:nvPicPr>
          <p:cNvPr id="2" name="Picture 1" descr="Arcades flank the transept, with galleries above. A fountain stands in the center, silhouetted by an elm tree. A gilded equestrian statue stands nearby, overshadowing the numerous marble sculptures along the arcad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Title 19"/>
          <p:cNvSpPr>
            <a:spLocks noGrp="1"/>
          </p:cNvSpPr>
          <p:nvPr>
            <p:ph type="title"/>
          </p:nvPr>
        </p:nvSpPr>
        <p:spPr/>
        <p:txBody>
          <a:bodyPr/>
          <a:lstStyle/>
          <a:p>
            <a:r>
              <a:rPr lang="en-US"/>
              <a:t>European Architecture: Technology and Structure (3 of 3)</a:t>
            </a:r>
          </a:p>
        </p:txBody>
      </p:sp>
      <p:sp>
        <p:nvSpPr>
          <p:cNvPr id="185346" name="Content Placeholder 20"/>
          <p:cNvSpPr>
            <a:spLocks noGrp="1"/>
          </p:cNvSpPr>
          <p:nvPr>
            <p:ph idx="1"/>
          </p:nvPr>
        </p:nvSpPr>
        <p:spPr/>
        <p:txBody>
          <a:bodyPr/>
          <a:lstStyle/>
          <a:p>
            <a:r>
              <a:rPr lang="en-US"/>
              <a:t>Bibliothèque Nationale</a:t>
            </a:r>
          </a:p>
          <a:p>
            <a:pPr lvl="1"/>
            <a:r>
              <a:rPr lang="en-US"/>
              <a:t>The Reading Room is an example of the fusion of the academy</a:t>
            </a:r>
            <a:r>
              <a:rPr lang="uk-UA"/>
              <a:t>'</a:t>
            </a:r>
            <a:r>
              <a:rPr lang="en-US"/>
              <a:t>s historicizing married with technical advances in engineering.</a:t>
            </a:r>
          </a:p>
          <a:p>
            <a:pPr lvl="1"/>
            <a:r>
              <a:rPr lang="en-US"/>
              <a:t>Domes faced with white ceramic tiles sat atop thin iron arches and columns that opened up the space.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itle 3"/>
          <p:cNvSpPr>
            <a:spLocks noGrp="1"/>
          </p:cNvSpPr>
          <p:nvPr>
            <p:ph type="title"/>
          </p:nvPr>
        </p:nvSpPr>
        <p:spPr/>
        <p:txBody>
          <a:bodyPr>
            <a:normAutofit fontScale="90000"/>
          </a:bodyPr>
          <a:lstStyle/>
          <a:p>
            <a:r>
              <a:rPr lang="en-US" dirty="0"/>
              <a:t>Henri </a:t>
            </a:r>
            <a:r>
              <a:rPr lang="en-US" dirty="0" err="1"/>
              <a:t>Labrouste</a:t>
            </a:r>
            <a:r>
              <a:rPr lang="en-US" dirty="0"/>
              <a:t> READING ROOM, BIBLIOTHÈQUE NATIONALE, PARIS</a:t>
            </a:r>
            <a:br>
              <a:rPr lang="en-US" dirty="0"/>
            </a:br>
            <a:r>
              <a:rPr lang="en-US" dirty="0"/>
              <a:t>1862–1868.</a:t>
            </a:r>
            <a:br>
              <a:rPr lang="en-US" dirty="0"/>
            </a:br>
            <a:r>
              <a:rPr lang="en-US" dirty="0"/>
              <a:t>© Paul </a:t>
            </a:r>
            <a:r>
              <a:rPr lang="en-US" dirty="0" err="1"/>
              <a:t>Almasy</a:t>
            </a:r>
            <a:r>
              <a:rPr lang="en-US" dirty="0"/>
              <a:t>/Corbis.</a:t>
            </a:r>
          </a:p>
        </p:txBody>
      </p:sp>
      <p:pic>
        <p:nvPicPr>
          <p:cNvPr id="2" name="Picture 1" descr="The dome below each oculus is decorated by concentric circles, alternating between thin, continuous bands and wider, segmented band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Title 19"/>
          <p:cNvSpPr>
            <a:spLocks noGrp="1"/>
          </p:cNvSpPr>
          <p:nvPr>
            <p:ph type="title"/>
          </p:nvPr>
        </p:nvSpPr>
        <p:spPr/>
        <p:txBody>
          <a:bodyPr/>
          <a:lstStyle/>
          <a:p>
            <a:r>
              <a:rPr lang="en-US"/>
              <a:t>The Chicago School (1 of 4)</a:t>
            </a:r>
          </a:p>
        </p:txBody>
      </p:sp>
      <p:sp>
        <p:nvSpPr>
          <p:cNvPr id="188418" name="Content Placeholder 20"/>
          <p:cNvSpPr>
            <a:spLocks noGrp="1"/>
          </p:cNvSpPr>
          <p:nvPr>
            <p:ph idx="1"/>
          </p:nvPr>
        </p:nvSpPr>
        <p:spPr/>
        <p:txBody>
          <a:bodyPr/>
          <a:lstStyle/>
          <a:p>
            <a:r>
              <a:rPr lang="en-US"/>
              <a:t>The city of Chicago required spaces that would accommodate more people and activities in urban areas.</a:t>
            </a:r>
          </a:p>
          <a:p>
            <a:r>
              <a:rPr lang="en-US"/>
              <a:t>It became the center of a new way of thinking about urban design and construction.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Title 19"/>
          <p:cNvSpPr>
            <a:spLocks noGrp="1"/>
          </p:cNvSpPr>
          <p:nvPr>
            <p:ph type="title"/>
          </p:nvPr>
        </p:nvSpPr>
        <p:spPr/>
        <p:txBody>
          <a:bodyPr/>
          <a:lstStyle/>
          <a:p>
            <a:r>
              <a:rPr lang="en-US"/>
              <a:t>The Chicago School (2 of 4)</a:t>
            </a:r>
          </a:p>
        </p:txBody>
      </p:sp>
      <p:sp>
        <p:nvSpPr>
          <p:cNvPr id="189442" name="Content Placeholder 20"/>
          <p:cNvSpPr>
            <a:spLocks noGrp="1"/>
          </p:cNvSpPr>
          <p:nvPr>
            <p:ph idx="1"/>
          </p:nvPr>
        </p:nvSpPr>
        <p:spPr/>
        <p:txBody>
          <a:bodyPr/>
          <a:lstStyle/>
          <a:p>
            <a:r>
              <a:rPr lang="en-US"/>
              <a:t>World</a:t>
            </a:r>
            <a:r>
              <a:rPr lang="uk-UA"/>
              <a:t>'</a:t>
            </a:r>
            <a:r>
              <a:rPr lang="en-US"/>
              <a:t>s Columbian Exposition</a:t>
            </a:r>
          </a:p>
          <a:p>
            <a:pPr lvl="1"/>
            <a:r>
              <a:rPr lang="en-US"/>
              <a:t>Richard Morris Hunt, an American, began with academy training and supervised the building of this Exposition in 1983.</a:t>
            </a:r>
          </a:p>
          <a:p>
            <a:pPr lvl="1"/>
            <a:r>
              <a:rPr lang="en-US"/>
              <a:t>The photograph shows this </a:t>
            </a:r>
            <a:r>
              <a:rPr lang="ru-RU"/>
              <a:t>"</a:t>
            </a:r>
            <a:r>
              <a:rPr lang="en-US"/>
              <a:t>White City</a:t>
            </a:r>
            <a:r>
              <a:rPr lang="ru-RU"/>
              <a:t>"</a:t>
            </a:r>
            <a:r>
              <a:rPr lang="en-US"/>
              <a:t> in its intended glory—a model city, clean and spacious with Classical planning, in contrast to the conditions found in most American cities.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Title 3"/>
          <p:cNvSpPr>
            <a:spLocks noGrp="1"/>
          </p:cNvSpPr>
          <p:nvPr>
            <p:ph type="title"/>
          </p:nvPr>
        </p:nvSpPr>
        <p:spPr/>
        <p:txBody>
          <a:bodyPr>
            <a:normAutofit fontScale="90000"/>
          </a:bodyPr>
          <a:lstStyle/>
          <a:p>
            <a:r>
              <a:rPr lang="en-US" dirty="0"/>
              <a:t>COURT OF HONOR, WORLD</a:t>
            </a:r>
            <a:r>
              <a:rPr lang="uk-UA" dirty="0"/>
              <a:t>'</a:t>
            </a:r>
            <a:r>
              <a:rPr lang="en-US" dirty="0"/>
              <a:t>S COLUMBIAN EXPOSITION, CHICAGO</a:t>
            </a:r>
            <a:br>
              <a:rPr lang="en-US" dirty="0"/>
            </a:br>
            <a:r>
              <a:rPr lang="en-US" dirty="0"/>
              <a:t>1893. View from the east.</a:t>
            </a:r>
            <a:br>
              <a:rPr lang="en-US" dirty="0"/>
            </a:br>
            <a:r>
              <a:rPr lang="en-US" dirty="0"/>
              <a:t>© Corbis. </a:t>
            </a:r>
          </a:p>
        </p:txBody>
      </p:sp>
      <p:pic>
        <p:nvPicPr>
          <p:cNvPr id="2" name="Picture 1" descr="A long reflecting pool lies at the center of a rectangular courtyard formed by long rows of white-plaster buildings with elaborate architectural decoration. A tall statue stands on a plinth in the near end of the pool, opposite a domed stru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Title 19"/>
          <p:cNvSpPr>
            <a:spLocks noGrp="1"/>
          </p:cNvSpPr>
          <p:nvPr>
            <p:ph type="title"/>
          </p:nvPr>
        </p:nvSpPr>
        <p:spPr/>
        <p:txBody>
          <a:bodyPr/>
          <a:lstStyle/>
          <a:p>
            <a:r>
              <a:rPr lang="en-US"/>
              <a:t>The Chicago School (3 of 4)</a:t>
            </a:r>
          </a:p>
        </p:txBody>
      </p:sp>
      <p:sp>
        <p:nvSpPr>
          <p:cNvPr id="192514" name="Content Placeholder 20"/>
          <p:cNvSpPr>
            <a:spLocks noGrp="1"/>
          </p:cNvSpPr>
          <p:nvPr>
            <p:ph idx="1"/>
          </p:nvPr>
        </p:nvSpPr>
        <p:spPr/>
        <p:txBody>
          <a:bodyPr/>
          <a:lstStyle/>
          <a:p>
            <a:r>
              <a:rPr lang="en-US"/>
              <a:t>Richardson</a:t>
            </a:r>
          </a:p>
          <a:p>
            <a:pPr lvl="1"/>
            <a:r>
              <a:rPr lang="en-US"/>
              <a:t>Henry Hobson Richardson created the style of Richardsonian Romanesque, seen in the Marshall Field Wholesale Store.</a:t>
            </a:r>
          </a:p>
          <a:p>
            <a:pPr lvl="2"/>
            <a:r>
              <a:rPr lang="en-US"/>
              <a:t>The rough stone facing, arched windows, and decorated cornice evoke architectural antecedents, but with a readily identifiable new style.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Title 3"/>
          <p:cNvSpPr>
            <a:spLocks noGrp="1"/>
          </p:cNvSpPr>
          <p:nvPr>
            <p:ph type="title"/>
          </p:nvPr>
        </p:nvSpPr>
        <p:spPr/>
        <p:txBody>
          <a:bodyPr>
            <a:normAutofit fontScale="90000"/>
          </a:bodyPr>
          <a:lstStyle/>
          <a:p>
            <a:r>
              <a:rPr lang="en-US" dirty="0"/>
              <a:t>Henry Hobson Richardson MARSHALL FIELD WHOLESALE STORE, CHICAGO</a:t>
            </a:r>
            <a:br>
              <a:rPr lang="en-US" dirty="0"/>
            </a:br>
            <a:r>
              <a:rPr lang="en-US" dirty="0"/>
              <a:t>1885–1887. Demolished c. 1935.</a:t>
            </a:r>
            <a:br>
              <a:rPr lang="en-US" dirty="0"/>
            </a:br>
            <a:r>
              <a:rPr lang="en-US" dirty="0"/>
              <a:t>Courtesy the Library of Congress. </a:t>
            </a:r>
          </a:p>
        </p:txBody>
      </p:sp>
      <p:pic>
        <p:nvPicPr>
          <p:cNvPr id="2" name="Picture 1" descr="The wholesale store is a broad, rectangular building, occupying the corner of a city block. The building’s roof is flat, with a narrow eave overhanging a row of square dentil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Title 19"/>
          <p:cNvSpPr>
            <a:spLocks noGrp="1"/>
          </p:cNvSpPr>
          <p:nvPr>
            <p:ph type="title"/>
          </p:nvPr>
        </p:nvSpPr>
        <p:spPr/>
        <p:txBody>
          <a:bodyPr/>
          <a:lstStyle/>
          <a:p>
            <a:r>
              <a:rPr lang="en-US"/>
              <a:t>The Chicago School (4 of 4)</a:t>
            </a:r>
          </a:p>
        </p:txBody>
      </p:sp>
      <p:sp>
        <p:nvSpPr>
          <p:cNvPr id="195586" name="Content Placeholder 20"/>
          <p:cNvSpPr>
            <a:spLocks noGrp="1"/>
          </p:cNvSpPr>
          <p:nvPr>
            <p:ph idx="1"/>
          </p:nvPr>
        </p:nvSpPr>
        <p:spPr/>
        <p:txBody>
          <a:bodyPr/>
          <a:lstStyle/>
          <a:p>
            <a:r>
              <a:rPr lang="en-US"/>
              <a:t>Sullivan</a:t>
            </a:r>
          </a:p>
          <a:p>
            <a:pPr lvl="1"/>
            <a:r>
              <a:rPr lang="en-US"/>
              <a:t>An early example of the Chicago School style is the Wainwright Building in St. Louis, Missouri.</a:t>
            </a:r>
          </a:p>
          <a:p>
            <a:pPr lvl="2"/>
            <a:r>
              <a:rPr lang="en-US"/>
              <a:t>This building is taller than it is wide and is comprised of ten stories in three parts.</a:t>
            </a:r>
          </a:p>
          <a:p>
            <a:pPr lvl="3"/>
            <a:r>
              <a:rPr lang="en-US"/>
              <a:t>Such a tripartite structure suggests the lingering influence of Classical columns.</a:t>
            </a:r>
          </a:p>
          <a:p>
            <a:pPr lvl="2"/>
            <a:r>
              <a:rPr lang="en-US"/>
              <a:t>It illustrates the philosophy of </a:t>
            </a:r>
            <a:r>
              <a:rPr lang="ru-RU"/>
              <a:t>"</a:t>
            </a:r>
            <a:r>
              <a:rPr lang="en-US"/>
              <a:t>form follows function.</a:t>
            </a:r>
            <a:r>
              <a:rPr lang="ru-RU"/>
              <a:t>"</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Title 3"/>
          <p:cNvSpPr>
            <a:spLocks noGrp="1"/>
          </p:cNvSpPr>
          <p:nvPr>
            <p:ph type="title"/>
          </p:nvPr>
        </p:nvSpPr>
        <p:spPr/>
        <p:txBody>
          <a:bodyPr>
            <a:normAutofit fontScale="90000"/>
          </a:bodyPr>
          <a:lstStyle/>
          <a:p>
            <a:r>
              <a:rPr lang="en-US" dirty="0"/>
              <a:t>Louis Sullivan WAINWRIGHT BUILDING, ST. LOUIS</a:t>
            </a:r>
            <a:br>
              <a:rPr lang="en-US" dirty="0"/>
            </a:br>
            <a:r>
              <a:rPr lang="en-US" dirty="0"/>
              <a:t>Missouri. 1890–1891.</a:t>
            </a:r>
            <a:br>
              <a:rPr lang="en-US" dirty="0"/>
            </a:br>
            <a:r>
              <a:rPr lang="en-US" dirty="0"/>
              <a:t>© Art on File/Corbis. </a:t>
            </a:r>
          </a:p>
        </p:txBody>
      </p:sp>
      <p:pic>
        <p:nvPicPr>
          <p:cNvPr id="2" name="Picture 1" descr="One side of the U-shaped Wainwright Building is shown, in isometric view, causing it to appear rectangular. There are four columns of windows on the narrow side, and twelve columns on the wide s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Title 1"/>
          <p:cNvSpPr>
            <a:spLocks noGrp="1"/>
          </p:cNvSpPr>
          <p:nvPr>
            <p:ph type="title"/>
          </p:nvPr>
        </p:nvSpPr>
        <p:spPr/>
        <p:txBody>
          <a:bodyPr/>
          <a:lstStyle/>
          <a:p>
            <a:r>
              <a:rPr lang="en-US"/>
              <a:t>The City Park</a:t>
            </a:r>
          </a:p>
        </p:txBody>
      </p:sp>
      <p:sp>
        <p:nvSpPr>
          <p:cNvPr id="198658" name="Content Placeholder 2"/>
          <p:cNvSpPr>
            <a:spLocks noGrp="1"/>
          </p:cNvSpPr>
          <p:nvPr>
            <p:ph idx="1"/>
          </p:nvPr>
        </p:nvSpPr>
        <p:spPr/>
        <p:txBody>
          <a:bodyPr/>
          <a:lstStyle/>
          <a:p>
            <a:r>
              <a:rPr lang="en-US"/>
              <a:t>Crowding and pollution prompted the creation of large public parks between the 1830s–1860s.</a:t>
            </a:r>
          </a:p>
          <a:p>
            <a:r>
              <a:rPr lang="en-US"/>
              <a:t>Rapid growth of Manhattan caused civic leaders to set aside parkland while space existed.</a:t>
            </a:r>
          </a:p>
          <a:p>
            <a:pPr lvl="1"/>
            <a:r>
              <a:rPr lang="en-US"/>
              <a:t>The resulting Central Park was designed to be the opposite of rectangular and paved-in streets.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Title 3"/>
          <p:cNvSpPr>
            <a:spLocks noGrp="1"/>
          </p:cNvSpPr>
          <p:nvPr>
            <p:ph type="title"/>
          </p:nvPr>
        </p:nvSpPr>
        <p:spPr/>
        <p:txBody>
          <a:bodyPr>
            <a:normAutofit fontScale="90000"/>
          </a:bodyPr>
          <a:lstStyle/>
          <a:p>
            <a:r>
              <a:rPr lang="en-US" dirty="0"/>
              <a:t>Frederick Law Olmsted and Calvert Vaux MAP OF CENTRAL PARK, NEW YORK CITY</a:t>
            </a:r>
            <a:br>
              <a:rPr lang="en-US" dirty="0"/>
            </a:br>
            <a:r>
              <a:rPr lang="en-US" dirty="0"/>
              <a:t>Revised and extended park layout as shown in a map of 1873.</a:t>
            </a:r>
            <a:br>
              <a:rPr lang="en-US" dirty="0"/>
            </a:br>
            <a:r>
              <a:rPr lang="en-US" dirty="0"/>
              <a:t>Frederick Law Olmsted &amp; Calvert Vaux/City of New York, Department of Parks</a:t>
            </a:r>
          </a:p>
        </p:txBody>
      </p:sp>
      <p:pic>
        <p:nvPicPr>
          <p:cNvPr id="2" name="Picture 1" descr="Curvilinear paths traverse Central Park’s wide, rectangular area, enclosing large fields, stands of trees, and bodies of water Three bodies of water near the middle of the park form the Croton Reservoi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Title 19"/>
          <p:cNvSpPr>
            <a:spLocks noGrp="1"/>
          </p:cNvSpPr>
          <p:nvPr>
            <p:ph type="title"/>
          </p:nvPr>
        </p:nvSpPr>
        <p:spPr/>
        <p:txBody>
          <a:bodyPr/>
          <a:lstStyle/>
          <a:p>
            <a:r>
              <a:rPr lang="en-US"/>
              <a:t>Cézanne (1 of 4)</a:t>
            </a:r>
          </a:p>
        </p:txBody>
      </p:sp>
      <p:sp>
        <p:nvSpPr>
          <p:cNvPr id="201730" name="Content Placeholder 20"/>
          <p:cNvSpPr>
            <a:spLocks noGrp="1"/>
          </p:cNvSpPr>
          <p:nvPr>
            <p:ph idx="1"/>
          </p:nvPr>
        </p:nvSpPr>
        <p:spPr/>
        <p:txBody>
          <a:bodyPr/>
          <a:lstStyle/>
          <a:p>
            <a:r>
              <a:rPr lang="en-US"/>
              <a:t>Paul Cézanne (1839–1902) adopted a bright palette and loose brushwork to paint his landscapes in the 1870s.</a:t>
            </a:r>
          </a:p>
          <a:p>
            <a:pPr lvl="1"/>
            <a:r>
              <a:rPr lang="en-US"/>
              <a:t>These were highly structured and merged drawing and modeling into a single process.</a:t>
            </a:r>
          </a:p>
          <a:p>
            <a:r>
              <a:rPr lang="en-US"/>
              <a:t>His goal was to make Impressionism solid and durable, like the art of museums.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Title 19"/>
          <p:cNvSpPr>
            <a:spLocks noGrp="1"/>
          </p:cNvSpPr>
          <p:nvPr>
            <p:ph type="title"/>
          </p:nvPr>
        </p:nvSpPr>
        <p:spPr/>
        <p:txBody>
          <a:bodyPr/>
          <a:lstStyle/>
          <a:p>
            <a:r>
              <a:rPr lang="en-US"/>
              <a:t>Cézanne (2 of 4)</a:t>
            </a:r>
          </a:p>
        </p:txBody>
      </p:sp>
      <p:sp>
        <p:nvSpPr>
          <p:cNvPr id="202754" name="Content Placeholder 20"/>
          <p:cNvSpPr>
            <a:spLocks noGrp="1"/>
          </p:cNvSpPr>
          <p:nvPr>
            <p:ph idx="1"/>
          </p:nvPr>
        </p:nvSpPr>
        <p:spPr/>
        <p:txBody>
          <a:bodyPr/>
          <a:lstStyle/>
          <a:p>
            <a:r>
              <a:rPr lang="en-US" i="1"/>
              <a:t>Mont Sainte-Victoire </a:t>
            </a:r>
            <a:r>
              <a:rPr lang="en-US"/>
              <a:t>shows a mountain rising above a valley dotted with houses and trees.</a:t>
            </a:r>
          </a:p>
          <a:p>
            <a:pPr lvl="1"/>
            <a:r>
              <a:rPr lang="en-US"/>
              <a:t>Its even lighting and absence of human activity create a sense of timelessness.</a:t>
            </a:r>
          </a:p>
          <a:p>
            <a:pPr lvl="1"/>
            <a:r>
              <a:rPr lang="en-US"/>
              <a:t>Brushstrokes vary from short cross-hatchings to broad swaths of flat color and are highly deliberate.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Title 3"/>
          <p:cNvSpPr>
            <a:spLocks noGrp="1"/>
          </p:cNvSpPr>
          <p:nvPr>
            <p:ph type="title"/>
          </p:nvPr>
        </p:nvSpPr>
        <p:spPr/>
        <p:txBody>
          <a:bodyPr>
            <a:normAutofit fontScale="90000"/>
          </a:bodyPr>
          <a:lstStyle/>
          <a:p>
            <a:r>
              <a:rPr lang="en-US" dirty="0"/>
              <a:t>Paul Cézanne MONT SAINTE-VICTOIRE</a:t>
            </a:r>
            <a:br>
              <a:rPr lang="en-US" dirty="0"/>
            </a:br>
            <a:r>
              <a:rPr lang="en-US" dirty="0"/>
              <a:t>c. 1885–1887. Oil on canvas, 25-1/2</a:t>
            </a:r>
            <a:r>
              <a:rPr lang="ru-RU" dirty="0"/>
              <a:t>"</a:t>
            </a:r>
            <a:r>
              <a:rPr lang="en-US" dirty="0"/>
              <a:t> × 32</a:t>
            </a:r>
            <a:r>
              <a:rPr lang="ru-RU" dirty="0"/>
              <a:t>"</a:t>
            </a:r>
            <a:r>
              <a:rPr lang="en-US" dirty="0"/>
              <a:t> (64.8 × 92.3 cm).</a:t>
            </a:r>
            <a:br>
              <a:rPr lang="en-US" dirty="0"/>
            </a:br>
            <a:r>
              <a:rPr lang="en-US" dirty="0"/>
              <a:t>The Samuel </a:t>
            </a:r>
            <a:r>
              <a:rPr lang="en-US" dirty="0" err="1"/>
              <a:t>Courtauld</a:t>
            </a:r>
            <a:r>
              <a:rPr lang="en-US" dirty="0"/>
              <a:t> Trust, The </a:t>
            </a:r>
            <a:r>
              <a:rPr lang="en-US" dirty="0" err="1"/>
              <a:t>Courtauld</a:t>
            </a:r>
            <a:r>
              <a:rPr lang="en-US" dirty="0"/>
              <a:t> Gallery, London. </a:t>
            </a:r>
            <a:r>
              <a:rPr lang="en-GB" dirty="0"/>
              <a:t>(P.1934.SC.55).</a:t>
            </a:r>
            <a:r>
              <a:rPr lang="en-US" dirty="0"/>
              <a:t> © Samuel </a:t>
            </a:r>
            <a:r>
              <a:rPr lang="en-US" dirty="0" err="1"/>
              <a:t>Courtauld</a:t>
            </a:r>
            <a:r>
              <a:rPr lang="en-US" dirty="0"/>
              <a:t> Trust, The </a:t>
            </a:r>
            <a:r>
              <a:rPr lang="en-US" dirty="0" err="1"/>
              <a:t>Courtauld</a:t>
            </a:r>
            <a:r>
              <a:rPr lang="en-US" dirty="0"/>
              <a:t> Gallery, London, UK/Bridgeman Images. </a:t>
            </a:r>
          </a:p>
        </p:txBody>
      </p:sp>
      <p:pic>
        <p:nvPicPr>
          <p:cNvPr id="2" name="Picture 1" descr="Fields of green and golden crops stretch across a wide river valley, dotted with farmhouses. A tree rises in the foreground, framing the left and top of the image with its trunk and branch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Title 19"/>
          <p:cNvSpPr>
            <a:spLocks noGrp="1"/>
          </p:cNvSpPr>
          <p:nvPr>
            <p:ph type="title"/>
          </p:nvPr>
        </p:nvSpPr>
        <p:spPr/>
        <p:txBody>
          <a:bodyPr/>
          <a:lstStyle/>
          <a:p>
            <a:r>
              <a:rPr lang="en-US"/>
              <a:t>Cézanne (3 of 4)</a:t>
            </a:r>
          </a:p>
        </p:txBody>
      </p:sp>
      <p:sp>
        <p:nvSpPr>
          <p:cNvPr id="205826" name="Content Placeholder 20"/>
          <p:cNvSpPr>
            <a:spLocks noGrp="1"/>
          </p:cNvSpPr>
          <p:nvPr>
            <p:ph idx="1"/>
          </p:nvPr>
        </p:nvSpPr>
        <p:spPr/>
        <p:txBody>
          <a:bodyPr/>
          <a:lstStyle/>
          <a:p>
            <a:r>
              <a:rPr lang="en-US" i="1"/>
              <a:t>Still Life with Basket of Apples </a:t>
            </a:r>
            <a:r>
              <a:rPr lang="en-US"/>
              <a:t>shows spatial ambiguities.</a:t>
            </a:r>
          </a:p>
          <a:p>
            <a:pPr lvl="1"/>
            <a:r>
              <a:rPr lang="en-US"/>
              <a:t>The right side of the basket is higher than the left and pastries are tilted up toward the viewer.</a:t>
            </a:r>
          </a:p>
          <a:p>
            <a:pPr lvl="1"/>
            <a:r>
              <a:rPr lang="en-US"/>
              <a:t>These shifting viewpoints are not the product of incompetence, but rather a rejection of scientific perspective in favor of positioning objects from multiple sightings.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Title 3"/>
          <p:cNvSpPr>
            <a:spLocks noGrp="1"/>
          </p:cNvSpPr>
          <p:nvPr>
            <p:ph type="title"/>
          </p:nvPr>
        </p:nvSpPr>
        <p:spPr/>
        <p:txBody>
          <a:bodyPr>
            <a:normAutofit fontScale="90000"/>
          </a:bodyPr>
          <a:lstStyle/>
          <a:p>
            <a:r>
              <a:rPr lang="en-US" dirty="0"/>
              <a:t>Paul Cézanne STILL LIFE WITH BASKET OF APPLES</a:t>
            </a:r>
            <a:br>
              <a:rPr lang="en-US" dirty="0"/>
            </a:br>
            <a:r>
              <a:rPr lang="en-US" dirty="0"/>
              <a:t>1880–1894. Oil on canvas, 24-7/16</a:t>
            </a:r>
            <a:r>
              <a:rPr lang="ru-RU" dirty="0"/>
              <a:t>"</a:t>
            </a:r>
            <a:r>
              <a:rPr lang="en-US" dirty="0"/>
              <a:t> × 31-1/2</a:t>
            </a:r>
            <a:r>
              <a:rPr lang="ru-RU" dirty="0"/>
              <a:t>"</a:t>
            </a:r>
            <a:r>
              <a:rPr lang="en-US" dirty="0"/>
              <a:t> (64.8 × 80 cm).</a:t>
            </a:r>
            <a:br>
              <a:rPr lang="en-US" dirty="0"/>
            </a:br>
            <a:r>
              <a:rPr lang="en-US" dirty="0"/>
              <a:t>The Art Institute of Chicago. Helen Birch Bartlett Memorial Collection (1926.252).</a:t>
            </a:r>
            <a:br>
              <a:rPr lang="en-US" dirty="0"/>
            </a:br>
            <a:r>
              <a:rPr lang="en-US" dirty="0"/>
              <a:t>Photo © The Art Institute of Chicago.</a:t>
            </a:r>
          </a:p>
        </p:txBody>
      </p:sp>
      <p:pic>
        <p:nvPicPr>
          <p:cNvPr id="2" name="Picture 1" descr="A crumpled, white cloth sits atop Cezanne’s still life table, under the strewn pile of fruit, with the hem of the cloth overhanging the front edge of the table, obscuring the point where logic dictates that the desk’s front edge be broken.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Title 19"/>
          <p:cNvSpPr>
            <a:spLocks noGrp="1"/>
          </p:cNvSpPr>
          <p:nvPr>
            <p:ph type="title"/>
          </p:nvPr>
        </p:nvSpPr>
        <p:spPr/>
        <p:txBody>
          <a:bodyPr/>
          <a:lstStyle/>
          <a:p>
            <a:r>
              <a:rPr lang="en-US"/>
              <a:t>Cézanne (4 of 4)</a:t>
            </a:r>
          </a:p>
        </p:txBody>
      </p:sp>
      <p:sp>
        <p:nvSpPr>
          <p:cNvPr id="208898" name="Content Placeholder 20"/>
          <p:cNvSpPr>
            <a:spLocks noGrp="1"/>
          </p:cNvSpPr>
          <p:nvPr>
            <p:ph idx="1"/>
          </p:nvPr>
        </p:nvSpPr>
        <p:spPr/>
        <p:txBody>
          <a:bodyPr/>
          <a:lstStyle/>
          <a:p>
            <a:r>
              <a:rPr lang="en-US" i="1"/>
              <a:t>The Large Bathers</a:t>
            </a:r>
            <a:r>
              <a:rPr lang="en-US"/>
              <a:t>, left unfinished at the end of the artist</a:t>
            </a:r>
            <a:r>
              <a:rPr lang="uk-UA"/>
              <a:t>'</a:t>
            </a:r>
            <a:r>
              <a:rPr lang="en-US"/>
              <a:t>s life, was the largest canvas he ever painted.</a:t>
            </a:r>
          </a:p>
          <a:p>
            <a:pPr lvl="1"/>
            <a:r>
              <a:rPr lang="en-US"/>
              <a:t>In some ways it returns to certain conventions of history painting; for example, an Arcadian landscape suggesting a mythological theme.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Title 3"/>
          <p:cNvSpPr>
            <a:spLocks noGrp="1"/>
          </p:cNvSpPr>
          <p:nvPr>
            <p:ph type="title"/>
          </p:nvPr>
        </p:nvSpPr>
        <p:spPr/>
        <p:txBody>
          <a:bodyPr>
            <a:normAutofit fontScale="90000"/>
          </a:bodyPr>
          <a:lstStyle/>
          <a:p>
            <a:r>
              <a:rPr lang="en-US" dirty="0"/>
              <a:t>Paul Cézanne THE LARGE BATHERS</a:t>
            </a:r>
            <a:br>
              <a:rPr lang="en-US" dirty="0"/>
            </a:br>
            <a:r>
              <a:rPr lang="en-US" dirty="0"/>
              <a:t>1906. Oil on canvas, 6</a:t>
            </a:r>
            <a:r>
              <a:rPr lang="uk-UA" dirty="0"/>
              <a:t>'</a:t>
            </a:r>
            <a:r>
              <a:rPr lang="en-US" dirty="0"/>
              <a:t>10</a:t>
            </a:r>
            <a:r>
              <a:rPr lang="ru-RU" dirty="0"/>
              <a:t>"</a:t>
            </a:r>
            <a:r>
              <a:rPr lang="en-US" dirty="0"/>
              <a:t> × 8</a:t>
            </a:r>
            <a:r>
              <a:rPr lang="uk-UA" dirty="0"/>
              <a:t>'</a:t>
            </a:r>
            <a:r>
              <a:rPr lang="en-US" dirty="0"/>
              <a:t>2</a:t>
            </a:r>
            <a:r>
              <a:rPr lang="ru-RU" dirty="0"/>
              <a:t>"</a:t>
            </a:r>
            <a:r>
              <a:rPr lang="en-US" dirty="0"/>
              <a:t> (2.08 × 2.49 m).</a:t>
            </a:r>
            <a:br>
              <a:rPr lang="en-US" dirty="0"/>
            </a:br>
            <a:r>
              <a:rPr lang="en-US" dirty="0"/>
              <a:t>Philadelphia Museum of Art. The W.P. </a:t>
            </a:r>
            <a:r>
              <a:rPr lang="en-US" dirty="0" err="1"/>
              <a:t>Wilstach</a:t>
            </a:r>
            <a:r>
              <a:rPr lang="en-US" dirty="0"/>
              <a:t> Collection. © 2016. Philadelphia Museum of Art/Art Resource, NY/Scala, Florence. </a:t>
            </a:r>
          </a:p>
        </p:txBody>
      </p:sp>
      <p:pic>
        <p:nvPicPr>
          <p:cNvPr id="2" name="Picture 1" descr="Nude, female bathers gather at the edge of a pool, sitting in two groups under trees that form an arch above them. Large areas of unpainted white remain on some women’s skin, and on the ground between the two groups, where one woman seems to be draw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9"/>
          <p:cNvSpPr>
            <a:spLocks noGrp="1"/>
          </p:cNvSpPr>
          <p:nvPr>
            <p:ph type="title"/>
          </p:nvPr>
        </p:nvSpPr>
        <p:spPr/>
        <p:txBody>
          <a:bodyPr/>
          <a:lstStyle/>
          <a:p>
            <a:r>
              <a:rPr lang="en-US"/>
              <a:t>Technique: The Photographic Process</a:t>
            </a:r>
          </a:p>
        </p:txBody>
      </p:sp>
      <p:sp>
        <p:nvSpPr>
          <p:cNvPr id="35842" name="Content Placeholder 20"/>
          <p:cNvSpPr>
            <a:spLocks noGrp="1"/>
          </p:cNvSpPr>
          <p:nvPr>
            <p:ph idx="1"/>
          </p:nvPr>
        </p:nvSpPr>
        <p:spPr/>
        <p:txBody>
          <a:bodyPr/>
          <a:lstStyle/>
          <a:p>
            <a:r>
              <a:rPr lang="en-US"/>
              <a:t>A camera is basically a lightproof box with an aperture, lens, and a shutter.</a:t>
            </a:r>
          </a:p>
          <a:p>
            <a:r>
              <a:rPr lang="en-US"/>
              <a:t>When the shutter is open, light reflected off objects strikes the film and exposes it.</a:t>
            </a:r>
          </a:p>
          <a:p>
            <a:r>
              <a:rPr lang="en-US"/>
              <a:t>Light is directed through a negative onto paper to create a positive image.</a:t>
            </a:r>
          </a:p>
          <a:p>
            <a:r>
              <a:rPr lang="en-US"/>
              <a:t>Today</a:t>
            </a:r>
            <a:r>
              <a:rPr lang="uk-UA"/>
              <a:t>'</a:t>
            </a:r>
            <a:r>
              <a:rPr lang="en-US"/>
              <a:t>s technology records photo images digitally.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3"/>
          <p:cNvSpPr>
            <a:spLocks noGrp="1"/>
          </p:cNvSpPr>
          <p:nvPr>
            <p:ph type="title"/>
          </p:nvPr>
        </p:nvSpPr>
        <p:spPr/>
        <p:txBody>
          <a:bodyPr/>
          <a:lstStyle/>
          <a:p>
            <a:r>
              <a:rPr lang="en-US"/>
              <a:t>TECHNIQUE: The Photographic Process</a:t>
            </a:r>
          </a:p>
        </p:txBody>
      </p:sp>
      <p:pic>
        <p:nvPicPr>
          <p:cNvPr id="2" name="Picture 1" descr="A diagram shows how light is captured in the photographic process. A camera’s internal mechanisms position an individual section of the, film, across the camera’s inner back side, opposite the lens, aperture, and shutter. When the photographer opens the shutter, light reflecting from an outside object, at which the camera is aimed, reaches the film after passing through the lens and aperture, which manipulate the rays of light to strike the film at the back of the camera in a manner similar to light entering the human eye, focused by the lens and the pupil to be received by the optic nerve, or the film, as an upside-down imag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9"/>
          <p:cNvSpPr>
            <a:spLocks noGrp="1"/>
          </p:cNvSpPr>
          <p:nvPr>
            <p:ph type="title"/>
          </p:nvPr>
        </p:nvSpPr>
        <p:spPr/>
        <p:txBody>
          <a:bodyPr/>
          <a:lstStyle/>
          <a:p>
            <a:r>
              <a:rPr lang="en-US"/>
              <a:t>Early Photography in Europe and the United States (1 of 4)</a:t>
            </a:r>
          </a:p>
        </p:txBody>
      </p:sp>
      <p:sp>
        <p:nvSpPr>
          <p:cNvPr id="38914" name="Content Placeholder 20"/>
          <p:cNvSpPr>
            <a:spLocks noGrp="1"/>
          </p:cNvSpPr>
          <p:nvPr>
            <p:ph idx="1"/>
          </p:nvPr>
        </p:nvSpPr>
        <p:spPr/>
        <p:txBody>
          <a:bodyPr/>
          <a:lstStyle/>
          <a:p>
            <a:r>
              <a:rPr lang="en-US"/>
              <a:t>The </a:t>
            </a:r>
            <a:r>
              <a:rPr lang="en-US" i="1"/>
              <a:t>camera obscura </a:t>
            </a:r>
            <a:r>
              <a:rPr lang="en-US"/>
              <a:t>was an early device for recording images from life.</a:t>
            </a:r>
          </a:p>
          <a:p>
            <a:r>
              <a:rPr lang="en-US"/>
              <a:t>Photography was developed as a way to make permanent visual impressions.</a:t>
            </a:r>
          </a:p>
          <a:p>
            <a:r>
              <a:rPr lang="en-US"/>
              <a:t>Louis-Jacques-Mandé Daguerre was the first to </a:t>
            </a:r>
            <a:r>
              <a:rPr lang="ru-RU"/>
              <a:t>"</a:t>
            </a:r>
            <a:r>
              <a:rPr lang="en-US"/>
              <a:t>fix</a:t>
            </a:r>
            <a:r>
              <a:rPr lang="ru-RU"/>
              <a:t>"</a:t>
            </a:r>
            <a:r>
              <a:rPr lang="en-US"/>
              <a:t> a photographic image.</a:t>
            </a:r>
          </a:p>
          <a:p>
            <a:pPr lvl="1"/>
            <a:r>
              <a:rPr lang="en-US"/>
              <a:t>A silver-coated metal plate treated with iodine fumes could make images visible when treated with mercury vapor.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3"/>
          <p:cNvSpPr>
            <a:spLocks noGrp="1"/>
          </p:cNvSpPr>
          <p:nvPr>
            <p:ph type="title"/>
          </p:nvPr>
        </p:nvSpPr>
        <p:spPr/>
        <p:txBody>
          <a:bodyPr>
            <a:normAutofit fontScale="90000"/>
          </a:bodyPr>
          <a:lstStyle/>
          <a:p>
            <a:r>
              <a:rPr lang="en-US" dirty="0"/>
              <a:t>Louis-Jacques-</a:t>
            </a:r>
            <a:r>
              <a:rPr lang="en-US" dirty="0" err="1"/>
              <a:t>Mandé</a:t>
            </a:r>
            <a:r>
              <a:rPr lang="en-US" dirty="0"/>
              <a:t> Daguerre THE ARTIST</a:t>
            </a:r>
            <a:r>
              <a:rPr lang="uk-UA" dirty="0"/>
              <a:t>'</a:t>
            </a:r>
            <a:r>
              <a:rPr lang="en-US" dirty="0"/>
              <a:t>S STUDIO</a:t>
            </a:r>
            <a:br>
              <a:rPr lang="en-US" dirty="0"/>
            </a:br>
            <a:r>
              <a:rPr lang="en-US" dirty="0"/>
              <a:t>1837. Daguerreotype, 6-1/2</a:t>
            </a:r>
            <a:r>
              <a:rPr lang="ru-RU" dirty="0"/>
              <a:t>"</a:t>
            </a:r>
            <a:r>
              <a:rPr lang="en-US" dirty="0"/>
              <a:t> × 8-1/2</a:t>
            </a:r>
            <a:r>
              <a:rPr lang="ru-RU" dirty="0"/>
              <a:t>"</a:t>
            </a:r>
            <a:r>
              <a:rPr lang="en-US" dirty="0"/>
              <a:t> (16.5 × 21.6 cm).</a:t>
            </a:r>
            <a:br>
              <a:rPr lang="en-US" dirty="0"/>
            </a:br>
            <a:r>
              <a:rPr lang="en-US" dirty="0"/>
              <a:t>Société </a:t>
            </a:r>
            <a:r>
              <a:rPr lang="en-US" dirty="0" err="1"/>
              <a:t>Française</a:t>
            </a:r>
            <a:r>
              <a:rPr lang="en-US" dirty="0"/>
              <a:t> de </a:t>
            </a:r>
            <a:r>
              <a:rPr lang="en-US" dirty="0" err="1"/>
              <a:t>Photographie</a:t>
            </a:r>
            <a:r>
              <a:rPr lang="en-US" dirty="0"/>
              <a:t>, Paris. © </a:t>
            </a:r>
            <a:r>
              <a:rPr lang="en-US" dirty="0" err="1"/>
              <a:t>akg</a:t>
            </a:r>
            <a:r>
              <a:rPr lang="en-US" dirty="0"/>
              <a:t>-images. </a:t>
            </a:r>
          </a:p>
        </p:txBody>
      </p:sp>
      <p:pic>
        <p:nvPicPr>
          <p:cNvPr id="2" name="Picture 1" descr="Light streams from above Daguerre’s cluttered work bench, catching the finer details of several sculptures, an engraved picture frame, and even the wicker weaving around a cantee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9"/>
          <p:cNvSpPr>
            <a:spLocks noGrp="1"/>
          </p:cNvSpPr>
          <p:nvPr>
            <p:ph type="title"/>
          </p:nvPr>
        </p:nvSpPr>
        <p:spPr/>
        <p:txBody>
          <a:bodyPr/>
          <a:lstStyle/>
          <a:p>
            <a:r>
              <a:rPr lang="en-US"/>
              <a:t>Early Photography in Europe and the United States (2 of 4)</a:t>
            </a:r>
          </a:p>
        </p:txBody>
      </p:sp>
      <p:sp>
        <p:nvSpPr>
          <p:cNvPr id="41986" name="Content Placeholder 20"/>
          <p:cNvSpPr>
            <a:spLocks noGrp="1"/>
          </p:cNvSpPr>
          <p:nvPr>
            <p:ph idx="1"/>
          </p:nvPr>
        </p:nvSpPr>
        <p:spPr/>
        <p:txBody>
          <a:bodyPr/>
          <a:lstStyle/>
          <a:p>
            <a:r>
              <a:rPr lang="en-US" b="1"/>
              <a:t>Daguerrotypes</a:t>
            </a:r>
            <a:r>
              <a:rPr lang="en-US"/>
              <a:t> include a still life of plaster casts and a framed drawing that stakes a claim for photography as art.</a:t>
            </a:r>
          </a:p>
          <a:p>
            <a:r>
              <a:rPr lang="en-US"/>
              <a:t>Samuel Morse, inventor of the telegraph, introduced the daguerrotype to America within weeks of Daguerre</a:t>
            </a:r>
            <a:r>
              <a:rPr lang="uk-UA"/>
              <a:t>'</a:t>
            </a:r>
            <a:r>
              <a:rPr lang="en-US"/>
              <a:t>s announcement.</a:t>
            </a:r>
          </a:p>
          <a:p>
            <a:pPr lvl="1"/>
            <a:r>
              <a:rPr lang="en-US"/>
              <a:t>He reduced exposure times short enough to take portrait photographs.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3"/>
          <p:cNvSpPr>
            <a:spLocks noGrp="1"/>
          </p:cNvSpPr>
          <p:nvPr>
            <p:ph type="title"/>
          </p:nvPr>
        </p:nvSpPr>
        <p:spPr/>
        <p:txBody>
          <a:bodyPr>
            <a:normAutofit fontScale="90000"/>
          </a:bodyPr>
          <a:lstStyle/>
          <a:p>
            <a:r>
              <a:rPr lang="en-US" dirty="0"/>
              <a:t>DAGUERREOTYPE OF SAMUEL FINLEY BREESE MORSE</a:t>
            </a:r>
            <a:br>
              <a:rPr lang="en-US" dirty="0"/>
            </a:br>
            <a:r>
              <a:rPr lang="en-US" dirty="0"/>
              <a:t>c. 1845. Sixth plate daguerreotype, 2-3/4</a:t>
            </a:r>
            <a:r>
              <a:rPr lang="ru-RU" dirty="0"/>
              <a:t>"</a:t>
            </a:r>
            <a:r>
              <a:rPr lang="en-US" dirty="0"/>
              <a:t> × 3-1/4</a:t>
            </a:r>
            <a:r>
              <a:rPr lang="ru-RU" dirty="0"/>
              <a:t>"</a:t>
            </a:r>
            <a:r>
              <a:rPr lang="en-US" dirty="0"/>
              <a:t> (7 × 8.3 cm).</a:t>
            </a:r>
            <a:br>
              <a:rPr lang="en-US" dirty="0"/>
            </a:br>
            <a:r>
              <a:rPr lang="en-US" dirty="0"/>
              <a:t>The Daguerreotype Collection of the Library of Congress, Washington, DC. Courtesy the Library of Congress. </a:t>
            </a:r>
          </a:p>
        </p:txBody>
      </p:sp>
      <p:pic>
        <p:nvPicPr>
          <p:cNvPr id="2" name="Picture 1" descr="A portrait of a clean-shaven man, approaching old age, with bushy eyebrows, slightly unkempt hair, and deep wrinkles, highlighted by a thoughtful expression.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9"/>
          <p:cNvSpPr>
            <a:spLocks noGrp="1"/>
          </p:cNvSpPr>
          <p:nvPr>
            <p:ph type="title"/>
          </p:nvPr>
        </p:nvSpPr>
        <p:spPr/>
        <p:txBody>
          <a:bodyPr/>
          <a:lstStyle/>
          <a:p>
            <a:r>
              <a:rPr lang="en-US"/>
              <a:t>Early Photography in Europe and the United States (3 of 4)</a:t>
            </a:r>
          </a:p>
        </p:txBody>
      </p:sp>
      <p:sp>
        <p:nvSpPr>
          <p:cNvPr id="45058" name="Content Placeholder 20"/>
          <p:cNvSpPr>
            <a:spLocks noGrp="1"/>
          </p:cNvSpPr>
          <p:nvPr>
            <p:ph idx="1"/>
          </p:nvPr>
        </p:nvSpPr>
        <p:spPr/>
        <p:txBody>
          <a:bodyPr/>
          <a:lstStyle/>
          <a:p>
            <a:r>
              <a:rPr lang="en-US"/>
              <a:t>William Henry Fox Talbot worked on his own </a:t>
            </a:r>
            <a:r>
              <a:rPr lang="en-US" b="1"/>
              <a:t>calotype</a:t>
            </a:r>
            <a:r>
              <a:rPr lang="en-US"/>
              <a:t> independently from Daguerre, making positive prints from negatives, from which an unlimited number of prints could be made.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9"/>
          <p:cNvSpPr>
            <a:spLocks noGrp="1"/>
          </p:cNvSpPr>
          <p:nvPr>
            <p:ph type="title"/>
          </p:nvPr>
        </p:nvSpPr>
        <p:spPr/>
        <p:txBody>
          <a:bodyPr/>
          <a:lstStyle/>
          <a:p>
            <a:r>
              <a:rPr lang="en-US"/>
              <a:t>Early Photography in Europe and the United States (4 of 4)</a:t>
            </a:r>
          </a:p>
        </p:txBody>
      </p:sp>
      <p:sp>
        <p:nvSpPr>
          <p:cNvPr id="46082" name="Content Placeholder 20"/>
          <p:cNvSpPr>
            <a:spLocks noGrp="1"/>
          </p:cNvSpPr>
          <p:nvPr>
            <p:ph idx="1"/>
          </p:nvPr>
        </p:nvSpPr>
        <p:spPr/>
        <p:txBody>
          <a:bodyPr/>
          <a:lstStyle/>
          <a:p>
            <a:r>
              <a:rPr lang="en-US"/>
              <a:t>Talbot published a book in six parts, </a:t>
            </a:r>
            <a:r>
              <a:rPr lang="en-US" i="1"/>
              <a:t>The Pencil of Nature</a:t>
            </a:r>
            <a:r>
              <a:rPr lang="en-US"/>
              <a:t>, which included </a:t>
            </a:r>
            <a:r>
              <a:rPr lang="en-US" i="1"/>
              <a:t>The Open Door</a:t>
            </a:r>
            <a:r>
              <a:rPr lang="en-US"/>
              <a:t>.</a:t>
            </a:r>
          </a:p>
          <a:p>
            <a:pPr lvl="1"/>
            <a:r>
              <a:rPr lang="en-US"/>
              <a:t>It is a picture evoking an agrarian way of life that was fast disappearing.</a:t>
            </a:r>
          </a:p>
          <a:p>
            <a:r>
              <a:rPr lang="en-US"/>
              <a:t>Frederick Scott Archer found that silver nitrate would adhere to glass if mixed with collodion, resulting in a glass negative with greater tonal subtlety.</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3"/>
          <p:cNvSpPr>
            <a:spLocks noGrp="1"/>
          </p:cNvSpPr>
          <p:nvPr>
            <p:ph type="title"/>
          </p:nvPr>
        </p:nvSpPr>
        <p:spPr/>
        <p:txBody>
          <a:bodyPr>
            <a:normAutofit fontScale="90000"/>
          </a:bodyPr>
          <a:lstStyle/>
          <a:p>
            <a:r>
              <a:rPr lang="en-US" dirty="0"/>
              <a:t>Henry Fox Talbot THE OPEN DOOR</a:t>
            </a:r>
            <a:br>
              <a:rPr lang="en-US" dirty="0"/>
            </a:br>
            <a:r>
              <a:rPr lang="en-US" dirty="0"/>
              <a:t>1843. Salt-paper print from a calotype negative, 5-5/8</a:t>
            </a:r>
            <a:r>
              <a:rPr lang="ru-RU" dirty="0"/>
              <a:t>"</a:t>
            </a:r>
            <a:r>
              <a:rPr lang="en-US" dirty="0"/>
              <a:t> × 7-11/16</a:t>
            </a:r>
            <a:r>
              <a:rPr lang="ru-RU" dirty="0"/>
              <a:t>"</a:t>
            </a:r>
            <a:r>
              <a:rPr lang="en-US" dirty="0"/>
              <a:t> (14.3 × 19.5 cm). Science Museum, London. Fox Talbot Collection. © National Media Museum/Science &amp; Society Picture Library.</a:t>
            </a:r>
          </a:p>
        </p:txBody>
      </p:sp>
      <p:pic>
        <p:nvPicPr>
          <p:cNvPr id="2" name="Picture 1" descr="A wooden door stands ajar, offering the viewer a glimpse of the dim, shadowy interior of a stone-brick structure. Ivy grows up the walls on both sides of the door. A rustic broom leans against the doorframe on the left, and a lantern hangs on the righ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9"/>
          <p:cNvSpPr>
            <a:spLocks noGrp="1"/>
          </p:cNvSpPr>
          <p:nvPr>
            <p:ph type="title"/>
          </p:nvPr>
        </p:nvSpPr>
        <p:spPr/>
        <p:txBody>
          <a:bodyPr/>
          <a:lstStyle/>
          <a:p>
            <a:r>
              <a:rPr lang="en-US"/>
              <a:t>Alexander Gardner and Julia Margaret Cameron (1 of 2)</a:t>
            </a:r>
          </a:p>
        </p:txBody>
      </p:sp>
      <p:sp>
        <p:nvSpPr>
          <p:cNvPr id="49154" name="Content Placeholder 20"/>
          <p:cNvSpPr>
            <a:spLocks noGrp="1"/>
          </p:cNvSpPr>
          <p:nvPr>
            <p:ph idx="1"/>
          </p:nvPr>
        </p:nvSpPr>
        <p:spPr/>
        <p:txBody>
          <a:bodyPr/>
          <a:lstStyle/>
          <a:p>
            <a:r>
              <a:rPr lang="en-US"/>
              <a:t>Alexander Gardner sought to show a </a:t>
            </a:r>
            <a:r>
              <a:rPr lang="en-US" i="1"/>
              <a:t>Rebel Sharpshooter </a:t>
            </a:r>
            <a:r>
              <a:rPr lang="en-US"/>
              <a:t>killed in battle, but the image was not organically taken from the Battle of Gettysburg.</a:t>
            </a:r>
          </a:p>
          <a:p>
            <a:pPr lvl="1"/>
            <a:r>
              <a:rPr lang="en-US"/>
              <a:t>The photographers dragged the dead body to the site and posed it, exhibiting the difficult reality that photography does not equate to factuality.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3"/>
          <p:cNvSpPr>
            <a:spLocks noGrp="1"/>
          </p:cNvSpPr>
          <p:nvPr>
            <p:ph type="title"/>
          </p:nvPr>
        </p:nvSpPr>
        <p:spPr/>
        <p:txBody>
          <a:bodyPr>
            <a:normAutofit fontScale="90000"/>
          </a:bodyPr>
          <a:lstStyle/>
          <a:p>
            <a:r>
              <a:rPr lang="en-US" dirty="0"/>
              <a:t>Alexander Gardner THE HOME OF THE REBEL SHARPSHOOTER:</a:t>
            </a:r>
            <a:br>
              <a:rPr lang="en-US" dirty="0"/>
            </a:br>
            <a:r>
              <a:rPr lang="en-US" dirty="0"/>
              <a:t>BATTLEFIELD AT GETTYSBURG</a:t>
            </a:r>
            <a:br>
              <a:rPr lang="en-US" dirty="0"/>
            </a:br>
            <a:r>
              <a:rPr lang="en-US" dirty="0"/>
              <a:t>1863. Albumen print, 7</a:t>
            </a:r>
            <a:r>
              <a:rPr lang="ru-RU" dirty="0"/>
              <a:t>"</a:t>
            </a:r>
            <a:r>
              <a:rPr lang="en-US" dirty="0"/>
              <a:t> × 9</a:t>
            </a:r>
            <a:r>
              <a:rPr lang="ru-RU" dirty="0"/>
              <a:t>"</a:t>
            </a:r>
            <a:r>
              <a:rPr lang="en-US" dirty="0"/>
              <a:t> (18 × 23 cm).</a:t>
            </a:r>
            <a:br>
              <a:rPr lang="en-US" dirty="0"/>
            </a:br>
            <a:r>
              <a:rPr lang="en-US" dirty="0"/>
              <a:t>Library of Congress, Washington, DC. Courtesy the Library of Congress </a:t>
            </a:r>
          </a:p>
        </p:txBody>
      </p:sp>
      <p:pic>
        <p:nvPicPr>
          <p:cNvPr id="2" name="Picture 1" descr="The corpse of a Confederate soldier lies in a makeshift trench between two large rocks, with a wall formed by smaller rocks to enclose the trench’s far end. A rifle leans against these smaller rocks, looking unused and clea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9"/>
          <p:cNvSpPr>
            <a:spLocks noGrp="1"/>
          </p:cNvSpPr>
          <p:nvPr>
            <p:ph type="title"/>
          </p:nvPr>
        </p:nvSpPr>
        <p:spPr/>
        <p:txBody>
          <a:bodyPr/>
          <a:lstStyle/>
          <a:p>
            <a:r>
              <a:rPr lang="en-US"/>
              <a:t>Alexander Gardner and Julia Margaret Cameron (2 of 2)</a:t>
            </a:r>
          </a:p>
        </p:txBody>
      </p:sp>
      <p:sp>
        <p:nvSpPr>
          <p:cNvPr id="52226" name="Content Placeholder 20"/>
          <p:cNvSpPr>
            <a:spLocks noGrp="1"/>
          </p:cNvSpPr>
          <p:nvPr>
            <p:ph idx="1"/>
          </p:nvPr>
        </p:nvSpPr>
        <p:spPr/>
        <p:txBody>
          <a:bodyPr/>
          <a:lstStyle/>
          <a:p>
            <a:r>
              <a:rPr lang="en-US"/>
              <a:t>Julia Margaret Cameron began photographing at age 49 and created purposely out-of-focus portraits of great British men.</a:t>
            </a:r>
          </a:p>
          <a:p>
            <a:pPr lvl="1"/>
            <a:r>
              <a:rPr lang="en-US" i="1"/>
              <a:t>Thomas Carlyle </a:t>
            </a:r>
            <a:r>
              <a:rPr lang="en-US"/>
              <a:t>calls attention to light that suffused the subject in a metaphor for creative genius.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3"/>
          <p:cNvSpPr>
            <a:spLocks noGrp="1"/>
          </p:cNvSpPr>
          <p:nvPr>
            <p:ph type="title"/>
          </p:nvPr>
        </p:nvSpPr>
        <p:spPr/>
        <p:txBody>
          <a:bodyPr>
            <a:normAutofit fontScale="90000"/>
          </a:bodyPr>
          <a:lstStyle/>
          <a:p>
            <a:r>
              <a:rPr lang="en-US" dirty="0"/>
              <a:t>Julia Margaret Cameron PORTRAIT OF THOMAS CARLYLE</a:t>
            </a:r>
            <a:br>
              <a:rPr lang="en-US" dirty="0"/>
            </a:br>
            <a:r>
              <a:rPr lang="en-US" dirty="0"/>
              <a:t>1867. Silver print, 10</a:t>
            </a:r>
            <a:r>
              <a:rPr lang="ru-RU" dirty="0"/>
              <a:t>"</a:t>
            </a:r>
            <a:r>
              <a:rPr lang="en-US" dirty="0"/>
              <a:t> × 8</a:t>
            </a:r>
            <a:r>
              <a:rPr lang="ru-RU" dirty="0"/>
              <a:t>"</a:t>
            </a:r>
            <a:r>
              <a:rPr lang="en-US" dirty="0"/>
              <a:t> (25.4 × 20.3 cm).</a:t>
            </a:r>
            <a:br>
              <a:rPr lang="en-US" dirty="0"/>
            </a:br>
            <a:r>
              <a:rPr lang="en-US" dirty="0"/>
              <a:t>The Royal Photographic Society, Collection at National Museum of Photography, Film, and Television, England. © National Media Museum/Science &amp; Society Picture Library</a:t>
            </a:r>
          </a:p>
        </p:txBody>
      </p:sp>
      <p:pic>
        <p:nvPicPr>
          <p:cNvPr id="2" name="Picture 1" descr="The portraitist has photographed this black-suited man in soft focus, with half is face in shadow. The man’s silvery hair and beard catch a great deal of light, seeming to deepen the shadow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1841</TotalTime>
  <Words>5370</Words>
  <Application>Microsoft Office PowerPoint</Application>
  <PresentationFormat>On-screen Show (4:3)</PresentationFormat>
  <Paragraphs>271</Paragraphs>
  <Slides>76</Slides>
  <Notes>33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76</vt:i4>
      </vt:variant>
    </vt:vector>
  </HeadingPairs>
  <TitlesOfParts>
    <vt:vector size="81" baseType="lpstr">
      <vt:lpstr>Arial</vt:lpstr>
      <vt:lpstr>Verdana</vt:lpstr>
      <vt:lpstr>Wingdings</vt:lpstr>
      <vt:lpstr>508 Lecture</vt:lpstr>
      <vt:lpstr>Custom Design</vt:lpstr>
      <vt:lpstr>Chapter 26</vt:lpstr>
      <vt:lpstr>Learning Objectives</vt:lpstr>
      <vt:lpstr>Modern Life (1)</vt:lpstr>
      <vt:lpstr>Edgar Degas THE REHEARSAL ON STAGE c. 1874. Pastel over brush-and-ink drawing on thin, cream-colored wove paper, laid on bristol board, mounted on canvas, 21-3/8" × 28-3/4" (54.3 × 73 cm). Metropolitan Museum of Art, New York. Bequest of Mrs. H. O. Havemeyer Collection, Gift of Horace Havemeyer, 1929 (29.160.26). © 2016. Image copyright The Metropolitan Museum of Art/Art Resource, NY/Scala, Florence. </vt:lpstr>
      <vt:lpstr>Edgar Degas THE TUB 1886. Pastel on cardboard, 23-5/8" × 32-5/8" (60 × 83 cm). Musée d'Orsay, Paris. Photo © RMN-Grand Palais (musée d'Orsay)/Hervé Lewandowski. </vt:lpstr>
      <vt:lpstr>Modern Life (2)</vt:lpstr>
      <vt:lpstr>Mary Cassatt MOTHER AND CHILD c. 1890. Oil on canvas, 35-1/2" × 25-3/8" (90.2 × 64.5 cm). Wichita Art Museum, Kansas. </vt:lpstr>
      <vt:lpstr>Modern Life (4 of 4)</vt:lpstr>
      <vt:lpstr>Gustave Caillebotte PARIS STREET, RAINY DAY 1877. Oil on canvas, 83-1/2" × 108-3/4" (212.2 × 276.2 cm). The Art Institute of Chicago. Charles H. and Mary F.S. Worcester Collection (1964.336). Photo © The Art Institute of Chicago. </vt:lpstr>
      <vt:lpstr>Japonisme (1 of 2)</vt:lpstr>
      <vt:lpstr>Suzuki Harunobu YOUNG WOMAN LOOKING AT A POT OF PINKS c. 1767. Woodblock print, 10-5⁄8" × 7-1⁄2″ (27 × 19.2 cm). The Cleveland Museum of Art. Bridgeman Images. </vt:lpstr>
      <vt:lpstr>Japonisme (2 of 2)</vt:lpstr>
      <vt:lpstr>Mary Cassatt WOMAN BATHING 1890–1891. Color drypoint and aquatint, 16-5⁄8" × 12″ (42.3 × 30.5 cm). National Gallery of Art, Washington, D.C., Chester Dale Collection (1963.10.253) Image courtesy the National Gallery of Art, Washington</vt:lpstr>
      <vt:lpstr>The Late Nineteenth Century</vt:lpstr>
      <vt:lpstr>Post-Impressionism (1 of 5)</vt:lpstr>
      <vt:lpstr>Post-Impressionism (2 of 5)</vt:lpstr>
      <vt:lpstr>Georges Seurat A SUNDAY AFTERNOON ON THE ISLAND OF LA GRANDE JATTE 1884–1886. Oil on canvas, 6'9-1/2" × 10'1-1/4" (207 × 308 cm). The Art Institute of Chicago. Helen Birch Bartlett Memorial Collection (1926.22). Photo © The Art Institute of Chicago. </vt:lpstr>
      <vt:lpstr>Post-Impressionism (3 of 5)</vt:lpstr>
      <vt:lpstr>Post-Impressionism (4 of 5)</vt:lpstr>
      <vt:lpstr>Vincent van Gogh THE STARRY NIGHT 1889. Oil on canvas, 28-3/4 × 36-1/4" (73 × 93 cm). Museum of Modern Art, New York. Acquired through the Lillie P. Bliss Bequest (472.1941). © 2016. Digital Image, The Museum of Modern Art, New York/Scala, Florence. </vt:lpstr>
      <vt:lpstr>Post-Impressionism (5 of 5)</vt:lpstr>
      <vt:lpstr>A CLOSER LOOK: Mahana no atua (Day of the God) by Paul Gauguin 1894. Oil on canvas. 27-3/8" × 35-5/8" (69.5 × 90.5 cm). The Art Institute of Chicago. Helen Birch Bartlett Memorial Collection (1926.198).  Photo © The Art Institute of Chicago. </vt:lpstr>
      <vt:lpstr>Symbolism (1 of 3)</vt:lpstr>
      <vt:lpstr>Symbolism (2 of 3)</vt:lpstr>
      <vt:lpstr>Gustave Moreau THE APPARITION 1874–1876. Watercolor on paper, 41-5/16" × 28-3/16" (106 × 72.2 cm). Musée du Louvre, Paris. Photo © RMN-Grand Palais (musée d'Orsay)/Jean-Gilles Berizzi.</vt:lpstr>
      <vt:lpstr>Symbolism (3 of 3)</vt:lpstr>
      <vt:lpstr>Edvard Munch THE SCREAM 1893. Tempera and oil on unprimed canvas, 33 × 26" (83.5 × 66 cm). Munch Museum, Oslo. © 2016 Artists Rights Society (ARS), New York. Nasjonalgalleriet, Oslo, Norway/Bridgeman Images. </vt:lpstr>
      <vt:lpstr>James Ensor THE INTRIGUE 1890. Oil on canvas, 35-1/2" × 59" (90.3 × 150 cm). Koninklijk Museum voor Schone Kunsten, Antwerp. © Lukas - Art in Flanders VZW/Photo: Hugo Maertens/Bridgeman Images. </vt:lpstr>
      <vt:lpstr>French Sculpture (1 of 2)</vt:lpstr>
      <vt:lpstr>Auguste Rodin THE BURGHERS OF CALAIS 1884–1889. Bronze, 6'10-1/2" × 7'11" × 6'6" (2.1 × 2.4 × 2 m). Hirshhorn Museum and Sculpture Garden, Smithsonian Institution, Washington, DC. Gift of Joseph H. Hirshhorn, 1966 (66.4340).</vt:lpstr>
      <vt:lpstr>French Sculpture (2 of 2)</vt:lpstr>
      <vt:lpstr>Camille Claudel THE WALTZ 1892–1905. Bronze, height 9-7/8" (25 cm). Neue Pinakothek, Munich. Photo © Blauel/Gnamm/ARTOTHEK.</vt:lpstr>
      <vt:lpstr>Art Nouveau (1 of 5)</vt:lpstr>
      <vt:lpstr>Art Nouveau (2 of 5)</vt:lpstr>
      <vt:lpstr>Victor Horta STAIRWAY, TASSEL HOUSE, BRUSSELS 1892–1893. © 2016 – Victor Horta, Bastin &amp; Evrard/DACS, London.</vt:lpstr>
      <vt:lpstr>Art Nouveau (3 of 5)</vt:lpstr>
      <vt:lpstr>Antonio Gaudí CASA BATLLÒ, BARCELONA 43 Passeig de Gracia. 1900–1907. Vincent Abbey Photography. </vt:lpstr>
      <vt:lpstr>Art Nouveau (4 of 5)</vt:lpstr>
      <vt:lpstr>Hector Guimard DESK c. 1899 (remodeled after 1909). Olive wood with ash panels, 28-3/4" × 47-3/4" (73 × 121 cm). Museum of Modern Art, New York. Gift of Madame Hector Guimard. © 2016. Digital Image, The Museum of Modern Art/Scala, Florence/ Art Resource, NY.</vt:lpstr>
      <vt:lpstr>Art Nouveau (5 of 5)</vt:lpstr>
      <vt:lpstr>Henri de Toulouse-Lautrec JANE AVRIL 1893. Four color lithograph, 51-1/8" × 37/3/8" (129.85 × 94.93 cm). Los Angeles County Museum of Art, Los Angeles. Gift of Mr. and Mrs. Billy Wilder (59.80.15).</vt:lpstr>
      <vt:lpstr>The Beginnings of Modernism</vt:lpstr>
      <vt:lpstr>European Architecture: Technology and Structure (1 of 3)</vt:lpstr>
      <vt:lpstr>European Architecture: Technology and Structure (2 of 3)</vt:lpstr>
      <vt:lpstr>Joseph Paxton THE CRYSTAL PALACE London. 1850–1851. Iron, glass, and wood.  (Print of the Great Exhibition of 1851; printed and published by Dickinson Brothers, London, 1854. Illustration by Joseph Nash and Robert Haghe). British Library, London.</vt:lpstr>
      <vt:lpstr>European Architecture: Technology and Structure (3 of 3)</vt:lpstr>
      <vt:lpstr>Henri Labrouste READING ROOM, BIBLIOTHÈQUE NATIONALE, PARIS 1862–1868. © Paul Almasy/Corbis.</vt:lpstr>
      <vt:lpstr>The Chicago School (1 of 4)</vt:lpstr>
      <vt:lpstr>The Chicago School (2 of 4)</vt:lpstr>
      <vt:lpstr>COURT OF HONOR, WORLD'S COLUMBIAN EXPOSITION, CHICAGO 1893. View from the east. © Corbis. </vt:lpstr>
      <vt:lpstr>The Chicago School (3 of 4)</vt:lpstr>
      <vt:lpstr>Henry Hobson Richardson MARSHALL FIELD WHOLESALE STORE, CHICAGO 1885–1887. Demolished c. 1935. Courtesy the Library of Congress. </vt:lpstr>
      <vt:lpstr>The Chicago School (4 of 4)</vt:lpstr>
      <vt:lpstr>Louis Sullivan WAINWRIGHT BUILDING, ST. LOUIS Missouri. 1890–1891. © Art on File/Corbis. </vt:lpstr>
      <vt:lpstr>The City Park</vt:lpstr>
      <vt:lpstr>Frederick Law Olmsted and Calvert Vaux MAP OF CENTRAL PARK, NEW YORK CITY Revised and extended park layout as shown in a map of 1873. Frederick Law Olmsted &amp; Calvert Vaux/City of New York, Department of Parks</vt:lpstr>
      <vt:lpstr>Cézanne (1 of 4)</vt:lpstr>
      <vt:lpstr>Cézanne (2 of 4)</vt:lpstr>
      <vt:lpstr>Paul Cézanne MONT SAINTE-VICTOIRE c. 1885–1887. Oil on canvas, 25-1/2" × 32" (64.8 × 92.3 cm). The Samuel Courtauld Trust, The Courtauld Gallery, London. (P.1934.SC.55). © Samuel Courtauld Trust, The Courtauld Gallery, London, UK/Bridgeman Images. </vt:lpstr>
      <vt:lpstr>Cézanne (3 of 4)</vt:lpstr>
      <vt:lpstr>Paul Cézanne STILL LIFE WITH BASKET OF APPLES 1880–1894. Oil on canvas, 24-7/16" × 31-1/2" (64.8 × 80 cm). The Art Institute of Chicago. Helen Birch Bartlett Memorial Collection (1926.252). Photo © The Art Institute of Chicago.</vt:lpstr>
      <vt:lpstr>Cézanne (4 of 4)</vt:lpstr>
      <vt:lpstr>Paul Cézanne THE LARGE BATHERS 1906. Oil on canvas, 6'10" × 8'2" (2.08 × 2.49 m). Philadelphia Museum of Art. The W.P. Wilstach Collection. © 2016. Philadelphia Museum of Art/Art Resource, NY/Scala, Florence. </vt:lpstr>
      <vt:lpstr>Technique: The Photographic Process</vt:lpstr>
      <vt:lpstr>TECHNIQUE: The Photographic Process</vt:lpstr>
      <vt:lpstr>Early Photography in Europe and the United States (1 of 4)</vt:lpstr>
      <vt:lpstr>Louis-Jacques-Mandé Daguerre THE ARTIST'S STUDIO 1837. Daguerreotype, 6-1/2" × 8-1/2" (16.5 × 21.6 cm). Société Française de Photographie, Paris. © akg-images. </vt:lpstr>
      <vt:lpstr>Early Photography in Europe and the United States (2 of 4)</vt:lpstr>
      <vt:lpstr>DAGUERREOTYPE OF SAMUEL FINLEY BREESE MORSE c. 1845. Sixth plate daguerreotype, 2-3/4" × 3-1/4" (7 × 8.3 cm). The Daguerreotype Collection of the Library of Congress, Washington, DC. Courtesy the Library of Congress. </vt:lpstr>
      <vt:lpstr>Early Photography in Europe and the United States (3 of 4)</vt:lpstr>
      <vt:lpstr>Early Photography in Europe and the United States (4 of 4)</vt:lpstr>
      <vt:lpstr>Henry Fox Talbot THE OPEN DOOR 1843. Salt-paper print from a calotype negative, 5-5/8" × 7-11/16" (14.3 × 19.5 cm). Science Museum, London. Fox Talbot Collection. © National Media Museum/Science &amp; Society Picture Library.</vt:lpstr>
      <vt:lpstr>Alexander Gardner and Julia Margaret Cameron (1 of 2)</vt:lpstr>
      <vt:lpstr>Alexander Gardner THE HOME OF THE REBEL SHARPSHOOTER: BATTLEFIELD AT GETTYSBURG 1863. Albumen print, 7" × 9" (18 × 23 cm). Library of Congress, Washington, DC. Courtesy the Library of Congress </vt:lpstr>
      <vt:lpstr>Alexander Gardner and Julia Margaret Cameron (2 of 2)</vt:lpstr>
      <vt:lpstr>Julia Margaret Cameron PORTRAIT OF THOMAS CARLYLE 1867. Silver print, 10" × 8" (25.4 × 20.3 cm). The Royal Photographic Society, Collection at National Museum of Photography, Film, and Television, England. © National Media Museum/Science &amp; Society Picture Library</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207</cp:revision>
  <dcterms:created xsi:type="dcterms:W3CDTF">2016-12-06T20:09:47Z</dcterms:created>
  <dcterms:modified xsi:type="dcterms:W3CDTF">2020-06-22T09:46:37Z</dcterms:modified>
</cp:coreProperties>
</file>