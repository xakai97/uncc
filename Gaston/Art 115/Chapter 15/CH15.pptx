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98"/>
  </p:notesMasterIdLst>
  <p:handoutMasterIdLst>
    <p:handoutMasterId r:id="rId99"/>
  </p:handoutMasterIdLst>
  <p:sldIdLst>
    <p:sldId id="607" r:id="rId3"/>
    <p:sldId id="507" r:id="rId4"/>
    <p:sldId id="510" r:id="rId5"/>
    <p:sldId id="511" r:id="rId6"/>
    <p:sldId id="512" r:id="rId7"/>
    <p:sldId id="513" r:id="rId8"/>
    <p:sldId id="514" r:id="rId9"/>
    <p:sldId id="515" r:id="rId10"/>
    <p:sldId id="516" r:id="rId11"/>
    <p:sldId id="517" r:id="rId12"/>
    <p:sldId id="518" r:id="rId13"/>
    <p:sldId id="519" r:id="rId14"/>
    <p:sldId id="520" r:id="rId15"/>
    <p:sldId id="521" r:id="rId16"/>
    <p:sldId id="522" r:id="rId17"/>
    <p:sldId id="523" r:id="rId18"/>
    <p:sldId id="524" r:id="rId19"/>
    <p:sldId id="525" r:id="rId20"/>
    <p:sldId id="526" r:id="rId21"/>
    <p:sldId id="527" r:id="rId22"/>
    <p:sldId id="528" r:id="rId23"/>
    <p:sldId id="529" r:id="rId24"/>
    <p:sldId id="530" r:id="rId25"/>
    <p:sldId id="531" r:id="rId26"/>
    <p:sldId id="532" r:id="rId27"/>
    <p:sldId id="533" r:id="rId28"/>
    <p:sldId id="534" r:id="rId29"/>
    <p:sldId id="535" r:id="rId30"/>
    <p:sldId id="536" r:id="rId31"/>
    <p:sldId id="537" r:id="rId32"/>
    <p:sldId id="538" r:id="rId33"/>
    <p:sldId id="539" r:id="rId34"/>
    <p:sldId id="540" r:id="rId35"/>
    <p:sldId id="541" r:id="rId36"/>
    <p:sldId id="542" r:id="rId37"/>
    <p:sldId id="543" r:id="rId38"/>
    <p:sldId id="544" r:id="rId39"/>
    <p:sldId id="545" r:id="rId40"/>
    <p:sldId id="546" r:id="rId41"/>
    <p:sldId id="547" r:id="rId42"/>
    <p:sldId id="548" r:id="rId43"/>
    <p:sldId id="549" r:id="rId44"/>
    <p:sldId id="550" r:id="rId45"/>
    <p:sldId id="551" r:id="rId46"/>
    <p:sldId id="552" r:id="rId47"/>
    <p:sldId id="553" r:id="rId48"/>
    <p:sldId id="554" r:id="rId49"/>
    <p:sldId id="555" r:id="rId50"/>
    <p:sldId id="556" r:id="rId51"/>
    <p:sldId id="557" r:id="rId52"/>
    <p:sldId id="558" r:id="rId53"/>
    <p:sldId id="559" r:id="rId54"/>
    <p:sldId id="560" r:id="rId55"/>
    <p:sldId id="561" r:id="rId56"/>
    <p:sldId id="562" r:id="rId57"/>
    <p:sldId id="563" r:id="rId58"/>
    <p:sldId id="564" r:id="rId59"/>
    <p:sldId id="565" r:id="rId60"/>
    <p:sldId id="566" r:id="rId61"/>
    <p:sldId id="567" r:id="rId62"/>
    <p:sldId id="568" r:id="rId63"/>
    <p:sldId id="569" r:id="rId64"/>
    <p:sldId id="570" r:id="rId65"/>
    <p:sldId id="571" r:id="rId66"/>
    <p:sldId id="572" r:id="rId67"/>
    <p:sldId id="573" r:id="rId68"/>
    <p:sldId id="574" r:id="rId69"/>
    <p:sldId id="575" r:id="rId70"/>
    <p:sldId id="576" r:id="rId71"/>
    <p:sldId id="577" r:id="rId72"/>
    <p:sldId id="578" r:id="rId73"/>
    <p:sldId id="579" r:id="rId74"/>
    <p:sldId id="580" r:id="rId75"/>
    <p:sldId id="581" r:id="rId76"/>
    <p:sldId id="582" r:id="rId77"/>
    <p:sldId id="583" r:id="rId78"/>
    <p:sldId id="584" r:id="rId79"/>
    <p:sldId id="585" r:id="rId80"/>
    <p:sldId id="586" r:id="rId81"/>
    <p:sldId id="587" r:id="rId82"/>
    <p:sldId id="588" r:id="rId83"/>
    <p:sldId id="590" r:id="rId84"/>
    <p:sldId id="591" r:id="rId85"/>
    <p:sldId id="592" r:id="rId86"/>
    <p:sldId id="593" r:id="rId87"/>
    <p:sldId id="594" r:id="rId88"/>
    <p:sldId id="595" r:id="rId89"/>
    <p:sldId id="596" r:id="rId90"/>
    <p:sldId id="597" r:id="rId91"/>
    <p:sldId id="598" r:id="rId92"/>
    <p:sldId id="599" r:id="rId93"/>
    <p:sldId id="600" r:id="rId94"/>
    <p:sldId id="601" r:id="rId95"/>
    <p:sldId id="602" r:id="rId96"/>
    <p:sldId id="603" r:id="rId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76" autoAdjust="0"/>
    <p:restoredTop sz="86524" autoAdjust="0"/>
  </p:normalViewPr>
  <p:slideViewPr>
    <p:cSldViewPr>
      <p:cViewPr varScale="1">
        <p:scale>
          <a:sx n="89" d="100"/>
          <a:sy n="89" d="100"/>
        </p:scale>
        <p:origin x="1179" y="66"/>
      </p:cViewPr>
      <p:guideLst>
        <p:guide orient="horz" pos="2160"/>
        <p:guide pos="2880"/>
      </p:guideLst>
    </p:cSldViewPr>
  </p:slideViewPr>
  <p:outlineViewPr>
    <p:cViewPr>
      <p:scale>
        <a:sx n="33" d="100"/>
        <a:sy n="33" d="100"/>
      </p:scale>
      <p:origin x="0" y="-54672"/>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notesMaster" Target="notesMasters/notesMaster1.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6/19/2020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6/19/2020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Slide Image Placeholder 1"/>
          <p:cNvSpPr>
            <a:spLocks noGrp="1" noRot="1" noChangeAspect="1" noTextEdit="1"/>
          </p:cNvSpPr>
          <p:nvPr>
            <p:ph type="sldImg"/>
          </p:nvPr>
        </p:nvSpPr>
        <p:spPr bwMode="auto">
          <a:noFill/>
          <a:ln>
            <a:solidFill>
              <a:srgbClr val="000000"/>
            </a:solidFill>
            <a:miter lim="800000"/>
            <a:headEnd/>
            <a:tailEnd/>
          </a:ln>
        </p:spPr>
      </p:sp>
      <p:sp>
        <p:nvSpPr>
          <p:cNvPr id="13314" name="Notes Placeholder 2"/>
          <p:cNvSpPr>
            <a:spLocks noGrp="1"/>
          </p:cNvSpPr>
          <p:nvPr>
            <p:ph type="body" idx="1"/>
          </p:nvPr>
        </p:nvSpPr>
        <p:spPr bwMode="auto">
          <a:noFill/>
        </p:spPr>
        <p:txBody>
          <a:bodyPr/>
          <a:lstStyle/>
          <a:p>
            <a:pPr>
              <a:spcBef>
                <a:spcPct val="0"/>
              </a:spcBef>
            </a:pPr>
            <a:r>
              <a:rPr lang="en-US" dirty="0"/>
              <a:t>Paolo Uccello NICCOLÒ DA TOLENTINO LEADING THE CHARGE</a:t>
            </a:r>
            <a:br>
              <a:rPr lang="en-US" dirty="0"/>
            </a:br>
            <a:r>
              <a:rPr lang="en-US" dirty="0"/>
              <a:t>Detail from </a:t>
            </a:r>
            <a:r>
              <a:rPr lang="en-US" i="1" dirty="0"/>
              <a:t>The Battle of San Romano </a:t>
            </a:r>
            <a:r>
              <a:rPr lang="en-US" dirty="0"/>
              <a:t>(FIG. 20-24), 1438–1440.</a:t>
            </a:r>
            <a:br>
              <a:rPr lang="en-US" dirty="0"/>
            </a:br>
            <a:r>
              <a:rPr lang="en-US" dirty="0"/>
              <a:t>Tempera on wood panel. National Gallery, London. © 2016. Copyright The National Gallery, London/Scala, Florence. </a:t>
            </a:r>
          </a:p>
        </p:txBody>
      </p:sp>
      <p:sp>
        <p:nvSpPr>
          <p:cNvPr id="13315" name="Slide Number Placeholder 3"/>
          <p:cNvSpPr>
            <a:spLocks noGrp="1"/>
          </p:cNvSpPr>
          <p:nvPr>
            <p:ph type="sldNum" sz="quarter" idx="5"/>
          </p:nvPr>
        </p:nvSpPr>
        <p:spPr bwMode="auto">
          <a:noFill/>
          <a:ln>
            <a:miter lim="800000"/>
            <a:headEnd/>
            <a:tailEnd/>
          </a:ln>
        </p:spPr>
        <p:txBody>
          <a:bodyPr/>
          <a:lstStyle/>
          <a:p>
            <a:fld id="{E5A15685-79E8-154D-B85C-627D731BD0C4}" type="slidenum">
              <a:rPr lang="en-US"/>
              <a:pPr/>
              <a:t>3</a:t>
            </a:fld>
            <a:endParaRPr lang="en-US"/>
          </a:p>
        </p:txBody>
      </p:sp>
    </p:spTree>
    <p:extLst>
      <p:ext uri="{BB962C8B-B14F-4D97-AF65-F5344CB8AC3E}">
        <p14:creationId xmlns:p14="http://schemas.microsoft.com/office/powerpoint/2010/main" val="1875058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p:cNvSpPr>
            <a:spLocks noGrp="1" noRot="1" noChangeAspect="1" noTextEdit="1"/>
          </p:cNvSpPr>
          <p:nvPr>
            <p:ph type="sldImg"/>
          </p:nvPr>
        </p:nvSpPr>
        <p:spPr bwMode="auto">
          <a:noFill/>
          <a:ln>
            <a:solidFill>
              <a:srgbClr val="000000"/>
            </a:solidFill>
            <a:miter lim="800000"/>
            <a:headEnd/>
            <a:tailEnd/>
          </a:ln>
        </p:spPr>
      </p:sp>
      <p:sp>
        <p:nvSpPr>
          <p:cNvPr id="17410" name="Notes Placeholder 2"/>
          <p:cNvSpPr>
            <a:spLocks noGrp="1"/>
          </p:cNvSpPr>
          <p:nvPr>
            <p:ph type="body" idx="1"/>
          </p:nvPr>
        </p:nvSpPr>
        <p:spPr bwMode="auto">
          <a:noFill/>
        </p:spPr>
        <p:txBody>
          <a:bodyPr/>
          <a:lstStyle/>
          <a:p>
            <a:pPr>
              <a:spcBef>
                <a:spcPct val="0"/>
              </a:spcBef>
            </a:pPr>
            <a:r>
              <a:rPr lang="en-US" dirty="0"/>
              <a:t>FIFTEENTH-CENTURY ITALY</a:t>
            </a:r>
            <a:br>
              <a:rPr lang="en-US" dirty="0"/>
            </a:br>
            <a:r>
              <a:rPr lang="en-US" dirty="0"/>
              <a:t>Powerful families divided the Italian peninsula into city-states: the Medici in Florence, the Visconti and Sforza in Milan, the </a:t>
            </a:r>
            <a:r>
              <a:rPr lang="en-US" dirty="0" err="1"/>
              <a:t>Montefeltro</a:t>
            </a:r>
            <a:r>
              <a:rPr lang="en-US" dirty="0"/>
              <a:t> in Urbino, the Gonzaga in Mantua, and the Este in Ferrara. After 1420, the popes ruled Rome, while in the south Naples and Sicily were French and then Spanish (</a:t>
            </a:r>
            <a:r>
              <a:rPr lang="en-US" dirty="0" err="1"/>
              <a:t>Aragonese</a:t>
            </a:r>
            <a:r>
              <a:rPr lang="en-US" dirty="0"/>
              <a:t>) territories. Venice maintained its independence as a republic.</a:t>
            </a:r>
          </a:p>
        </p:txBody>
      </p:sp>
      <p:sp>
        <p:nvSpPr>
          <p:cNvPr id="17411" name="Slide Number Placeholder 3"/>
          <p:cNvSpPr>
            <a:spLocks noGrp="1"/>
          </p:cNvSpPr>
          <p:nvPr>
            <p:ph type="sldNum" sz="quarter" idx="5"/>
          </p:nvPr>
        </p:nvSpPr>
        <p:spPr bwMode="auto">
          <a:noFill/>
          <a:ln>
            <a:miter lim="800000"/>
            <a:headEnd/>
            <a:tailEnd/>
          </a:ln>
        </p:spPr>
        <p:txBody>
          <a:bodyPr/>
          <a:lstStyle/>
          <a:p>
            <a:fld id="{5FD9C37A-AAFF-FC49-8921-A16D26615262}" type="slidenum">
              <a:rPr lang="en-US"/>
              <a:pPr/>
              <a:t>6</a:t>
            </a:fld>
            <a:endParaRPr lang="en-US"/>
          </a:p>
        </p:txBody>
      </p:sp>
    </p:spTree>
    <p:extLst>
      <p:ext uri="{BB962C8B-B14F-4D97-AF65-F5344CB8AC3E}">
        <p14:creationId xmlns:p14="http://schemas.microsoft.com/office/powerpoint/2010/main" val="95393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p:spPr>
      </p:sp>
      <p:sp>
        <p:nvSpPr>
          <p:cNvPr id="22530" name="Notes Placeholder 2"/>
          <p:cNvSpPr>
            <a:spLocks noGrp="1"/>
          </p:cNvSpPr>
          <p:nvPr>
            <p:ph type="body" idx="1"/>
          </p:nvPr>
        </p:nvSpPr>
        <p:spPr bwMode="auto">
          <a:noFill/>
        </p:spPr>
        <p:txBody>
          <a:bodyPr/>
          <a:lstStyle/>
          <a:p>
            <a:pPr>
              <a:spcBef>
                <a:spcPct val="0"/>
              </a:spcBef>
            </a:pPr>
            <a:r>
              <a:rPr lang="en-US" dirty="0"/>
              <a:t>Filippo Brunelleschi SACRIFICE OF ISAAC</a:t>
            </a:r>
            <a:br>
              <a:rPr lang="en-US" dirty="0"/>
            </a:br>
            <a:r>
              <a:rPr lang="en-US" dirty="0"/>
              <a:t>1401–1402. Bronze with gilding, 21 × 17-1/2</a:t>
            </a:r>
            <a:r>
              <a:rPr lang="ru-RU" dirty="0"/>
              <a:t>"</a:t>
            </a:r>
            <a:r>
              <a:rPr lang="en-US" dirty="0"/>
              <a:t> (53 × 44 cm) inside molding.</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p>
        </p:txBody>
      </p:sp>
      <p:sp>
        <p:nvSpPr>
          <p:cNvPr id="22531" name="Slide Number Placeholder 3"/>
          <p:cNvSpPr>
            <a:spLocks noGrp="1"/>
          </p:cNvSpPr>
          <p:nvPr>
            <p:ph type="sldNum" sz="quarter" idx="5"/>
          </p:nvPr>
        </p:nvSpPr>
        <p:spPr bwMode="auto">
          <a:noFill/>
          <a:ln>
            <a:miter lim="800000"/>
            <a:headEnd/>
            <a:tailEnd/>
          </a:ln>
        </p:spPr>
        <p:txBody>
          <a:bodyPr/>
          <a:lstStyle/>
          <a:p>
            <a:fld id="{45272662-652E-5D4E-8F8D-E7804647D439}" type="slidenum">
              <a:rPr lang="en-US"/>
              <a:pPr/>
              <a:t>10</a:t>
            </a:fld>
            <a:endParaRPr lang="en-US"/>
          </a:p>
        </p:txBody>
      </p:sp>
    </p:spTree>
    <p:extLst>
      <p:ext uri="{BB962C8B-B14F-4D97-AF65-F5344CB8AC3E}">
        <p14:creationId xmlns:p14="http://schemas.microsoft.com/office/powerpoint/2010/main" val="1252173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p:spPr>
      </p:sp>
      <p:sp>
        <p:nvSpPr>
          <p:cNvPr id="24578" name="Notes Placeholder 2"/>
          <p:cNvSpPr>
            <a:spLocks noGrp="1"/>
          </p:cNvSpPr>
          <p:nvPr>
            <p:ph type="body" idx="1"/>
          </p:nvPr>
        </p:nvSpPr>
        <p:spPr bwMode="auto">
          <a:noFill/>
        </p:spPr>
        <p:txBody>
          <a:bodyPr/>
          <a:lstStyle/>
          <a:p>
            <a:pPr>
              <a:spcBef>
                <a:spcPct val="0"/>
              </a:spcBef>
            </a:pPr>
            <a:r>
              <a:rPr lang="en-US" dirty="0"/>
              <a:t>Lorenzo Ghiberti SACRIFICE OF ISAAC</a:t>
            </a:r>
            <a:br>
              <a:rPr lang="en-US" dirty="0"/>
            </a:br>
            <a:r>
              <a:rPr lang="en-US" dirty="0"/>
              <a:t>1401–1402. Bronze with gilding, 21 × 17-1/2</a:t>
            </a:r>
            <a:r>
              <a:rPr lang="ru-RU" dirty="0"/>
              <a:t>"</a:t>
            </a:r>
            <a:r>
              <a:rPr lang="en-US" dirty="0"/>
              <a:t> (53 × 44 cm) inside molding.</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p>
        </p:txBody>
      </p:sp>
      <p:sp>
        <p:nvSpPr>
          <p:cNvPr id="24579" name="Slide Number Placeholder 3"/>
          <p:cNvSpPr>
            <a:spLocks noGrp="1"/>
          </p:cNvSpPr>
          <p:nvPr>
            <p:ph type="sldNum" sz="quarter" idx="5"/>
          </p:nvPr>
        </p:nvSpPr>
        <p:spPr bwMode="auto">
          <a:noFill/>
          <a:ln>
            <a:miter lim="800000"/>
            <a:headEnd/>
            <a:tailEnd/>
          </a:ln>
        </p:spPr>
        <p:txBody>
          <a:bodyPr/>
          <a:lstStyle/>
          <a:p>
            <a:fld id="{EEF560A9-670B-EF47-A212-70D5915059A7}" type="slidenum">
              <a:rPr lang="en-US"/>
              <a:pPr/>
              <a:t>11</a:t>
            </a:fld>
            <a:endParaRPr lang="en-US"/>
          </a:p>
        </p:txBody>
      </p:sp>
    </p:spTree>
    <p:extLst>
      <p:ext uri="{BB962C8B-B14F-4D97-AF65-F5344CB8AC3E}">
        <p14:creationId xmlns:p14="http://schemas.microsoft.com/office/powerpoint/2010/main" val="2095270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a:lstStyle/>
          <a:p>
            <a:pPr>
              <a:spcBef>
                <a:spcPct val="0"/>
              </a:spcBef>
            </a:pPr>
            <a:r>
              <a:rPr lang="en-US" dirty="0"/>
              <a:t>Filippo Brunelleschi DOME OF FLORENCE CATHEDRAL (SANTA MARIA DEL FIORE)</a:t>
            </a:r>
            <a:br>
              <a:rPr lang="en-US" dirty="0"/>
            </a:br>
            <a:r>
              <a:rPr lang="en-US" dirty="0"/>
              <a:t>1420–1436; lantern completed 1471.</a:t>
            </a:r>
            <a:br>
              <a:rPr lang="en-US" dirty="0"/>
            </a:br>
            <a:r>
              <a:rPr lang="en-US" dirty="0"/>
              <a:t>© Javier Martin/123RF.</a:t>
            </a:r>
          </a:p>
        </p:txBody>
      </p:sp>
      <p:sp>
        <p:nvSpPr>
          <p:cNvPr id="28675" name="Slide Number Placeholder 3"/>
          <p:cNvSpPr>
            <a:spLocks noGrp="1"/>
          </p:cNvSpPr>
          <p:nvPr>
            <p:ph type="sldNum" sz="quarter" idx="5"/>
          </p:nvPr>
        </p:nvSpPr>
        <p:spPr bwMode="auto">
          <a:noFill/>
          <a:ln>
            <a:miter lim="800000"/>
            <a:headEnd/>
            <a:tailEnd/>
          </a:ln>
        </p:spPr>
        <p:txBody>
          <a:bodyPr/>
          <a:lstStyle/>
          <a:p>
            <a:fld id="{EBDB0221-B526-3B4A-8114-00E2812780CC}" type="slidenum">
              <a:rPr lang="en-US"/>
              <a:pPr/>
              <a:t>14</a:t>
            </a:fld>
            <a:endParaRPr lang="en-US"/>
          </a:p>
        </p:txBody>
      </p:sp>
    </p:spTree>
    <p:extLst>
      <p:ext uri="{BB962C8B-B14F-4D97-AF65-F5344CB8AC3E}">
        <p14:creationId xmlns:p14="http://schemas.microsoft.com/office/powerpoint/2010/main" val="770685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a:lstStyle/>
          <a:p>
            <a:pPr>
              <a:spcBef>
                <a:spcPct val="0"/>
              </a:spcBef>
            </a:pPr>
            <a:r>
              <a:rPr lang="en-US" dirty="0"/>
              <a:t>SCHEMATIC DRAWING OF FLORENCE CATHEDRAL</a:t>
            </a:r>
            <a:br>
              <a:rPr lang="en-US" dirty="0"/>
            </a:br>
            <a:r>
              <a:rPr lang="en-US" dirty="0"/>
              <a:t>The separate, central-plan building in front of the façade is the baptistery. Adjacent to the façade is a tall tower designed by Giotto in 1334.</a:t>
            </a:r>
            <a:br>
              <a:rPr lang="en-US" dirty="0"/>
            </a:br>
            <a:r>
              <a:rPr lang="en-US" dirty="0"/>
              <a:t>© Dorling Kindersley. </a:t>
            </a:r>
          </a:p>
        </p:txBody>
      </p:sp>
      <p:sp>
        <p:nvSpPr>
          <p:cNvPr id="30723" name="Slide Number Placeholder 3"/>
          <p:cNvSpPr>
            <a:spLocks noGrp="1"/>
          </p:cNvSpPr>
          <p:nvPr>
            <p:ph type="sldNum" sz="quarter" idx="5"/>
          </p:nvPr>
        </p:nvSpPr>
        <p:spPr bwMode="auto">
          <a:noFill/>
          <a:ln>
            <a:miter lim="800000"/>
            <a:headEnd/>
            <a:tailEnd/>
          </a:ln>
        </p:spPr>
        <p:txBody>
          <a:bodyPr/>
          <a:lstStyle/>
          <a:p>
            <a:fld id="{7411ED9E-EF8C-AF4D-8FAD-3666DAEF2DCE}" type="slidenum">
              <a:rPr lang="en-US"/>
              <a:pPr/>
              <a:t>15</a:t>
            </a:fld>
            <a:endParaRPr lang="en-US"/>
          </a:p>
        </p:txBody>
      </p:sp>
    </p:spTree>
    <p:extLst>
      <p:ext uri="{BB962C8B-B14F-4D97-AF65-F5344CB8AC3E}">
        <p14:creationId xmlns:p14="http://schemas.microsoft.com/office/powerpoint/2010/main" val="1432718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p:cNvSpPr>
            <a:spLocks noGrp="1" noRot="1" noChangeAspect="1" noTextEdit="1"/>
          </p:cNvSpPr>
          <p:nvPr>
            <p:ph type="sldImg"/>
          </p:nvPr>
        </p:nvSpPr>
        <p:spPr bwMode="auto">
          <a:noFill/>
          <a:ln>
            <a:solidFill>
              <a:srgbClr val="000000"/>
            </a:solidFill>
            <a:miter lim="800000"/>
            <a:headEnd/>
            <a:tailEnd/>
          </a:ln>
        </p:spPr>
      </p:sp>
      <p:sp>
        <p:nvSpPr>
          <p:cNvPr id="33794" name="Notes Placeholder 2"/>
          <p:cNvSpPr>
            <a:spLocks noGrp="1"/>
          </p:cNvSpPr>
          <p:nvPr>
            <p:ph type="body" idx="1"/>
          </p:nvPr>
        </p:nvSpPr>
        <p:spPr bwMode="auto">
          <a:noFill/>
        </p:spPr>
        <p:txBody>
          <a:bodyPr/>
          <a:lstStyle/>
          <a:p>
            <a:pPr>
              <a:spcBef>
                <a:spcPct val="0"/>
              </a:spcBef>
            </a:pPr>
            <a:r>
              <a:rPr lang="en-US" dirty="0"/>
              <a:t>Filippo Brunelleschi OSPEDALE DEGLI INNOCENTI (FOUNDLING HOSPITAL), FLORENCE</a:t>
            </a:r>
            <a:br>
              <a:rPr lang="en-US" dirty="0"/>
            </a:br>
            <a:r>
              <a:rPr lang="en-US" dirty="0"/>
              <a:t>Designed 1419; begun under Brunelleschi</a:t>
            </a:r>
            <a:r>
              <a:rPr lang="uk-UA" dirty="0"/>
              <a:t>'</a:t>
            </a:r>
            <a:r>
              <a:rPr lang="en-US" dirty="0"/>
              <a:t>s direct supervision 1421–1427; construction continued into the 1440s.</a:t>
            </a:r>
            <a:br>
              <a:rPr lang="en-US" dirty="0"/>
            </a:br>
            <a:r>
              <a:rPr lang="en-US" dirty="0"/>
              <a:t>Deposit Photos/Glow Images. </a:t>
            </a:r>
          </a:p>
        </p:txBody>
      </p:sp>
      <p:sp>
        <p:nvSpPr>
          <p:cNvPr id="33795" name="Slide Number Placeholder 3"/>
          <p:cNvSpPr>
            <a:spLocks noGrp="1"/>
          </p:cNvSpPr>
          <p:nvPr>
            <p:ph type="sldNum" sz="quarter" idx="5"/>
          </p:nvPr>
        </p:nvSpPr>
        <p:spPr bwMode="auto">
          <a:noFill/>
          <a:ln>
            <a:miter lim="800000"/>
            <a:headEnd/>
            <a:tailEnd/>
          </a:ln>
        </p:spPr>
        <p:txBody>
          <a:bodyPr/>
          <a:lstStyle/>
          <a:p>
            <a:fld id="{9B564C7D-AF8C-0542-8CC6-7101F75401EE}" type="slidenum">
              <a:rPr lang="en-US"/>
              <a:pPr/>
              <a:t>17</a:t>
            </a:fld>
            <a:endParaRPr lang="en-US"/>
          </a:p>
        </p:txBody>
      </p:sp>
    </p:spTree>
    <p:extLst>
      <p:ext uri="{BB962C8B-B14F-4D97-AF65-F5344CB8AC3E}">
        <p14:creationId xmlns:p14="http://schemas.microsoft.com/office/powerpoint/2010/main" val="2110238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p:cNvSpPr>
            <a:spLocks noGrp="1" noRot="1" noChangeAspect="1" noTextEdit="1"/>
          </p:cNvSpPr>
          <p:nvPr>
            <p:ph type="sldImg"/>
          </p:nvPr>
        </p:nvSpPr>
        <p:spPr bwMode="auto">
          <a:noFill/>
          <a:ln>
            <a:solidFill>
              <a:srgbClr val="000000"/>
            </a:solidFill>
            <a:miter lim="800000"/>
            <a:headEnd/>
            <a:tailEnd/>
          </a:ln>
        </p:spPr>
      </p:sp>
      <p:sp>
        <p:nvSpPr>
          <p:cNvPr id="35842" name="Notes Placeholder 2"/>
          <p:cNvSpPr>
            <a:spLocks noGrp="1"/>
          </p:cNvSpPr>
          <p:nvPr>
            <p:ph type="body" idx="1"/>
          </p:nvPr>
        </p:nvSpPr>
        <p:spPr bwMode="auto">
          <a:noFill/>
        </p:spPr>
        <p:txBody>
          <a:bodyPr/>
          <a:lstStyle/>
          <a:p>
            <a:pPr>
              <a:spcBef>
                <a:spcPct val="0"/>
              </a:spcBef>
            </a:pPr>
            <a:r>
              <a:rPr lang="en-US" dirty="0">
                <a:latin typeface="Verdana" charset="0"/>
              </a:rPr>
              <a:t>Andrea </a:t>
            </a:r>
            <a:r>
              <a:rPr lang="en-US" dirty="0" err="1">
                <a:latin typeface="Verdana" charset="0"/>
              </a:rPr>
              <a:t>della</a:t>
            </a:r>
            <a:r>
              <a:rPr lang="en-US" dirty="0">
                <a:latin typeface="Verdana" charset="0"/>
              </a:rPr>
              <a:t> </a:t>
            </a:r>
            <a:r>
              <a:rPr lang="en-US" dirty="0" err="1">
                <a:latin typeface="Verdana" charset="0"/>
              </a:rPr>
              <a:t>Robbia</a:t>
            </a:r>
            <a:r>
              <a:rPr lang="en-US" dirty="0">
                <a:latin typeface="Verdana" charset="0"/>
              </a:rPr>
              <a:t> INFANT IN SWADDLING CLOTHES (ONE OF THE HOLY INNOCENTS MASSACRED BY HEROD)</a:t>
            </a:r>
            <a:br>
              <a:rPr lang="en-US" dirty="0">
                <a:latin typeface="Verdana" charset="0"/>
              </a:rPr>
            </a:br>
            <a:r>
              <a:rPr lang="en-US" dirty="0" err="1">
                <a:latin typeface="Verdana" charset="0"/>
              </a:rPr>
              <a:t>Ospedale</a:t>
            </a:r>
            <a:r>
              <a:rPr lang="en-US" dirty="0">
                <a:latin typeface="Verdana" charset="0"/>
              </a:rPr>
              <a:t> </a:t>
            </a:r>
            <a:r>
              <a:rPr lang="en-US" dirty="0" err="1">
                <a:latin typeface="Verdana" charset="0"/>
              </a:rPr>
              <a:t>degli</a:t>
            </a:r>
            <a:r>
              <a:rPr lang="en-US" dirty="0">
                <a:latin typeface="Verdana" charset="0"/>
              </a:rPr>
              <a:t> </a:t>
            </a:r>
            <a:r>
              <a:rPr lang="en-US" dirty="0" err="1">
                <a:latin typeface="Verdana" charset="0"/>
              </a:rPr>
              <a:t>Innocenti</a:t>
            </a:r>
            <a:r>
              <a:rPr lang="en-US" dirty="0">
                <a:latin typeface="Verdana" charset="0"/>
              </a:rPr>
              <a:t> (Foundling Hospital), Florence. 1487.</a:t>
            </a:r>
            <a:br>
              <a:rPr lang="en-US" dirty="0">
                <a:latin typeface="Verdana" charset="0"/>
              </a:rPr>
            </a:br>
            <a:r>
              <a:rPr lang="en-US" dirty="0">
                <a:latin typeface="Verdana" charset="0"/>
              </a:rPr>
              <a:t>Glazed terra cotta.</a:t>
            </a:r>
            <a:br>
              <a:rPr lang="en-US" dirty="0">
                <a:latin typeface="Verdana" charset="0"/>
              </a:rPr>
            </a:br>
            <a:r>
              <a:rPr lang="en-US" dirty="0">
                <a:latin typeface="Verdana" charset="0"/>
              </a:rPr>
              <a:t>pio3/</a:t>
            </a:r>
            <a:r>
              <a:rPr lang="en-US" dirty="0" err="1">
                <a:latin typeface="Verdana" charset="0"/>
              </a:rPr>
              <a:t>Fotolia</a:t>
            </a:r>
            <a:r>
              <a:rPr lang="en-US" dirty="0">
                <a:latin typeface="Verdana" charset="0"/>
              </a:rPr>
              <a:t>.</a:t>
            </a:r>
            <a:endParaRPr lang="en-US" dirty="0"/>
          </a:p>
        </p:txBody>
      </p:sp>
      <p:sp>
        <p:nvSpPr>
          <p:cNvPr id="35843" name="Slide Number Placeholder 3"/>
          <p:cNvSpPr>
            <a:spLocks noGrp="1"/>
          </p:cNvSpPr>
          <p:nvPr>
            <p:ph type="sldNum" sz="quarter" idx="5"/>
          </p:nvPr>
        </p:nvSpPr>
        <p:spPr bwMode="auto">
          <a:noFill/>
          <a:ln>
            <a:miter lim="800000"/>
            <a:headEnd/>
            <a:tailEnd/>
          </a:ln>
        </p:spPr>
        <p:txBody>
          <a:bodyPr/>
          <a:lstStyle/>
          <a:p>
            <a:fld id="{3E97BA0E-4582-1148-BD27-4A0CDBED57F5}" type="slidenum">
              <a:rPr lang="en-US"/>
              <a:pPr/>
              <a:t>18</a:t>
            </a:fld>
            <a:endParaRPr lang="en-US"/>
          </a:p>
        </p:txBody>
      </p:sp>
    </p:spTree>
    <p:extLst>
      <p:ext uri="{BB962C8B-B14F-4D97-AF65-F5344CB8AC3E}">
        <p14:creationId xmlns:p14="http://schemas.microsoft.com/office/powerpoint/2010/main" val="10795013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p:spPr>
      </p:sp>
      <p:sp>
        <p:nvSpPr>
          <p:cNvPr id="38914" name="Notes Placeholder 2"/>
          <p:cNvSpPr>
            <a:spLocks noGrp="1"/>
          </p:cNvSpPr>
          <p:nvPr>
            <p:ph type="body" idx="1"/>
          </p:nvPr>
        </p:nvSpPr>
        <p:spPr bwMode="auto">
          <a:noFill/>
        </p:spPr>
        <p:txBody>
          <a:bodyPr/>
          <a:lstStyle/>
          <a:p>
            <a:pPr>
              <a:spcBef>
                <a:spcPct val="0"/>
              </a:spcBef>
            </a:pPr>
            <a:r>
              <a:rPr lang="en-US" dirty="0"/>
              <a:t>Filippo Brunelleschi (continued by </a:t>
            </a:r>
            <a:r>
              <a:rPr lang="en-US" dirty="0" err="1"/>
              <a:t>Michelozzo</a:t>
            </a:r>
            <a:r>
              <a:rPr lang="en-US" dirty="0"/>
              <a:t> di Bartolomeo) INTERIOR OF CHURCH OF SAN LORENZO, FLORENCE</a:t>
            </a:r>
            <a:br>
              <a:rPr lang="en-US" dirty="0"/>
            </a:br>
            <a:r>
              <a:rPr lang="en-US" dirty="0"/>
              <a:t>c. 1421–1428; nave (designed 1434?) 1442–1470.</a:t>
            </a:r>
            <a:br>
              <a:rPr lang="en-US" dirty="0"/>
            </a:br>
            <a:r>
              <a:rPr lang="en-US" dirty="0"/>
              <a:t>© Studio </a:t>
            </a:r>
            <a:r>
              <a:rPr lang="en-US" dirty="0" err="1"/>
              <a:t>Fotografico</a:t>
            </a:r>
            <a:r>
              <a:rPr lang="en-US" dirty="0"/>
              <a:t> </a:t>
            </a:r>
            <a:r>
              <a:rPr lang="en-US" dirty="0" err="1"/>
              <a:t>Quattrone</a:t>
            </a:r>
            <a:r>
              <a:rPr lang="en-US" dirty="0"/>
              <a:t>, Florence. </a:t>
            </a:r>
          </a:p>
        </p:txBody>
      </p:sp>
      <p:sp>
        <p:nvSpPr>
          <p:cNvPr id="38915" name="Slide Number Placeholder 3"/>
          <p:cNvSpPr>
            <a:spLocks noGrp="1"/>
          </p:cNvSpPr>
          <p:nvPr>
            <p:ph type="sldNum" sz="quarter" idx="5"/>
          </p:nvPr>
        </p:nvSpPr>
        <p:spPr bwMode="auto">
          <a:noFill/>
          <a:ln>
            <a:miter lim="800000"/>
            <a:headEnd/>
            <a:tailEnd/>
          </a:ln>
        </p:spPr>
        <p:txBody>
          <a:bodyPr/>
          <a:lstStyle/>
          <a:p>
            <a:fld id="{1E9E657D-BDAE-6C4F-A1A2-B1FAD12756BE}" type="slidenum">
              <a:rPr lang="en-US"/>
              <a:pPr/>
              <a:t>20</a:t>
            </a:fld>
            <a:endParaRPr lang="en-US"/>
          </a:p>
        </p:txBody>
      </p:sp>
    </p:spTree>
    <p:extLst>
      <p:ext uri="{BB962C8B-B14F-4D97-AF65-F5344CB8AC3E}">
        <p14:creationId xmlns:p14="http://schemas.microsoft.com/office/powerpoint/2010/main" val="1237709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p:spPr>
      </p:sp>
      <p:sp>
        <p:nvSpPr>
          <p:cNvPr id="40962" name="Notes Placeholder 2"/>
          <p:cNvSpPr>
            <a:spLocks noGrp="1"/>
          </p:cNvSpPr>
          <p:nvPr>
            <p:ph type="body" idx="1"/>
          </p:nvPr>
        </p:nvSpPr>
        <p:spPr bwMode="auto">
          <a:noFill/>
        </p:spPr>
        <p:txBody>
          <a:bodyPr/>
          <a:lstStyle/>
          <a:p>
            <a:pPr>
              <a:spcBef>
                <a:spcPct val="0"/>
              </a:spcBef>
            </a:pPr>
            <a:r>
              <a:rPr lang="en-US" dirty="0"/>
              <a:t>Filippo Brunelleschi (continued by </a:t>
            </a:r>
            <a:r>
              <a:rPr lang="en-US" dirty="0" err="1"/>
              <a:t>Michelozzo</a:t>
            </a:r>
            <a:r>
              <a:rPr lang="en-US" dirty="0"/>
              <a:t> di Bartolomeo) PLAN OF CHURCH OF SAN LORENZO, FLORENCE</a:t>
            </a:r>
            <a:br>
              <a:rPr lang="en-US" dirty="0"/>
            </a:br>
            <a:r>
              <a:rPr lang="en-US" dirty="0"/>
              <a:t>c. 1421–1428; nave (designed 1434?) 1442–1470. </a:t>
            </a:r>
          </a:p>
        </p:txBody>
      </p:sp>
      <p:sp>
        <p:nvSpPr>
          <p:cNvPr id="40963" name="Slide Number Placeholder 3"/>
          <p:cNvSpPr>
            <a:spLocks noGrp="1"/>
          </p:cNvSpPr>
          <p:nvPr>
            <p:ph type="sldNum" sz="quarter" idx="5"/>
          </p:nvPr>
        </p:nvSpPr>
        <p:spPr bwMode="auto">
          <a:noFill/>
          <a:ln>
            <a:miter lim="800000"/>
            <a:headEnd/>
            <a:tailEnd/>
          </a:ln>
        </p:spPr>
        <p:txBody>
          <a:bodyPr/>
          <a:lstStyle/>
          <a:p>
            <a:fld id="{E2C99BEA-2DF8-4A40-9397-ACBB7218BE3E}" type="slidenum">
              <a:rPr lang="en-US"/>
              <a:pPr/>
              <a:t>21</a:t>
            </a:fld>
            <a:endParaRPr lang="en-US"/>
          </a:p>
        </p:txBody>
      </p:sp>
    </p:spTree>
    <p:extLst>
      <p:ext uri="{BB962C8B-B14F-4D97-AF65-F5344CB8AC3E}">
        <p14:creationId xmlns:p14="http://schemas.microsoft.com/office/powerpoint/2010/main" val="1654406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noFill/>
          <a:ln>
            <a:solidFill>
              <a:srgbClr val="000000"/>
            </a:solidFill>
            <a:miter lim="800000"/>
            <a:headEnd/>
            <a:tailEnd/>
          </a:ln>
        </p:spPr>
      </p:sp>
      <p:sp>
        <p:nvSpPr>
          <p:cNvPr id="44034" name="Notes Placeholder 2"/>
          <p:cNvSpPr>
            <a:spLocks noGrp="1"/>
          </p:cNvSpPr>
          <p:nvPr>
            <p:ph type="body" idx="1"/>
          </p:nvPr>
        </p:nvSpPr>
        <p:spPr bwMode="auto">
          <a:noFill/>
        </p:spPr>
        <p:txBody>
          <a:bodyPr/>
          <a:lstStyle/>
          <a:p>
            <a:pPr>
              <a:spcBef>
                <a:spcPct val="0"/>
              </a:spcBef>
            </a:pPr>
            <a:r>
              <a:rPr lang="en-US" dirty="0"/>
              <a:t>Attributed to </a:t>
            </a:r>
            <a:r>
              <a:rPr lang="en-US" dirty="0" err="1"/>
              <a:t>Michelozzo</a:t>
            </a:r>
            <a:r>
              <a:rPr lang="en-US" dirty="0"/>
              <a:t> di Bartolomeo FAÇADE, PALAZZO MEDICI-RICCARDI, FLORENCE</a:t>
            </a:r>
            <a:br>
              <a:rPr lang="en-US" dirty="0"/>
            </a:br>
            <a:r>
              <a:rPr lang="en-US" dirty="0"/>
              <a:t>Begun 1446 (the view shown here includes a two-bay extension constructed during the 18th century). © Achim Bednorz, Cologne.</a:t>
            </a:r>
          </a:p>
        </p:txBody>
      </p:sp>
      <p:sp>
        <p:nvSpPr>
          <p:cNvPr id="44035" name="Slide Number Placeholder 3"/>
          <p:cNvSpPr>
            <a:spLocks noGrp="1"/>
          </p:cNvSpPr>
          <p:nvPr>
            <p:ph type="sldNum" sz="quarter" idx="5"/>
          </p:nvPr>
        </p:nvSpPr>
        <p:spPr bwMode="auto">
          <a:noFill/>
          <a:ln>
            <a:miter lim="800000"/>
            <a:headEnd/>
            <a:tailEnd/>
          </a:ln>
        </p:spPr>
        <p:txBody>
          <a:bodyPr/>
          <a:lstStyle/>
          <a:p>
            <a:fld id="{786935C3-BA9A-E649-B8AD-9F50F6313347}" type="slidenum">
              <a:rPr lang="en-US"/>
              <a:pPr/>
              <a:t>23</a:t>
            </a:fld>
            <a:endParaRPr lang="en-US"/>
          </a:p>
        </p:txBody>
      </p:sp>
    </p:spTree>
    <p:extLst>
      <p:ext uri="{BB962C8B-B14F-4D97-AF65-F5344CB8AC3E}">
        <p14:creationId xmlns:p14="http://schemas.microsoft.com/office/powerpoint/2010/main" val="86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p:spPr>
      </p:sp>
      <p:sp>
        <p:nvSpPr>
          <p:cNvPr id="47106" name="Notes Placeholder 2"/>
          <p:cNvSpPr>
            <a:spLocks noGrp="1"/>
          </p:cNvSpPr>
          <p:nvPr>
            <p:ph type="body" idx="1"/>
          </p:nvPr>
        </p:nvSpPr>
        <p:spPr bwMode="auto">
          <a:noFill/>
        </p:spPr>
        <p:txBody>
          <a:bodyPr/>
          <a:lstStyle/>
          <a:p>
            <a:pPr>
              <a:spcBef>
                <a:spcPct val="0"/>
              </a:spcBef>
            </a:pPr>
            <a:r>
              <a:rPr lang="en-US" dirty="0"/>
              <a:t>COURTYARD WITH SGRAFFITO DECORATION, PALAZZO MEDICI-RICCARDI, FLORENCE</a:t>
            </a:r>
            <a:br>
              <a:rPr lang="en-US" dirty="0"/>
            </a:br>
            <a:r>
              <a:rPr lang="en-US" dirty="0"/>
              <a:t>Begun 1446. </a:t>
            </a:r>
          </a:p>
        </p:txBody>
      </p:sp>
      <p:sp>
        <p:nvSpPr>
          <p:cNvPr id="47107" name="Slide Number Placeholder 3"/>
          <p:cNvSpPr>
            <a:spLocks noGrp="1"/>
          </p:cNvSpPr>
          <p:nvPr>
            <p:ph type="sldNum" sz="quarter" idx="5"/>
          </p:nvPr>
        </p:nvSpPr>
        <p:spPr bwMode="auto">
          <a:noFill/>
          <a:ln>
            <a:miter lim="800000"/>
            <a:headEnd/>
            <a:tailEnd/>
          </a:ln>
        </p:spPr>
        <p:txBody>
          <a:bodyPr/>
          <a:lstStyle/>
          <a:p>
            <a:fld id="{587BED98-93FF-4B4C-B761-CB2D30D6D3C2}" type="slidenum">
              <a:rPr lang="en-US"/>
              <a:pPr/>
              <a:t>25</a:t>
            </a:fld>
            <a:endParaRPr lang="en-US"/>
          </a:p>
        </p:txBody>
      </p:sp>
    </p:spTree>
    <p:extLst>
      <p:ext uri="{BB962C8B-B14F-4D97-AF65-F5344CB8AC3E}">
        <p14:creationId xmlns:p14="http://schemas.microsoft.com/office/powerpoint/2010/main" val="1458881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p:spPr>
      </p:sp>
      <p:sp>
        <p:nvSpPr>
          <p:cNvPr id="51202" name="Notes Placeholder 2"/>
          <p:cNvSpPr>
            <a:spLocks noGrp="1"/>
          </p:cNvSpPr>
          <p:nvPr>
            <p:ph type="body" idx="1"/>
          </p:nvPr>
        </p:nvSpPr>
        <p:spPr bwMode="auto">
          <a:noFill/>
        </p:spPr>
        <p:txBody>
          <a:bodyPr/>
          <a:lstStyle/>
          <a:p>
            <a:pPr>
              <a:spcBef>
                <a:spcPct val="0"/>
              </a:spcBef>
            </a:pPr>
            <a:r>
              <a:rPr lang="en-US" dirty="0">
                <a:latin typeface="Verdana" charset="0"/>
              </a:rPr>
              <a:t>EXTERIOR VIEW OF ORSANMICHELE SHOWING SCULPTURE IN NICHES</a:t>
            </a:r>
            <a:br>
              <a:rPr lang="en-US" dirty="0">
                <a:latin typeface="Verdana" charset="0"/>
              </a:rPr>
            </a:br>
            <a:r>
              <a:rPr lang="en-US" dirty="0">
                <a:latin typeface="Verdana" charset="0"/>
              </a:rPr>
              <a:t>Florence. Begun 1337.</a:t>
            </a:r>
            <a:br>
              <a:rPr lang="en-US" dirty="0">
                <a:latin typeface="Verdana" charset="0"/>
              </a:rPr>
            </a:br>
            <a:r>
              <a:rPr lang="en-US" dirty="0">
                <a:latin typeface="Verdana" charset="0"/>
              </a:rPr>
              <a:t>© Studio </a:t>
            </a:r>
            <a:r>
              <a:rPr lang="en-US" dirty="0" err="1">
                <a:latin typeface="Verdana" charset="0"/>
              </a:rPr>
              <a:t>Fotografico</a:t>
            </a:r>
            <a:r>
              <a:rPr lang="en-US" dirty="0">
                <a:latin typeface="Verdana" charset="0"/>
              </a:rPr>
              <a:t> </a:t>
            </a:r>
            <a:r>
              <a:rPr lang="en-US" dirty="0" err="1">
                <a:latin typeface="Verdana" charset="0"/>
              </a:rPr>
              <a:t>Quattrone</a:t>
            </a:r>
            <a:r>
              <a:rPr lang="en-US" dirty="0">
                <a:latin typeface="Verdana" charset="0"/>
              </a:rPr>
              <a:t>, Florence.</a:t>
            </a:r>
            <a:endParaRPr lang="en-US" dirty="0"/>
          </a:p>
        </p:txBody>
      </p:sp>
      <p:sp>
        <p:nvSpPr>
          <p:cNvPr id="51203" name="Slide Number Placeholder 3"/>
          <p:cNvSpPr>
            <a:spLocks noGrp="1"/>
          </p:cNvSpPr>
          <p:nvPr>
            <p:ph type="sldNum" sz="quarter" idx="5"/>
          </p:nvPr>
        </p:nvSpPr>
        <p:spPr bwMode="auto">
          <a:noFill/>
          <a:ln>
            <a:miter lim="800000"/>
            <a:headEnd/>
            <a:tailEnd/>
          </a:ln>
        </p:spPr>
        <p:txBody>
          <a:bodyPr/>
          <a:lstStyle/>
          <a:p>
            <a:fld id="{2B1B9A2E-FD91-4D42-B58A-9E78C8BE5C39}" type="slidenum">
              <a:rPr lang="en-US"/>
              <a:pPr/>
              <a:t>28</a:t>
            </a:fld>
            <a:endParaRPr lang="en-US"/>
          </a:p>
        </p:txBody>
      </p:sp>
    </p:spTree>
    <p:extLst>
      <p:ext uri="{BB962C8B-B14F-4D97-AF65-F5344CB8AC3E}">
        <p14:creationId xmlns:p14="http://schemas.microsoft.com/office/powerpoint/2010/main" val="1595765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p:spPr>
      </p:sp>
      <p:sp>
        <p:nvSpPr>
          <p:cNvPr id="53250" name="Notes Placeholder 2"/>
          <p:cNvSpPr>
            <a:spLocks noGrp="1"/>
          </p:cNvSpPr>
          <p:nvPr>
            <p:ph type="body" idx="1"/>
          </p:nvPr>
        </p:nvSpPr>
        <p:spPr bwMode="auto">
          <a:noFill/>
        </p:spPr>
        <p:txBody>
          <a:bodyPr/>
          <a:lstStyle/>
          <a:p>
            <a:pPr>
              <a:spcBef>
                <a:spcPct val="0"/>
              </a:spcBef>
            </a:pPr>
            <a:r>
              <a:rPr lang="en-US" dirty="0" err="1"/>
              <a:t>Nanni</a:t>
            </a:r>
            <a:r>
              <a:rPr lang="en-US" dirty="0"/>
              <a:t> di Banco THE FOUR CROWNED MARTYRS</a:t>
            </a:r>
            <a:br>
              <a:rPr lang="en-US" dirty="0"/>
            </a:br>
            <a:r>
              <a:rPr lang="en-US" dirty="0"/>
              <a:t>c. 1409–1417. Marble, height of figures 6</a:t>
            </a:r>
            <a:r>
              <a:rPr lang="uk-UA" dirty="0"/>
              <a:t>'</a:t>
            </a:r>
            <a:r>
              <a:rPr lang="en-US" dirty="0"/>
              <a:t> (1.83 m). Photographed </a:t>
            </a:r>
            <a:r>
              <a:rPr lang="en-US" i="1" dirty="0"/>
              <a:t>in situ </a:t>
            </a:r>
            <a:r>
              <a:rPr lang="en-US" dirty="0"/>
              <a:t>before removal of the figures to the Museo di </a:t>
            </a:r>
            <a:r>
              <a:rPr lang="en-US" dirty="0" err="1"/>
              <a:t>Orsanmichele</a:t>
            </a:r>
            <a:r>
              <a:rPr lang="en-US" dirty="0"/>
              <a:t>, Florence.</a:t>
            </a:r>
            <a:br>
              <a:rPr lang="en-US" dirty="0"/>
            </a:br>
            <a:r>
              <a:rPr lang="en-US" dirty="0"/>
              <a:t>© Studio </a:t>
            </a:r>
            <a:r>
              <a:rPr lang="en-US" dirty="0" err="1"/>
              <a:t>Fotografico</a:t>
            </a:r>
            <a:r>
              <a:rPr lang="en-US" dirty="0"/>
              <a:t> </a:t>
            </a:r>
            <a:r>
              <a:rPr lang="en-US" dirty="0" err="1"/>
              <a:t>Quattrone</a:t>
            </a:r>
            <a:r>
              <a:rPr lang="en-US" dirty="0"/>
              <a:t>, Florence. </a:t>
            </a:r>
          </a:p>
        </p:txBody>
      </p:sp>
      <p:sp>
        <p:nvSpPr>
          <p:cNvPr id="53251" name="Slide Number Placeholder 3"/>
          <p:cNvSpPr>
            <a:spLocks noGrp="1"/>
          </p:cNvSpPr>
          <p:nvPr>
            <p:ph type="sldNum" sz="quarter" idx="5"/>
          </p:nvPr>
        </p:nvSpPr>
        <p:spPr bwMode="auto">
          <a:noFill/>
          <a:ln>
            <a:miter lim="800000"/>
            <a:headEnd/>
            <a:tailEnd/>
          </a:ln>
        </p:spPr>
        <p:txBody>
          <a:bodyPr/>
          <a:lstStyle/>
          <a:p>
            <a:fld id="{1B9290AB-F6E1-664F-9EE3-B9BADA7877E9}" type="slidenum">
              <a:rPr lang="en-US"/>
              <a:pPr/>
              <a:t>29</a:t>
            </a:fld>
            <a:endParaRPr lang="en-US"/>
          </a:p>
        </p:txBody>
      </p:sp>
    </p:spTree>
    <p:extLst>
      <p:ext uri="{BB962C8B-B14F-4D97-AF65-F5344CB8AC3E}">
        <p14:creationId xmlns:p14="http://schemas.microsoft.com/office/powerpoint/2010/main" val="114197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bwMode="auto">
          <a:noFill/>
          <a:ln>
            <a:solidFill>
              <a:srgbClr val="000000"/>
            </a:solidFill>
            <a:miter lim="800000"/>
            <a:headEnd/>
            <a:tailEnd/>
          </a:ln>
        </p:spPr>
      </p:sp>
      <p:sp>
        <p:nvSpPr>
          <p:cNvPr id="56322" name="Notes Placeholder 2"/>
          <p:cNvSpPr>
            <a:spLocks noGrp="1"/>
          </p:cNvSpPr>
          <p:nvPr>
            <p:ph type="body" idx="1"/>
          </p:nvPr>
        </p:nvSpPr>
        <p:spPr bwMode="auto">
          <a:noFill/>
        </p:spPr>
        <p:txBody>
          <a:bodyPr/>
          <a:lstStyle/>
          <a:p>
            <a:pPr>
              <a:spcBef>
                <a:spcPct val="0"/>
              </a:spcBef>
            </a:pPr>
            <a:r>
              <a:rPr lang="en-US" dirty="0"/>
              <a:t>Donatello ST. GEORGE</a:t>
            </a:r>
            <a:br>
              <a:rPr lang="en-US" dirty="0"/>
            </a:br>
            <a:r>
              <a:rPr lang="en-US" dirty="0"/>
              <a:t>Formerly in </a:t>
            </a:r>
            <a:r>
              <a:rPr lang="en-US" dirty="0" err="1"/>
              <a:t>Orsanmichele</a:t>
            </a:r>
            <a:r>
              <a:rPr lang="en-US" dirty="0"/>
              <a:t>, Florence. 1417–1420. Marble, height 6</a:t>
            </a:r>
            <a:r>
              <a:rPr lang="uk-UA" dirty="0"/>
              <a:t>'</a:t>
            </a:r>
            <a:r>
              <a:rPr lang="en-US" dirty="0"/>
              <a:t>5</a:t>
            </a:r>
            <a:r>
              <a:rPr lang="ru-RU" dirty="0"/>
              <a:t>"</a:t>
            </a:r>
            <a:r>
              <a:rPr lang="en-US" dirty="0"/>
              <a:t> (1.95 m).</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p>
        </p:txBody>
      </p:sp>
      <p:sp>
        <p:nvSpPr>
          <p:cNvPr id="56323" name="Slide Number Placeholder 3"/>
          <p:cNvSpPr>
            <a:spLocks noGrp="1"/>
          </p:cNvSpPr>
          <p:nvPr>
            <p:ph type="sldNum" sz="quarter" idx="5"/>
          </p:nvPr>
        </p:nvSpPr>
        <p:spPr bwMode="auto">
          <a:noFill/>
          <a:ln>
            <a:miter lim="800000"/>
            <a:headEnd/>
            <a:tailEnd/>
          </a:ln>
        </p:spPr>
        <p:txBody>
          <a:bodyPr/>
          <a:lstStyle/>
          <a:p>
            <a:fld id="{949442D0-27AA-8147-946D-25124EB73625}" type="slidenum">
              <a:rPr lang="en-US"/>
              <a:pPr/>
              <a:t>31</a:t>
            </a:fld>
            <a:endParaRPr lang="en-US"/>
          </a:p>
        </p:txBody>
      </p:sp>
    </p:spTree>
    <p:extLst>
      <p:ext uri="{BB962C8B-B14F-4D97-AF65-F5344CB8AC3E}">
        <p14:creationId xmlns:p14="http://schemas.microsoft.com/office/powerpoint/2010/main" val="1607930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p:spPr>
      </p:sp>
      <p:sp>
        <p:nvSpPr>
          <p:cNvPr id="59394" name="Notes Placeholder 2"/>
          <p:cNvSpPr>
            <a:spLocks noGrp="1"/>
          </p:cNvSpPr>
          <p:nvPr>
            <p:ph type="body" idx="1"/>
          </p:nvPr>
        </p:nvSpPr>
        <p:spPr bwMode="auto">
          <a:noFill/>
        </p:spPr>
        <p:txBody>
          <a:bodyPr/>
          <a:lstStyle/>
          <a:p>
            <a:pPr>
              <a:spcBef>
                <a:spcPct val="0"/>
              </a:spcBef>
            </a:pPr>
            <a:r>
              <a:rPr lang="en-US" dirty="0"/>
              <a:t>Donatello DAVID</a:t>
            </a:r>
            <a:br>
              <a:rPr lang="en-US" dirty="0"/>
            </a:br>
            <a:r>
              <a:rPr lang="en-US" dirty="0"/>
              <a:t>c. 1446–1460(?). Bronze, height 5</a:t>
            </a:r>
            <a:r>
              <a:rPr lang="uk-UA" dirty="0"/>
              <a:t>'</a:t>
            </a:r>
            <a:r>
              <a:rPr lang="en-US" dirty="0"/>
              <a:t>2-1/4</a:t>
            </a:r>
            <a:r>
              <a:rPr lang="ru-RU" dirty="0"/>
              <a:t>"</a:t>
            </a:r>
            <a:r>
              <a:rPr lang="en-US" dirty="0"/>
              <a:t> (1.58 m).</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p>
        </p:txBody>
      </p:sp>
      <p:sp>
        <p:nvSpPr>
          <p:cNvPr id="59395" name="Slide Number Placeholder 3"/>
          <p:cNvSpPr>
            <a:spLocks noGrp="1"/>
          </p:cNvSpPr>
          <p:nvPr>
            <p:ph type="sldNum" sz="quarter" idx="5"/>
          </p:nvPr>
        </p:nvSpPr>
        <p:spPr bwMode="auto">
          <a:noFill/>
          <a:ln>
            <a:miter lim="800000"/>
            <a:headEnd/>
            <a:tailEnd/>
          </a:ln>
        </p:spPr>
        <p:txBody>
          <a:bodyPr/>
          <a:lstStyle/>
          <a:p>
            <a:fld id="{4A0DE0DF-9112-014A-8D31-07E1EE91E3C2}" type="slidenum">
              <a:rPr lang="en-US"/>
              <a:pPr/>
              <a:t>33</a:t>
            </a:fld>
            <a:endParaRPr lang="en-US"/>
          </a:p>
        </p:txBody>
      </p:sp>
    </p:spTree>
    <p:extLst>
      <p:ext uri="{BB962C8B-B14F-4D97-AF65-F5344CB8AC3E}">
        <p14:creationId xmlns:p14="http://schemas.microsoft.com/office/powerpoint/2010/main" val="562086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noTextEdi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a:lstStyle/>
          <a:p>
            <a:pPr>
              <a:spcBef>
                <a:spcPct val="0"/>
              </a:spcBef>
            </a:pPr>
            <a:r>
              <a:rPr lang="en-US" dirty="0"/>
              <a:t>Donatello EQUESTRIAN STATUE OF ERASMO DA NARNI (GATTAMELATA)</a:t>
            </a:r>
            <a:br>
              <a:rPr lang="en-US" dirty="0"/>
            </a:br>
            <a:r>
              <a:rPr lang="en-US" dirty="0"/>
              <a:t>Piazza del Santo, Padua. 1443–1453.</a:t>
            </a:r>
            <a:br>
              <a:rPr lang="en-US" dirty="0"/>
            </a:br>
            <a:r>
              <a:rPr lang="en-US" dirty="0"/>
              <a:t>Bronze, height approx. 12</a:t>
            </a:r>
            <a:r>
              <a:rPr lang="uk-UA" dirty="0"/>
              <a:t>'</a:t>
            </a:r>
            <a:r>
              <a:rPr lang="en-US" dirty="0"/>
              <a:t>2</a:t>
            </a:r>
            <a:r>
              <a:rPr lang="ru-RU" dirty="0"/>
              <a:t>"</a:t>
            </a:r>
            <a:r>
              <a:rPr lang="en-US" dirty="0"/>
              <a:t> (3.71 m).</a:t>
            </a:r>
            <a:br>
              <a:rPr lang="en-US" dirty="0"/>
            </a:br>
            <a:r>
              <a:rPr lang="en-US" dirty="0"/>
              <a:t>© </a:t>
            </a:r>
            <a:r>
              <a:rPr lang="en-US" dirty="0" err="1"/>
              <a:t>akg</a:t>
            </a:r>
            <a:r>
              <a:rPr lang="en-US" dirty="0"/>
              <a:t>-images/</a:t>
            </a:r>
            <a:r>
              <a:rPr lang="en-US" dirty="0" err="1"/>
              <a:t>Cameraphoto</a:t>
            </a:r>
            <a:r>
              <a:rPr lang="en-US" dirty="0"/>
              <a:t>.</a:t>
            </a:r>
          </a:p>
        </p:txBody>
      </p:sp>
      <p:sp>
        <p:nvSpPr>
          <p:cNvPr id="62467" name="Slide Number Placeholder 3"/>
          <p:cNvSpPr>
            <a:spLocks noGrp="1"/>
          </p:cNvSpPr>
          <p:nvPr>
            <p:ph type="sldNum" sz="quarter" idx="5"/>
          </p:nvPr>
        </p:nvSpPr>
        <p:spPr bwMode="auto">
          <a:noFill/>
          <a:ln>
            <a:miter lim="800000"/>
            <a:headEnd/>
            <a:tailEnd/>
          </a:ln>
        </p:spPr>
        <p:txBody>
          <a:bodyPr/>
          <a:lstStyle/>
          <a:p>
            <a:fld id="{9686ED32-D326-2C40-B6D0-62D9FB1E41CC}" type="slidenum">
              <a:rPr lang="en-US"/>
              <a:pPr/>
              <a:t>35</a:t>
            </a:fld>
            <a:endParaRPr lang="en-US"/>
          </a:p>
        </p:txBody>
      </p:sp>
    </p:spTree>
    <p:extLst>
      <p:ext uri="{BB962C8B-B14F-4D97-AF65-F5344CB8AC3E}">
        <p14:creationId xmlns:p14="http://schemas.microsoft.com/office/powerpoint/2010/main" val="204637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a:lstStyle/>
          <a:p>
            <a:pPr>
              <a:spcBef>
                <a:spcPct val="0"/>
              </a:spcBef>
            </a:pPr>
            <a:r>
              <a:rPr lang="en-US" dirty="0"/>
              <a:t>Lorenzo Ghiberti </a:t>
            </a:r>
            <a:r>
              <a:rPr lang="ru-RU" dirty="0"/>
              <a:t>"</a:t>
            </a:r>
            <a:r>
              <a:rPr lang="en-US" dirty="0"/>
              <a:t>GATES OF PARADISE</a:t>
            </a:r>
            <a:r>
              <a:rPr lang="ru-RU" dirty="0"/>
              <a:t>"</a:t>
            </a:r>
            <a:r>
              <a:rPr lang="en-US" dirty="0"/>
              <a:t> (EAST BAPTISTERY DOORS)</a:t>
            </a:r>
            <a:br>
              <a:rPr lang="en-US" dirty="0"/>
            </a:br>
            <a:r>
              <a:rPr lang="en-US" dirty="0"/>
              <a:t>Formerly on the Baptistery of San Giovanni, Florence. 1425–1452.</a:t>
            </a:r>
            <a:br>
              <a:rPr lang="en-US" dirty="0"/>
            </a:br>
            <a:r>
              <a:rPr lang="en-US" dirty="0"/>
              <a:t>Gilt bronze, height 15</a:t>
            </a:r>
            <a:r>
              <a:rPr lang="uk-UA" dirty="0"/>
              <a:t>'</a:t>
            </a:r>
            <a:r>
              <a:rPr lang="en-US" dirty="0"/>
              <a:t> (4.57 m).</a:t>
            </a:r>
            <a:br>
              <a:rPr lang="en-US" dirty="0"/>
            </a:br>
            <a:r>
              <a:rPr lang="en-US" dirty="0"/>
              <a:t>Museo dell</a:t>
            </a:r>
            <a:r>
              <a:rPr lang="uk-UA" dirty="0"/>
              <a:t>'</a:t>
            </a:r>
            <a:r>
              <a:rPr lang="en-US" dirty="0"/>
              <a:t>Opera del Duomo, Florence. © 2016 Photo Scala, Florence</a:t>
            </a:r>
          </a:p>
        </p:txBody>
      </p:sp>
      <p:sp>
        <p:nvSpPr>
          <p:cNvPr id="65539" name="Slide Number Placeholder 3"/>
          <p:cNvSpPr>
            <a:spLocks noGrp="1"/>
          </p:cNvSpPr>
          <p:nvPr>
            <p:ph type="sldNum" sz="quarter" idx="5"/>
          </p:nvPr>
        </p:nvSpPr>
        <p:spPr bwMode="auto">
          <a:noFill/>
          <a:ln>
            <a:miter lim="800000"/>
            <a:headEnd/>
            <a:tailEnd/>
          </a:ln>
        </p:spPr>
        <p:txBody>
          <a:bodyPr/>
          <a:lstStyle/>
          <a:p>
            <a:fld id="{3020C8B9-465D-ED4D-8920-374F04D50368}" type="slidenum">
              <a:rPr lang="en-US"/>
              <a:pPr/>
              <a:t>37</a:t>
            </a:fld>
            <a:endParaRPr lang="en-US"/>
          </a:p>
        </p:txBody>
      </p:sp>
    </p:spTree>
    <p:extLst>
      <p:ext uri="{BB962C8B-B14F-4D97-AF65-F5344CB8AC3E}">
        <p14:creationId xmlns:p14="http://schemas.microsoft.com/office/powerpoint/2010/main" val="1217143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p:spPr>
      </p:sp>
      <p:sp>
        <p:nvSpPr>
          <p:cNvPr id="67586" name="Notes Placeholder 2"/>
          <p:cNvSpPr>
            <a:spLocks noGrp="1"/>
          </p:cNvSpPr>
          <p:nvPr>
            <p:ph type="body" idx="1"/>
          </p:nvPr>
        </p:nvSpPr>
        <p:spPr bwMode="auto">
          <a:noFill/>
        </p:spPr>
        <p:txBody>
          <a:bodyPr/>
          <a:lstStyle/>
          <a:p>
            <a:pPr>
              <a:spcBef>
                <a:spcPct val="0"/>
              </a:spcBef>
            </a:pPr>
            <a:r>
              <a:rPr lang="en-US" dirty="0"/>
              <a:t>Lorenzo Ghiberti JACOB AND ESAU, PANEL OF THE </a:t>
            </a:r>
            <a:r>
              <a:rPr lang="ru-RU" dirty="0"/>
              <a:t>"</a:t>
            </a:r>
            <a:r>
              <a:rPr lang="en-US" dirty="0"/>
              <a:t>GATES OF PARADISE</a:t>
            </a:r>
            <a:r>
              <a:rPr lang="ru-RU" dirty="0"/>
              <a:t>"</a:t>
            </a:r>
            <a:br>
              <a:rPr lang="en-US" dirty="0"/>
            </a:br>
            <a:r>
              <a:rPr lang="en-US" dirty="0"/>
              <a:t>(EAST BAPTISTERY DOORS)</a:t>
            </a:r>
            <a:br>
              <a:rPr lang="en-US" dirty="0"/>
            </a:br>
            <a:r>
              <a:rPr lang="en-US" dirty="0"/>
              <a:t>Formerly on the Baptistery of San Giovanni, Florence. c. 1435.</a:t>
            </a:r>
            <a:br>
              <a:rPr lang="en-US" dirty="0"/>
            </a:br>
            <a:r>
              <a:rPr lang="en-US" dirty="0"/>
              <a:t>Gilded bronze, 31-1/4</a:t>
            </a:r>
            <a:r>
              <a:rPr lang="ru-RU" dirty="0"/>
              <a:t>"</a:t>
            </a:r>
            <a:r>
              <a:rPr lang="en-US" dirty="0"/>
              <a:t> (79 cm) square.</a:t>
            </a:r>
            <a:br>
              <a:rPr lang="en-US" dirty="0"/>
            </a:br>
            <a:r>
              <a:rPr lang="en-US" dirty="0"/>
              <a:t>Museo dell</a:t>
            </a:r>
            <a:r>
              <a:rPr lang="uk-UA" dirty="0"/>
              <a:t>'</a:t>
            </a:r>
            <a:r>
              <a:rPr lang="en-US" dirty="0"/>
              <a:t>Opera del Duomo, Florence. © Studio </a:t>
            </a:r>
            <a:r>
              <a:rPr lang="en-US" dirty="0" err="1"/>
              <a:t>Fotografico</a:t>
            </a:r>
            <a:r>
              <a:rPr lang="en-US" dirty="0"/>
              <a:t> </a:t>
            </a:r>
            <a:r>
              <a:rPr lang="en-US" dirty="0" err="1"/>
              <a:t>Quattrone</a:t>
            </a:r>
            <a:r>
              <a:rPr lang="en-US" dirty="0"/>
              <a:t>, Florence.</a:t>
            </a:r>
          </a:p>
        </p:txBody>
      </p:sp>
      <p:sp>
        <p:nvSpPr>
          <p:cNvPr id="67587" name="Slide Number Placeholder 3"/>
          <p:cNvSpPr>
            <a:spLocks noGrp="1"/>
          </p:cNvSpPr>
          <p:nvPr>
            <p:ph type="sldNum" sz="quarter" idx="5"/>
          </p:nvPr>
        </p:nvSpPr>
        <p:spPr bwMode="auto">
          <a:noFill/>
          <a:ln>
            <a:miter lim="800000"/>
            <a:headEnd/>
            <a:tailEnd/>
          </a:ln>
        </p:spPr>
        <p:txBody>
          <a:bodyPr/>
          <a:lstStyle/>
          <a:p>
            <a:fld id="{AD05C7F2-1403-EC4E-9B15-55FC156F602E}" type="slidenum">
              <a:rPr lang="en-US"/>
              <a:pPr/>
              <a:t>38</a:t>
            </a:fld>
            <a:endParaRPr lang="en-US"/>
          </a:p>
        </p:txBody>
      </p:sp>
    </p:spTree>
    <p:extLst>
      <p:ext uri="{BB962C8B-B14F-4D97-AF65-F5344CB8AC3E}">
        <p14:creationId xmlns:p14="http://schemas.microsoft.com/office/powerpoint/2010/main" val="1750529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bwMode="auto">
          <a:noFill/>
          <a:ln>
            <a:solidFill>
              <a:srgbClr val="000000"/>
            </a:solidFill>
            <a:miter lim="800000"/>
            <a:headEnd/>
            <a:tailEnd/>
          </a:ln>
        </p:spPr>
      </p:sp>
      <p:sp>
        <p:nvSpPr>
          <p:cNvPr id="70658" name="Notes Placeholder 2"/>
          <p:cNvSpPr>
            <a:spLocks noGrp="1"/>
          </p:cNvSpPr>
          <p:nvPr>
            <p:ph type="body" idx="1"/>
          </p:nvPr>
        </p:nvSpPr>
        <p:spPr bwMode="auto">
          <a:noFill/>
        </p:spPr>
        <p:txBody>
          <a:bodyPr/>
          <a:lstStyle/>
          <a:p>
            <a:pPr>
              <a:spcBef>
                <a:spcPct val="0"/>
              </a:spcBef>
            </a:pPr>
            <a:r>
              <a:rPr lang="en-US" dirty="0"/>
              <a:t>Masaccio TRINITY WITH THE VIRGIN, ST. JOHN THE EVANGELIST, AND DONORS</a:t>
            </a:r>
            <a:br>
              <a:rPr lang="en-US" dirty="0"/>
            </a:br>
            <a:r>
              <a:rPr lang="en-US" dirty="0"/>
              <a:t>Church of Santa Maria Novella, Florence. c. 1425–1427/1428.</a:t>
            </a:r>
            <a:br>
              <a:rPr lang="en-US" dirty="0"/>
            </a:br>
            <a:r>
              <a:rPr lang="en-US" dirty="0"/>
              <a:t>Fresco, 21</a:t>
            </a:r>
            <a:r>
              <a:rPr lang="uk-UA" dirty="0"/>
              <a:t>'</a:t>
            </a:r>
            <a:r>
              <a:rPr lang="en-US" dirty="0"/>
              <a:t> × 10</a:t>
            </a:r>
            <a:r>
              <a:rPr lang="uk-UA" dirty="0"/>
              <a:t>'</a:t>
            </a:r>
            <a:r>
              <a:rPr lang="en-US" dirty="0"/>
              <a:t>5</a:t>
            </a:r>
            <a:r>
              <a:rPr lang="ru-RU" dirty="0"/>
              <a:t>"</a:t>
            </a:r>
            <a:r>
              <a:rPr lang="en-US" dirty="0"/>
              <a:t> (6.4 × 3.2 m). © Studio </a:t>
            </a:r>
            <a:r>
              <a:rPr lang="en-US" dirty="0" err="1"/>
              <a:t>Fotografico</a:t>
            </a:r>
            <a:r>
              <a:rPr lang="en-US" dirty="0"/>
              <a:t> </a:t>
            </a:r>
            <a:r>
              <a:rPr lang="en-US" dirty="0" err="1"/>
              <a:t>Quattrone</a:t>
            </a:r>
            <a:r>
              <a:rPr lang="en-US" dirty="0"/>
              <a:t>, Florence.</a:t>
            </a:r>
          </a:p>
        </p:txBody>
      </p:sp>
      <p:sp>
        <p:nvSpPr>
          <p:cNvPr id="70659" name="Slide Number Placeholder 3"/>
          <p:cNvSpPr>
            <a:spLocks noGrp="1"/>
          </p:cNvSpPr>
          <p:nvPr>
            <p:ph type="sldNum" sz="quarter" idx="5"/>
          </p:nvPr>
        </p:nvSpPr>
        <p:spPr bwMode="auto">
          <a:noFill/>
          <a:ln>
            <a:miter lim="800000"/>
            <a:headEnd/>
            <a:tailEnd/>
          </a:ln>
        </p:spPr>
        <p:txBody>
          <a:bodyPr/>
          <a:lstStyle/>
          <a:p>
            <a:fld id="{44C0FA70-B53E-F943-8194-D9A740FD5919}" type="slidenum">
              <a:rPr lang="en-US"/>
              <a:pPr/>
              <a:t>40</a:t>
            </a:fld>
            <a:endParaRPr lang="en-US"/>
          </a:p>
        </p:txBody>
      </p:sp>
    </p:spTree>
    <p:extLst>
      <p:ext uri="{BB962C8B-B14F-4D97-AF65-F5344CB8AC3E}">
        <p14:creationId xmlns:p14="http://schemas.microsoft.com/office/powerpoint/2010/main" val="615510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bwMode="auto">
          <a:noFill/>
          <a:ln>
            <a:solidFill>
              <a:srgbClr val="000000"/>
            </a:solidFill>
            <a:miter lim="800000"/>
            <a:headEnd/>
            <a:tailEnd/>
          </a:ln>
        </p:spPr>
      </p:sp>
      <p:sp>
        <p:nvSpPr>
          <p:cNvPr id="72706" name="Notes Placeholder 2"/>
          <p:cNvSpPr>
            <a:spLocks noGrp="1"/>
          </p:cNvSpPr>
          <p:nvPr>
            <p:ph type="body" idx="1"/>
          </p:nvPr>
        </p:nvSpPr>
        <p:spPr bwMode="auto">
          <a:noFill/>
        </p:spPr>
        <p:txBody>
          <a:bodyPr/>
          <a:lstStyle/>
          <a:p>
            <a:pPr>
              <a:spcBef>
                <a:spcPct val="0"/>
              </a:spcBef>
            </a:pPr>
            <a:r>
              <a:rPr lang="en-US" dirty="0"/>
              <a:t>SECTION DIAGRAM OF THE ILLUSIONISTIC SPATIAL WORLD PORTRAYED IN MASACCIO</a:t>
            </a:r>
            <a:r>
              <a:rPr lang="uk-UA" dirty="0"/>
              <a:t>'</a:t>
            </a:r>
            <a:r>
              <a:rPr lang="en-US" dirty="0"/>
              <a:t>S TRINITY</a:t>
            </a:r>
            <a:br>
              <a:rPr lang="en-US" dirty="0"/>
            </a:br>
            <a:r>
              <a:rPr lang="en-US" dirty="0"/>
              <a:t>After Gene Brucker, </a:t>
            </a:r>
            <a:r>
              <a:rPr lang="en-US" i="1" dirty="0"/>
              <a:t>Florence: The Golden Age</a:t>
            </a:r>
            <a:r>
              <a:rPr lang="en-US" dirty="0"/>
              <a:t>, Berkeley, 1998.</a:t>
            </a:r>
          </a:p>
        </p:txBody>
      </p:sp>
      <p:sp>
        <p:nvSpPr>
          <p:cNvPr id="72707" name="Slide Number Placeholder 3"/>
          <p:cNvSpPr>
            <a:spLocks noGrp="1"/>
          </p:cNvSpPr>
          <p:nvPr>
            <p:ph type="sldNum" sz="quarter" idx="5"/>
          </p:nvPr>
        </p:nvSpPr>
        <p:spPr bwMode="auto">
          <a:noFill/>
          <a:ln>
            <a:miter lim="800000"/>
            <a:headEnd/>
            <a:tailEnd/>
          </a:ln>
        </p:spPr>
        <p:txBody>
          <a:bodyPr/>
          <a:lstStyle/>
          <a:p>
            <a:fld id="{BAE55A33-B1BF-7644-B3CC-910A949267F8}" type="slidenum">
              <a:rPr lang="en-US"/>
              <a:pPr/>
              <a:t>41</a:t>
            </a:fld>
            <a:endParaRPr lang="en-US"/>
          </a:p>
        </p:txBody>
      </p:sp>
    </p:spTree>
    <p:extLst>
      <p:ext uri="{BB962C8B-B14F-4D97-AF65-F5344CB8AC3E}">
        <p14:creationId xmlns:p14="http://schemas.microsoft.com/office/powerpoint/2010/main" val="4568845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p:spPr>
      </p:sp>
      <p:sp>
        <p:nvSpPr>
          <p:cNvPr id="75778" name="Notes Placeholder 2"/>
          <p:cNvSpPr>
            <a:spLocks noGrp="1"/>
          </p:cNvSpPr>
          <p:nvPr>
            <p:ph type="body" idx="1"/>
          </p:nvPr>
        </p:nvSpPr>
        <p:spPr bwMode="auto">
          <a:noFill/>
        </p:spPr>
        <p:txBody>
          <a:bodyPr/>
          <a:lstStyle/>
          <a:p>
            <a:pPr>
              <a:spcBef>
                <a:spcPct val="0"/>
              </a:spcBef>
            </a:pPr>
            <a:r>
              <a:rPr lang="en-US" dirty="0"/>
              <a:t>Perugino CHRIST GIVING THE KEYS TO ST. PETER</a:t>
            </a:r>
            <a:br>
              <a:rPr lang="en-US" dirty="0"/>
            </a:br>
            <a:r>
              <a:rPr lang="en-US" dirty="0"/>
              <a:t>Fresco on the right wall of the Sistine Chapel (see FIG. 20-41), Vatican, Rome. 1480–1482. 11</a:t>
            </a:r>
            <a:r>
              <a:rPr lang="uk-UA" dirty="0"/>
              <a:t>'</a:t>
            </a:r>
            <a:r>
              <a:rPr lang="en-US" dirty="0"/>
              <a:t>5-1/2</a:t>
            </a:r>
            <a:r>
              <a:rPr lang="ru-RU" dirty="0"/>
              <a:t>"</a:t>
            </a:r>
            <a:r>
              <a:rPr lang="en-US" dirty="0"/>
              <a:t> × 18</a:t>
            </a:r>
            <a:r>
              <a:rPr lang="uk-UA" dirty="0"/>
              <a:t>'</a:t>
            </a:r>
            <a:r>
              <a:rPr lang="en-US" dirty="0"/>
              <a:t>8-1/2</a:t>
            </a:r>
            <a:r>
              <a:rPr lang="ru-RU" dirty="0"/>
              <a:t>"</a:t>
            </a:r>
            <a:r>
              <a:rPr lang="en-US" dirty="0"/>
              <a:t> (3.48 × 5.70 m).</a:t>
            </a:r>
          </a:p>
        </p:txBody>
      </p:sp>
      <p:sp>
        <p:nvSpPr>
          <p:cNvPr id="75779" name="Slide Number Placeholder 3"/>
          <p:cNvSpPr>
            <a:spLocks noGrp="1"/>
          </p:cNvSpPr>
          <p:nvPr>
            <p:ph type="sldNum" sz="quarter" idx="5"/>
          </p:nvPr>
        </p:nvSpPr>
        <p:spPr bwMode="auto">
          <a:noFill/>
          <a:ln>
            <a:miter lim="800000"/>
            <a:headEnd/>
            <a:tailEnd/>
          </a:ln>
        </p:spPr>
        <p:txBody>
          <a:bodyPr/>
          <a:lstStyle/>
          <a:p>
            <a:fld id="{26665587-5A92-C844-BE39-35C29D5F5DEF}" type="slidenum">
              <a:rPr lang="en-US"/>
              <a:pPr/>
              <a:t>43</a:t>
            </a:fld>
            <a:endParaRPr lang="en-US"/>
          </a:p>
        </p:txBody>
      </p:sp>
    </p:spTree>
    <p:extLst>
      <p:ext uri="{BB962C8B-B14F-4D97-AF65-F5344CB8AC3E}">
        <p14:creationId xmlns:p14="http://schemas.microsoft.com/office/powerpoint/2010/main" val="1604879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bwMode="auto">
          <a:noFill/>
          <a:ln>
            <a:solidFill>
              <a:srgbClr val="000000"/>
            </a:solidFill>
            <a:miter lim="800000"/>
            <a:headEnd/>
            <a:tailEnd/>
          </a:ln>
        </p:spPr>
      </p:sp>
      <p:sp>
        <p:nvSpPr>
          <p:cNvPr id="77826" name="Notes Placeholder 2"/>
          <p:cNvSpPr>
            <a:spLocks noGrp="1"/>
          </p:cNvSpPr>
          <p:nvPr>
            <p:ph type="body" idx="1"/>
          </p:nvPr>
        </p:nvSpPr>
        <p:spPr bwMode="auto">
          <a:noFill/>
        </p:spPr>
        <p:txBody>
          <a:bodyPr/>
          <a:lstStyle/>
          <a:p>
            <a:pPr>
              <a:spcBef>
                <a:spcPct val="0"/>
              </a:spcBef>
            </a:pPr>
            <a:r>
              <a:rPr lang="en-US" dirty="0"/>
              <a:t>SCHEMATIC DRAWING SHOWING THE ORTHOGONALS AND VANISHING POINT OF CHRIST GIVING THE KEYS TO ST. PETER</a:t>
            </a:r>
            <a:br>
              <a:rPr lang="en-US" dirty="0"/>
            </a:br>
            <a:r>
              <a:rPr lang="en-US" dirty="0" err="1"/>
              <a:t>Canali</a:t>
            </a:r>
            <a:r>
              <a:rPr lang="en-US" dirty="0"/>
              <a:t> Photobank, Milan, Italy</a:t>
            </a:r>
          </a:p>
        </p:txBody>
      </p:sp>
      <p:sp>
        <p:nvSpPr>
          <p:cNvPr id="77827" name="Slide Number Placeholder 3"/>
          <p:cNvSpPr>
            <a:spLocks noGrp="1"/>
          </p:cNvSpPr>
          <p:nvPr>
            <p:ph type="sldNum" sz="quarter" idx="5"/>
          </p:nvPr>
        </p:nvSpPr>
        <p:spPr bwMode="auto">
          <a:noFill/>
          <a:ln>
            <a:miter lim="800000"/>
            <a:headEnd/>
            <a:tailEnd/>
          </a:ln>
        </p:spPr>
        <p:txBody>
          <a:bodyPr/>
          <a:lstStyle/>
          <a:p>
            <a:fld id="{93458635-00B3-B442-BABB-CB4D693C8EDD}" type="slidenum">
              <a:rPr lang="en-US"/>
              <a:pPr/>
              <a:t>44</a:t>
            </a:fld>
            <a:endParaRPr lang="en-US"/>
          </a:p>
        </p:txBody>
      </p:sp>
    </p:spTree>
    <p:extLst>
      <p:ext uri="{BB962C8B-B14F-4D97-AF65-F5344CB8AC3E}">
        <p14:creationId xmlns:p14="http://schemas.microsoft.com/office/powerpoint/2010/main" val="8158896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noTextEdit="1"/>
          </p:cNvSpPr>
          <p:nvPr>
            <p:ph type="sldImg"/>
          </p:nvPr>
        </p:nvSpPr>
        <p:spPr bwMode="auto">
          <a:noFill/>
          <a:ln>
            <a:solidFill>
              <a:srgbClr val="000000"/>
            </a:solidFill>
            <a:miter lim="800000"/>
            <a:headEnd/>
            <a:tailEnd/>
          </a:ln>
        </p:spPr>
      </p:sp>
      <p:sp>
        <p:nvSpPr>
          <p:cNvPr id="80898" name="Notes Placeholder 2"/>
          <p:cNvSpPr>
            <a:spLocks noGrp="1"/>
          </p:cNvSpPr>
          <p:nvPr>
            <p:ph type="body" idx="1"/>
          </p:nvPr>
        </p:nvSpPr>
        <p:spPr bwMode="auto">
          <a:noFill/>
        </p:spPr>
        <p:txBody>
          <a:bodyPr/>
          <a:lstStyle/>
          <a:p>
            <a:pPr>
              <a:spcBef>
                <a:spcPct val="0"/>
              </a:spcBef>
            </a:pPr>
            <a:r>
              <a:rPr lang="en-US" dirty="0">
                <a:latin typeface="Verdana" charset="0"/>
              </a:rPr>
              <a:t>Masaccio THE EXPULSION OF ADAM AND EVE FROM PARADISE</a:t>
            </a:r>
            <a:br>
              <a:rPr lang="en-US" dirty="0">
                <a:latin typeface="Verdana" charset="0"/>
              </a:rPr>
            </a:br>
            <a:r>
              <a:rPr lang="en-US" dirty="0" err="1">
                <a:latin typeface="Verdana" charset="0"/>
              </a:rPr>
              <a:t>Brancacci</a:t>
            </a:r>
            <a:r>
              <a:rPr lang="en-US" dirty="0">
                <a:latin typeface="Verdana" charset="0"/>
              </a:rPr>
              <a:t> Chapel, church of Santa Maria del Carmine, Florence. c. 1427.</a:t>
            </a:r>
            <a:br>
              <a:rPr lang="en-US" dirty="0">
                <a:latin typeface="Verdana" charset="0"/>
              </a:rPr>
            </a:br>
            <a:r>
              <a:rPr lang="en-US" dirty="0">
                <a:latin typeface="Verdana" charset="0"/>
              </a:rPr>
              <a:t>Fresco, 7</a:t>
            </a:r>
            <a:r>
              <a:rPr lang="uk-UA" dirty="0">
                <a:latin typeface="Verdana" charset="0"/>
              </a:rPr>
              <a:t>'</a:t>
            </a:r>
            <a:r>
              <a:rPr lang="en-US" dirty="0">
                <a:latin typeface="Verdana" charset="0"/>
              </a:rPr>
              <a:t> × 2</a:t>
            </a:r>
            <a:r>
              <a:rPr lang="uk-UA" dirty="0">
                <a:latin typeface="Verdana" charset="0"/>
              </a:rPr>
              <a:t>'</a:t>
            </a:r>
            <a:r>
              <a:rPr lang="en-US" dirty="0">
                <a:latin typeface="Verdana" charset="0"/>
              </a:rPr>
              <a:t>11</a:t>
            </a:r>
            <a:r>
              <a:rPr lang="ru-RU" dirty="0">
                <a:latin typeface="Verdana" charset="0"/>
              </a:rPr>
              <a:t>"</a:t>
            </a:r>
            <a:r>
              <a:rPr lang="en-US" dirty="0">
                <a:latin typeface="Verdana" charset="0"/>
              </a:rPr>
              <a:t> (214 × 90 cm).</a:t>
            </a:r>
            <a:br>
              <a:rPr lang="en-US" dirty="0">
                <a:latin typeface="Verdana" charset="0"/>
              </a:rPr>
            </a:br>
            <a:r>
              <a:rPr lang="en-US" dirty="0">
                <a:latin typeface="Verdana" charset="0"/>
              </a:rPr>
              <a:t>© Studio </a:t>
            </a:r>
            <a:r>
              <a:rPr lang="en-US" dirty="0" err="1">
                <a:latin typeface="Verdana" charset="0"/>
              </a:rPr>
              <a:t>Fotografico</a:t>
            </a:r>
            <a:r>
              <a:rPr lang="en-US" dirty="0">
                <a:latin typeface="Verdana" charset="0"/>
              </a:rPr>
              <a:t> </a:t>
            </a:r>
            <a:r>
              <a:rPr lang="en-US" dirty="0" err="1">
                <a:latin typeface="Verdana" charset="0"/>
              </a:rPr>
              <a:t>Quattrone</a:t>
            </a:r>
            <a:r>
              <a:rPr lang="en-US" dirty="0">
                <a:latin typeface="Verdana" charset="0"/>
              </a:rPr>
              <a:t>, Florence. </a:t>
            </a:r>
            <a:endParaRPr lang="en-US" dirty="0"/>
          </a:p>
        </p:txBody>
      </p:sp>
      <p:sp>
        <p:nvSpPr>
          <p:cNvPr id="80899" name="Slide Number Placeholder 3"/>
          <p:cNvSpPr>
            <a:spLocks noGrp="1"/>
          </p:cNvSpPr>
          <p:nvPr>
            <p:ph type="sldNum" sz="quarter" idx="5"/>
          </p:nvPr>
        </p:nvSpPr>
        <p:spPr bwMode="auto">
          <a:noFill/>
          <a:ln>
            <a:miter lim="800000"/>
            <a:headEnd/>
            <a:tailEnd/>
          </a:ln>
        </p:spPr>
        <p:txBody>
          <a:bodyPr/>
          <a:lstStyle/>
          <a:p>
            <a:fld id="{BEA79533-6574-A949-9CF4-1A78717B6EC6}" type="slidenum">
              <a:rPr lang="en-US"/>
              <a:pPr/>
              <a:t>46</a:t>
            </a:fld>
            <a:endParaRPr lang="en-US"/>
          </a:p>
        </p:txBody>
      </p:sp>
    </p:spTree>
    <p:extLst>
      <p:ext uri="{BB962C8B-B14F-4D97-AF65-F5344CB8AC3E}">
        <p14:creationId xmlns:p14="http://schemas.microsoft.com/office/powerpoint/2010/main" val="974900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bwMode="auto">
          <a:noFill/>
          <a:ln>
            <a:solidFill>
              <a:srgbClr val="000000"/>
            </a:solidFill>
            <a:miter lim="800000"/>
            <a:headEnd/>
            <a:tailEnd/>
          </a:ln>
        </p:spPr>
      </p:sp>
      <p:sp>
        <p:nvSpPr>
          <p:cNvPr id="82946" name="Notes Placeholder 2"/>
          <p:cNvSpPr>
            <a:spLocks noGrp="1"/>
          </p:cNvSpPr>
          <p:nvPr>
            <p:ph type="body" idx="1"/>
          </p:nvPr>
        </p:nvSpPr>
        <p:spPr bwMode="auto">
          <a:noFill/>
        </p:spPr>
        <p:txBody>
          <a:bodyPr/>
          <a:lstStyle/>
          <a:p>
            <a:pPr>
              <a:spcBef>
                <a:spcPct val="0"/>
              </a:spcBef>
            </a:pPr>
            <a:r>
              <a:rPr lang="en-US" dirty="0">
                <a:latin typeface="Verdana" charset="0"/>
              </a:rPr>
              <a:t>Masaccio THE TRIBUTE MONEY</a:t>
            </a:r>
            <a:br>
              <a:rPr lang="en-US" dirty="0">
                <a:latin typeface="Verdana" charset="0"/>
              </a:rPr>
            </a:br>
            <a:r>
              <a:rPr lang="en-US" dirty="0" err="1">
                <a:latin typeface="Verdana" charset="0"/>
              </a:rPr>
              <a:t>Brancacci</a:t>
            </a:r>
            <a:r>
              <a:rPr lang="en-US" dirty="0">
                <a:latin typeface="Verdana" charset="0"/>
              </a:rPr>
              <a:t> Chapel, church of Santa Maria del Carmine, Florence. c. 1427.</a:t>
            </a:r>
            <a:br>
              <a:rPr lang="en-US" dirty="0">
                <a:latin typeface="Verdana" charset="0"/>
              </a:rPr>
            </a:br>
            <a:r>
              <a:rPr lang="en-US" dirty="0">
                <a:latin typeface="Verdana" charset="0"/>
              </a:rPr>
              <a:t>Fresco, 8</a:t>
            </a:r>
            <a:r>
              <a:rPr lang="uk-UA" dirty="0">
                <a:latin typeface="Verdana" charset="0"/>
              </a:rPr>
              <a:t>'</a:t>
            </a:r>
            <a:r>
              <a:rPr lang="en-US" dirty="0">
                <a:latin typeface="Verdana" charset="0"/>
              </a:rPr>
              <a:t>1</a:t>
            </a:r>
            <a:r>
              <a:rPr lang="ru-RU" dirty="0">
                <a:latin typeface="Verdana" charset="0"/>
              </a:rPr>
              <a:t>"</a:t>
            </a:r>
            <a:r>
              <a:rPr lang="en-US" dirty="0">
                <a:latin typeface="Verdana" charset="0"/>
              </a:rPr>
              <a:t> × 19</a:t>
            </a:r>
            <a:r>
              <a:rPr lang="uk-UA" dirty="0">
                <a:latin typeface="Verdana" charset="0"/>
              </a:rPr>
              <a:t>'</a:t>
            </a:r>
            <a:r>
              <a:rPr lang="en-US" dirty="0">
                <a:latin typeface="Verdana" charset="0"/>
              </a:rPr>
              <a:t>7</a:t>
            </a:r>
            <a:r>
              <a:rPr lang="ru-RU" dirty="0">
                <a:latin typeface="Verdana" charset="0"/>
              </a:rPr>
              <a:t>"</a:t>
            </a:r>
            <a:r>
              <a:rPr lang="en-US" dirty="0">
                <a:latin typeface="Verdana" charset="0"/>
              </a:rPr>
              <a:t> (2.46 × 6 m).</a:t>
            </a:r>
            <a:br>
              <a:rPr lang="en-US" dirty="0">
                <a:latin typeface="Verdana" charset="0"/>
              </a:rPr>
            </a:br>
            <a:r>
              <a:rPr lang="en-US" dirty="0">
                <a:latin typeface="Verdana" charset="0"/>
              </a:rPr>
              <a:t>© Studio </a:t>
            </a:r>
            <a:r>
              <a:rPr lang="en-US" dirty="0" err="1">
                <a:latin typeface="Verdana" charset="0"/>
              </a:rPr>
              <a:t>Fotografico</a:t>
            </a:r>
            <a:r>
              <a:rPr lang="en-US" dirty="0">
                <a:latin typeface="Verdana" charset="0"/>
              </a:rPr>
              <a:t> </a:t>
            </a:r>
            <a:r>
              <a:rPr lang="en-US" dirty="0" err="1">
                <a:latin typeface="Verdana" charset="0"/>
              </a:rPr>
              <a:t>Quattrone</a:t>
            </a:r>
            <a:r>
              <a:rPr lang="en-US" dirty="0">
                <a:latin typeface="Verdana" charset="0"/>
              </a:rPr>
              <a:t>, Florence.</a:t>
            </a:r>
            <a:endParaRPr lang="en-US" dirty="0"/>
          </a:p>
        </p:txBody>
      </p:sp>
      <p:sp>
        <p:nvSpPr>
          <p:cNvPr id="82947" name="Slide Number Placeholder 3"/>
          <p:cNvSpPr>
            <a:spLocks noGrp="1"/>
          </p:cNvSpPr>
          <p:nvPr>
            <p:ph type="sldNum" sz="quarter" idx="5"/>
          </p:nvPr>
        </p:nvSpPr>
        <p:spPr bwMode="auto">
          <a:noFill/>
          <a:ln>
            <a:miter lim="800000"/>
            <a:headEnd/>
            <a:tailEnd/>
          </a:ln>
        </p:spPr>
        <p:txBody>
          <a:bodyPr/>
          <a:lstStyle/>
          <a:p>
            <a:fld id="{FBB6233D-1BD0-C145-9C27-9CA0DC2DFBC8}" type="slidenum">
              <a:rPr lang="en-US"/>
              <a:pPr/>
              <a:t>47</a:t>
            </a:fld>
            <a:endParaRPr lang="en-US"/>
          </a:p>
        </p:txBody>
      </p:sp>
    </p:spTree>
    <p:extLst>
      <p:ext uri="{BB962C8B-B14F-4D97-AF65-F5344CB8AC3E}">
        <p14:creationId xmlns:p14="http://schemas.microsoft.com/office/powerpoint/2010/main" val="1993590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p:spPr>
      </p:sp>
      <p:sp>
        <p:nvSpPr>
          <p:cNvPr id="86018" name="Notes Placeholder 2"/>
          <p:cNvSpPr>
            <a:spLocks noGrp="1"/>
          </p:cNvSpPr>
          <p:nvPr>
            <p:ph type="body" idx="1"/>
          </p:nvPr>
        </p:nvSpPr>
        <p:spPr bwMode="auto">
          <a:noFill/>
        </p:spPr>
        <p:txBody>
          <a:bodyPr/>
          <a:lstStyle/>
          <a:p>
            <a:pPr>
              <a:spcBef>
                <a:spcPct val="0"/>
              </a:spcBef>
            </a:pPr>
            <a:r>
              <a:rPr lang="en-US" dirty="0"/>
              <a:t>Fra Angelico ANNUNCIATION</a:t>
            </a:r>
            <a:br>
              <a:rPr lang="en-US" dirty="0"/>
            </a:br>
            <a:r>
              <a:rPr lang="en-US" dirty="0"/>
              <a:t>North dormitory corridor, monastery of San Marco, Florence. c. 1438–1445.</a:t>
            </a:r>
            <a:br>
              <a:rPr lang="en-US" dirty="0"/>
            </a:br>
            <a:r>
              <a:rPr lang="en-US" dirty="0"/>
              <a:t>Fresco, 7</a:t>
            </a:r>
            <a:r>
              <a:rPr lang="uk-UA" dirty="0"/>
              <a:t>'</a:t>
            </a:r>
            <a:r>
              <a:rPr lang="en-US" dirty="0"/>
              <a:t>1</a:t>
            </a:r>
            <a:r>
              <a:rPr lang="ru-RU" dirty="0"/>
              <a:t>"</a:t>
            </a:r>
            <a:r>
              <a:rPr lang="en-US" dirty="0"/>
              <a:t> × 10</a:t>
            </a:r>
            <a:r>
              <a:rPr lang="uk-UA" dirty="0"/>
              <a:t>'</a:t>
            </a:r>
            <a:r>
              <a:rPr lang="en-US" dirty="0"/>
              <a:t>6</a:t>
            </a:r>
            <a:r>
              <a:rPr lang="ru-RU" dirty="0"/>
              <a:t>"</a:t>
            </a:r>
            <a:r>
              <a:rPr lang="en-US" dirty="0"/>
              <a:t> (2.2 × 3.2 m).</a:t>
            </a:r>
            <a:br>
              <a:rPr lang="en-US" dirty="0"/>
            </a:br>
            <a:r>
              <a:rPr lang="en-US" dirty="0"/>
              <a:t>© Studio </a:t>
            </a:r>
            <a:r>
              <a:rPr lang="en-US" dirty="0" err="1"/>
              <a:t>Fotografico</a:t>
            </a:r>
            <a:r>
              <a:rPr lang="en-US" dirty="0"/>
              <a:t> </a:t>
            </a:r>
            <a:r>
              <a:rPr lang="en-US" dirty="0" err="1"/>
              <a:t>Quattrone</a:t>
            </a:r>
            <a:r>
              <a:rPr lang="en-US" dirty="0"/>
              <a:t>, Florence</a:t>
            </a:r>
          </a:p>
        </p:txBody>
      </p:sp>
      <p:sp>
        <p:nvSpPr>
          <p:cNvPr id="86019" name="Slide Number Placeholder 3"/>
          <p:cNvSpPr>
            <a:spLocks noGrp="1"/>
          </p:cNvSpPr>
          <p:nvPr>
            <p:ph type="sldNum" sz="quarter" idx="5"/>
          </p:nvPr>
        </p:nvSpPr>
        <p:spPr bwMode="auto">
          <a:noFill/>
          <a:ln>
            <a:miter lim="800000"/>
            <a:headEnd/>
            <a:tailEnd/>
          </a:ln>
        </p:spPr>
        <p:txBody>
          <a:bodyPr/>
          <a:lstStyle/>
          <a:p>
            <a:fld id="{4B43127C-530E-4E4B-946A-F987FD3E1AEC}" type="slidenum">
              <a:rPr lang="en-US"/>
              <a:pPr/>
              <a:t>49</a:t>
            </a:fld>
            <a:endParaRPr lang="en-US"/>
          </a:p>
        </p:txBody>
      </p:sp>
    </p:spTree>
    <p:extLst>
      <p:ext uri="{BB962C8B-B14F-4D97-AF65-F5344CB8AC3E}">
        <p14:creationId xmlns:p14="http://schemas.microsoft.com/office/powerpoint/2010/main" val="12387654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p:cNvSpPr>
            <a:spLocks noGrp="1" noRot="1" noChangeAspect="1" noTextEdit="1"/>
          </p:cNvSpPr>
          <p:nvPr>
            <p:ph type="sldImg"/>
          </p:nvPr>
        </p:nvSpPr>
        <p:spPr bwMode="auto">
          <a:noFill/>
          <a:ln>
            <a:solidFill>
              <a:srgbClr val="000000"/>
            </a:solidFill>
            <a:miter lim="800000"/>
            <a:headEnd/>
            <a:tailEnd/>
          </a:ln>
        </p:spPr>
      </p:sp>
      <p:sp>
        <p:nvSpPr>
          <p:cNvPr id="89090" name="Notes Placeholder 2"/>
          <p:cNvSpPr>
            <a:spLocks noGrp="1"/>
          </p:cNvSpPr>
          <p:nvPr>
            <p:ph type="body" idx="1"/>
          </p:nvPr>
        </p:nvSpPr>
        <p:spPr bwMode="auto">
          <a:noFill/>
        </p:spPr>
        <p:txBody>
          <a:bodyPr/>
          <a:lstStyle/>
          <a:p>
            <a:pPr>
              <a:spcBef>
                <a:spcPct val="0"/>
              </a:spcBef>
            </a:pPr>
            <a:r>
              <a:rPr lang="en-US" dirty="0"/>
              <a:t>Paolo Uccello THE BATTLE OF SAN ROMANO</a:t>
            </a:r>
            <a:br>
              <a:rPr lang="en-US" dirty="0"/>
            </a:br>
            <a:r>
              <a:rPr lang="en-US" dirty="0"/>
              <a:t>1438–1440. Tempera on wood panel, approx. 6</a:t>
            </a:r>
            <a:r>
              <a:rPr lang="uk-UA" dirty="0"/>
              <a:t>'</a:t>
            </a:r>
            <a:r>
              <a:rPr lang="en-US" dirty="0"/>
              <a:t> × 10</a:t>
            </a:r>
            <a:r>
              <a:rPr lang="uk-UA" dirty="0"/>
              <a:t>'</a:t>
            </a:r>
            <a:r>
              <a:rPr lang="en-US" dirty="0"/>
              <a:t>6</a:t>
            </a:r>
            <a:r>
              <a:rPr lang="ru-RU" dirty="0"/>
              <a:t>"</a:t>
            </a:r>
            <a:r>
              <a:rPr lang="en-US" dirty="0"/>
              <a:t> (1.82 × 3.2 m).</a:t>
            </a:r>
            <a:br>
              <a:rPr lang="en-US" dirty="0"/>
            </a:br>
            <a:r>
              <a:rPr lang="en-US" dirty="0"/>
              <a:t>National Gallery, London. © 2016. Copyright The National Gallery, London/Scala, Florence</a:t>
            </a:r>
          </a:p>
        </p:txBody>
      </p:sp>
      <p:sp>
        <p:nvSpPr>
          <p:cNvPr id="89091" name="Slide Number Placeholder 3"/>
          <p:cNvSpPr>
            <a:spLocks noGrp="1"/>
          </p:cNvSpPr>
          <p:nvPr>
            <p:ph type="sldNum" sz="quarter" idx="5"/>
          </p:nvPr>
        </p:nvSpPr>
        <p:spPr bwMode="auto">
          <a:noFill/>
          <a:ln>
            <a:miter lim="800000"/>
            <a:headEnd/>
            <a:tailEnd/>
          </a:ln>
        </p:spPr>
        <p:txBody>
          <a:bodyPr/>
          <a:lstStyle/>
          <a:p>
            <a:fld id="{DB6EE02B-4820-6E44-90CA-C86923BE6030}" type="slidenum">
              <a:rPr lang="en-US"/>
              <a:pPr/>
              <a:t>51</a:t>
            </a:fld>
            <a:endParaRPr lang="en-US"/>
          </a:p>
        </p:txBody>
      </p:sp>
    </p:spTree>
    <p:extLst>
      <p:ext uri="{BB962C8B-B14F-4D97-AF65-F5344CB8AC3E}">
        <p14:creationId xmlns:p14="http://schemas.microsoft.com/office/powerpoint/2010/main" val="776999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p:cNvSpPr>
            <a:spLocks noGrp="1" noRot="1" noChangeAspect="1" noTextEdit="1"/>
          </p:cNvSpPr>
          <p:nvPr>
            <p:ph type="sldImg"/>
          </p:nvPr>
        </p:nvSpPr>
        <p:spPr bwMode="auto">
          <a:noFill/>
          <a:ln>
            <a:solidFill>
              <a:srgbClr val="000000"/>
            </a:solidFill>
            <a:miter lim="800000"/>
            <a:headEnd/>
            <a:tailEnd/>
          </a:ln>
        </p:spPr>
      </p:sp>
      <p:sp>
        <p:nvSpPr>
          <p:cNvPr id="92162" name="Notes Placeholder 2"/>
          <p:cNvSpPr>
            <a:spLocks noGrp="1"/>
          </p:cNvSpPr>
          <p:nvPr>
            <p:ph type="body" idx="1"/>
          </p:nvPr>
        </p:nvSpPr>
        <p:spPr bwMode="auto">
          <a:noFill/>
        </p:spPr>
        <p:txBody>
          <a:bodyPr/>
          <a:lstStyle/>
          <a:p>
            <a:pPr>
              <a:spcBef>
                <a:spcPct val="0"/>
              </a:spcBef>
            </a:pPr>
            <a:r>
              <a:rPr lang="en-US" dirty="0"/>
              <a:t>Andrea del Castagno THE LAST SUPPER</a:t>
            </a:r>
            <a:br>
              <a:rPr lang="en-US" dirty="0"/>
            </a:br>
            <a:r>
              <a:rPr lang="en-US" dirty="0"/>
              <a:t>Refectory, convent of Sant</a:t>
            </a:r>
            <a:r>
              <a:rPr lang="uk-UA" dirty="0"/>
              <a:t>'</a:t>
            </a:r>
            <a:r>
              <a:rPr lang="en-US" dirty="0"/>
              <a:t>Apollonia, Florence. 1447.</a:t>
            </a:r>
            <a:br>
              <a:rPr lang="en-US" dirty="0"/>
            </a:br>
            <a:r>
              <a:rPr lang="en-US" dirty="0"/>
              <a:t>Fresco, width approx. 16 × 32</a:t>
            </a:r>
            <a:r>
              <a:rPr lang="uk-UA" dirty="0"/>
              <a:t>'</a:t>
            </a:r>
            <a:r>
              <a:rPr lang="en-US" dirty="0"/>
              <a:t> (4.6 × 9.8 m). </a:t>
            </a:r>
            <a:br>
              <a:rPr lang="en-US" dirty="0"/>
            </a:br>
            <a:r>
              <a:rPr lang="en-US" dirty="0"/>
              <a:t>© Studio </a:t>
            </a:r>
            <a:r>
              <a:rPr lang="en-US" dirty="0" err="1"/>
              <a:t>Fotografico</a:t>
            </a:r>
            <a:r>
              <a:rPr lang="en-US" dirty="0"/>
              <a:t> </a:t>
            </a:r>
            <a:r>
              <a:rPr lang="en-US" dirty="0" err="1"/>
              <a:t>Quattrone</a:t>
            </a:r>
            <a:r>
              <a:rPr lang="en-US" dirty="0"/>
              <a:t>, Florence.</a:t>
            </a:r>
          </a:p>
        </p:txBody>
      </p:sp>
      <p:sp>
        <p:nvSpPr>
          <p:cNvPr id="92163" name="Slide Number Placeholder 3"/>
          <p:cNvSpPr>
            <a:spLocks noGrp="1"/>
          </p:cNvSpPr>
          <p:nvPr>
            <p:ph type="sldNum" sz="quarter" idx="5"/>
          </p:nvPr>
        </p:nvSpPr>
        <p:spPr bwMode="auto">
          <a:noFill/>
          <a:ln>
            <a:miter lim="800000"/>
            <a:headEnd/>
            <a:tailEnd/>
          </a:ln>
        </p:spPr>
        <p:txBody>
          <a:bodyPr/>
          <a:lstStyle/>
          <a:p>
            <a:fld id="{ED022090-377D-9544-8330-FB08958B53B1}" type="slidenum">
              <a:rPr lang="en-US"/>
              <a:pPr/>
              <a:t>53</a:t>
            </a:fld>
            <a:endParaRPr lang="en-US"/>
          </a:p>
        </p:txBody>
      </p:sp>
    </p:spTree>
    <p:extLst>
      <p:ext uri="{BB962C8B-B14F-4D97-AF65-F5344CB8AC3E}">
        <p14:creationId xmlns:p14="http://schemas.microsoft.com/office/powerpoint/2010/main" val="2337249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p:cNvSpPr>
            <a:spLocks noGrp="1" noRot="1" noChangeAspect="1" noTextEdit="1"/>
          </p:cNvSpPr>
          <p:nvPr>
            <p:ph type="sldImg"/>
          </p:nvPr>
        </p:nvSpPr>
        <p:spPr bwMode="auto">
          <a:noFill/>
          <a:ln>
            <a:solidFill>
              <a:srgbClr val="000000"/>
            </a:solidFill>
            <a:miter lim="800000"/>
            <a:headEnd/>
            <a:tailEnd/>
          </a:ln>
        </p:spPr>
      </p:sp>
      <p:sp>
        <p:nvSpPr>
          <p:cNvPr id="95234" name="Notes Placeholder 2"/>
          <p:cNvSpPr>
            <a:spLocks noGrp="1"/>
          </p:cNvSpPr>
          <p:nvPr>
            <p:ph type="body" idx="1"/>
          </p:nvPr>
        </p:nvSpPr>
        <p:spPr bwMode="auto">
          <a:noFill/>
        </p:spPr>
        <p:txBody>
          <a:bodyPr/>
          <a:lstStyle/>
          <a:p>
            <a:pPr>
              <a:spcBef>
                <a:spcPct val="0"/>
              </a:spcBef>
            </a:pPr>
            <a:r>
              <a:rPr lang="en-US" dirty="0"/>
              <a:t>Fra Filippo Lippi PORTRAIT OF A WOMAN AND MAN (ANGIOLA DI BERNARDO SAPITI AND LORENZO DI RANIERI SCOLARI?)</a:t>
            </a:r>
            <a:br>
              <a:rPr lang="en-US" dirty="0"/>
            </a:br>
            <a:r>
              <a:rPr lang="en-US" dirty="0"/>
              <a:t>c. 1435–1445. Tempera on wood panel, 25-1/4</a:t>
            </a:r>
            <a:r>
              <a:rPr lang="ru-RU" dirty="0"/>
              <a:t>"</a:t>
            </a:r>
            <a:r>
              <a:rPr lang="en-US" dirty="0"/>
              <a:t> × 16-1/2</a:t>
            </a:r>
            <a:r>
              <a:rPr lang="ru-RU" dirty="0"/>
              <a:t>"</a:t>
            </a:r>
            <a:r>
              <a:rPr lang="en-US" dirty="0"/>
              <a:t> (64.1 × 41.9 cm). Metropolitan Museum of Art, New York. © 2016. Image copyright The Metropolitan Museum of Art/Art Resource/Scala, Florence. </a:t>
            </a:r>
          </a:p>
        </p:txBody>
      </p:sp>
      <p:sp>
        <p:nvSpPr>
          <p:cNvPr id="95235" name="Slide Number Placeholder 3"/>
          <p:cNvSpPr>
            <a:spLocks noGrp="1"/>
          </p:cNvSpPr>
          <p:nvPr>
            <p:ph type="sldNum" sz="quarter" idx="5"/>
          </p:nvPr>
        </p:nvSpPr>
        <p:spPr bwMode="auto">
          <a:noFill/>
          <a:ln>
            <a:miter lim="800000"/>
            <a:headEnd/>
            <a:tailEnd/>
          </a:ln>
        </p:spPr>
        <p:txBody>
          <a:bodyPr/>
          <a:lstStyle/>
          <a:p>
            <a:fld id="{EBEBD752-22E6-914A-B876-FB0886CB1553}" type="slidenum">
              <a:rPr lang="en-US"/>
              <a:pPr/>
              <a:t>55</a:t>
            </a:fld>
            <a:endParaRPr lang="en-US"/>
          </a:p>
        </p:txBody>
      </p:sp>
    </p:spTree>
    <p:extLst>
      <p:ext uri="{BB962C8B-B14F-4D97-AF65-F5344CB8AC3E}">
        <p14:creationId xmlns:p14="http://schemas.microsoft.com/office/powerpoint/2010/main" val="468064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p:cNvSpPr>
            <a:spLocks noGrp="1" noRot="1" noChangeAspect="1" noTextEdit="1"/>
          </p:cNvSpPr>
          <p:nvPr>
            <p:ph type="sldImg"/>
          </p:nvPr>
        </p:nvSpPr>
        <p:spPr bwMode="auto">
          <a:noFill/>
          <a:ln>
            <a:solidFill>
              <a:srgbClr val="000000"/>
            </a:solidFill>
            <a:miter lim="800000"/>
            <a:headEnd/>
            <a:tailEnd/>
          </a:ln>
        </p:spPr>
      </p:sp>
      <p:sp>
        <p:nvSpPr>
          <p:cNvPr id="98306" name="Notes Placeholder 2"/>
          <p:cNvSpPr>
            <a:spLocks noGrp="1"/>
          </p:cNvSpPr>
          <p:nvPr>
            <p:ph type="body" idx="1"/>
          </p:nvPr>
        </p:nvSpPr>
        <p:spPr bwMode="auto">
          <a:noFill/>
        </p:spPr>
        <p:txBody>
          <a:bodyPr/>
          <a:lstStyle/>
          <a:p>
            <a:pPr>
              <a:spcBef>
                <a:spcPct val="0"/>
              </a:spcBef>
            </a:pPr>
            <a:r>
              <a:rPr lang="en-US" dirty="0"/>
              <a:t>Andrea del Verrocchio DAVID</a:t>
            </a:r>
            <a:br>
              <a:rPr lang="en-US" dirty="0"/>
            </a:br>
            <a:r>
              <a:rPr lang="en-US" dirty="0"/>
              <a:t>Commissioned by Lorenzo de</a:t>
            </a:r>
            <a:r>
              <a:rPr lang="uk-UA" dirty="0"/>
              <a:t>'</a:t>
            </a:r>
            <a:r>
              <a:rPr lang="en-US" dirty="0"/>
              <a:t> Medici for the Medici Palace. c. 1470–1475.</a:t>
            </a:r>
            <a:br>
              <a:rPr lang="en-US" dirty="0"/>
            </a:br>
            <a:r>
              <a:rPr lang="en-US" dirty="0"/>
              <a:t>Bronze with gilded details, height 49-5/8</a:t>
            </a:r>
            <a:r>
              <a:rPr lang="ru-RU" dirty="0"/>
              <a:t>"</a:t>
            </a:r>
            <a:r>
              <a:rPr lang="en-US" dirty="0"/>
              <a:t> (1.26 m).</a:t>
            </a:r>
            <a:br>
              <a:rPr lang="en-US" dirty="0"/>
            </a:br>
            <a:r>
              <a:rPr lang="en-US" dirty="0"/>
              <a:t>Museo Nazionale del Bargello, Florence. © Studio </a:t>
            </a:r>
            <a:r>
              <a:rPr lang="en-US" dirty="0" err="1"/>
              <a:t>Fotografico</a:t>
            </a:r>
            <a:r>
              <a:rPr lang="en-US" dirty="0"/>
              <a:t> </a:t>
            </a:r>
            <a:r>
              <a:rPr lang="en-US" dirty="0" err="1"/>
              <a:t>Quattrone</a:t>
            </a:r>
            <a:r>
              <a:rPr lang="en-US" dirty="0"/>
              <a:t>, Florence </a:t>
            </a:r>
          </a:p>
        </p:txBody>
      </p:sp>
      <p:sp>
        <p:nvSpPr>
          <p:cNvPr id="98307" name="Slide Number Placeholder 3"/>
          <p:cNvSpPr>
            <a:spLocks noGrp="1"/>
          </p:cNvSpPr>
          <p:nvPr>
            <p:ph type="sldNum" sz="quarter" idx="5"/>
          </p:nvPr>
        </p:nvSpPr>
        <p:spPr bwMode="auto">
          <a:noFill/>
          <a:ln>
            <a:miter lim="800000"/>
            <a:headEnd/>
            <a:tailEnd/>
          </a:ln>
        </p:spPr>
        <p:txBody>
          <a:bodyPr/>
          <a:lstStyle/>
          <a:p>
            <a:fld id="{E823CDE4-1555-6C41-A716-180527D5A3AE}" type="slidenum">
              <a:rPr lang="en-US"/>
              <a:pPr/>
              <a:t>58</a:t>
            </a:fld>
            <a:endParaRPr lang="en-US"/>
          </a:p>
        </p:txBody>
      </p:sp>
    </p:spTree>
    <p:extLst>
      <p:ext uri="{BB962C8B-B14F-4D97-AF65-F5344CB8AC3E}">
        <p14:creationId xmlns:p14="http://schemas.microsoft.com/office/powerpoint/2010/main" val="5268138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p:cNvSpPr>
            <a:spLocks noGrp="1" noRot="1" noChangeAspect="1" noTextEdit="1"/>
          </p:cNvSpPr>
          <p:nvPr>
            <p:ph type="sldImg"/>
          </p:nvPr>
        </p:nvSpPr>
        <p:spPr bwMode="auto">
          <a:noFill/>
          <a:ln>
            <a:solidFill>
              <a:srgbClr val="000000"/>
            </a:solidFill>
            <a:miter lim="800000"/>
            <a:headEnd/>
            <a:tailEnd/>
          </a:ln>
        </p:spPr>
      </p:sp>
      <p:sp>
        <p:nvSpPr>
          <p:cNvPr id="101378" name="Notes Placeholder 2"/>
          <p:cNvSpPr>
            <a:spLocks noGrp="1"/>
          </p:cNvSpPr>
          <p:nvPr>
            <p:ph type="body" idx="1"/>
          </p:nvPr>
        </p:nvSpPr>
        <p:spPr bwMode="auto">
          <a:noFill/>
        </p:spPr>
        <p:txBody>
          <a:bodyPr/>
          <a:lstStyle/>
          <a:p>
            <a:pPr>
              <a:spcBef>
                <a:spcPct val="0"/>
              </a:spcBef>
            </a:pPr>
            <a:r>
              <a:rPr lang="en-US" dirty="0">
                <a:latin typeface="Verdana" charset="0"/>
              </a:rPr>
              <a:t>Antonio del </a:t>
            </a:r>
            <a:r>
              <a:rPr lang="en-US" dirty="0" err="1">
                <a:latin typeface="Verdana" charset="0"/>
              </a:rPr>
              <a:t>Pollaiuolo</a:t>
            </a:r>
            <a:r>
              <a:rPr lang="en-US" dirty="0">
                <a:latin typeface="Verdana" charset="0"/>
              </a:rPr>
              <a:t> HERCULES AND ANTAEUS</a:t>
            </a:r>
            <a:br>
              <a:rPr lang="en-US" dirty="0">
                <a:latin typeface="Verdana" charset="0"/>
              </a:rPr>
            </a:br>
            <a:r>
              <a:rPr lang="en-US" dirty="0">
                <a:latin typeface="Verdana" charset="0"/>
              </a:rPr>
              <a:t>c. 1475. Bronze, height with base 18</a:t>
            </a:r>
            <a:r>
              <a:rPr lang="ru-RU" dirty="0">
                <a:latin typeface="Verdana" charset="0"/>
              </a:rPr>
              <a:t>"</a:t>
            </a:r>
            <a:r>
              <a:rPr lang="en-US" dirty="0">
                <a:latin typeface="Verdana" charset="0"/>
              </a:rPr>
              <a:t> (45.7 cm).</a:t>
            </a:r>
            <a:br>
              <a:rPr lang="en-US" dirty="0">
                <a:latin typeface="Verdana" charset="0"/>
              </a:rPr>
            </a:br>
            <a:r>
              <a:rPr lang="en-US" dirty="0">
                <a:latin typeface="Verdana" charset="0"/>
              </a:rPr>
              <a:t>Museo Nazionale del Bargello, Florence. © 2016. Photo Scala, Florence - courtesy of the </a:t>
            </a:r>
            <a:r>
              <a:rPr lang="en-US" dirty="0" err="1">
                <a:latin typeface="Verdana" charset="0"/>
              </a:rPr>
              <a:t>Ministero</a:t>
            </a:r>
            <a:r>
              <a:rPr lang="en-US" dirty="0">
                <a:latin typeface="Verdana" charset="0"/>
              </a:rPr>
              <a:t> Beni e Att. </a:t>
            </a:r>
            <a:r>
              <a:rPr lang="en-US" dirty="0" err="1">
                <a:latin typeface="Verdana" charset="0"/>
              </a:rPr>
              <a:t>Culturali</a:t>
            </a:r>
            <a:r>
              <a:rPr lang="en-US" dirty="0">
                <a:latin typeface="Verdana" charset="0"/>
              </a:rPr>
              <a:t>.</a:t>
            </a:r>
            <a:endParaRPr lang="en-US" dirty="0"/>
          </a:p>
        </p:txBody>
      </p:sp>
      <p:sp>
        <p:nvSpPr>
          <p:cNvPr id="101379" name="Slide Number Placeholder 3"/>
          <p:cNvSpPr>
            <a:spLocks noGrp="1"/>
          </p:cNvSpPr>
          <p:nvPr>
            <p:ph type="sldNum" sz="quarter" idx="5"/>
          </p:nvPr>
        </p:nvSpPr>
        <p:spPr bwMode="auto">
          <a:noFill/>
          <a:ln>
            <a:miter lim="800000"/>
            <a:headEnd/>
            <a:tailEnd/>
          </a:ln>
        </p:spPr>
        <p:txBody>
          <a:bodyPr/>
          <a:lstStyle/>
          <a:p>
            <a:fld id="{54995286-17D7-EF44-A8E0-956E141B84BF}" type="slidenum">
              <a:rPr lang="en-US"/>
              <a:pPr/>
              <a:t>60</a:t>
            </a:fld>
            <a:endParaRPr lang="en-US"/>
          </a:p>
        </p:txBody>
      </p:sp>
    </p:spTree>
    <p:extLst>
      <p:ext uri="{BB962C8B-B14F-4D97-AF65-F5344CB8AC3E}">
        <p14:creationId xmlns:p14="http://schemas.microsoft.com/office/powerpoint/2010/main" val="856869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Image Placeholder 1"/>
          <p:cNvSpPr>
            <a:spLocks noGrp="1" noRot="1" noChangeAspect="1" noTextEdit="1"/>
          </p:cNvSpPr>
          <p:nvPr>
            <p:ph type="sldImg"/>
          </p:nvPr>
        </p:nvSpPr>
        <p:spPr bwMode="auto">
          <a:noFill/>
          <a:ln>
            <a:solidFill>
              <a:srgbClr val="000000"/>
            </a:solidFill>
            <a:miter lim="800000"/>
            <a:headEnd/>
            <a:tailEnd/>
          </a:ln>
        </p:spPr>
      </p:sp>
      <p:sp>
        <p:nvSpPr>
          <p:cNvPr id="103426" name="Notes Placeholder 2"/>
          <p:cNvSpPr>
            <a:spLocks noGrp="1"/>
          </p:cNvSpPr>
          <p:nvPr>
            <p:ph type="body" idx="1"/>
          </p:nvPr>
        </p:nvSpPr>
        <p:spPr bwMode="auto">
          <a:noFill/>
        </p:spPr>
        <p:txBody>
          <a:bodyPr/>
          <a:lstStyle/>
          <a:p>
            <a:pPr>
              <a:spcBef>
                <a:spcPct val="0"/>
              </a:spcBef>
            </a:pPr>
            <a:r>
              <a:rPr lang="en-US" dirty="0"/>
              <a:t>Antonio del </a:t>
            </a:r>
            <a:r>
              <a:rPr lang="en-US" dirty="0" err="1"/>
              <a:t>Pollaiuolo</a:t>
            </a:r>
            <a:r>
              <a:rPr lang="en-US" dirty="0"/>
              <a:t> THE BATTLE OF THE NUDES</a:t>
            </a:r>
            <a:br>
              <a:rPr lang="en-US" dirty="0"/>
            </a:br>
            <a:r>
              <a:rPr lang="en-US" dirty="0"/>
              <a:t>c. 1490. Engraving, 15-3/4</a:t>
            </a:r>
            <a:r>
              <a:rPr lang="ru-RU" dirty="0"/>
              <a:t>"</a:t>
            </a:r>
            <a:r>
              <a:rPr lang="en-US" dirty="0"/>
              <a:t> × 22-13/16</a:t>
            </a:r>
            <a:r>
              <a:rPr lang="ru-RU" dirty="0"/>
              <a:t>"</a:t>
            </a:r>
            <a:r>
              <a:rPr lang="en-US" dirty="0"/>
              <a:t> (40 × 58 cm).</a:t>
            </a:r>
            <a:br>
              <a:rPr lang="en-US" dirty="0"/>
            </a:br>
            <a:r>
              <a:rPr lang="en-US" dirty="0"/>
              <a:t>Yale University Art Gallery, New Haven, Connecticut. Maitland F. Griggs, B.A. 1896, Fund (1951.9.18). Image courtesy Yale University Art Gallery.</a:t>
            </a:r>
          </a:p>
        </p:txBody>
      </p:sp>
      <p:sp>
        <p:nvSpPr>
          <p:cNvPr id="103427" name="Slide Number Placeholder 3"/>
          <p:cNvSpPr>
            <a:spLocks noGrp="1"/>
          </p:cNvSpPr>
          <p:nvPr>
            <p:ph type="sldNum" sz="quarter" idx="5"/>
          </p:nvPr>
        </p:nvSpPr>
        <p:spPr bwMode="auto">
          <a:noFill/>
          <a:ln>
            <a:miter lim="800000"/>
            <a:headEnd/>
            <a:tailEnd/>
          </a:ln>
        </p:spPr>
        <p:txBody>
          <a:bodyPr/>
          <a:lstStyle/>
          <a:p>
            <a:fld id="{5BB5793D-4D68-A141-A57A-8AD5F90E3965}" type="slidenum">
              <a:rPr lang="en-US"/>
              <a:pPr/>
              <a:t>61</a:t>
            </a:fld>
            <a:endParaRPr lang="en-US"/>
          </a:p>
        </p:txBody>
      </p:sp>
    </p:spTree>
    <p:extLst>
      <p:ext uri="{BB962C8B-B14F-4D97-AF65-F5344CB8AC3E}">
        <p14:creationId xmlns:p14="http://schemas.microsoft.com/office/powerpoint/2010/main" val="1326189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8" name="Notes Placeholder 2"/>
          <p:cNvSpPr>
            <a:spLocks noGrp="1"/>
          </p:cNvSpPr>
          <p:nvPr>
            <p:ph type="body" idx="1"/>
          </p:nvPr>
        </p:nvSpPr>
        <p:spPr bwMode="auto">
          <a:noFill/>
        </p:spPr>
        <p:txBody>
          <a:bodyPr/>
          <a:lstStyle/>
          <a:p>
            <a:pPr>
              <a:spcBef>
                <a:spcPct val="0"/>
              </a:spcBef>
            </a:pPr>
            <a:r>
              <a:rPr lang="en-US" dirty="0"/>
              <a:t>Jacopo del </a:t>
            </a:r>
            <a:r>
              <a:rPr lang="en-US" dirty="0" err="1"/>
              <a:t>Sellaio</a:t>
            </a:r>
            <a:r>
              <a:rPr lang="en-US" dirty="0"/>
              <a:t>, </a:t>
            </a:r>
            <a:r>
              <a:rPr lang="en-US" dirty="0" err="1"/>
              <a:t>Biagio</a:t>
            </a:r>
            <a:r>
              <a:rPr lang="en-US" dirty="0"/>
              <a:t> d</a:t>
            </a:r>
            <a:r>
              <a:rPr lang="uk-UA" dirty="0"/>
              <a:t>'</a:t>
            </a:r>
            <a:r>
              <a:rPr lang="en-US" dirty="0"/>
              <a:t>Antonio (painters), and </a:t>
            </a:r>
            <a:r>
              <a:rPr lang="en-US" dirty="0" err="1"/>
              <a:t>Zanobi</a:t>
            </a:r>
            <a:r>
              <a:rPr lang="en-US" dirty="0"/>
              <a:t> di Domenico (woodworker) CASSONE MADE FOR THE MARRIAGE OF LORENZO DI MATTEO MORELLI AND VAGGIA DI TANAI NERLI (ONE OF A SET OF TWO)</a:t>
            </a:r>
            <a:br>
              <a:rPr lang="en-US" dirty="0"/>
            </a:br>
            <a:r>
              <a:rPr lang="en-US" dirty="0"/>
              <a:t>1472. Tempera and gold on wood, chest 83-1/2</a:t>
            </a:r>
            <a:r>
              <a:rPr lang="ru-RU" dirty="0"/>
              <a:t>"</a:t>
            </a:r>
            <a:r>
              <a:rPr lang="en-US" dirty="0"/>
              <a:t> × 75</a:t>
            </a:r>
            <a:r>
              <a:rPr lang="ru-RU" dirty="0"/>
              <a:t>"</a:t>
            </a:r>
            <a:r>
              <a:rPr lang="en-US" dirty="0"/>
              <a:t> × 30</a:t>
            </a:r>
            <a:r>
              <a:rPr lang="ru-RU" dirty="0"/>
              <a:t>"</a:t>
            </a:r>
            <a:r>
              <a:rPr lang="en-US" dirty="0"/>
              <a:t> (212 × 193 × 76.2 cm).</a:t>
            </a:r>
            <a:br>
              <a:rPr lang="en-US" dirty="0"/>
            </a:br>
            <a:r>
              <a:rPr lang="en-US" dirty="0"/>
              <a:t>The Samuel </a:t>
            </a:r>
            <a:r>
              <a:rPr lang="en-US" dirty="0" err="1"/>
              <a:t>Courtauld</a:t>
            </a:r>
            <a:r>
              <a:rPr lang="en-US" dirty="0"/>
              <a:t> Trust, The </a:t>
            </a:r>
            <a:r>
              <a:rPr lang="en-US" dirty="0" err="1"/>
              <a:t>Courtauld</a:t>
            </a:r>
            <a:r>
              <a:rPr lang="en-US" dirty="0"/>
              <a:t> Gallery, London. (F.1947.LF.4) © Samuel </a:t>
            </a:r>
            <a:r>
              <a:rPr lang="en-US" dirty="0" err="1"/>
              <a:t>Courtauld</a:t>
            </a:r>
            <a:r>
              <a:rPr lang="en-US" dirty="0"/>
              <a:t> Trust, The </a:t>
            </a:r>
            <a:r>
              <a:rPr lang="en-US" dirty="0" err="1"/>
              <a:t>Courtauld</a:t>
            </a:r>
            <a:r>
              <a:rPr lang="en-US" dirty="0"/>
              <a:t> Gallery, London, UK/Bridgeman Images</a:t>
            </a:r>
          </a:p>
        </p:txBody>
      </p:sp>
      <p:sp>
        <p:nvSpPr>
          <p:cNvPr id="106499" name="Slide Number Placeholder 3"/>
          <p:cNvSpPr>
            <a:spLocks noGrp="1"/>
          </p:cNvSpPr>
          <p:nvPr>
            <p:ph type="sldNum" sz="quarter" idx="5"/>
          </p:nvPr>
        </p:nvSpPr>
        <p:spPr bwMode="auto">
          <a:noFill/>
          <a:ln>
            <a:miter lim="800000"/>
            <a:headEnd/>
            <a:tailEnd/>
          </a:ln>
        </p:spPr>
        <p:txBody>
          <a:bodyPr/>
          <a:lstStyle/>
          <a:p>
            <a:fld id="{A3A7E328-3859-F346-89DD-3D175D035344}" type="slidenum">
              <a:rPr lang="en-US"/>
              <a:pPr/>
              <a:t>63</a:t>
            </a:fld>
            <a:endParaRPr lang="en-US"/>
          </a:p>
        </p:txBody>
      </p:sp>
    </p:spTree>
    <p:extLst>
      <p:ext uri="{BB962C8B-B14F-4D97-AF65-F5344CB8AC3E}">
        <p14:creationId xmlns:p14="http://schemas.microsoft.com/office/powerpoint/2010/main" val="7528073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noTextEdit="1"/>
          </p:cNvSpPr>
          <p:nvPr>
            <p:ph type="sldImg"/>
          </p:nvPr>
        </p:nvSpPr>
        <p:spPr bwMode="auto">
          <a:noFill/>
          <a:ln>
            <a:solidFill>
              <a:srgbClr val="000000"/>
            </a:solidFill>
            <a:miter lim="800000"/>
            <a:headEnd/>
            <a:tailEnd/>
          </a:ln>
        </p:spPr>
      </p:sp>
      <p:sp>
        <p:nvSpPr>
          <p:cNvPr id="109570" name="Notes Placeholder 2"/>
          <p:cNvSpPr>
            <a:spLocks noGrp="1"/>
          </p:cNvSpPr>
          <p:nvPr>
            <p:ph type="body" idx="1"/>
          </p:nvPr>
        </p:nvSpPr>
        <p:spPr bwMode="auto">
          <a:noFill/>
        </p:spPr>
        <p:txBody>
          <a:bodyPr/>
          <a:lstStyle/>
          <a:p>
            <a:pPr>
              <a:spcBef>
                <a:spcPct val="0"/>
              </a:spcBef>
            </a:pPr>
            <a:r>
              <a:rPr lang="en-US" dirty="0"/>
              <a:t>Domenico Ghirlandaio SCENES FROM THE LIFE OF ST. FRANCIS; ALTARPIECE WITH NATIVITY AND ADORATION OF THE SHEPHERDS</a:t>
            </a:r>
            <a:br>
              <a:rPr lang="en-US" dirty="0"/>
            </a:br>
            <a:r>
              <a:rPr lang="en-US" dirty="0" err="1"/>
              <a:t>Sassetti</a:t>
            </a:r>
            <a:r>
              <a:rPr lang="en-US" dirty="0"/>
              <a:t> Chapel, church of Santa </a:t>
            </a:r>
            <a:r>
              <a:rPr lang="en-US" dirty="0" err="1"/>
              <a:t>Trinità</a:t>
            </a:r>
            <a:r>
              <a:rPr lang="en-US" dirty="0"/>
              <a:t>, Florence. 1483–1486.</a:t>
            </a:r>
            <a:br>
              <a:rPr lang="en-US" dirty="0"/>
            </a:br>
            <a:r>
              <a:rPr lang="en-US" dirty="0"/>
              <a:t>Fresco, chapel 12</a:t>
            </a:r>
            <a:r>
              <a:rPr lang="uk-UA" dirty="0"/>
              <a:t>'</a:t>
            </a:r>
            <a:r>
              <a:rPr lang="en-US" dirty="0"/>
              <a:t>2</a:t>
            </a:r>
            <a:r>
              <a:rPr lang="ru-RU" dirty="0"/>
              <a:t>"</a:t>
            </a:r>
            <a:r>
              <a:rPr lang="en-US" dirty="0"/>
              <a:t> deep × 17</a:t>
            </a:r>
            <a:r>
              <a:rPr lang="uk-UA" dirty="0"/>
              <a:t>'</a:t>
            </a:r>
            <a:r>
              <a:rPr lang="en-US" dirty="0"/>
              <a:t>2</a:t>
            </a:r>
            <a:r>
              <a:rPr lang="ru-RU" dirty="0"/>
              <a:t>"</a:t>
            </a:r>
            <a:r>
              <a:rPr lang="en-US" dirty="0"/>
              <a:t> wide (3.7 × 5.25 m).</a:t>
            </a:r>
            <a:br>
              <a:rPr lang="en-US" dirty="0"/>
            </a:br>
            <a:r>
              <a:rPr lang="en-US" dirty="0"/>
              <a:t>© </a:t>
            </a:r>
            <a:r>
              <a:rPr lang="en-US" dirty="0" err="1"/>
              <a:t>Archivi</a:t>
            </a:r>
            <a:r>
              <a:rPr lang="en-US" dirty="0"/>
              <a:t> </a:t>
            </a:r>
            <a:r>
              <a:rPr lang="en-US" dirty="0" err="1"/>
              <a:t>Alinari</a:t>
            </a:r>
            <a:r>
              <a:rPr lang="en-US" dirty="0"/>
              <a:t>, Firenze.</a:t>
            </a:r>
          </a:p>
        </p:txBody>
      </p:sp>
      <p:sp>
        <p:nvSpPr>
          <p:cNvPr id="109571" name="Slide Number Placeholder 3"/>
          <p:cNvSpPr>
            <a:spLocks noGrp="1"/>
          </p:cNvSpPr>
          <p:nvPr>
            <p:ph type="sldNum" sz="quarter" idx="5"/>
          </p:nvPr>
        </p:nvSpPr>
        <p:spPr bwMode="auto">
          <a:noFill/>
          <a:ln>
            <a:miter lim="800000"/>
            <a:headEnd/>
            <a:tailEnd/>
          </a:ln>
        </p:spPr>
        <p:txBody>
          <a:bodyPr/>
          <a:lstStyle/>
          <a:p>
            <a:fld id="{18EED5DE-26F7-2844-9A3F-52235B36320B}" type="slidenum">
              <a:rPr lang="en-US"/>
              <a:pPr/>
              <a:t>65</a:t>
            </a:fld>
            <a:endParaRPr lang="en-US"/>
          </a:p>
        </p:txBody>
      </p:sp>
    </p:spTree>
    <p:extLst>
      <p:ext uri="{BB962C8B-B14F-4D97-AF65-F5344CB8AC3E}">
        <p14:creationId xmlns:p14="http://schemas.microsoft.com/office/powerpoint/2010/main" val="16076392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bwMode="auto">
          <a:noFill/>
          <a:ln>
            <a:solidFill>
              <a:srgbClr val="000000"/>
            </a:solidFill>
            <a:miter lim="800000"/>
            <a:headEnd/>
            <a:tailEnd/>
          </a:ln>
        </p:spPr>
      </p:sp>
      <p:sp>
        <p:nvSpPr>
          <p:cNvPr id="111618" name="Notes Placeholder 2"/>
          <p:cNvSpPr>
            <a:spLocks noGrp="1"/>
          </p:cNvSpPr>
          <p:nvPr>
            <p:ph type="body" idx="1"/>
          </p:nvPr>
        </p:nvSpPr>
        <p:spPr bwMode="auto">
          <a:noFill/>
        </p:spPr>
        <p:txBody>
          <a:bodyPr/>
          <a:lstStyle/>
          <a:p>
            <a:pPr>
              <a:spcBef>
                <a:spcPct val="0"/>
              </a:spcBef>
            </a:pPr>
            <a:r>
              <a:rPr lang="en-US" dirty="0"/>
              <a:t>Domenico Ghirlandaio CONFIRMATION OF THE FRANCISCAN RULE BY</a:t>
            </a:r>
            <a:br>
              <a:rPr lang="en-US" dirty="0"/>
            </a:br>
            <a:r>
              <a:rPr lang="en-US" dirty="0"/>
              <a:t>POPE HONORIUS III</a:t>
            </a:r>
            <a:br>
              <a:rPr lang="en-US" dirty="0"/>
            </a:br>
            <a:r>
              <a:rPr lang="en-US" dirty="0" err="1"/>
              <a:t>Sassetti</a:t>
            </a:r>
            <a:r>
              <a:rPr lang="en-US" dirty="0"/>
              <a:t> Chapel, church of Santa </a:t>
            </a:r>
            <a:r>
              <a:rPr lang="en-US" dirty="0" err="1"/>
              <a:t>Trinità</a:t>
            </a:r>
            <a:r>
              <a:rPr lang="en-US" dirty="0"/>
              <a:t>, Florence. 1483–1486.</a:t>
            </a:r>
            <a:br>
              <a:rPr lang="en-US" dirty="0"/>
            </a:br>
            <a:r>
              <a:rPr lang="en-US" dirty="0"/>
              <a:t>Fresco, width at base 17</a:t>
            </a:r>
            <a:r>
              <a:rPr lang="uk-UA" dirty="0"/>
              <a:t>'</a:t>
            </a:r>
            <a:r>
              <a:rPr lang="en-US" dirty="0"/>
              <a:t>2</a:t>
            </a:r>
            <a:r>
              <a:rPr lang="ru-RU" dirty="0"/>
              <a:t>"</a:t>
            </a:r>
            <a:r>
              <a:rPr lang="en-US" dirty="0"/>
              <a:t> (5.25 m).</a:t>
            </a:r>
            <a:br>
              <a:rPr lang="en-US" dirty="0"/>
            </a:br>
            <a:r>
              <a:rPr lang="en-US" dirty="0"/>
              <a:t>© Studio </a:t>
            </a:r>
            <a:r>
              <a:rPr lang="en-US" dirty="0" err="1"/>
              <a:t>Fotografico</a:t>
            </a:r>
            <a:r>
              <a:rPr lang="en-US" dirty="0"/>
              <a:t> </a:t>
            </a:r>
            <a:r>
              <a:rPr lang="en-US" dirty="0" err="1"/>
              <a:t>Quattrone</a:t>
            </a:r>
            <a:r>
              <a:rPr lang="en-US" dirty="0"/>
              <a:t>, Florence. </a:t>
            </a:r>
          </a:p>
        </p:txBody>
      </p:sp>
      <p:sp>
        <p:nvSpPr>
          <p:cNvPr id="111619" name="Slide Number Placeholder 3"/>
          <p:cNvSpPr>
            <a:spLocks noGrp="1"/>
          </p:cNvSpPr>
          <p:nvPr>
            <p:ph type="sldNum" sz="quarter" idx="5"/>
          </p:nvPr>
        </p:nvSpPr>
        <p:spPr bwMode="auto">
          <a:noFill/>
          <a:ln>
            <a:miter lim="800000"/>
            <a:headEnd/>
            <a:tailEnd/>
          </a:ln>
        </p:spPr>
        <p:txBody>
          <a:bodyPr/>
          <a:lstStyle/>
          <a:p>
            <a:fld id="{34576507-C498-644A-BB2D-BC21CE11BA9F}" type="slidenum">
              <a:rPr lang="en-US"/>
              <a:pPr/>
              <a:t>66</a:t>
            </a:fld>
            <a:endParaRPr lang="en-US"/>
          </a:p>
        </p:txBody>
      </p:sp>
    </p:spTree>
    <p:extLst>
      <p:ext uri="{BB962C8B-B14F-4D97-AF65-F5344CB8AC3E}">
        <p14:creationId xmlns:p14="http://schemas.microsoft.com/office/powerpoint/2010/main" val="21011622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Image Placeholder 1"/>
          <p:cNvSpPr>
            <a:spLocks noGrp="1" noRot="1" noChangeAspect="1" noTextEdit="1"/>
          </p:cNvSpPr>
          <p:nvPr>
            <p:ph type="sldImg"/>
          </p:nvPr>
        </p:nvSpPr>
        <p:spPr bwMode="auto">
          <a:noFill/>
          <a:ln>
            <a:solidFill>
              <a:srgbClr val="000000"/>
            </a:solidFill>
            <a:miter lim="800000"/>
            <a:headEnd/>
            <a:tailEnd/>
          </a:ln>
        </p:spPr>
      </p:sp>
      <p:sp>
        <p:nvSpPr>
          <p:cNvPr id="114690" name="Notes Placeholder 2"/>
          <p:cNvSpPr>
            <a:spLocks noGrp="1"/>
          </p:cNvSpPr>
          <p:nvPr>
            <p:ph type="body" idx="1"/>
          </p:nvPr>
        </p:nvSpPr>
        <p:spPr bwMode="auto">
          <a:noFill/>
        </p:spPr>
        <p:txBody>
          <a:bodyPr/>
          <a:lstStyle/>
          <a:p>
            <a:pPr>
              <a:spcBef>
                <a:spcPct val="0"/>
              </a:spcBef>
            </a:pPr>
            <a:r>
              <a:rPr lang="en-US" dirty="0"/>
              <a:t>Domenico Ghirlandaio NATIVITY AND ADORATION OF THE SHEPHERDS</a:t>
            </a:r>
            <a:br>
              <a:rPr lang="en-US" dirty="0"/>
            </a:br>
            <a:r>
              <a:rPr lang="en-US" dirty="0"/>
              <a:t>Altarpiece in the </a:t>
            </a:r>
            <a:r>
              <a:rPr lang="en-US" dirty="0" err="1"/>
              <a:t>Sassetti</a:t>
            </a:r>
            <a:r>
              <a:rPr lang="en-US" dirty="0"/>
              <a:t> Chapel, church of Santa </a:t>
            </a:r>
            <a:r>
              <a:rPr lang="en-US" dirty="0" err="1"/>
              <a:t>Trinità</a:t>
            </a:r>
            <a:r>
              <a:rPr lang="en-US" dirty="0"/>
              <a:t>, Florence. 1485.</a:t>
            </a:r>
            <a:br>
              <a:rPr lang="en-US" dirty="0"/>
            </a:br>
            <a:r>
              <a:rPr lang="en-US" dirty="0"/>
              <a:t>Panel, 65-3/4</a:t>
            </a:r>
            <a:r>
              <a:rPr lang="ru-RU" dirty="0"/>
              <a:t>"</a:t>
            </a:r>
            <a:r>
              <a:rPr lang="en-US" dirty="0"/>
              <a:t> square (1.67 m square).</a:t>
            </a:r>
            <a:br>
              <a:rPr lang="en-US" dirty="0"/>
            </a:br>
            <a:r>
              <a:rPr lang="en-US" dirty="0"/>
              <a:t>© Studio </a:t>
            </a:r>
            <a:r>
              <a:rPr lang="en-US" dirty="0" err="1"/>
              <a:t>Fotografico</a:t>
            </a:r>
            <a:r>
              <a:rPr lang="en-US" dirty="0"/>
              <a:t> </a:t>
            </a:r>
            <a:r>
              <a:rPr lang="en-US" dirty="0" err="1"/>
              <a:t>Quattrone</a:t>
            </a:r>
            <a:r>
              <a:rPr lang="en-US" dirty="0"/>
              <a:t>, Florence</a:t>
            </a:r>
          </a:p>
        </p:txBody>
      </p:sp>
      <p:sp>
        <p:nvSpPr>
          <p:cNvPr id="114691" name="Slide Number Placeholder 3"/>
          <p:cNvSpPr>
            <a:spLocks noGrp="1"/>
          </p:cNvSpPr>
          <p:nvPr>
            <p:ph type="sldNum" sz="quarter" idx="5"/>
          </p:nvPr>
        </p:nvSpPr>
        <p:spPr bwMode="auto">
          <a:noFill/>
          <a:ln>
            <a:miter lim="800000"/>
            <a:headEnd/>
            <a:tailEnd/>
          </a:ln>
        </p:spPr>
        <p:txBody>
          <a:bodyPr/>
          <a:lstStyle/>
          <a:p>
            <a:fld id="{5B4D79EF-9F22-0A44-8111-5A861A5C2027}" type="slidenum">
              <a:rPr lang="en-US"/>
              <a:pPr/>
              <a:t>68</a:t>
            </a:fld>
            <a:endParaRPr lang="en-US"/>
          </a:p>
        </p:txBody>
      </p:sp>
    </p:spTree>
    <p:extLst>
      <p:ext uri="{BB962C8B-B14F-4D97-AF65-F5344CB8AC3E}">
        <p14:creationId xmlns:p14="http://schemas.microsoft.com/office/powerpoint/2010/main" val="10130797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bwMode="auto">
          <a:noFill/>
          <a:ln>
            <a:solidFill>
              <a:srgbClr val="000000"/>
            </a:solidFill>
            <a:miter lim="800000"/>
            <a:headEnd/>
            <a:tailEnd/>
          </a:ln>
        </p:spPr>
      </p:sp>
      <p:sp>
        <p:nvSpPr>
          <p:cNvPr id="117762" name="Notes Placeholder 2"/>
          <p:cNvSpPr>
            <a:spLocks noGrp="1"/>
          </p:cNvSpPr>
          <p:nvPr>
            <p:ph type="body" idx="1"/>
          </p:nvPr>
        </p:nvSpPr>
        <p:spPr bwMode="auto">
          <a:noFill/>
        </p:spPr>
        <p:txBody>
          <a:bodyPr/>
          <a:lstStyle/>
          <a:p>
            <a:pPr>
              <a:spcBef>
                <a:spcPct val="0"/>
              </a:spcBef>
            </a:pPr>
            <a:r>
              <a:rPr lang="en-US" dirty="0"/>
              <a:t>A CLOSER LOOK: Primavera by Sandro Botticelli</a:t>
            </a:r>
            <a:br>
              <a:rPr lang="en-US" dirty="0"/>
            </a:br>
            <a:r>
              <a:rPr lang="en-US" dirty="0"/>
              <a:t>c. 1482. Tempera on wood panel.</a:t>
            </a:r>
            <a:br>
              <a:rPr lang="en-US" dirty="0"/>
            </a:br>
            <a:r>
              <a:rPr lang="en-US" dirty="0"/>
              <a:t>6</a:t>
            </a:r>
            <a:r>
              <a:rPr lang="uk-UA" dirty="0"/>
              <a:t>'</a:t>
            </a:r>
            <a:r>
              <a:rPr lang="en-US" dirty="0"/>
              <a:t>8</a:t>
            </a:r>
            <a:r>
              <a:rPr lang="ru-RU" dirty="0"/>
              <a:t>"</a:t>
            </a:r>
            <a:r>
              <a:rPr lang="en-US" dirty="0"/>
              <a:t> × 10</a:t>
            </a:r>
            <a:r>
              <a:rPr lang="uk-UA" dirty="0"/>
              <a:t>'</a:t>
            </a:r>
            <a:r>
              <a:rPr lang="en-US" dirty="0"/>
              <a:t>4</a:t>
            </a:r>
            <a:r>
              <a:rPr lang="ru-RU" dirty="0"/>
              <a:t>"</a:t>
            </a:r>
            <a:r>
              <a:rPr lang="en-US" dirty="0"/>
              <a:t> (2.03 × 3.15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sp>
        <p:nvSpPr>
          <p:cNvPr id="117763" name="Slide Number Placeholder 3"/>
          <p:cNvSpPr>
            <a:spLocks noGrp="1"/>
          </p:cNvSpPr>
          <p:nvPr>
            <p:ph type="sldNum" sz="quarter" idx="5"/>
          </p:nvPr>
        </p:nvSpPr>
        <p:spPr bwMode="auto">
          <a:noFill/>
          <a:ln>
            <a:miter lim="800000"/>
            <a:headEnd/>
            <a:tailEnd/>
          </a:ln>
        </p:spPr>
        <p:txBody>
          <a:bodyPr/>
          <a:lstStyle/>
          <a:p>
            <a:fld id="{43429C45-0E06-9D49-9838-389BEF95F518}" type="slidenum">
              <a:rPr lang="en-US"/>
              <a:pPr/>
              <a:t>70</a:t>
            </a:fld>
            <a:endParaRPr lang="en-US"/>
          </a:p>
        </p:txBody>
      </p:sp>
    </p:spTree>
    <p:extLst>
      <p:ext uri="{BB962C8B-B14F-4D97-AF65-F5344CB8AC3E}">
        <p14:creationId xmlns:p14="http://schemas.microsoft.com/office/powerpoint/2010/main" val="15815090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Slide Image Placeholder 1"/>
          <p:cNvSpPr>
            <a:spLocks noGrp="1" noRot="1" noChangeAspect="1" noTextEdit="1"/>
          </p:cNvSpPr>
          <p:nvPr>
            <p:ph type="sldImg"/>
          </p:nvPr>
        </p:nvSpPr>
        <p:spPr bwMode="auto">
          <a:noFill/>
          <a:ln>
            <a:solidFill>
              <a:srgbClr val="000000"/>
            </a:solidFill>
            <a:miter lim="800000"/>
            <a:headEnd/>
            <a:tailEnd/>
          </a:ln>
        </p:spPr>
      </p:sp>
      <p:sp>
        <p:nvSpPr>
          <p:cNvPr id="120834" name="Notes Placeholder 2"/>
          <p:cNvSpPr>
            <a:spLocks noGrp="1"/>
          </p:cNvSpPr>
          <p:nvPr>
            <p:ph type="body" idx="1"/>
          </p:nvPr>
        </p:nvSpPr>
        <p:spPr bwMode="auto">
          <a:noFill/>
        </p:spPr>
        <p:txBody>
          <a:bodyPr/>
          <a:lstStyle/>
          <a:p>
            <a:pPr>
              <a:spcBef>
                <a:spcPct val="0"/>
              </a:spcBef>
            </a:pPr>
            <a:r>
              <a:rPr lang="en-US" dirty="0"/>
              <a:t>Sandro Botticelli BIRTH OF VENUS</a:t>
            </a:r>
            <a:br>
              <a:rPr lang="en-US" dirty="0"/>
            </a:br>
            <a:r>
              <a:rPr lang="en-US" dirty="0"/>
              <a:t>c. 1484–1486. Tempera and gold on canvas, 5</a:t>
            </a:r>
            <a:r>
              <a:rPr lang="uk-UA" dirty="0"/>
              <a:t>'</a:t>
            </a:r>
            <a:r>
              <a:rPr lang="en-US" dirty="0"/>
              <a:t>8-7/8</a:t>
            </a:r>
            <a:r>
              <a:rPr lang="ru-RU" dirty="0"/>
              <a:t>"</a:t>
            </a:r>
            <a:r>
              <a:rPr lang="en-US" dirty="0"/>
              <a:t> × 9</a:t>
            </a:r>
            <a:r>
              <a:rPr lang="uk-UA" dirty="0"/>
              <a:t>'</a:t>
            </a:r>
            <a:r>
              <a:rPr lang="en-US" dirty="0"/>
              <a:t>1-7/8</a:t>
            </a:r>
            <a:r>
              <a:rPr lang="ru-RU" dirty="0"/>
              <a:t>"</a:t>
            </a:r>
            <a:r>
              <a:rPr lang="en-US" dirty="0"/>
              <a:t> (1.8 × 2.8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sp>
        <p:nvSpPr>
          <p:cNvPr id="120835" name="Slide Number Placeholder 3"/>
          <p:cNvSpPr>
            <a:spLocks noGrp="1"/>
          </p:cNvSpPr>
          <p:nvPr>
            <p:ph type="sldNum" sz="quarter" idx="5"/>
          </p:nvPr>
        </p:nvSpPr>
        <p:spPr bwMode="auto">
          <a:noFill/>
          <a:ln>
            <a:miter lim="800000"/>
            <a:headEnd/>
            <a:tailEnd/>
          </a:ln>
        </p:spPr>
        <p:txBody>
          <a:bodyPr/>
          <a:lstStyle/>
          <a:p>
            <a:fld id="{76EEF4CD-4C89-1544-9D35-60D06C33107B}" type="slidenum">
              <a:rPr lang="en-US"/>
              <a:pPr/>
              <a:t>72</a:t>
            </a:fld>
            <a:endParaRPr lang="en-US"/>
          </a:p>
        </p:txBody>
      </p:sp>
    </p:spTree>
    <p:extLst>
      <p:ext uri="{BB962C8B-B14F-4D97-AF65-F5344CB8AC3E}">
        <p14:creationId xmlns:p14="http://schemas.microsoft.com/office/powerpoint/2010/main" val="10174035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bwMode="auto">
          <a:noFill/>
          <a:ln>
            <a:solidFill>
              <a:srgbClr val="000000"/>
            </a:solidFill>
            <a:miter lim="800000"/>
            <a:headEnd/>
            <a:tailEnd/>
          </a:ln>
        </p:spPr>
      </p:sp>
      <p:sp>
        <p:nvSpPr>
          <p:cNvPr id="123906" name="Notes Placeholder 2"/>
          <p:cNvSpPr>
            <a:spLocks noGrp="1"/>
          </p:cNvSpPr>
          <p:nvPr>
            <p:ph type="body" idx="1"/>
          </p:nvPr>
        </p:nvSpPr>
        <p:spPr bwMode="auto">
          <a:noFill/>
        </p:spPr>
        <p:txBody>
          <a:bodyPr/>
          <a:lstStyle/>
          <a:p>
            <a:pPr>
              <a:spcBef>
                <a:spcPct val="0"/>
              </a:spcBef>
            </a:pPr>
            <a:r>
              <a:rPr lang="en-US" dirty="0"/>
              <a:t>Luciano </a:t>
            </a:r>
            <a:r>
              <a:rPr lang="en-US" dirty="0" err="1"/>
              <a:t>Laurana</a:t>
            </a:r>
            <a:r>
              <a:rPr lang="en-US" dirty="0"/>
              <a:t> COURTYARD, DUCAL PALACE, URBINO</a:t>
            </a:r>
            <a:br>
              <a:rPr lang="en-US" dirty="0"/>
            </a:br>
            <a:r>
              <a:rPr lang="en-US" dirty="0"/>
              <a:t>Courtyard c. 1467–1472; palace begun c. 1450.</a:t>
            </a:r>
            <a:br>
              <a:rPr lang="en-US" dirty="0"/>
            </a:br>
            <a:r>
              <a:rPr lang="en-US" dirty="0"/>
              <a:t>© </a:t>
            </a:r>
            <a:r>
              <a:rPr lang="en-US" dirty="0" err="1"/>
              <a:t>akg</a:t>
            </a:r>
            <a:r>
              <a:rPr lang="en-US" dirty="0"/>
              <a:t>-images/De Agostini Picture Lib./L. Romano. </a:t>
            </a:r>
          </a:p>
        </p:txBody>
      </p:sp>
      <p:sp>
        <p:nvSpPr>
          <p:cNvPr id="123907" name="Slide Number Placeholder 3"/>
          <p:cNvSpPr>
            <a:spLocks noGrp="1"/>
          </p:cNvSpPr>
          <p:nvPr>
            <p:ph type="sldNum" sz="quarter" idx="5"/>
          </p:nvPr>
        </p:nvSpPr>
        <p:spPr bwMode="auto">
          <a:noFill/>
          <a:ln>
            <a:miter lim="800000"/>
            <a:headEnd/>
            <a:tailEnd/>
          </a:ln>
        </p:spPr>
        <p:txBody>
          <a:bodyPr/>
          <a:lstStyle/>
          <a:p>
            <a:fld id="{E6650351-7B41-4D4E-A90E-1D9E993C1979}" type="slidenum">
              <a:rPr lang="en-US"/>
              <a:pPr/>
              <a:t>75</a:t>
            </a:fld>
            <a:endParaRPr lang="en-US"/>
          </a:p>
        </p:txBody>
      </p:sp>
    </p:spTree>
    <p:extLst>
      <p:ext uri="{BB962C8B-B14F-4D97-AF65-F5344CB8AC3E}">
        <p14:creationId xmlns:p14="http://schemas.microsoft.com/office/powerpoint/2010/main" val="12373229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Slide Image Placeholder 1"/>
          <p:cNvSpPr>
            <a:spLocks noGrp="1" noRot="1" noChangeAspect="1" noTextEdit="1"/>
          </p:cNvSpPr>
          <p:nvPr>
            <p:ph type="sldImg"/>
          </p:nvPr>
        </p:nvSpPr>
        <p:spPr bwMode="auto">
          <a:noFill/>
          <a:ln>
            <a:solidFill>
              <a:srgbClr val="000000"/>
            </a:solidFill>
            <a:miter lim="800000"/>
            <a:headEnd/>
            <a:tailEnd/>
          </a:ln>
        </p:spPr>
      </p:sp>
      <p:sp>
        <p:nvSpPr>
          <p:cNvPr id="126978" name="Notes Placeholder 2"/>
          <p:cNvSpPr>
            <a:spLocks noGrp="1"/>
          </p:cNvSpPr>
          <p:nvPr>
            <p:ph type="body" idx="1"/>
          </p:nvPr>
        </p:nvSpPr>
        <p:spPr bwMode="auto">
          <a:noFill/>
        </p:spPr>
        <p:txBody>
          <a:bodyPr/>
          <a:lstStyle/>
          <a:p>
            <a:pPr>
              <a:spcBef>
                <a:spcPct val="0"/>
              </a:spcBef>
            </a:pPr>
            <a:r>
              <a:rPr lang="en-US" dirty="0"/>
              <a:t>Giuliano da </a:t>
            </a:r>
            <a:r>
              <a:rPr lang="en-US" dirty="0" err="1"/>
              <a:t>Maiano</a:t>
            </a:r>
            <a:r>
              <a:rPr lang="en-US" dirty="0"/>
              <a:t> (?) STUDIOLO OF FEDERICO DA MONTEFELTRO</a:t>
            </a:r>
            <a:br>
              <a:rPr lang="en-US" dirty="0"/>
            </a:br>
            <a:r>
              <a:rPr lang="en-US" dirty="0"/>
              <a:t>Ducal palace, Urbino. 1476.</a:t>
            </a:r>
            <a:br>
              <a:rPr lang="en-US" dirty="0"/>
            </a:br>
            <a:r>
              <a:rPr lang="en-US" dirty="0"/>
              <a:t>Intarsia, height 7</a:t>
            </a:r>
            <a:r>
              <a:rPr lang="uk-UA" dirty="0"/>
              <a:t>'</a:t>
            </a:r>
            <a:r>
              <a:rPr lang="en-US" dirty="0"/>
              <a:t>3</a:t>
            </a:r>
            <a:r>
              <a:rPr lang="ru-RU" dirty="0"/>
              <a:t>"</a:t>
            </a:r>
            <a:r>
              <a:rPr lang="en-US" dirty="0"/>
              <a:t> (2.21 m).</a:t>
            </a:r>
            <a:br>
              <a:rPr lang="en-US" dirty="0"/>
            </a:br>
            <a:r>
              <a:rPr lang="en-US" dirty="0"/>
              <a:t>© 2016. Photo Scala, Florence – courtesy of the </a:t>
            </a:r>
            <a:r>
              <a:rPr lang="en-US" dirty="0" err="1"/>
              <a:t>Ministero</a:t>
            </a:r>
            <a:r>
              <a:rPr lang="en-US" dirty="0"/>
              <a:t> Beni e Att. </a:t>
            </a:r>
            <a:r>
              <a:rPr lang="en-US" dirty="0" err="1"/>
              <a:t>Culturali</a:t>
            </a:r>
            <a:r>
              <a:rPr lang="en-US" dirty="0"/>
              <a:t>.</a:t>
            </a:r>
          </a:p>
        </p:txBody>
      </p:sp>
      <p:sp>
        <p:nvSpPr>
          <p:cNvPr id="126979" name="Slide Number Placeholder 3"/>
          <p:cNvSpPr>
            <a:spLocks noGrp="1"/>
          </p:cNvSpPr>
          <p:nvPr>
            <p:ph type="sldNum" sz="quarter" idx="5"/>
          </p:nvPr>
        </p:nvSpPr>
        <p:spPr bwMode="auto">
          <a:noFill/>
          <a:ln>
            <a:miter lim="800000"/>
            <a:headEnd/>
            <a:tailEnd/>
          </a:ln>
        </p:spPr>
        <p:txBody>
          <a:bodyPr/>
          <a:lstStyle/>
          <a:p>
            <a:fld id="{4CE431E9-664F-2340-BF66-883C2FC8254B}" type="slidenum">
              <a:rPr lang="en-US"/>
              <a:pPr/>
              <a:t>77</a:t>
            </a:fld>
            <a:endParaRPr lang="en-US"/>
          </a:p>
        </p:txBody>
      </p:sp>
    </p:spTree>
    <p:extLst>
      <p:ext uri="{BB962C8B-B14F-4D97-AF65-F5344CB8AC3E}">
        <p14:creationId xmlns:p14="http://schemas.microsoft.com/office/powerpoint/2010/main" val="16019776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bwMode="auto">
          <a:noFill/>
          <a:ln>
            <a:solidFill>
              <a:srgbClr val="000000"/>
            </a:solidFill>
            <a:miter lim="800000"/>
            <a:headEnd/>
            <a:tailEnd/>
          </a:ln>
        </p:spPr>
      </p:sp>
      <p:sp>
        <p:nvSpPr>
          <p:cNvPr id="130050" name="Notes Placeholder 2"/>
          <p:cNvSpPr>
            <a:spLocks noGrp="1"/>
          </p:cNvSpPr>
          <p:nvPr>
            <p:ph type="body" idx="1"/>
          </p:nvPr>
        </p:nvSpPr>
        <p:spPr bwMode="auto">
          <a:noFill/>
        </p:spPr>
        <p:txBody>
          <a:bodyPr/>
          <a:lstStyle/>
          <a:p>
            <a:pPr>
              <a:spcBef>
                <a:spcPct val="0"/>
              </a:spcBef>
            </a:pPr>
            <a:r>
              <a:rPr lang="en-US" dirty="0"/>
              <a:t>Piero </a:t>
            </a:r>
            <a:r>
              <a:rPr lang="en-US" dirty="0" err="1"/>
              <a:t>della</a:t>
            </a:r>
            <a:r>
              <a:rPr lang="en-US" dirty="0"/>
              <a:t> Francesca BAPTISM OF CHRIST</a:t>
            </a:r>
            <a:br>
              <a:rPr lang="en-US" dirty="0"/>
            </a:br>
            <a:r>
              <a:rPr lang="en-US" dirty="0"/>
              <a:t>c. 1450. Tempera on wood panel, 66</a:t>
            </a:r>
            <a:r>
              <a:rPr lang="ru-RU" dirty="0"/>
              <a:t>"</a:t>
            </a:r>
            <a:r>
              <a:rPr lang="en-US" dirty="0"/>
              <a:t> × 45-3/4</a:t>
            </a:r>
            <a:r>
              <a:rPr lang="ru-RU" dirty="0"/>
              <a:t>"</a:t>
            </a:r>
            <a:r>
              <a:rPr lang="en-US" dirty="0"/>
              <a:t> (1.67 × 1.16 m).</a:t>
            </a:r>
            <a:br>
              <a:rPr lang="en-US" dirty="0"/>
            </a:br>
            <a:r>
              <a:rPr lang="en-US" dirty="0"/>
              <a:t>National Gallery, London. © 2016. Copyright The National Gallery, London/Scala, Florence.</a:t>
            </a:r>
          </a:p>
        </p:txBody>
      </p:sp>
      <p:sp>
        <p:nvSpPr>
          <p:cNvPr id="130051" name="Slide Number Placeholder 3"/>
          <p:cNvSpPr>
            <a:spLocks noGrp="1"/>
          </p:cNvSpPr>
          <p:nvPr>
            <p:ph type="sldNum" sz="quarter" idx="5"/>
          </p:nvPr>
        </p:nvSpPr>
        <p:spPr bwMode="auto">
          <a:noFill/>
          <a:ln>
            <a:miter lim="800000"/>
            <a:headEnd/>
            <a:tailEnd/>
          </a:ln>
        </p:spPr>
        <p:txBody>
          <a:bodyPr/>
          <a:lstStyle/>
          <a:p>
            <a:fld id="{A0EDAFB5-FF53-DB42-B57F-53444DD423E8}" type="slidenum">
              <a:rPr lang="en-US"/>
              <a:pPr/>
              <a:t>79</a:t>
            </a:fld>
            <a:endParaRPr lang="en-US"/>
          </a:p>
        </p:txBody>
      </p:sp>
    </p:spTree>
    <p:extLst>
      <p:ext uri="{BB962C8B-B14F-4D97-AF65-F5344CB8AC3E}">
        <p14:creationId xmlns:p14="http://schemas.microsoft.com/office/powerpoint/2010/main" val="14360827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Slide Image Placeholder 1"/>
          <p:cNvSpPr>
            <a:spLocks noGrp="1" noRot="1" noChangeAspect="1" noTextEdit="1"/>
          </p:cNvSpPr>
          <p:nvPr>
            <p:ph type="sldImg"/>
          </p:nvPr>
        </p:nvSpPr>
        <p:spPr bwMode="auto">
          <a:noFill/>
          <a:ln>
            <a:solidFill>
              <a:srgbClr val="000000"/>
            </a:solidFill>
            <a:miter lim="800000"/>
            <a:headEnd/>
            <a:tailEnd/>
          </a:ln>
        </p:spPr>
      </p:sp>
      <p:sp>
        <p:nvSpPr>
          <p:cNvPr id="133122" name="Notes Placeholder 2"/>
          <p:cNvSpPr>
            <a:spLocks noGrp="1"/>
          </p:cNvSpPr>
          <p:nvPr>
            <p:ph type="body" idx="1"/>
          </p:nvPr>
        </p:nvSpPr>
        <p:spPr bwMode="auto">
          <a:noFill/>
        </p:spPr>
        <p:txBody>
          <a:bodyPr/>
          <a:lstStyle/>
          <a:p>
            <a:pPr>
              <a:spcBef>
                <a:spcPct val="0"/>
              </a:spcBef>
            </a:pPr>
            <a:r>
              <a:rPr lang="en-US" dirty="0"/>
              <a:t>Piero </a:t>
            </a:r>
            <a:r>
              <a:rPr lang="en-US" dirty="0" err="1"/>
              <a:t>della</a:t>
            </a:r>
            <a:r>
              <a:rPr lang="en-US" dirty="0"/>
              <a:t> Francesca BATTISTA SFORZA AND FEDERICO DA MONTEFELTRO</a:t>
            </a:r>
            <a:br>
              <a:rPr lang="en-US" dirty="0"/>
            </a:br>
            <a:r>
              <a:rPr lang="en-US" dirty="0"/>
              <a:t>c. 1474. Oil on wood panel, each 18-1/2</a:t>
            </a:r>
            <a:r>
              <a:rPr lang="ru-RU" dirty="0"/>
              <a:t>"</a:t>
            </a:r>
            <a:r>
              <a:rPr lang="en-US" dirty="0"/>
              <a:t> × 13</a:t>
            </a:r>
            <a:r>
              <a:rPr lang="ru-RU" dirty="0"/>
              <a:t>"</a:t>
            </a:r>
            <a:r>
              <a:rPr lang="en-US" dirty="0"/>
              <a:t> (47 × 33 cm).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 </a:t>
            </a:r>
          </a:p>
        </p:txBody>
      </p:sp>
      <p:sp>
        <p:nvSpPr>
          <p:cNvPr id="133123" name="Slide Number Placeholder 3"/>
          <p:cNvSpPr>
            <a:spLocks noGrp="1"/>
          </p:cNvSpPr>
          <p:nvPr>
            <p:ph type="sldNum" sz="quarter" idx="5"/>
          </p:nvPr>
        </p:nvSpPr>
        <p:spPr bwMode="auto">
          <a:noFill/>
          <a:ln>
            <a:miter lim="800000"/>
            <a:headEnd/>
            <a:tailEnd/>
          </a:ln>
        </p:spPr>
        <p:txBody>
          <a:bodyPr/>
          <a:lstStyle/>
          <a:p>
            <a:fld id="{721FCE44-6645-2849-B8AA-F93B64F1012E}" type="slidenum">
              <a:rPr lang="en-US"/>
              <a:pPr/>
              <a:t>81</a:t>
            </a:fld>
            <a:endParaRPr lang="en-US"/>
          </a:p>
        </p:txBody>
      </p:sp>
    </p:spTree>
    <p:extLst>
      <p:ext uri="{BB962C8B-B14F-4D97-AF65-F5344CB8AC3E}">
        <p14:creationId xmlns:p14="http://schemas.microsoft.com/office/powerpoint/2010/main" val="6748269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p:cNvSpPr>
            <a:spLocks noGrp="1" noRot="1" noChangeAspect="1" noTextEdit="1"/>
          </p:cNvSpPr>
          <p:nvPr>
            <p:ph type="sldImg"/>
          </p:nvPr>
        </p:nvSpPr>
        <p:spPr bwMode="auto">
          <a:noFill/>
          <a:ln>
            <a:solidFill>
              <a:srgbClr val="000000"/>
            </a:solidFill>
            <a:miter lim="800000"/>
            <a:headEnd/>
            <a:tailEnd/>
          </a:ln>
        </p:spPr>
      </p:sp>
      <p:sp>
        <p:nvSpPr>
          <p:cNvPr id="138242" name="Notes Placeholder 2"/>
          <p:cNvSpPr>
            <a:spLocks noGrp="1"/>
          </p:cNvSpPr>
          <p:nvPr>
            <p:ph type="body" idx="1"/>
          </p:nvPr>
        </p:nvSpPr>
        <p:spPr bwMode="auto">
          <a:noFill/>
        </p:spPr>
        <p:txBody>
          <a:bodyPr/>
          <a:lstStyle/>
          <a:p>
            <a:pPr>
              <a:spcBef>
                <a:spcPct val="0"/>
              </a:spcBef>
            </a:pPr>
            <a:r>
              <a:rPr lang="en-US" dirty="0"/>
              <a:t>Andrea Mantegna TWO VIEWS OF THE CAMERA PICTA, DUCAL PALACE, MANTUA</a:t>
            </a:r>
            <a:br>
              <a:rPr lang="en-US" dirty="0"/>
            </a:br>
            <a:r>
              <a:rPr lang="en-US" dirty="0"/>
              <a:t>1465–1474. Fresco, diameter of false oculus 8</a:t>
            </a:r>
            <a:r>
              <a:rPr lang="uk-UA" dirty="0"/>
              <a:t>'</a:t>
            </a:r>
            <a:r>
              <a:rPr lang="en-US" dirty="0"/>
              <a:t>9</a:t>
            </a:r>
            <a:r>
              <a:rPr lang="ru-RU" dirty="0"/>
              <a:t>"</a:t>
            </a:r>
            <a:r>
              <a:rPr lang="en-US" dirty="0"/>
              <a:t> (2.7 m);</a:t>
            </a:r>
            <a:br>
              <a:rPr lang="en-US" dirty="0"/>
            </a:br>
            <a:r>
              <a:rPr lang="en-US" dirty="0"/>
              <a:t>room 26</a:t>
            </a:r>
            <a:r>
              <a:rPr lang="uk-UA" dirty="0"/>
              <a:t>'</a:t>
            </a:r>
            <a:r>
              <a:rPr lang="en-US" dirty="0"/>
              <a:t>6</a:t>
            </a:r>
            <a:r>
              <a:rPr lang="ru-RU" dirty="0"/>
              <a:t>"</a:t>
            </a:r>
            <a:r>
              <a:rPr lang="en-US" dirty="0"/>
              <a:t> square (8 m square).</a:t>
            </a:r>
            <a:br>
              <a:rPr lang="en-US" dirty="0"/>
            </a:br>
            <a:r>
              <a:rPr lang="en-US" dirty="0"/>
              <a:t> © 2016. Photo Scala, Florence - courtesy of the </a:t>
            </a:r>
            <a:r>
              <a:rPr lang="en-US" dirty="0" err="1"/>
              <a:t>Ministero</a:t>
            </a:r>
            <a:r>
              <a:rPr lang="en-US" dirty="0"/>
              <a:t> Beni e Att. </a:t>
            </a:r>
            <a:r>
              <a:rPr lang="en-US" dirty="0" err="1"/>
              <a:t>Culturali</a:t>
            </a:r>
            <a:r>
              <a:rPr lang="en-US" dirty="0"/>
              <a:t>; © Studio </a:t>
            </a:r>
            <a:r>
              <a:rPr lang="en-US" dirty="0" err="1"/>
              <a:t>Fotografico</a:t>
            </a:r>
            <a:r>
              <a:rPr lang="en-US" dirty="0"/>
              <a:t> </a:t>
            </a:r>
            <a:r>
              <a:rPr lang="en-US" dirty="0" err="1"/>
              <a:t>Quattrone</a:t>
            </a:r>
            <a:r>
              <a:rPr lang="en-US" dirty="0"/>
              <a:t>, Florence</a:t>
            </a:r>
          </a:p>
        </p:txBody>
      </p:sp>
      <p:sp>
        <p:nvSpPr>
          <p:cNvPr id="138243" name="Slide Number Placeholder 3"/>
          <p:cNvSpPr>
            <a:spLocks noGrp="1"/>
          </p:cNvSpPr>
          <p:nvPr>
            <p:ph type="sldNum" sz="quarter" idx="5"/>
          </p:nvPr>
        </p:nvSpPr>
        <p:spPr bwMode="auto">
          <a:noFill/>
          <a:ln>
            <a:miter lim="800000"/>
            <a:headEnd/>
            <a:tailEnd/>
          </a:ln>
        </p:spPr>
        <p:txBody>
          <a:bodyPr/>
          <a:lstStyle/>
          <a:p>
            <a:fld id="{6100117B-2033-5B41-B2F3-82B7BF698612}" type="slidenum">
              <a:rPr lang="en-US"/>
              <a:pPr/>
              <a:t>83</a:t>
            </a:fld>
            <a:endParaRPr lang="en-US"/>
          </a:p>
        </p:txBody>
      </p:sp>
    </p:spTree>
    <p:extLst>
      <p:ext uri="{BB962C8B-B14F-4D97-AF65-F5344CB8AC3E}">
        <p14:creationId xmlns:p14="http://schemas.microsoft.com/office/powerpoint/2010/main" val="316084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bwMode="auto">
          <a:noFill/>
          <a:ln>
            <a:solidFill>
              <a:srgbClr val="000000"/>
            </a:solidFill>
            <a:miter lim="800000"/>
            <a:headEnd/>
            <a:tailEnd/>
          </a:ln>
        </p:spPr>
      </p:sp>
      <p:sp>
        <p:nvSpPr>
          <p:cNvPr id="140290" name="Notes Placeholder 2"/>
          <p:cNvSpPr>
            <a:spLocks noGrp="1"/>
          </p:cNvSpPr>
          <p:nvPr>
            <p:ph type="body" idx="1"/>
          </p:nvPr>
        </p:nvSpPr>
        <p:spPr bwMode="auto">
          <a:noFill/>
        </p:spPr>
        <p:txBody>
          <a:bodyPr/>
          <a:lstStyle/>
          <a:p>
            <a:pPr>
              <a:spcBef>
                <a:spcPct val="0"/>
              </a:spcBef>
            </a:pPr>
            <a:r>
              <a:rPr lang="en-US" dirty="0"/>
              <a:t>Andrea Mantegna TWO VIEWS OF THE CAMERA PICTA, DUCAL PALACE, MANTUA</a:t>
            </a:r>
            <a:br>
              <a:rPr lang="en-US" dirty="0"/>
            </a:br>
            <a:r>
              <a:rPr lang="en-US" dirty="0"/>
              <a:t>1465–1474. Fresco, diameter of false oculus 8</a:t>
            </a:r>
            <a:r>
              <a:rPr lang="uk-UA" dirty="0"/>
              <a:t>'</a:t>
            </a:r>
            <a:r>
              <a:rPr lang="en-US" dirty="0"/>
              <a:t>9</a:t>
            </a:r>
            <a:r>
              <a:rPr lang="ru-RU" dirty="0"/>
              <a:t>"</a:t>
            </a:r>
            <a:r>
              <a:rPr lang="en-US" dirty="0"/>
              <a:t> (2.7 m);</a:t>
            </a:r>
            <a:br>
              <a:rPr lang="en-US" dirty="0"/>
            </a:br>
            <a:r>
              <a:rPr lang="en-US" dirty="0"/>
              <a:t>room 26</a:t>
            </a:r>
            <a:r>
              <a:rPr lang="uk-UA" dirty="0"/>
              <a:t>'</a:t>
            </a:r>
            <a:r>
              <a:rPr lang="en-US" dirty="0"/>
              <a:t>6</a:t>
            </a:r>
            <a:r>
              <a:rPr lang="ru-RU" dirty="0"/>
              <a:t>"</a:t>
            </a:r>
            <a:r>
              <a:rPr lang="en-US" dirty="0"/>
              <a:t> square (8 m square).</a:t>
            </a:r>
            <a:br>
              <a:rPr lang="en-US" dirty="0"/>
            </a:br>
            <a:r>
              <a:rPr lang="en-US" dirty="0"/>
              <a:t> © 2016. Photo Scala, Florence - courtesy of the </a:t>
            </a:r>
            <a:r>
              <a:rPr lang="en-US" dirty="0" err="1"/>
              <a:t>Ministero</a:t>
            </a:r>
            <a:r>
              <a:rPr lang="en-US" dirty="0"/>
              <a:t> Beni e Att. </a:t>
            </a:r>
            <a:r>
              <a:rPr lang="en-US" dirty="0" err="1"/>
              <a:t>Culturali</a:t>
            </a:r>
            <a:r>
              <a:rPr lang="en-US" dirty="0"/>
              <a:t>; © Studio </a:t>
            </a:r>
            <a:r>
              <a:rPr lang="en-US" dirty="0" err="1"/>
              <a:t>Fotografico</a:t>
            </a:r>
            <a:r>
              <a:rPr lang="en-US" dirty="0"/>
              <a:t> </a:t>
            </a:r>
            <a:r>
              <a:rPr lang="en-US" dirty="0" err="1"/>
              <a:t>Quattrone</a:t>
            </a:r>
            <a:r>
              <a:rPr lang="en-US" dirty="0"/>
              <a:t>, Florence </a:t>
            </a:r>
          </a:p>
        </p:txBody>
      </p:sp>
      <p:sp>
        <p:nvSpPr>
          <p:cNvPr id="140291" name="Slide Number Placeholder 3"/>
          <p:cNvSpPr>
            <a:spLocks noGrp="1"/>
          </p:cNvSpPr>
          <p:nvPr>
            <p:ph type="sldNum" sz="quarter" idx="5"/>
          </p:nvPr>
        </p:nvSpPr>
        <p:spPr bwMode="auto">
          <a:noFill/>
          <a:ln>
            <a:miter lim="800000"/>
            <a:headEnd/>
            <a:tailEnd/>
          </a:ln>
        </p:spPr>
        <p:txBody>
          <a:bodyPr/>
          <a:lstStyle/>
          <a:p>
            <a:fld id="{0FA3837B-E041-7142-8DB5-C0F804CC18C9}" type="slidenum">
              <a:rPr lang="en-US"/>
              <a:pPr/>
              <a:t>84</a:t>
            </a:fld>
            <a:endParaRPr lang="en-US"/>
          </a:p>
        </p:txBody>
      </p:sp>
    </p:spTree>
    <p:extLst>
      <p:ext uri="{BB962C8B-B14F-4D97-AF65-F5344CB8AC3E}">
        <p14:creationId xmlns:p14="http://schemas.microsoft.com/office/powerpoint/2010/main" val="8154978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Slide Image Placeholder 1"/>
          <p:cNvSpPr>
            <a:spLocks noGrp="1" noRot="1" noChangeAspect="1" noTextEdit="1"/>
          </p:cNvSpPr>
          <p:nvPr>
            <p:ph type="sldImg"/>
          </p:nvPr>
        </p:nvSpPr>
        <p:spPr bwMode="auto">
          <a:noFill/>
          <a:ln>
            <a:solidFill>
              <a:srgbClr val="000000"/>
            </a:solidFill>
            <a:miter lim="800000"/>
            <a:headEnd/>
            <a:tailEnd/>
          </a:ln>
        </p:spPr>
      </p:sp>
      <p:sp>
        <p:nvSpPr>
          <p:cNvPr id="143362" name="Notes Placeholder 2"/>
          <p:cNvSpPr>
            <a:spLocks noGrp="1"/>
          </p:cNvSpPr>
          <p:nvPr>
            <p:ph type="body" idx="1"/>
          </p:nvPr>
        </p:nvSpPr>
        <p:spPr bwMode="auto">
          <a:noFill/>
        </p:spPr>
        <p:txBody>
          <a:bodyPr/>
          <a:lstStyle/>
          <a:p>
            <a:pPr>
              <a:spcBef>
                <a:spcPct val="0"/>
              </a:spcBef>
            </a:pPr>
            <a:r>
              <a:rPr lang="en-US" dirty="0"/>
              <a:t>VIEW OF THE SISTINE CHAPEL SHOWING PAINTINGS COMMISSIONED FOR THE SIDE WALLS BY POPE SIXTUS IV</a:t>
            </a:r>
            <a:br>
              <a:rPr lang="en-US" dirty="0"/>
            </a:br>
            <a:r>
              <a:rPr lang="en-US" dirty="0"/>
              <a:t>Vatican, Rome. At lower right, Perugino</a:t>
            </a:r>
            <a:r>
              <a:rPr lang="uk-UA" dirty="0"/>
              <a:t>'</a:t>
            </a:r>
            <a:r>
              <a:rPr lang="en-US" dirty="0"/>
              <a:t>s </a:t>
            </a:r>
            <a:r>
              <a:rPr lang="en-US" i="1" dirty="0"/>
              <a:t>Christ Giving the Keys to St. Peter</a:t>
            </a:r>
            <a:r>
              <a:rPr lang="en-US" dirty="0"/>
              <a:t>,</a:t>
            </a:r>
            <a:br>
              <a:rPr lang="en-US" dirty="0"/>
            </a:br>
            <a:r>
              <a:rPr lang="en-US" dirty="0"/>
              <a:t>c. 1480–1482. 11</a:t>
            </a:r>
            <a:r>
              <a:rPr lang="uk-UA" dirty="0"/>
              <a:t>'</a:t>
            </a:r>
            <a:r>
              <a:rPr lang="en-US" dirty="0"/>
              <a:t>5-1/2</a:t>
            </a:r>
            <a:r>
              <a:rPr lang="ru-RU" dirty="0"/>
              <a:t>"</a:t>
            </a:r>
            <a:r>
              <a:rPr lang="en-US" dirty="0"/>
              <a:t> × 18</a:t>
            </a:r>
            <a:r>
              <a:rPr lang="uk-UA" dirty="0"/>
              <a:t>'</a:t>
            </a:r>
            <a:r>
              <a:rPr lang="en-US" dirty="0"/>
              <a:t>8-1/2</a:t>
            </a:r>
            <a:r>
              <a:rPr lang="ru-RU" dirty="0"/>
              <a:t>"</a:t>
            </a:r>
            <a:r>
              <a:rPr lang="en-US" dirty="0"/>
              <a:t> (3.48 × 5.70 m).</a:t>
            </a:r>
            <a:br>
              <a:rPr lang="en-US" dirty="0"/>
            </a:br>
            <a:r>
              <a:rPr lang="en-US" dirty="0"/>
              <a:t>Photo © </a:t>
            </a:r>
            <a:r>
              <a:rPr lang="en-US" dirty="0" err="1"/>
              <a:t>Musei</a:t>
            </a:r>
            <a:r>
              <a:rPr lang="en-US" dirty="0"/>
              <a:t> </a:t>
            </a:r>
            <a:r>
              <a:rPr lang="en-US" dirty="0" err="1"/>
              <a:t>Vaticani</a:t>
            </a:r>
            <a:r>
              <a:rPr lang="en-US" dirty="0"/>
              <a:t>/IKONA</a:t>
            </a:r>
          </a:p>
        </p:txBody>
      </p:sp>
      <p:sp>
        <p:nvSpPr>
          <p:cNvPr id="143363" name="Slide Number Placeholder 3"/>
          <p:cNvSpPr>
            <a:spLocks noGrp="1"/>
          </p:cNvSpPr>
          <p:nvPr>
            <p:ph type="sldNum" sz="quarter" idx="5"/>
          </p:nvPr>
        </p:nvSpPr>
        <p:spPr bwMode="auto">
          <a:noFill/>
          <a:ln>
            <a:miter lim="800000"/>
            <a:headEnd/>
            <a:tailEnd/>
          </a:ln>
        </p:spPr>
        <p:txBody>
          <a:bodyPr/>
          <a:lstStyle/>
          <a:p>
            <a:fld id="{355B5FC7-1379-BD49-97B9-F2AB21D4FA38}" type="slidenum">
              <a:rPr lang="en-US"/>
              <a:pPr/>
              <a:t>86</a:t>
            </a:fld>
            <a:endParaRPr lang="en-US"/>
          </a:p>
        </p:txBody>
      </p:sp>
    </p:spTree>
    <p:extLst>
      <p:ext uri="{BB962C8B-B14F-4D97-AF65-F5344CB8AC3E}">
        <p14:creationId xmlns:p14="http://schemas.microsoft.com/office/powerpoint/2010/main" val="8317129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Slide Image Placeholder 1"/>
          <p:cNvSpPr>
            <a:spLocks noGrp="1" noRot="1" noChangeAspect="1" noTextEdit="1"/>
          </p:cNvSpPr>
          <p:nvPr>
            <p:ph type="sldImg"/>
          </p:nvPr>
        </p:nvSpPr>
        <p:spPr bwMode="auto">
          <a:noFill/>
          <a:ln>
            <a:solidFill>
              <a:srgbClr val="000000"/>
            </a:solidFill>
            <a:miter lim="800000"/>
            <a:headEnd/>
            <a:tailEnd/>
          </a:ln>
        </p:spPr>
      </p:sp>
      <p:sp>
        <p:nvSpPr>
          <p:cNvPr id="147458" name="Notes Placeholder 2"/>
          <p:cNvSpPr>
            <a:spLocks noGrp="1"/>
          </p:cNvSpPr>
          <p:nvPr>
            <p:ph type="body" idx="1"/>
          </p:nvPr>
        </p:nvSpPr>
        <p:spPr bwMode="auto">
          <a:noFill/>
        </p:spPr>
        <p:txBody>
          <a:bodyPr/>
          <a:lstStyle/>
          <a:p>
            <a:pPr>
              <a:spcBef>
                <a:spcPct val="0"/>
              </a:spcBef>
            </a:pPr>
            <a:r>
              <a:rPr lang="en-US" dirty="0"/>
              <a:t>CA D</a:t>
            </a:r>
            <a:r>
              <a:rPr lang="uk-UA" dirty="0"/>
              <a:t>'</a:t>
            </a:r>
            <a:r>
              <a:rPr lang="en-US" dirty="0"/>
              <a:t>ORO (CONTARINI PALACE), VENICE</a:t>
            </a:r>
            <a:br>
              <a:rPr lang="en-US" dirty="0"/>
            </a:br>
            <a:r>
              <a:rPr lang="en-US" dirty="0"/>
              <a:t>1421–1437.</a:t>
            </a:r>
            <a:br>
              <a:rPr lang="en-US" dirty="0"/>
            </a:br>
            <a:r>
              <a:rPr lang="en-US" dirty="0"/>
              <a:t>© </a:t>
            </a:r>
            <a:r>
              <a:rPr lang="en-US" dirty="0" err="1"/>
              <a:t>Cameraphoto</a:t>
            </a:r>
            <a:r>
              <a:rPr lang="en-US" dirty="0"/>
              <a:t> </a:t>
            </a:r>
            <a:r>
              <a:rPr lang="en-US" dirty="0" err="1"/>
              <a:t>Arte</a:t>
            </a:r>
            <a:r>
              <a:rPr lang="en-US" dirty="0"/>
              <a:t>, Venice</a:t>
            </a:r>
          </a:p>
        </p:txBody>
      </p:sp>
      <p:sp>
        <p:nvSpPr>
          <p:cNvPr id="147459" name="Slide Number Placeholder 3"/>
          <p:cNvSpPr>
            <a:spLocks noGrp="1"/>
          </p:cNvSpPr>
          <p:nvPr>
            <p:ph type="sldNum" sz="quarter" idx="5"/>
          </p:nvPr>
        </p:nvSpPr>
        <p:spPr bwMode="auto">
          <a:noFill/>
          <a:ln>
            <a:miter lim="800000"/>
            <a:headEnd/>
            <a:tailEnd/>
          </a:ln>
        </p:spPr>
        <p:txBody>
          <a:bodyPr/>
          <a:lstStyle/>
          <a:p>
            <a:fld id="{D30920CA-78B6-FD4E-A4AB-785DDDCF4922}" type="slidenum">
              <a:rPr lang="en-US"/>
              <a:pPr/>
              <a:t>89</a:t>
            </a:fld>
            <a:endParaRPr lang="en-US"/>
          </a:p>
        </p:txBody>
      </p:sp>
    </p:spTree>
    <p:extLst>
      <p:ext uri="{BB962C8B-B14F-4D97-AF65-F5344CB8AC3E}">
        <p14:creationId xmlns:p14="http://schemas.microsoft.com/office/powerpoint/2010/main" val="6291478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0" name="Notes Placeholder 2"/>
          <p:cNvSpPr>
            <a:spLocks noGrp="1"/>
          </p:cNvSpPr>
          <p:nvPr>
            <p:ph type="body" idx="1"/>
          </p:nvPr>
        </p:nvSpPr>
        <p:spPr bwMode="auto">
          <a:noFill/>
        </p:spPr>
        <p:txBody>
          <a:bodyPr/>
          <a:lstStyle/>
          <a:p>
            <a:pPr>
              <a:spcBef>
                <a:spcPct val="0"/>
              </a:spcBef>
            </a:pPr>
            <a:r>
              <a:rPr lang="en-US" dirty="0"/>
              <a:t>Gentile Bellini PROCESSION OF THE RELIC OF THE TRUE CROSS BEFORE</a:t>
            </a:r>
            <a:br>
              <a:rPr lang="en-US" dirty="0"/>
            </a:br>
            <a:r>
              <a:rPr lang="en-US" dirty="0"/>
              <a:t>THE CHURCH OF ST. MARK</a:t>
            </a:r>
            <a:br>
              <a:rPr lang="en-US" dirty="0"/>
            </a:br>
            <a:r>
              <a:rPr lang="en-US" dirty="0"/>
              <a:t>1496. Oil on canvas, 12</a:t>
            </a:r>
            <a:r>
              <a:rPr lang="uk-UA" dirty="0"/>
              <a:t>'</a:t>
            </a:r>
            <a:r>
              <a:rPr lang="en-US" dirty="0"/>
              <a:t> × 24</a:t>
            </a:r>
            <a:r>
              <a:rPr lang="uk-UA" dirty="0"/>
              <a:t>'</a:t>
            </a:r>
            <a:r>
              <a:rPr lang="en-US" dirty="0"/>
              <a:t>5</a:t>
            </a:r>
            <a:r>
              <a:rPr lang="ru-RU" dirty="0"/>
              <a:t>"</a:t>
            </a:r>
            <a:r>
              <a:rPr lang="en-US" dirty="0"/>
              <a:t> (3.67 × 7.45 m).</a:t>
            </a:r>
            <a:br>
              <a:rPr lang="en-US" dirty="0"/>
            </a:br>
            <a:r>
              <a:rPr lang="en-US" dirty="0"/>
              <a:t>Galleria dell</a:t>
            </a:r>
            <a:r>
              <a:rPr lang="uk-UA" dirty="0"/>
              <a:t>'</a:t>
            </a:r>
            <a:r>
              <a:rPr lang="en-US" dirty="0"/>
              <a:t>Accademia, Venice. © </a:t>
            </a:r>
            <a:r>
              <a:rPr lang="en-US" dirty="0" err="1"/>
              <a:t>Cameraphoto</a:t>
            </a:r>
            <a:r>
              <a:rPr lang="en-US" dirty="0"/>
              <a:t> </a:t>
            </a:r>
            <a:r>
              <a:rPr lang="en-US" dirty="0" err="1"/>
              <a:t>Arte</a:t>
            </a:r>
            <a:r>
              <a:rPr lang="en-US" dirty="0"/>
              <a:t>, Venice.</a:t>
            </a:r>
          </a:p>
        </p:txBody>
      </p:sp>
      <p:sp>
        <p:nvSpPr>
          <p:cNvPr id="150531" name="Slide Number Placeholder 3"/>
          <p:cNvSpPr>
            <a:spLocks noGrp="1"/>
          </p:cNvSpPr>
          <p:nvPr>
            <p:ph type="sldNum" sz="quarter" idx="5"/>
          </p:nvPr>
        </p:nvSpPr>
        <p:spPr bwMode="auto">
          <a:noFill/>
          <a:ln>
            <a:miter lim="800000"/>
            <a:headEnd/>
            <a:tailEnd/>
          </a:ln>
        </p:spPr>
        <p:txBody>
          <a:bodyPr/>
          <a:lstStyle/>
          <a:p>
            <a:fld id="{CA5AA6A9-5365-C840-8A41-28AEDC112F96}" type="slidenum">
              <a:rPr lang="en-US"/>
              <a:pPr/>
              <a:t>91</a:t>
            </a:fld>
            <a:endParaRPr lang="en-US"/>
          </a:p>
        </p:txBody>
      </p:sp>
    </p:spTree>
    <p:extLst>
      <p:ext uri="{BB962C8B-B14F-4D97-AF65-F5344CB8AC3E}">
        <p14:creationId xmlns:p14="http://schemas.microsoft.com/office/powerpoint/2010/main" val="20250804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Slide Image Placeholder 1"/>
          <p:cNvSpPr>
            <a:spLocks noGrp="1" noRot="1" noChangeAspect="1" noTextEdit="1"/>
          </p:cNvSpPr>
          <p:nvPr>
            <p:ph type="sldImg"/>
          </p:nvPr>
        </p:nvSpPr>
        <p:spPr bwMode="auto">
          <a:noFill/>
          <a:ln>
            <a:solidFill>
              <a:srgbClr val="000000"/>
            </a:solidFill>
            <a:miter lim="800000"/>
            <a:headEnd/>
            <a:tailEnd/>
          </a:ln>
        </p:spPr>
      </p:sp>
      <p:sp>
        <p:nvSpPr>
          <p:cNvPr id="153602" name="Notes Placeholder 2"/>
          <p:cNvSpPr>
            <a:spLocks noGrp="1"/>
          </p:cNvSpPr>
          <p:nvPr>
            <p:ph type="body" idx="1"/>
          </p:nvPr>
        </p:nvSpPr>
        <p:spPr bwMode="auto">
          <a:noFill/>
        </p:spPr>
        <p:txBody>
          <a:bodyPr/>
          <a:lstStyle/>
          <a:p>
            <a:pPr eaLnBrk="1" hangingPunct="1">
              <a:spcBef>
                <a:spcPct val="0"/>
              </a:spcBef>
            </a:pPr>
            <a:r>
              <a:rPr lang="en-US" dirty="0"/>
              <a:t>Giovanni Bellini VIRGIN AND CHILD ENTHRONED WITH SS. FRANCIS, JOHN THE BAPTIST, JOB, DOMINIC, SEBASTIAN, AND LOUIS OF TOULOUSE</a:t>
            </a:r>
            <a:br>
              <a:rPr lang="en-US" dirty="0"/>
            </a:br>
            <a:r>
              <a:rPr lang="en-US" dirty="0"/>
              <a:t>Originally commissioned for the chapel of the Hospital of San </a:t>
            </a:r>
            <a:r>
              <a:rPr lang="en-US" dirty="0" err="1"/>
              <a:t>Giobbe</a:t>
            </a:r>
            <a:r>
              <a:rPr lang="en-US" dirty="0"/>
              <a:t>, Venice. c. 1478. Oil on wood panel, 15</a:t>
            </a:r>
            <a:r>
              <a:rPr lang="uk-UA" dirty="0"/>
              <a:t>'</a:t>
            </a:r>
            <a:r>
              <a:rPr lang="en-US" dirty="0"/>
              <a:t>4</a:t>
            </a:r>
            <a:r>
              <a:rPr lang="ru-RU" dirty="0"/>
              <a:t>"</a:t>
            </a:r>
            <a:r>
              <a:rPr lang="en-US" dirty="0"/>
              <a:t> × 8</a:t>
            </a:r>
            <a:r>
              <a:rPr lang="uk-UA" dirty="0"/>
              <a:t>'</a:t>
            </a:r>
            <a:r>
              <a:rPr lang="en-US" dirty="0"/>
              <a:t>4</a:t>
            </a:r>
            <a:r>
              <a:rPr lang="ru-RU" dirty="0"/>
              <a:t>"</a:t>
            </a:r>
            <a:r>
              <a:rPr lang="en-US" dirty="0"/>
              <a:t> (4.67 × 2.54 m). Galleria </a:t>
            </a:r>
            <a:r>
              <a:rPr lang="en-US" dirty="0" err="1"/>
              <a:t>dell’Accademia</a:t>
            </a:r>
            <a:r>
              <a:rPr lang="en-US" dirty="0"/>
              <a:t>, Venice. </a:t>
            </a:r>
            <a:br>
              <a:rPr lang="en-US" dirty="0"/>
            </a:br>
            <a:r>
              <a:rPr lang="en-US" dirty="0"/>
              <a:t>© </a:t>
            </a:r>
            <a:r>
              <a:rPr lang="en-US" dirty="0" err="1"/>
              <a:t>Cameraphoto</a:t>
            </a:r>
            <a:r>
              <a:rPr lang="en-US" dirty="0"/>
              <a:t> </a:t>
            </a:r>
            <a:r>
              <a:rPr lang="en-US" dirty="0" err="1"/>
              <a:t>Arte</a:t>
            </a:r>
            <a:r>
              <a:rPr lang="en-US" dirty="0"/>
              <a:t>, Venice.</a:t>
            </a:r>
          </a:p>
        </p:txBody>
      </p:sp>
      <p:sp>
        <p:nvSpPr>
          <p:cNvPr id="153603" name="Slide Number Placeholder 3"/>
          <p:cNvSpPr>
            <a:spLocks noGrp="1"/>
          </p:cNvSpPr>
          <p:nvPr>
            <p:ph type="sldNum" sz="quarter" idx="5"/>
          </p:nvPr>
        </p:nvSpPr>
        <p:spPr bwMode="auto">
          <a:noFill/>
          <a:ln>
            <a:miter lim="800000"/>
            <a:headEnd/>
            <a:tailEnd/>
          </a:ln>
        </p:spPr>
        <p:txBody>
          <a:bodyPr/>
          <a:lstStyle/>
          <a:p>
            <a:fld id="{CFD56777-6FF5-1C4F-BEF1-4812CF60403C}" type="slidenum">
              <a:rPr lang="en-US"/>
              <a:pPr/>
              <a:t>93</a:t>
            </a:fld>
            <a:endParaRPr lang="en-US"/>
          </a:p>
        </p:txBody>
      </p:sp>
    </p:spTree>
    <p:extLst>
      <p:ext uri="{BB962C8B-B14F-4D97-AF65-F5344CB8AC3E}">
        <p14:creationId xmlns:p14="http://schemas.microsoft.com/office/powerpoint/2010/main" val="582808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bwMode="auto">
          <a:noFill/>
          <a:ln>
            <a:solidFill>
              <a:srgbClr val="000000"/>
            </a:solidFill>
            <a:miter lim="800000"/>
            <a:headEnd/>
            <a:tailEnd/>
          </a:ln>
        </p:spPr>
      </p:sp>
      <p:sp>
        <p:nvSpPr>
          <p:cNvPr id="156674" name="Notes Placeholder 2"/>
          <p:cNvSpPr>
            <a:spLocks noGrp="1"/>
          </p:cNvSpPr>
          <p:nvPr>
            <p:ph type="body" idx="1"/>
          </p:nvPr>
        </p:nvSpPr>
        <p:spPr bwMode="auto">
          <a:noFill/>
        </p:spPr>
        <p:txBody>
          <a:bodyPr/>
          <a:lstStyle/>
          <a:p>
            <a:pPr>
              <a:spcBef>
                <a:spcPct val="0"/>
              </a:spcBef>
            </a:pPr>
            <a:r>
              <a:rPr lang="en-US" dirty="0"/>
              <a:t>Giovanni Bellini ST. FRANCIS IN ECSTASY</a:t>
            </a:r>
            <a:br>
              <a:rPr lang="en-US" dirty="0"/>
            </a:br>
            <a:r>
              <a:rPr lang="en-US" dirty="0"/>
              <a:t>c. 1470s. Oil and tempera on wood panel, 49-1/16 × 55-7/8</a:t>
            </a:r>
            <a:r>
              <a:rPr lang="ru-RU" dirty="0"/>
              <a:t>"</a:t>
            </a:r>
            <a:r>
              <a:rPr lang="en-US" dirty="0"/>
              <a:t> (124.6 × 142 cm).</a:t>
            </a:r>
            <a:br>
              <a:rPr lang="en-US" dirty="0"/>
            </a:br>
            <a:r>
              <a:rPr lang="en-US" dirty="0"/>
              <a:t>The Frick Collection, New </a:t>
            </a:r>
            <a:r>
              <a:rPr lang="en-US"/>
              <a:t>York.</a:t>
            </a:r>
            <a:endParaRPr lang="en-US" dirty="0"/>
          </a:p>
        </p:txBody>
      </p:sp>
      <p:sp>
        <p:nvSpPr>
          <p:cNvPr id="156675" name="Slide Number Placeholder 3"/>
          <p:cNvSpPr>
            <a:spLocks noGrp="1"/>
          </p:cNvSpPr>
          <p:nvPr>
            <p:ph type="sldNum" sz="quarter" idx="5"/>
          </p:nvPr>
        </p:nvSpPr>
        <p:spPr bwMode="auto">
          <a:noFill/>
          <a:ln>
            <a:miter lim="800000"/>
            <a:headEnd/>
            <a:tailEnd/>
          </a:ln>
        </p:spPr>
        <p:txBody>
          <a:bodyPr/>
          <a:lstStyle/>
          <a:p>
            <a:fld id="{1D3B1BFD-0432-094B-8E4B-AFB14858D02B}" type="slidenum">
              <a:rPr lang="en-US"/>
              <a:pPr/>
              <a:t>95</a:t>
            </a:fld>
            <a:endParaRPr lang="en-US"/>
          </a:p>
        </p:txBody>
      </p:sp>
    </p:spTree>
    <p:extLst>
      <p:ext uri="{BB962C8B-B14F-4D97-AF65-F5344CB8AC3E}">
        <p14:creationId xmlns:p14="http://schemas.microsoft.com/office/powerpoint/2010/main" val="27336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6/19/2020</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6/19/2020</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6/19/2020</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509994058"/>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6/19/2020</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6/19/2020</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21829-C7F1-D249-90AB-405029290415}"/>
              </a:ext>
            </a:extLst>
          </p:cNvPr>
          <p:cNvSpPr>
            <a:spLocks noGrp="1"/>
          </p:cNvSpPr>
          <p:nvPr>
            <p:ph type="ctrTitle"/>
          </p:nvPr>
        </p:nvSpPr>
        <p:spPr/>
        <p:txBody>
          <a:bodyPr/>
          <a:lstStyle/>
          <a:p>
            <a:r>
              <a:rPr lang="en-US" dirty="0"/>
              <a:t>Chapter 15</a:t>
            </a:r>
          </a:p>
        </p:txBody>
      </p:sp>
      <p:sp>
        <p:nvSpPr>
          <p:cNvPr id="3" name="Subtitle 2">
            <a:extLst>
              <a:ext uri="{FF2B5EF4-FFF2-40B4-BE49-F238E27FC236}">
                <a16:creationId xmlns:a16="http://schemas.microsoft.com/office/drawing/2014/main" id="{811B509A-5D74-9A42-9851-A4E10DE4A94B}"/>
              </a:ext>
            </a:extLst>
          </p:cNvPr>
          <p:cNvSpPr>
            <a:spLocks noGrp="1"/>
          </p:cNvSpPr>
          <p:nvPr>
            <p:ph type="subTitle" idx="1"/>
          </p:nvPr>
        </p:nvSpPr>
        <p:spPr/>
        <p:txBody>
          <a:bodyPr/>
          <a:lstStyle/>
          <a:p>
            <a:r>
              <a:rPr lang="en-US" dirty="0"/>
              <a:t>The Early Renaissance in Fifteenth-Century Italy</a:t>
            </a:r>
          </a:p>
        </p:txBody>
      </p:sp>
    </p:spTree>
    <p:extLst>
      <p:ext uri="{BB962C8B-B14F-4D97-AF65-F5344CB8AC3E}">
        <p14:creationId xmlns:p14="http://schemas.microsoft.com/office/powerpoint/2010/main" val="2708914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dirty="0"/>
              <a:t>Learning Objectives</a:t>
            </a:r>
          </a:p>
        </p:txBody>
      </p:sp>
      <p:sp>
        <p:nvSpPr>
          <p:cNvPr id="9218" name="Content Placeholder 2"/>
          <p:cNvSpPr>
            <a:spLocks noGrp="1"/>
          </p:cNvSpPr>
          <p:nvPr>
            <p:ph idx="1"/>
          </p:nvPr>
        </p:nvSpPr>
        <p:spPr/>
        <p:txBody>
          <a:bodyPr/>
          <a:lstStyle/>
          <a:p>
            <a:pPr marL="457200" lvl="0" indent="-457200" fontAlgn="base">
              <a:buFont typeface="+mj-lt"/>
              <a:buAutoNum type="arabicPeriod"/>
            </a:pPr>
            <a:r>
              <a:rPr lang="en-US" dirty="0"/>
              <a:t>Define the characteristics of Italian Renaissance style.</a:t>
            </a:r>
          </a:p>
          <a:p>
            <a:pPr marL="457200" lvl="0" indent="-457200" fontAlgn="base">
              <a:buFont typeface="+mj-lt"/>
              <a:buAutoNum type="arabicPeriod"/>
            </a:pPr>
            <a:r>
              <a:rPr lang="en-US" dirty="0"/>
              <a:t>Summarize the intellectual and social factors that inform Renaissance art.</a:t>
            </a:r>
          </a:p>
          <a:p>
            <a:pPr marL="457200" lvl="0" indent="-457200" fontAlgn="base">
              <a:buFont typeface="+mj-lt"/>
              <a:buAutoNum type="arabicPeriod"/>
            </a:pPr>
            <a:r>
              <a:rPr lang="en-US" dirty="0"/>
              <a:t>Discuss the spread of artistic ideas into and out of Florence.</a:t>
            </a:r>
          </a:p>
          <a:p>
            <a:pPr marL="457200" lvl="0" indent="-457200" fontAlgn="base">
              <a:buFont typeface="+mj-lt"/>
              <a:buAutoNum type="arabicPeriod"/>
            </a:pPr>
            <a:r>
              <a:rPr lang="en-US" dirty="0"/>
              <a:t>Describe the settings for which works of art were made in the Italian Renaissance.</a:t>
            </a:r>
          </a:p>
          <a:p>
            <a:pPr marL="457200" lvl="0" indent="-457200" fontAlgn="base">
              <a:buFont typeface="+mj-lt"/>
              <a:buAutoNum type="arabicPeriod"/>
            </a:pPr>
            <a:r>
              <a:rPr lang="en-US" dirty="0"/>
              <a:t>Recognize the most important artists and patrons of the fifteenth century.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3"/>
          <p:cNvSpPr>
            <a:spLocks noGrp="1"/>
          </p:cNvSpPr>
          <p:nvPr>
            <p:ph type="title"/>
          </p:nvPr>
        </p:nvSpPr>
        <p:spPr/>
        <p:txBody>
          <a:bodyPr>
            <a:normAutofit fontScale="90000"/>
          </a:bodyPr>
          <a:lstStyle/>
          <a:p>
            <a:r>
              <a:rPr lang="en-US" dirty="0"/>
              <a:t>Paolo Uccello NICCOLÒ DA TOLENTINO LEADING THE CHARGE</a:t>
            </a:r>
            <a:br>
              <a:rPr lang="en-US" dirty="0"/>
            </a:br>
            <a:r>
              <a:rPr lang="en-US" dirty="0"/>
              <a:t>Detail from </a:t>
            </a:r>
            <a:r>
              <a:rPr lang="en-US" i="1" dirty="0"/>
              <a:t>The Battle of San Romano </a:t>
            </a:r>
            <a:r>
              <a:rPr lang="en-US" dirty="0"/>
              <a:t>(FIG. 20-24), 1438–1440.</a:t>
            </a:r>
            <a:br>
              <a:rPr lang="en-US" dirty="0"/>
            </a:br>
            <a:r>
              <a:rPr lang="en-US" dirty="0"/>
              <a:t>Tempera on wood panel. National Gallery, London. © 2016. Copyright The National Gallery, London/Scala, Florence. </a:t>
            </a:r>
          </a:p>
        </p:txBody>
      </p:sp>
      <p:pic>
        <p:nvPicPr>
          <p:cNvPr id="2" name="Picture 1" descr="A king charges into battle on a horse, ahead of his mounted, armored knights. The ground is littered with dropped weapons, which lie either horizontally, or slightly angled from vertical, as if indicating parallel lines converging in the distanc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p:txBody>
          <a:bodyPr/>
          <a:lstStyle/>
          <a:p>
            <a:r>
              <a:rPr lang="en-US"/>
              <a:t>Humanism and the Italian Renaissance</a:t>
            </a:r>
            <a:br>
              <a:rPr lang="en-US"/>
            </a:br>
            <a:r>
              <a:rPr lang="en-US"/>
              <a:t>(1 of 2)</a:t>
            </a:r>
          </a:p>
        </p:txBody>
      </p:sp>
      <p:sp>
        <p:nvSpPr>
          <p:cNvPr id="14338" name="Content Placeholder 2"/>
          <p:cNvSpPr>
            <a:spLocks noGrp="1"/>
          </p:cNvSpPr>
          <p:nvPr>
            <p:ph idx="1"/>
          </p:nvPr>
        </p:nvSpPr>
        <p:spPr/>
        <p:txBody>
          <a:bodyPr/>
          <a:lstStyle/>
          <a:p>
            <a:r>
              <a:rPr lang="en-US"/>
              <a:t>Cities grew in wealth as people migrated from the countryside, and commerce became increasingly vital.</a:t>
            </a:r>
          </a:p>
          <a:p>
            <a:r>
              <a:rPr lang="en-US"/>
              <a:t>Italian humanists looked back to art and determined that achievements of the Classical world were followed by a perceived decline.</a:t>
            </a:r>
          </a:p>
          <a:p>
            <a:pPr lvl="1"/>
            <a:r>
              <a:rPr lang="en-US"/>
              <a:t>They sought to revive physical and literary records of the ancient world.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a:t>Humanism and the Italian Renaissance</a:t>
            </a:r>
            <a:br>
              <a:rPr lang="en-US"/>
            </a:br>
            <a:r>
              <a:rPr lang="en-US"/>
              <a:t>(2 of 2)</a:t>
            </a:r>
          </a:p>
        </p:txBody>
      </p:sp>
      <p:sp>
        <p:nvSpPr>
          <p:cNvPr id="15362" name="Content Placeholder 2"/>
          <p:cNvSpPr>
            <a:spLocks noGrp="1"/>
          </p:cNvSpPr>
          <p:nvPr>
            <p:ph idx="1"/>
          </p:nvPr>
        </p:nvSpPr>
        <p:spPr/>
        <p:txBody>
          <a:bodyPr/>
          <a:lstStyle/>
          <a:p>
            <a:r>
              <a:rPr lang="en-US"/>
              <a:t>Artists turned to antiquity for inspiration and emulated what they saw in ancient Roman sculpture and architecture.</a:t>
            </a:r>
          </a:p>
          <a:p>
            <a:r>
              <a:rPr lang="en-US"/>
              <a:t>Italian painters and sculptors increasingly rendered the illusion of physical reality in a more analytical way than that of northerners.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3"/>
          <p:cNvSpPr>
            <a:spLocks noGrp="1"/>
          </p:cNvSpPr>
          <p:nvPr>
            <p:ph type="title"/>
          </p:nvPr>
        </p:nvSpPr>
        <p:spPr>
          <a:xfrm>
            <a:off x="457200" y="5715000"/>
            <a:ext cx="8229600" cy="685800"/>
          </a:xfrm>
        </p:spPr>
        <p:txBody>
          <a:bodyPr>
            <a:normAutofit fontScale="90000"/>
          </a:bodyPr>
          <a:lstStyle/>
          <a:p>
            <a:r>
              <a:rPr lang="en-US" dirty="0"/>
              <a:t>FIFTEENTH-CENTURY ITALY</a:t>
            </a:r>
            <a:br>
              <a:rPr lang="en-US" dirty="0"/>
            </a:br>
            <a:r>
              <a:rPr lang="en-US" dirty="0"/>
              <a:t>Powerful families divided the Italian peninsula into city-states: the Medici in Florence, the Visconti and Sforza in Milan, the </a:t>
            </a:r>
            <a:r>
              <a:rPr lang="en-US" dirty="0" err="1"/>
              <a:t>Montefeltro</a:t>
            </a:r>
            <a:r>
              <a:rPr lang="en-US" dirty="0"/>
              <a:t> in Urbino, the Gonzaga in Mantua, and the Este in Ferrara. After 1420, the popes ruled Rome, while in the south Naples and Sicily were French and then Spanish (</a:t>
            </a:r>
            <a:r>
              <a:rPr lang="en-US" dirty="0" err="1"/>
              <a:t>Aragonese</a:t>
            </a:r>
            <a:r>
              <a:rPr lang="en-US" dirty="0"/>
              <a:t>) territories. Venice maintained its independence as a republic.</a:t>
            </a:r>
          </a:p>
        </p:txBody>
      </p:sp>
      <p:pic>
        <p:nvPicPr>
          <p:cNvPr id="2" name="Picture 1" descr="A map of fifteenth-century Italy and its surroundings. At this time, modern-day Italy and the territory around it were controlled by a number of different entities. The Duchy of Savy controlled territory in the western Alps, from Geneva to Monaco, including the city of Aosta. The duchy of Milan claimed Cremona and Parma. These duchies were adjacent to each other, as well as the Republic of Genoa to their south. East of the Duchy of Milan, the Republic of Venice occupied the remainder of Northern Italy, including Verona, Vicenza, Padua, Trieste, and territory along the northeastern coast of the Adriatic Sea. Moving south into the Italian Peninsula, there were small duchies surrounding the northeastern cities of Ferrara and Ravenna, though these were enclosed by the Adriatic Sea to the east and by the territory of the Papal states, which occupied territory north and east of Ferrara but south of the Republic of Venice, such as Bologna, Borgo San Sepolcro, and Assissi, extending southward into Umbria and the Papal States’ home territory, around Rome. The Republic of Florence claimed a crescent of territory containing Pisa, Vinci, Florence itself, and Arezzo, tucked between disputed territories to the north and south, the Tyrrhenian Sea to the west, and the Papal States to the east and farther south. Finally, the Kingdom of Naples occupied the remainder of the peninsula, from the southern boundary of the papal states to the toe and heel of the Italian boot, a territory including Naples and Reggio di Calabria on the west coast, and Bari, Brindisi, and Otranto along the east coast. Nearby, the island of Sicily also had major cities at Palermo, in the northwest, and Syracuse, in the southeast. The other large western Mediterranean islands bordering the Tyrrhenian sea, Corsica and Sardinia, each controlled their own territory.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lstStyle/>
          <a:p>
            <a:r>
              <a:rPr lang="en-US"/>
              <a:t>The Early Renaissance in Florence</a:t>
            </a:r>
          </a:p>
        </p:txBody>
      </p:sp>
      <p:sp>
        <p:nvSpPr>
          <p:cNvPr id="18434" name="Content Placeholder 2"/>
          <p:cNvSpPr>
            <a:spLocks noGrp="1"/>
          </p:cNvSpPr>
          <p:nvPr>
            <p:ph idx="1"/>
          </p:nvPr>
        </p:nvSpPr>
        <p:spPr/>
        <p:txBody>
          <a:bodyPr/>
          <a:lstStyle/>
          <a:p>
            <a:r>
              <a:rPr lang="en-US"/>
              <a:t>The fifteenth century witnessed the rise of the Medici family, who made their money through banking.</a:t>
            </a:r>
          </a:p>
          <a:p>
            <a:r>
              <a:rPr lang="en-US"/>
              <a:t>The competitive atmosphere fostered both mercantile and artistic success.</a:t>
            </a:r>
          </a:p>
          <a:p>
            <a:r>
              <a:rPr lang="en-US"/>
              <a:t>Florence was considered a republic.</a:t>
            </a:r>
          </a:p>
          <a:p>
            <a:pPr lvl="1"/>
            <a:r>
              <a:rPr lang="en-US"/>
              <a:t>Artists could look to the Church, state (government and guilds), and individuals for patronage.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a:t>The Competition Reliefs (1 of 2)</a:t>
            </a:r>
          </a:p>
        </p:txBody>
      </p:sp>
      <p:sp>
        <p:nvSpPr>
          <p:cNvPr id="19458" name="Content Placeholder 2"/>
          <p:cNvSpPr>
            <a:spLocks noGrp="1"/>
          </p:cNvSpPr>
          <p:nvPr>
            <p:ph idx="1"/>
          </p:nvPr>
        </p:nvSpPr>
        <p:spPr/>
        <p:txBody>
          <a:bodyPr/>
          <a:lstStyle/>
          <a:p>
            <a:r>
              <a:rPr lang="en-US"/>
              <a:t>Florence Cathedral sponsored a competition for the artist of the bronze doors and chose the scene of Abraham</a:t>
            </a:r>
            <a:r>
              <a:rPr lang="uk-UA"/>
              <a:t>'</a:t>
            </a:r>
            <a:r>
              <a:rPr lang="en-US"/>
              <a:t>s sacrifice of Isaac.</a:t>
            </a:r>
          </a:p>
          <a:p>
            <a:r>
              <a:rPr lang="en-US"/>
              <a:t>Surviving panels belong to assumed finalists Lorenzo Ghiberti and Brunelleschi.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p:txBody>
          <a:bodyPr/>
          <a:lstStyle/>
          <a:p>
            <a:r>
              <a:rPr lang="en-US"/>
              <a:t>The Competition Reliefs (2 of 2)</a:t>
            </a:r>
          </a:p>
        </p:txBody>
      </p:sp>
      <p:sp>
        <p:nvSpPr>
          <p:cNvPr id="20482" name="Content Placeholder 2"/>
          <p:cNvSpPr>
            <a:spLocks noGrp="1"/>
          </p:cNvSpPr>
          <p:nvPr>
            <p:ph idx="1"/>
          </p:nvPr>
        </p:nvSpPr>
        <p:spPr/>
        <p:txBody>
          <a:bodyPr/>
          <a:lstStyle/>
          <a:p>
            <a:r>
              <a:rPr lang="en-US"/>
              <a:t>Brunelleschi</a:t>
            </a:r>
            <a:r>
              <a:rPr lang="uk-UA"/>
              <a:t>'</a:t>
            </a:r>
            <a:r>
              <a:rPr lang="en-US"/>
              <a:t>s composition is rugged, explosive, and intense.</a:t>
            </a:r>
          </a:p>
          <a:p>
            <a:r>
              <a:rPr lang="en-US"/>
              <a:t>Ghiberti</a:t>
            </a:r>
            <a:r>
              <a:rPr lang="uk-UA"/>
              <a:t>'</a:t>
            </a:r>
            <a:r>
              <a:rPr lang="en-US"/>
              <a:t>s version is graceful with controlled poses and harmonious pairing of son and father.</a:t>
            </a:r>
          </a:p>
          <a:p>
            <a:pPr lvl="1"/>
            <a:r>
              <a:rPr lang="en-US"/>
              <a:t>His work proved to be lighter and less expensive when he was declared winner.</a:t>
            </a:r>
          </a:p>
          <a:p>
            <a:r>
              <a:rPr lang="en-US"/>
              <a:t>Brunelleschi withdrew his entry.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fontScale="90000"/>
          </a:bodyPr>
          <a:lstStyle/>
          <a:p>
            <a:r>
              <a:rPr lang="en-US" dirty="0"/>
              <a:t>Filippo Brunelleschi SACRIFICE OF ISAAC</a:t>
            </a:r>
            <a:br>
              <a:rPr lang="en-US" dirty="0"/>
            </a:br>
            <a:r>
              <a:rPr lang="en-US" dirty="0"/>
              <a:t>1401–1402. Bronze with gilding, 21 × 17-1/2</a:t>
            </a:r>
            <a:r>
              <a:rPr lang="ru-RU" dirty="0"/>
              <a:t>"</a:t>
            </a:r>
            <a:r>
              <a:rPr lang="en-US" dirty="0"/>
              <a:t> (53 × 44 cm) inside molding.</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p>
        </p:txBody>
      </p:sp>
      <p:pic>
        <p:nvPicPr>
          <p:cNvPr id="2" name="Picture 1" descr="Two gilded, bronze depictions of the near-sacrifice of Isaac by Abraham. The left panel seems more perilous, with an angel stopping Abraham’s knife inches from Isaac’s throat, versus an angel calling to Abraham on the left to stop his raised knife-ha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3"/>
          <p:cNvSpPr>
            <a:spLocks noGrp="1"/>
          </p:cNvSpPr>
          <p:nvPr>
            <p:ph type="title"/>
          </p:nvPr>
        </p:nvSpPr>
        <p:spPr/>
        <p:txBody>
          <a:bodyPr>
            <a:normAutofit fontScale="90000"/>
          </a:bodyPr>
          <a:lstStyle/>
          <a:p>
            <a:r>
              <a:rPr lang="en-US" dirty="0"/>
              <a:t>Lorenzo Ghiberti SACRIFICE OF ISAAC</a:t>
            </a:r>
            <a:br>
              <a:rPr lang="en-US" dirty="0"/>
            </a:br>
            <a:r>
              <a:rPr lang="en-US" dirty="0"/>
              <a:t>1401–1402. Bronze with gilding, 21 × 17-1/2</a:t>
            </a:r>
            <a:r>
              <a:rPr lang="ru-RU" dirty="0"/>
              <a:t>"</a:t>
            </a:r>
            <a:r>
              <a:rPr lang="en-US" dirty="0"/>
              <a:t> (53 × 44 cm) inside molding.</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br>
              <a:rPr lang="en-US" dirty="0"/>
            </a:br>
            <a:endParaRPr lang="en-US" dirty="0"/>
          </a:p>
        </p:txBody>
      </p:sp>
      <p:pic>
        <p:nvPicPr>
          <p:cNvPr id="2" name="Picture 1" descr="Two gilded, bronze depictions of the near-sacrifice of Isaac by Abraham. The left panel seems more perilous, with an angel stopping Abraham’s knife inches from Isaac’s throat, versus an angel calling to Abraham on the left to stop his raised knife-ha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a:t>Filippo Brunelleschi, Architect (1 of 6)</a:t>
            </a:r>
          </a:p>
        </p:txBody>
      </p:sp>
      <p:sp>
        <p:nvSpPr>
          <p:cNvPr id="25602" name="Content Placeholder 2"/>
          <p:cNvSpPr>
            <a:spLocks noGrp="1"/>
          </p:cNvSpPr>
          <p:nvPr>
            <p:ph idx="1"/>
          </p:nvPr>
        </p:nvSpPr>
        <p:spPr/>
        <p:txBody>
          <a:bodyPr/>
          <a:lstStyle/>
          <a:p>
            <a:r>
              <a:rPr lang="en-US"/>
              <a:t>The defining civic project in Florence was the cathedral.</a:t>
            </a:r>
          </a:p>
          <a:p>
            <a:pPr lvl="1"/>
            <a:r>
              <a:rPr lang="en-US"/>
              <a:t>Construction began in the late thirteenth century, but architects did not yet have technology to complete the designed dome.</a:t>
            </a:r>
          </a:p>
          <a:p>
            <a:r>
              <a:rPr lang="en-US"/>
              <a:t>Brunelleschi was a principal pioneer of Florentine architecture.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a:t>Filippo Brunelleschi, Architect (2 of 6)</a:t>
            </a:r>
          </a:p>
        </p:txBody>
      </p:sp>
      <p:sp>
        <p:nvSpPr>
          <p:cNvPr id="26626" name="Content Placeholder 2"/>
          <p:cNvSpPr>
            <a:spLocks noGrp="1"/>
          </p:cNvSpPr>
          <p:nvPr>
            <p:ph idx="1"/>
          </p:nvPr>
        </p:nvSpPr>
        <p:spPr/>
        <p:txBody>
          <a:bodyPr/>
          <a:lstStyle/>
          <a:p>
            <a:r>
              <a:rPr lang="en-US"/>
              <a:t>Florence Cathedral</a:t>
            </a:r>
          </a:p>
          <a:p>
            <a:pPr lvl="1"/>
            <a:r>
              <a:rPr lang="en-US"/>
              <a:t>The </a:t>
            </a:r>
            <a:r>
              <a:rPr lang="en-US" i="1"/>
              <a:t>Dome</a:t>
            </a:r>
            <a:r>
              <a:rPr lang="en-US"/>
              <a:t> of Florence Cathedral was a feat of engineering, with an octagonal outer shell and lower inner shell.</a:t>
            </a:r>
          </a:p>
          <a:p>
            <a:pPr lvl="2"/>
            <a:r>
              <a:rPr lang="en-US"/>
              <a:t>Each portion reinforced the next one as it was built layer by layer with no external support.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3"/>
          <p:cNvSpPr>
            <a:spLocks noGrp="1"/>
          </p:cNvSpPr>
          <p:nvPr>
            <p:ph type="title"/>
          </p:nvPr>
        </p:nvSpPr>
        <p:spPr/>
        <p:txBody>
          <a:bodyPr>
            <a:normAutofit fontScale="90000"/>
          </a:bodyPr>
          <a:lstStyle/>
          <a:p>
            <a:r>
              <a:rPr lang="en-US" dirty="0"/>
              <a:t>Filippo Brunelleschi DOME OF FLORENCE CATHEDRAL (SANTA MARIA DEL FIORE)</a:t>
            </a:r>
            <a:br>
              <a:rPr lang="en-US" dirty="0"/>
            </a:br>
            <a:r>
              <a:rPr lang="en-US" dirty="0"/>
              <a:t>1420–1436; lantern completed 1471.</a:t>
            </a:r>
            <a:br>
              <a:rPr lang="en-US" dirty="0"/>
            </a:br>
            <a:r>
              <a:rPr lang="en-US" dirty="0"/>
              <a:t>© Javier Martin/123RF. </a:t>
            </a:r>
          </a:p>
        </p:txBody>
      </p:sp>
      <p:pic>
        <p:nvPicPr>
          <p:cNvPr id="2" name="Picture 1" descr="The burnt-orange dome of Florence Cathedral dwarfs the structure leading up to it, rising more than twice as high as its hall-shaped nav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3"/>
          <p:cNvSpPr>
            <a:spLocks noGrp="1"/>
          </p:cNvSpPr>
          <p:nvPr>
            <p:ph type="title"/>
          </p:nvPr>
        </p:nvSpPr>
        <p:spPr/>
        <p:txBody>
          <a:bodyPr>
            <a:normAutofit fontScale="90000"/>
          </a:bodyPr>
          <a:lstStyle/>
          <a:p>
            <a:r>
              <a:rPr lang="en-US" dirty="0"/>
              <a:t>SCHEMATIC DRAWING OF FLORENCE CATHEDRAL</a:t>
            </a:r>
            <a:br>
              <a:rPr lang="en-US" dirty="0"/>
            </a:br>
            <a:r>
              <a:rPr lang="en-US" dirty="0"/>
              <a:t>The separate, central-plan building in front of the façade is the baptistery. Adjacent to the façade is a tall tower designed by Giotto in 1334.</a:t>
            </a:r>
            <a:br>
              <a:rPr lang="en-US" dirty="0"/>
            </a:br>
            <a:r>
              <a:rPr lang="en-US" dirty="0"/>
              <a:t>© Dorling Kindersley. </a:t>
            </a:r>
          </a:p>
        </p:txBody>
      </p:sp>
      <p:pic>
        <p:nvPicPr>
          <p:cNvPr id="2" name="Picture 1" descr="A rectangular tower stands to the right of the façade, rising higher than the façade, but not as high as the dome behind it. A separate, octagonal rotunda stands a short distance from the façade, along the same axis as the cathedral’s central portal dom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r>
              <a:rPr lang="en-US"/>
              <a:t>Filippo Brunelleschi, Architect (3 of 6)</a:t>
            </a:r>
          </a:p>
        </p:txBody>
      </p:sp>
      <p:sp>
        <p:nvSpPr>
          <p:cNvPr id="31746" name="Content Placeholder 2"/>
          <p:cNvSpPr>
            <a:spLocks noGrp="1"/>
          </p:cNvSpPr>
          <p:nvPr>
            <p:ph idx="1"/>
          </p:nvPr>
        </p:nvSpPr>
        <p:spPr/>
        <p:txBody>
          <a:bodyPr/>
          <a:lstStyle/>
          <a:p>
            <a:r>
              <a:rPr lang="en-US"/>
              <a:t>The Foundling Hospital</a:t>
            </a:r>
          </a:p>
          <a:p>
            <a:pPr lvl="1"/>
            <a:r>
              <a:rPr lang="en-US"/>
              <a:t>The Ospedale degli Innocenti was unprecedented in scale and design.</a:t>
            </a:r>
          </a:p>
          <a:p>
            <a:pPr lvl="1"/>
            <a:r>
              <a:rPr lang="en-US"/>
              <a:t>Brunelleschi paid homage to traditional forms and introduced features key to the Italian Renaissance style.</a:t>
            </a:r>
          </a:p>
          <a:p>
            <a:pPr lvl="1"/>
            <a:r>
              <a:rPr lang="en-US"/>
              <a:t>A later addition in 1487 included spandrels with terra-cotta medallions.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3"/>
          <p:cNvSpPr>
            <a:spLocks noGrp="1"/>
          </p:cNvSpPr>
          <p:nvPr>
            <p:ph type="title"/>
          </p:nvPr>
        </p:nvSpPr>
        <p:spPr/>
        <p:txBody>
          <a:bodyPr>
            <a:normAutofit fontScale="90000"/>
          </a:bodyPr>
          <a:lstStyle/>
          <a:p>
            <a:r>
              <a:rPr lang="en-US" dirty="0"/>
              <a:t>Filippo Brunelleschi OSPEDALE DEGLI INNOCENTI (FOUNDLING HOSPITAL), FLORENCE</a:t>
            </a:r>
            <a:br>
              <a:rPr lang="en-US" dirty="0"/>
            </a:br>
            <a:r>
              <a:rPr lang="en-US" dirty="0"/>
              <a:t>Designed 1419; begun under Brunelleschi</a:t>
            </a:r>
            <a:r>
              <a:rPr lang="uk-UA" dirty="0"/>
              <a:t>'</a:t>
            </a:r>
            <a:r>
              <a:rPr lang="en-US" dirty="0"/>
              <a:t>s direct supervision 1421–1427; construction continued into the 1440s.</a:t>
            </a:r>
            <a:br>
              <a:rPr lang="en-US" dirty="0"/>
            </a:br>
            <a:r>
              <a:rPr lang="en-US" dirty="0"/>
              <a:t>Deposit Photos/Glow Images. </a:t>
            </a:r>
          </a:p>
        </p:txBody>
      </p:sp>
      <p:pic>
        <p:nvPicPr>
          <p:cNvPr id="2" name="Picture 1" descr="Terra cotta medallions are set above each column along the front arcade of the Foundling Hospital."/>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
          <p:cNvSpPr>
            <a:spLocks noGrp="1"/>
          </p:cNvSpPr>
          <p:nvPr>
            <p:ph type="title"/>
          </p:nvPr>
        </p:nvSpPr>
        <p:spPr/>
        <p:txBody>
          <a:bodyPr>
            <a:normAutofit fontScale="90000"/>
          </a:bodyPr>
          <a:lstStyle/>
          <a:p>
            <a:r>
              <a:rPr lang="en-US" dirty="0"/>
              <a:t>Andrea </a:t>
            </a:r>
            <a:r>
              <a:rPr lang="en-US" dirty="0" err="1"/>
              <a:t>della</a:t>
            </a:r>
            <a:r>
              <a:rPr lang="en-US" dirty="0"/>
              <a:t> </a:t>
            </a:r>
            <a:r>
              <a:rPr lang="en-US" dirty="0" err="1"/>
              <a:t>Robbia</a:t>
            </a:r>
            <a:r>
              <a:rPr lang="en-US" dirty="0"/>
              <a:t> INFANT IN SWADDLING CLOTHES (ONE OF THE HOLY INNOCENTS MASSACRED BY HEROD)</a:t>
            </a:r>
            <a:br>
              <a:rPr lang="en-US" dirty="0"/>
            </a:br>
            <a:r>
              <a:rPr lang="en-US" dirty="0" err="1"/>
              <a:t>Ospedale</a:t>
            </a:r>
            <a:r>
              <a:rPr lang="en-US" dirty="0"/>
              <a:t> </a:t>
            </a:r>
            <a:r>
              <a:rPr lang="en-US" dirty="0" err="1"/>
              <a:t>degli</a:t>
            </a:r>
            <a:r>
              <a:rPr lang="en-US" dirty="0"/>
              <a:t> </a:t>
            </a:r>
            <a:r>
              <a:rPr lang="en-US" dirty="0" err="1"/>
              <a:t>Innocenti</a:t>
            </a:r>
            <a:r>
              <a:rPr lang="en-US" dirty="0"/>
              <a:t> (Foundling Hospital), Florence. 1487.</a:t>
            </a:r>
            <a:br>
              <a:rPr lang="en-US" dirty="0"/>
            </a:br>
            <a:r>
              <a:rPr lang="en-US" dirty="0"/>
              <a:t>Glazed terra cotta.</a:t>
            </a:r>
            <a:br>
              <a:rPr lang="en-US" dirty="0"/>
            </a:br>
            <a:r>
              <a:rPr lang="en-US" dirty="0"/>
              <a:t>pio3/</a:t>
            </a:r>
            <a:r>
              <a:rPr lang="en-US" dirty="0" err="1"/>
              <a:t>Fotolia</a:t>
            </a:r>
            <a:r>
              <a:rPr lang="en-US" dirty="0"/>
              <a:t>. </a:t>
            </a:r>
          </a:p>
        </p:txBody>
      </p:sp>
      <p:pic>
        <p:nvPicPr>
          <p:cNvPr id="2" name="Picture 1" descr="A ring of gray sandstone frames a blue terra cotta medallion, surrounding a baby in blue and white swaddl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r>
              <a:rPr lang="en-US"/>
              <a:t>Filippo Brunelleschi, Architect (4 of 6)</a:t>
            </a:r>
          </a:p>
        </p:txBody>
      </p:sp>
      <p:sp>
        <p:nvSpPr>
          <p:cNvPr id="36866" name="Content Placeholder 2"/>
          <p:cNvSpPr>
            <a:spLocks noGrp="1"/>
          </p:cNvSpPr>
          <p:nvPr>
            <p:ph idx="1"/>
          </p:nvPr>
        </p:nvSpPr>
        <p:spPr/>
        <p:txBody>
          <a:bodyPr/>
          <a:lstStyle/>
          <a:p>
            <a:r>
              <a:rPr lang="en-US"/>
              <a:t>San Lorenzo</a:t>
            </a:r>
          </a:p>
          <a:p>
            <a:pPr lvl="1"/>
            <a:r>
              <a:rPr lang="en-US"/>
              <a:t>Brunelleschi also reconstructed the Church of San Lorenzo.</a:t>
            </a:r>
          </a:p>
          <a:p>
            <a:pPr lvl="1"/>
            <a:r>
              <a:rPr lang="en-US"/>
              <a:t>Clear, rational interior spaces are in harmony with one another.</a:t>
            </a:r>
          </a:p>
          <a:p>
            <a:pPr lvl="1"/>
            <a:r>
              <a:rPr lang="en-US"/>
              <a:t>The austere Roman-style basilica with a long nave has arches that spring from an impost block.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3"/>
          <p:cNvSpPr>
            <a:spLocks noGrp="1"/>
          </p:cNvSpPr>
          <p:nvPr>
            <p:ph type="title"/>
          </p:nvPr>
        </p:nvSpPr>
        <p:spPr/>
        <p:txBody>
          <a:bodyPr>
            <a:normAutofit fontScale="90000"/>
          </a:bodyPr>
          <a:lstStyle/>
          <a:p>
            <a:r>
              <a:rPr lang="en-US" dirty="0"/>
              <a:t>Filippo Brunelleschi (continued by </a:t>
            </a:r>
            <a:r>
              <a:rPr lang="en-US" dirty="0" err="1"/>
              <a:t>Michelozzo</a:t>
            </a:r>
            <a:r>
              <a:rPr lang="en-US" dirty="0"/>
              <a:t> di Bartolomeo) INTERIOR OF CHURCH OF SAN LORENZO, FLORENCE</a:t>
            </a:r>
            <a:br>
              <a:rPr lang="en-US" dirty="0"/>
            </a:br>
            <a:r>
              <a:rPr lang="en-US" dirty="0"/>
              <a:t>c. 1421–1428; nave (designed 1434?) 1442–1470.</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The plan of the Church of San Lorenzo is similar to many other basilican designs, but most of its interior surfaces are left a pristine white, with decoration standing out in the sculpture on the columnar capitals and the coffered ceili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3"/>
          <p:cNvSpPr>
            <a:spLocks noGrp="1"/>
          </p:cNvSpPr>
          <p:nvPr>
            <p:ph type="title"/>
          </p:nvPr>
        </p:nvSpPr>
        <p:spPr/>
        <p:txBody>
          <a:bodyPr>
            <a:normAutofit fontScale="90000"/>
          </a:bodyPr>
          <a:lstStyle/>
          <a:p>
            <a:r>
              <a:rPr lang="en-US" dirty="0"/>
              <a:t>Filippo Brunelleschi (continued by </a:t>
            </a:r>
            <a:r>
              <a:rPr lang="en-US" dirty="0" err="1"/>
              <a:t>Michelozzo</a:t>
            </a:r>
            <a:r>
              <a:rPr lang="en-US" dirty="0"/>
              <a:t> di Bartolomeo) PLAN OF CHURCH OF SAN LORENZO, FLORENCE</a:t>
            </a:r>
            <a:br>
              <a:rPr lang="en-US" dirty="0"/>
            </a:br>
            <a:r>
              <a:rPr lang="en-US" dirty="0"/>
              <a:t>c. 1421–1428; nave (designed 1434?) 1442–1470. </a:t>
            </a:r>
          </a:p>
        </p:txBody>
      </p:sp>
      <p:pic>
        <p:nvPicPr>
          <p:cNvPr id="2" name="Picture 1" descr="The plan indicates three domes: at the center of the transept, above the Old Sacristy, to the left of the sanctuary, and above the sixteenth-century New Sacristy, to the right. A side wing, perpendicular to the nave, houses the Laurentian Library.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r>
              <a:rPr lang="en-US"/>
              <a:t>Filippo Brunelleschi, Architect (5 of 6)</a:t>
            </a:r>
          </a:p>
        </p:txBody>
      </p:sp>
      <p:sp>
        <p:nvSpPr>
          <p:cNvPr id="41986" name="Content Placeholder 2"/>
          <p:cNvSpPr>
            <a:spLocks noGrp="1"/>
          </p:cNvSpPr>
          <p:nvPr>
            <p:ph idx="1"/>
          </p:nvPr>
        </p:nvSpPr>
        <p:spPr/>
        <p:txBody>
          <a:bodyPr/>
          <a:lstStyle/>
          <a:p>
            <a:r>
              <a:rPr lang="en-US"/>
              <a:t>The Medici Palace</a:t>
            </a:r>
          </a:p>
          <a:p>
            <a:pPr lvl="1"/>
            <a:r>
              <a:rPr lang="en-US"/>
              <a:t>Brunelleschi had a role in the </a:t>
            </a:r>
            <a:r>
              <a:rPr lang="en-US" i="1"/>
              <a:t>Palazzo</a:t>
            </a:r>
            <a:r>
              <a:rPr lang="en-US"/>
              <a:t> Medici-Riccardi, although it was said that his model was rejected as too grand.</a:t>
            </a:r>
          </a:p>
          <a:p>
            <a:pPr lvl="1"/>
            <a:r>
              <a:rPr lang="en-US"/>
              <a:t>It is attributed to Michelozzo di Bartolomeo.</a:t>
            </a:r>
          </a:p>
          <a:p>
            <a:pPr lvl="1"/>
            <a:r>
              <a:rPr lang="en-US" b="1"/>
              <a:t>Rusticated</a:t>
            </a:r>
            <a:r>
              <a:rPr lang="en-US"/>
              <a:t> stone blocks set the lower story apart from the upper levels.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3"/>
          <p:cNvSpPr>
            <a:spLocks noGrp="1"/>
          </p:cNvSpPr>
          <p:nvPr>
            <p:ph type="title"/>
          </p:nvPr>
        </p:nvSpPr>
        <p:spPr/>
        <p:txBody>
          <a:bodyPr>
            <a:normAutofit fontScale="90000"/>
          </a:bodyPr>
          <a:lstStyle/>
          <a:p>
            <a:r>
              <a:rPr lang="en-US" dirty="0"/>
              <a:t>Attributed to </a:t>
            </a:r>
            <a:r>
              <a:rPr lang="en-US" dirty="0" err="1"/>
              <a:t>Michelozzo</a:t>
            </a:r>
            <a:r>
              <a:rPr lang="en-US" dirty="0"/>
              <a:t> di Bartolomeo FAÇADE, PALAZZO MEDICI-RICCARDI, FLORENCE</a:t>
            </a:r>
            <a:br>
              <a:rPr lang="en-US" dirty="0"/>
            </a:br>
            <a:r>
              <a:rPr lang="en-US" dirty="0"/>
              <a:t>Begun 1446 (the view shown here includes a two-bay extension constructed during the 18th century). © Achim Bednorz, Cologne. </a:t>
            </a:r>
          </a:p>
        </p:txBody>
      </p:sp>
      <p:pic>
        <p:nvPicPr>
          <p:cNvPr id="2" name="Picture 1" descr="A large, rectangular building with three stories. Each story’s exterior is different, with rusticated stone on the ground floor, cut bricks on the second floor, and smooth, sandstone-like surfaces on the third floo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r>
              <a:rPr lang="en-US"/>
              <a:t>Filippo Brunelleschi, Architect (6 of 6)</a:t>
            </a:r>
          </a:p>
        </p:txBody>
      </p:sp>
      <p:sp>
        <p:nvSpPr>
          <p:cNvPr id="45058" name="Content Placeholder 2"/>
          <p:cNvSpPr>
            <a:spLocks noGrp="1"/>
          </p:cNvSpPr>
          <p:nvPr>
            <p:ph idx="1"/>
          </p:nvPr>
        </p:nvSpPr>
        <p:spPr/>
        <p:txBody>
          <a:bodyPr/>
          <a:lstStyle/>
          <a:p>
            <a:r>
              <a:rPr lang="en-US"/>
              <a:t>The Medici Palace</a:t>
            </a:r>
          </a:p>
          <a:p>
            <a:pPr lvl="1"/>
            <a:r>
              <a:rPr lang="en-US"/>
              <a:t>Inside the </a:t>
            </a:r>
            <a:r>
              <a:rPr lang="en-US" i="1"/>
              <a:t>Palazzo</a:t>
            </a:r>
            <a:r>
              <a:rPr lang="en-US"/>
              <a:t>, the Medici palace courtyard is square, with rooms arranged symmetrically.</a:t>
            </a:r>
          </a:p>
          <a:p>
            <a:pPr lvl="1"/>
            <a:r>
              <a:rPr lang="en-US"/>
              <a:t>The frieze is decorated with swags in </a:t>
            </a:r>
            <a:r>
              <a:rPr lang="en-US" b="1"/>
              <a:t>sgraffito</a:t>
            </a:r>
            <a:r>
              <a:rPr lang="en-US"/>
              <a:t>, which is produced by scratching through a layer of dark plaster or glaze.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3"/>
          <p:cNvSpPr>
            <a:spLocks noGrp="1"/>
          </p:cNvSpPr>
          <p:nvPr>
            <p:ph type="title"/>
          </p:nvPr>
        </p:nvSpPr>
        <p:spPr/>
        <p:txBody>
          <a:bodyPr>
            <a:normAutofit fontScale="90000"/>
          </a:bodyPr>
          <a:lstStyle/>
          <a:p>
            <a:r>
              <a:rPr lang="en-US" dirty="0"/>
              <a:t>COURTYARD WITH SGRAFFITO DECORATION, PALAZZO MEDICI-RICCARDI, FLORENCE</a:t>
            </a:r>
            <a:br>
              <a:rPr lang="en-US" dirty="0"/>
            </a:br>
            <a:r>
              <a:rPr lang="en-US" dirty="0"/>
              <a:t>Begun 1446. </a:t>
            </a:r>
          </a:p>
        </p:txBody>
      </p:sp>
      <p:pic>
        <p:nvPicPr>
          <p:cNvPr id="2" name="Picture 1" descr="The darker layer of plaster on the frieze matches the color of the gray bricks used to build the second story around the courtyard, while the color of the lighter under-layer matches that of the mortar between the brick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r>
              <a:rPr lang="en-US"/>
              <a:t>Sculpture (1 of 6)</a:t>
            </a:r>
          </a:p>
        </p:txBody>
      </p:sp>
      <p:sp>
        <p:nvSpPr>
          <p:cNvPr id="48130" name="Content Placeholder 2"/>
          <p:cNvSpPr>
            <a:spLocks noGrp="1"/>
          </p:cNvSpPr>
          <p:nvPr>
            <p:ph idx="1"/>
          </p:nvPr>
        </p:nvSpPr>
        <p:spPr/>
        <p:txBody>
          <a:bodyPr/>
          <a:lstStyle/>
          <a:p>
            <a:r>
              <a:rPr lang="en-US"/>
              <a:t>Until 1428, Florence</a:t>
            </a:r>
            <a:r>
              <a:rPr lang="uk-UA"/>
              <a:t>'</a:t>
            </a:r>
            <a:r>
              <a:rPr lang="en-US"/>
              <a:t>s independence were challenged by the anti-republican powers, the duchy of Milan and the kingdom of Naples.</a:t>
            </a:r>
          </a:p>
          <a:p>
            <a:r>
              <a:rPr lang="en-US"/>
              <a:t>Florentines turned to commissions that expressed self-esteem and their city</a:t>
            </a:r>
            <a:r>
              <a:rPr lang="uk-UA"/>
              <a:t>'</a:t>
            </a:r>
            <a:r>
              <a:rPr lang="en-US"/>
              <a:t>s magnificence.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lstStyle/>
          <a:p>
            <a:r>
              <a:rPr lang="en-US"/>
              <a:t>Sculpture (2 of 6)</a:t>
            </a:r>
          </a:p>
        </p:txBody>
      </p:sp>
      <p:sp>
        <p:nvSpPr>
          <p:cNvPr id="49154" name="Content Placeholder 2"/>
          <p:cNvSpPr>
            <a:spLocks noGrp="1"/>
          </p:cNvSpPr>
          <p:nvPr>
            <p:ph idx="1"/>
          </p:nvPr>
        </p:nvSpPr>
        <p:spPr/>
        <p:txBody>
          <a:bodyPr/>
          <a:lstStyle/>
          <a:p>
            <a:r>
              <a:rPr lang="en-US"/>
              <a:t>Orsanmichele</a:t>
            </a:r>
          </a:p>
          <a:p>
            <a:pPr lvl="1"/>
            <a:r>
              <a:rPr lang="en-US"/>
              <a:t>A loggia that served as a grain market was erected with sculpted images of patron saints.</a:t>
            </a:r>
          </a:p>
          <a:p>
            <a:pPr lvl="1"/>
            <a:r>
              <a:rPr lang="en-US"/>
              <a:t>Nanni di Banco produced </a:t>
            </a:r>
            <a:r>
              <a:rPr lang="en-US" i="1"/>
              <a:t>The Four Crowned Martyrs </a:t>
            </a:r>
            <a:r>
              <a:rPr lang="en-US"/>
              <a:t>with reference to Roman sculpture.</a:t>
            </a:r>
          </a:p>
          <a:p>
            <a:pPr lvl="2"/>
            <a:r>
              <a:rPr lang="en-US"/>
              <a:t>The saints convey a new spatial relationship to the building and the viewer.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3"/>
          <p:cNvSpPr>
            <a:spLocks noGrp="1"/>
          </p:cNvSpPr>
          <p:nvPr>
            <p:ph type="title"/>
          </p:nvPr>
        </p:nvSpPr>
        <p:spPr/>
        <p:txBody>
          <a:bodyPr>
            <a:normAutofit fontScale="90000"/>
          </a:bodyPr>
          <a:lstStyle/>
          <a:p>
            <a:r>
              <a:rPr lang="en-US" dirty="0"/>
              <a:t>EXTERIOR VIEW OF ORSANMICHELE SHOWING SCULPTURE IN NICHES</a:t>
            </a:r>
            <a:br>
              <a:rPr lang="en-US" dirty="0"/>
            </a:br>
            <a:r>
              <a:rPr lang="en-US" dirty="0"/>
              <a:t>Florence. Begun 1337.</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A three-story, rectangular building, with fourteen niches for statues alternating with filled-in arches around its ground-floor exterio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3"/>
          <p:cNvSpPr>
            <a:spLocks noGrp="1"/>
          </p:cNvSpPr>
          <p:nvPr>
            <p:ph type="title"/>
          </p:nvPr>
        </p:nvSpPr>
        <p:spPr/>
        <p:txBody>
          <a:bodyPr>
            <a:normAutofit fontScale="90000"/>
          </a:bodyPr>
          <a:lstStyle/>
          <a:p>
            <a:r>
              <a:rPr lang="en-US" dirty="0" err="1"/>
              <a:t>Nanni</a:t>
            </a:r>
            <a:r>
              <a:rPr lang="en-US" dirty="0"/>
              <a:t> di Banco THE FOUR CROWNED MARTYRS</a:t>
            </a:r>
            <a:br>
              <a:rPr lang="en-US" dirty="0"/>
            </a:br>
            <a:r>
              <a:rPr lang="en-US" dirty="0"/>
              <a:t>c. 1409–1417. Marble, height of figures 6</a:t>
            </a:r>
            <a:r>
              <a:rPr lang="uk-UA" dirty="0"/>
              <a:t>'</a:t>
            </a:r>
            <a:r>
              <a:rPr lang="en-US" dirty="0"/>
              <a:t> (1.83 m). Photographed </a:t>
            </a:r>
            <a:r>
              <a:rPr lang="en-US" i="1" dirty="0"/>
              <a:t>in situ </a:t>
            </a:r>
            <a:r>
              <a:rPr lang="en-US" dirty="0"/>
              <a:t>before removal of the figures to the Museo di </a:t>
            </a:r>
            <a:r>
              <a:rPr lang="en-US" dirty="0" err="1"/>
              <a:t>Orsanmichele</a:t>
            </a:r>
            <a:r>
              <a:rPr lang="en-US" dirty="0"/>
              <a:t>, Florence.</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Four robed men stand in a semicircle inside the niche, with the two innermost men almost entirely covered in shadow."/>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r>
              <a:rPr lang="en-US"/>
              <a:t>Sculpture (3 of 6)</a:t>
            </a:r>
          </a:p>
        </p:txBody>
      </p:sp>
      <p:sp>
        <p:nvSpPr>
          <p:cNvPr id="54274" name="Content Placeholder 2"/>
          <p:cNvSpPr>
            <a:spLocks noGrp="1"/>
          </p:cNvSpPr>
          <p:nvPr>
            <p:ph idx="1"/>
          </p:nvPr>
        </p:nvSpPr>
        <p:spPr/>
        <p:txBody>
          <a:bodyPr/>
          <a:lstStyle/>
          <a:p>
            <a:r>
              <a:rPr lang="en-US"/>
              <a:t>Orsanmichele</a:t>
            </a:r>
          </a:p>
          <a:p>
            <a:pPr lvl="1"/>
            <a:r>
              <a:rPr lang="en-US"/>
              <a:t>Donatello received three commissions for the niches at Orsanmichele.</a:t>
            </a:r>
          </a:p>
          <a:p>
            <a:pPr lvl="1"/>
            <a:r>
              <a:rPr lang="en-US"/>
              <a:t>As originally conceived </a:t>
            </a:r>
            <a:r>
              <a:rPr lang="en-US" i="1"/>
              <a:t>St. George </a:t>
            </a:r>
            <a:r>
              <a:rPr lang="en-US"/>
              <a:t>would have been a standing advertisement for the guild of armorers and swordmakers.</a:t>
            </a:r>
          </a:p>
          <a:p>
            <a:pPr lvl="2"/>
            <a:r>
              <a:rPr lang="en-US"/>
              <a:t>The figure of St. George stands in contrapposto with a complex expression on his determined face.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3"/>
          <p:cNvSpPr>
            <a:spLocks noGrp="1"/>
          </p:cNvSpPr>
          <p:nvPr>
            <p:ph type="title"/>
          </p:nvPr>
        </p:nvSpPr>
        <p:spPr/>
        <p:txBody>
          <a:bodyPr>
            <a:normAutofit fontScale="90000"/>
          </a:bodyPr>
          <a:lstStyle/>
          <a:p>
            <a:r>
              <a:rPr lang="en-US" dirty="0"/>
              <a:t>Donatello ST. GEORGE</a:t>
            </a:r>
            <a:br>
              <a:rPr lang="en-US" dirty="0"/>
            </a:br>
            <a:r>
              <a:rPr lang="en-US" dirty="0"/>
              <a:t>Formerly in </a:t>
            </a:r>
            <a:r>
              <a:rPr lang="en-US" dirty="0" err="1"/>
              <a:t>Orsanmichele</a:t>
            </a:r>
            <a:r>
              <a:rPr lang="en-US" dirty="0"/>
              <a:t>, Florence. 1417–1420. Marble, height 6</a:t>
            </a:r>
            <a:r>
              <a:rPr lang="uk-UA" dirty="0"/>
              <a:t>'</a:t>
            </a:r>
            <a:r>
              <a:rPr lang="en-US" dirty="0"/>
              <a:t>5</a:t>
            </a:r>
            <a:r>
              <a:rPr lang="ru-RU" dirty="0"/>
              <a:t>"</a:t>
            </a:r>
            <a:r>
              <a:rPr lang="en-US" dirty="0"/>
              <a:t> (1.95 m).</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p>
        </p:txBody>
      </p:sp>
      <p:pic>
        <p:nvPicPr>
          <p:cNvPr id="2" name="Picture 1" descr="A caped, armored man stands under a trefoil arch, with light striking his profile, his arm, and the edge of his cross-emblazoned shiel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r>
              <a:rPr lang="en-US"/>
              <a:t>Sculpture (4 of 6)</a:t>
            </a:r>
          </a:p>
        </p:txBody>
      </p:sp>
      <p:sp>
        <p:nvSpPr>
          <p:cNvPr id="57346" name="Content Placeholder 2"/>
          <p:cNvSpPr>
            <a:spLocks noGrp="1"/>
          </p:cNvSpPr>
          <p:nvPr>
            <p:ph idx="1"/>
          </p:nvPr>
        </p:nvSpPr>
        <p:spPr/>
        <p:txBody>
          <a:bodyPr/>
          <a:lstStyle/>
          <a:p>
            <a:r>
              <a:rPr lang="en-US"/>
              <a:t>Donatello</a:t>
            </a:r>
          </a:p>
          <a:p>
            <a:pPr lvl="1"/>
            <a:r>
              <a:rPr lang="en-US"/>
              <a:t>Donatello made the statue of </a:t>
            </a:r>
            <a:r>
              <a:rPr lang="en-US" i="1"/>
              <a:t>David</a:t>
            </a:r>
            <a:r>
              <a:rPr lang="en-US"/>
              <a:t> to draw on the Classical tradition of heroic nudity.</a:t>
            </a:r>
          </a:p>
          <a:p>
            <a:pPr lvl="1"/>
            <a:r>
              <a:rPr lang="en-US"/>
              <a:t>It is unknown when this statue was made, but it was first recorded in 1469.</a:t>
            </a:r>
          </a:p>
          <a:p>
            <a:pPr lvl="1"/>
            <a:r>
              <a:rPr lang="en-US"/>
              <a:t>Some historians cite the angular pose as an attempt to heighten the character</a:t>
            </a:r>
            <a:r>
              <a:rPr lang="uk-UA"/>
              <a:t>'</a:t>
            </a:r>
            <a:r>
              <a:rPr lang="en-US"/>
              <a:t>s heroism, while others see overt homoeroticism.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3"/>
          <p:cNvSpPr>
            <a:spLocks noGrp="1"/>
          </p:cNvSpPr>
          <p:nvPr>
            <p:ph type="title"/>
          </p:nvPr>
        </p:nvSpPr>
        <p:spPr/>
        <p:txBody>
          <a:bodyPr>
            <a:normAutofit fontScale="90000"/>
          </a:bodyPr>
          <a:lstStyle/>
          <a:p>
            <a:r>
              <a:rPr lang="en-US" dirty="0"/>
              <a:t>Donatello DAVID</a:t>
            </a:r>
            <a:br>
              <a:rPr lang="en-US" dirty="0"/>
            </a:br>
            <a:r>
              <a:rPr lang="en-US" dirty="0"/>
              <a:t>c. 1446–1460(?). Bronze, height 5</a:t>
            </a:r>
            <a:r>
              <a:rPr lang="uk-UA" dirty="0"/>
              <a:t>'</a:t>
            </a:r>
            <a:r>
              <a:rPr lang="en-US" dirty="0"/>
              <a:t>2-1/4</a:t>
            </a:r>
            <a:r>
              <a:rPr lang="ru-RU" dirty="0"/>
              <a:t>"</a:t>
            </a:r>
            <a:r>
              <a:rPr lang="en-US" dirty="0"/>
              <a:t> (1.58 m).</a:t>
            </a:r>
            <a:br>
              <a:rPr lang="en-US" dirty="0"/>
            </a:br>
            <a:r>
              <a:rPr lang="en-US" dirty="0"/>
              <a:t>Museo Nazionale del Bargello, Florence. © Studio </a:t>
            </a:r>
            <a:r>
              <a:rPr lang="en-US" dirty="0" err="1"/>
              <a:t>Fotografico</a:t>
            </a:r>
            <a:r>
              <a:rPr lang="en-US" dirty="0"/>
              <a:t> </a:t>
            </a:r>
            <a:r>
              <a:rPr lang="en-US" dirty="0" err="1"/>
              <a:t>Quattrone</a:t>
            </a:r>
            <a:r>
              <a:rPr lang="en-US" dirty="0"/>
              <a:t>, Florence.</a:t>
            </a:r>
            <a:br>
              <a:rPr lang="en-US" dirty="0"/>
            </a:br>
            <a:endParaRPr lang="en-US" dirty="0"/>
          </a:p>
        </p:txBody>
      </p:sp>
      <p:pic>
        <p:nvPicPr>
          <p:cNvPr id="2" name="Picture 1" descr="A young David stands with one foot atop Goliath’s severed head, with one hand on a drawn but lowered sword and the other on his hip. The biblical king-to-be is nude except for a pair of boots and a laureled cap,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r>
              <a:rPr lang="en-US"/>
              <a:t>Sculpture (5 of 6)</a:t>
            </a:r>
          </a:p>
        </p:txBody>
      </p:sp>
      <p:sp>
        <p:nvSpPr>
          <p:cNvPr id="60418" name="Content Placeholder 2"/>
          <p:cNvSpPr>
            <a:spLocks noGrp="1"/>
          </p:cNvSpPr>
          <p:nvPr>
            <p:ph idx="1"/>
          </p:nvPr>
        </p:nvSpPr>
        <p:spPr/>
        <p:txBody>
          <a:bodyPr/>
          <a:lstStyle/>
          <a:p>
            <a:r>
              <a:rPr lang="en-US"/>
              <a:t>Donatello</a:t>
            </a:r>
          </a:p>
          <a:p>
            <a:pPr lvl="1"/>
            <a:r>
              <a:rPr lang="en-US"/>
              <a:t>Called to Padua, Donatello created an equestrian statue of </a:t>
            </a:r>
            <a:r>
              <a:rPr lang="en-US" i="1"/>
              <a:t>Erasmo da Narni </a:t>
            </a:r>
            <a:r>
              <a:rPr lang="en-US"/>
              <a:t>nicknamed </a:t>
            </a:r>
            <a:r>
              <a:rPr lang="en-US" i="1"/>
              <a:t>Gattamelata</a:t>
            </a:r>
            <a:r>
              <a:rPr lang="en-US"/>
              <a:t>.</a:t>
            </a:r>
          </a:p>
          <a:p>
            <a:pPr lvl="1"/>
            <a:r>
              <a:rPr lang="en-US"/>
              <a:t>It was the first life-size bronze equestrian statue since antiquity.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3"/>
          <p:cNvSpPr>
            <a:spLocks noGrp="1"/>
          </p:cNvSpPr>
          <p:nvPr>
            <p:ph type="title"/>
          </p:nvPr>
        </p:nvSpPr>
        <p:spPr/>
        <p:txBody>
          <a:bodyPr>
            <a:normAutofit fontScale="90000"/>
          </a:bodyPr>
          <a:lstStyle/>
          <a:p>
            <a:r>
              <a:rPr lang="en-US" dirty="0"/>
              <a:t>Donatello EQUESTRIAN STATUE OF ERASMO DA NARNI (GATTAMELATA)</a:t>
            </a:r>
            <a:br>
              <a:rPr lang="en-US" dirty="0"/>
            </a:br>
            <a:r>
              <a:rPr lang="en-US" dirty="0"/>
              <a:t>Piazza del Santo, Padua. 1443–1453.</a:t>
            </a:r>
            <a:br>
              <a:rPr lang="en-US" dirty="0"/>
            </a:br>
            <a:r>
              <a:rPr lang="en-US" dirty="0"/>
              <a:t>Bronze, height approx. 12</a:t>
            </a:r>
            <a:r>
              <a:rPr lang="uk-UA" dirty="0"/>
              <a:t>'</a:t>
            </a:r>
            <a:r>
              <a:rPr lang="en-US" dirty="0"/>
              <a:t>2</a:t>
            </a:r>
            <a:r>
              <a:rPr lang="ru-RU" dirty="0"/>
              <a:t>"</a:t>
            </a:r>
            <a:r>
              <a:rPr lang="en-US" dirty="0"/>
              <a:t> (3.71 m).</a:t>
            </a:r>
            <a:br>
              <a:rPr lang="en-US" dirty="0"/>
            </a:br>
            <a:r>
              <a:rPr lang="en-US" dirty="0"/>
              <a:t>© </a:t>
            </a:r>
            <a:r>
              <a:rPr lang="en-US" dirty="0" err="1"/>
              <a:t>akg</a:t>
            </a:r>
            <a:r>
              <a:rPr lang="en-US" dirty="0"/>
              <a:t>-images/</a:t>
            </a:r>
            <a:r>
              <a:rPr lang="en-US" dirty="0" err="1"/>
              <a:t>Cameraphoto</a:t>
            </a:r>
            <a:endParaRPr lang="en-US" dirty="0"/>
          </a:p>
        </p:txBody>
      </p:sp>
      <p:pic>
        <p:nvPicPr>
          <p:cNvPr id="2" name="Picture 1" descr="A man sits on horseback, wearing a suit of armor, but no helmet. A sword hangs from his left hip. His mount raises its left forele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p:txBody>
          <a:bodyPr/>
          <a:lstStyle/>
          <a:p>
            <a:r>
              <a:rPr lang="en-US"/>
              <a:t>Sculpture (6 of 6)</a:t>
            </a:r>
          </a:p>
        </p:txBody>
      </p:sp>
      <p:sp>
        <p:nvSpPr>
          <p:cNvPr id="63490" name="Content Placeholder 2"/>
          <p:cNvSpPr>
            <a:spLocks noGrp="1"/>
          </p:cNvSpPr>
          <p:nvPr>
            <p:ph idx="1"/>
          </p:nvPr>
        </p:nvSpPr>
        <p:spPr/>
        <p:txBody>
          <a:bodyPr/>
          <a:lstStyle/>
          <a:p>
            <a:r>
              <a:rPr lang="en-US"/>
              <a:t>Ghiberti</a:t>
            </a:r>
            <a:r>
              <a:rPr lang="uk-UA"/>
              <a:t>'</a:t>
            </a:r>
            <a:r>
              <a:rPr lang="en-US"/>
              <a:t>s Gates of Paradise</a:t>
            </a:r>
          </a:p>
          <a:p>
            <a:pPr lvl="1"/>
            <a:r>
              <a:rPr lang="en-US"/>
              <a:t>Rival to Brunelleschi, Lorenzo Ghiberti labored on the bronze doors for Florence</a:t>
            </a:r>
            <a:r>
              <a:rPr lang="uk-UA"/>
              <a:t>'</a:t>
            </a:r>
            <a:r>
              <a:rPr lang="en-US"/>
              <a:t>s baptistery, which were installed in 1452.</a:t>
            </a:r>
          </a:p>
          <a:p>
            <a:pPr lvl="1"/>
            <a:r>
              <a:rPr lang="en-US"/>
              <a:t>The story of Jacob and Esau demonstrates his attention to one-point perspective.</a:t>
            </a:r>
          </a:p>
          <a:p>
            <a:pPr lvl="2"/>
            <a:r>
              <a:rPr lang="en-US"/>
              <a:t>The vanishing point is under the loggia.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3"/>
          <p:cNvSpPr>
            <a:spLocks noGrp="1"/>
          </p:cNvSpPr>
          <p:nvPr>
            <p:ph type="title"/>
          </p:nvPr>
        </p:nvSpPr>
        <p:spPr/>
        <p:txBody>
          <a:bodyPr>
            <a:normAutofit fontScale="90000"/>
          </a:bodyPr>
          <a:lstStyle/>
          <a:p>
            <a:r>
              <a:rPr lang="en-US" dirty="0"/>
              <a:t>Lorenzo Ghiberti </a:t>
            </a:r>
            <a:r>
              <a:rPr lang="ru-RU" dirty="0"/>
              <a:t>"</a:t>
            </a:r>
            <a:r>
              <a:rPr lang="en-US" dirty="0"/>
              <a:t>GATES OF PARADISE</a:t>
            </a:r>
            <a:r>
              <a:rPr lang="ru-RU" dirty="0"/>
              <a:t>"</a:t>
            </a:r>
            <a:r>
              <a:rPr lang="en-US" dirty="0"/>
              <a:t> (EAST BAPTISTERY DOORS)</a:t>
            </a:r>
            <a:br>
              <a:rPr lang="en-US" dirty="0"/>
            </a:br>
            <a:r>
              <a:rPr lang="en-US" dirty="0"/>
              <a:t>Formerly on the Baptistery of San Giovanni, Florence. 1425–1452.</a:t>
            </a:r>
            <a:br>
              <a:rPr lang="en-US" dirty="0"/>
            </a:br>
            <a:r>
              <a:rPr lang="en-US" dirty="0"/>
              <a:t>Gilt bronze, height 15</a:t>
            </a:r>
            <a:r>
              <a:rPr lang="uk-UA" dirty="0"/>
              <a:t>'</a:t>
            </a:r>
            <a:r>
              <a:rPr lang="en-US" dirty="0"/>
              <a:t> (4.57 m).</a:t>
            </a:r>
            <a:br>
              <a:rPr lang="en-US" dirty="0"/>
            </a:br>
            <a:r>
              <a:rPr lang="en-US" dirty="0"/>
              <a:t>Museo dell</a:t>
            </a:r>
            <a:r>
              <a:rPr lang="uk-UA" dirty="0"/>
              <a:t>'</a:t>
            </a:r>
            <a:r>
              <a:rPr lang="en-US" dirty="0"/>
              <a:t>Opera del Duomo, Florence. © 2016 Photo Scala, Florence.</a:t>
            </a:r>
          </a:p>
        </p:txBody>
      </p:sp>
      <p:pic>
        <p:nvPicPr>
          <p:cNvPr id="2" name="Picture 1" descr="Two large doors, each decorated with a column of five panels, each gilded and depicting a scene with an active foreground giving way to an expansive backgrou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3"/>
          <p:cNvSpPr>
            <a:spLocks noGrp="1"/>
          </p:cNvSpPr>
          <p:nvPr>
            <p:ph type="title"/>
          </p:nvPr>
        </p:nvSpPr>
        <p:spPr>
          <a:xfrm>
            <a:off x="457200" y="5715000"/>
            <a:ext cx="8229600" cy="685800"/>
          </a:xfrm>
        </p:spPr>
        <p:txBody>
          <a:bodyPr>
            <a:normAutofit fontScale="90000"/>
          </a:bodyPr>
          <a:lstStyle/>
          <a:p>
            <a:r>
              <a:rPr lang="en-US" dirty="0"/>
              <a:t>Lorenzo Ghiberti JACOB AND ESAU, PANEL OF THE </a:t>
            </a:r>
            <a:r>
              <a:rPr lang="ru-RU" dirty="0"/>
              <a:t>"</a:t>
            </a:r>
            <a:r>
              <a:rPr lang="en-US" dirty="0"/>
              <a:t>GATES OF PARADISE</a:t>
            </a:r>
            <a:r>
              <a:rPr lang="ru-RU" dirty="0"/>
              <a:t>"</a:t>
            </a:r>
            <a:br>
              <a:rPr lang="en-US" dirty="0"/>
            </a:br>
            <a:r>
              <a:rPr lang="en-US" dirty="0"/>
              <a:t>(EAST BAPTISTERY DOORS)</a:t>
            </a:r>
            <a:br>
              <a:rPr lang="en-US" dirty="0"/>
            </a:br>
            <a:r>
              <a:rPr lang="en-US" dirty="0"/>
              <a:t>Formerly on the Baptistery of San Giovanni, Florence. c. 1435.</a:t>
            </a:r>
            <a:br>
              <a:rPr lang="en-US" dirty="0"/>
            </a:br>
            <a:r>
              <a:rPr lang="en-US" dirty="0"/>
              <a:t>Gilded bronze, 31-1/4</a:t>
            </a:r>
            <a:r>
              <a:rPr lang="ru-RU" dirty="0"/>
              <a:t>"</a:t>
            </a:r>
            <a:r>
              <a:rPr lang="en-US" dirty="0"/>
              <a:t> (79 cm) square.</a:t>
            </a:r>
            <a:br>
              <a:rPr lang="en-US" dirty="0"/>
            </a:br>
            <a:r>
              <a:rPr lang="en-US" dirty="0"/>
              <a:t>Museo dell</a:t>
            </a:r>
            <a:r>
              <a:rPr lang="uk-UA" dirty="0"/>
              <a:t>'</a:t>
            </a:r>
            <a:r>
              <a:rPr lang="en-US" dirty="0"/>
              <a:t>Opera del Duomo, Florence. © Studio </a:t>
            </a:r>
            <a:r>
              <a:rPr lang="en-US" dirty="0" err="1"/>
              <a:t>Fotografico</a:t>
            </a:r>
            <a:r>
              <a:rPr lang="en-US" dirty="0"/>
              <a:t> </a:t>
            </a:r>
            <a:r>
              <a:rPr lang="en-US" dirty="0" err="1"/>
              <a:t>Quattrone</a:t>
            </a:r>
            <a:r>
              <a:rPr lang="en-US" dirty="0"/>
              <a:t>, Florence.</a:t>
            </a:r>
          </a:p>
        </p:txBody>
      </p:sp>
      <p:pic>
        <p:nvPicPr>
          <p:cNvPr id="2" name="Picture 1" descr="A panel from the gilded door, showing several events from the lives of Jacob and Esau in different focal lengths to designate different times in a single tableau."/>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1524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p:txBody>
          <a:bodyPr/>
          <a:lstStyle/>
          <a:p>
            <a:r>
              <a:rPr lang="en-US"/>
              <a:t>Masaccio (1 of 2)</a:t>
            </a:r>
          </a:p>
        </p:txBody>
      </p:sp>
      <p:sp>
        <p:nvSpPr>
          <p:cNvPr id="68610" name="Content Placeholder 2"/>
          <p:cNvSpPr>
            <a:spLocks noGrp="1"/>
          </p:cNvSpPr>
          <p:nvPr>
            <p:ph idx="1"/>
          </p:nvPr>
        </p:nvSpPr>
        <p:spPr/>
        <p:txBody>
          <a:bodyPr/>
          <a:lstStyle/>
          <a:p>
            <a:r>
              <a:rPr lang="en-US"/>
              <a:t>After a tradition of fresco painting, artists began to turn to oil paints.</a:t>
            </a:r>
          </a:p>
          <a:p>
            <a:r>
              <a:rPr lang="en-US"/>
              <a:t>Masaccio (1401–1428) painted the </a:t>
            </a:r>
            <a:r>
              <a:rPr lang="en-US" i="1"/>
              <a:t>Trinity</a:t>
            </a:r>
            <a:r>
              <a:rPr lang="en-US"/>
              <a:t> fresco to give the illusion that a stone funerary monument and alter receded into a deep </a:t>
            </a:r>
            <a:r>
              <a:rPr lang="en-US" b="1"/>
              <a:t>aedicula</a:t>
            </a:r>
            <a:r>
              <a:rPr lang="en-US"/>
              <a:t> niche.</a:t>
            </a:r>
          </a:p>
          <a:p>
            <a:r>
              <a:rPr lang="en-US"/>
              <a:t>The figures progress into space.</a:t>
            </a:r>
          </a:p>
          <a:p>
            <a:r>
              <a:rPr lang="en-US"/>
              <a:t>A skeleton evokes mortality in viewers.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3"/>
          <p:cNvSpPr>
            <a:spLocks noGrp="1"/>
          </p:cNvSpPr>
          <p:nvPr>
            <p:ph type="title"/>
          </p:nvPr>
        </p:nvSpPr>
        <p:spPr/>
        <p:txBody>
          <a:bodyPr>
            <a:normAutofit fontScale="90000"/>
          </a:bodyPr>
          <a:lstStyle/>
          <a:p>
            <a:r>
              <a:rPr lang="en-US" dirty="0"/>
              <a:t>Masaccio TRINITY WITH THE VIRGIN, ST. JOHN THE EVANGELIST, AND DONORS</a:t>
            </a:r>
            <a:br>
              <a:rPr lang="en-US" dirty="0"/>
            </a:br>
            <a:r>
              <a:rPr lang="en-US" dirty="0"/>
              <a:t>Church of Santa Maria Novella, Florence. c. 1425–1427/1428.</a:t>
            </a:r>
            <a:br>
              <a:rPr lang="en-US" dirty="0"/>
            </a:br>
            <a:r>
              <a:rPr lang="en-US" dirty="0"/>
              <a:t>Fresco, 21</a:t>
            </a:r>
            <a:r>
              <a:rPr lang="uk-UA" dirty="0"/>
              <a:t>'</a:t>
            </a:r>
            <a:r>
              <a:rPr lang="en-US" dirty="0"/>
              <a:t> × 10</a:t>
            </a:r>
            <a:r>
              <a:rPr lang="uk-UA" dirty="0"/>
              <a:t>'</a:t>
            </a:r>
            <a:r>
              <a:rPr lang="en-US" dirty="0"/>
              <a:t>5</a:t>
            </a:r>
            <a:r>
              <a:rPr lang="ru-RU" dirty="0"/>
              <a:t>"</a:t>
            </a:r>
            <a:r>
              <a:rPr lang="en-US" dirty="0"/>
              <a:t> (6.4 × 3.2 m). © Studio </a:t>
            </a:r>
            <a:r>
              <a:rPr lang="en-US" dirty="0" err="1"/>
              <a:t>Fotografico</a:t>
            </a:r>
            <a:r>
              <a:rPr lang="en-US" dirty="0"/>
              <a:t> </a:t>
            </a:r>
            <a:r>
              <a:rPr lang="en-US" dirty="0" err="1"/>
              <a:t>Quattrone</a:t>
            </a:r>
            <a:r>
              <a:rPr lang="en-US" dirty="0"/>
              <a:t>, Florence.</a:t>
            </a:r>
            <a:br>
              <a:rPr lang="en-US" dirty="0"/>
            </a:br>
            <a:endParaRPr lang="en-US" dirty="0"/>
          </a:p>
        </p:txBody>
      </p:sp>
      <p:pic>
        <p:nvPicPr>
          <p:cNvPr id="2" name="Picture 1" descr="Despite working in a two-dimensional medium, the artist has created an image that seems to sink into the wall behind it as a three-dimensional funerary alcove and alta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3"/>
          <p:cNvSpPr>
            <a:spLocks noGrp="1"/>
          </p:cNvSpPr>
          <p:nvPr>
            <p:ph type="title"/>
          </p:nvPr>
        </p:nvSpPr>
        <p:spPr/>
        <p:txBody>
          <a:bodyPr>
            <a:normAutofit fontScale="90000"/>
          </a:bodyPr>
          <a:lstStyle/>
          <a:p>
            <a:r>
              <a:rPr lang="en-US" dirty="0"/>
              <a:t>SECTION DIAGRAM OF THE ILLUSIONISTIC SPATIAL WORLD PORTRAYED IN MASACCIO</a:t>
            </a:r>
            <a:r>
              <a:rPr lang="uk-UA" dirty="0"/>
              <a:t>'</a:t>
            </a:r>
            <a:r>
              <a:rPr lang="en-US" dirty="0"/>
              <a:t>S TRINITY</a:t>
            </a:r>
            <a:br>
              <a:rPr lang="en-US" dirty="0"/>
            </a:br>
            <a:r>
              <a:rPr lang="en-US" dirty="0"/>
              <a:t>After Gene Brucker, </a:t>
            </a:r>
            <a:r>
              <a:rPr lang="en-US" i="1" dirty="0"/>
              <a:t>Florence: The Golden Age</a:t>
            </a:r>
            <a:r>
              <a:rPr lang="en-US" dirty="0"/>
              <a:t>, Berkeley, 1998.</a:t>
            </a:r>
          </a:p>
        </p:txBody>
      </p:sp>
      <p:pic>
        <p:nvPicPr>
          <p:cNvPr id="2" name="Picture 1" descr="A diagram illustrates the three-dimensional architecture that a typical male adult viewer’s lines of sight are tricked into perceiving when standing in front of the fresco."/>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p:cNvSpPr>
          <p:nvPr>
            <p:ph type="title"/>
          </p:nvPr>
        </p:nvSpPr>
        <p:spPr/>
        <p:txBody>
          <a:bodyPr/>
          <a:lstStyle/>
          <a:p>
            <a:r>
              <a:rPr lang="en-US"/>
              <a:t>Technique: Renaissance Perspective</a:t>
            </a:r>
          </a:p>
        </p:txBody>
      </p:sp>
      <p:sp>
        <p:nvSpPr>
          <p:cNvPr id="73730" name="Content Placeholder 2"/>
          <p:cNvSpPr>
            <a:spLocks noGrp="1"/>
          </p:cNvSpPr>
          <p:nvPr>
            <p:ph idx="1"/>
          </p:nvPr>
        </p:nvSpPr>
        <p:spPr/>
        <p:txBody>
          <a:bodyPr/>
          <a:lstStyle/>
          <a:p>
            <a:r>
              <a:rPr lang="en-US"/>
              <a:t>Linear perspective was a rational method used to make realistic architectural settings.</a:t>
            </a:r>
          </a:p>
          <a:p>
            <a:r>
              <a:rPr lang="en-US"/>
              <a:t>Imaginary lines called orthogonals met at a single vanishing point on the horizon.</a:t>
            </a:r>
          </a:p>
          <a:p>
            <a:r>
              <a:rPr lang="en-US"/>
              <a:t>Variations in color and clarity can also convey the feeling of distance in a painting.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3"/>
          <p:cNvSpPr>
            <a:spLocks noGrp="1"/>
          </p:cNvSpPr>
          <p:nvPr>
            <p:ph type="title"/>
          </p:nvPr>
        </p:nvSpPr>
        <p:spPr/>
        <p:txBody>
          <a:bodyPr>
            <a:normAutofit fontScale="90000"/>
          </a:bodyPr>
          <a:lstStyle/>
          <a:p>
            <a:r>
              <a:rPr lang="en-US" dirty="0"/>
              <a:t>Perugino CHRIST GIVING THE KEYS TO ST. PETER</a:t>
            </a:r>
            <a:br>
              <a:rPr lang="en-US" dirty="0"/>
            </a:br>
            <a:r>
              <a:rPr lang="en-US" dirty="0"/>
              <a:t>Fresco on the right wall of the Sistine Chapel (see FIG. 20-41), Vatican, Rome. 1480–1482. 11</a:t>
            </a:r>
            <a:r>
              <a:rPr lang="uk-UA" dirty="0"/>
              <a:t>'</a:t>
            </a:r>
            <a:r>
              <a:rPr lang="en-US" dirty="0"/>
              <a:t>5-1/2</a:t>
            </a:r>
            <a:r>
              <a:rPr lang="ru-RU" dirty="0"/>
              <a:t>"</a:t>
            </a:r>
            <a:r>
              <a:rPr lang="en-US" dirty="0"/>
              <a:t> × 18</a:t>
            </a:r>
            <a:r>
              <a:rPr lang="uk-UA" dirty="0"/>
              <a:t>'</a:t>
            </a:r>
            <a:r>
              <a:rPr lang="en-US" dirty="0"/>
              <a:t>8-1/2</a:t>
            </a:r>
            <a:r>
              <a:rPr lang="ru-RU" dirty="0"/>
              <a:t>"</a:t>
            </a:r>
            <a:r>
              <a:rPr lang="en-US" dirty="0"/>
              <a:t> (3.48 × 5.70 m).</a:t>
            </a:r>
            <a:br>
              <a:rPr lang="en-US" dirty="0"/>
            </a:br>
            <a:endParaRPr lang="en-US" dirty="0"/>
          </a:p>
        </p:txBody>
      </p:sp>
      <p:pic>
        <p:nvPicPr>
          <p:cNvPr id="2" name="Picture 1" descr="The scene takes place in a vast plaza paved with square grid lines that seem to converge at the horizon, at a point hidden under a tall, domed structure, with transepts extending toward Romanesque arch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3"/>
          <p:cNvSpPr>
            <a:spLocks noGrp="1"/>
          </p:cNvSpPr>
          <p:nvPr>
            <p:ph type="title"/>
          </p:nvPr>
        </p:nvSpPr>
        <p:spPr/>
        <p:txBody>
          <a:bodyPr>
            <a:normAutofit fontScale="90000"/>
          </a:bodyPr>
          <a:lstStyle/>
          <a:p>
            <a:r>
              <a:rPr lang="en-US" dirty="0"/>
              <a:t>SCHEMATIC DRAWING SHOWING THE ORTHOGONALS AND VANISHING POINT OF CHRIST GIVING THE KEYS TO ST. PETER</a:t>
            </a:r>
            <a:br>
              <a:rPr lang="en-US" dirty="0"/>
            </a:br>
            <a:r>
              <a:rPr lang="en-US" dirty="0" err="1"/>
              <a:t>Canali</a:t>
            </a:r>
            <a:r>
              <a:rPr lang="en-US" dirty="0"/>
              <a:t> Photobank, Milan, Italy</a:t>
            </a:r>
          </a:p>
        </p:txBody>
      </p:sp>
      <p:pic>
        <p:nvPicPr>
          <p:cNvPr id="2" name="Picture 1" descr="A schematic drawing reduces the image to black lines and silhouettes against a white background. This more clearly shows how the gridlines along the scene’s wide courtyard converge at the horizon, at a point otherwise hidden under the dome. These parallax lines also intersect the people’s silhouettes in conscious ways, framing different degrees of removal from Christ and Peter at the center. For example, one of the lines seems to intersect Christ’s shoulder, then trace the back of his head, continuing into the distanc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533400"/>
            <a:ext cx="8107680" cy="5031232"/>
          </a:xfrm>
          <a:prstGeom prst="rect">
            <a:avLst/>
          </a:prstGeom>
        </p:spPr>
      </p:pic>
    </p:spTree>
  </p:cSld>
  <p:clrMapOvr>
    <a:masterClrMapping/>
  </p:clrMapOvr>
  <p:transition spd="slow" advTm="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p:cNvSpPr>
            <a:spLocks noGrp="1"/>
          </p:cNvSpPr>
          <p:nvPr>
            <p:ph type="title"/>
          </p:nvPr>
        </p:nvSpPr>
        <p:spPr/>
        <p:txBody>
          <a:bodyPr/>
          <a:lstStyle/>
          <a:p>
            <a:r>
              <a:rPr lang="en-US"/>
              <a:t>Masaccio (2 of 2)</a:t>
            </a:r>
          </a:p>
        </p:txBody>
      </p:sp>
      <p:sp>
        <p:nvSpPr>
          <p:cNvPr id="78850" name="Content Placeholder 2"/>
          <p:cNvSpPr>
            <a:spLocks noGrp="1"/>
          </p:cNvSpPr>
          <p:nvPr>
            <p:ph idx="1"/>
          </p:nvPr>
        </p:nvSpPr>
        <p:spPr/>
        <p:txBody>
          <a:bodyPr/>
          <a:lstStyle/>
          <a:p>
            <a:r>
              <a:rPr lang="en-US"/>
              <a:t>The Brancacci Chapel</a:t>
            </a:r>
          </a:p>
          <a:p>
            <a:pPr lvl="1"/>
            <a:r>
              <a:rPr lang="en-US" i="1"/>
              <a:t>The Expulsion of Adam and Eve from Paradise </a:t>
            </a:r>
            <a:r>
              <a:rPr lang="en-US"/>
              <a:t>focuses on the mass of flesh of the figures</a:t>
            </a:r>
            <a:r>
              <a:rPr lang="uk-UA"/>
              <a:t>'</a:t>
            </a:r>
            <a:r>
              <a:rPr lang="en-US"/>
              <a:t> bodies and the psychological impact of shame.</a:t>
            </a:r>
          </a:p>
          <a:p>
            <a:pPr lvl="1"/>
            <a:r>
              <a:rPr lang="en-US" i="1"/>
              <a:t>The Tribute Money </a:t>
            </a:r>
            <a:r>
              <a:rPr lang="en-US"/>
              <a:t>marks early use of linear and atmospheric perspective.</a:t>
            </a:r>
          </a:p>
          <a:p>
            <a:pPr lvl="2"/>
            <a:r>
              <a:rPr lang="en-US"/>
              <a:t>Foreground figures have bold highlights and long shadows on the ground.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3"/>
          <p:cNvSpPr>
            <a:spLocks noGrp="1"/>
          </p:cNvSpPr>
          <p:nvPr>
            <p:ph type="title"/>
          </p:nvPr>
        </p:nvSpPr>
        <p:spPr/>
        <p:txBody>
          <a:bodyPr>
            <a:normAutofit fontScale="90000"/>
          </a:bodyPr>
          <a:lstStyle/>
          <a:p>
            <a:r>
              <a:rPr lang="en-US" dirty="0"/>
              <a:t>Masaccio THE EXPULSION OF ADAM AND EVE FROM PARADISE</a:t>
            </a:r>
            <a:br>
              <a:rPr lang="en-US" dirty="0"/>
            </a:br>
            <a:r>
              <a:rPr lang="en-US" dirty="0" err="1"/>
              <a:t>Brancacci</a:t>
            </a:r>
            <a:r>
              <a:rPr lang="en-US" dirty="0"/>
              <a:t> Chapel, church of Santa Maria del Carmine, Florence. c. 1427.</a:t>
            </a:r>
            <a:br>
              <a:rPr lang="en-US" dirty="0"/>
            </a:br>
            <a:r>
              <a:rPr lang="en-US" dirty="0"/>
              <a:t>Fresco, 7</a:t>
            </a:r>
            <a:r>
              <a:rPr lang="uk-UA" dirty="0"/>
              <a:t>'</a:t>
            </a:r>
            <a:r>
              <a:rPr lang="en-US" dirty="0"/>
              <a:t> × 2</a:t>
            </a:r>
            <a:r>
              <a:rPr lang="uk-UA" dirty="0"/>
              <a:t>'</a:t>
            </a:r>
            <a:r>
              <a:rPr lang="en-US" dirty="0"/>
              <a:t>11</a:t>
            </a:r>
            <a:r>
              <a:rPr lang="ru-RU" dirty="0"/>
              <a:t>"</a:t>
            </a:r>
            <a:r>
              <a:rPr lang="en-US" dirty="0"/>
              <a:t> (214 × 90 cm).</a:t>
            </a:r>
            <a:br>
              <a:rPr lang="en-US" dirty="0"/>
            </a:br>
            <a:r>
              <a:rPr lang="en-US" dirty="0"/>
              <a:t>© Studio </a:t>
            </a:r>
            <a:r>
              <a:rPr lang="en-US" dirty="0" err="1"/>
              <a:t>Fotografico</a:t>
            </a:r>
            <a:r>
              <a:rPr lang="en-US" dirty="0"/>
              <a:t> </a:t>
            </a:r>
            <a:r>
              <a:rPr lang="en-US" dirty="0" err="1"/>
              <a:t>Quattrone</a:t>
            </a:r>
            <a:r>
              <a:rPr lang="en-US" dirty="0"/>
              <a:t>, Florence.</a:t>
            </a:r>
          </a:p>
        </p:txBody>
      </p:sp>
      <p:pic>
        <p:nvPicPr>
          <p:cNvPr id="2" name="Picture 1" descr="An angel with red wings and drapery hovers above the nude, sorrowful figures of Adam and Eve. The angel holds a sword, and points into the wilderness, away from an architectural arch."/>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3"/>
          <p:cNvSpPr>
            <a:spLocks noGrp="1"/>
          </p:cNvSpPr>
          <p:nvPr>
            <p:ph type="title"/>
          </p:nvPr>
        </p:nvSpPr>
        <p:spPr/>
        <p:txBody>
          <a:bodyPr>
            <a:normAutofit fontScale="90000"/>
          </a:bodyPr>
          <a:lstStyle/>
          <a:p>
            <a:r>
              <a:rPr lang="en-US" dirty="0"/>
              <a:t>Masaccio THE TRIBUTE MONEY</a:t>
            </a:r>
            <a:br>
              <a:rPr lang="en-US" dirty="0"/>
            </a:br>
            <a:r>
              <a:rPr lang="en-US" dirty="0" err="1"/>
              <a:t>Brancacci</a:t>
            </a:r>
            <a:r>
              <a:rPr lang="en-US" dirty="0"/>
              <a:t> Chapel, church of Santa Maria del Carmine, Florence. c. 1427.</a:t>
            </a:r>
            <a:br>
              <a:rPr lang="en-US" dirty="0"/>
            </a:br>
            <a:r>
              <a:rPr lang="en-US" dirty="0"/>
              <a:t>Fresco, 8</a:t>
            </a:r>
            <a:r>
              <a:rPr lang="uk-UA" dirty="0"/>
              <a:t>'</a:t>
            </a:r>
            <a:r>
              <a:rPr lang="en-US" dirty="0"/>
              <a:t>1</a:t>
            </a:r>
            <a:r>
              <a:rPr lang="ru-RU" dirty="0"/>
              <a:t>"</a:t>
            </a:r>
            <a:r>
              <a:rPr lang="en-US" dirty="0"/>
              <a:t> × 19</a:t>
            </a:r>
            <a:r>
              <a:rPr lang="uk-UA" dirty="0"/>
              <a:t>'</a:t>
            </a:r>
            <a:r>
              <a:rPr lang="en-US" dirty="0"/>
              <a:t>7</a:t>
            </a:r>
            <a:r>
              <a:rPr lang="ru-RU" dirty="0"/>
              <a:t>"</a:t>
            </a:r>
            <a:r>
              <a:rPr lang="en-US" dirty="0"/>
              <a:t> (2.46 × 6 m).</a:t>
            </a:r>
            <a:br>
              <a:rPr lang="en-US" dirty="0"/>
            </a:br>
            <a:r>
              <a:rPr lang="en-US" dirty="0"/>
              <a:t>© Studio </a:t>
            </a:r>
            <a:r>
              <a:rPr lang="en-US" dirty="0" err="1"/>
              <a:t>Fotografico</a:t>
            </a:r>
            <a:r>
              <a:rPr lang="en-US" dirty="0"/>
              <a:t> </a:t>
            </a:r>
            <a:r>
              <a:rPr lang="en-US" dirty="0" err="1"/>
              <a:t>Quattrone</a:t>
            </a:r>
            <a:r>
              <a:rPr lang="en-US" dirty="0"/>
              <a:t>, Florence.</a:t>
            </a:r>
          </a:p>
        </p:txBody>
      </p:sp>
      <p:pic>
        <p:nvPicPr>
          <p:cNvPr id="2" name="Picture 1" descr="A wide tableau. On the left, Peter pulls a fish from the water. In the center, Peter questions Christ, who points him to the water. On the right, Peter meets the red-shirted official in front of a home, and pays him.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p:cNvSpPr>
            <a:spLocks noGrp="1"/>
          </p:cNvSpPr>
          <p:nvPr>
            <p:ph type="title"/>
          </p:nvPr>
        </p:nvSpPr>
        <p:spPr/>
        <p:txBody>
          <a:bodyPr/>
          <a:lstStyle/>
          <a:p>
            <a:r>
              <a:rPr lang="en-US"/>
              <a:t>Painting in Florence After Masaccio </a:t>
            </a:r>
            <a:br>
              <a:rPr lang="en-US"/>
            </a:br>
            <a:r>
              <a:rPr lang="en-US"/>
              <a:t>(1 of 4)</a:t>
            </a:r>
          </a:p>
        </p:txBody>
      </p:sp>
      <p:sp>
        <p:nvSpPr>
          <p:cNvPr id="83970" name="Content Placeholder 2"/>
          <p:cNvSpPr>
            <a:spLocks noGrp="1"/>
          </p:cNvSpPr>
          <p:nvPr>
            <p:ph idx="1"/>
          </p:nvPr>
        </p:nvSpPr>
        <p:spPr/>
        <p:txBody>
          <a:bodyPr/>
          <a:lstStyle/>
          <a:p>
            <a:r>
              <a:rPr lang="en-US"/>
              <a:t>Fra Angelico</a:t>
            </a:r>
          </a:p>
          <a:p>
            <a:pPr lvl="1"/>
            <a:r>
              <a:rPr lang="en-US"/>
              <a:t>The pious Fra Angelico worked in Florence as early as 1417.</a:t>
            </a:r>
          </a:p>
          <a:p>
            <a:pPr lvl="1"/>
            <a:r>
              <a:rPr lang="en-US"/>
              <a:t>His </a:t>
            </a:r>
            <a:r>
              <a:rPr lang="en-US" i="1"/>
              <a:t>Annunciation</a:t>
            </a:r>
            <a:r>
              <a:rPr lang="en-US"/>
              <a:t> uses linear perspective to extend the corridor of the monastery where it was painted into an imagined portico and garden.</a:t>
            </a:r>
          </a:p>
          <a:p>
            <a:pPr lvl="2"/>
            <a:r>
              <a:rPr lang="en-US"/>
              <a:t>Slender, graceful figures render the scene with contemporary details.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3"/>
          <p:cNvSpPr>
            <a:spLocks noGrp="1"/>
          </p:cNvSpPr>
          <p:nvPr>
            <p:ph type="title"/>
          </p:nvPr>
        </p:nvSpPr>
        <p:spPr/>
        <p:txBody>
          <a:bodyPr>
            <a:normAutofit fontScale="90000"/>
          </a:bodyPr>
          <a:lstStyle/>
          <a:p>
            <a:r>
              <a:rPr lang="en-US" dirty="0"/>
              <a:t>Fra Angelico ANNUNCIATION</a:t>
            </a:r>
            <a:br>
              <a:rPr lang="en-US" dirty="0"/>
            </a:br>
            <a:r>
              <a:rPr lang="en-US" dirty="0"/>
              <a:t>North dormitory corridor, monastery of San Marco, Florence. c. 1438–1445.</a:t>
            </a:r>
            <a:br>
              <a:rPr lang="en-US" dirty="0"/>
            </a:br>
            <a:r>
              <a:rPr lang="en-US" dirty="0"/>
              <a:t>Fresco, 7</a:t>
            </a:r>
            <a:r>
              <a:rPr lang="uk-UA" dirty="0"/>
              <a:t>'</a:t>
            </a:r>
            <a:r>
              <a:rPr lang="en-US" dirty="0"/>
              <a:t>1</a:t>
            </a:r>
            <a:r>
              <a:rPr lang="ru-RU" dirty="0"/>
              <a:t>"</a:t>
            </a:r>
            <a:r>
              <a:rPr lang="en-US" dirty="0"/>
              <a:t> × 10</a:t>
            </a:r>
            <a:r>
              <a:rPr lang="uk-UA" dirty="0"/>
              <a:t>'</a:t>
            </a:r>
            <a:r>
              <a:rPr lang="en-US" dirty="0"/>
              <a:t>6</a:t>
            </a:r>
            <a:r>
              <a:rPr lang="ru-RU" dirty="0"/>
              <a:t>"</a:t>
            </a:r>
            <a:r>
              <a:rPr lang="en-US" dirty="0"/>
              <a:t> (2.2 × 3.2 m).</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The angel bowing before the Virgin Mary has large wings, with wide, horizontal bands of differently colored feathers, like a rainbow."/>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p:txBody>
          <a:bodyPr/>
          <a:lstStyle/>
          <a:p>
            <a:r>
              <a:rPr lang="en-US"/>
              <a:t>Painting in Florence After Masaccio</a:t>
            </a:r>
            <a:br>
              <a:rPr lang="en-US"/>
            </a:br>
            <a:r>
              <a:rPr lang="en-US"/>
              <a:t>(2 of 4)</a:t>
            </a:r>
          </a:p>
        </p:txBody>
      </p:sp>
      <p:sp>
        <p:nvSpPr>
          <p:cNvPr id="87042" name="Content Placeholder 2"/>
          <p:cNvSpPr>
            <a:spLocks noGrp="1"/>
          </p:cNvSpPr>
          <p:nvPr>
            <p:ph idx="1"/>
          </p:nvPr>
        </p:nvSpPr>
        <p:spPr/>
        <p:txBody>
          <a:bodyPr/>
          <a:lstStyle/>
          <a:p>
            <a:r>
              <a:rPr lang="en-US"/>
              <a:t>Uccello</a:t>
            </a:r>
          </a:p>
          <a:p>
            <a:pPr lvl="1"/>
            <a:r>
              <a:rPr lang="en-US"/>
              <a:t>Paolo Uccello emerged as an eccentric painter specializing in the study of linear perspective.</a:t>
            </a:r>
          </a:p>
          <a:p>
            <a:pPr lvl="2"/>
            <a:r>
              <a:rPr lang="en-US"/>
              <a:t>An example is seen in </a:t>
            </a:r>
            <a:r>
              <a:rPr lang="en-US" i="1"/>
              <a:t>The Battle of San Romano</a:t>
            </a:r>
            <a:r>
              <a:rPr lang="en-US"/>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3"/>
          <p:cNvSpPr>
            <a:spLocks noGrp="1"/>
          </p:cNvSpPr>
          <p:nvPr>
            <p:ph type="title"/>
          </p:nvPr>
        </p:nvSpPr>
        <p:spPr/>
        <p:txBody>
          <a:bodyPr>
            <a:normAutofit fontScale="90000"/>
          </a:bodyPr>
          <a:lstStyle/>
          <a:p>
            <a:r>
              <a:rPr lang="en-US" dirty="0"/>
              <a:t>Paolo Uccello THE BATTLE OF SAN ROMANO</a:t>
            </a:r>
            <a:br>
              <a:rPr lang="en-US" dirty="0"/>
            </a:br>
            <a:r>
              <a:rPr lang="en-US" dirty="0"/>
              <a:t>1438–1440. Tempera on wood panel, approx. 6</a:t>
            </a:r>
            <a:r>
              <a:rPr lang="uk-UA" dirty="0"/>
              <a:t>'</a:t>
            </a:r>
            <a:r>
              <a:rPr lang="en-US" dirty="0"/>
              <a:t> × 10</a:t>
            </a:r>
            <a:r>
              <a:rPr lang="uk-UA" dirty="0"/>
              <a:t>'</a:t>
            </a:r>
            <a:r>
              <a:rPr lang="en-US" dirty="0"/>
              <a:t>6</a:t>
            </a:r>
            <a:r>
              <a:rPr lang="ru-RU" dirty="0"/>
              <a:t>"</a:t>
            </a:r>
            <a:r>
              <a:rPr lang="en-US" dirty="0"/>
              <a:t> (1.82 × 3.2 m).</a:t>
            </a:r>
            <a:br>
              <a:rPr lang="en-US" dirty="0"/>
            </a:br>
            <a:r>
              <a:rPr lang="en-US" dirty="0"/>
              <a:t>National Gallery, London. © 2016. Copyright The National Gallery, London/Scala, Florence </a:t>
            </a:r>
          </a:p>
        </p:txBody>
      </p:sp>
      <p:pic>
        <p:nvPicPr>
          <p:cNvPr id="2" name="Picture 1" descr="A king leads his knights’ mounted charge across a pink road, littered with defeated knights and weapons, aligned to point into the background, where the king’s long battle lines recede in scale across rolling hill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p:txBody>
          <a:bodyPr/>
          <a:lstStyle/>
          <a:p>
            <a:r>
              <a:rPr lang="en-US"/>
              <a:t>Painting in Florence After Masaccio</a:t>
            </a:r>
            <a:br>
              <a:rPr lang="en-US"/>
            </a:br>
            <a:r>
              <a:rPr lang="en-US"/>
              <a:t>(3 of 4)</a:t>
            </a:r>
          </a:p>
        </p:txBody>
      </p:sp>
      <p:sp>
        <p:nvSpPr>
          <p:cNvPr id="90114" name="Content Placeholder 2"/>
          <p:cNvSpPr>
            <a:spLocks noGrp="1"/>
          </p:cNvSpPr>
          <p:nvPr>
            <p:ph idx="1"/>
          </p:nvPr>
        </p:nvSpPr>
        <p:spPr/>
        <p:txBody>
          <a:bodyPr/>
          <a:lstStyle/>
          <a:p>
            <a:r>
              <a:rPr lang="en-US"/>
              <a:t>Castagno</a:t>
            </a:r>
          </a:p>
          <a:p>
            <a:pPr lvl="1"/>
            <a:r>
              <a:rPr lang="en-US"/>
              <a:t>Andrea del Castagno is best known for </a:t>
            </a:r>
            <a:r>
              <a:rPr lang="en-US" i="1"/>
              <a:t>The Last Supper</a:t>
            </a:r>
            <a:r>
              <a:rPr lang="en-US"/>
              <a:t>, a fresco showing Jesus and his followers at a humble-looking house.</a:t>
            </a:r>
          </a:p>
          <a:p>
            <a:pPr lvl="1"/>
            <a:r>
              <a:rPr lang="en-US"/>
              <a:t>Judas takes a traditional position on the viewer</a:t>
            </a:r>
            <a:r>
              <a:rPr lang="uk-UA"/>
              <a:t>'</a:t>
            </a:r>
            <a:r>
              <a:rPr lang="en-US"/>
              <a:t>s side of the table.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3"/>
          <p:cNvSpPr>
            <a:spLocks noGrp="1"/>
          </p:cNvSpPr>
          <p:nvPr>
            <p:ph type="title"/>
          </p:nvPr>
        </p:nvSpPr>
        <p:spPr/>
        <p:txBody>
          <a:bodyPr>
            <a:normAutofit fontScale="90000"/>
          </a:bodyPr>
          <a:lstStyle/>
          <a:p>
            <a:r>
              <a:rPr lang="en-US" dirty="0"/>
              <a:t>Andrea del Castagno THE LAST SUPPER</a:t>
            </a:r>
            <a:br>
              <a:rPr lang="en-US" dirty="0"/>
            </a:br>
            <a:r>
              <a:rPr lang="en-US" dirty="0"/>
              <a:t>Refectory, convent of Sant</a:t>
            </a:r>
            <a:r>
              <a:rPr lang="uk-UA" dirty="0"/>
              <a:t>'</a:t>
            </a:r>
            <a:r>
              <a:rPr lang="en-US" dirty="0"/>
              <a:t>Apollonia, Florence. 1447.</a:t>
            </a:r>
            <a:br>
              <a:rPr lang="en-US" dirty="0"/>
            </a:br>
            <a:r>
              <a:rPr lang="en-US" dirty="0"/>
              <a:t>Fresco, width approx. 16 × 32</a:t>
            </a:r>
            <a:r>
              <a:rPr lang="uk-UA" dirty="0"/>
              <a:t>'</a:t>
            </a:r>
            <a:r>
              <a:rPr lang="en-US" dirty="0"/>
              <a:t> (4.6 × 9.8 m). </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Twelve men sit around a long table, with a thirteenth man sitting alone in the foreground, off-center on the side of the table closest the view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p:txBody>
          <a:bodyPr/>
          <a:lstStyle/>
          <a:p>
            <a:r>
              <a:rPr lang="en-US"/>
              <a:t>Painting in Florence After Masaccio</a:t>
            </a:r>
            <a:br>
              <a:rPr lang="en-US"/>
            </a:br>
            <a:r>
              <a:rPr lang="en-US"/>
              <a:t>(4 of 4)</a:t>
            </a:r>
          </a:p>
        </p:txBody>
      </p:sp>
      <p:sp>
        <p:nvSpPr>
          <p:cNvPr id="93186" name="Content Placeholder 2"/>
          <p:cNvSpPr>
            <a:spLocks noGrp="1"/>
          </p:cNvSpPr>
          <p:nvPr>
            <p:ph idx="1"/>
          </p:nvPr>
        </p:nvSpPr>
        <p:spPr/>
        <p:txBody>
          <a:bodyPr/>
          <a:lstStyle/>
          <a:p>
            <a:r>
              <a:rPr lang="en-US"/>
              <a:t>Fra Filippo Lippi</a:t>
            </a:r>
          </a:p>
          <a:p>
            <a:pPr lvl="1"/>
            <a:r>
              <a:rPr lang="en-US" i="1"/>
              <a:t>Portrait of a Woman and Man </a:t>
            </a:r>
            <a:r>
              <a:rPr lang="en-US"/>
              <a:t>is an early work by Lippi.</a:t>
            </a:r>
          </a:p>
          <a:p>
            <a:pPr lvl="2"/>
            <a:r>
              <a:rPr lang="en-US"/>
              <a:t>Emphasis is squarely on the woman, spotlighted in the foreground.</a:t>
            </a:r>
          </a:p>
          <a:p>
            <a:pPr lvl="2"/>
            <a:r>
              <a:rPr lang="en-US"/>
              <a:t>There is no sense of engagement with the viewer and little sense of likeness of the figures to their sitters.</a:t>
            </a:r>
          </a:p>
          <a:p>
            <a:pPr lvl="2"/>
            <a:r>
              <a:rPr lang="en-US"/>
              <a:t>It is a puzzle to art historians as to what this painting symbolizes.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3"/>
          <p:cNvSpPr>
            <a:spLocks noGrp="1"/>
          </p:cNvSpPr>
          <p:nvPr>
            <p:ph type="title"/>
          </p:nvPr>
        </p:nvSpPr>
        <p:spPr/>
        <p:txBody>
          <a:bodyPr>
            <a:normAutofit fontScale="90000"/>
          </a:bodyPr>
          <a:lstStyle/>
          <a:p>
            <a:r>
              <a:rPr lang="en-US" dirty="0"/>
              <a:t>Fra Filippo Lippi PORTRAIT OF A WOMAN AND MAN (ANGIOLA DI BERNARDO SAPITI AND LORENZO DI RANIERI SCOLARI?)</a:t>
            </a:r>
            <a:br>
              <a:rPr lang="en-US" dirty="0"/>
            </a:br>
            <a:r>
              <a:rPr lang="en-US" dirty="0"/>
              <a:t>c. 1435–1445. Tempera on wood panel, 25-1/4</a:t>
            </a:r>
            <a:r>
              <a:rPr lang="ru-RU" dirty="0"/>
              <a:t>"</a:t>
            </a:r>
            <a:r>
              <a:rPr lang="en-US" dirty="0"/>
              <a:t> × 16-1/2</a:t>
            </a:r>
            <a:r>
              <a:rPr lang="ru-RU" dirty="0"/>
              <a:t>"</a:t>
            </a:r>
            <a:r>
              <a:rPr lang="en-US" dirty="0"/>
              <a:t> (64.1 × 41.9 cm). Metropolitan Museum of Art, New York. © 2016. Image copyright The Metropolitan Museum of Art/Art Resource/Scala, Florence. </a:t>
            </a:r>
          </a:p>
        </p:txBody>
      </p:sp>
      <p:pic>
        <p:nvPicPr>
          <p:cNvPr id="2" name="Picture 1" descr="The woman is taller than the man, and occupies most of the image. Both subjects stare straight forwar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itle 1"/>
          <p:cNvSpPr>
            <a:spLocks noGrp="1"/>
          </p:cNvSpPr>
          <p:nvPr>
            <p:ph type="title"/>
          </p:nvPr>
        </p:nvSpPr>
        <p:spPr/>
        <p:txBody>
          <a:bodyPr/>
          <a:lstStyle/>
          <a:p>
            <a:r>
              <a:rPr lang="en-US"/>
              <a:t>Florentine Art in the Second Half of the Fifteenth Century</a:t>
            </a:r>
          </a:p>
        </p:txBody>
      </p:sp>
      <p:sp>
        <p:nvSpPr>
          <p:cNvPr id="167938" name="Content Placeholder 2"/>
          <p:cNvSpPr>
            <a:spLocks noGrp="1"/>
          </p:cNvSpPr>
          <p:nvPr>
            <p:ph idx="1"/>
          </p:nvPr>
        </p:nvSpPr>
        <p:spPr/>
        <p:txBody>
          <a:bodyPr/>
          <a:lstStyle/>
          <a:p>
            <a:r>
              <a:rPr lang="en-US"/>
              <a:t>Sculptors in Florence continued to explore Classical themes.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p:txBody>
          <a:bodyPr/>
          <a:lstStyle/>
          <a:p>
            <a:r>
              <a:rPr lang="en-US"/>
              <a:t>Verrocchio</a:t>
            </a:r>
          </a:p>
        </p:txBody>
      </p:sp>
      <p:sp>
        <p:nvSpPr>
          <p:cNvPr id="96258" name="Content Placeholder 2"/>
          <p:cNvSpPr>
            <a:spLocks noGrp="1"/>
          </p:cNvSpPr>
          <p:nvPr>
            <p:ph idx="1"/>
          </p:nvPr>
        </p:nvSpPr>
        <p:spPr/>
        <p:txBody>
          <a:bodyPr/>
          <a:lstStyle/>
          <a:p>
            <a:r>
              <a:rPr lang="en-US"/>
              <a:t>Trained as a goldsmith, Verrocchio was best known for works in paint and bronze.</a:t>
            </a:r>
          </a:p>
          <a:p>
            <a:r>
              <a:rPr lang="en-US" i="1"/>
              <a:t>David</a:t>
            </a:r>
            <a:r>
              <a:rPr lang="en-US"/>
              <a:t> seems to have been conceived in response to Donatello</a:t>
            </a:r>
            <a:r>
              <a:rPr lang="uk-UA"/>
              <a:t>'</a:t>
            </a:r>
            <a:r>
              <a:rPr lang="en-US"/>
              <a:t>s sculpture.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3"/>
          <p:cNvSpPr>
            <a:spLocks noGrp="1"/>
          </p:cNvSpPr>
          <p:nvPr>
            <p:ph type="title"/>
          </p:nvPr>
        </p:nvSpPr>
        <p:spPr/>
        <p:txBody>
          <a:bodyPr>
            <a:normAutofit fontScale="90000"/>
          </a:bodyPr>
          <a:lstStyle/>
          <a:p>
            <a:r>
              <a:rPr lang="en-US" dirty="0"/>
              <a:t>Andrea del Verrocchio DAVID</a:t>
            </a:r>
            <a:br>
              <a:rPr lang="en-US" dirty="0"/>
            </a:br>
            <a:r>
              <a:rPr lang="en-US" dirty="0"/>
              <a:t>Commissioned by Lorenzo de</a:t>
            </a:r>
            <a:r>
              <a:rPr lang="uk-UA" dirty="0"/>
              <a:t>'</a:t>
            </a:r>
            <a:r>
              <a:rPr lang="en-US" dirty="0"/>
              <a:t> Medici for the Medici Palace. c. 1470–1475.</a:t>
            </a:r>
            <a:br>
              <a:rPr lang="en-US" dirty="0"/>
            </a:br>
            <a:r>
              <a:rPr lang="en-US" dirty="0"/>
              <a:t>Bronze with gilded details, height 49-5/8</a:t>
            </a:r>
            <a:r>
              <a:rPr lang="ru-RU" dirty="0"/>
              <a:t>"</a:t>
            </a:r>
            <a:r>
              <a:rPr lang="en-US" dirty="0"/>
              <a:t> (1.26 m).</a:t>
            </a:r>
            <a:br>
              <a:rPr lang="en-US" dirty="0"/>
            </a:br>
            <a:r>
              <a:rPr lang="en-US" dirty="0"/>
              <a:t>Museo Nazionale del Bargello, Florence. © Studio </a:t>
            </a:r>
            <a:r>
              <a:rPr lang="en-US" dirty="0" err="1"/>
              <a:t>Fotografico</a:t>
            </a:r>
            <a:r>
              <a:rPr lang="en-US" dirty="0"/>
              <a:t> </a:t>
            </a:r>
            <a:r>
              <a:rPr lang="en-US" dirty="0" err="1"/>
              <a:t>Quattrone</a:t>
            </a:r>
            <a:r>
              <a:rPr lang="en-US" dirty="0"/>
              <a:t>, Florence </a:t>
            </a:r>
            <a:br>
              <a:rPr lang="en-US" dirty="0"/>
            </a:br>
            <a:endParaRPr lang="en-US" dirty="0"/>
          </a:p>
        </p:txBody>
      </p:sp>
      <p:pic>
        <p:nvPicPr>
          <p:cNvPr id="2" name="Picture 1" descr="David wears a gilded breastplate, with decoration at the trim, over his solar plexus, and around his nipples, with a matching kilt of heavy material.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p:cNvSpPr>
            <a:spLocks noGrp="1"/>
          </p:cNvSpPr>
          <p:nvPr>
            <p:ph type="title"/>
          </p:nvPr>
        </p:nvSpPr>
        <p:spPr/>
        <p:txBody>
          <a:bodyPr/>
          <a:lstStyle/>
          <a:p>
            <a:r>
              <a:rPr lang="en-US"/>
              <a:t>Pollaiuolo</a:t>
            </a:r>
          </a:p>
        </p:txBody>
      </p:sp>
      <p:sp>
        <p:nvSpPr>
          <p:cNvPr id="99330" name="Content Placeholder 2"/>
          <p:cNvSpPr>
            <a:spLocks noGrp="1"/>
          </p:cNvSpPr>
          <p:nvPr>
            <p:ph idx="1"/>
          </p:nvPr>
        </p:nvSpPr>
        <p:spPr/>
        <p:txBody>
          <a:bodyPr/>
          <a:lstStyle/>
          <a:p>
            <a:r>
              <a:rPr lang="en-US" i="1"/>
              <a:t>Hercules and Antaeus </a:t>
            </a:r>
            <a:r>
              <a:rPr lang="en-US"/>
              <a:t>is a sculpted study of complex, interlocking figures and can be appreciated best from every angle.</a:t>
            </a:r>
          </a:p>
          <a:p>
            <a:r>
              <a:rPr lang="en-US"/>
              <a:t>The engraved </a:t>
            </a:r>
            <a:r>
              <a:rPr lang="en-US" i="1"/>
              <a:t>Battle of the Nudes </a:t>
            </a:r>
            <a:r>
              <a:rPr lang="en-US"/>
              <a:t>reflects both the study of Classical sculpture and anatomical research.</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3"/>
          <p:cNvSpPr>
            <a:spLocks noGrp="1"/>
          </p:cNvSpPr>
          <p:nvPr>
            <p:ph type="title"/>
          </p:nvPr>
        </p:nvSpPr>
        <p:spPr/>
        <p:txBody>
          <a:bodyPr>
            <a:normAutofit fontScale="90000"/>
          </a:bodyPr>
          <a:lstStyle/>
          <a:p>
            <a:r>
              <a:rPr lang="en-US" dirty="0"/>
              <a:t>Antonio del </a:t>
            </a:r>
            <a:r>
              <a:rPr lang="en-US" dirty="0" err="1"/>
              <a:t>Pollaiuolo</a:t>
            </a:r>
            <a:r>
              <a:rPr lang="en-US" dirty="0"/>
              <a:t> HERCULES AND ANTAEUS</a:t>
            </a:r>
            <a:br>
              <a:rPr lang="en-US" dirty="0"/>
            </a:br>
            <a:r>
              <a:rPr lang="en-US" dirty="0"/>
              <a:t>c. 1475. Bronze, height with base 18</a:t>
            </a:r>
            <a:r>
              <a:rPr lang="ru-RU" dirty="0"/>
              <a:t>"</a:t>
            </a:r>
            <a:r>
              <a:rPr lang="en-US" dirty="0"/>
              <a:t> (45.7 cm).</a:t>
            </a:r>
            <a:br>
              <a:rPr lang="en-US" dirty="0"/>
            </a:br>
            <a:r>
              <a:rPr lang="en-US" dirty="0"/>
              <a:t>Museo Nazionale del Bargello, Florence. © 2016. Photo Scala, Florence - courtesy of the </a:t>
            </a:r>
            <a:r>
              <a:rPr lang="en-US" dirty="0" err="1"/>
              <a:t>Ministero</a:t>
            </a:r>
            <a:r>
              <a:rPr lang="en-US" dirty="0"/>
              <a:t> Beni e Att. </a:t>
            </a:r>
            <a:r>
              <a:rPr lang="en-US" dirty="0" err="1"/>
              <a:t>Culturali</a:t>
            </a:r>
            <a:r>
              <a:rPr lang="en-US" dirty="0"/>
              <a:t>.</a:t>
            </a:r>
          </a:p>
        </p:txBody>
      </p:sp>
      <p:pic>
        <p:nvPicPr>
          <p:cNvPr id="2" name="Picture 1" descr="Hercules, identifiable by the pelt of the Nemean Lion worn around his waist, wraps his arms around his struggling opponent and lifts the giant off the groun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3"/>
          <p:cNvSpPr>
            <a:spLocks noGrp="1"/>
          </p:cNvSpPr>
          <p:nvPr>
            <p:ph type="title"/>
          </p:nvPr>
        </p:nvSpPr>
        <p:spPr/>
        <p:txBody>
          <a:bodyPr>
            <a:normAutofit fontScale="90000"/>
          </a:bodyPr>
          <a:lstStyle/>
          <a:p>
            <a:r>
              <a:rPr lang="en-US" dirty="0"/>
              <a:t>Antonio del </a:t>
            </a:r>
            <a:r>
              <a:rPr lang="en-US" dirty="0" err="1"/>
              <a:t>Pollaiuolo</a:t>
            </a:r>
            <a:r>
              <a:rPr lang="en-US" dirty="0"/>
              <a:t> THE BATTLE OF THE NUDES</a:t>
            </a:r>
            <a:br>
              <a:rPr lang="en-US" dirty="0"/>
            </a:br>
            <a:r>
              <a:rPr lang="en-US" dirty="0"/>
              <a:t>c. 1490. Engraving, 15-3/4</a:t>
            </a:r>
            <a:r>
              <a:rPr lang="ru-RU" dirty="0"/>
              <a:t>"</a:t>
            </a:r>
            <a:r>
              <a:rPr lang="en-US" dirty="0"/>
              <a:t> × 22-13/16</a:t>
            </a:r>
            <a:r>
              <a:rPr lang="ru-RU" dirty="0"/>
              <a:t>"</a:t>
            </a:r>
            <a:r>
              <a:rPr lang="en-US" dirty="0"/>
              <a:t> (40 × 58 cm).</a:t>
            </a:r>
            <a:br>
              <a:rPr lang="en-US" dirty="0"/>
            </a:br>
            <a:r>
              <a:rPr lang="en-US" dirty="0"/>
              <a:t>Yale University Art Gallery, New Haven, Connecticut. Maitland F. Griggs, B.A. 1896, Fund (1951.9.18). Image courtesy Yale University Art Gallery. </a:t>
            </a:r>
          </a:p>
        </p:txBody>
      </p:sp>
      <p:pic>
        <p:nvPicPr>
          <p:cNvPr id="2" name="Picture 1" descr="Against a background of tall, flowering plants, ten identical, muscular, nude male figures battle each other to the death with knifes, swords, shields, clubs, axes, and a bow and arrow."/>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p:txBody>
          <a:bodyPr/>
          <a:lstStyle/>
          <a:p>
            <a:r>
              <a:rPr lang="en-US"/>
              <a:t>The Morelli-Nerli Wedding Chests</a:t>
            </a:r>
          </a:p>
        </p:txBody>
      </p:sp>
      <p:sp>
        <p:nvSpPr>
          <p:cNvPr id="104450" name="Content Placeholder 2"/>
          <p:cNvSpPr>
            <a:spLocks noGrp="1"/>
          </p:cNvSpPr>
          <p:nvPr>
            <p:ph idx="1"/>
          </p:nvPr>
        </p:nvSpPr>
        <p:spPr/>
        <p:txBody>
          <a:bodyPr/>
          <a:lstStyle/>
          <a:p>
            <a:r>
              <a:rPr lang="en-US" b="1" i="1"/>
              <a:t>Cassoni</a:t>
            </a:r>
            <a:r>
              <a:rPr lang="en-US"/>
              <a:t> were chests used to store clothing and other objects in a couple</a:t>
            </a:r>
            <a:r>
              <a:rPr lang="uk-UA"/>
              <a:t>'</a:t>
            </a:r>
            <a:r>
              <a:rPr lang="en-US"/>
              <a:t>s bedroom, associated with wedding gifts.</a:t>
            </a:r>
          </a:p>
          <a:p>
            <a:r>
              <a:rPr lang="en-US"/>
              <a:t>Marriages in Florence were political alliances rather than based in romance.</a:t>
            </a:r>
          </a:p>
          <a:p>
            <a:r>
              <a:rPr lang="en-US"/>
              <a:t>This example shows paintings with subjects drawn from stories extolling moral virtues.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3"/>
          <p:cNvSpPr>
            <a:spLocks noGrp="1"/>
          </p:cNvSpPr>
          <p:nvPr>
            <p:ph type="title"/>
          </p:nvPr>
        </p:nvSpPr>
        <p:spPr>
          <a:xfrm>
            <a:off x="457200" y="5638800"/>
            <a:ext cx="8229600" cy="685800"/>
          </a:xfrm>
        </p:spPr>
        <p:txBody>
          <a:bodyPr>
            <a:normAutofit fontScale="90000"/>
          </a:bodyPr>
          <a:lstStyle/>
          <a:p>
            <a:r>
              <a:rPr lang="en-US" dirty="0"/>
              <a:t>Jacopo del </a:t>
            </a:r>
            <a:r>
              <a:rPr lang="en-US" dirty="0" err="1"/>
              <a:t>Sellaio</a:t>
            </a:r>
            <a:r>
              <a:rPr lang="en-US" dirty="0"/>
              <a:t>, </a:t>
            </a:r>
            <a:r>
              <a:rPr lang="en-US" dirty="0" err="1"/>
              <a:t>Biagio</a:t>
            </a:r>
            <a:r>
              <a:rPr lang="en-US" dirty="0"/>
              <a:t> d</a:t>
            </a:r>
            <a:r>
              <a:rPr lang="uk-UA" dirty="0"/>
              <a:t>'</a:t>
            </a:r>
            <a:r>
              <a:rPr lang="en-US" dirty="0"/>
              <a:t>Antonio (painters), and </a:t>
            </a:r>
            <a:r>
              <a:rPr lang="en-US" dirty="0" err="1"/>
              <a:t>Zanobi</a:t>
            </a:r>
            <a:r>
              <a:rPr lang="en-US" dirty="0"/>
              <a:t> di Domenico (woodworker) CASSONE MADE FOR THE MARRIAGE OF LORENZO DI MATTEO MORELLI AND VAGGIA DI TANAI NERLI (ONE OF A SET OF TWO)</a:t>
            </a:r>
            <a:br>
              <a:rPr lang="en-US" dirty="0"/>
            </a:br>
            <a:r>
              <a:rPr lang="en-US" dirty="0"/>
              <a:t>1472. Tempera and gold on wood, chest 83-1/2</a:t>
            </a:r>
            <a:r>
              <a:rPr lang="ru-RU" dirty="0"/>
              <a:t>"</a:t>
            </a:r>
            <a:r>
              <a:rPr lang="en-US" dirty="0"/>
              <a:t> × 75</a:t>
            </a:r>
            <a:r>
              <a:rPr lang="ru-RU" dirty="0"/>
              <a:t>"</a:t>
            </a:r>
            <a:r>
              <a:rPr lang="en-US" dirty="0"/>
              <a:t> × 30</a:t>
            </a:r>
            <a:r>
              <a:rPr lang="ru-RU" dirty="0"/>
              <a:t>"</a:t>
            </a:r>
            <a:r>
              <a:rPr lang="en-US" dirty="0"/>
              <a:t> (212 × 193 × 76.2 cm).</a:t>
            </a:r>
            <a:br>
              <a:rPr lang="en-US" dirty="0"/>
            </a:br>
            <a:r>
              <a:rPr lang="en-US" dirty="0"/>
              <a:t>The Samuel </a:t>
            </a:r>
            <a:r>
              <a:rPr lang="en-US" dirty="0" err="1"/>
              <a:t>Courtauld</a:t>
            </a:r>
            <a:r>
              <a:rPr lang="en-US" dirty="0"/>
              <a:t> Trust, The </a:t>
            </a:r>
            <a:r>
              <a:rPr lang="en-US" dirty="0" err="1"/>
              <a:t>Courtauld</a:t>
            </a:r>
            <a:r>
              <a:rPr lang="en-US" dirty="0"/>
              <a:t> Gallery, London. (F.1947.LF.4) © Samuel </a:t>
            </a:r>
            <a:r>
              <a:rPr lang="en-US" dirty="0" err="1"/>
              <a:t>Courtauld</a:t>
            </a:r>
            <a:r>
              <a:rPr lang="en-US" dirty="0"/>
              <a:t> Trust, The </a:t>
            </a:r>
            <a:r>
              <a:rPr lang="en-US" dirty="0" err="1"/>
              <a:t>Courtauld</a:t>
            </a:r>
            <a:r>
              <a:rPr lang="en-US" dirty="0"/>
              <a:t> Gallery, London, UK/Bridgeman Images </a:t>
            </a:r>
          </a:p>
        </p:txBody>
      </p:sp>
      <p:pic>
        <p:nvPicPr>
          <p:cNvPr id="2" name="Picture 1" descr="A gilded chest, with each of its vertical panels containing a painted portrait or tableau. A panel above depicts curtains parting to reveal a scene on a bridg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152400"/>
            <a:ext cx="8107680" cy="5031232"/>
          </a:xfrm>
          <a:prstGeom prst="rect">
            <a:avLst/>
          </a:prstGeom>
        </p:spPr>
      </p:pic>
    </p:spTree>
  </p:cSld>
  <p:clrMapOvr>
    <a:masterClrMapping/>
  </p:clrMapOvr>
  <p:transition spd="slow" advTm="0"/>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nvPr>
        </p:nvSpPr>
        <p:spPr/>
        <p:txBody>
          <a:bodyPr/>
          <a:lstStyle/>
          <a:p>
            <a:r>
              <a:rPr lang="en-US"/>
              <a:t>Ghirlandaio (1 of 2) </a:t>
            </a:r>
          </a:p>
        </p:txBody>
      </p:sp>
      <p:sp>
        <p:nvSpPr>
          <p:cNvPr id="107522" name="Content Placeholder 2"/>
          <p:cNvSpPr>
            <a:spLocks noGrp="1"/>
          </p:cNvSpPr>
          <p:nvPr>
            <p:ph idx="1"/>
          </p:nvPr>
        </p:nvSpPr>
        <p:spPr/>
        <p:txBody>
          <a:bodyPr/>
          <a:lstStyle/>
          <a:p>
            <a:r>
              <a:rPr lang="en-US" i="1"/>
              <a:t>The Life of St. Francis </a:t>
            </a:r>
            <a:r>
              <a:rPr lang="en-US"/>
              <a:t>was commissioned for the walls of the Sassetti burial chapel.</a:t>
            </a:r>
          </a:p>
          <a:p>
            <a:pPr lvl="1"/>
            <a:r>
              <a:rPr lang="en-US"/>
              <a:t>Foreground figures are portraits of well-known Florentines.</a:t>
            </a:r>
          </a:p>
          <a:p>
            <a:pPr lvl="1"/>
            <a:r>
              <a:rPr lang="en-US"/>
              <a:t>The scene takes place in the actual piazza outside the church of Santa Trinità.</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3"/>
          <p:cNvSpPr>
            <a:spLocks noGrp="1"/>
          </p:cNvSpPr>
          <p:nvPr>
            <p:ph type="title"/>
          </p:nvPr>
        </p:nvSpPr>
        <p:spPr/>
        <p:txBody>
          <a:bodyPr>
            <a:normAutofit fontScale="90000"/>
          </a:bodyPr>
          <a:lstStyle/>
          <a:p>
            <a:r>
              <a:rPr lang="en-US" dirty="0"/>
              <a:t>Domenico Ghirlandaio SCENES FROM THE LIFE OF ST. FRANCIS; ALTARPIECE WITH NATIVITY AND ADORATION OF THE SHEPHERDS</a:t>
            </a:r>
            <a:br>
              <a:rPr lang="en-US" dirty="0"/>
            </a:br>
            <a:r>
              <a:rPr lang="en-US" dirty="0" err="1"/>
              <a:t>Sassetti</a:t>
            </a:r>
            <a:r>
              <a:rPr lang="en-US" dirty="0"/>
              <a:t> Chapel, church of Santa </a:t>
            </a:r>
            <a:r>
              <a:rPr lang="en-US" dirty="0" err="1"/>
              <a:t>Trinità</a:t>
            </a:r>
            <a:r>
              <a:rPr lang="en-US" dirty="0"/>
              <a:t>, Florence. 1483–1486.</a:t>
            </a:r>
            <a:br>
              <a:rPr lang="en-US" dirty="0"/>
            </a:br>
            <a:r>
              <a:rPr lang="en-US" dirty="0"/>
              <a:t>Fresco, chapel 12</a:t>
            </a:r>
            <a:r>
              <a:rPr lang="uk-UA" dirty="0"/>
              <a:t>'</a:t>
            </a:r>
            <a:r>
              <a:rPr lang="en-US" dirty="0"/>
              <a:t>2</a:t>
            </a:r>
            <a:r>
              <a:rPr lang="ru-RU" dirty="0"/>
              <a:t>"</a:t>
            </a:r>
            <a:r>
              <a:rPr lang="en-US" dirty="0"/>
              <a:t> deep × 17</a:t>
            </a:r>
            <a:r>
              <a:rPr lang="uk-UA" dirty="0"/>
              <a:t>'</a:t>
            </a:r>
            <a:r>
              <a:rPr lang="en-US" dirty="0"/>
              <a:t>2</a:t>
            </a:r>
            <a:r>
              <a:rPr lang="ru-RU" dirty="0"/>
              <a:t>"</a:t>
            </a:r>
            <a:r>
              <a:rPr lang="en-US" dirty="0"/>
              <a:t> wide (3.7 × 5.25 m).</a:t>
            </a:r>
            <a:br>
              <a:rPr lang="en-US" dirty="0"/>
            </a:br>
            <a:r>
              <a:rPr lang="en-US" dirty="0"/>
              <a:t>© </a:t>
            </a:r>
            <a:r>
              <a:rPr lang="en-US" dirty="0" err="1"/>
              <a:t>Archivi</a:t>
            </a:r>
            <a:r>
              <a:rPr lang="en-US" dirty="0"/>
              <a:t> </a:t>
            </a:r>
            <a:r>
              <a:rPr lang="en-US" dirty="0" err="1"/>
              <a:t>Alinari</a:t>
            </a:r>
            <a:r>
              <a:rPr lang="en-US" dirty="0"/>
              <a:t>, Firenze. </a:t>
            </a:r>
          </a:p>
        </p:txBody>
      </p:sp>
      <p:pic>
        <p:nvPicPr>
          <p:cNvPr id="2" name="Picture 1" descr="The Sassetti burial chapel is a three-walled bay under a pointed arch and ribbed groin vault. The walls are painted in two registers, with additional scenes abov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3"/>
          <p:cNvSpPr>
            <a:spLocks noGrp="1"/>
          </p:cNvSpPr>
          <p:nvPr>
            <p:ph type="title"/>
          </p:nvPr>
        </p:nvSpPr>
        <p:spPr/>
        <p:txBody>
          <a:bodyPr>
            <a:normAutofit fontScale="90000"/>
          </a:bodyPr>
          <a:lstStyle/>
          <a:p>
            <a:r>
              <a:rPr lang="en-US" dirty="0"/>
              <a:t>Domenico Ghirlandaio CONFIRMATION OF THE FRANCISCAN RULE BY</a:t>
            </a:r>
            <a:br>
              <a:rPr lang="en-US" dirty="0"/>
            </a:br>
            <a:r>
              <a:rPr lang="en-US" dirty="0"/>
              <a:t>POPE HONORIUS III</a:t>
            </a:r>
            <a:br>
              <a:rPr lang="en-US" dirty="0"/>
            </a:br>
            <a:r>
              <a:rPr lang="en-US" dirty="0" err="1"/>
              <a:t>Sassetti</a:t>
            </a:r>
            <a:r>
              <a:rPr lang="en-US" dirty="0"/>
              <a:t> Chapel, church of Santa </a:t>
            </a:r>
            <a:r>
              <a:rPr lang="en-US" dirty="0" err="1"/>
              <a:t>Trinità</a:t>
            </a:r>
            <a:r>
              <a:rPr lang="en-US" dirty="0"/>
              <a:t>, Florence. 1483–1486.</a:t>
            </a:r>
            <a:br>
              <a:rPr lang="en-US" dirty="0"/>
            </a:br>
            <a:r>
              <a:rPr lang="en-US" dirty="0"/>
              <a:t>Fresco, width at base 17</a:t>
            </a:r>
            <a:r>
              <a:rPr lang="uk-UA" dirty="0"/>
              <a:t>'</a:t>
            </a:r>
            <a:r>
              <a:rPr lang="en-US" dirty="0"/>
              <a:t>2</a:t>
            </a:r>
            <a:r>
              <a:rPr lang="ru-RU" dirty="0"/>
              <a:t>"</a:t>
            </a:r>
            <a:r>
              <a:rPr lang="en-US" dirty="0"/>
              <a:t> (5.25 m).</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In the foreground, well-known Florentines ascend a staircase to four robed figures. Their positions and posture are echoed by those of Saint Francis and his monks ascend a staircase to the throne of Pope Honorius the Third."/>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p:cNvSpPr>
            <a:spLocks noGrp="1"/>
          </p:cNvSpPr>
          <p:nvPr>
            <p:ph type="title"/>
          </p:nvPr>
        </p:nvSpPr>
        <p:spPr/>
        <p:txBody>
          <a:bodyPr/>
          <a:lstStyle/>
          <a:p>
            <a:r>
              <a:rPr lang="en-US"/>
              <a:t>Ghirlandaio (2 of 2) </a:t>
            </a:r>
          </a:p>
        </p:txBody>
      </p:sp>
      <p:sp>
        <p:nvSpPr>
          <p:cNvPr id="112642" name="Content Placeholder 2"/>
          <p:cNvSpPr>
            <a:spLocks noGrp="1"/>
          </p:cNvSpPr>
          <p:nvPr>
            <p:ph idx="1"/>
          </p:nvPr>
        </p:nvSpPr>
        <p:spPr/>
        <p:txBody>
          <a:bodyPr/>
          <a:lstStyle/>
          <a:p>
            <a:r>
              <a:rPr lang="en-US" i="1"/>
              <a:t>Nativity and Adoration of the Shepherds</a:t>
            </a:r>
            <a:r>
              <a:rPr lang="en-US"/>
              <a:t> was the altarpiece of the chapel, still in its original frame.</a:t>
            </a:r>
          </a:p>
          <a:p>
            <a:pPr lvl="1"/>
            <a:r>
              <a:rPr lang="en-US"/>
              <a:t>It was heavily influenced by the Portinari Altarpiece, but also draws upon Classical references to Rome.</a:t>
            </a:r>
          </a:p>
          <a:p>
            <a:pPr lvl="1"/>
            <a:r>
              <a:rPr lang="en-US" b="1"/>
              <a:t>Aerial perspective </a:t>
            </a:r>
            <a:r>
              <a:rPr lang="en-US"/>
              <a:t>creates a seamless transition of color.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3"/>
          <p:cNvSpPr>
            <a:spLocks noGrp="1"/>
          </p:cNvSpPr>
          <p:nvPr>
            <p:ph type="title"/>
          </p:nvPr>
        </p:nvSpPr>
        <p:spPr/>
        <p:txBody>
          <a:bodyPr>
            <a:normAutofit fontScale="90000"/>
          </a:bodyPr>
          <a:lstStyle/>
          <a:p>
            <a:r>
              <a:rPr lang="en-US" dirty="0"/>
              <a:t>Domenico Ghirlandaio NATIVITY AND ADORATION OF THE SHEPHERDS</a:t>
            </a:r>
            <a:br>
              <a:rPr lang="en-US" dirty="0"/>
            </a:br>
            <a:r>
              <a:rPr lang="en-US" dirty="0"/>
              <a:t>Altarpiece in the </a:t>
            </a:r>
            <a:r>
              <a:rPr lang="en-US" dirty="0" err="1"/>
              <a:t>Sassetti</a:t>
            </a:r>
            <a:r>
              <a:rPr lang="en-US" dirty="0"/>
              <a:t> Chapel, church of Santa </a:t>
            </a:r>
            <a:r>
              <a:rPr lang="en-US" dirty="0" err="1"/>
              <a:t>Trinità</a:t>
            </a:r>
            <a:r>
              <a:rPr lang="en-US" dirty="0"/>
              <a:t>, Florence. 1485.</a:t>
            </a:r>
            <a:br>
              <a:rPr lang="en-US" dirty="0"/>
            </a:br>
            <a:r>
              <a:rPr lang="en-US" dirty="0"/>
              <a:t>Panel, 65-3/4</a:t>
            </a:r>
            <a:r>
              <a:rPr lang="ru-RU" dirty="0"/>
              <a:t>"</a:t>
            </a:r>
            <a:r>
              <a:rPr lang="en-US" dirty="0"/>
              <a:t> square (1.67 m square).</a:t>
            </a:r>
            <a:br>
              <a:rPr lang="en-US" dirty="0"/>
            </a:br>
            <a:r>
              <a:rPr lang="en-US" dirty="0"/>
              <a:t>© Studio </a:t>
            </a:r>
            <a:r>
              <a:rPr lang="en-US" dirty="0" err="1"/>
              <a:t>Fotografico</a:t>
            </a:r>
            <a:r>
              <a:rPr lang="en-US" dirty="0"/>
              <a:t> </a:t>
            </a:r>
            <a:r>
              <a:rPr lang="en-US" dirty="0" err="1"/>
              <a:t>Quattrone</a:t>
            </a:r>
            <a:r>
              <a:rPr lang="en-US" dirty="0"/>
              <a:t>, Florence </a:t>
            </a:r>
          </a:p>
        </p:txBody>
      </p:sp>
      <p:pic>
        <p:nvPicPr>
          <p:cNvPr id="2" name="Picture 1" descr="This scene of the Nativity and Adoration takes place in a crisp foreground, but the background fades into a vast distance, with atmospheric haze simulated by desaturated color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1"/>
          <p:cNvSpPr>
            <a:spLocks noGrp="1"/>
          </p:cNvSpPr>
          <p:nvPr>
            <p:ph type="title"/>
          </p:nvPr>
        </p:nvSpPr>
        <p:spPr/>
        <p:txBody>
          <a:bodyPr/>
          <a:lstStyle/>
          <a:p>
            <a:r>
              <a:rPr lang="en-US"/>
              <a:t>Botticelli (1 of 2) </a:t>
            </a:r>
          </a:p>
        </p:txBody>
      </p:sp>
      <p:sp>
        <p:nvSpPr>
          <p:cNvPr id="115714" name="Content Placeholder 2"/>
          <p:cNvSpPr>
            <a:spLocks noGrp="1"/>
          </p:cNvSpPr>
          <p:nvPr>
            <p:ph idx="1"/>
          </p:nvPr>
        </p:nvSpPr>
        <p:spPr/>
        <p:txBody>
          <a:bodyPr/>
          <a:lstStyle/>
          <a:p>
            <a:r>
              <a:rPr lang="en-US"/>
              <a:t>The overall appearance of </a:t>
            </a:r>
            <a:r>
              <a:rPr lang="en-US" i="1"/>
              <a:t>Primavera</a:t>
            </a:r>
            <a:r>
              <a:rPr lang="en-US"/>
              <a:t> recalls Flemish tapestries.</a:t>
            </a:r>
          </a:p>
          <a:p>
            <a:pPr lvl="1"/>
            <a:r>
              <a:rPr lang="en-US"/>
              <a:t>It is a complex </a:t>
            </a:r>
            <a:r>
              <a:rPr lang="en-US" b="1"/>
              <a:t>allegory</a:t>
            </a:r>
            <a:r>
              <a:rPr lang="en-US"/>
              <a:t> of Neoplatonic philosophers</a:t>
            </a:r>
            <a:r>
              <a:rPr lang="uk-UA"/>
              <a:t>'</a:t>
            </a:r>
            <a:r>
              <a:rPr lang="en-US"/>
              <a:t> conceptions of Venus as having two natures.</a:t>
            </a:r>
          </a:p>
          <a:p>
            <a:pPr lvl="1"/>
            <a:r>
              <a:rPr lang="en-US"/>
              <a:t>It was painted at the time of the wedding of Lorenzo de</a:t>
            </a:r>
            <a:r>
              <a:rPr lang="uk-UA"/>
              <a:t>'</a:t>
            </a:r>
            <a:r>
              <a:rPr lang="en-US"/>
              <a:t> Medici and Semiramide d</a:t>
            </a:r>
            <a:r>
              <a:rPr lang="uk-UA"/>
              <a:t>'</a:t>
            </a:r>
            <a:r>
              <a:rPr lang="en-US"/>
              <a:t>Appiano in 1482.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3"/>
          <p:cNvSpPr>
            <a:spLocks noGrp="1"/>
          </p:cNvSpPr>
          <p:nvPr>
            <p:ph type="title"/>
          </p:nvPr>
        </p:nvSpPr>
        <p:spPr/>
        <p:txBody>
          <a:bodyPr>
            <a:normAutofit fontScale="90000"/>
          </a:bodyPr>
          <a:lstStyle/>
          <a:p>
            <a:r>
              <a:rPr lang="en-US" dirty="0"/>
              <a:t>A CLOSER LOOK: Primavera by Sandro Botticelli</a:t>
            </a:r>
            <a:br>
              <a:rPr lang="en-US" dirty="0"/>
            </a:br>
            <a:r>
              <a:rPr lang="en-US" dirty="0"/>
              <a:t>c. 1482. Tempera on wood panel.</a:t>
            </a:r>
            <a:br>
              <a:rPr lang="en-US" dirty="0"/>
            </a:br>
            <a:r>
              <a:rPr lang="en-US" dirty="0"/>
              <a:t>6</a:t>
            </a:r>
            <a:r>
              <a:rPr lang="uk-UA" dirty="0"/>
              <a:t>'</a:t>
            </a:r>
            <a:r>
              <a:rPr lang="en-US" dirty="0"/>
              <a:t>8</a:t>
            </a:r>
            <a:r>
              <a:rPr lang="ru-RU" dirty="0"/>
              <a:t>"</a:t>
            </a:r>
            <a:r>
              <a:rPr lang="en-US" dirty="0"/>
              <a:t> × 10</a:t>
            </a:r>
            <a:r>
              <a:rPr lang="uk-UA" dirty="0"/>
              <a:t>'</a:t>
            </a:r>
            <a:r>
              <a:rPr lang="en-US" dirty="0"/>
              <a:t>4</a:t>
            </a:r>
            <a:r>
              <a:rPr lang="ru-RU" dirty="0"/>
              <a:t>"</a:t>
            </a:r>
            <a:r>
              <a:rPr lang="en-US" dirty="0"/>
              <a:t> (2.03 × 3.15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a:t>
            </a:r>
          </a:p>
        </p:txBody>
      </p:sp>
      <p:pic>
        <p:nvPicPr>
          <p:cNvPr id="2" name="Picture 1" descr="A diagram of the painting, Primavera. The setting of the painting is a grove of orange trees. These hold a double meaning, suggestive of Venus’s Garden of the Hesperides, with its golden fruit, and also perhaps an allusion to the Medici, whose coat of arms features golden orbs. Mercury, the sign of the month of May, disperses the winter clouds with his caduceus at the left of the image. This staff, wound about with serpents, became a symbol for the medical profession. Indeed, the name Medici means, doctors. The gold flames decorating Mercury’s garment are also an attribute of Saint Lawrence, the namesake of Lorenzo di Pierfrancesco de’ Medici, for whom this painting was made. The laurel tree, or laurus in Latin, behind Zephyrus also alludes to Lorenzo’s name. Venus, clothed in contemporary costume and crowned with a marriage wreath, appears in her role as the goddess of wedded love. The presence of both Venus and Mercury may be an astrological reference; prominent Neoplatonist Marsilio Ficini told Lorenzo di Pierfrancesco de’Medici that these planets were aligned in his horoscope. A three-figure grouping to the right of Venus tells a story. Zephyrus, the west wind, is accosting the virgin nymph Chloris, identifiable from the roses pouring out of her mouth. Once Zephyrus makes her his bride, Cloris is transformed into the goddess Flora, the elaborately dressed personification of spring at the front of this group. Flora scatters flowers held in a fold of her dress at the level of her womb, equating female procreative fertility with the fecundity brought about by changing seasons. So accurate is the representation of the flowering plants in the painting that 138 of the 190 total have been identified. Almost all grow in the neighborhood of Florence between the months of March and April, and most carry symbolic associations with love and marriage. The Three Graces symbolize ideal female virtues: Chastity, Beauty, and Love. Venus’s son Cupid: the embodiment of romantic desire: playfully aims his arrow at them, from where he hovers above his moth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p:txBody>
          <a:bodyPr/>
          <a:lstStyle/>
          <a:p>
            <a:r>
              <a:rPr lang="en-US"/>
              <a:t>Botticelli (2 of 2) </a:t>
            </a:r>
          </a:p>
        </p:txBody>
      </p:sp>
      <p:sp>
        <p:nvSpPr>
          <p:cNvPr id="118786" name="Content Placeholder 2"/>
          <p:cNvSpPr>
            <a:spLocks noGrp="1"/>
          </p:cNvSpPr>
          <p:nvPr>
            <p:ph idx="1"/>
          </p:nvPr>
        </p:nvSpPr>
        <p:spPr/>
        <p:txBody>
          <a:bodyPr/>
          <a:lstStyle/>
          <a:p>
            <a:r>
              <a:rPr lang="en-US"/>
              <a:t>Sandro Botticelli</a:t>
            </a:r>
            <a:r>
              <a:rPr lang="uk-UA"/>
              <a:t>'</a:t>
            </a:r>
            <a:r>
              <a:rPr lang="en-US"/>
              <a:t>s </a:t>
            </a:r>
            <a:r>
              <a:rPr lang="en-US" i="1"/>
              <a:t>Birth of Venus </a:t>
            </a:r>
            <a:r>
              <a:rPr lang="en-US"/>
              <a:t>depicted Classical figures with fluid grace.</a:t>
            </a:r>
          </a:p>
          <a:p>
            <a:r>
              <a:rPr lang="en-US"/>
              <a:t>The </a:t>
            </a:r>
            <a:r>
              <a:rPr lang="ru-RU"/>
              <a:t>"</a:t>
            </a:r>
            <a:r>
              <a:rPr lang="en-US"/>
              <a:t>modest Venus</a:t>
            </a:r>
            <a:r>
              <a:rPr lang="ru-RU"/>
              <a:t>"</a:t>
            </a:r>
            <a:r>
              <a:rPr lang="en-US"/>
              <a:t> image derives from a Classical Greek statue often copied by the Romans.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3"/>
          <p:cNvSpPr>
            <a:spLocks noGrp="1"/>
          </p:cNvSpPr>
          <p:nvPr>
            <p:ph type="title"/>
          </p:nvPr>
        </p:nvSpPr>
        <p:spPr/>
        <p:txBody>
          <a:bodyPr>
            <a:normAutofit fontScale="90000"/>
          </a:bodyPr>
          <a:lstStyle/>
          <a:p>
            <a:r>
              <a:rPr lang="en-US" dirty="0"/>
              <a:t>Sandro Botticelli BIRTH OF VENUS</a:t>
            </a:r>
            <a:br>
              <a:rPr lang="en-US" dirty="0"/>
            </a:br>
            <a:r>
              <a:rPr lang="en-US" dirty="0"/>
              <a:t>c. 1484–1486. Tempera and gold on canvas, 5</a:t>
            </a:r>
            <a:r>
              <a:rPr lang="uk-UA" dirty="0"/>
              <a:t>'</a:t>
            </a:r>
            <a:r>
              <a:rPr lang="en-US" dirty="0"/>
              <a:t>8-7/8</a:t>
            </a:r>
            <a:r>
              <a:rPr lang="ru-RU" dirty="0"/>
              <a:t>"</a:t>
            </a:r>
            <a:r>
              <a:rPr lang="en-US" dirty="0"/>
              <a:t> × 9</a:t>
            </a:r>
            <a:r>
              <a:rPr lang="uk-UA" dirty="0"/>
              <a:t>'</a:t>
            </a:r>
            <a:r>
              <a:rPr lang="en-US" dirty="0"/>
              <a:t>1-7/8</a:t>
            </a:r>
            <a:r>
              <a:rPr lang="ru-RU" dirty="0"/>
              <a:t>"</a:t>
            </a:r>
            <a:r>
              <a:rPr lang="en-US" dirty="0"/>
              <a:t> (1.8 × 2.8 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 </a:t>
            </a:r>
          </a:p>
        </p:txBody>
      </p:sp>
      <p:pic>
        <p:nvPicPr>
          <p:cNvPr id="2" name="Picture 1" descr="A nude woman stands on a seashell, attempting to cover her breasts with one hand and her genitals with a handful of her long hair, which she must hold in place against the breeze blown by two angelic being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1"/>
          <p:cNvSpPr>
            <a:spLocks noGrp="1"/>
          </p:cNvSpPr>
          <p:nvPr>
            <p:ph type="title"/>
          </p:nvPr>
        </p:nvSpPr>
        <p:spPr/>
        <p:txBody>
          <a:bodyPr/>
          <a:lstStyle/>
          <a:p>
            <a:r>
              <a:rPr lang="en-US"/>
              <a:t>Urbino, Mantua, Rome, and Venice</a:t>
            </a:r>
          </a:p>
        </p:txBody>
      </p:sp>
      <p:sp>
        <p:nvSpPr>
          <p:cNvPr id="168962" name="Content Placeholder 2"/>
          <p:cNvSpPr>
            <a:spLocks noGrp="1"/>
          </p:cNvSpPr>
          <p:nvPr>
            <p:ph idx="1"/>
          </p:nvPr>
        </p:nvSpPr>
        <p:spPr/>
        <p:txBody>
          <a:bodyPr/>
          <a:lstStyle/>
          <a:p>
            <a:r>
              <a:rPr lang="en-US"/>
              <a:t>The ideas of Brunelleschi, Donatello, Masaccio, and other contemporaries spread from Florence to the rest of Italy.</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1"/>
          <p:cNvSpPr>
            <a:spLocks noGrp="1"/>
          </p:cNvSpPr>
          <p:nvPr>
            <p:ph type="title"/>
          </p:nvPr>
        </p:nvSpPr>
        <p:spPr/>
        <p:txBody>
          <a:bodyPr/>
          <a:lstStyle/>
          <a:p>
            <a:r>
              <a:rPr lang="en-US"/>
              <a:t>Urbino (1 of 4) </a:t>
            </a:r>
          </a:p>
        </p:txBody>
      </p:sp>
      <p:sp>
        <p:nvSpPr>
          <p:cNvPr id="121858" name="Content Placeholder 2"/>
          <p:cNvSpPr>
            <a:spLocks noGrp="1"/>
          </p:cNvSpPr>
          <p:nvPr>
            <p:ph idx="1"/>
          </p:nvPr>
        </p:nvSpPr>
        <p:spPr/>
        <p:txBody>
          <a:bodyPr/>
          <a:lstStyle/>
          <a:p>
            <a:r>
              <a:rPr lang="en-US"/>
              <a:t>The Palace at Urbino</a:t>
            </a:r>
          </a:p>
          <a:p>
            <a:pPr lvl="1"/>
            <a:r>
              <a:rPr lang="en-US"/>
              <a:t>Luciano Laurana</a:t>
            </a:r>
            <a:r>
              <a:rPr lang="uk-UA"/>
              <a:t>'</a:t>
            </a:r>
            <a:r>
              <a:rPr lang="en-US"/>
              <a:t>s design of the courtyard avoided the awkwardness of  two arches springing from a single column.</a:t>
            </a:r>
          </a:p>
          <a:p>
            <a:pPr lvl="2"/>
            <a:r>
              <a:rPr lang="en-US"/>
              <a:t>He used a variation of the composite capital on the ground level.</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3"/>
          <p:cNvSpPr>
            <a:spLocks noGrp="1"/>
          </p:cNvSpPr>
          <p:nvPr>
            <p:ph type="title"/>
          </p:nvPr>
        </p:nvSpPr>
        <p:spPr/>
        <p:txBody>
          <a:bodyPr>
            <a:normAutofit fontScale="90000"/>
          </a:bodyPr>
          <a:lstStyle/>
          <a:p>
            <a:r>
              <a:rPr lang="en-US" dirty="0"/>
              <a:t>Luciano </a:t>
            </a:r>
            <a:r>
              <a:rPr lang="en-US" dirty="0" err="1"/>
              <a:t>Laurana</a:t>
            </a:r>
            <a:r>
              <a:rPr lang="en-US" dirty="0"/>
              <a:t> COURTYARD, DUCAL PALACE, URBINO</a:t>
            </a:r>
            <a:br>
              <a:rPr lang="en-US" dirty="0"/>
            </a:br>
            <a:r>
              <a:rPr lang="en-US" dirty="0"/>
              <a:t>Courtyard c. 1467–1472; palace begun c. 1450.</a:t>
            </a:r>
            <a:br>
              <a:rPr lang="en-US" dirty="0"/>
            </a:br>
            <a:r>
              <a:rPr lang="en-US" dirty="0"/>
              <a:t>© </a:t>
            </a:r>
            <a:r>
              <a:rPr lang="en-US" dirty="0" err="1"/>
              <a:t>akg</a:t>
            </a:r>
            <a:r>
              <a:rPr lang="en-US" dirty="0"/>
              <a:t>-images/De Agostini Picture Lib./L. Romano. </a:t>
            </a:r>
          </a:p>
        </p:txBody>
      </p:sp>
      <p:pic>
        <p:nvPicPr>
          <p:cNvPr id="2" name="Picture 1" descr="Three sides of the courtyard of the palace at Urbino are shown, with round arches on thin columns on the ground level, and rows of symmetrically placed windows on the second level."/>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531368"/>
            <a:ext cx="8107680" cy="5031232"/>
          </a:xfrm>
          <a:prstGeom prst="rect">
            <a:avLst/>
          </a:prstGeom>
        </p:spPr>
      </p:pic>
    </p:spTree>
  </p:cSld>
  <p:clrMapOvr>
    <a:masterClrMapping/>
  </p:clrMapOvr>
  <p:transition spd="slow" advTm="0"/>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p:cNvSpPr>
          <p:nvPr>
            <p:ph type="title"/>
          </p:nvPr>
        </p:nvSpPr>
        <p:spPr/>
        <p:txBody>
          <a:bodyPr/>
          <a:lstStyle/>
          <a:p>
            <a:r>
              <a:rPr lang="en-US"/>
              <a:t>Urbino (2 of 4) </a:t>
            </a:r>
          </a:p>
        </p:txBody>
      </p:sp>
      <p:sp>
        <p:nvSpPr>
          <p:cNvPr id="124930" name="Content Placeholder 2"/>
          <p:cNvSpPr>
            <a:spLocks noGrp="1"/>
          </p:cNvSpPr>
          <p:nvPr>
            <p:ph idx="1"/>
          </p:nvPr>
        </p:nvSpPr>
        <p:spPr/>
        <p:txBody>
          <a:bodyPr/>
          <a:lstStyle/>
          <a:p>
            <a:r>
              <a:rPr lang="en-US"/>
              <a:t>The Palace at Urbino</a:t>
            </a:r>
          </a:p>
          <a:p>
            <a:pPr lvl="1"/>
            <a:r>
              <a:rPr lang="en-US"/>
              <a:t>The interior featured </a:t>
            </a:r>
            <a:r>
              <a:rPr lang="en-US" b="1"/>
              <a:t>trompe l</a:t>
            </a:r>
            <a:r>
              <a:rPr lang="uk-UA" b="1"/>
              <a:t>'</a:t>
            </a:r>
            <a:r>
              <a:rPr lang="en-US" b="1"/>
              <a:t>oeil </a:t>
            </a:r>
            <a:r>
              <a:rPr lang="en-US"/>
              <a:t>paintings, enhanced by linear perspective and foreshortening.</a:t>
            </a:r>
          </a:p>
          <a:p>
            <a:pPr lvl="2"/>
            <a:r>
              <a:rPr lang="en-US"/>
              <a:t>An example is the Studolio, or study, featuring the motif of a squirrel.</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3"/>
          <p:cNvSpPr>
            <a:spLocks noGrp="1"/>
          </p:cNvSpPr>
          <p:nvPr>
            <p:ph type="title"/>
          </p:nvPr>
        </p:nvSpPr>
        <p:spPr/>
        <p:txBody>
          <a:bodyPr>
            <a:normAutofit fontScale="90000"/>
          </a:bodyPr>
          <a:lstStyle/>
          <a:p>
            <a:r>
              <a:rPr lang="en-US" dirty="0"/>
              <a:t>Giuliano da </a:t>
            </a:r>
            <a:r>
              <a:rPr lang="en-US" dirty="0" err="1"/>
              <a:t>Maiano</a:t>
            </a:r>
            <a:r>
              <a:rPr lang="en-US" dirty="0"/>
              <a:t> (?) STUDIOLO OF FEDERICO DA MONTEFELTRO</a:t>
            </a:r>
            <a:br>
              <a:rPr lang="en-US" dirty="0"/>
            </a:br>
            <a:r>
              <a:rPr lang="en-US" dirty="0"/>
              <a:t>Ducal palace, Urbino. 1476.</a:t>
            </a:r>
            <a:br>
              <a:rPr lang="en-US" dirty="0"/>
            </a:br>
            <a:r>
              <a:rPr lang="en-US" dirty="0"/>
              <a:t>Intarsia, height 7</a:t>
            </a:r>
            <a:r>
              <a:rPr lang="uk-UA" dirty="0"/>
              <a:t>'</a:t>
            </a:r>
            <a:r>
              <a:rPr lang="en-US" dirty="0"/>
              <a:t>3</a:t>
            </a:r>
            <a:r>
              <a:rPr lang="ru-RU" dirty="0"/>
              <a:t>"</a:t>
            </a:r>
            <a:r>
              <a:rPr lang="en-US" dirty="0"/>
              <a:t> (2.21 m).</a:t>
            </a:r>
            <a:br>
              <a:rPr lang="en-US" dirty="0"/>
            </a:br>
            <a:r>
              <a:rPr lang="en-US" dirty="0"/>
              <a:t>© 2016. Photo Scala, Florence – courtesy of the </a:t>
            </a:r>
            <a:r>
              <a:rPr lang="en-US" dirty="0" err="1"/>
              <a:t>Ministero</a:t>
            </a:r>
            <a:r>
              <a:rPr lang="en-US" dirty="0"/>
              <a:t> Beni e Att. </a:t>
            </a:r>
            <a:r>
              <a:rPr lang="en-US" dirty="0" err="1"/>
              <a:t>Culturali</a:t>
            </a:r>
            <a:r>
              <a:rPr lang="en-US" dirty="0"/>
              <a:t>.</a:t>
            </a:r>
          </a:p>
        </p:txBody>
      </p:sp>
      <p:pic>
        <p:nvPicPr>
          <p:cNvPr id="2" name="Picture 1" descr="Intricate wooden inlay along the studiolo’s flat walls creates the illusion of depth, including shelves and open cupboard doors, and subtle changes in color to suggest realistic shadow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p:cNvSpPr>
            <a:spLocks noGrp="1"/>
          </p:cNvSpPr>
          <p:nvPr>
            <p:ph type="title"/>
          </p:nvPr>
        </p:nvSpPr>
        <p:spPr/>
        <p:txBody>
          <a:bodyPr/>
          <a:lstStyle/>
          <a:p>
            <a:r>
              <a:rPr lang="en-US"/>
              <a:t>Urbino (3 of 4) </a:t>
            </a:r>
          </a:p>
        </p:txBody>
      </p:sp>
      <p:sp>
        <p:nvSpPr>
          <p:cNvPr id="128002" name="Content Placeholder 2"/>
          <p:cNvSpPr>
            <a:spLocks noGrp="1"/>
          </p:cNvSpPr>
          <p:nvPr>
            <p:ph idx="1"/>
          </p:nvPr>
        </p:nvSpPr>
        <p:spPr/>
        <p:txBody>
          <a:bodyPr/>
          <a:lstStyle/>
          <a:p>
            <a:r>
              <a:rPr lang="en-US"/>
              <a:t>Piero della Francesca</a:t>
            </a:r>
          </a:p>
          <a:p>
            <a:pPr lvl="1"/>
            <a:r>
              <a:rPr lang="en-US"/>
              <a:t>Piero was one of few practicing artists who also wrote his own theory books.</a:t>
            </a:r>
          </a:p>
          <a:p>
            <a:pPr lvl="1"/>
            <a:r>
              <a:rPr lang="en-US" i="1"/>
              <a:t>Baptism of Christ</a:t>
            </a:r>
            <a:r>
              <a:rPr lang="en-US"/>
              <a:t>, his signature work, shows a central Christ next to a tree trunk.</a:t>
            </a:r>
          </a:p>
          <a:p>
            <a:pPr lvl="2"/>
            <a:r>
              <a:rPr lang="en-US"/>
              <a:t>A radically foreshortened dove, John</a:t>
            </a:r>
            <a:r>
              <a:rPr lang="uk-UA"/>
              <a:t>'</a:t>
            </a:r>
            <a:r>
              <a:rPr lang="en-US"/>
              <a:t>s baptismal dish, and clouds add stability above the vertical forms.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3"/>
          <p:cNvSpPr>
            <a:spLocks noGrp="1"/>
          </p:cNvSpPr>
          <p:nvPr>
            <p:ph type="title"/>
          </p:nvPr>
        </p:nvSpPr>
        <p:spPr/>
        <p:txBody>
          <a:bodyPr>
            <a:normAutofit fontScale="90000"/>
          </a:bodyPr>
          <a:lstStyle/>
          <a:p>
            <a:r>
              <a:rPr lang="en-US" dirty="0"/>
              <a:t>Piero </a:t>
            </a:r>
            <a:r>
              <a:rPr lang="en-US" dirty="0" err="1"/>
              <a:t>della</a:t>
            </a:r>
            <a:r>
              <a:rPr lang="en-US" dirty="0"/>
              <a:t> Francesca BAPTISM OF CHRIST</a:t>
            </a:r>
            <a:br>
              <a:rPr lang="en-US" dirty="0"/>
            </a:br>
            <a:r>
              <a:rPr lang="en-US" dirty="0"/>
              <a:t>c. 1450. Tempera on wood panel, 66</a:t>
            </a:r>
            <a:r>
              <a:rPr lang="ru-RU" dirty="0"/>
              <a:t>"</a:t>
            </a:r>
            <a:r>
              <a:rPr lang="en-US" dirty="0"/>
              <a:t> × 45-3/4</a:t>
            </a:r>
            <a:r>
              <a:rPr lang="ru-RU" dirty="0"/>
              <a:t>"</a:t>
            </a:r>
            <a:r>
              <a:rPr lang="en-US" dirty="0"/>
              <a:t> (1.67 × 1.16 m).</a:t>
            </a:r>
            <a:br>
              <a:rPr lang="en-US" dirty="0"/>
            </a:br>
            <a:r>
              <a:rPr lang="en-US" dirty="0"/>
              <a:t>National Gallery, London. © 2016. Copyright The National Gallery, London/Scala, Florence.</a:t>
            </a:r>
          </a:p>
        </p:txBody>
      </p:sp>
      <p:pic>
        <p:nvPicPr>
          <p:cNvPr id="2" name="Picture 1" descr="Angels stand to one side as John baptizes Jesus under the branches of a tree. As the water pours over Jesus’s head, a white dove flies over the scene, toward the viewe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p:txBody>
          <a:bodyPr/>
          <a:lstStyle/>
          <a:p>
            <a:r>
              <a:rPr lang="en-US"/>
              <a:t>Urbino (4 of 4) </a:t>
            </a:r>
          </a:p>
        </p:txBody>
      </p:sp>
      <p:sp>
        <p:nvSpPr>
          <p:cNvPr id="131074" name="Content Placeholder 2"/>
          <p:cNvSpPr>
            <a:spLocks noGrp="1"/>
          </p:cNvSpPr>
          <p:nvPr>
            <p:ph idx="1"/>
          </p:nvPr>
        </p:nvSpPr>
        <p:spPr/>
        <p:txBody>
          <a:bodyPr/>
          <a:lstStyle/>
          <a:p>
            <a:r>
              <a:rPr lang="en-US"/>
              <a:t>Piero della Francesca</a:t>
            </a:r>
          </a:p>
          <a:p>
            <a:pPr lvl="1"/>
            <a:r>
              <a:rPr lang="en-US"/>
              <a:t>The portraits of Federico and Battista Sforza are in strict profile, disengaging them from the viewer but drawing attention away from Federico</a:t>
            </a:r>
            <a:r>
              <a:rPr lang="uk-UA"/>
              <a:t>'</a:t>
            </a:r>
            <a:r>
              <a:rPr lang="en-US"/>
              <a:t>s scars.</a:t>
            </a:r>
          </a:p>
          <a:p>
            <a:pPr lvl="2"/>
            <a:r>
              <a:rPr lang="en-US"/>
              <a:t>The figures</a:t>
            </a:r>
            <a:r>
              <a:rPr lang="uk-UA"/>
              <a:t>'</a:t>
            </a:r>
            <a:r>
              <a:rPr lang="en-US"/>
              <a:t> meticulous clothes are silhouetted by atmospheric perspective.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le 3"/>
          <p:cNvSpPr>
            <a:spLocks noGrp="1"/>
          </p:cNvSpPr>
          <p:nvPr>
            <p:ph type="title"/>
          </p:nvPr>
        </p:nvSpPr>
        <p:spPr/>
        <p:txBody>
          <a:bodyPr>
            <a:normAutofit fontScale="90000"/>
          </a:bodyPr>
          <a:lstStyle/>
          <a:p>
            <a:r>
              <a:rPr lang="en-US" dirty="0"/>
              <a:t>Piero </a:t>
            </a:r>
            <a:r>
              <a:rPr lang="en-US" dirty="0" err="1"/>
              <a:t>della</a:t>
            </a:r>
            <a:r>
              <a:rPr lang="en-US" dirty="0"/>
              <a:t> Francesca BATTISTA SFORZA AND FEDERICO DA MONTEFELTRO</a:t>
            </a:r>
            <a:br>
              <a:rPr lang="en-US" dirty="0"/>
            </a:br>
            <a:r>
              <a:rPr lang="en-US" dirty="0"/>
              <a:t>c. 1474. Oil on wood panel, each 18-1/2</a:t>
            </a:r>
            <a:r>
              <a:rPr lang="ru-RU" dirty="0"/>
              <a:t>"</a:t>
            </a:r>
            <a:r>
              <a:rPr lang="en-US" dirty="0"/>
              <a:t> × 13</a:t>
            </a:r>
            <a:r>
              <a:rPr lang="ru-RU" dirty="0"/>
              <a:t>"</a:t>
            </a:r>
            <a:r>
              <a:rPr lang="en-US" dirty="0"/>
              <a:t> (47 × 33 cm).</a:t>
            </a:r>
            <a:br>
              <a:rPr lang="en-US" dirty="0"/>
            </a:br>
            <a:r>
              <a:rPr lang="en-US" dirty="0"/>
              <a:t>Galleria </a:t>
            </a:r>
            <a:r>
              <a:rPr lang="en-US" dirty="0" err="1"/>
              <a:t>degli</a:t>
            </a:r>
            <a:r>
              <a:rPr lang="en-US" dirty="0"/>
              <a:t> Uffizi, Florence. © Studio </a:t>
            </a:r>
            <a:r>
              <a:rPr lang="en-US" dirty="0" err="1"/>
              <a:t>Fotografico</a:t>
            </a:r>
            <a:r>
              <a:rPr lang="en-US" dirty="0"/>
              <a:t> </a:t>
            </a:r>
            <a:r>
              <a:rPr lang="en-US" dirty="0" err="1"/>
              <a:t>Quattrone</a:t>
            </a:r>
            <a:r>
              <a:rPr lang="en-US" dirty="0"/>
              <a:t>, Florence. </a:t>
            </a:r>
          </a:p>
        </p:txBody>
      </p:sp>
      <p:pic>
        <p:nvPicPr>
          <p:cNvPr id="2" name="Picture 1" descr="A diptych, with a man and a woman facing each other in profil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p:cNvSpPr>
            <a:spLocks noGrp="1"/>
          </p:cNvSpPr>
          <p:nvPr>
            <p:ph type="title"/>
          </p:nvPr>
        </p:nvSpPr>
        <p:spPr/>
        <p:txBody>
          <a:bodyPr/>
          <a:lstStyle/>
          <a:p>
            <a:r>
              <a:rPr lang="en-US"/>
              <a:t>Mantua</a:t>
            </a:r>
          </a:p>
        </p:txBody>
      </p:sp>
      <p:sp>
        <p:nvSpPr>
          <p:cNvPr id="136194" name="Content Placeholder 2"/>
          <p:cNvSpPr>
            <a:spLocks noGrp="1"/>
          </p:cNvSpPr>
          <p:nvPr>
            <p:ph idx="1"/>
          </p:nvPr>
        </p:nvSpPr>
        <p:spPr/>
        <p:txBody>
          <a:bodyPr/>
          <a:lstStyle/>
          <a:p>
            <a:r>
              <a:rPr lang="en-US"/>
              <a:t>Andrea Mantenga (1431–1506) worked for the court of Ludovico Gonzaga.</a:t>
            </a:r>
          </a:p>
          <a:p>
            <a:r>
              <a:rPr lang="en-US"/>
              <a:t>Mantenga</a:t>
            </a:r>
          </a:p>
          <a:p>
            <a:pPr lvl="1"/>
            <a:r>
              <a:rPr lang="en-US"/>
              <a:t>The Camera Picta of the ducal palace displays unprecedented perspective and foreshortening.</a:t>
            </a:r>
          </a:p>
          <a:p>
            <a:pPr lvl="2"/>
            <a:r>
              <a:rPr lang="en-US"/>
              <a:t>Figures are seen </a:t>
            </a:r>
            <a:r>
              <a:rPr lang="en-US" i="1"/>
              <a:t>di sotto in sù </a:t>
            </a:r>
            <a:r>
              <a:rPr lang="en-US"/>
              <a:t>(directly from below), beginning a tradition of illusionistic ceiling painting.</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3"/>
          <p:cNvSpPr>
            <a:spLocks noGrp="1"/>
          </p:cNvSpPr>
          <p:nvPr>
            <p:ph type="title"/>
          </p:nvPr>
        </p:nvSpPr>
        <p:spPr/>
        <p:txBody>
          <a:bodyPr>
            <a:normAutofit fontScale="90000"/>
          </a:bodyPr>
          <a:lstStyle/>
          <a:p>
            <a:r>
              <a:rPr lang="en-US" dirty="0"/>
              <a:t>Andrea Mantegna TWO VIEWS OF THE CAMERA PICTA, DUCAL PALACE, MANTUA</a:t>
            </a:r>
            <a:br>
              <a:rPr lang="en-US" dirty="0"/>
            </a:br>
            <a:r>
              <a:rPr lang="en-US" dirty="0"/>
              <a:t>1465–1474. Fresco, diameter of false oculus 8</a:t>
            </a:r>
            <a:r>
              <a:rPr lang="uk-UA" dirty="0"/>
              <a:t>'</a:t>
            </a:r>
            <a:r>
              <a:rPr lang="en-US" dirty="0"/>
              <a:t>9</a:t>
            </a:r>
            <a:r>
              <a:rPr lang="ru-RU" dirty="0"/>
              <a:t>"</a:t>
            </a:r>
            <a:r>
              <a:rPr lang="en-US" dirty="0"/>
              <a:t> (2.7 m);</a:t>
            </a:r>
            <a:br>
              <a:rPr lang="en-US" dirty="0"/>
            </a:br>
            <a:r>
              <a:rPr lang="en-US" dirty="0"/>
              <a:t>room 26</a:t>
            </a:r>
            <a:r>
              <a:rPr lang="uk-UA" dirty="0"/>
              <a:t>'</a:t>
            </a:r>
            <a:r>
              <a:rPr lang="en-US" dirty="0"/>
              <a:t>6</a:t>
            </a:r>
            <a:r>
              <a:rPr lang="ru-RU" dirty="0"/>
              <a:t>"</a:t>
            </a:r>
            <a:r>
              <a:rPr lang="en-US" dirty="0"/>
              <a:t> square (8 m square).</a:t>
            </a:r>
            <a:br>
              <a:rPr lang="en-US" dirty="0"/>
            </a:br>
            <a:r>
              <a:rPr lang="en-US" dirty="0"/>
              <a:t> © 2016. Photo Scala, Florence - courtesy of the </a:t>
            </a:r>
            <a:r>
              <a:rPr lang="en-US" dirty="0" err="1"/>
              <a:t>Ministero</a:t>
            </a:r>
            <a:r>
              <a:rPr lang="en-US" dirty="0"/>
              <a:t> Beni e Att. </a:t>
            </a:r>
            <a:r>
              <a:rPr lang="en-US" dirty="0" err="1"/>
              <a:t>Culturali</a:t>
            </a:r>
            <a:r>
              <a:rPr lang="en-US" dirty="0"/>
              <a:t>; © Studio </a:t>
            </a:r>
            <a:r>
              <a:rPr lang="en-US" dirty="0" err="1"/>
              <a:t>Fotografico</a:t>
            </a:r>
            <a:r>
              <a:rPr lang="en-US" dirty="0"/>
              <a:t> </a:t>
            </a:r>
            <a:r>
              <a:rPr lang="en-US" dirty="0" err="1"/>
              <a:t>Quattrone</a:t>
            </a:r>
            <a:r>
              <a:rPr lang="en-US" dirty="0"/>
              <a:t>, Florence </a:t>
            </a:r>
          </a:p>
        </p:txBody>
      </p:sp>
      <p:pic>
        <p:nvPicPr>
          <p:cNvPr id="2" name="Picture 1" descr="The tower chamber’s arches and vaults present a multitude of frameworks for scenes and portraiture, including circular painting to suggest the room has an open oculus where chubby, winged infants congregat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3"/>
          <p:cNvSpPr>
            <a:spLocks noGrp="1"/>
          </p:cNvSpPr>
          <p:nvPr>
            <p:ph type="title"/>
          </p:nvPr>
        </p:nvSpPr>
        <p:spPr/>
        <p:txBody>
          <a:bodyPr>
            <a:normAutofit fontScale="90000"/>
          </a:bodyPr>
          <a:lstStyle/>
          <a:p>
            <a:r>
              <a:rPr lang="en-US" dirty="0"/>
              <a:t>Andrea Mantegna TWO VIEWS OF THE CAMERA PICTA, DUCAL PALACE, MANTUA</a:t>
            </a:r>
            <a:br>
              <a:rPr lang="en-US" dirty="0"/>
            </a:br>
            <a:r>
              <a:rPr lang="en-US" dirty="0"/>
              <a:t>1465–1474. Fresco, diameter of false oculus 8</a:t>
            </a:r>
            <a:r>
              <a:rPr lang="uk-UA" dirty="0"/>
              <a:t>'</a:t>
            </a:r>
            <a:r>
              <a:rPr lang="en-US" dirty="0"/>
              <a:t>9</a:t>
            </a:r>
            <a:r>
              <a:rPr lang="ru-RU" dirty="0"/>
              <a:t>"</a:t>
            </a:r>
            <a:r>
              <a:rPr lang="en-US" dirty="0"/>
              <a:t> (2.7 m);</a:t>
            </a:r>
            <a:br>
              <a:rPr lang="en-US" dirty="0"/>
            </a:br>
            <a:r>
              <a:rPr lang="en-US" dirty="0"/>
              <a:t>room 26</a:t>
            </a:r>
            <a:r>
              <a:rPr lang="uk-UA" dirty="0"/>
              <a:t>'</a:t>
            </a:r>
            <a:r>
              <a:rPr lang="en-US" dirty="0"/>
              <a:t>6</a:t>
            </a:r>
            <a:r>
              <a:rPr lang="ru-RU" dirty="0"/>
              <a:t>"</a:t>
            </a:r>
            <a:r>
              <a:rPr lang="en-US" dirty="0"/>
              <a:t> square (8 m square).</a:t>
            </a:r>
            <a:br>
              <a:rPr lang="en-US" dirty="0"/>
            </a:br>
            <a:r>
              <a:rPr lang="en-US" dirty="0"/>
              <a:t> © 2016. Photo Scala, Florence - courtesy of the </a:t>
            </a:r>
            <a:r>
              <a:rPr lang="en-US" dirty="0" err="1"/>
              <a:t>Ministero</a:t>
            </a:r>
            <a:r>
              <a:rPr lang="en-US" dirty="0"/>
              <a:t> Beni e Att. </a:t>
            </a:r>
            <a:r>
              <a:rPr lang="en-US" dirty="0" err="1"/>
              <a:t>Culturali</a:t>
            </a:r>
            <a:r>
              <a:rPr lang="en-US" dirty="0"/>
              <a:t>; © Studio </a:t>
            </a:r>
            <a:r>
              <a:rPr lang="en-US" dirty="0" err="1"/>
              <a:t>Fotografico</a:t>
            </a:r>
            <a:r>
              <a:rPr lang="en-US" dirty="0"/>
              <a:t> </a:t>
            </a:r>
            <a:r>
              <a:rPr lang="en-US" dirty="0" err="1"/>
              <a:t>Quattrone</a:t>
            </a:r>
            <a:r>
              <a:rPr lang="en-US" dirty="0"/>
              <a:t>, Florence </a:t>
            </a:r>
          </a:p>
        </p:txBody>
      </p:sp>
      <p:pic>
        <p:nvPicPr>
          <p:cNvPr id="2" name="Picture 1" descr="The tower chamber’s arches and vaults present a multitude of frameworks for scenes and portraiture, including circular painting to suggest the room has an open oculus where chubby, winged infants congregate."/>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itle 1"/>
          <p:cNvSpPr>
            <a:spLocks noGrp="1"/>
          </p:cNvSpPr>
          <p:nvPr>
            <p:ph type="title"/>
          </p:nvPr>
        </p:nvSpPr>
        <p:spPr/>
        <p:txBody>
          <a:bodyPr/>
          <a:lstStyle/>
          <a:p>
            <a:r>
              <a:rPr lang="en-US"/>
              <a:t>Rome</a:t>
            </a:r>
          </a:p>
        </p:txBody>
      </p:sp>
      <p:sp>
        <p:nvSpPr>
          <p:cNvPr id="141314" name="Content Placeholder 2"/>
          <p:cNvSpPr>
            <a:spLocks noGrp="1"/>
          </p:cNvSpPr>
          <p:nvPr>
            <p:ph idx="1"/>
          </p:nvPr>
        </p:nvSpPr>
        <p:spPr/>
        <p:txBody>
          <a:bodyPr/>
          <a:lstStyle/>
          <a:p>
            <a:r>
              <a:rPr lang="en-US"/>
              <a:t>Botticelli and Ghirlandaio were some of the first famous artists summoned to paint the Sistine Chapel, but art historians believe Perugino supervised the project.</a:t>
            </a:r>
          </a:p>
          <a:p>
            <a:r>
              <a:rPr lang="en-US"/>
              <a:t>Perugino</a:t>
            </a:r>
          </a:p>
          <a:p>
            <a:pPr lvl="1"/>
            <a:r>
              <a:rPr lang="en-US" i="1"/>
              <a:t>Christ Giving the Keys to St. Peter </a:t>
            </a:r>
            <a:r>
              <a:rPr lang="en-US"/>
              <a:t>detailed figures with perfect scale, modeling, and perspective.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3"/>
          <p:cNvSpPr>
            <a:spLocks noGrp="1"/>
          </p:cNvSpPr>
          <p:nvPr>
            <p:ph type="title"/>
          </p:nvPr>
        </p:nvSpPr>
        <p:spPr/>
        <p:txBody>
          <a:bodyPr>
            <a:normAutofit fontScale="90000"/>
          </a:bodyPr>
          <a:lstStyle/>
          <a:p>
            <a:r>
              <a:rPr lang="en-US" dirty="0"/>
              <a:t>VIEW OF THE SISTINE CHAPEL SHOWING PAINTINGS COMMISSIONED FOR THE SIDE WALLS BY POPE SIXTUS IV</a:t>
            </a:r>
            <a:br>
              <a:rPr lang="en-US" dirty="0"/>
            </a:br>
            <a:r>
              <a:rPr lang="en-US" dirty="0"/>
              <a:t>Vatican, Rome. At lower right, Perugino</a:t>
            </a:r>
            <a:r>
              <a:rPr lang="uk-UA" dirty="0"/>
              <a:t>'</a:t>
            </a:r>
            <a:r>
              <a:rPr lang="en-US" dirty="0"/>
              <a:t>s </a:t>
            </a:r>
            <a:r>
              <a:rPr lang="en-US" i="1" dirty="0"/>
              <a:t>Christ Giving the Keys to St. Peter</a:t>
            </a:r>
            <a:r>
              <a:rPr lang="en-US" dirty="0"/>
              <a:t>,</a:t>
            </a:r>
            <a:br>
              <a:rPr lang="en-US" dirty="0"/>
            </a:br>
            <a:r>
              <a:rPr lang="en-US" dirty="0"/>
              <a:t>c. 1480–1482. 11</a:t>
            </a:r>
            <a:r>
              <a:rPr lang="uk-UA" dirty="0"/>
              <a:t>'</a:t>
            </a:r>
            <a:r>
              <a:rPr lang="en-US" dirty="0"/>
              <a:t>5-1/2</a:t>
            </a:r>
            <a:r>
              <a:rPr lang="ru-RU" dirty="0"/>
              <a:t>"</a:t>
            </a:r>
            <a:r>
              <a:rPr lang="en-US" dirty="0"/>
              <a:t> × 18</a:t>
            </a:r>
            <a:r>
              <a:rPr lang="uk-UA" dirty="0"/>
              <a:t>'</a:t>
            </a:r>
            <a:r>
              <a:rPr lang="en-US" dirty="0"/>
              <a:t>8-1/2</a:t>
            </a:r>
            <a:r>
              <a:rPr lang="ru-RU" dirty="0"/>
              <a:t>"</a:t>
            </a:r>
            <a:r>
              <a:rPr lang="en-US" dirty="0"/>
              <a:t> (3.48 × 5.70 m).</a:t>
            </a:r>
            <a:br>
              <a:rPr lang="en-US" dirty="0"/>
            </a:br>
            <a:r>
              <a:rPr lang="en-US" dirty="0"/>
              <a:t>Photo © </a:t>
            </a:r>
            <a:r>
              <a:rPr lang="en-US" dirty="0" err="1"/>
              <a:t>Musei</a:t>
            </a:r>
            <a:r>
              <a:rPr lang="en-US" dirty="0"/>
              <a:t> </a:t>
            </a:r>
            <a:r>
              <a:rPr lang="en-US" dirty="0" err="1"/>
              <a:t>Vaticani</a:t>
            </a:r>
            <a:r>
              <a:rPr lang="en-US" dirty="0"/>
              <a:t>/IKONA</a:t>
            </a:r>
          </a:p>
        </p:txBody>
      </p:sp>
      <p:pic>
        <p:nvPicPr>
          <p:cNvPr id="2" name="Picture 1" descr="Panels of portraits and tableau cover the chapel’s walls. In the foreground, Saint Peter is depicted as an old man, receiving a golden key from Christ in a large plaza."/>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Title 1"/>
          <p:cNvSpPr>
            <a:spLocks noGrp="1"/>
          </p:cNvSpPr>
          <p:nvPr>
            <p:ph type="title"/>
          </p:nvPr>
        </p:nvSpPr>
        <p:spPr/>
        <p:txBody>
          <a:bodyPr/>
          <a:lstStyle/>
          <a:p>
            <a:r>
              <a:rPr lang="en-US"/>
              <a:t>Venice (1 of 5) </a:t>
            </a:r>
          </a:p>
        </p:txBody>
      </p:sp>
      <p:sp>
        <p:nvSpPr>
          <p:cNvPr id="144386" name="Content Placeholder 2"/>
          <p:cNvSpPr>
            <a:spLocks noGrp="1"/>
          </p:cNvSpPr>
          <p:nvPr>
            <p:ph idx="1"/>
          </p:nvPr>
        </p:nvSpPr>
        <p:spPr/>
        <p:txBody>
          <a:bodyPr/>
          <a:lstStyle/>
          <a:p>
            <a:r>
              <a:rPr lang="en-US"/>
              <a:t>Venice emerged as a center for the arts as well as a commercial seaport.</a:t>
            </a:r>
          </a:p>
          <a:p>
            <a:r>
              <a:rPr lang="en-US"/>
              <a:t>The church of St. Mark was designed as a great Byzantine building, decorated with mosaics.</a:t>
            </a:r>
          </a:p>
          <a:p>
            <a:r>
              <a:rPr lang="en-US"/>
              <a:t>Textiles, jewelry, gold, enamel, glass, fine printing, and bookbinding were other specialties of Venetians.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Title 1"/>
          <p:cNvSpPr>
            <a:spLocks noGrp="1"/>
          </p:cNvSpPr>
          <p:nvPr>
            <p:ph type="title"/>
          </p:nvPr>
        </p:nvSpPr>
        <p:spPr/>
        <p:txBody>
          <a:bodyPr/>
          <a:lstStyle/>
          <a:p>
            <a:r>
              <a:rPr lang="en-US"/>
              <a:t>Venice (2 of 5) </a:t>
            </a:r>
          </a:p>
        </p:txBody>
      </p:sp>
      <p:sp>
        <p:nvSpPr>
          <p:cNvPr id="145410" name="Content Placeholder 2"/>
          <p:cNvSpPr>
            <a:spLocks noGrp="1"/>
          </p:cNvSpPr>
          <p:nvPr>
            <p:ph idx="1"/>
          </p:nvPr>
        </p:nvSpPr>
        <p:spPr/>
        <p:txBody>
          <a:bodyPr/>
          <a:lstStyle/>
          <a:p>
            <a:r>
              <a:rPr lang="en-US"/>
              <a:t>Venetian Palaces</a:t>
            </a:r>
          </a:p>
          <a:p>
            <a:pPr lvl="1"/>
            <a:r>
              <a:rPr lang="en-US"/>
              <a:t>The Ca d</a:t>
            </a:r>
            <a:r>
              <a:rPr lang="uk-UA"/>
              <a:t>'</a:t>
            </a:r>
            <a:r>
              <a:rPr lang="en-US"/>
              <a:t>Oro was home to nobleman Marino Contarini and features asymmetrical elevation and a Byzantine plan.</a:t>
            </a:r>
          </a:p>
          <a:p>
            <a:pPr lvl="1"/>
            <a:r>
              <a:rPr lang="en-US"/>
              <a:t>The façade was painted with white enamel and ultramarine blue.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Title 3"/>
          <p:cNvSpPr>
            <a:spLocks noGrp="1"/>
          </p:cNvSpPr>
          <p:nvPr>
            <p:ph type="title"/>
          </p:nvPr>
        </p:nvSpPr>
        <p:spPr/>
        <p:txBody>
          <a:bodyPr>
            <a:normAutofit fontScale="90000"/>
          </a:bodyPr>
          <a:lstStyle/>
          <a:p>
            <a:r>
              <a:rPr lang="en-US" dirty="0"/>
              <a:t>CA D</a:t>
            </a:r>
            <a:r>
              <a:rPr lang="uk-UA" dirty="0"/>
              <a:t>'</a:t>
            </a:r>
            <a:r>
              <a:rPr lang="en-US" dirty="0"/>
              <a:t>ORO (CONTARINI PALACE), VENICE</a:t>
            </a:r>
            <a:br>
              <a:rPr lang="en-US" dirty="0"/>
            </a:br>
            <a:r>
              <a:rPr lang="en-US" dirty="0"/>
              <a:t>1421–1437.</a:t>
            </a:r>
            <a:br>
              <a:rPr lang="en-US" dirty="0"/>
            </a:br>
            <a:r>
              <a:rPr lang="en-US" dirty="0"/>
              <a:t>© </a:t>
            </a:r>
            <a:r>
              <a:rPr lang="en-US" dirty="0" err="1"/>
              <a:t>Cameraphoto</a:t>
            </a:r>
            <a:r>
              <a:rPr lang="en-US" dirty="0"/>
              <a:t> </a:t>
            </a:r>
            <a:r>
              <a:rPr lang="en-US" dirty="0" err="1"/>
              <a:t>Arte</a:t>
            </a:r>
            <a:r>
              <a:rPr lang="en-US" dirty="0"/>
              <a:t>, Venice. </a:t>
            </a:r>
          </a:p>
        </p:txBody>
      </p:sp>
      <p:pic>
        <p:nvPicPr>
          <p:cNvPr id="2" name="Picture 1" descr="A three-story building stands at the edge of the canal. On each level, the right side is more enclosed than the left, which features an arcade-like run of columns and arche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Title 1"/>
          <p:cNvSpPr>
            <a:spLocks noGrp="1"/>
          </p:cNvSpPr>
          <p:nvPr>
            <p:ph type="title"/>
          </p:nvPr>
        </p:nvSpPr>
        <p:spPr/>
        <p:txBody>
          <a:bodyPr/>
          <a:lstStyle/>
          <a:p>
            <a:r>
              <a:rPr lang="en-US"/>
              <a:t>Venice (3 of 5) </a:t>
            </a:r>
          </a:p>
        </p:txBody>
      </p:sp>
      <p:sp>
        <p:nvSpPr>
          <p:cNvPr id="148482" name="Content Placeholder 2"/>
          <p:cNvSpPr>
            <a:spLocks noGrp="1"/>
          </p:cNvSpPr>
          <p:nvPr>
            <p:ph idx="1"/>
          </p:nvPr>
        </p:nvSpPr>
        <p:spPr/>
        <p:txBody>
          <a:bodyPr/>
          <a:lstStyle/>
          <a:p>
            <a:r>
              <a:rPr lang="en-US"/>
              <a:t>The Bellini Brothers</a:t>
            </a:r>
          </a:p>
          <a:p>
            <a:pPr lvl="1"/>
            <a:r>
              <a:rPr lang="en-US"/>
              <a:t>Gentile Bellini created large, lively narratives such as the </a:t>
            </a:r>
            <a:r>
              <a:rPr lang="en-US" i="1"/>
              <a:t>Procession of the Relic of the True Cross before the Church of St. Mark</a:t>
            </a:r>
            <a:r>
              <a:rPr lang="en-US"/>
              <a:t>.</a:t>
            </a:r>
          </a:p>
          <a:p>
            <a:pPr lvl="2"/>
            <a:r>
              <a:rPr lang="en-US"/>
              <a:t>It serves as a reminder that fifteenth-century piazzas and buildings were sites of ritual ceremony.</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Title 3"/>
          <p:cNvSpPr>
            <a:spLocks noGrp="1"/>
          </p:cNvSpPr>
          <p:nvPr>
            <p:ph type="title"/>
          </p:nvPr>
        </p:nvSpPr>
        <p:spPr/>
        <p:txBody>
          <a:bodyPr>
            <a:normAutofit fontScale="90000"/>
          </a:bodyPr>
          <a:lstStyle/>
          <a:p>
            <a:r>
              <a:rPr lang="en-US" dirty="0"/>
              <a:t>Gentile Bellini PROCESSION OF THE RELIC OF THE TRUE CROSS BEFORE</a:t>
            </a:r>
            <a:br>
              <a:rPr lang="en-US" dirty="0"/>
            </a:br>
            <a:r>
              <a:rPr lang="en-US" dirty="0"/>
              <a:t>THE CHURCH OF ST. MARK</a:t>
            </a:r>
            <a:br>
              <a:rPr lang="en-US" dirty="0"/>
            </a:br>
            <a:r>
              <a:rPr lang="en-US" dirty="0"/>
              <a:t>1496. Oil on canvas, 12</a:t>
            </a:r>
            <a:r>
              <a:rPr lang="uk-UA" dirty="0"/>
              <a:t>'</a:t>
            </a:r>
            <a:r>
              <a:rPr lang="en-US" dirty="0"/>
              <a:t> × 24</a:t>
            </a:r>
            <a:r>
              <a:rPr lang="uk-UA" dirty="0"/>
              <a:t>'</a:t>
            </a:r>
            <a:r>
              <a:rPr lang="en-US" dirty="0"/>
              <a:t>5</a:t>
            </a:r>
            <a:r>
              <a:rPr lang="ru-RU" dirty="0"/>
              <a:t>"</a:t>
            </a:r>
            <a:r>
              <a:rPr lang="en-US" dirty="0"/>
              <a:t> (3.67 × 7.45 m).</a:t>
            </a:r>
            <a:br>
              <a:rPr lang="en-US" dirty="0"/>
            </a:br>
            <a:r>
              <a:rPr lang="en-US" dirty="0"/>
              <a:t>Galleria dell</a:t>
            </a:r>
            <a:r>
              <a:rPr lang="uk-UA" dirty="0"/>
              <a:t>'</a:t>
            </a:r>
            <a:r>
              <a:rPr lang="en-US" dirty="0"/>
              <a:t>Accademia, Venice. © </a:t>
            </a:r>
            <a:r>
              <a:rPr lang="en-US" dirty="0" err="1"/>
              <a:t>Cameraphoto</a:t>
            </a:r>
            <a:r>
              <a:rPr lang="en-US" dirty="0"/>
              <a:t> </a:t>
            </a:r>
            <a:r>
              <a:rPr lang="en-US" dirty="0" err="1"/>
              <a:t>Arte</a:t>
            </a:r>
            <a:r>
              <a:rPr lang="en-US" dirty="0"/>
              <a:t>, Venice. </a:t>
            </a:r>
          </a:p>
        </p:txBody>
      </p:sp>
      <p:pic>
        <p:nvPicPr>
          <p:cNvPr id="2" name="Picture 1" descr="Gray-robed monks move in a procession around a large plaza, carrying a canopy over a lavishly decorated golden box. People line the monk’s path to watch. One man in red, right of center, kneels and watches the relic pass."/>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Title 1"/>
          <p:cNvSpPr>
            <a:spLocks noGrp="1"/>
          </p:cNvSpPr>
          <p:nvPr>
            <p:ph type="title"/>
          </p:nvPr>
        </p:nvSpPr>
        <p:spPr/>
        <p:txBody>
          <a:bodyPr/>
          <a:lstStyle/>
          <a:p>
            <a:r>
              <a:rPr lang="en-US"/>
              <a:t>Venice (4 of 5) </a:t>
            </a:r>
          </a:p>
        </p:txBody>
      </p:sp>
      <p:sp>
        <p:nvSpPr>
          <p:cNvPr id="151554" name="Content Placeholder 2"/>
          <p:cNvSpPr>
            <a:spLocks noGrp="1"/>
          </p:cNvSpPr>
          <p:nvPr>
            <p:ph idx="1"/>
          </p:nvPr>
        </p:nvSpPr>
        <p:spPr/>
        <p:txBody>
          <a:bodyPr/>
          <a:lstStyle/>
          <a:p>
            <a:r>
              <a:rPr lang="en-US"/>
              <a:t>The Bellini Brothers</a:t>
            </a:r>
          </a:p>
          <a:p>
            <a:pPr lvl="1"/>
            <a:r>
              <a:rPr lang="en-US"/>
              <a:t>Giovanni Bellini</a:t>
            </a:r>
            <a:r>
              <a:rPr lang="uk-UA"/>
              <a:t>'</a:t>
            </a:r>
            <a:r>
              <a:rPr lang="en-US"/>
              <a:t>s artistic virtuosity is seen in the </a:t>
            </a:r>
            <a:r>
              <a:rPr lang="en-US" i="1"/>
              <a:t>Virgin and Child Enthroned with SS</a:t>
            </a:r>
            <a:r>
              <a:rPr lang="en-US"/>
              <a:t>. </a:t>
            </a:r>
            <a:r>
              <a:rPr lang="en-US" i="1"/>
              <a:t>Francis, John the Baptist, Job, Dominic, Sebastian, and Louis of Toulouse</a:t>
            </a:r>
            <a:r>
              <a:rPr lang="en-US"/>
              <a:t>.</a:t>
            </a:r>
          </a:p>
          <a:p>
            <a:pPr lvl="2"/>
            <a:r>
              <a:rPr lang="en-US"/>
              <a:t>It exhibits radical foreshortening and a low vanishing point.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Title 3"/>
          <p:cNvSpPr>
            <a:spLocks noGrp="1"/>
          </p:cNvSpPr>
          <p:nvPr>
            <p:ph type="title"/>
          </p:nvPr>
        </p:nvSpPr>
        <p:spPr/>
        <p:txBody>
          <a:bodyPr>
            <a:normAutofit fontScale="90000"/>
          </a:bodyPr>
          <a:lstStyle/>
          <a:p>
            <a:r>
              <a:rPr lang="en-US" dirty="0"/>
              <a:t>Giovanni Bellini VIRGIN AND CHILD ENTHRONED WITH SS. FRANCIS, JOHN THE BAPTIST, JOB, DOMINIC, SEBASTIAN, AND LOUIS OF TOULOUSE</a:t>
            </a:r>
            <a:br>
              <a:rPr lang="en-US" dirty="0"/>
            </a:br>
            <a:r>
              <a:rPr lang="en-US" dirty="0"/>
              <a:t>Originally commissioned for the chapel of the Hospital of San </a:t>
            </a:r>
            <a:r>
              <a:rPr lang="en-US" dirty="0" err="1"/>
              <a:t>Giobbe</a:t>
            </a:r>
            <a:r>
              <a:rPr lang="en-US" dirty="0"/>
              <a:t>, Venice. c. 1478. Oil on wood panel, 15</a:t>
            </a:r>
            <a:r>
              <a:rPr lang="uk-UA" dirty="0"/>
              <a:t>'</a:t>
            </a:r>
            <a:r>
              <a:rPr lang="en-US" dirty="0"/>
              <a:t>4</a:t>
            </a:r>
            <a:r>
              <a:rPr lang="ru-RU" dirty="0"/>
              <a:t>"</a:t>
            </a:r>
            <a:r>
              <a:rPr lang="en-US" dirty="0"/>
              <a:t> × 8</a:t>
            </a:r>
            <a:r>
              <a:rPr lang="uk-UA" dirty="0"/>
              <a:t>'</a:t>
            </a:r>
            <a:r>
              <a:rPr lang="en-US" dirty="0"/>
              <a:t>4</a:t>
            </a:r>
            <a:r>
              <a:rPr lang="ru-RU" dirty="0"/>
              <a:t>"</a:t>
            </a:r>
            <a:r>
              <a:rPr lang="en-US" dirty="0"/>
              <a:t> (4.67 × 2.54 m). Galleria </a:t>
            </a:r>
            <a:r>
              <a:rPr lang="en-US" dirty="0" err="1"/>
              <a:t>dell’Accademia</a:t>
            </a:r>
            <a:r>
              <a:rPr lang="en-US" dirty="0"/>
              <a:t>, Venice. </a:t>
            </a:r>
            <a:br>
              <a:rPr lang="en-US" dirty="0"/>
            </a:br>
            <a:r>
              <a:rPr lang="en-US" dirty="0"/>
              <a:t>© </a:t>
            </a:r>
            <a:r>
              <a:rPr lang="en-US" dirty="0" err="1"/>
              <a:t>Cameraphoto</a:t>
            </a:r>
            <a:r>
              <a:rPr lang="en-US" dirty="0"/>
              <a:t> </a:t>
            </a:r>
            <a:r>
              <a:rPr lang="en-US" dirty="0" err="1"/>
              <a:t>Arte</a:t>
            </a:r>
            <a:r>
              <a:rPr lang="en-US" dirty="0"/>
              <a:t>, Venice. </a:t>
            </a:r>
          </a:p>
        </p:txBody>
      </p:sp>
      <p:pic>
        <p:nvPicPr>
          <p:cNvPr id="2" name="Picture 1" descr="Mary sits on a throne, holding the infant Jesus on her lap. They sit under a dome, surrounded by biblical and religious figures. "/>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Title 1"/>
          <p:cNvSpPr>
            <a:spLocks noGrp="1"/>
          </p:cNvSpPr>
          <p:nvPr>
            <p:ph type="title"/>
          </p:nvPr>
        </p:nvSpPr>
        <p:spPr/>
        <p:txBody>
          <a:bodyPr/>
          <a:lstStyle/>
          <a:p>
            <a:r>
              <a:rPr lang="en-US"/>
              <a:t>Venice (5 of 5) </a:t>
            </a:r>
          </a:p>
        </p:txBody>
      </p:sp>
      <p:sp>
        <p:nvSpPr>
          <p:cNvPr id="154626" name="Content Placeholder 2"/>
          <p:cNvSpPr>
            <a:spLocks noGrp="1"/>
          </p:cNvSpPr>
          <p:nvPr>
            <p:ph idx="1"/>
          </p:nvPr>
        </p:nvSpPr>
        <p:spPr/>
        <p:txBody>
          <a:bodyPr/>
          <a:lstStyle/>
          <a:p>
            <a:r>
              <a:rPr lang="en-US"/>
              <a:t>The Bellini Brothers</a:t>
            </a:r>
          </a:p>
          <a:p>
            <a:pPr lvl="1"/>
            <a:r>
              <a:rPr lang="en-US"/>
              <a:t>Giovanni</a:t>
            </a:r>
            <a:r>
              <a:rPr lang="uk-UA"/>
              <a:t>'</a:t>
            </a:r>
            <a:r>
              <a:rPr lang="en-US"/>
              <a:t>s </a:t>
            </a:r>
            <a:r>
              <a:rPr lang="en-US" i="1"/>
              <a:t>St. Francis in Ecstasy </a:t>
            </a:r>
            <a:r>
              <a:rPr lang="en-US"/>
              <a:t>recalls Flemish art due to its fine detail.</a:t>
            </a:r>
          </a:p>
          <a:p>
            <a:pPr lvl="2"/>
            <a:r>
              <a:rPr lang="en-US"/>
              <a:t>The natural world depicted is saturated with religious symbolism.</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3"/>
          <p:cNvSpPr>
            <a:spLocks noGrp="1"/>
          </p:cNvSpPr>
          <p:nvPr>
            <p:ph type="title"/>
          </p:nvPr>
        </p:nvSpPr>
        <p:spPr/>
        <p:txBody>
          <a:bodyPr>
            <a:normAutofit fontScale="90000"/>
          </a:bodyPr>
          <a:lstStyle/>
          <a:p>
            <a:r>
              <a:rPr lang="en-US" dirty="0"/>
              <a:t>Giovanni Bellini ST. FRANCIS IN ECSTASY</a:t>
            </a:r>
            <a:br>
              <a:rPr lang="en-US" dirty="0"/>
            </a:br>
            <a:r>
              <a:rPr lang="en-US" dirty="0"/>
              <a:t>c. 1470s. Oil and tempera on wood panel, 49-1/16 × 55-7/8</a:t>
            </a:r>
            <a:r>
              <a:rPr lang="ru-RU" dirty="0"/>
              <a:t>"</a:t>
            </a:r>
            <a:r>
              <a:rPr lang="en-US" dirty="0"/>
              <a:t> (124.6 × 142 cm).</a:t>
            </a:r>
            <a:br>
              <a:rPr lang="en-US" dirty="0"/>
            </a:br>
            <a:r>
              <a:rPr lang="en-US" dirty="0"/>
              <a:t>The Frick Collection, New York.</a:t>
            </a:r>
          </a:p>
        </p:txBody>
      </p:sp>
      <p:pic>
        <p:nvPicPr>
          <p:cNvPr id="2" name="Picture 1" descr="A man in a long, gray robe stands in the early morning sunlight outside his wilderness refuge and looks toward the horizon with his arms held at his sides, palms up."/>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000" y="4572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1683</TotalTime>
  <Words>6786</Words>
  <Application>Microsoft Office PowerPoint</Application>
  <PresentationFormat>On-screen Show (4:3)</PresentationFormat>
  <Paragraphs>337</Paragraphs>
  <Slides>95</Slides>
  <Notes>49</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95</vt:i4>
      </vt:variant>
    </vt:vector>
  </HeadingPairs>
  <TitlesOfParts>
    <vt:vector size="100" baseType="lpstr">
      <vt:lpstr>Arial</vt:lpstr>
      <vt:lpstr>Verdana</vt:lpstr>
      <vt:lpstr>Wingdings</vt:lpstr>
      <vt:lpstr>508 Lecture</vt:lpstr>
      <vt:lpstr>Custom Design</vt:lpstr>
      <vt:lpstr>Chapter 15</vt:lpstr>
      <vt:lpstr>Learning Objectives</vt:lpstr>
      <vt:lpstr>Paolo Uccello NICCOLÒ DA TOLENTINO LEADING THE CHARGE Detail from The Battle of San Romano (FIG. 20-24), 1438–1440. Tempera on wood panel. National Gallery, London. © 2016. Copyright The National Gallery, London/Scala, Florence. </vt:lpstr>
      <vt:lpstr>Humanism and the Italian Renaissance (1 of 2)</vt:lpstr>
      <vt:lpstr>Humanism and the Italian Renaissance (2 of 2)</vt:lpstr>
      <vt:lpstr>FIFTEENTH-CENTURY ITALY Powerful families divided the Italian peninsula into city-states: the Medici in Florence, the Visconti and Sforza in Milan, the Montefeltro in Urbino, the Gonzaga in Mantua, and the Este in Ferrara. After 1420, the popes ruled Rome, while in the south Naples and Sicily were French and then Spanish (Aragonese) territories. Venice maintained its independence as a republic.</vt:lpstr>
      <vt:lpstr>The Early Renaissance in Florence</vt:lpstr>
      <vt:lpstr>The Competition Reliefs (1 of 2)</vt:lpstr>
      <vt:lpstr>The Competition Reliefs (2 of 2)</vt:lpstr>
      <vt:lpstr>Filippo Brunelleschi SACRIFICE OF ISAAC 1401–1402. Bronze with gilding, 21 × 17-1/2" (53 × 44 cm) inside molding. Museo Nazionale del Bargello, Florence. © Studio Fotografico Quattrone, Florence</vt:lpstr>
      <vt:lpstr>Lorenzo Ghiberti SACRIFICE OF ISAAC 1401–1402. Bronze with gilding, 21 × 17-1/2" (53 × 44 cm) inside molding. Museo Nazionale del Bargello, Florence. © Studio Fotografico Quattrone, Florence. </vt:lpstr>
      <vt:lpstr>Filippo Brunelleschi, Architect (1 of 6)</vt:lpstr>
      <vt:lpstr>Filippo Brunelleschi, Architect (2 of 6)</vt:lpstr>
      <vt:lpstr>Filippo Brunelleschi DOME OF FLORENCE CATHEDRAL (SANTA MARIA DEL FIORE) 1420–1436; lantern completed 1471. © Javier Martin/123RF. </vt:lpstr>
      <vt:lpstr>SCHEMATIC DRAWING OF FLORENCE CATHEDRAL The separate, central-plan building in front of the façade is the baptistery. Adjacent to the façade is a tall tower designed by Giotto in 1334. © Dorling Kindersley. </vt:lpstr>
      <vt:lpstr>Filippo Brunelleschi, Architect (3 of 6)</vt:lpstr>
      <vt:lpstr>Filippo Brunelleschi OSPEDALE DEGLI INNOCENTI (FOUNDLING HOSPITAL), FLORENCE Designed 1419; begun under Brunelleschi's direct supervision 1421–1427; construction continued into the 1440s. Deposit Photos/Glow Images. </vt:lpstr>
      <vt:lpstr>Andrea della Robbia INFANT IN SWADDLING CLOTHES (ONE OF THE HOLY INNOCENTS MASSACRED BY HEROD) Ospedale degli Innocenti (Foundling Hospital), Florence. 1487. Glazed terra cotta. pio3/Fotolia. </vt:lpstr>
      <vt:lpstr>Filippo Brunelleschi, Architect (4 of 6)</vt:lpstr>
      <vt:lpstr>Filippo Brunelleschi (continued by Michelozzo di Bartolomeo) INTERIOR OF CHURCH OF SAN LORENZO, FLORENCE c. 1421–1428; nave (designed 1434?) 1442–1470. © Studio Fotografico Quattrone, Florence. </vt:lpstr>
      <vt:lpstr>Filippo Brunelleschi (continued by Michelozzo di Bartolomeo) PLAN OF CHURCH OF SAN LORENZO, FLORENCE c. 1421–1428; nave (designed 1434?) 1442–1470. </vt:lpstr>
      <vt:lpstr>Filippo Brunelleschi, Architect (5 of 6)</vt:lpstr>
      <vt:lpstr>Attributed to Michelozzo di Bartolomeo FAÇADE, PALAZZO MEDICI-RICCARDI, FLORENCE Begun 1446 (the view shown here includes a two-bay extension constructed during the 18th century). © Achim Bednorz, Cologne. </vt:lpstr>
      <vt:lpstr>Filippo Brunelleschi, Architect (6 of 6)</vt:lpstr>
      <vt:lpstr>COURTYARD WITH SGRAFFITO DECORATION, PALAZZO MEDICI-RICCARDI, FLORENCE Begun 1446. </vt:lpstr>
      <vt:lpstr>Sculpture (1 of 6)</vt:lpstr>
      <vt:lpstr>Sculpture (2 of 6)</vt:lpstr>
      <vt:lpstr>EXTERIOR VIEW OF ORSANMICHELE SHOWING SCULPTURE IN NICHES Florence. Begun 1337. © Studio Fotografico Quattrone, Florence. </vt:lpstr>
      <vt:lpstr>Nanni di Banco THE FOUR CROWNED MARTYRS c. 1409–1417. Marble, height of figures 6' (1.83 m). Photographed in situ before removal of the figures to the Museo di Orsanmichele, Florence. © Studio Fotografico Quattrone, Florence. </vt:lpstr>
      <vt:lpstr>Sculpture (3 of 6)</vt:lpstr>
      <vt:lpstr>Donatello ST. GEORGE Formerly in Orsanmichele, Florence. 1417–1420. Marble, height 6'5" (1.95 m). Museo Nazionale del Bargello, Florence. © Studio Fotografico Quattrone, Florence.</vt:lpstr>
      <vt:lpstr>Sculpture (4 of 6)</vt:lpstr>
      <vt:lpstr>Donatello DAVID c. 1446–1460(?). Bronze, height 5'2-1/4" (1.58 m). Museo Nazionale del Bargello, Florence. © Studio Fotografico Quattrone, Florence. </vt:lpstr>
      <vt:lpstr>Sculpture (5 of 6)</vt:lpstr>
      <vt:lpstr>Donatello EQUESTRIAN STATUE OF ERASMO DA NARNI (GATTAMELATA) Piazza del Santo, Padua. 1443–1453. Bronze, height approx. 12'2" (3.71 m). © akg-images/Cameraphoto</vt:lpstr>
      <vt:lpstr>Sculpture (6 of 6)</vt:lpstr>
      <vt:lpstr>Lorenzo Ghiberti "GATES OF PARADISE" (EAST BAPTISTERY DOORS) Formerly on the Baptistery of San Giovanni, Florence. 1425–1452. Gilt bronze, height 15' (4.57 m). Museo dell'Opera del Duomo, Florence. © 2016 Photo Scala, Florence.</vt:lpstr>
      <vt:lpstr>Lorenzo Ghiberti JACOB AND ESAU, PANEL OF THE "GATES OF PARADISE" (EAST BAPTISTERY DOORS) Formerly on the Baptistery of San Giovanni, Florence. c. 1435. Gilded bronze, 31-1/4" (79 cm) square. Museo dell'Opera del Duomo, Florence. © Studio Fotografico Quattrone, Florence.</vt:lpstr>
      <vt:lpstr>Masaccio (1 of 2)</vt:lpstr>
      <vt:lpstr>Masaccio TRINITY WITH THE VIRGIN, ST. JOHN THE EVANGELIST, AND DONORS Church of Santa Maria Novella, Florence. c. 1425–1427/1428. Fresco, 21' × 10'5" (6.4 × 3.2 m). © Studio Fotografico Quattrone, Florence. </vt:lpstr>
      <vt:lpstr>SECTION DIAGRAM OF THE ILLUSIONISTIC SPATIAL WORLD PORTRAYED IN MASACCIO'S TRINITY After Gene Brucker, Florence: The Golden Age, Berkeley, 1998.</vt:lpstr>
      <vt:lpstr>Technique: Renaissance Perspective</vt:lpstr>
      <vt:lpstr>Perugino CHRIST GIVING THE KEYS TO ST. PETER Fresco on the right wall of the Sistine Chapel (see FIG. 20-41), Vatican, Rome. 1480–1482. 11'5-1/2" × 18'8-1/2" (3.48 × 5.70 m). </vt:lpstr>
      <vt:lpstr>SCHEMATIC DRAWING SHOWING THE ORTHOGONALS AND VANISHING POINT OF CHRIST GIVING THE KEYS TO ST. PETER Canali Photobank, Milan, Italy</vt:lpstr>
      <vt:lpstr>Masaccio (2 of 2)</vt:lpstr>
      <vt:lpstr>Masaccio THE EXPULSION OF ADAM AND EVE FROM PARADISE Brancacci Chapel, church of Santa Maria del Carmine, Florence. c. 1427. Fresco, 7' × 2'11" (214 × 90 cm). © Studio Fotografico Quattrone, Florence.</vt:lpstr>
      <vt:lpstr>Masaccio THE TRIBUTE MONEY Brancacci Chapel, church of Santa Maria del Carmine, Florence. c. 1427. Fresco, 8'1" × 19'7" (2.46 × 6 m). © Studio Fotografico Quattrone, Florence.</vt:lpstr>
      <vt:lpstr>Painting in Florence After Masaccio  (1 of 4)</vt:lpstr>
      <vt:lpstr>Fra Angelico ANNUNCIATION North dormitory corridor, monastery of San Marco, Florence. c. 1438–1445. Fresco, 7'1" × 10'6" (2.2 × 3.2 m). © Studio Fotografico Quattrone, Florence. </vt:lpstr>
      <vt:lpstr>Painting in Florence After Masaccio (2 of 4)</vt:lpstr>
      <vt:lpstr>Paolo Uccello THE BATTLE OF SAN ROMANO 1438–1440. Tempera on wood panel, approx. 6' × 10'6" (1.82 × 3.2 m). National Gallery, London. © 2016. Copyright The National Gallery, London/Scala, Florence </vt:lpstr>
      <vt:lpstr>Painting in Florence After Masaccio (3 of 4)</vt:lpstr>
      <vt:lpstr>Andrea del Castagno THE LAST SUPPER Refectory, convent of Sant'Apollonia, Florence. 1447. Fresco, width approx. 16 × 32' (4.6 × 9.8 m).  © Studio Fotografico Quattrone, Florence. </vt:lpstr>
      <vt:lpstr>Painting in Florence After Masaccio (4 of 4)</vt:lpstr>
      <vt:lpstr>Fra Filippo Lippi PORTRAIT OF A WOMAN AND MAN (ANGIOLA DI BERNARDO SAPITI AND LORENZO DI RANIERI SCOLARI?) c. 1435–1445. Tempera on wood panel, 25-1/4" × 16-1/2" (64.1 × 41.9 cm). Metropolitan Museum of Art, New York. © 2016. Image copyright The Metropolitan Museum of Art/Art Resource/Scala, Florence. </vt:lpstr>
      <vt:lpstr>Florentine Art in the Second Half of the Fifteenth Century</vt:lpstr>
      <vt:lpstr>Verrocchio</vt:lpstr>
      <vt:lpstr>Andrea del Verrocchio DAVID Commissioned by Lorenzo de' Medici for the Medici Palace. c. 1470–1475. Bronze with gilded details, height 49-5/8" (1.26 m). Museo Nazionale del Bargello, Florence. © Studio Fotografico Quattrone, Florence  </vt:lpstr>
      <vt:lpstr>Pollaiuolo</vt:lpstr>
      <vt:lpstr>Antonio del Pollaiuolo HERCULES AND ANTAEUS c. 1475. Bronze, height with base 18" (45.7 cm). Museo Nazionale del Bargello, Florence. © 2016. Photo Scala, Florence - courtesy of the Ministero Beni e Att. Culturali.</vt:lpstr>
      <vt:lpstr>Antonio del Pollaiuolo THE BATTLE OF THE NUDES c. 1490. Engraving, 15-3/4" × 22-13/16" (40 × 58 cm). Yale University Art Gallery, New Haven, Connecticut. Maitland F. Griggs, B.A. 1896, Fund (1951.9.18). Image courtesy Yale University Art Gallery. </vt:lpstr>
      <vt:lpstr>The Morelli-Nerli Wedding Chests</vt:lpstr>
      <vt:lpstr>Jacopo del Sellaio, Biagio d'Antonio (painters), and Zanobi di Domenico (woodworker) CASSONE MADE FOR THE MARRIAGE OF LORENZO DI MATTEO MORELLI AND VAGGIA DI TANAI NERLI (ONE OF A SET OF TWO) 1472. Tempera and gold on wood, chest 83-1/2" × 75" × 30" (212 × 193 × 76.2 cm). The Samuel Courtauld Trust, The Courtauld Gallery, London. (F.1947.LF.4) © Samuel Courtauld Trust, The Courtauld Gallery, London, UK/Bridgeman Images </vt:lpstr>
      <vt:lpstr>Ghirlandaio (1 of 2) </vt:lpstr>
      <vt:lpstr>Domenico Ghirlandaio SCENES FROM THE LIFE OF ST. FRANCIS; ALTARPIECE WITH NATIVITY AND ADORATION OF THE SHEPHERDS Sassetti Chapel, church of Santa Trinità, Florence. 1483–1486. Fresco, chapel 12'2" deep × 17'2" wide (3.7 × 5.25 m). © Archivi Alinari, Firenze. </vt:lpstr>
      <vt:lpstr>Domenico Ghirlandaio CONFIRMATION OF THE FRANCISCAN RULE BY POPE HONORIUS III Sassetti Chapel, church of Santa Trinità, Florence. 1483–1486. Fresco, width at base 17'2" (5.25 m). © Studio Fotografico Quattrone, Florence. </vt:lpstr>
      <vt:lpstr>Ghirlandaio (2 of 2) </vt:lpstr>
      <vt:lpstr>Domenico Ghirlandaio NATIVITY AND ADORATION OF THE SHEPHERDS Altarpiece in the Sassetti Chapel, church of Santa Trinità, Florence. 1485. Panel, 65-3/4" square (1.67 m square). © Studio Fotografico Quattrone, Florence </vt:lpstr>
      <vt:lpstr>Botticelli (1 of 2) </vt:lpstr>
      <vt:lpstr>A CLOSER LOOK: Primavera by Sandro Botticelli c. 1482. Tempera on wood panel. 6'8" × 10'4" (2.03 × 3.15 m). Galleria degli Uffizi, Florence. © Studio Fotografico Quattrone, Florence.</vt:lpstr>
      <vt:lpstr>Botticelli (2 of 2) </vt:lpstr>
      <vt:lpstr>Sandro Botticelli BIRTH OF VENUS c. 1484–1486. Tempera and gold on canvas, 5'8-7/8" × 9'1-7/8" (1.8 × 2.8 m). Galleria degli Uffizi, Florence. © Studio Fotografico Quattrone, Florence. </vt:lpstr>
      <vt:lpstr>Urbino, Mantua, Rome, and Venice</vt:lpstr>
      <vt:lpstr>Urbino (1 of 4) </vt:lpstr>
      <vt:lpstr>Luciano Laurana COURTYARD, DUCAL PALACE, URBINO Courtyard c. 1467–1472; palace begun c. 1450. © akg-images/De Agostini Picture Lib./L. Romano. </vt:lpstr>
      <vt:lpstr>Urbino (2 of 4) </vt:lpstr>
      <vt:lpstr>Giuliano da Maiano (?) STUDIOLO OF FEDERICO DA MONTEFELTRO Ducal palace, Urbino. 1476. Intarsia, height 7'3" (2.21 m). © 2016. Photo Scala, Florence – courtesy of the Ministero Beni e Att. Culturali.</vt:lpstr>
      <vt:lpstr>Urbino (3 of 4) </vt:lpstr>
      <vt:lpstr>Piero della Francesca BAPTISM OF CHRIST c. 1450. Tempera on wood panel, 66" × 45-3/4" (1.67 × 1.16 m). National Gallery, London. © 2016. Copyright The National Gallery, London/Scala, Florence.</vt:lpstr>
      <vt:lpstr>Urbino (4 of 4) </vt:lpstr>
      <vt:lpstr>Piero della Francesca BATTISTA SFORZA AND FEDERICO DA MONTEFELTRO c. 1474. Oil on wood panel, each 18-1/2" × 13" (47 × 33 cm). Galleria degli Uffizi, Florence. © Studio Fotografico Quattrone, Florence. </vt:lpstr>
      <vt:lpstr>Mantua</vt:lpstr>
      <vt:lpstr>Andrea Mantegna TWO VIEWS OF THE CAMERA PICTA, DUCAL PALACE, MANTUA 1465–1474. Fresco, diameter of false oculus 8'9" (2.7 m); room 26'6" square (8 m square).  © 2016. Photo Scala, Florence - courtesy of the Ministero Beni e Att. Culturali; © Studio Fotografico Quattrone, Florence </vt:lpstr>
      <vt:lpstr>Andrea Mantegna TWO VIEWS OF THE CAMERA PICTA, DUCAL PALACE, MANTUA 1465–1474. Fresco, diameter of false oculus 8'9" (2.7 m); room 26'6" square (8 m square).  © 2016. Photo Scala, Florence - courtesy of the Ministero Beni e Att. Culturali; © Studio Fotografico Quattrone, Florence </vt:lpstr>
      <vt:lpstr>Rome</vt:lpstr>
      <vt:lpstr>VIEW OF THE SISTINE CHAPEL SHOWING PAINTINGS COMMISSIONED FOR THE SIDE WALLS BY POPE SIXTUS IV Vatican, Rome. At lower right, Perugino's Christ Giving the Keys to St. Peter, c. 1480–1482. 11'5-1/2" × 18'8-1/2" (3.48 × 5.70 m). Photo © Musei Vaticani/IKONA</vt:lpstr>
      <vt:lpstr>Venice (1 of 5) </vt:lpstr>
      <vt:lpstr>Venice (2 of 5) </vt:lpstr>
      <vt:lpstr>CA D'ORO (CONTARINI PALACE), VENICE 1421–1437. © Cameraphoto Arte, Venice. </vt:lpstr>
      <vt:lpstr>Venice (3 of 5) </vt:lpstr>
      <vt:lpstr>Gentile Bellini PROCESSION OF THE RELIC OF THE TRUE CROSS BEFORE THE CHURCH OF ST. MARK 1496. Oil on canvas, 12' × 24'5" (3.67 × 7.45 m). Galleria dell'Accademia, Venice. © Cameraphoto Arte, Venice. </vt:lpstr>
      <vt:lpstr>Venice (4 of 5) </vt:lpstr>
      <vt:lpstr>Giovanni Bellini VIRGIN AND CHILD ENTHRONED WITH SS. FRANCIS, JOHN THE BAPTIST, JOB, DOMINIC, SEBASTIAN, AND LOUIS OF TOULOUSE Originally commissioned for the chapel of the Hospital of San Giobbe, Venice. c. 1478. Oil on wood panel, 15'4" × 8'4" (4.67 × 2.54 m). Galleria dell’Accademia, Venice.  © Cameraphoto Arte, Venice. </vt:lpstr>
      <vt:lpstr>Venice (5 of 5) </vt:lpstr>
      <vt:lpstr>Giovanni Bellini ST. FRANCIS IN ECSTASY c. 1470s. Oil and tempera on wood panel, 49-1/16 × 55-7/8" (124.6 × 142 cm). The Frick Collection, New York.</vt:lpstr>
    </vt:vector>
  </TitlesOfParts>
  <Company>echosvoice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Beverly Murphy</cp:lastModifiedBy>
  <cp:revision>199</cp:revision>
  <dcterms:created xsi:type="dcterms:W3CDTF">2016-11-17T14:52:33Z</dcterms:created>
  <dcterms:modified xsi:type="dcterms:W3CDTF">2020-06-19T17:12:49Z</dcterms:modified>
</cp:coreProperties>
</file>