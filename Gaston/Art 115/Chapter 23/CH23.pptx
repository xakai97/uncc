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72"/>
  </p:notesMasterIdLst>
  <p:handoutMasterIdLst>
    <p:handoutMasterId r:id="rId73"/>
  </p:handoutMasterIdLst>
  <p:sldIdLst>
    <p:sldId id="673" r:id="rId3"/>
    <p:sldId id="507" r:id="rId4"/>
    <p:sldId id="514" r:id="rId5"/>
    <p:sldId id="513" r:id="rId6"/>
    <p:sldId id="517" r:id="rId7"/>
    <p:sldId id="544" r:id="rId8"/>
    <p:sldId id="546" r:id="rId9"/>
    <p:sldId id="547" r:id="rId10"/>
    <p:sldId id="548" r:id="rId11"/>
    <p:sldId id="549" r:id="rId12"/>
    <p:sldId id="550" r:id="rId13"/>
    <p:sldId id="551" r:id="rId14"/>
    <p:sldId id="552" r:id="rId15"/>
    <p:sldId id="553" r:id="rId16"/>
    <p:sldId id="554" r:id="rId17"/>
    <p:sldId id="555" r:id="rId18"/>
    <p:sldId id="557" r:id="rId19"/>
    <p:sldId id="559" r:id="rId20"/>
    <p:sldId id="558" r:id="rId21"/>
    <p:sldId id="560" r:id="rId22"/>
    <p:sldId id="561" r:id="rId23"/>
    <p:sldId id="562" r:id="rId24"/>
    <p:sldId id="563" r:id="rId25"/>
    <p:sldId id="564" r:id="rId26"/>
    <p:sldId id="565" r:id="rId27"/>
    <p:sldId id="566" r:id="rId28"/>
    <p:sldId id="567" r:id="rId29"/>
    <p:sldId id="568" r:id="rId30"/>
    <p:sldId id="569" r:id="rId31"/>
    <p:sldId id="570" r:id="rId32"/>
    <p:sldId id="571" r:id="rId33"/>
    <p:sldId id="572" r:id="rId34"/>
    <p:sldId id="573" r:id="rId35"/>
    <p:sldId id="574" r:id="rId36"/>
    <p:sldId id="575" r:id="rId37"/>
    <p:sldId id="576" r:id="rId38"/>
    <p:sldId id="577" r:id="rId39"/>
    <p:sldId id="578" r:id="rId40"/>
    <p:sldId id="579" r:id="rId41"/>
    <p:sldId id="580" r:id="rId42"/>
    <p:sldId id="581" r:id="rId43"/>
    <p:sldId id="582" r:id="rId44"/>
    <p:sldId id="583" r:id="rId45"/>
    <p:sldId id="584" r:id="rId46"/>
    <p:sldId id="585" r:id="rId47"/>
    <p:sldId id="586" r:id="rId48"/>
    <p:sldId id="587" r:id="rId49"/>
    <p:sldId id="588" r:id="rId50"/>
    <p:sldId id="589" r:id="rId51"/>
    <p:sldId id="590" r:id="rId52"/>
    <p:sldId id="591" r:id="rId53"/>
    <p:sldId id="592" r:id="rId54"/>
    <p:sldId id="593" r:id="rId55"/>
    <p:sldId id="594" r:id="rId56"/>
    <p:sldId id="595" r:id="rId57"/>
    <p:sldId id="596" r:id="rId58"/>
    <p:sldId id="597" r:id="rId59"/>
    <p:sldId id="598" r:id="rId60"/>
    <p:sldId id="599" r:id="rId61"/>
    <p:sldId id="600" r:id="rId62"/>
    <p:sldId id="601" r:id="rId63"/>
    <p:sldId id="602" r:id="rId64"/>
    <p:sldId id="603" r:id="rId65"/>
    <p:sldId id="604" r:id="rId66"/>
    <p:sldId id="605" r:id="rId67"/>
    <p:sldId id="606" r:id="rId68"/>
    <p:sldId id="607" r:id="rId69"/>
    <p:sldId id="608" r:id="rId70"/>
    <p:sldId id="609" r:id="rId7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12" autoAdjust="0"/>
    <p:restoredTop sz="86524" autoAdjust="0"/>
  </p:normalViewPr>
  <p:slideViewPr>
    <p:cSldViewPr>
      <p:cViewPr varScale="1">
        <p:scale>
          <a:sx n="89" d="100"/>
          <a:sy n="89" d="100"/>
        </p:scale>
        <p:origin x="1176" y="66"/>
      </p:cViewPr>
      <p:guideLst>
        <p:guide orient="horz" pos="2160"/>
        <p:guide pos="2880"/>
      </p:guideLst>
    </p:cSldViewPr>
  </p:slideViewPr>
  <p:outlineViewPr>
    <p:cViewPr>
      <p:scale>
        <a:sx n="33" d="100"/>
        <a:sy n="33" d="100"/>
      </p:scale>
      <p:origin x="0" y="-89544"/>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6/19/2020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6/19/2020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noTextEdit="1"/>
          </p:cNvSpPr>
          <p:nvPr>
            <p:ph type="sldImg"/>
          </p:nvPr>
        </p:nvSpPr>
        <p:spPr bwMode="auto">
          <a:noFill/>
          <a:ln>
            <a:solidFill>
              <a:srgbClr val="000000"/>
            </a:solidFill>
            <a:miter lim="800000"/>
            <a:headEnd/>
            <a:tailEnd/>
          </a:ln>
        </p:spPr>
      </p:sp>
      <p:sp>
        <p:nvSpPr>
          <p:cNvPr id="16386" name="Notes Placeholder 2"/>
          <p:cNvSpPr>
            <a:spLocks noGrp="1"/>
          </p:cNvSpPr>
          <p:nvPr>
            <p:ph type="body" idx="1"/>
          </p:nvPr>
        </p:nvSpPr>
        <p:spPr bwMode="auto">
          <a:noFill/>
        </p:spPr>
        <p:txBody>
          <a:bodyPr/>
          <a:lstStyle/>
          <a:p>
            <a:pPr>
              <a:spcBef>
                <a:spcPct val="0"/>
              </a:spcBef>
            </a:pPr>
            <a:r>
              <a:rPr lang="en-US" dirty="0">
                <a:latin typeface="Verdana" charset="0"/>
              </a:rPr>
              <a:t>John Singleton Copley THOMAS MIFFLIN AND SARAH MORRIS (MR. AND MRS. MIFFLIN)</a:t>
            </a:r>
            <a:br>
              <a:rPr lang="en-US" dirty="0">
                <a:latin typeface="Verdana" charset="0"/>
              </a:rPr>
            </a:br>
            <a:r>
              <a:rPr lang="en-US" dirty="0">
                <a:latin typeface="Verdana" charset="0"/>
              </a:rPr>
              <a:t>1773. Oil on canvas, 61-5/8</a:t>
            </a:r>
            <a:r>
              <a:rPr lang="ru-RU" dirty="0">
                <a:latin typeface="Verdana" charset="0"/>
              </a:rPr>
              <a:t>"</a:t>
            </a:r>
            <a:r>
              <a:rPr lang="en-US" dirty="0">
                <a:latin typeface="Verdana" charset="0"/>
              </a:rPr>
              <a:t> × 48</a:t>
            </a:r>
            <a:r>
              <a:rPr lang="ru-RU" dirty="0">
                <a:latin typeface="Verdana" charset="0"/>
              </a:rPr>
              <a:t>"</a:t>
            </a:r>
            <a:r>
              <a:rPr lang="en-US" dirty="0">
                <a:latin typeface="Verdana" charset="0"/>
              </a:rPr>
              <a:t> (156.5 × 121.9 cm).</a:t>
            </a:r>
            <a:br>
              <a:rPr lang="en-US" dirty="0">
                <a:latin typeface="Verdana" charset="0"/>
              </a:rPr>
            </a:br>
            <a:r>
              <a:rPr lang="en-US" dirty="0">
                <a:latin typeface="Verdana" charset="0"/>
              </a:rPr>
              <a:t>Philadelphia Museum of Art. © 2016. Photo Art Resource/Scala, Florence.</a:t>
            </a:r>
            <a:endParaRPr lang="en-US" dirty="0"/>
          </a:p>
        </p:txBody>
      </p:sp>
      <p:sp>
        <p:nvSpPr>
          <p:cNvPr id="16387" name="Slide Number Placeholder 3"/>
          <p:cNvSpPr>
            <a:spLocks noGrp="1"/>
          </p:cNvSpPr>
          <p:nvPr>
            <p:ph type="sldNum" sz="quarter" idx="5"/>
          </p:nvPr>
        </p:nvSpPr>
        <p:spPr bwMode="auto">
          <a:noFill/>
          <a:ln>
            <a:miter lim="800000"/>
            <a:headEnd/>
            <a:tailEnd/>
          </a:ln>
        </p:spPr>
        <p:txBody>
          <a:bodyPr/>
          <a:lstStyle/>
          <a:p>
            <a:fld id="{90A67B77-2CDF-0946-B66F-6634FF417BAF}" type="slidenum">
              <a:rPr lang="en-US"/>
              <a:pPr/>
              <a:t>4</a:t>
            </a:fld>
            <a:endParaRPr lang="en-US"/>
          </a:p>
        </p:txBody>
      </p:sp>
    </p:spTree>
    <p:extLst>
      <p:ext uri="{BB962C8B-B14F-4D97-AF65-F5344CB8AC3E}">
        <p14:creationId xmlns:p14="http://schemas.microsoft.com/office/powerpoint/2010/main" val="1935681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noTextEdit="1"/>
          </p:cNvSpPr>
          <p:nvPr>
            <p:ph type="sldImg"/>
          </p:nvPr>
        </p:nvSpPr>
        <p:spPr bwMode="auto">
          <a:noFill/>
          <a:ln>
            <a:solidFill>
              <a:srgbClr val="000000"/>
            </a:solidFill>
            <a:miter lim="800000"/>
            <a:headEnd/>
            <a:tailEnd/>
          </a:ln>
        </p:spPr>
      </p:sp>
      <p:sp>
        <p:nvSpPr>
          <p:cNvPr id="21506" name="Notes Placeholder 2"/>
          <p:cNvSpPr>
            <a:spLocks noGrp="1"/>
          </p:cNvSpPr>
          <p:nvPr>
            <p:ph type="body" idx="1"/>
          </p:nvPr>
        </p:nvSpPr>
        <p:spPr bwMode="auto">
          <a:noFill/>
        </p:spPr>
        <p:txBody>
          <a:bodyPr/>
          <a:lstStyle/>
          <a:p>
            <a:pPr>
              <a:spcBef>
                <a:spcPct val="0"/>
              </a:spcBef>
            </a:pPr>
            <a:r>
              <a:rPr lang="en-US" dirty="0"/>
              <a:t>EUROPE AND NORTH AMERICA IN THE EIGHTEENTH CENTURY</a:t>
            </a:r>
            <a:br>
              <a:rPr lang="en-US" dirty="0"/>
            </a:br>
            <a:r>
              <a:rPr lang="en-US" dirty="0"/>
              <a:t>During the eighteenth century, three major artistic styles—Rococo, Neoclassicism, and Romanticism—flourished in Europe and North America</a:t>
            </a:r>
          </a:p>
        </p:txBody>
      </p:sp>
      <p:sp>
        <p:nvSpPr>
          <p:cNvPr id="21507" name="Slide Number Placeholder 3"/>
          <p:cNvSpPr>
            <a:spLocks noGrp="1"/>
          </p:cNvSpPr>
          <p:nvPr>
            <p:ph type="sldNum" sz="quarter" idx="5"/>
          </p:nvPr>
        </p:nvSpPr>
        <p:spPr bwMode="auto">
          <a:noFill/>
          <a:ln>
            <a:miter lim="800000"/>
            <a:headEnd/>
            <a:tailEnd/>
          </a:ln>
        </p:spPr>
        <p:txBody>
          <a:bodyPr/>
          <a:lstStyle/>
          <a:p>
            <a:fld id="{39CCE9F1-4B9F-AA41-8737-28C0F8460116}" type="slidenum">
              <a:rPr lang="en-US"/>
              <a:pPr/>
              <a:t>5</a:t>
            </a:fld>
            <a:endParaRPr lang="en-US"/>
          </a:p>
        </p:txBody>
      </p:sp>
    </p:spTree>
    <p:extLst>
      <p:ext uri="{BB962C8B-B14F-4D97-AF65-F5344CB8AC3E}">
        <p14:creationId xmlns:p14="http://schemas.microsoft.com/office/powerpoint/2010/main" val="90403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noTextEdit="1"/>
          </p:cNvSpPr>
          <p:nvPr>
            <p:ph type="sldImg"/>
          </p:nvPr>
        </p:nvSpPr>
        <p:spPr bwMode="auto">
          <a:noFill/>
          <a:ln>
            <a:solidFill>
              <a:srgbClr val="000000"/>
            </a:solidFill>
            <a:miter lim="800000"/>
            <a:headEnd/>
            <a:tailEnd/>
          </a:ln>
        </p:spPr>
      </p:sp>
      <p:sp>
        <p:nvSpPr>
          <p:cNvPr id="63490" name="Notes Placeholder 2"/>
          <p:cNvSpPr>
            <a:spLocks noGrp="1"/>
          </p:cNvSpPr>
          <p:nvPr>
            <p:ph type="body" idx="1"/>
          </p:nvPr>
        </p:nvSpPr>
        <p:spPr bwMode="auto">
          <a:noFill/>
        </p:spPr>
        <p:txBody>
          <a:bodyPr/>
          <a:lstStyle/>
          <a:p>
            <a:pPr>
              <a:spcBef>
                <a:spcPct val="0"/>
              </a:spcBef>
            </a:pPr>
            <a:r>
              <a:rPr lang="en-US" dirty="0">
                <a:latin typeface="Verdana" charset="0"/>
              </a:rPr>
              <a:t>Anton Raphael </a:t>
            </a:r>
            <a:r>
              <a:rPr lang="en-US" dirty="0" err="1">
                <a:latin typeface="Verdana" charset="0"/>
              </a:rPr>
              <a:t>Mengs</a:t>
            </a:r>
            <a:r>
              <a:rPr lang="en-US" dirty="0">
                <a:latin typeface="Verdana" charset="0"/>
              </a:rPr>
              <a:t> PARNASSUS</a:t>
            </a:r>
            <a:br>
              <a:rPr lang="en-US" dirty="0">
                <a:latin typeface="Verdana" charset="0"/>
              </a:rPr>
            </a:br>
            <a:r>
              <a:rPr lang="en-US" dirty="0">
                <a:latin typeface="Verdana" charset="0"/>
              </a:rPr>
              <a:t>Ceiling fresco in the Villa </a:t>
            </a:r>
            <a:r>
              <a:rPr lang="en-US" dirty="0" err="1">
                <a:latin typeface="Verdana" charset="0"/>
              </a:rPr>
              <a:t>Albani</a:t>
            </a:r>
            <a:r>
              <a:rPr lang="en-US" dirty="0">
                <a:latin typeface="Verdana" charset="0"/>
              </a:rPr>
              <a:t>, Rome. 1761.</a:t>
            </a:r>
            <a:br>
              <a:rPr lang="en-US" dirty="0">
                <a:latin typeface="Verdana" charset="0"/>
              </a:rPr>
            </a:br>
            <a:r>
              <a:rPr lang="en-US" dirty="0">
                <a:latin typeface="Verdana" charset="0"/>
              </a:rPr>
              <a:t>© </a:t>
            </a:r>
            <a:r>
              <a:rPr lang="en-US" dirty="0" err="1">
                <a:latin typeface="Verdana" charset="0"/>
              </a:rPr>
              <a:t>akg</a:t>
            </a:r>
            <a:r>
              <a:rPr lang="en-US" dirty="0">
                <a:latin typeface="Verdana" charset="0"/>
              </a:rPr>
              <a:t>-images/Mondadori Portfolio/Sergio </a:t>
            </a:r>
            <a:r>
              <a:rPr lang="en-US" dirty="0" err="1">
                <a:latin typeface="Verdana" charset="0"/>
              </a:rPr>
              <a:t>Anelli</a:t>
            </a:r>
            <a:r>
              <a:rPr lang="en-US" dirty="0">
                <a:latin typeface="Verdana" charset="0"/>
              </a:rPr>
              <a:t>. </a:t>
            </a:r>
            <a:endParaRPr lang="en-US" dirty="0"/>
          </a:p>
        </p:txBody>
      </p:sp>
      <p:sp>
        <p:nvSpPr>
          <p:cNvPr id="63491" name="Slide Number Placeholder 3"/>
          <p:cNvSpPr>
            <a:spLocks noGrp="1"/>
          </p:cNvSpPr>
          <p:nvPr>
            <p:ph type="sldNum" sz="quarter" idx="5"/>
          </p:nvPr>
        </p:nvSpPr>
        <p:spPr bwMode="auto">
          <a:noFill/>
          <a:ln>
            <a:miter lim="800000"/>
            <a:headEnd/>
            <a:tailEnd/>
          </a:ln>
        </p:spPr>
        <p:txBody>
          <a:bodyPr/>
          <a:lstStyle/>
          <a:p>
            <a:fld id="{F0AD9825-DD39-514C-9BAC-279317F78D78}" type="slidenum">
              <a:rPr lang="en-US"/>
              <a:pPr/>
              <a:t>7</a:t>
            </a:fld>
            <a:endParaRPr lang="en-US"/>
          </a:p>
        </p:txBody>
      </p:sp>
    </p:spTree>
    <p:extLst>
      <p:ext uri="{BB962C8B-B14F-4D97-AF65-F5344CB8AC3E}">
        <p14:creationId xmlns:p14="http://schemas.microsoft.com/office/powerpoint/2010/main" val="859214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p:cNvSpPr>
            <a:spLocks noGrp="1" noRot="1" noChangeAspect="1" noTextEdit="1"/>
          </p:cNvSpPr>
          <p:nvPr>
            <p:ph type="sldImg"/>
          </p:nvPr>
        </p:nvSpPr>
        <p:spPr bwMode="auto">
          <a:noFill/>
          <a:ln>
            <a:solidFill>
              <a:srgbClr val="000000"/>
            </a:solidFill>
            <a:miter lim="800000"/>
            <a:headEnd/>
            <a:tailEnd/>
          </a:ln>
        </p:spPr>
      </p:sp>
      <p:sp>
        <p:nvSpPr>
          <p:cNvPr id="66562" name="Notes Placeholder 2"/>
          <p:cNvSpPr>
            <a:spLocks noGrp="1"/>
          </p:cNvSpPr>
          <p:nvPr>
            <p:ph type="body" idx="1"/>
          </p:nvPr>
        </p:nvSpPr>
        <p:spPr bwMode="auto">
          <a:noFill/>
        </p:spPr>
        <p:txBody>
          <a:bodyPr/>
          <a:lstStyle/>
          <a:p>
            <a:pPr>
              <a:spcBef>
                <a:spcPct val="0"/>
              </a:spcBef>
            </a:pPr>
            <a:r>
              <a:rPr lang="en-US" dirty="0">
                <a:latin typeface="Verdana" charset="0"/>
              </a:rPr>
              <a:t>Antonio Canova CUPID AND PSYCHE</a:t>
            </a:r>
            <a:br>
              <a:rPr lang="en-US" dirty="0">
                <a:latin typeface="Verdana" charset="0"/>
              </a:rPr>
            </a:br>
            <a:r>
              <a:rPr lang="en-US" dirty="0">
                <a:latin typeface="Verdana" charset="0"/>
              </a:rPr>
              <a:t>1787–1793. Marble, 61 × 68″ (1.55 × 1.73 m).</a:t>
            </a:r>
            <a:br>
              <a:rPr lang="en-US" dirty="0">
                <a:latin typeface="Verdana" charset="0"/>
              </a:rPr>
            </a:br>
            <a:r>
              <a:rPr lang="en-US" dirty="0" err="1">
                <a:latin typeface="Verdana" charset="0"/>
              </a:rPr>
              <a:t>Musée</a:t>
            </a:r>
            <a:r>
              <a:rPr lang="en-US" dirty="0">
                <a:latin typeface="Verdana" charset="0"/>
              </a:rPr>
              <a:t> du Louvre, Paris. Photo © Dist. RMN-Grand Palais/Raphaël </a:t>
            </a:r>
            <a:r>
              <a:rPr lang="en-US" dirty="0" err="1">
                <a:latin typeface="Verdana" charset="0"/>
              </a:rPr>
              <a:t>Chipault</a:t>
            </a:r>
            <a:r>
              <a:rPr lang="en-US" dirty="0">
                <a:latin typeface="Verdana" charset="0"/>
              </a:rPr>
              <a:t>.</a:t>
            </a:r>
            <a:endParaRPr lang="en-US" dirty="0"/>
          </a:p>
        </p:txBody>
      </p:sp>
      <p:sp>
        <p:nvSpPr>
          <p:cNvPr id="66563" name="Slide Number Placeholder 3"/>
          <p:cNvSpPr>
            <a:spLocks noGrp="1"/>
          </p:cNvSpPr>
          <p:nvPr>
            <p:ph type="sldNum" sz="quarter" idx="5"/>
          </p:nvPr>
        </p:nvSpPr>
        <p:spPr bwMode="auto">
          <a:noFill/>
          <a:ln>
            <a:miter lim="800000"/>
            <a:headEnd/>
            <a:tailEnd/>
          </a:ln>
        </p:spPr>
        <p:txBody>
          <a:bodyPr/>
          <a:lstStyle/>
          <a:p>
            <a:fld id="{8F017D6C-1344-7E44-BE60-6E74D3283953}" type="slidenum">
              <a:rPr lang="en-US"/>
              <a:pPr/>
              <a:t>9</a:t>
            </a:fld>
            <a:endParaRPr lang="en-US"/>
          </a:p>
        </p:txBody>
      </p:sp>
    </p:spTree>
    <p:extLst>
      <p:ext uri="{BB962C8B-B14F-4D97-AF65-F5344CB8AC3E}">
        <p14:creationId xmlns:p14="http://schemas.microsoft.com/office/powerpoint/2010/main" val="11341094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noTextEdit="1"/>
          </p:cNvSpPr>
          <p:nvPr>
            <p:ph type="sldImg"/>
          </p:nvPr>
        </p:nvSpPr>
        <p:spPr bwMode="auto">
          <a:noFill/>
          <a:ln>
            <a:solidFill>
              <a:srgbClr val="000000"/>
            </a:solidFill>
            <a:miter lim="800000"/>
            <a:headEnd/>
            <a:tailEnd/>
          </a:ln>
        </p:spPr>
      </p:sp>
      <p:sp>
        <p:nvSpPr>
          <p:cNvPr id="71682" name="Notes Placeholder 2"/>
          <p:cNvSpPr>
            <a:spLocks noGrp="1"/>
          </p:cNvSpPr>
          <p:nvPr>
            <p:ph type="body" idx="1"/>
          </p:nvPr>
        </p:nvSpPr>
        <p:spPr bwMode="auto">
          <a:noFill/>
        </p:spPr>
        <p:txBody>
          <a:bodyPr/>
          <a:lstStyle/>
          <a:p>
            <a:pPr>
              <a:spcBef>
                <a:spcPct val="0"/>
              </a:spcBef>
            </a:pPr>
            <a:r>
              <a:rPr lang="en-US" dirty="0"/>
              <a:t>Richard Boyle (Lord Burlington) EXTERIOR VIEW OF CHISWICK HOUSE</a:t>
            </a:r>
            <a:br>
              <a:rPr lang="en-US" dirty="0"/>
            </a:br>
            <a:r>
              <a:rPr lang="en-US" dirty="0"/>
              <a:t>West London, England. 1724–1729. Interior decoration (1726–1729) and new gardens (1730–1740) by William Kent. © Achim Bednorz, Cologne.</a:t>
            </a:r>
          </a:p>
        </p:txBody>
      </p:sp>
      <p:sp>
        <p:nvSpPr>
          <p:cNvPr id="71683" name="Slide Number Placeholder 3"/>
          <p:cNvSpPr>
            <a:spLocks noGrp="1"/>
          </p:cNvSpPr>
          <p:nvPr>
            <p:ph type="sldNum" sz="quarter" idx="5"/>
          </p:nvPr>
        </p:nvSpPr>
        <p:spPr bwMode="auto">
          <a:noFill/>
          <a:ln>
            <a:miter lim="800000"/>
            <a:headEnd/>
            <a:tailEnd/>
          </a:ln>
        </p:spPr>
        <p:txBody>
          <a:bodyPr/>
          <a:lstStyle/>
          <a:p>
            <a:fld id="{0BC3E629-6500-3147-B64E-80E9F5CDA6D5}" type="slidenum">
              <a:rPr lang="en-US"/>
              <a:pPr/>
              <a:t>13</a:t>
            </a:fld>
            <a:endParaRPr lang="en-US"/>
          </a:p>
        </p:txBody>
      </p:sp>
    </p:spTree>
    <p:extLst>
      <p:ext uri="{BB962C8B-B14F-4D97-AF65-F5344CB8AC3E}">
        <p14:creationId xmlns:p14="http://schemas.microsoft.com/office/powerpoint/2010/main" val="2059772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noTextEdit="1"/>
          </p:cNvSpPr>
          <p:nvPr>
            <p:ph type="sldImg"/>
          </p:nvPr>
        </p:nvSpPr>
        <p:spPr bwMode="auto">
          <a:noFill/>
          <a:ln>
            <a:solidFill>
              <a:srgbClr val="000000"/>
            </a:solidFill>
            <a:miter lim="800000"/>
            <a:headEnd/>
            <a:tailEnd/>
          </a:ln>
        </p:spPr>
      </p:sp>
      <p:sp>
        <p:nvSpPr>
          <p:cNvPr id="73730" name="Notes Placeholder 2"/>
          <p:cNvSpPr>
            <a:spLocks noGrp="1"/>
          </p:cNvSpPr>
          <p:nvPr>
            <p:ph type="body" idx="1"/>
          </p:nvPr>
        </p:nvSpPr>
        <p:spPr bwMode="auto">
          <a:noFill/>
        </p:spPr>
        <p:txBody>
          <a:bodyPr/>
          <a:lstStyle/>
          <a:p>
            <a:pPr>
              <a:spcBef>
                <a:spcPct val="0"/>
              </a:spcBef>
            </a:pPr>
            <a:r>
              <a:rPr lang="en-US" dirty="0">
                <a:latin typeface="Verdana" charset="0"/>
              </a:rPr>
              <a:t>Richard Boyle (Lord Burlington) PLAN OF CHISWICK HOUSE</a:t>
            </a:r>
            <a:br>
              <a:rPr lang="en-US" dirty="0">
                <a:latin typeface="Verdana" charset="0"/>
              </a:rPr>
            </a:br>
            <a:r>
              <a:rPr lang="en-US" dirty="0">
                <a:latin typeface="Verdana" charset="0"/>
              </a:rPr>
              <a:t>West London, England. 1724.</a:t>
            </a:r>
            <a:endParaRPr lang="en-US" dirty="0"/>
          </a:p>
        </p:txBody>
      </p:sp>
      <p:sp>
        <p:nvSpPr>
          <p:cNvPr id="73731" name="Slide Number Placeholder 3"/>
          <p:cNvSpPr>
            <a:spLocks noGrp="1"/>
          </p:cNvSpPr>
          <p:nvPr>
            <p:ph type="sldNum" sz="quarter" idx="5"/>
          </p:nvPr>
        </p:nvSpPr>
        <p:spPr bwMode="auto">
          <a:noFill/>
          <a:ln>
            <a:miter lim="800000"/>
            <a:headEnd/>
            <a:tailEnd/>
          </a:ln>
        </p:spPr>
        <p:txBody>
          <a:bodyPr/>
          <a:lstStyle/>
          <a:p>
            <a:fld id="{5DB5330A-D710-024A-B733-97AD130834E1}" type="slidenum">
              <a:rPr lang="en-US"/>
              <a:pPr/>
              <a:t>14</a:t>
            </a:fld>
            <a:endParaRPr lang="en-US"/>
          </a:p>
        </p:txBody>
      </p:sp>
    </p:spTree>
    <p:extLst>
      <p:ext uri="{BB962C8B-B14F-4D97-AF65-F5344CB8AC3E}">
        <p14:creationId xmlns:p14="http://schemas.microsoft.com/office/powerpoint/2010/main" val="1159412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p:cNvSpPr>
            <a:spLocks noGrp="1" noRot="1" noChangeAspect="1" noTextEdit="1"/>
          </p:cNvSpPr>
          <p:nvPr>
            <p:ph type="sldImg"/>
          </p:nvPr>
        </p:nvSpPr>
        <p:spPr bwMode="auto">
          <a:noFill/>
          <a:ln>
            <a:solidFill>
              <a:srgbClr val="000000"/>
            </a:solidFill>
            <a:miter lim="800000"/>
            <a:headEnd/>
            <a:tailEnd/>
          </a:ln>
        </p:spPr>
      </p:sp>
      <p:sp>
        <p:nvSpPr>
          <p:cNvPr id="76802" name="Notes Placeholder 2"/>
          <p:cNvSpPr>
            <a:spLocks noGrp="1"/>
          </p:cNvSpPr>
          <p:nvPr>
            <p:ph type="body" idx="1"/>
          </p:nvPr>
        </p:nvSpPr>
        <p:spPr bwMode="auto">
          <a:noFill/>
        </p:spPr>
        <p:txBody>
          <a:bodyPr/>
          <a:lstStyle/>
          <a:p>
            <a:pPr>
              <a:spcBef>
                <a:spcPct val="0"/>
              </a:spcBef>
            </a:pPr>
            <a:r>
              <a:rPr lang="en-US" dirty="0"/>
              <a:t>Henry </a:t>
            </a:r>
            <a:r>
              <a:rPr lang="en-US" dirty="0" err="1"/>
              <a:t>Flitcroft</a:t>
            </a:r>
            <a:r>
              <a:rPr lang="en-US" dirty="0"/>
              <a:t> and Henry Hoare THE PARK AT STOURHEAD</a:t>
            </a:r>
            <a:br>
              <a:rPr lang="en-US" dirty="0"/>
            </a:br>
            <a:r>
              <a:rPr lang="en-US" dirty="0"/>
              <a:t>Wiltshire, England.</a:t>
            </a:r>
            <a:br>
              <a:rPr lang="en-US" dirty="0"/>
            </a:br>
            <a:r>
              <a:rPr lang="en-US" dirty="0"/>
              <a:t>Laid out 1743, executed 1744–1765, with continuing additions.</a:t>
            </a:r>
            <a:br>
              <a:rPr lang="en-US" dirty="0"/>
            </a:br>
            <a:r>
              <a:rPr lang="en-US" dirty="0"/>
              <a:t>Gail Johnson/</a:t>
            </a:r>
            <a:r>
              <a:rPr lang="en-US" dirty="0" err="1"/>
              <a:t>Fotolia</a:t>
            </a:r>
            <a:r>
              <a:rPr lang="en-US" dirty="0"/>
              <a:t>. </a:t>
            </a:r>
          </a:p>
        </p:txBody>
      </p:sp>
      <p:sp>
        <p:nvSpPr>
          <p:cNvPr id="76803" name="Slide Number Placeholder 3"/>
          <p:cNvSpPr>
            <a:spLocks noGrp="1"/>
          </p:cNvSpPr>
          <p:nvPr>
            <p:ph type="sldNum" sz="quarter" idx="5"/>
          </p:nvPr>
        </p:nvSpPr>
        <p:spPr bwMode="auto">
          <a:noFill/>
          <a:ln>
            <a:miter lim="800000"/>
            <a:headEnd/>
            <a:tailEnd/>
          </a:ln>
        </p:spPr>
        <p:txBody>
          <a:bodyPr/>
          <a:lstStyle/>
          <a:p>
            <a:fld id="{63A8067D-6B41-474C-808F-237A5AC9A317}" type="slidenum">
              <a:rPr lang="en-US"/>
              <a:pPr/>
              <a:t>16</a:t>
            </a:fld>
            <a:endParaRPr lang="en-US"/>
          </a:p>
        </p:txBody>
      </p:sp>
    </p:spTree>
    <p:extLst>
      <p:ext uri="{BB962C8B-B14F-4D97-AF65-F5344CB8AC3E}">
        <p14:creationId xmlns:p14="http://schemas.microsoft.com/office/powerpoint/2010/main" val="2131934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p:cNvSpPr>
            <a:spLocks noGrp="1" noRot="1" noChangeAspect="1" noTextEdit="1"/>
          </p:cNvSpPr>
          <p:nvPr>
            <p:ph type="sldImg"/>
          </p:nvPr>
        </p:nvSpPr>
        <p:spPr bwMode="auto">
          <a:noFill/>
          <a:ln>
            <a:solidFill>
              <a:srgbClr val="000000"/>
            </a:solidFill>
            <a:miter lim="800000"/>
            <a:headEnd/>
            <a:tailEnd/>
          </a:ln>
        </p:spPr>
      </p:sp>
      <p:sp>
        <p:nvSpPr>
          <p:cNvPr id="82946" name="Notes Placeholder 2"/>
          <p:cNvSpPr>
            <a:spLocks noGrp="1"/>
          </p:cNvSpPr>
          <p:nvPr>
            <p:ph type="body" idx="1"/>
          </p:nvPr>
        </p:nvSpPr>
        <p:spPr bwMode="auto">
          <a:noFill/>
        </p:spPr>
        <p:txBody>
          <a:bodyPr/>
          <a:lstStyle/>
          <a:p>
            <a:pPr>
              <a:spcBef>
                <a:spcPct val="0"/>
              </a:spcBef>
            </a:pPr>
            <a:r>
              <a:rPr lang="en-US" dirty="0"/>
              <a:t>Josiah Wedgwood THE APOTHEOSIS OF HOMER</a:t>
            </a:r>
            <a:br>
              <a:rPr lang="en-US" dirty="0"/>
            </a:br>
            <a:r>
              <a:rPr lang="en-US" dirty="0"/>
              <a:t>Made at the Wedgwood Etruria factory, Staffordshire, England. 1790–1795.</a:t>
            </a:r>
            <a:br>
              <a:rPr lang="en-US" dirty="0"/>
            </a:br>
            <a:r>
              <a:rPr lang="en-US" dirty="0"/>
              <a:t>White jasperware body with a mid-blue dip and white relief, height 18</a:t>
            </a:r>
            <a:r>
              <a:rPr lang="ru-RU" dirty="0"/>
              <a:t>"</a:t>
            </a:r>
            <a:r>
              <a:rPr lang="en-US" dirty="0"/>
              <a:t> (45.7 cm).</a:t>
            </a:r>
            <a:br>
              <a:rPr lang="en-US" dirty="0"/>
            </a:br>
            <a:r>
              <a:rPr lang="en-US" dirty="0"/>
              <a:t>Relief of </a:t>
            </a:r>
            <a:r>
              <a:rPr lang="en-US" i="1" dirty="0"/>
              <a:t>The Apotheosis of Homer </a:t>
            </a:r>
            <a:r>
              <a:rPr lang="en-US" dirty="0"/>
              <a:t>adapted from a plaque by John Flaxman, Jr., 1778. Trustees of the Wedgwood Museum, </a:t>
            </a:r>
            <a:r>
              <a:rPr lang="en-US" dirty="0" err="1"/>
              <a:t>Barlaston</a:t>
            </a:r>
            <a:r>
              <a:rPr lang="en-US" dirty="0"/>
              <a:t>, Staffordshire, England. Photo © Wedgwood Museum/WWRD.</a:t>
            </a:r>
          </a:p>
        </p:txBody>
      </p:sp>
      <p:sp>
        <p:nvSpPr>
          <p:cNvPr id="82947" name="Slide Number Placeholder 3"/>
          <p:cNvSpPr>
            <a:spLocks noGrp="1"/>
          </p:cNvSpPr>
          <p:nvPr>
            <p:ph type="sldNum" sz="quarter" idx="5"/>
          </p:nvPr>
        </p:nvSpPr>
        <p:spPr bwMode="auto">
          <a:noFill/>
          <a:ln>
            <a:miter lim="800000"/>
            <a:headEnd/>
            <a:tailEnd/>
          </a:ln>
        </p:spPr>
        <p:txBody>
          <a:bodyPr/>
          <a:lstStyle/>
          <a:p>
            <a:fld id="{AC67949C-3B55-904A-BA84-196F25CA1656}" type="slidenum">
              <a:rPr lang="en-US"/>
              <a:pPr/>
              <a:t>18</a:t>
            </a:fld>
            <a:endParaRPr lang="en-US"/>
          </a:p>
        </p:txBody>
      </p:sp>
    </p:spTree>
    <p:extLst>
      <p:ext uri="{BB962C8B-B14F-4D97-AF65-F5344CB8AC3E}">
        <p14:creationId xmlns:p14="http://schemas.microsoft.com/office/powerpoint/2010/main" val="742789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p:cNvSpPr>
            <a:spLocks noGrp="1" noRot="1" noChangeAspect="1" noTextEdit="1"/>
          </p:cNvSpPr>
          <p:nvPr>
            <p:ph type="sldImg"/>
          </p:nvPr>
        </p:nvSpPr>
        <p:spPr bwMode="auto">
          <a:noFill/>
          <a:ln>
            <a:solidFill>
              <a:srgbClr val="000000"/>
            </a:solidFill>
            <a:miter lim="800000"/>
            <a:headEnd/>
            <a:tailEnd/>
          </a:ln>
        </p:spPr>
      </p:sp>
      <p:sp>
        <p:nvSpPr>
          <p:cNvPr id="84994" name="Notes Placeholder 2"/>
          <p:cNvSpPr>
            <a:spLocks noGrp="1"/>
          </p:cNvSpPr>
          <p:nvPr>
            <p:ph type="body" idx="1"/>
          </p:nvPr>
        </p:nvSpPr>
        <p:spPr bwMode="auto">
          <a:noFill/>
        </p:spPr>
        <p:txBody>
          <a:bodyPr/>
          <a:lstStyle/>
          <a:p>
            <a:pPr>
              <a:spcBef>
                <a:spcPct val="0"/>
              </a:spcBef>
            </a:pPr>
            <a:r>
              <a:rPr lang="en-US" dirty="0">
                <a:latin typeface="Verdana" charset="0"/>
              </a:rPr>
              <a:t>William </a:t>
            </a:r>
            <a:r>
              <a:rPr lang="en-US" dirty="0" err="1">
                <a:latin typeface="Verdana" charset="0"/>
              </a:rPr>
              <a:t>Hackwood</a:t>
            </a:r>
            <a:r>
              <a:rPr lang="en-US" dirty="0">
                <a:latin typeface="Verdana" charset="0"/>
              </a:rPr>
              <a:t> for Josiah Wedgwood </a:t>
            </a:r>
            <a:r>
              <a:rPr lang="ru-RU" dirty="0">
                <a:latin typeface="Verdana" charset="0"/>
              </a:rPr>
              <a:t>"</a:t>
            </a:r>
            <a:r>
              <a:rPr lang="en-US" dirty="0">
                <a:latin typeface="Verdana" charset="0"/>
              </a:rPr>
              <a:t>AM I NOT A MAN AND A BROTHER?</a:t>
            </a:r>
            <a:r>
              <a:rPr lang="ru-RU" dirty="0">
                <a:latin typeface="Verdana" charset="0"/>
              </a:rPr>
              <a:t>"</a:t>
            </a:r>
            <a:br>
              <a:rPr lang="en-US" dirty="0">
                <a:latin typeface="Verdana" charset="0"/>
              </a:rPr>
            </a:br>
            <a:r>
              <a:rPr lang="en-US" dirty="0">
                <a:latin typeface="Verdana" charset="0"/>
              </a:rPr>
              <a:t>1787. Black-and-white jasperware, 1-3/8</a:t>
            </a:r>
            <a:r>
              <a:rPr lang="ru-RU" dirty="0">
                <a:latin typeface="Verdana" charset="0"/>
              </a:rPr>
              <a:t>"</a:t>
            </a:r>
            <a:r>
              <a:rPr lang="en-US" dirty="0">
                <a:latin typeface="Verdana" charset="0"/>
              </a:rPr>
              <a:t> × 1-3/8</a:t>
            </a:r>
            <a:r>
              <a:rPr lang="ru-RU" dirty="0">
                <a:latin typeface="Verdana" charset="0"/>
              </a:rPr>
              <a:t>"</a:t>
            </a:r>
            <a:r>
              <a:rPr lang="en-US" dirty="0">
                <a:latin typeface="Verdana" charset="0"/>
              </a:rPr>
              <a:t> (3.5 × 3.5 cm).</a:t>
            </a:r>
            <a:br>
              <a:rPr lang="en-US" dirty="0">
                <a:latin typeface="Verdana" charset="0"/>
              </a:rPr>
            </a:br>
            <a:r>
              <a:rPr lang="en-US" dirty="0">
                <a:latin typeface="Verdana" charset="0"/>
              </a:rPr>
              <a:t>Trustees of the Wedgwood Museum, </a:t>
            </a:r>
            <a:r>
              <a:rPr lang="en-US" dirty="0" err="1">
                <a:latin typeface="Verdana" charset="0"/>
              </a:rPr>
              <a:t>Barlaston</a:t>
            </a:r>
            <a:r>
              <a:rPr lang="en-US" dirty="0">
                <a:latin typeface="Verdana" charset="0"/>
              </a:rPr>
              <a:t>, Staffordshire, England. Photo © Wedgwood Museum/WWRD.</a:t>
            </a:r>
            <a:endParaRPr lang="en-US" dirty="0"/>
          </a:p>
        </p:txBody>
      </p:sp>
      <p:sp>
        <p:nvSpPr>
          <p:cNvPr id="84995" name="Slide Number Placeholder 3"/>
          <p:cNvSpPr>
            <a:spLocks noGrp="1"/>
          </p:cNvSpPr>
          <p:nvPr>
            <p:ph type="sldNum" sz="quarter" idx="5"/>
          </p:nvPr>
        </p:nvSpPr>
        <p:spPr bwMode="auto">
          <a:noFill/>
          <a:ln>
            <a:miter lim="800000"/>
            <a:headEnd/>
            <a:tailEnd/>
          </a:ln>
        </p:spPr>
        <p:txBody>
          <a:bodyPr/>
          <a:lstStyle/>
          <a:p>
            <a:fld id="{52F6BEA8-152B-4B45-A7DF-986A8E8860F2}" type="slidenum">
              <a:rPr lang="en-US"/>
              <a:pPr/>
              <a:t>20</a:t>
            </a:fld>
            <a:endParaRPr lang="en-US"/>
          </a:p>
        </p:txBody>
      </p:sp>
    </p:spTree>
    <p:extLst>
      <p:ext uri="{BB962C8B-B14F-4D97-AF65-F5344CB8AC3E}">
        <p14:creationId xmlns:p14="http://schemas.microsoft.com/office/powerpoint/2010/main" val="736451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p:cNvSpPr>
            <a:spLocks noGrp="1" noRot="1" noChangeAspect="1" noTextEdit="1"/>
          </p:cNvSpPr>
          <p:nvPr>
            <p:ph type="sldImg"/>
          </p:nvPr>
        </p:nvSpPr>
        <p:spPr bwMode="auto">
          <a:noFill/>
          <a:ln>
            <a:solidFill>
              <a:srgbClr val="000000"/>
            </a:solidFill>
            <a:miter lim="800000"/>
            <a:headEnd/>
            <a:tailEnd/>
          </a:ln>
        </p:spPr>
      </p:sp>
      <p:sp>
        <p:nvSpPr>
          <p:cNvPr id="88066" name="Notes Placeholder 2"/>
          <p:cNvSpPr>
            <a:spLocks noGrp="1"/>
          </p:cNvSpPr>
          <p:nvPr>
            <p:ph type="body" idx="1"/>
          </p:nvPr>
        </p:nvSpPr>
        <p:spPr bwMode="auto">
          <a:noFill/>
        </p:spPr>
        <p:txBody>
          <a:bodyPr/>
          <a:lstStyle/>
          <a:p>
            <a:pPr>
              <a:spcBef>
                <a:spcPct val="0"/>
              </a:spcBef>
            </a:pPr>
            <a:r>
              <a:rPr lang="en-US" dirty="0"/>
              <a:t>Horace Walpole and others STRAWBERRY HILL</a:t>
            </a:r>
            <a:br>
              <a:rPr lang="en-US" dirty="0"/>
            </a:br>
            <a:r>
              <a:rPr lang="en-US" dirty="0" err="1"/>
              <a:t>Twickenham</a:t>
            </a:r>
            <a:r>
              <a:rPr lang="en-US" dirty="0"/>
              <a:t>, England. 1749–1776.</a:t>
            </a:r>
            <a:br>
              <a:rPr lang="en-US" dirty="0"/>
            </a:br>
            <a:r>
              <a:rPr lang="en-US" dirty="0"/>
              <a:t>Photo: Robert Neuman.</a:t>
            </a:r>
          </a:p>
        </p:txBody>
      </p:sp>
      <p:sp>
        <p:nvSpPr>
          <p:cNvPr id="88067" name="Slide Number Placeholder 3"/>
          <p:cNvSpPr>
            <a:spLocks noGrp="1"/>
          </p:cNvSpPr>
          <p:nvPr>
            <p:ph type="sldNum" sz="quarter" idx="5"/>
          </p:nvPr>
        </p:nvSpPr>
        <p:spPr bwMode="auto">
          <a:noFill/>
          <a:ln>
            <a:miter lim="800000"/>
            <a:headEnd/>
            <a:tailEnd/>
          </a:ln>
        </p:spPr>
        <p:txBody>
          <a:bodyPr/>
          <a:lstStyle/>
          <a:p>
            <a:fld id="{BA7E5210-4C0D-5145-AAA6-376CCBD31D63}" type="slidenum">
              <a:rPr lang="en-US"/>
              <a:pPr/>
              <a:t>22</a:t>
            </a:fld>
            <a:endParaRPr lang="en-US"/>
          </a:p>
        </p:txBody>
      </p:sp>
    </p:spTree>
    <p:extLst>
      <p:ext uri="{BB962C8B-B14F-4D97-AF65-F5344CB8AC3E}">
        <p14:creationId xmlns:p14="http://schemas.microsoft.com/office/powerpoint/2010/main" val="1585800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noTextEdit="1"/>
          </p:cNvSpPr>
          <p:nvPr>
            <p:ph type="sldImg"/>
          </p:nvPr>
        </p:nvSpPr>
        <p:spPr bwMode="auto">
          <a:noFill/>
          <a:ln>
            <a:solidFill>
              <a:srgbClr val="000000"/>
            </a:solidFill>
            <a:miter lim="800000"/>
            <a:headEnd/>
            <a:tailEnd/>
          </a:ln>
        </p:spPr>
      </p:sp>
      <p:sp>
        <p:nvSpPr>
          <p:cNvPr id="90114" name="Notes Placeholder 2"/>
          <p:cNvSpPr>
            <a:spLocks noGrp="1"/>
          </p:cNvSpPr>
          <p:nvPr>
            <p:ph type="body" idx="1"/>
          </p:nvPr>
        </p:nvSpPr>
        <p:spPr bwMode="auto">
          <a:noFill/>
        </p:spPr>
        <p:txBody>
          <a:bodyPr/>
          <a:lstStyle/>
          <a:p>
            <a:pPr>
              <a:spcBef>
                <a:spcPct val="0"/>
              </a:spcBef>
            </a:pPr>
            <a:r>
              <a:rPr lang="en-US" dirty="0">
                <a:latin typeface="Verdana" charset="0"/>
              </a:rPr>
              <a:t>Horace Walpole, John Chute, and Richard Bentley PICTURE GALLERY SHOWING</a:t>
            </a:r>
            <a:br>
              <a:rPr lang="en-US" dirty="0">
                <a:latin typeface="Verdana" charset="0"/>
              </a:rPr>
            </a:br>
            <a:r>
              <a:rPr lang="en-US" dirty="0">
                <a:latin typeface="Verdana" charset="0"/>
              </a:rPr>
              <a:t>FAN-VAULTED CEILING, STRAWBERRY HILL</a:t>
            </a:r>
            <a:br>
              <a:rPr lang="en-US" dirty="0">
                <a:latin typeface="Verdana" charset="0"/>
              </a:rPr>
            </a:br>
            <a:r>
              <a:rPr lang="en-US" dirty="0">
                <a:latin typeface="Verdana" charset="0"/>
              </a:rPr>
              <a:t>After 1754.</a:t>
            </a:r>
            <a:br>
              <a:rPr lang="en-US" dirty="0">
                <a:latin typeface="Verdana" charset="0"/>
              </a:rPr>
            </a:br>
            <a:r>
              <a:rPr lang="en-US" dirty="0">
                <a:latin typeface="Verdana" charset="0"/>
              </a:rPr>
              <a:t>© </a:t>
            </a:r>
            <a:r>
              <a:rPr lang="en-US" dirty="0" err="1">
                <a:latin typeface="Verdana" charset="0"/>
              </a:rPr>
              <a:t>akg</a:t>
            </a:r>
            <a:r>
              <a:rPr lang="en-US" dirty="0">
                <a:latin typeface="Verdana" charset="0"/>
              </a:rPr>
              <a:t>-images /</a:t>
            </a:r>
            <a:r>
              <a:rPr lang="en-US" dirty="0" err="1">
                <a:latin typeface="Verdana" charset="0"/>
              </a:rPr>
              <a:t>A.F.Kersting</a:t>
            </a:r>
            <a:endParaRPr lang="en-US" dirty="0"/>
          </a:p>
        </p:txBody>
      </p:sp>
      <p:sp>
        <p:nvSpPr>
          <p:cNvPr id="90115" name="Slide Number Placeholder 3"/>
          <p:cNvSpPr>
            <a:spLocks noGrp="1"/>
          </p:cNvSpPr>
          <p:nvPr>
            <p:ph type="sldNum" sz="quarter" idx="5"/>
          </p:nvPr>
        </p:nvSpPr>
        <p:spPr bwMode="auto">
          <a:noFill/>
          <a:ln>
            <a:miter lim="800000"/>
            <a:headEnd/>
            <a:tailEnd/>
          </a:ln>
        </p:spPr>
        <p:txBody>
          <a:bodyPr/>
          <a:lstStyle/>
          <a:p>
            <a:fld id="{60ADF145-07F0-D24E-A856-4130BF2D451C}" type="slidenum">
              <a:rPr lang="en-US"/>
              <a:pPr/>
              <a:t>23</a:t>
            </a:fld>
            <a:endParaRPr lang="en-US"/>
          </a:p>
        </p:txBody>
      </p:sp>
    </p:spTree>
    <p:extLst>
      <p:ext uri="{BB962C8B-B14F-4D97-AF65-F5344CB8AC3E}">
        <p14:creationId xmlns:p14="http://schemas.microsoft.com/office/powerpoint/2010/main" val="124653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Slide Image Placeholder 1"/>
          <p:cNvSpPr>
            <a:spLocks noGrp="1" noRot="1" noChangeAspect="1" noTextEdit="1"/>
          </p:cNvSpPr>
          <p:nvPr>
            <p:ph type="sldImg"/>
          </p:nvPr>
        </p:nvSpPr>
        <p:spPr bwMode="auto">
          <a:noFill/>
          <a:ln>
            <a:solidFill>
              <a:srgbClr val="000000"/>
            </a:solidFill>
            <a:miter lim="800000"/>
            <a:headEnd/>
            <a:tailEnd/>
          </a:ln>
        </p:spPr>
      </p:sp>
      <p:sp>
        <p:nvSpPr>
          <p:cNvPr id="93186" name="Notes Placeholder 2"/>
          <p:cNvSpPr>
            <a:spLocks noGrp="1"/>
          </p:cNvSpPr>
          <p:nvPr>
            <p:ph type="body" idx="1"/>
          </p:nvPr>
        </p:nvSpPr>
        <p:spPr bwMode="auto">
          <a:noFill/>
        </p:spPr>
        <p:txBody>
          <a:bodyPr/>
          <a:lstStyle/>
          <a:p>
            <a:pPr>
              <a:spcBef>
                <a:spcPct val="0"/>
              </a:spcBef>
            </a:pPr>
            <a:r>
              <a:rPr lang="en-US" dirty="0">
                <a:latin typeface="Verdana" charset="0"/>
              </a:rPr>
              <a:t>Abraham Darby III SEVERN RIVER BRIDGE</a:t>
            </a:r>
            <a:br>
              <a:rPr lang="en-US" dirty="0">
                <a:latin typeface="Verdana" charset="0"/>
              </a:rPr>
            </a:br>
            <a:r>
              <a:rPr lang="en-US" dirty="0" err="1">
                <a:latin typeface="Verdana" charset="0"/>
              </a:rPr>
              <a:t>Coalbrookdale</a:t>
            </a:r>
            <a:r>
              <a:rPr lang="en-US" dirty="0">
                <a:latin typeface="Verdana" charset="0"/>
              </a:rPr>
              <a:t>, England. 1779.</a:t>
            </a:r>
            <a:br>
              <a:rPr lang="en-US" dirty="0">
                <a:latin typeface="Verdana" charset="0"/>
              </a:rPr>
            </a:br>
            <a:r>
              <a:rPr lang="en-US" dirty="0">
                <a:latin typeface="Verdana" charset="0"/>
              </a:rPr>
              <a:t>© Dorling Kindersley. </a:t>
            </a:r>
            <a:endParaRPr lang="en-US" dirty="0"/>
          </a:p>
        </p:txBody>
      </p:sp>
      <p:sp>
        <p:nvSpPr>
          <p:cNvPr id="93187" name="Slide Number Placeholder 3"/>
          <p:cNvSpPr>
            <a:spLocks noGrp="1"/>
          </p:cNvSpPr>
          <p:nvPr>
            <p:ph type="sldNum" sz="quarter" idx="5"/>
          </p:nvPr>
        </p:nvSpPr>
        <p:spPr bwMode="auto">
          <a:noFill/>
          <a:ln>
            <a:miter lim="800000"/>
            <a:headEnd/>
            <a:tailEnd/>
          </a:ln>
        </p:spPr>
        <p:txBody>
          <a:bodyPr/>
          <a:lstStyle/>
          <a:p>
            <a:fld id="{2B7EEE02-64AA-054B-A394-0DA3A44431B3}" type="slidenum">
              <a:rPr lang="en-US"/>
              <a:pPr/>
              <a:t>25</a:t>
            </a:fld>
            <a:endParaRPr lang="en-US"/>
          </a:p>
        </p:txBody>
      </p:sp>
    </p:spTree>
    <p:extLst>
      <p:ext uri="{BB962C8B-B14F-4D97-AF65-F5344CB8AC3E}">
        <p14:creationId xmlns:p14="http://schemas.microsoft.com/office/powerpoint/2010/main" val="12595414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Slide Image Placeholder 1"/>
          <p:cNvSpPr>
            <a:spLocks noGrp="1" noRot="1" noChangeAspect="1" noTextEdit="1"/>
          </p:cNvSpPr>
          <p:nvPr>
            <p:ph type="sldImg"/>
          </p:nvPr>
        </p:nvSpPr>
        <p:spPr bwMode="auto">
          <a:noFill/>
          <a:ln>
            <a:solidFill>
              <a:srgbClr val="000000"/>
            </a:solidFill>
            <a:miter lim="800000"/>
            <a:headEnd/>
            <a:tailEnd/>
          </a:ln>
        </p:spPr>
      </p:sp>
      <p:sp>
        <p:nvSpPr>
          <p:cNvPr id="97282" name="Notes Placeholder 2"/>
          <p:cNvSpPr>
            <a:spLocks noGrp="1"/>
          </p:cNvSpPr>
          <p:nvPr>
            <p:ph type="body" idx="1"/>
          </p:nvPr>
        </p:nvSpPr>
        <p:spPr bwMode="auto">
          <a:noFill/>
        </p:spPr>
        <p:txBody>
          <a:bodyPr/>
          <a:lstStyle/>
          <a:p>
            <a:pPr>
              <a:spcBef>
                <a:spcPct val="0"/>
              </a:spcBef>
            </a:pPr>
            <a:r>
              <a:rPr lang="en-US" dirty="0"/>
              <a:t>William Hogarth THE MARRIAGE CONTRACT</a:t>
            </a:r>
            <a:br>
              <a:rPr lang="en-US" dirty="0"/>
            </a:br>
            <a:r>
              <a:rPr lang="en-US" dirty="0"/>
              <a:t>From </a:t>
            </a:r>
            <a:r>
              <a:rPr lang="en-US" i="1" dirty="0"/>
              <a:t>Marriage </a:t>
            </a:r>
            <a:r>
              <a:rPr lang="en-US" i="1" dirty="0" err="1"/>
              <a:t>à</a:t>
            </a:r>
            <a:r>
              <a:rPr lang="en-US" i="1" dirty="0"/>
              <a:t> la Mode</a:t>
            </a:r>
            <a:r>
              <a:rPr lang="en-US" dirty="0"/>
              <a:t>, 1743–1745.</a:t>
            </a:r>
            <a:br>
              <a:rPr lang="en-US" dirty="0"/>
            </a:br>
            <a:r>
              <a:rPr lang="en-US" dirty="0"/>
              <a:t>Oil on canvas, 27-1/2</a:t>
            </a:r>
            <a:r>
              <a:rPr lang="ru-RU" dirty="0"/>
              <a:t>"</a:t>
            </a:r>
            <a:r>
              <a:rPr lang="en-US" dirty="0"/>
              <a:t> × 35-3/4</a:t>
            </a:r>
            <a:r>
              <a:rPr lang="ru-RU" dirty="0"/>
              <a:t>"</a:t>
            </a:r>
            <a:r>
              <a:rPr lang="en-US" dirty="0"/>
              <a:t> (69.9 × 90.8 cm).</a:t>
            </a:r>
            <a:br>
              <a:rPr lang="en-US" dirty="0"/>
            </a:br>
            <a:r>
              <a:rPr lang="en-US" dirty="0"/>
              <a:t>National Gallery, London. © 2016. Copyright The National Gallery, London/Scala, Florence. </a:t>
            </a:r>
          </a:p>
        </p:txBody>
      </p:sp>
      <p:sp>
        <p:nvSpPr>
          <p:cNvPr id="97283" name="Slide Number Placeholder 3"/>
          <p:cNvSpPr>
            <a:spLocks noGrp="1"/>
          </p:cNvSpPr>
          <p:nvPr>
            <p:ph type="sldNum" sz="quarter" idx="5"/>
          </p:nvPr>
        </p:nvSpPr>
        <p:spPr bwMode="auto">
          <a:noFill/>
          <a:ln>
            <a:miter lim="800000"/>
            <a:headEnd/>
            <a:tailEnd/>
          </a:ln>
        </p:spPr>
        <p:txBody>
          <a:bodyPr/>
          <a:lstStyle/>
          <a:p>
            <a:fld id="{A3930DED-401B-B847-9B06-4031A7C3B267}" type="slidenum">
              <a:rPr lang="en-US"/>
              <a:pPr/>
              <a:t>28</a:t>
            </a:fld>
            <a:endParaRPr lang="en-US"/>
          </a:p>
        </p:txBody>
      </p:sp>
    </p:spTree>
    <p:extLst>
      <p:ext uri="{BB962C8B-B14F-4D97-AF65-F5344CB8AC3E}">
        <p14:creationId xmlns:p14="http://schemas.microsoft.com/office/powerpoint/2010/main" val="13667072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Image Placeholder 1"/>
          <p:cNvSpPr>
            <a:spLocks noGrp="1" noRot="1" noChangeAspect="1" noTextEdit="1"/>
          </p:cNvSpPr>
          <p:nvPr>
            <p:ph type="sldImg"/>
          </p:nvPr>
        </p:nvSpPr>
        <p:spPr bwMode="auto">
          <a:noFill/>
          <a:ln>
            <a:solidFill>
              <a:srgbClr val="000000"/>
            </a:solidFill>
            <a:miter lim="800000"/>
            <a:headEnd/>
            <a:tailEnd/>
          </a:ln>
        </p:spPr>
      </p:sp>
      <p:sp>
        <p:nvSpPr>
          <p:cNvPr id="101378" name="Notes Placeholder 2"/>
          <p:cNvSpPr>
            <a:spLocks noGrp="1"/>
          </p:cNvSpPr>
          <p:nvPr>
            <p:ph type="body" idx="1"/>
          </p:nvPr>
        </p:nvSpPr>
        <p:spPr bwMode="auto">
          <a:noFill/>
        </p:spPr>
        <p:txBody>
          <a:bodyPr/>
          <a:lstStyle/>
          <a:p>
            <a:pPr>
              <a:spcBef>
                <a:spcPct val="0"/>
              </a:spcBef>
            </a:pPr>
            <a:r>
              <a:rPr lang="en-US" dirty="0">
                <a:latin typeface="Verdana" charset="0"/>
              </a:rPr>
              <a:t>Joshua Reynolds LADY SARAH BUNBURY SACRIFICING TO THE GRACES</a:t>
            </a:r>
            <a:br>
              <a:rPr lang="en-US" dirty="0">
                <a:latin typeface="Verdana" charset="0"/>
              </a:rPr>
            </a:br>
            <a:r>
              <a:rPr lang="en-US" dirty="0">
                <a:latin typeface="Verdana" charset="0"/>
              </a:rPr>
              <a:t>1765. Oil on canvas, 7</a:t>
            </a:r>
            <a:r>
              <a:rPr lang="uk-UA" dirty="0">
                <a:latin typeface="Verdana" charset="0"/>
              </a:rPr>
              <a:t>'</a:t>
            </a:r>
            <a:r>
              <a:rPr lang="en-US" dirty="0">
                <a:latin typeface="Verdana" charset="0"/>
              </a:rPr>
              <a:t>10</a:t>
            </a:r>
            <a:r>
              <a:rPr lang="ru-RU" dirty="0">
                <a:latin typeface="Verdana" charset="0"/>
              </a:rPr>
              <a:t>"</a:t>
            </a:r>
            <a:r>
              <a:rPr lang="en-US" dirty="0">
                <a:latin typeface="Verdana" charset="0"/>
              </a:rPr>
              <a:t> × 5</a:t>
            </a:r>
            <a:r>
              <a:rPr lang="uk-UA" dirty="0">
                <a:latin typeface="Verdana" charset="0"/>
              </a:rPr>
              <a:t>'</a:t>
            </a:r>
            <a:r>
              <a:rPr lang="en-US" dirty="0">
                <a:latin typeface="Verdana" charset="0"/>
              </a:rPr>
              <a:t> (2.42 × 1.53 m).</a:t>
            </a:r>
            <a:br>
              <a:rPr lang="en-US" dirty="0">
                <a:latin typeface="Verdana" charset="0"/>
              </a:rPr>
            </a:br>
            <a:r>
              <a:rPr lang="en-US" dirty="0">
                <a:latin typeface="Verdana" charset="0"/>
              </a:rPr>
              <a:t>The Art Institute of Chicago. Mr. and Mrs. W. W. Kimball Collection, 1922.4468.</a:t>
            </a:r>
            <a:br>
              <a:rPr lang="en-US" dirty="0">
                <a:latin typeface="Verdana" charset="0"/>
              </a:rPr>
            </a:br>
            <a:r>
              <a:rPr lang="en-US" dirty="0">
                <a:latin typeface="Verdana" charset="0"/>
              </a:rPr>
              <a:t>© </a:t>
            </a:r>
            <a:r>
              <a:rPr lang="en-US" dirty="0" err="1">
                <a:latin typeface="Verdana" charset="0"/>
              </a:rPr>
              <a:t>akg</a:t>
            </a:r>
            <a:r>
              <a:rPr lang="en-US" dirty="0">
                <a:latin typeface="Verdana" charset="0"/>
              </a:rPr>
              <a:t>-images/De Agostini Picture Lib.</a:t>
            </a:r>
            <a:endParaRPr lang="en-US" dirty="0"/>
          </a:p>
        </p:txBody>
      </p:sp>
      <p:sp>
        <p:nvSpPr>
          <p:cNvPr id="101379" name="Slide Number Placeholder 3"/>
          <p:cNvSpPr>
            <a:spLocks noGrp="1"/>
          </p:cNvSpPr>
          <p:nvPr>
            <p:ph type="sldNum" sz="quarter" idx="5"/>
          </p:nvPr>
        </p:nvSpPr>
        <p:spPr bwMode="auto">
          <a:noFill/>
          <a:ln>
            <a:miter lim="800000"/>
            <a:headEnd/>
            <a:tailEnd/>
          </a:ln>
        </p:spPr>
        <p:txBody>
          <a:bodyPr/>
          <a:lstStyle/>
          <a:p>
            <a:fld id="{95F64177-7D35-B74F-829F-8ED38031F57E}" type="slidenum">
              <a:rPr lang="en-US"/>
              <a:pPr/>
              <a:t>31</a:t>
            </a:fld>
            <a:endParaRPr lang="en-US"/>
          </a:p>
        </p:txBody>
      </p:sp>
    </p:spTree>
    <p:extLst>
      <p:ext uri="{BB962C8B-B14F-4D97-AF65-F5344CB8AC3E}">
        <p14:creationId xmlns:p14="http://schemas.microsoft.com/office/powerpoint/2010/main" val="763074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Slide Image Placeholder 1"/>
          <p:cNvSpPr>
            <a:spLocks noGrp="1" noRot="1" noChangeAspect="1" noTextEdit="1"/>
          </p:cNvSpPr>
          <p:nvPr>
            <p:ph type="sldImg"/>
          </p:nvPr>
        </p:nvSpPr>
        <p:spPr bwMode="auto">
          <a:noFill/>
          <a:ln>
            <a:solidFill>
              <a:srgbClr val="000000"/>
            </a:solidFill>
            <a:miter lim="800000"/>
            <a:headEnd/>
            <a:tailEnd/>
          </a:ln>
        </p:spPr>
      </p:sp>
      <p:sp>
        <p:nvSpPr>
          <p:cNvPr id="104450" name="Notes Placeholder 2"/>
          <p:cNvSpPr>
            <a:spLocks noGrp="1"/>
          </p:cNvSpPr>
          <p:nvPr>
            <p:ph type="body" idx="1"/>
          </p:nvPr>
        </p:nvSpPr>
        <p:spPr bwMode="auto">
          <a:noFill/>
        </p:spPr>
        <p:txBody>
          <a:bodyPr/>
          <a:lstStyle/>
          <a:p>
            <a:pPr>
              <a:spcBef>
                <a:spcPct val="0"/>
              </a:spcBef>
            </a:pPr>
            <a:r>
              <a:rPr lang="en-US" dirty="0"/>
              <a:t>Thomas Gainsborough ROBERT ANDREWS AND FRANCES CARTER</a:t>
            </a:r>
            <a:br>
              <a:rPr lang="en-US" dirty="0"/>
            </a:br>
            <a:r>
              <a:rPr lang="en-US" dirty="0"/>
              <a:t>(MR. AND MRS. ANDREWS)</a:t>
            </a:r>
            <a:br>
              <a:rPr lang="en-US" dirty="0"/>
            </a:br>
            <a:r>
              <a:rPr lang="en-US" dirty="0"/>
              <a:t>c. 1748–1750. Oil on canvas, 27-1/2</a:t>
            </a:r>
            <a:r>
              <a:rPr lang="ru-RU" dirty="0"/>
              <a:t>"</a:t>
            </a:r>
            <a:r>
              <a:rPr lang="en-US" dirty="0"/>
              <a:t> × 47</a:t>
            </a:r>
            <a:r>
              <a:rPr lang="ru-RU" dirty="0"/>
              <a:t>"</a:t>
            </a:r>
            <a:r>
              <a:rPr lang="en-US" dirty="0"/>
              <a:t> (69.7 × 119.3 cm).</a:t>
            </a:r>
            <a:br>
              <a:rPr lang="en-US" dirty="0"/>
            </a:br>
            <a:r>
              <a:rPr lang="en-US" dirty="0"/>
              <a:t>National Gallery, London. © 2016. Copyright The National Gallery, London/Scala, Florence. [Fig. 30-25]</a:t>
            </a:r>
          </a:p>
        </p:txBody>
      </p:sp>
      <p:sp>
        <p:nvSpPr>
          <p:cNvPr id="104451" name="Slide Number Placeholder 3"/>
          <p:cNvSpPr>
            <a:spLocks noGrp="1"/>
          </p:cNvSpPr>
          <p:nvPr>
            <p:ph type="sldNum" sz="quarter" idx="5"/>
          </p:nvPr>
        </p:nvSpPr>
        <p:spPr bwMode="auto">
          <a:noFill/>
          <a:ln>
            <a:miter lim="800000"/>
            <a:headEnd/>
            <a:tailEnd/>
          </a:ln>
        </p:spPr>
        <p:txBody>
          <a:bodyPr/>
          <a:lstStyle/>
          <a:p>
            <a:fld id="{36A8ECA9-7E05-DD48-BC78-BD33B689010A}" type="slidenum">
              <a:rPr lang="en-US"/>
              <a:pPr/>
              <a:t>33</a:t>
            </a:fld>
            <a:endParaRPr lang="en-US"/>
          </a:p>
        </p:txBody>
      </p:sp>
    </p:spTree>
    <p:extLst>
      <p:ext uri="{BB962C8B-B14F-4D97-AF65-F5344CB8AC3E}">
        <p14:creationId xmlns:p14="http://schemas.microsoft.com/office/powerpoint/2010/main" val="2156218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p:cNvSpPr>
            <a:spLocks noGrp="1" noRot="1" noChangeAspect="1" noTextEdit="1"/>
          </p:cNvSpPr>
          <p:nvPr>
            <p:ph type="sldImg"/>
          </p:nvPr>
        </p:nvSpPr>
        <p:spPr bwMode="auto">
          <a:noFill/>
          <a:ln>
            <a:solidFill>
              <a:srgbClr val="000000"/>
            </a:solidFill>
            <a:miter lim="800000"/>
            <a:headEnd/>
            <a:tailEnd/>
          </a:ln>
        </p:spPr>
      </p:sp>
      <p:sp>
        <p:nvSpPr>
          <p:cNvPr id="107522" name="Notes Placeholder 2"/>
          <p:cNvSpPr>
            <a:spLocks noGrp="1"/>
          </p:cNvSpPr>
          <p:nvPr>
            <p:ph type="body" idx="1"/>
          </p:nvPr>
        </p:nvSpPr>
        <p:spPr bwMode="auto">
          <a:noFill/>
        </p:spPr>
        <p:txBody>
          <a:bodyPr/>
          <a:lstStyle/>
          <a:p>
            <a:pPr>
              <a:spcBef>
                <a:spcPct val="0"/>
              </a:spcBef>
            </a:pPr>
            <a:r>
              <a:rPr lang="en-US" dirty="0"/>
              <a:t>Joseph Wright of Derby AN EXPERIMENT ON A BIRD IN THE AIR-PUMP</a:t>
            </a:r>
            <a:br>
              <a:rPr lang="en-US" dirty="0"/>
            </a:br>
            <a:r>
              <a:rPr lang="en-US" dirty="0"/>
              <a:t>1768. Oil on canvas, 6</a:t>
            </a:r>
            <a:r>
              <a:rPr lang="uk-UA" dirty="0"/>
              <a:t>'</a:t>
            </a:r>
            <a:r>
              <a:rPr lang="en-US" dirty="0"/>
              <a:t> × 8</a:t>
            </a:r>
            <a:r>
              <a:rPr lang="uk-UA" dirty="0"/>
              <a:t>'</a:t>
            </a:r>
            <a:r>
              <a:rPr lang="en-US" dirty="0"/>
              <a:t> (1.82 × 2.43 m).</a:t>
            </a:r>
            <a:br>
              <a:rPr lang="en-US" dirty="0"/>
            </a:br>
            <a:r>
              <a:rPr lang="en-US" dirty="0"/>
              <a:t>National Gallery, London. © 2016. Copyright The National Gallery, London/Scala, Florence.</a:t>
            </a:r>
          </a:p>
        </p:txBody>
      </p:sp>
      <p:sp>
        <p:nvSpPr>
          <p:cNvPr id="107523" name="Slide Number Placeholder 3"/>
          <p:cNvSpPr>
            <a:spLocks noGrp="1"/>
          </p:cNvSpPr>
          <p:nvPr>
            <p:ph type="sldNum" sz="quarter" idx="5"/>
          </p:nvPr>
        </p:nvSpPr>
        <p:spPr bwMode="auto">
          <a:noFill/>
          <a:ln>
            <a:miter lim="800000"/>
            <a:headEnd/>
            <a:tailEnd/>
          </a:ln>
        </p:spPr>
        <p:txBody>
          <a:bodyPr/>
          <a:lstStyle/>
          <a:p>
            <a:fld id="{164DF44A-8C65-B64D-B154-9246DCAD9212}" type="slidenum">
              <a:rPr lang="en-US"/>
              <a:pPr/>
              <a:t>35</a:t>
            </a:fld>
            <a:endParaRPr lang="en-US"/>
          </a:p>
        </p:txBody>
      </p:sp>
    </p:spTree>
    <p:extLst>
      <p:ext uri="{BB962C8B-B14F-4D97-AF65-F5344CB8AC3E}">
        <p14:creationId xmlns:p14="http://schemas.microsoft.com/office/powerpoint/2010/main" val="1151806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Slide Image Placeholder 1"/>
          <p:cNvSpPr>
            <a:spLocks noGrp="1" noRot="1" noChangeAspect="1" noTextEdit="1"/>
          </p:cNvSpPr>
          <p:nvPr>
            <p:ph type="sldImg"/>
          </p:nvPr>
        </p:nvSpPr>
        <p:spPr bwMode="auto">
          <a:noFill/>
          <a:ln>
            <a:solidFill>
              <a:srgbClr val="000000"/>
            </a:solidFill>
            <a:miter lim="800000"/>
            <a:headEnd/>
            <a:tailEnd/>
          </a:ln>
        </p:spPr>
      </p:sp>
      <p:sp>
        <p:nvSpPr>
          <p:cNvPr id="110594" name="Notes Placeholder 2"/>
          <p:cNvSpPr>
            <a:spLocks noGrp="1"/>
          </p:cNvSpPr>
          <p:nvPr>
            <p:ph type="body" idx="1"/>
          </p:nvPr>
        </p:nvSpPr>
        <p:spPr bwMode="auto">
          <a:noFill/>
        </p:spPr>
        <p:txBody>
          <a:bodyPr/>
          <a:lstStyle/>
          <a:p>
            <a:pPr>
              <a:spcBef>
                <a:spcPct val="0"/>
              </a:spcBef>
            </a:pPr>
            <a:r>
              <a:rPr lang="en-US" dirty="0"/>
              <a:t>Johann </a:t>
            </a:r>
            <a:r>
              <a:rPr lang="en-US" dirty="0" err="1"/>
              <a:t>Zoffany</a:t>
            </a:r>
            <a:r>
              <a:rPr lang="en-US" dirty="0"/>
              <a:t> ACADEMICIANS OF THE ROYAL ACADEMY</a:t>
            </a:r>
            <a:br>
              <a:rPr lang="en-US" dirty="0"/>
            </a:br>
            <a:r>
              <a:rPr lang="en-US" dirty="0"/>
              <a:t>1771–1772. Oil on canvas, 47-1/2</a:t>
            </a:r>
            <a:r>
              <a:rPr lang="ru-RU" dirty="0"/>
              <a:t>"</a:t>
            </a:r>
            <a:r>
              <a:rPr lang="en-US" dirty="0"/>
              <a:t> × 59-1/2</a:t>
            </a:r>
            <a:r>
              <a:rPr lang="ru-RU" dirty="0"/>
              <a:t>"</a:t>
            </a:r>
            <a:r>
              <a:rPr lang="en-US" dirty="0"/>
              <a:t> (120.6 × 151.2 cm).</a:t>
            </a:r>
            <a:br>
              <a:rPr lang="en-US" dirty="0"/>
            </a:br>
            <a:r>
              <a:rPr lang="en-US" dirty="0"/>
              <a:t>The Royal Collection, Windsor Castle, England. Royal Collection Trust © Her Majesty Queen Elizabeth II, 2016/. Bridgeman Images. </a:t>
            </a:r>
          </a:p>
        </p:txBody>
      </p:sp>
      <p:sp>
        <p:nvSpPr>
          <p:cNvPr id="110595" name="Slide Number Placeholder 3"/>
          <p:cNvSpPr>
            <a:spLocks noGrp="1"/>
          </p:cNvSpPr>
          <p:nvPr>
            <p:ph type="sldNum" sz="quarter" idx="5"/>
          </p:nvPr>
        </p:nvSpPr>
        <p:spPr bwMode="auto">
          <a:noFill/>
          <a:ln>
            <a:miter lim="800000"/>
            <a:headEnd/>
            <a:tailEnd/>
          </a:ln>
        </p:spPr>
        <p:txBody>
          <a:bodyPr/>
          <a:lstStyle/>
          <a:p>
            <a:fld id="{651D8607-4AB9-4A4D-9E53-A074FAEB5246}" type="slidenum">
              <a:rPr lang="en-US"/>
              <a:pPr/>
              <a:t>37</a:t>
            </a:fld>
            <a:endParaRPr lang="en-US"/>
          </a:p>
        </p:txBody>
      </p:sp>
    </p:spTree>
    <p:extLst>
      <p:ext uri="{BB962C8B-B14F-4D97-AF65-F5344CB8AC3E}">
        <p14:creationId xmlns:p14="http://schemas.microsoft.com/office/powerpoint/2010/main" val="9888732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p:cNvSpPr>
            <a:spLocks noGrp="1" noRot="1" noChangeAspect="1" noTextEdit="1"/>
          </p:cNvSpPr>
          <p:nvPr>
            <p:ph type="sldImg"/>
          </p:nvPr>
        </p:nvSpPr>
        <p:spPr bwMode="auto">
          <a:noFill/>
          <a:ln>
            <a:solidFill>
              <a:srgbClr val="000000"/>
            </a:solidFill>
            <a:miter lim="800000"/>
            <a:headEnd/>
            <a:tailEnd/>
          </a:ln>
        </p:spPr>
      </p:sp>
      <p:sp>
        <p:nvSpPr>
          <p:cNvPr id="113666" name="Notes Placeholder 2"/>
          <p:cNvSpPr>
            <a:spLocks noGrp="1"/>
          </p:cNvSpPr>
          <p:nvPr>
            <p:ph type="body" idx="1"/>
          </p:nvPr>
        </p:nvSpPr>
        <p:spPr bwMode="auto">
          <a:noFill/>
        </p:spPr>
        <p:txBody>
          <a:bodyPr/>
          <a:lstStyle/>
          <a:p>
            <a:pPr>
              <a:spcBef>
                <a:spcPct val="0"/>
              </a:spcBef>
            </a:pPr>
            <a:r>
              <a:rPr lang="en-US" dirty="0"/>
              <a:t>Angelica Kauffmann CORNELIA POINTING TO HER CHILDREN AS HER TREASURES</a:t>
            </a:r>
            <a:br>
              <a:rPr lang="en-US" dirty="0"/>
            </a:br>
            <a:r>
              <a:rPr lang="en-US" dirty="0"/>
              <a:t>c. 1785. Oil on canvas, 40 × 50</a:t>
            </a:r>
            <a:r>
              <a:rPr lang="ru-RU" dirty="0"/>
              <a:t>"</a:t>
            </a:r>
            <a:r>
              <a:rPr lang="en-US" dirty="0"/>
              <a:t> (101.6 × 127 cm).</a:t>
            </a:r>
            <a:br>
              <a:rPr lang="en-US" dirty="0"/>
            </a:br>
            <a:r>
              <a:rPr lang="en-US" dirty="0"/>
              <a:t>Virginia Museum of Fine Arts, Richmond, Virginia. The Adolph D. and Wilkins C. Williams Fund. Virginia Museum of Fine Arts, Richmond. Photo: Katherine Wetzel. </a:t>
            </a:r>
          </a:p>
        </p:txBody>
      </p:sp>
      <p:sp>
        <p:nvSpPr>
          <p:cNvPr id="113667" name="Slide Number Placeholder 3"/>
          <p:cNvSpPr>
            <a:spLocks noGrp="1"/>
          </p:cNvSpPr>
          <p:nvPr>
            <p:ph type="sldNum" sz="quarter" idx="5"/>
          </p:nvPr>
        </p:nvSpPr>
        <p:spPr bwMode="auto">
          <a:noFill/>
          <a:ln>
            <a:miter lim="800000"/>
            <a:headEnd/>
            <a:tailEnd/>
          </a:ln>
        </p:spPr>
        <p:txBody>
          <a:bodyPr/>
          <a:lstStyle/>
          <a:p>
            <a:fld id="{6F227F78-3579-124E-B993-9E00121A6203}" type="slidenum">
              <a:rPr lang="en-US"/>
              <a:pPr/>
              <a:t>39</a:t>
            </a:fld>
            <a:endParaRPr lang="en-US"/>
          </a:p>
        </p:txBody>
      </p:sp>
    </p:spTree>
    <p:extLst>
      <p:ext uri="{BB962C8B-B14F-4D97-AF65-F5344CB8AC3E}">
        <p14:creationId xmlns:p14="http://schemas.microsoft.com/office/powerpoint/2010/main" val="6159618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Slide Image Placeholder 1"/>
          <p:cNvSpPr>
            <a:spLocks noGrp="1" noRot="1" noChangeAspect="1" noTextEdit="1"/>
          </p:cNvSpPr>
          <p:nvPr>
            <p:ph type="sldImg"/>
          </p:nvPr>
        </p:nvSpPr>
        <p:spPr bwMode="auto">
          <a:noFill/>
          <a:ln>
            <a:solidFill>
              <a:srgbClr val="000000"/>
            </a:solidFill>
            <a:miter lim="800000"/>
            <a:headEnd/>
            <a:tailEnd/>
          </a:ln>
        </p:spPr>
      </p:sp>
      <p:sp>
        <p:nvSpPr>
          <p:cNvPr id="116738" name="Notes Placeholder 2"/>
          <p:cNvSpPr>
            <a:spLocks noGrp="1"/>
          </p:cNvSpPr>
          <p:nvPr>
            <p:ph type="body" idx="1"/>
          </p:nvPr>
        </p:nvSpPr>
        <p:spPr bwMode="auto">
          <a:noFill/>
        </p:spPr>
        <p:txBody>
          <a:bodyPr/>
          <a:lstStyle/>
          <a:p>
            <a:pPr>
              <a:spcBef>
                <a:spcPct val="0"/>
              </a:spcBef>
            </a:pPr>
            <a:r>
              <a:rPr lang="en-US" dirty="0">
                <a:latin typeface="Verdana" charset="0"/>
              </a:rPr>
              <a:t>Benjamin West THE DEATH OF GENERAL WOLFE</a:t>
            </a:r>
            <a:br>
              <a:rPr lang="en-US" dirty="0">
                <a:latin typeface="Verdana" charset="0"/>
              </a:rPr>
            </a:br>
            <a:r>
              <a:rPr lang="en-US" dirty="0">
                <a:latin typeface="Verdana" charset="0"/>
              </a:rPr>
              <a:t>1770. Oil on canvas, 4</a:t>
            </a:r>
            <a:r>
              <a:rPr lang="uk-UA" dirty="0">
                <a:latin typeface="Verdana" charset="0"/>
              </a:rPr>
              <a:t>'</a:t>
            </a:r>
            <a:r>
              <a:rPr lang="en-US" dirty="0">
                <a:latin typeface="Verdana" charset="0"/>
              </a:rPr>
              <a:t>11-1/2</a:t>
            </a:r>
            <a:r>
              <a:rPr lang="ru-RU" dirty="0">
                <a:latin typeface="Verdana" charset="0"/>
              </a:rPr>
              <a:t>"</a:t>
            </a:r>
            <a:r>
              <a:rPr lang="en-US" dirty="0">
                <a:latin typeface="Verdana" charset="0"/>
              </a:rPr>
              <a:t> × 7</a:t>
            </a:r>
            <a:r>
              <a:rPr lang="uk-UA" dirty="0">
                <a:latin typeface="Verdana" charset="0"/>
              </a:rPr>
              <a:t>'</a:t>
            </a:r>
            <a:r>
              <a:rPr lang="en-US" dirty="0">
                <a:latin typeface="Verdana" charset="0"/>
              </a:rPr>
              <a:t> (1.51 × 2.14 m).</a:t>
            </a:r>
            <a:br>
              <a:rPr lang="en-US" dirty="0">
                <a:latin typeface="Verdana" charset="0"/>
              </a:rPr>
            </a:br>
            <a:r>
              <a:rPr lang="en-US" dirty="0">
                <a:latin typeface="Verdana" charset="0"/>
              </a:rPr>
              <a:t>National Gallery of Canada, Ottawa. Transfer from the Canadian War Memorials, 1921. Gift of the 2nd Duke of Westminster, Eaton Hall, Cheshire, 1918. National Gallery of Canada, Ottawa.</a:t>
            </a:r>
            <a:endParaRPr lang="en-US" dirty="0"/>
          </a:p>
        </p:txBody>
      </p:sp>
      <p:sp>
        <p:nvSpPr>
          <p:cNvPr id="116739" name="Slide Number Placeholder 3"/>
          <p:cNvSpPr>
            <a:spLocks noGrp="1"/>
          </p:cNvSpPr>
          <p:nvPr>
            <p:ph type="sldNum" sz="quarter" idx="5"/>
          </p:nvPr>
        </p:nvSpPr>
        <p:spPr bwMode="auto">
          <a:noFill/>
          <a:ln>
            <a:miter lim="800000"/>
            <a:headEnd/>
            <a:tailEnd/>
          </a:ln>
        </p:spPr>
        <p:txBody>
          <a:bodyPr/>
          <a:lstStyle/>
          <a:p>
            <a:fld id="{858145C2-3748-5A4E-B686-B67E247AFE9D}" type="slidenum">
              <a:rPr lang="en-US"/>
              <a:pPr/>
              <a:t>41</a:t>
            </a:fld>
            <a:endParaRPr lang="en-US"/>
          </a:p>
        </p:txBody>
      </p:sp>
    </p:spTree>
    <p:extLst>
      <p:ext uri="{BB962C8B-B14F-4D97-AF65-F5344CB8AC3E}">
        <p14:creationId xmlns:p14="http://schemas.microsoft.com/office/powerpoint/2010/main" val="1600155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p:cNvSpPr>
            <a:spLocks noGrp="1" noRot="1" noChangeAspect="1" noTextEdit="1"/>
          </p:cNvSpPr>
          <p:nvPr>
            <p:ph type="sldImg"/>
          </p:nvPr>
        </p:nvSpPr>
        <p:spPr bwMode="auto">
          <a:noFill/>
          <a:ln>
            <a:solidFill>
              <a:srgbClr val="000000"/>
            </a:solidFill>
            <a:miter lim="800000"/>
            <a:headEnd/>
            <a:tailEnd/>
          </a:ln>
        </p:spPr>
      </p:sp>
      <p:sp>
        <p:nvSpPr>
          <p:cNvPr id="119810" name="Notes Placeholder 2"/>
          <p:cNvSpPr>
            <a:spLocks noGrp="1"/>
          </p:cNvSpPr>
          <p:nvPr>
            <p:ph type="body" idx="1"/>
          </p:nvPr>
        </p:nvSpPr>
        <p:spPr bwMode="auto">
          <a:noFill/>
        </p:spPr>
        <p:txBody>
          <a:bodyPr/>
          <a:lstStyle/>
          <a:p>
            <a:pPr>
              <a:spcBef>
                <a:spcPct val="0"/>
              </a:spcBef>
            </a:pPr>
            <a:r>
              <a:rPr lang="en-US" dirty="0">
                <a:latin typeface="Verdana" charset="0"/>
              </a:rPr>
              <a:t>John Henry Fuseli THE NIGHTMARE</a:t>
            </a:r>
            <a:br>
              <a:rPr lang="en-US" dirty="0">
                <a:latin typeface="Verdana" charset="0"/>
              </a:rPr>
            </a:br>
            <a:r>
              <a:rPr lang="en-US" dirty="0">
                <a:latin typeface="Verdana" charset="0"/>
              </a:rPr>
              <a:t>1781. Oil on canvas, 39-3/4</a:t>
            </a:r>
            <a:r>
              <a:rPr lang="ru-RU" dirty="0">
                <a:latin typeface="Verdana" charset="0"/>
              </a:rPr>
              <a:t>"</a:t>
            </a:r>
            <a:r>
              <a:rPr lang="en-US" dirty="0">
                <a:latin typeface="Verdana" charset="0"/>
              </a:rPr>
              <a:t> × 49-1/2</a:t>
            </a:r>
            <a:r>
              <a:rPr lang="ru-RU" dirty="0">
                <a:latin typeface="Verdana" charset="0"/>
              </a:rPr>
              <a:t>"</a:t>
            </a:r>
            <a:r>
              <a:rPr lang="en-US" dirty="0">
                <a:latin typeface="Verdana" charset="0"/>
              </a:rPr>
              <a:t> (101 × 127 cm).</a:t>
            </a:r>
            <a:br>
              <a:rPr lang="en-US" dirty="0">
                <a:latin typeface="Verdana" charset="0"/>
              </a:rPr>
            </a:br>
            <a:r>
              <a:rPr lang="en-US" dirty="0">
                <a:latin typeface="Verdana" charset="0"/>
              </a:rPr>
              <a:t>The Detroit Institute of Arts. Founders Society purchase with Mr. and Mrs. Bert L. </a:t>
            </a:r>
            <a:r>
              <a:rPr lang="en-US" dirty="0" err="1">
                <a:latin typeface="Verdana" charset="0"/>
              </a:rPr>
              <a:t>Smokler</a:t>
            </a:r>
            <a:r>
              <a:rPr lang="en-US" dirty="0">
                <a:latin typeface="Verdana" charset="0"/>
              </a:rPr>
              <a:t> and Mr. and Mrs. Lawrence A. Fleischmann funds. Bridgeman Images.</a:t>
            </a:r>
            <a:endParaRPr lang="en-US" dirty="0"/>
          </a:p>
        </p:txBody>
      </p:sp>
      <p:sp>
        <p:nvSpPr>
          <p:cNvPr id="119811" name="Slide Number Placeholder 3"/>
          <p:cNvSpPr>
            <a:spLocks noGrp="1"/>
          </p:cNvSpPr>
          <p:nvPr>
            <p:ph type="sldNum" sz="quarter" idx="5"/>
          </p:nvPr>
        </p:nvSpPr>
        <p:spPr bwMode="auto">
          <a:noFill/>
          <a:ln>
            <a:miter lim="800000"/>
            <a:headEnd/>
            <a:tailEnd/>
          </a:ln>
        </p:spPr>
        <p:txBody>
          <a:bodyPr/>
          <a:lstStyle/>
          <a:p>
            <a:fld id="{A4C5D349-08C2-E64B-9B6C-B0CD72987949}" type="slidenum">
              <a:rPr lang="en-US"/>
              <a:pPr/>
              <a:t>43</a:t>
            </a:fld>
            <a:endParaRPr lang="en-US"/>
          </a:p>
        </p:txBody>
      </p:sp>
    </p:spTree>
    <p:extLst>
      <p:ext uri="{BB962C8B-B14F-4D97-AF65-F5344CB8AC3E}">
        <p14:creationId xmlns:p14="http://schemas.microsoft.com/office/powerpoint/2010/main" val="8745502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Slide Image Placeholder 1"/>
          <p:cNvSpPr>
            <a:spLocks noGrp="1" noRot="1" noChangeAspect="1" noTextEdit="1"/>
          </p:cNvSpPr>
          <p:nvPr>
            <p:ph type="sldImg"/>
          </p:nvPr>
        </p:nvSpPr>
        <p:spPr bwMode="auto">
          <a:noFill/>
          <a:ln>
            <a:solidFill>
              <a:srgbClr val="000000"/>
            </a:solidFill>
            <a:miter lim="800000"/>
            <a:headEnd/>
            <a:tailEnd/>
          </a:ln>
        </p:spPr>
      </p:sp>
      <p:sp>
        <p:nvSpPr>
          <p:cNvPr id="122882" name="Notes Placeholder 2"/>
          <p:cNvSpPr>
            <a:spLocks noGrp="1"/>
          </p:cNvSpPr>
          <p:nvPr>
            <p:ph type="body" idx="1"/>
          </p:nvPr>
        </p:nvSpPr>
        <p:spPr bwMode="auto">
          <a:noFill/>
        </p:spPr>
        <p:txBody>
          <a:bodyPr/>
          <a:lstStyle/>
          <a:p>
            <a:pPr>
              <a:spcBef>
                <a:spcPct val="0"/>
              </a:spcBef>
            </a:pPr>
            <a:r>
              <a:rPr lang="en-US" dirty="0"/>
              <a:t>William Blake NEWTON</a:t>
            </a:r>
            <a:br>
              <a:rPr lang="en-US" dirty="0"/>
            </a:br>
            <a:r>
              <a:rPr lang="en-US" dirty="0"/>
              <a:t>1795–c. 1805.</a:t>
            </a:r>
            <a:br>
              <a:rPr lang="en-US" dirty="0"/>
            </a:br>
            <a:r>
              <a:rPr lang="en-US" dirty="0"/>
              <a:t>Color print finished in ink and watercolor, 18-1/8</a:t>
            </a:r>
            <a:r>
              <a:rPr lang="ru-RU" dirty="0"/>
              <a:t>"</a:t>
            </a:r>
            <a:r>
              <a:rPr lang="en-US" dirty="0"/>
              <a:t> × 23-5/8</a:t>
            </a:r>
            <a:r>
              <a:rPr lang="ru-RU" dirty="0"/>
              <a:t>"</a:t>
            </a:r>
            <a:r>
              <a:rPr lang="en-US" dirty="0"/>
              <a:t> (46 × 60 cm).</a:t>
            </a:r>
            <a:br>
              <a:rPr lang="en-US" dirty="0"/>
            </a:br>
            <a:r>
              <a:rPr lang="en-US" dirty="0"/>
              <a:t>Tate, London. Photo © Peter Willi/ARTOTHEK. [Fig. 30-31]</a:t>
            </a:r>
          </a:p>
        </p:txBody>
      </p:sp>
      <p:sp>
        <p:nvSpPr>
          <p:cNvPr id="122883" name="Slide Number Placeholder 3"/>
          <p:cNvSpPr>
            <a:spLocks noGrp="1"/>
          </p:cNvSpPr>
          <p:nvPr>
            <p:ph type="sldNum" sz="quarter" idx="5"/>
          </p:nvPr>
        </p:nvSpPr>
        <p:spPr bwMode="auto">
          <a:noFill/>
          <a:ln>
            <a:miter lim="800000"/>
            <a:headEnd/>
            <a:tailEnd/>
          </a:ln>
        </p:spPr>
        <p:txBody>
          <a:bodyPr/>
          <a:lstStyle/>
          <a:p>
            <a:fld id="{318B73A7-90D1-374C-9C0C-AC03593288E5}" type="slidenum">
              <a:rPr lang="en-US"/>
              <a:pPr/>
              <a:t>45</a:t>
            </a:fld>
            <a:endParaRPr lang="en-US"/>
          </a:p>
        </p:txBody>
      </p:sp>
    </p:spTree>
    <p:extLst>
      <p:ext uri="{BB962C8B-B14F-4D97-AF65-F5344CB8AC3E}">
        <p14:creationId xmlns:p14="http://schemas.microsoft.com/office/powerpoint/2010/main" val="21055346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Slide Image Placeholder 1"/>
          <p:cNvSpPr>
            <a:spLocks noGrp="1" noRot="1" noChangeAspect="1" noTextEdit="1"/>
          </p:cNvSpPr>
          <p:nvPr>
            <p:ph type="sldImg"/>
          </p:nvPr>
        </p:nvSpPr>
        <p:spPr bwMode="auto">
          <a:noFill/>
          <a:ln>
            <a:solidFill>
              <a:srgbClr val="000000"/>
            </a:solidFill>
            <a:miter lim="800000"/>
            <a:headEnd/>
            <a:tailEnd/>
          </a:ln>
        </p:spPr>
      </p:sp>
      <p:sp>
        <p:nvSpPr>
          <p:cNvPr id="125954" name="Notes Placeholder 2"/>
          <p:cNvSpPr>
            <a:spLocks noGrp="1"/>
          </p:cNvSpPr>
          <p:nvPr>
            <p:ph type="body" idx="1"/>
          </p:nvPr>
        </p:nvSpPr>
        <p:spPr bwMode="auto">
          <a:noFill/>
        </p:spPr>
        <p:txBody>
          <a:bodyPr/>
          <a:lstStyle/>
          <a:p>
            <a:pPr>
              <a:spcBef>
                <a:spcPct val="0"/>
              </a:spcBef>
            </a:pPr>
            <a:r>
              <a:rPr lang="en-US" dirty="0">
                <a:latin typeface="Verdana" charset="0"/>
              </a:rPr>
              <a:t>John Singleton Copley WATSON AND THE SHARK</a:t>
            </a:r>
            <a:br>
              <a:rPr lang="en-US" dirty="0">
                <a:latin typeface="Verdana" charset="0"/>
              </a:rPr>
            </a:br>
            <a:r>
              <a:rPr lang="en-US" dirty="0">
                <a:latin typeface="Verdana" charset="0"/>
              </a:rPr>
              <a:t>1778. Oil on canvas, 5</a:t>
            </a:r>
            <a:r>
              <a:rPr lang="uk-UA" dirty="0">
                <a:latin typeface="Verdana" charset="0"/>
              </a:rPr>
              <a:t>'</a:t>
            </a:r>
            <a:r>
              <a:rPr lang="en-US" dirty="0">
                <a:latin typeface="Verdana" charset="0"/>
              </a:rPr>
              <a:t>10-3/4</a:t>
            </a:r>
            <a:r>
              <a:rPr lang="ru-RU" dirty="0">
                <a:latin typeface="Verdana" charset="0"/>
              </a:rPr>
              <a:t>"</a:t>
            </a:r>
            <a:r>
              <a:rPr lang="en-US" dirty="0">
                <a:latin typeface="Verdana" charset="0"/>
              </a:rPr>
              <a:t> × 7</a:t>
            </a:r>
            <a:r>
              <a:rPr lang="uk-UA" dirty="0">
                <a:latin typeface="Verdana" charset="0"/>
              </a:rPr>
              <a:t>'</a:t>
            </a:r>
            <a:r>
              <a:rPr lang="en-US" dirty="0">
                <a:latin typeface="Verdana" charset="0"/>
              </a:rPr>
              <a:t>6-1/2</a:t>
            </a:r>
            <a:r>
              <a:rPr lang="ru-RU" dirty="0">
                <a:latin typeface="Verdana" charset="0"/>
              </a:rPr>
              <a:t>"</a:t>
            </a:r>
            <a:r>
              <a:rPr lang="en-US" dirty="0">
                <a:latin typeface="Verdana" charset="0"/>
              </a:rPr>
              <a:t> (1.82 × 2.29 m).</a:t>
            </a:r>
            <a:br>
              <a:rPr lang="en-US" dirty="0">
                <a:latin typeface="Verdana" charset="0"/>
              </a:rPr>
            </a:br>
            <a:r>
              <a:rPr lang="en-US" dirty="0">
                <a:latin typeface="Verdana" charset="0"/>
              </a:rPr>
              <a:t>National Gallery of Art, Washington, DC. Ferdinand </a:t>
            </a:r>
            <a:r>
              <a:rPr lang="en-US" dirty="0" err="1">
                <a:latin typeface="Verdana" charset="0"/>
              </a:rPr>
              <a:t>Lammot</a:t>
            </a:r>
            <a:r>
              <a:rPr lang="en-US" dirty="0">
                <a:latin typeface="Verdana" charset="0"/>
              </a:rPr>
              <a:t> Belin Fund. Image courtesy the National Gallery of Art, Washington.</a:t>
            </a:r>
            <a:endParaRPr lang="en-US" dirty="0"/>
          </a:p>
        </p:txBody>
      </p:sp>
      <p:sp>
        <p:nvSpPr>
          <p:cNvPr id="125955" name="Slide Number Placeholder 3"/>
          <p:cNvSpPr>
            <a:spLocks noGrp="1"/>
          </p:cNvSpPr>
          <p:nvPr>
            <p:ph type="sldNum" sz="quarter" idx="5"/>
          </p:nvPr>
        </p:nvSpPr>
        <p:spPr bwMode="auto">
          <a:noFill/>
          <a:ln>
            <a:miter lim="800000"/>
            <a:headEnd/>
            <a:tailEnd/>
          </a:ln>
        </p:spPr>
        <p:txBody>
          <a:bodyPr/>
          <a:lstStyle/>
          <a:p>
            <a:fld id="{C92D8902-B42D-224B-813A-111319EDE71D}" type="slidenum">
              <a:rPr lang="en-US"/>
              <a:pPr/>
              <a:t>47</a:t>
            </a:fld>
            <a:endParaRPr lang="en-US"/>
          </a:p>
        </p:txBody>
      </p:sp>
    </p:spTree>
    <p:extLst>
      <p:ext uri="{BB962C8B-B14F-4D97-AF65-F5344CB8AC3E}">
        <p14:creationId xmlns:p14="http://schemas.microsoft.com/office/powerpoint/2010/main" val="14851424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Slide Image Placeholder 1"/>
          <p:cNvSpPr>
            <a:spLocks noGrp="1" noRot="1" noChangeAspect="1" noTextEdit="1"/>
          </p:cNvSpPr>
          <p:nvPr>
            <p:ph type="sldImg"/>
          </p:nvPr>
        </p:nvSpPr>
        <p:spPr bwMode="auto">
          <a:noFill/>
          <a:ln>
            <a:solidFill>
              <a:srgbClr val="000000"/>
            </a:solidFill>
            <a:miter lim="800000"/>
            <a:headEnd/>
            <a:tailEnd/>
          </a:ln>
        </p:spPr>
      </p:sp>
      <p:sp>
        <p:nvSpPr>
          <p:cNvPr id="130050" name="Notes Placeholder 2"/>
          <p:cNvSpPr>
            <a:spLocks noGrp="1"/>
          </p:cNvSpPr>
          <p:nvPr>
            <p:ph type="body" idx="1"/>
          </p:nvPr>
        </p:nvSpPr>
        <p:spPr bwMode="auto">
          <a:noFill/>
        </p:spPr>
        <p:txBody>
          <a:bodyPr/>
          <a:lstStyle/>
          <a:p>
            <a:pPr>
              <a:spcBef>
                <a:spcPct val="0"/>
              </a:spcBef>
            </a:pPr>
            <a:r>
              <a:rPr lang="en-US" dirty="0"/>
              <a:t>Jacques-Germain </a:t>
            </a:r>
            <a:r>
              <a:rPr lang="en-US" dirty="0" err="1"/>
              <a:t>Soufflot</a:t>
            </a:r>
            <a:r>
              <a:rPr lang="en-US" dirty="0"/>
              <a:t> PANTHÉON (CHURCH OF SAINTE-GENEVIÉVE), PARIS</a:t>
            </a:r>
            <a:br>
              <a:rPr lang="en-US" dirty="0"/>
            </a:br>
            <a:r>
              <a:rPr lang="en-US" dirty="0"/>
              <a:t>1755–1792.</a:t>
            </a:r>
            <a:br>
              <a:rPr lang="en-US" dirty="0"/>
            </a:br>
            <a:r>
              <a:rPr lang="en-US" dirty="0" err="1"/>
              <a:t>JonRob</a:t>
            </a:r>
            <a:r>
              <a:rPr lang="en-US" dirty="0"/>
              <a:t>/</a:t>
            </a:r>
            <a:r>
              <a:rPr lang="en-US" dirty="0" err="1"/>
              <a:t>Fotolia</a:t>
            </a:r>
            <a:r>
              <a:rPr lang="en-US" dirty="0"/>
              <a:t>.</a:t>
            </a:r>
          </a:p>
        </p:txBody>
      </p:sp>
      <p:sp>
        <p:nvSpPr>
          <p:cNvPr id="130051" name="Slide Number Placeholder 3"/>
          <p:cNvSpPr>
            <a:spLocks noGrp="1"/>
          </p:cNvSpPr>
          <p:nvPr>
            <p:ph type="sldNum" sz="quarter" idx="5"/>
          </p:nvPr>
        </p:nvSpPr>
        <p:spPr bwMode="auto">
          <a:noFill/>
          <a:ln>
            <a:miter lim="800000"/>
            <a:headEnd/>
            <a:tailEnd/>
          </a:ln>
        </p:spPr>
        <p:txBody>
          <a:bodyPr/>
          <a:lstStyle/>
          <a:p>
            <a:fld id="{8DA0EE6A-B284-0A4C-BE1A-2BF8912F71BF}" type="slidenum">
              <a:rPr lang="en-US"/>
              <a:pPr/>
              <a:t>50</a:t>
            </a:fld>
            <a:endParaRPr lang="en-US"/>
          </a:p>
        </p:txBody>
      </p:sp>
    </p:spTree>
    <p:extLst>
      <p:ext uri="{BB962C8B-B14F-4D97-AF65-F5344CB8AC3E}">
        <p14:creationId xmlns:p14="http://schemas.microsoft.com/office/powerpoint/2010/main" val="586005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Slide Image Placeholder 1"/>
          <p:cNvSpPr>
            <a:spLocks noGrp="1" noRot="1" noChangeAspect="1" noTextEdit="1"/>
          </p:cNvSpPr>
          <p:nvPr>
            <p:ph type="sldImg"/>
          </p:nvPr>
        </p:nvSpPr>
        <p:spPr bwMode="auto">
          <a:noFill/>
          <a:ln>
            <a:solidFill>
              <a:srgbClr val="000000"/>
            </a:solidFill>
            <a:miter lim="800000"/>
            <a:headEnd/>
            <a:tailEnd/>
          </a:ln>
        </p:spPr>
      </p:sp>
      <p:sp>
        <p:nvSpPr>
          <p:cNvPr id="132098" name="Notes Placeholder 2"/>
          <p:cNvSpPr>
            <a:spLocks noGrp="1"/>
          </p:cNvSpPr>
          <p:nvPr>
            <p:ph type="body" idx="1"/>
          </p:nvPr>
        </p:nvSpPr>
        <p:spPr bwMode="auto">
          <a:noFill/>
        </p:spPr>
        <p:txBody>
          <a:bodyPr/>
          <a:lstStyle/>
          <a:p>
            <a:pPr>
              <a:spcBef>
                <a:spcPct val="0"/>
              </a:spcBef>
            </a:pPr>
            <a:r>
              <a:rPr lang="en-US" dirty="0"/>
              <a:t>CUTAWAY ILLUSTRATION OF THE PANTHÉON</a:t>
            </a:r>
            <a:br>
              <a:rPr lang="en-US" dirty="0"/>
            </a:br>
            <a:r>
              <a:rPr lang="en-US" dirty="0"/>
              <a:t>© Dorling Kindersley. </a:t>
            </a:r>
          </a:p>
        </p:txBody>
      </p:sp>
      <p:sp>
        <p:nvSpPr>
          <p:cNvPr id="132099" name="Slide Number Placeholder 3"/>
          <p:cNvSpPr>
            <a:spLocks noGrp="1"/>
          </p:cNvSpPr>
          <p:nvPr>
            <p:ph type="sldNum" sz="quarter" idx="5"/>
          </p:nvPr>
        </p:nvSpPr>
        <p:spPr bwMode="auto">
          <a:noFill/>
          <a:ln>
            <a:miter lim="800000"/>
            <a:headEnd/>
            <a:tailEnd/>
          </a:ln>
        </p:spPr>
        <p:txBody>
          <a:bodyPr/>
          <a:lstStyle/>
          <a:p>
            <a:fld id="{58C07859-914F-A942-B582-163E5F5C1E6B}" type="slidenum">
              <a:rPr lang="en-US"/>
              <a:pPr/>
              <a:t>51</a:t>
            </a:fld>
            <a:endParaRPr lang="en-US"/>
          </a:p>
        </p:txBody>
      </p:sp>
    </p:spTree>
    <p:extLst>
      <p:ext uri="{BB962C8B-B14F-4D97-AF65-F5344CB8AC3E}">
        <p14:creationId xmlns:p14="http://schemas.microsoft.com/office/powerpoint/2010/main" val="6322148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Slide Image Placeholder 1"/>
          <p:cNvSpPr>
            <a:spLocks noGrp="1" noRot="1" noChangeAspect="1" noTextEdit="1"/>
          </p:cNvSpPr>
          <p:nvPr>
            <p:ph type="sldImg"/>
          </p:nvPr>
        </p:nvSpPr>
        <p:spPr bwMode="auto">
          <a:noFill/>
          <a:ln>
            <a:solidFill>
              <a:srgbClr val="000000"/>
            </a:solidFill>
            <a:miter lim="800000"/>
            <a:headEnd/>
            <a:tailEnd/>
          </a:ln>
        </p:spPr>
      </p:sp>
      <p:sp>
        <p:nvSpPr>
          <p:cNvPr id="136194" name="Notes Placeholder 2"/>
          <p:cNvSpPr>
            <a:spLocks noGrp="1"/>
          </p:cNvSpPr>
          <p:nvPr>
            <p:ph type="body" idx="1"/>
          </p:nvPr>
        </p:nvSpPr>
        <p:spPr bwMode="auto">
          <a:noFill/>
        </p:spPr>
        <p:txBody>
          <a:bodyPr/>
          <a:lstStyle/>
          <a:p>
            <a:pPr>
              <a:spcBef>
                <a:spcPct val="0"/>
              </a:spcBef>
            </a:pPr>
            <a:r>
              <a:rPr lang="en-US" dirty="0"/>
              <a:t>Jean-</a:t>
            </a:r>
            <a:r>
              <a:rPr lang="en-US" dirty="0" err="1"/>
              <a:t>Siméon</a:t>
            </a:r>
            <a:r>
              <a:rPr lang="en-US" dirty="0"/>
              <a:t> Chardin SAYING GRACE</a:t>
            </a:r>
            <a:br>
              <a:rPr lang="en-US" dirty="0"/>
            </a:br>
            <a:r>
              <a:rPr lang="en-US" dirty="0"/>
              <a:t>c. 1740. Oil on canvas, 19 × 15-1⁄8″ (49 × 38 cm).</a:t>
            </a:r>
            <a:br>
              <a:rPr lang="en-US" dirty="0"/>
            </a:br>
            <a:r>
              <a:rPr lang="en-US" dirty="0" err="1"/>
              <a:t>Musée</a:t>
            </a:r>
            <a:r>
              <a:rPr lang="en-US" dirty="0"/>
              <a:t> du Louvre, Paris. Photo © </a:t>
            </a:r>
            <a:r>
              <a:rPr lang="en-US" dirty="0" err="1"/>
              <a:t>Musée</a:t>
            </a:r>
            <a:r>
              <a:rPr lang="en-US" dirty="0"/>
              <a:t> du Louvre, Dist. RMN-Grand Palais/</a:t>
            </a:r>
            <a:r>
              <a:rPr lang="en-US" dirty="0" err="1"/>
              <a:t>Angèle</a:t>
            </a:r>
            <a:r>
              <a:rPr lang="en-US" dirty="0"/>
              <a:t> </a:t>
            </a:r>
            <a:r>
              <a:rPr lang="en-US" dirty="0" err="1"/>
              <a:t>Dequier</a:t>
            </a:r>
            <a:r>
              <a:rPr lang="en-US" dirty="0"/>
              <a:t>.</a:t>
            </a:r>
          </a:p>
        </p:txBody>
      </p:sp>
      <p:sp>
        <p:nvSpPr>
          <p:cNvPr id="136195" name="Slide Number Placeholder 3"/>
          <p:cNvSpPr>
            <a:spLocks noGrp="1"/>
          </p:cNvSpPr>
          <p:nvPr>
            <p:ph type="sldNum" sz="quarter" idx="5"/>
          </p:nvPr>
        </p:nvSpPr>
        <p:spPr bwMode="auto">
          <a:noFill/>
          <a:ln>
            <a:miter lim="800000"/>
            <a:headEnd/>
            <a:tailEnd/>
          </a:ln>
        </p:spPr>
        <p:txBody>
          <a:bodyPr/>
          <a:lstStyle/>
          <a:p>
            <a:fld id="{2791CAAC-A423-764A-8EA8-3F6E6193B4AA}" type="slidenum">
              <a:rPr lang="en-US"/>
              <a:pPr/>
              <a:t>54</a:t>
            </a:fld>
            <a:endParaRPr lang="en-US"/>
          </a:p>
        </p:txBody>
      </p:sp>
    </p:spTree>
    <p:extLst>
      <p:ext uri="{BB962C8B-B14F-4D97-AF65-F5344CB8AC3E}">
        <p14:creationId xmlns:p14="http://schemas.microsoft.com/office/powerpoint/2010/main" val="20331133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Slide Image Placeholder 1"/>
          <p:cNvSpPr>
            <a:spLocks noGrp="1" noRot="1" noChangeAspect="1" noTextEdit="1"/>
          </p:cNvSpPr>
          <p:nvPr>
            <p:ph type="sldImg"/>
          </p:nvPr>
        </p:nvSpPr>
        <p:spPr bwMode="auto">
          <a:noFill/>
          <a:ln>
            <a:solidFill>
              <a:srgbClr val="000000"/>
            </a:solidFill>
            <a:miter lim="800000"/>
            <a:headEnd/>
            <a:tailEnd/>
          </a:ln>
        </p:spPr>
      </p:sp>
      <p:sp>
        <p:nvSpPr>
          <p:cNvPr id="139266" name="Notes Placeholder 2"/>
          <p:cNvSpPr>
            <a:spLocks noGrp="1"/>
          </p:cNvSpPr>
          <p:nvPr>
            <p:ph type="body" idx="1"/>
          </p:nvPr>
        </p:nvSpPr>
        <p:spPr bwMode="auto">
          <a:noFill/>
        </p:spPr>
        <p:txBody>
          <a:bodyPr/>
          <a:lstStyle/>
          <a:p>
            <a:pPr>
              <a:spcBef>
                <a:spcPct val="0"/>
              </a:spcBef>
            </a:pPr>
            <a:r>
              <a:rPr lang="en-US" dirty="0"/>
              <a:t>Jean-Baptiste Greuze THE VILLAGE BRIDE, OR THE MARRIAGE, THE MOMENT WHEN A FATHER GIVES HIS SON-IN-LAW A DOWRY</a:t>
            </a:r>
            <a:br>
              <a:rPr lang="en-US" dirty="0"/>
            </a:br>
            <a:r>
              <a:rPr lang="en-US" dirty="0"/>
              <a:t>1761. Oil on canvas, 36</a:t>
            </a:r>
            <a:r>
              <a:rPr lang="ru-RU" dirty="0"/>
              <a:t>"</a:t>
            </a:r>
            <a:r>
              <a:rPr lang="en-US" dirty="0"/>
              <a:t> × 46 1/2</a:t>
            </a:r>
            <a:r>
              <a:rPr lang="ru-RU" dirty="0"/>
              <a:t>"</a:t>
            </a:r>
            <a:r>
              <a:rPr lang="en-US" dirty="0"/>
              <a:t> (91.4 × 118.1 cm).</a:t>
            </a:r>
            <a:br>
              <a:rPr lang="en-US" dirty="0"/>
            </a:br>
            <a:r>
              <a:rPr lang="en-US" dirty="0" err="1"/>
              <a:t>Musée</a:t>
            </a:r>
            <a:r>
              <a:rPr lang="en-US" dirty="0"/>
              <a:t> du Louvre, Paris. Photo © RMN-Grand Palais (</a:t>
            </a:r>
            <a:r>
              <a:rPr lang="en-US" dirty="0" err="1"/>
              <a:t>musée</a:t>
            </a:r>
            <a:r>
              <a:rPr lang="en-US" dirty="0"/>
              <a:t> du Louvre)/Franck </a:t>
            </a:r>
            <a:r>
              <a:rPr lang="en-US" dirty="0" err="1"/>
              <a:t>Raux</a:t>
            </a:r>
            <a:r>
              <a:rPr lang="en-US" dirty="0"/>
              <a:t>.</a:t>
            </a:r>
          </a:p>
        </p:txBody>
      </p:sp>
      <p:sp>
        <p:nvSpPr>
          <p:cNvPr id="139267" name="Slide Number Placeholder 3"/>
          <p:cNvSpPr>
            <a:spLocks noGrp="1"/>
          </p:cNvSpPr>
          <p:nvPr>
            <p:ph type="sldNum" sz="quarter" idx="5"/>
          </p:nvPr>
        </p:nvSpPr>
        <p:spPr bwMode="auto">
          <a:noFill/>
          <a:ln>
            <a:miter lim="800000"/>
            <a:headEnd/>
            <a:tailEnd/>
          </a:ln>
        </p:spPr>
        <p:txBody>
          <a:bodyPr/>
          <a:lstStyle/>
          <a:p>
            <a:fld id="{B4233463-9C36-BB40-A006-AC5D1C1FE320}" type="slidenum">
              <a:rPr lang="en-US"/>
              <a:pPr/>
              <a:t>56</a:t>
            </a:fld>
            <a:endParaRPr lang="en-US"/>
          </a:p>
        </p:txBody>
      </p:sp>
    </p:spTree>
    <p:extLst>
      <p:ext uri="{BB962C8B-B14F-4D97-AF65-F5344CB8AC3E}">
        <p14:creationId xmlns:p14="http://schemas.microsoft.com/office/powerpoint/2010/main" val="19234130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Slide Image Placeholder 1"/>
          <p:cNvSpPr>
            <a:spLocks noGrp="1" noRot="1" noChangeAspect="1" noTextEdit="1"/>
          </p:cNvSpPr>
          <p:nvPr>
            <p:ph type="sldImg"/>
          </p:nvPr>
        </p:nvSpPr>
        <p:spPr bwMode="auto">
          <a:noFill/>
          <a:ln>
            <a:solidFill>
              <a:srgbClr val="000000"/>
            </a:solidFill>
            <a:miter lim="800000"/>
            <a:headEnd/>
            <a:tailEnd/>
          </a:ln>
        </p:spPr>
      </p:sp>
      <p:sp>
        <p:nvSpPr>
          <p:cNvPr id="142338" name="Notes Placeholder 2"/>
          <p:cNvSpPr>
            <a:spLocks noGrp="1"/>
          </p:cNvSpPr>
          <p:nvPr>
            <p:ph type="body" idx="1"/>
          </p:nvPr>
        </p:nvSpPr>
        <p:spPr bwMode="auto">
          <a:noFill/>
        </p:spPr>
        <p:txBody>
          <a:bodyPr/>
          <a:lstStyle/>
          <a:p>
            <a:pPr>
              <a:spcBef>
                <a:spcPct val="0"/>
              </a:spcBef>
            </a:pPr>
            <a:r>
              <a:rPr lang="en-US" dirty="0">
                <a:latin typeface="Verdana" charset="0"/>
              </a:rPr>
              <a:t>Marie-Louise-</a:t>
            </a:r>
            <a:r>
              <a:rPr lang="en-US" dirty="0" err="1">
                <a:latin typeface="Verdana" charset="0"/>
              </a:rPr>
              <a:t>Élisabeth</a:t>
            </a:r>
            <a:r>
              <a:rPr lang="en-US" dirty="0">
                <a:latin typeface="Verdana" charset="0"/>
              </a:rPr>
              <a:t> </a:t>
            </a:r>
            <a:r>
              <a:rPr lang="en-US" dirty="0" err="1">
                <a:latin typeface="Verdana" charset="0"/>
              </a:rPr>
              <a:t>Vigée</a:t>
            </a:r>
            <a:r>
              <a:rPr lang="en-US" dirty="0">
                <a:latin typeface="Verdana" charset="0"/>
              </a:rPr>
              <a:t>-Lebrun PORTRAIT OF MARIE ANTOINETTE WITH HER CHILDREN</a:t>
            </a:r>
            <a:br>
              <a:rPr lang="en-US" dirty="0">
                <a:latin typeface="Verdana" charset="0"/>
              </a:rPr>
            </a:br>
            <a:r>
              <a:rPr lang="en-US" dirty="0">
                <a:latin typeface="Verdana" charset="0"/>
              </a:rPr>
              <a:t>1787. Oil on canvas, 9</a:t>
            </a:r>
            <a:r>
              <a:rPr lang="uk-UA" dirty="0">
                <a:latin typeface="Verdana" charset="0"/>
              </a:rPr>
              <a:t>'</a:t>
            </a:r>
            <a:r>
              <a:rPr lang="en-US" dirty="0">
                <a:latin typeface="Verdana" charset="0"/>
              </a:rPr>
              <a:t>-1/2</a:t>
            </a:r>
            <a:r>
              <a:rPr lang="ru-RU" dirty="0">
                <a:latin typeface="Verdana" charset="0"/>
              </a:rPr>
              <a:t>"</a:t>
            </a:r>
            <a:r>
              <a:rPr lang="en-US" dirty="0">
                <a:latin typeface="Verdana" charset="0"/>
              </a:rPr>
              <a:t> × 7</a:t>
            </a:r>
            <a:r>
              <a:rPr lang="uk-UA" dirty="0">
                <a:latin typeface="Verdana" charset="0"/>
              </a:rPr>
              <a:t>'</a:t>
            </a:r>
            <a:r>
              <a:rPr lang="en-US" dirty="0">
                <a:latin typeface="Verdana" charset="0"/>
              </a:rPr>
              <a:t>-5/8</a:t>
            </a:r>
            <a:r>
              <a:rPr lang="ru-RU" dirty="0">
                <a:latin typeface="Verdana" charset="0"/>
              </a:rPr>
              <a:t>"</a:t>
            </a:r>
            <a:r>
              <a:rPr lang="en-US" dirty="0">
                <a:latin typeface="Verdana" charset="0"/>
              </a:rPr>
              <a:t> (2.75 × 2.15 m).</a:t>
            </a:r>
            <a:br>
              <a:rPr lang="en-US" dirty="0">
                <a:latin typeface="Verdana" charset="0"/>
              </a:rPr>
            </a:br>
            <a:r>
              <a:rPr lang="en-US" dirty="0" err="1">
                <a:latin typeface="Verdana" charset="0"/>
              </a:rPr>
              <a:t>Musée</a:t>
            </a:r>
            <a:r>
              <a:rPr lang="en-US" dirty="0">
                <a:latin typeface="Verdana" charset="0"/>
              </a:rPr>
              <a:t> National du Château de Versailles. © Jean </a:t>
            </a:r>
            <a:r>
              <a:rPr lang="en-US" dirty="0" err="1">
                <a:latin typeface="Verdana" charset="0"/>
              </a:rPr>
              <a:t>Feuillie</a:t>
            </a:r>
            <a:r>
              <a:rPr lang="en-US" dirty="0">
                <a:latin typeface="Verdana" charset="0"/>
              </a:rPr>
              <a:t>/Centre des monuments </a:t>
            </a:r>
            <a:r>
              <a:rPr lang="en-US" dirty="0" err="1">
                <a:latin typeface="Verdana" charset="0"/>
              </a:rPr>
              <a:t>nationaux</a:t>
            </a:r>
            <a:r>
              <a:rPr lang="en-US" dirty="0">
                <a:latin typeface="Verdana" charset="0"/>
              </a:rPr>
              <a:t>.</a:t>
            </a:r>
            <a:endParaRPr lang="en-US" dirty="0"/>
          </a:p>
        </p:txBody>
      </p:sp>
      <p:sp>
        <p:nvSpPr>
          <p:cNvPr id="142339" name="Slide Number Placeholder 3"/>
          <p:cNvSpPr>
            <a:spLocks noGrp="1"/>
          </p:cNvSpPr>
          <p:nvPr>
            <p:ph type="sldNum" sz="quarter" idx="5"/>
          </p:nvPr>
        </p:nvSpPr>
        <p:spPr bwMode="auto">
          <a:noFill/>
          <a:ln>
            <a:miter lim="800000"/>
            <a:headEnd/>
            <a:tailEnd/>
          </a:ln>
        </p:spPr>
        <p:txBody>
          <a:bodyPr/>
          <a:lstStyle/>
          <a:p>
            <a:fld id="{1728DA24-9726-224F-B4AE-5E8BF453990A}" type="slidenum">
              <a:rPr lang="en-US"/>
              <a:pPr/>
              <a:t>58</a:t>
            </a:fld>
            <a:endParaRPr lang="en-US"/>
          </a:p>
        </p:txBody>
      </p:sp>
    </p:spTree>
    <p:extLst>
      <p:ext uri="{BB962C8B-B14F-4D97-AF65-F5344CB8AC3E}">
        <p14:creationId xmlns:p14="http://schemas.microsoft.com/office/powerpoint/2010/main" val="7323981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Slide Image Placeholder 1"/>
          <p:cNvSpPr>
            <a:spLocks noGrp="1" noRot="1" noChangeAspect="1" noTextEdit="1"/>
          </p:cNvSpPr>
          <p:nvPr>
            <p:ph type="sldImg"/>
          </p:nvPr>
        </p:nvSpPr>
        <p:spPr bwMode="auto">
          <a:noFill/>
          <a:ln>
            <a:solidFill>
              <a:srgbClr val="000000"/>
            </a:solidFill>
            <a:miter lim="800000"/>
            <a:headEnd/>
            <a:tailEnd/>
          </a:ln>
        </p:spPr>
      </p:sp>
      <p:sp>
        <p:nvSpPr>
          <p:cNvPr id="145410" name="Notes Placeholder 2"/>
          <p:cNvSpPr>
            <a:spLocks noGrp="1"/>
          </p:cNvSpPr>
          <p:nvPr>
            <p:ph type="body" idx="1"/>
          </p:nvPr>
        </p:nvSpPr>
        <p:spPr bwMode="auto">
          <a:noFill/>
        </p:spPr>
        <p:txBody>
          <a:bodyPr/>
          <a:lstStyle/>
          <a:p>
            <a:pPr>
              <a:spcBef>
                <a:spcPct val="0"/>
              </a:spcBef>
            </a:pPr>
            <a:r>
              <a:rPr lang="en-US" dirty="0"/>
              <a:t>Jacques-Louis David OATH OF THE HORATII</a:t>
            </a:r>
            <a:br>
              <a:rPr lang="en-US" dirty="0"/>
            </a:br>
            <a:r>
              <a:rPr lang="en-US" dirty="0"/>
              <a:t>1784–1785. Oil on canvas, 10</a:t>
            </a:r>
            <a:r>
              <a:rPr lang="uk-UA" dirty="0"/>
              <a:t>'</a:t>
            </a:r>
            <a:r>
              <a:rPr lang="en-US" dirty="0"/>
              <a:t>8-1/4</a:t>
            </a:r>
            <a:r>
              <a:rPr lang="ru-RU" dirty="0"/>
              <a:t>"</a:t>
            </a:r>
            <a:r>
              <a:rPr lang="en-US" dirty="0"/>
              <a:t> × 14</a:t>
            </a:r>
            <a:r>
              <a:rPr lang="uk-UA" dirty="0"/>
              <a:t>'</a:t>
            </a:r>
            <a:r>
              <a:rPr lang="en-US" dirty="0"/>
              <a:t> (3.26 × 4.27 m).</a:t>
            </a:r>
            <a:br>
              <a:rPr lang="en-US" dirty="0"/>
            </a:br>
            <a:r>
              <a:rPr lang="en-US" dirty="0" err="1"/>
              <a:t>Musée</a:t>
            </a:r>
            <a:r>
              <a:rPr lang="en-US" dirty="0"/>
              <a:t> du Louvre, Paris. Photo © RMN-Grand Palais (</a:t>
            </a:r>
            <a:r>
              <a:rPr lang="en-US" dirty="0" err="1"/>
              <a:t>musée</a:t>
            </a:r>
            <a:r>
              <a:rPr lang="en-US" dirty="0"/>
              <a:t> du Louvre)/ Gérard Blot/Christian Jean. </a:t>
            </a:r>
          </a:p>
        </p:txBody>
      </p:sp>
      <p:sp>
        <p:nvSpPr>
          <p:cNvPr id="145411" name="Slide Number Placeholder 3"/>
          <p:cNvSpPr>
            <a:spLocks noGrp="1"/>
          </p:cNvSpPr>
          <p:nvPr>
            <p:ph type="sldNum" sz="quarter" idx="5"/>
          </p:nvPr>
        </p:nvSpPr>
        <p:spPr bwMode="auto">
          <a:noFill/>
          <a:ln>
            <a:miter lim="800000"/>
            <a:headEnd/>
            <a:tailEnd/>
          </a:ln>
        </p:spPr>
        <p:txBody>
          <a:bodyPr/>
          <a:lstStyle/>
          <a:p>
            <a:fld id="{ACAC34FB-C0FA-7646-B8E2-7A1A4B029B17}" type="slidenum">
              <a:rPr lang="en-US"/>
              <a:pPr/>
              <a:t>60</a:t>
            </a:fld>
            <a:endParaRPr lang="en-US"/>
          </a:p>
        </p:txBody>
      </p:sp>
    </p:spTree>
    <p:extLst>
      <p:ext uri="{BB962C8B-B14F-4D97-AF65-F5344CB8AC3E}">
        <p14:creationId xmlns:p14="http://schemas.microsoft.com/office/powerpoint/2010/main" val="387869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Slide Image Placeholder 1"/>
          <p:cNvSpPr>
            <a:spLocks noGrp="1" noRot="1" noChangeAspect="1" noTextEdit="1"/>
          </p:cNvSpPr>
          <p:nvPr>
            <p:ph type="sldImg"/>
          </p:nvPr>
        </p:nvSpPr>
        <p:spPr bwMode="auto">
          <a:noFill/>
          <a:ln>
            <a:solidFill>
              <a:srgbClr val="000000"/>
            </a:solidFill>
            <a:miter lim="800000"/>
            <a:headEnd/>
            <a:tailEnd/>
          </a:ln>
        </p:spPr>
      </p:sp>
      <p:sp>
        <p:nvSpPr>
          <p:cNvPr id="148482" name="Notes Placeholder 2"/>
          <p:cNvSpPr>
            <a:spLocks noGrp="1"/>
          </p:cNvSpPr>
          <p:nvPr>
            <p:ph type="body" idx="1"/>
          </p:nvPr>
        </p:nvSpPr>
        <p:spPr bwMode="auto">
          <a:noFill/>
        </p:spPr>
        <p:txBody>
          <a:bodyPr/>
          <a:lstStyle/>
          <a:p>
            <a:pPr>
              <a:spcBef>
                <a:spcPct val="0"/>
              </a:spcBef>
            </a:pPr>
            <a:r>
              <a:rPr lang="en-US" dirty="0"/>
              <a:t>Jacques-Louis David DEATH OF MARAT</a:t>
            </a:r>
            <a:br>
              <a:rPr lang="en-US" dirty="0"/>
            </a:br>
            <a:r>
              <a:rPr lang="en-US" dirty="0"/>
              <a:t>1793. Oil on canvas, 5</a:t>
            </a:r>
            <a:r>
              <a:rPr lang="uk-UA" dirty="0"/>
              <a:t>'</a:t>
            </a:r>
            <a:r>
              <a:rPr lang="en-US" dirty="0"/>
              <a:t>5</a:t>
            </a:r>
            <a:r>
              <a:rPr lang="ru-RU" dirty="0"/>
              <a:t>"</a:t>
            </a:r>
            <a:r>
              <a:rPr lang="en-US" dirty="0"/>
              <a:t> × 4</a:t>
            </a:r>
            <a:r>
              <a:rPr lang="uk-UA" dirty="0"/>
              <a:t>'</a:t>
            </a:r>
            <a:r>
              <a:rPr lang="en-US" dirty="0"/>
              <a:t>2-1/2</a:t>
            </a:r>
            <a:r>
              <a:rPr lang="ru-RU" dirty="0"/>
              <a:t>"</a:t>
            </a:r>
            <a:r>
              <a:rPr lang="en-US" dirty="0"/>
              <a:t> (1.65 × 1.28 m).</a:t>
            </a:r>
            <a:br>
              <a:rPr lang="en-US" dirty="0"/>
            </a:br>
            <a:r>
              <a:rPr lang="en-US" dirty="0"/>
              <a:t>© Royal Museums of Fine Arts of Belgium, Brussels. © Royal Museums of Fine Arts of Belgium, Brussels/Photo: J. </a:t>
            </a:r>
            <a:r>
              <a:rPr lang="en-US" dirty="0" err="1"/>
              <a:t>Geleyns</a:t>
            </a:r>
            <a:r>
              <a:rPr lang="en-US" dirty="0"/>
              <a:t> - </a:t>
            </a:r>
            <a:r>
              <a:rPr lang="en-US" dirty="0" err="1"/>
              <a:t>Roscan</a:t>
            </a:r>
            <a:r>
              <a:rPr lang="en-US" dirty="0"/>
              <a:t>. </a:t>
            </a:r>
          </a:p>
        </p:txBody>
      </p:sp>
      <p:sp>
        <p:nvSpPr>
          <p:cNvPr id="148483" name="Slide Number Placeholder 3"/>
          <p:cNvSpPr>
            <a:spLocks noGrp="1"/>
          </p:cNvSpPr>
          <p:nvPr>
            <p:ph type="sldNum" sz="quarter" idx="5"/>
          </p:nvPr>
        </p:nvSpPr>
        <p:spPr bwMode="auto">
          <a:noFill/>
          <a:ln>
            <a:miter lim="800000"/>
            <a:headEnd/>
            <a:tailEnd/>
          </a:ln>
        </p:spPr>
        <p:txBody>
          <a:bodyPr/>
          <a:lstStyle/>
          <a:p>
            <a:fld id="{E85128E3-BE59-AB48-BE7E-B99EDDDF38D8}" type="slidenum">
              <a:rPr lang="en-US"/>
              <a:pPr/>
              <a:t>62</a:t>
            </a:fld>
            <a:endParaRPr lang="en-US"/>
          </a:p>
        </p:txBody>
      </p:sp>
    </p:spTree>
    <p:extLst>
      <p:ext uri="{BB962C8B-B14F-4D97-AF65-F5344CB8AC3E}">
        <p14:creationId xmlns:p14="http://schemas.microsoft.com/office/powerpoint/2010/main" val="12051101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Slide Image Placeholder 1"/>
          <p:cNvSpPr>
            <a:spLocks noGrp="1" noRot="1" noChangeAspect="1" noTextEdit="1"/>
          </p:cNvSpPr>
          <p:nvPr>
            <p:ph type="sldImg"/>
          </p:nvPr>
        </p:nvSpPr>
        <p:spPr bwMode="auto">
          <a:noFill/>
          <a:ln>
            <a:solidFill>
              <a:srgbClr val="000000"/>
            </a:solidFill>
            <a:miter lim="800000"/>
            <a:headEnd/>
            <a:tailEnd/>
          </a:ln>
        </p:spPr>
      </p:sp>
      <p:sp>
        <p:nvSpPr>
          <p:cNvPr id="151554" name="Notes Placeholder 2"/>
          <p:cNvSpPr>
            <a:spLocks noGrp="1"/>
          </p:cNvSpPr>
          <p:nvPr>
            <p:ph type="body" idx="1"/>
          </p:nvPr>
        </p:nvSpPr>
        <p:spPr bwMode="auto">
          <a:noFill/>
        </p:spPr>
        <p:txBody>
          <a:bodyPr/>
          <a:lstStyle/>
          <a:p>
            <a:pPr>
              <a:spcBef>
                <a:spcPct val="0"/>
              </a:spcBef>
            </a:pPr>
            <a:r>
              <a:rPr lang="en-US" dirty="0"/>
              <a:t>Anne-Louis </a:t>
            </a:r>
            <a:r>
              <a:rPr lang="en-US" dirty="0" err="1"/>
              <a:t>Girodet-Trioson</a:t>
            </a:r>
            <a:r>
              <a:rPr lang="en-US" dirty="0"/>
              <a:t> PORTRAIT OF JEAN-BAPTISTE BELLEY</a:t>
            </a:r>
            <a:br>
              <a:rPr lang="en-US" dirty="0"/>
            </a:br>
            <a:r>
              <a:rPr lang="en-US" dirty="0"/>
              <a:t>1797. Oil on canvas, 5</a:t>
            </a:r>
            <a:r>
              <a:rPr lang="uk-UA" dirty="0"/>
              <a:t>'</a:t>
            </a:r>
            <a:r>
              <a:rPr lang="en-US" dirty="0"/>
              <a:t>2-1/2</a:t>
            </a:r>
            <a:r>
              <a:rPr lang="ru-RU" dirty="0"/>
              <a:t>"</a:t>
            </a:r>
            <a:r>
              <a:rPr lang="en-US" dirty="0"/>
              <a:t> × 3</a:t>
            </a:r>
            <a:r>
              <a:rPr lang="uk-UA" dirty="0"/>
              <a:t>'</a:t>
            </a:r>
            <a:r>
              <a:rPr lang="en-US" dirty="0"/>
              <a:t>8-1/2</a:t>
            </a:r>
            <a:r>
              <a:rPr lang="ru-RU" dirty="0"/>
              <a:t>"</a:t>
            </a:r>
            <a:r>
              <a:rPr lang="en-US" dirty="0"/>
              <a:t> (1.59 × 1.13 m).</a:t>
            </a:r>
            <a:br>
              <a:rPr lang="en-US" dirty="0"/>
            </a:br>
            <a:r>
              <a:rPr lang="en-US" dirty="0" err="1"/>
              <a:t>Musée</a:t>
            </a:r>
            <a:r>
              <a:rPr lang="en-US" dirty="0"/>
              <a:t> National du Château de Versailles. Photo © RMN-Grand Palais (Château de Versailles)/Gérard Blot. </a:t>
            </a:r>
          </a:p>
        </p:txBody>
      </p:sp>
      <p:sp>
        <p:nvSpPr>
          <p:cNvPr id="151555" name="Slide Number Placeholder 3"/>
          <p:cNvSpPr>
            <a:spLocks noGrp="1"/>
          </p:cNvSpPr>
          <p:nvPr>
            <p:ph type="sldNum" sz="quarter" idx="5"/>
          </p:nvPr>
        </p:nvSpPr>
        <p:spPr bwMode="auto">
          <a:noFill/>
          <a:ln>
            <a:miter lim="800000"/>
            <a:headEnd/>
            <a:tailEnd/>
          </a:ln>
        </p:spPr>
        <p:txBody>
          <a:bodyPr/>
          <a:lstStyle/>
          <a:p>
            <a:fld id="{B33F93DE-E1B9-A04A-8003-C89B831162CE}" type="slidenum">
              <a:rPr lang="en-US"/>
              <a:pPr/>
              <a:t>64</a:t>
            </a:fld>
            <a:endParaRPr lang="en-US"/>
          </a:p>
        </p:txBody>
      </p:sp>
    </p:spTree>
    <p:extLst>
      <p:ext uri="{BB962C8B-B14F-4D97-AF65-F5344CB8AC3E}">
        <p14:creationId xmlns:p14="http://schemas.microsoft.com/office/powerpoint/2010/main" val="13683523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Slide Image Placeholder 1"/>
          <p:cNvSpPr>
            <a:spLocks noGrp="1" noRot="1" noChangeAspect="1" noTextEdit="1"/>
          </p:cNvSpPr>
          <p:nvPr>
            <p:ph type="sldImg"/>
          </p:nvPr>
        </p:nvSpPr>
        <p:spPr bwMode="auto">
          <a:noFill/>
          <a:ln>
            <a:solidFill>
              <a:srgbClr val="000000"/>
            </a:solidFill>
            <a:miter lim="800000"/>
            <a:headEnd/>
            <a:tailEnd/>
          </a:ln>
        </p:spPr>
      </p:sp>
      <p:sp>
        <p:nvSpPr>
          <p:cNvPr id="154626" name="Notes Placeholder 2"/>
          <p:cNvSpPr>
            <a:spLocks noGrp="1"/>
          </p:cNvSpPr>
          <p:nvPr>
            <p:ph type="body" idx="1"/>
          </p:nvPr>
        </p:nvSpPr>
        <p:spPr bwMode="auto">
          <a:noFill/>
        </p:spPr>
        <p:txBody>
          <a:bodyPr/>
          <a:lstStyle/>
          <a:p>
            <a:pPr>
              <a:spcBef>
                <a:spcPct val="0"/>
              </a:spcBef>
            </a:pPr>
            <a:r>
              <a:rPr lang="en-US" dirty="0"/>
              <a:t>Adélaïde </a:t>
            </a:r>
            <a:r>
              <a:rPr lang="en-US" dirty="0" err="1"/>
              <a:t>Labille-Guiard</a:t>
            </a:r>
            <a:r>
              <a:rPr lang="en-US" dirty="0"/>
              <a:t> SELF-PORTRAIT WITH TWO PUPILS</a:t>
            </a:r>
            <a:br>
              <a:rPr lang="en-US" dirty="0"/>
            </a:br>
            <a:r>
              <a:rPr lang="en-US" dirty="0"/>
              <a:t>1785. Oil on canvas, 6</a:t>
            </a:r>
            <a:r>
              <a:rPr lang="uk-UA" dirty="0"/>
              <a:t>'</a:t>
            </a:r>
            <a:r>
              <a:rPr lang="en-US" dirty="0"/>
              <a:t>11</a:t>
            </a:r>
            <a:r>
              <a:rPr lang="ru-RU" dirty="0"/>
              <a:t>"</a:t>
            </a:r>
            <a:r>
              <a:rPr lang="en-US" dirty="0"/>
              <a:t> × 4</a:t>
            </a:r>
            <a:r>
              <a:rPr lang="uk-UA" dirty="0"/>
              <a:t>'</a:t>
            </a:r>
            <a:r>
              <a:rPr lang="en-US" dirty="0"/>
              <a:t>11-1/2</a:t>
            </a:r>
            <a:r>
              <a:rPr lang="ru-RU" dirty="0"/>
              <a:t>"</a:t>
            </a:r>
            <a:r>
              <a:rPr lang="en-US" dirty="0"/>
              <a:t> (2.11 × 1.51 m).</a:t>
            </a:r>
            <a:br>
              <a:rPr lang="en-US" dirty="0"/>
            </a:br>
            <a:r>
              <a:rPr lang="en-US" dirty="0"/>
              <a:t>Metropolitan Museum of Art, New York. Gift of Julia A. </a:t>
            </a:r>
            <a:r>
              <a:rPr lang="en-US" dirty="0" err="1"/>
              <a:t>Berwind</a:t>
            </a:r>
            <a:r>
              <a:rPr lang="en-US" dirty="0"/>
              <a:t>, 1953 (53.225.5).</a:t>
            </a:r>
            <a:br>
              <a:rPr lang="en-US" dirty="0"/>
            </a:br>
            <a:r>
              <a:rPr lang="en-US" dirty="0"/>
              <a:t>© 2016. Image copyright The Metropolitan Museum of Art/Art Resource/Scala, Florence. </a:t>
            </a:r>
          </a:p>
        </p:txBody>
      </p:sp>
      <p:sp>
        <p:nvSpPr>
          <p:cNvPr id="154627" name="Slide Number Placeholder 3"/>
          <p:cNvSpPr>
            <a:spLocks noGrp="1"/>
          </p:cNvSpPr>
          <p:nvPr>
            <p:ph type="sldNum" sz="quarter" idx="5"/>
          </p:nvPr>
        </p:nvSpPr>
        <p:spPr bwMode="auto">
          <a:noFill/>
          <a:ln>
            <a:miter lim="800000"/>
            <a:headEnd/>
            <a:tailEnd/>
          </a:ln>
        </p:spPr>
        <p:txBody>
          <a:bodyPr/>
          <a:lstStyle/>
          <a:p>
            <a:fld id="{09C30709-36C0-6246-9746-85DB2713A242}" type="slidenum">
              <a:rPr lang="en-US"/>
              <a:pPr/>
              <a:t>66</a:t>
            </a:fld>
            <a:endParaRPr lang="en-US"/>
          </a:p>
        </p:txBody>
      </p:sp>
    </p:spTree>
    <p:extLst>
      <p:ext uri="{BB962C8B-B14F-4D97-AF65-F5344CB8AC3E}">
        <p14:creationId xmlns:p14="http://schemas.microsoft.com/office/powerpoint/2010/main" val="4952850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Slide Image Placeholder 1"/>
          <p:cNvSpPr>
            <a:spLocks noGrp="1" noRot="1" noChangeAspect="1" noTextEdit="1"/>
          </p:cNvSpPr>
          <p:nvPr>
            <p:ph type="sldImg"/>
          </p:nvPr>
        </p:nvSpPr>
        <p:spPr bwMode="auto">
          <a:noFill/>
          <a:ln>
            <a:solidFill>
              <a:srgbClr val="000000"/>
            </a:solidFill>
            <a:miter lim="800000"/>
            <a:headEnd/>
            <a:tailEnd/>
          </a:ln>
        </p:spPr>
      </p:sp>
      <p:sp>
        <p:nvSpPr>
          <p:cNvPr id="157698" name="Notes Placeholder 2"/>
          <p:cNvSpPr>
            <a:spLocks noGrp="1"/>
          </p:cNvSpPr>
          <p:nvPr>
            <p:ph type="body" idx="1"/>
          </p:nvPr>
        </p:nvSpPr>
        <p:spPr bwMode="auto">
          <a:noFill/>
        </p:spPr>
        <p:txBody>
          <a:bodyPr/>
          <a:lstStyle/>
          <a:p>
            <a:pPr>
              <a:spcBef>
                <a:spcPct val="0"/>
              </a:spcBef>
            </a:pPr>
            <a:r>
              <a:rPr lang="en-US" dirty="0"/>
              <a:t>Jean-Antoine Houdon GEORGE WASHINGTON</a:t>
            </a:r>
            <a:br>
              <a:rPr lang="en-US" dirty="0"/>
            </a:br>
            <a:r>
              <a:rPr lang="en-US" dirty="0"/>
              <a:t>1788–1792. Marble, height 6</a:t>
            </a:r>
            <a:r>
              <a:rPr lang="uk-UA" dirty="0"/>
              <a:t>'</a:t>
            </a:r>
            <a:r>
              <a:rPr lang="en-US" dirty="0"/>
              <a:t>2</a:t>
            </a:r>
            <a:r>
              <a:rPr lang="ru-RU" dirty="0"/>
              <a:t>"</a:t>
            </a:r>
            <a:r>
              <a:rPr lang="en-US" dirty="0"/>
              <a:t> (1.9 m).</a:t>
            </a:r>
            <a:br>
              <a:rPr lang="en-US" dirty="0"/>
            </a:br>
            <a:r>
              <a:rPr lang="en-US" dirty="0"/>
              <a:t>State Capitol, Richmond, Virginia. </a:t>
            </a:r>
          </a:p>
        </p:txBody>
      </p:sp>
      <p:sp>
        <p:nvSpPr>
          <p:cNvPr id="157699" name="Slide Number Placeholder 3"/>
          <p:cNvSpPr>
            <a:spLocks noGrp="1"/>
          </p:cNvSpPr>
          <p:nvPr>
            <p:ph type="sldNum" sz="quarter" idx="5"/>
          </p:nvPr>
        </p:nvSpPr>
        <p:spPr bwMode="auto">
          <a:noFill/>
          <a:ln>
            <a:miter lim="800000"/>
            <a:headEnd/>
            <a:tailEnd/>
          </a:ln>
        </p:spPr>
        <p:txBody>
          <a:bodyPr/>
          <a:lstStyle/>
          <a:p>
            <a:fld id="{6BE772D8-5986-1C45-B5A8-5507B640F2DE}" type="slidenum">
              <a:rPr lang="en-US"/>
              <a:pPr/>
              <a:t>68</a:t>
            </a:fld>
            <a:endParaRPr lang="en-US"/>
          </a:p>
        </p:txBody>
      </p:sp>
    </p:spTree>
    <p:extLst>
      <p:ext uri="{BB962C8B-B14F-4D97-AF65-F5344CB8AC3E}">
        <p14:creationId xmlns:p14="http://schemas.microsoft.com/office/powerpoint/2010/main" val="608513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457200" y="215372"/>
            <a:ext cx="8229600" cy="622828"/>
          </a:xfrm>
        </p:spPr>
        <p:txBody>
          <a:bodyPr anchor="t"/>
          <a:lstStyle/>
          <a:p>
            <a:r>
              <a:rPr lang="en-US" dirty="0"/>
              <a:t>Art History</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Sixth Edition</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62000" y="1739785"/>
            <a:ext cx="3217287" cy="411623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000">
                <a:latin typeface="Arial" charset="0"/>
                <a:ea typeface="Arial" charset="0"/>
                <a:cs typeface="Arial" charset="0"/>
              </a:defRPr>
            </a:lvl1pPr>
            <a:lvl2pPr>
              <a:buClr>
                <a:srgbClr val="007FA3"/>
              </a:buClr>
              <a:defRPr sz="2000">
                <a:latin typeface="Arial" charset="0"/>
                <a:ea typeface="Arial" charset="0"/>
                <a:cs typeface="Arial" charset="0"/>
              </a:defRPr>
            </a:lvl2pPr>
            <a:lvl3pPr>
              <a:buClr>
                <a:srgbClr val="007FA3"/>
              </a:buClr>
              <a:defRPr sz="2000">
                <a:latin typeface="Arial" charset="0"/>
                <a:ea typeface="Arial" charset="0"/>
                <a:cs typeface="Arial" charset="0"/>
              </a:defRPr>
            </a:lvl3pPr>
            <a:lvl4pPr>
              <a:buClr>
                <a:srgbClr val="007FA3"/>
              </a:buClr>
              <a:defRPr sz="2000">
                <a:latin typeface="Arial" charset="0"/>
                <a:ea typeface="Arial" charset="0"/>
                <a:cs typeface="Arial" charset="0"/>
              </a:defRPr>
            </a:lvl4pPr>
            <a:lvl5pPr>
              <a:buClr>
                <a:srgbClr val="007FA3"/>
              </a:buClr>
              <a:defRPr sz="2000">
                <a:latin typeface="Arial" charset="0"/>
                <a:ea typeface="Arial" charset="0"/>
                <a:cs typeface="Arial" charset="0"/>
              </a:defRPr>
            </a:lvl5pPr>
            <a:lvl6pPr>
              <a:buClr>
                <a:srgbClr val="007FA3"/>
              </a:buClr>
              <a:defRPr sz="2000">
                <a:latin typeface="Arial" charset="0"/>
                <a:ea typeface="Arial" charset="0"/>
                <a:cs typeface="Arial" charset="0"/>
              </a:defRPr>
            </a:lvl6pPr>
            <a:lvl7pPr>
              <a:buClr>
                <a:srgbClr val="007FA3"/>
              </a:buClr>
              <a:defRPr sz="2000">
                <a:latin typeface="Arial" charset="0"/>
                <a:ea typeface="Arial" charset="0"/>
                <a:cs typeface="Arial" charset="0"/>
              </a:defRPr>
            </a:lvl7pPr>
            <a:lvl8pPr>
              <a:buClr>
                <a:srgbClr val="007FA3"/>
              </a:buClr>
              <a:defRPr sz="2000">
                <a:latin typeface="Arial" charset="0"/>
                <a:ea typeface="Arial" charset="0"/>
                <a:cs typeface="Arial" charset="0"/>
              </a:defRPr>
            </a:lvl8pPr>
            <a:lvl9pPr>
              <a:buClr>
                <a:srgbClr val="007FA3"/>
              </a:buClr>
              <a:defRPr sz="2000">
                <a:latin typeface="Arial" charset="0"/>
                <a:ea typeface="Arial" charset="0"/>
                <a:cs typeface="Arial"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6/19/2020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1pPr marL="0" indent="0">
              <a:buClr>
                <a:srgbClr val="007FA3"/>
              </a:buClr>
              <a:buSzPct val="100000"/>
              <a:buFontTx/>
              <a:buNone/>
              <a:tabLst/>
              <a:defRPr sz="2000"/>
            </a:lvl1pPr>
            <a:lvl2pPr marL="569913" indent="-285750">
              <a:buClr>
                <a:srgbClr val="007FA3"/>
              </a:buClr>
              <a:defRPr sz="20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9" name="TextBox 8"/>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10" name="TextBox 9"/>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7_Title and Content">
    <p:spTree>
      <p:nvGrpSpPr>
        <p:cNvPr id="1" name=""/>
        <p:cNvGrpSpPr/>
        <p:nvPr/>
      </p:nvGrpSpPr>
      <p:grpSpPr>
        <a:xfrm>
          <a:off x="0" y="0"/>
          <a:ext cx="0" cy="0"/>
          <a:chOff x="0" y="0"/>
          <a:chExt cx="0" cy="0"/>
        </a:xfrm>
      </p:grpSpPr>
      <p:cxnSp>
        <p:nvCxnSpPr>
          <p:cNvPr id="4" name="Straight Connector 10"/>
          <p:cNvCxnSpPr>
            <a:cxnSpLocks noChangeShapeType="1"/>
          </p:cNvCxnSpPr>
          <p:nvPr userDrawn="1"/>
        </p:nvCxnSpPr>
        <p:spPr bwMode="auto">
          <a:xfrm>
            <a:off x="0" y="1371600"/>
            <a:ext cx="9144000" cy="0"/>
          </a:xfrm>
          <a:prstGeom prst="line">
            <a:avLst/>
          </a:prstGeom>
          <a:noFill/>
          <a:ln w="12700">
            <a:solidFill>
              <a:srgbClr val="008B5D"/>
            </a:solidFill>
            <a:round/>
            <a:headEnd/>
            <a:tailEnd/>
          </a:ln>
        </p:spPr>
      </p:cxnSp>
      <p:sp>
        <p:nvSpPr>
          <p:cNvPr id="2" name="Title 1"/>
          <p:cNvSpPr>
            <a:spLocks noGrp="1"/>
          </p:cNvSpPr>
          <p:nvPr>
            <p:ph type="title"/>
          </p:nvPr>
        </p:nvSpPr>
        <p:spPr>
          <a:noFill/>
          <a:ln>
            <a:noFill/>
          </a:ln>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slow" advTm="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
        <p:nvSpPr>
          <p:cNvPr id="3" name="TextBox 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018901491"/>
      </p:ext>
    </p:extLst>
  </p:cSld>
  <p:clrMapOvr>
    <a:overrideClrMapping bg1="dk1" tx1="lt1" bg2="dk2" tx2="lt2" accent1="accent1" accent2="accent2" accent3="accent3" accent4="accent4" accent5="accent5" accent6="accent6" hlink="hlink" folHlink="folHlink"/>
  </p:clrMapOvr>
  <p:transition spd="slow" advTm="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Tree>
    <p:extLst>
      <p:ext uri="{BB962C8B-B14F-4D97-AF65-F5344CB8AC3E}">
        <p14:creationId xmlns:p14="http://schemas.microsoft.com/office/powerpoint/2010/main" val="249327367"/>
      </p:ext>
    </p:extLst>
  </p:cSld>
  <p:clrMapOvr>
    <a:overrideClrMapping bg1="dk1" tx1="lt1" bg2="dk2" tx2="lt2" accent1="accent1" accent2="accent2" accent3="accent3" accent4="accent4" accent5="accent5" accent6="accent6" hlink="hlink" folHlink="folHlink"/>
  </p:clrMapOvr>
  <p:transition spd="slow" advT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00000"/>
        </a:lnSpc>
        <a:spcBef>
          <a:spcPct val="0"/>
        </a:spcBef>
        <a:buNone/>
        <a:defRPr sz="3400" b="1" kern="1200">
          <a:solidFill>
            <a:srgbClr val="007FA3"/>
          </a:solidFill>
          <a:latin typeface="Arial" charset="0"/>
          <a:ea typeface="Arial" charset="0"/>
          <a:cs typeface="Arial"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0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D5F16-63E2-5A45-A9B7-E9956C8974A2}" type="datetimeFigureOut">
              <a:rPr lang="en-US"/>
              <a:pPr/>
              <a:t>6/19/2020</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33623-5977-3140-A7F1-DF5A0A44B763}" type="slidenum">
              <a:rPr/>
              <a:pPr/>
              <a:t>‹#›</a:t>
            </a:fld>
            <a:endParaRPr lang="en-US"/>
          </a:p>
        </p:txBody>
      </p:sp>
    </p:spTree>
    <p:extLst>
      <p:ext uri="{BB962C8B-B14F-4D97-AF65-F5344CB8AC3E}">
        <p14:creationId xmlns:p14="http://schemas.microsoft.com/office/powerpoint/2010/main" val="1022270744"/>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7C4B8-E91F-3246-9B9A-12380F6A5EAB}"/>
              </a:ext>
            </a:extLst>
          </p:cNvPr>
          <p:cNvSpPr>
            <a:spLocks noGrp="1"/>
          </p:cNvSpPr>
          <p:nvPr>
            <p:ph type="ctrTitle"/>
          </p:nvPr>
        </p:nvSpPr>
        <p:spPr/>
        <p:txBody>
          <a:bodyPr/>
          <a:lstStyle/>
          <a:p>
            <a:r>
              <a:rPr lang="en-US" dirty="0"/>
              <a:t>Chapter 23</a:t>
            </a:r>
          </a:p>
        </p:txBody>
      </p:sp>
      <p:sp>
        <p:nvSpPr>
          <p:cNvPr id="3" name="Subtitle 2">
            <a:extLst>
              <a:ext uri="{FF2B5EF4-FFF2-40B4-BE49-F238E27FC236}">
                <a16:creationId xmlns:a16="http://schemas.microsoft.com/office/drawing/2014/main" id="{D68F5EF6-E767-8C46-81C1-2372E4793E37}"/>
              </a:ext>
            </a:extLst>
          </p:cNvPr>
          <p:cNvSpPr>
            <a:spLocks noGrp="1"/>
          </p:cNvSpPr>
          <p:nvPr>
            <p:ph type="subTitle" idx="1"/>
          </p:nvPr>
        </p:nvSpPr>
        <p:spPr/>
        <p:txBody>
          <a:bodyPr/>
          <a:lstStyle/>
          <a:p>
            <a:r>
              <a:rPr lang="en-US"/>
              <a:t>Art in the Age of the Enlightenment, 1750–1789</a:t>
            </a:r>
            <a:endParaRPr lang="en-US" dirty="0"/>
          </a:p>
        </p:txBody>
      </p:sp>
    </p:spTree>
    <p:extLst>
      <p:ext uri="{BB962C8B-B14F-4D97-AF65-F5344CB8AC3E}">
        <p14:creationId xmlns:p14="http://schemas.microsoft.com/office/powerpoint/2010/main" val="4221425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p:txBody>
          <a:bodyPr/>
          <a:lstStyle/>
          <a:p>
            <a:r>
              <a:rPr lang="en-US" dirty="0"/>
              <a:t>Learning Objectives</a:t>
            </a:r>
          </a:p>
        </p:txBody>
      </p:sp>
      <p:sp>
        <p:nvSpPr>
          <p:cNvPr id="9218" name="Content Placeholder 2"/>
          <p:cNvSpPr>
            <a:spLocks noGrp="1"/>
          </p:cNvSpPr>
          <p:nvPr>
            <p:ph idx="1"/>
          </p:nvPr>
        </p:nvSpPr>
        <p:spPr/>
        <p:txBody>
          <a:bodyPr/>
          <a:lstStyle/>
          <a:p>
            <a:pPr marL="457200" lvl="0" indent="-457200" fontAlgn="base">
              <a:buFont typeface="+mj-lt"/>
              <a:buAutoNum type="arabicPeriod"/>
            </a:pPr>
            <a:r>
              <a:rPr lang="en-US" dirty="0"/>
              <a:t>Discuss the ways in which Enlightenment philosophy influenced the development of architecture, painting, and sculpture in the eighteenth century.</a:t>
            </a:r>
          </a:p>
          <a:p>
            <a:pPr marL="457200" lvl="0" indent="-457200" fontAlgn="base">
              <a:buFont typeface="+mj-lt"/>
              <a:buAutoNum type="arabicPeriod"/>
            </a:pPr>
            <a:r>
              <a:rPr lang="en-US" dirty="0"/>
              <a:t>Describe the impact that Enlightenment values and Classicism had on genre and portrait painting in the second half of the eighteenth century.</a:t>
            </a:r>
          </a:p>
          <a:p>
            <a:pPr marL="457200" lvl="0" indent="-457200" fontAlgn="base">
              <a:buFont typeface="+mj-lt"/>
              <a:buAutoNum type="arabicPeriod"/>
            </a:pPr>
            <a:r>
              <a:rPr lang="en-US" dirty="0"/>
              <a:t>Define the qualities or characteristics of Romanticism and how they surface in the art and architecture of the second half of the eighteenth century.</a:t>
            </a:r>
          </a:p>
          <a:p>
            <a:pPr marL="457200" lvl="0" indent="-457200" fontAlgn="base">
              <a:buFont typeface="+mj-lt"/>
              <a:buAutoNum type="arabicPeriod"/>
            </a:pPr>
            <a:r>
              <a:rPr lang="en-US" dirty="0"/>
              <a:t>Discuss the mix of styles or attitudes, especially Neoclassicism, Romanticism, and the Rococo, that prevailed in the second half of the eighteenth century and how elements of these different styles can appear in a single work of art.</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3"/>
          <p:cNvSpPr>
            <a:spLocks noGrp="1"/>
          </p:cNvSpPr>
          <p:nvPr>
            <p:ph type="title"/>
          </p:nvPr>
        </p:nvSpPr>
        <p:spPr/>
        <p:txBody>
          <a:bodyPr/>
          <a:lstStyle/>
          <a:p>
            <a:r>
              <a:rPr lang="en-US" dirty="0"/>
              <a:t>Industrial, Intellectual, and Political Revolutions</a:t>
            </a:r>
          </a:p>
        </p:txBody>
      </p:sp>
      <p:sp>
        <p:nvSpPr>
          <p:cNvPr id="17410" name="Content Placeholder 14"/>
          <p:cNvSpPr>
            <a:spLocks noGrp="1"/>
          </p:cNvSpPr>
          <p:nvPr>
            <p:ph idx="1"/>
          </p:nvPr>
        </p:nvSpPr>
        <p:spPr/>
        <p:txBody>
          <a:bodyPr/>
          <a:lstStyle/>
          <a:p>
            <a:r>
              <a:rPr lang="en-US" dirty="0"/>
              <a:t>This was an age of revolution and radical change in society, thought, and politics with worldwide consequence.</a:t>
            </a:r>
          </a:p>
          <a:p>
            <a:r>
              <a:rPr lang="en-US" dirty="0"/>
              <a:t>When the state failed to protect and facilitate the rights of the people to be freed from political shackles, the solution was to change it; this thought justified both the American and French Revolutions.</a:t>
            </a:r>
          </a:p>
          <a:p>
            <a:r>
              <a:rPr lang="en-US" dirty="0"/>
              <a:t>A reverential attitude toward scientific inquiry developed that extended to studies of the natural world.</a:t>
            </a:r>
          </a:p>
          <a:p>
            <a:r>
              <a:rPr lang="en-US" dirty="0"/>
              <a:t>The Industrial Revolution began to replace land-based power of the aristocracy.</a:t>
            </a:r>
          </a:p>
          <a:p>
            <a:r>
              <a:rPr lang="en-US" dirty="0"/>
              <a:t>Romanticism developed as a counter to Enlightenment rationalism and explored emotions, imagination, and intuition.</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3"/>
          <p:cNvSpPr>
            <a:spLocks noGrp="1"/>
          </p:cNvSpPr>
          <p:nvPr>
            <p:ph type="title"/>
          </p:nvPr>
        </p:nvSpPr>
        <p:spPr/>
        <p:txBody>
          <a:bodyPr>
            <a:normAutofit fontScale="90000"/>
          </a:bodyPr>
          <a:lstStyle/>
          <a:p>
            <a:r>
              <a:rPr lang="en-US" dirty="0"/>
              <a:t>John Singleton Copley THOMAS MIFFLIN AND SARAH MORRIS (MR. AND MRS. MIFFLIN)</a:t>
            </a:r>
            <a:br>
              <a:rPr lang="en-US" dirty="0"/>
            </a:br>
            <a:r>
              <a:rPr lang="en-US" dirty="0"/>
              <a:t>1773. Oil on canvas, 61-5/8</a:t>
            </a:r>
            <a:r>
              <a:rPr lang="ru-RU" dirty="0"/>
              <a:t>"</a:t>
            </a:r>
            <a:r>
              <a:rPr lang="en-US" dirty="0"/>
              <a:t> × 48</a:t>
            </a:r>
            <a:r>
              <a:rPr lang="ru-RU" dirty="0"/>
              <a:t>"</a:t>
            </a:r>
            <a:r>
              <a:rPr lang="en-US" dirty="0"/>
              <a:t> (156.5 × 121.9 cm).</a:t>
            </a:r>
            <a:br>
              <a:rPr lang="en-US" dirty="0"/>
            </a:br>
            <a:r>
              <a:rPr lang="en-US" dirty="0"/>
              <a:t>Philadelphia Museum of Art. © 2016. Photo Art Resource/Scala, Florence.</a:t>
            </a:r>
          </a:p>
        </p:txBody>
      </p:sp>
      <p:pic>
        <p:nvPicPr>
          <p:cNvPr id="2" name="Picture 1" descr="A wealthy, eighteenth-century American colonial couple sits next to each other in a drawing room. The husband uses a finger to mark his place in a book, looking up at his wife, who in turn looks at the viewer, while weaving long threads on a tabletop loom."/>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54106"/>
            <a:ext cx="8107680" cy="5031232"/>
          </a:xfrm>
          <a:prstGeom prst="rect">
            <a:avLst/>
          </a:prstGeom>
        </p:spPr>
      </p:pic>
    </p:spTree>
  </p:cSld>
  <p:clrMapOvr>
    <a:masterClrMapping/>
  </p:clrMapOvr>
  <p:transition spd="slow" advTm="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3"/>
          <p:cNvSpPr>
            <a:spLocks noGrp="1"/>
          </p:cNvSpPr>
          <p:nvPr>
            <p:ph type="title"/>
          </p:nvPr>
        </p:nvSpPr>
        <p:spPr/>
        <p:txBody>
          <a:bodyPr>
            <a:normAutofit fontScale="90000"/>
          </a:bodyPr>
          <a:lstStyle/>
          <a:p>
            <a:r>
              <a:rPr lang="en-US" dirty="0"/>
              <a:t>EUROPE AND NORTH AMERICA IN THE EIGHTEENTH CENTURY</a:t>
            </a:r>
            <a:br>
              <a:rPr lang="en-US" dirty="0"/>
            </a:br>
            <a:r>
              <a:rPr lang="en-US" dirty="0"/>
              <a:t>During the eighteenth century, three major artistic styles—Rococo, Neoclassicism, and Romanticism—flourished in Europe and North America.</a:t>
            </a:r>
          </a:p>
        </p:txBody>
      </p:sp>
      <p:pic>
        <p:nvPicPr>
          <p:cNvPr id="2" name="Picture 1" descr="A political map of Europe and the new world, circa the eighteenth century. The map has two insets for Europe, focusing on the Italian Peninsula and on northwestern France, Holland, and southern England. The inset for Italy extends south from the Tiber River to Sicily, highlighting the locations of Florence and Rome, along the Tiber, and Naples, Herculaneum, and Pompeii, approximately 150 miles to the southeast, near Mount Vesuvius. The northwestern inset highlights only a few cities on the mainland, mostly in a small cluster: Paris, Versailles, Sevres, and Fontainebleau, further upriver on the Seine River than the other cities. Valenciennes is also indicated, approximately equidistant between the Parisian Seine River and the Rhine River, to the northwest. In contrast, the following nine cities are indicated in England: London, Chiswick, and Twickenham, in the southeast; Bath and Stourhead, in the southwest; and Derby, Birmingham, Burslem, and Coalbrookdale, in central England. At this time, there were three major powers in the western hemisphere: Britain, France, and Spain. Britain controlled the least territory, including small holdings in the Caribbean Sea and the thirteen American colonies, expanding westward from the Atlantic Ocean into the Appalachian Mountains and beyond. Territory from the Saint Lawrence River to the Great Lakes and the Mississippi River was disputed, but territory further north was claimed by France, as was territory from the Mississippi River to the Pacific Northwest. Spain controlled the remainder of the New World, expanding from the American Southwest into Mexico, Central America, South America, and the larger Caribbean Islands, including Cuba, Haiti, and Puerto Rico. Despite the wide expanses of French and Spanish control in the new world, the only major French city noted on the map is Quebec City; the only major Spanish cities are Tucson, Mexico City, and Havana, on the island of Cuba. By contrast, the following cities were under British control in the relatively small colonies: Boston; New York; Philadelphia; Washington, D C; Charlottesville; and Richmond.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3"/>
          <p:cNvSpPr>
            <a:spLocks noGrp="1"/>
          </p:cNvSpPr>
          <p:nvPr>
            <p:ph type="title"/>
          </p:nvPr>
        </p:nvSpPr>
        <p:spPr/>
        <p:txBody>
          <a:bodyPr/>
          <a:lstStyle/>
          <a:p>
            <a:r>
              <a:rPr lang="en-US" dirty="0"/>
              <a:t>Neoclassicism in Rome (1)</a:t>
            </a:r>
          </a:p>
        </p:txBody>
      </p:sp>
      <p:sp>
        <p:nvSpPr>
          <p:cNvPr id="60418" name="Content Placeholder 14"/>
          <p:cNvSpPr>
            <a:spLocks noGrp="1"/>
          </p:cNvSpPr>
          <p:nvPr>
            <p:ph idx="1"/>
          </p:nvPr>
        </p:nvSpPr>
        <p:spPr/>
        <p:txBody>
          <a:bodyPr/>
          <a:lstStyle/>
          <a:p>
            <a:r>
              <a:rPr lang="en-US" dirty="0"/>
              <a:t>Artists who contributed to the early Neoclassical movement were drawn to study and work in Rome.</a:t>
            </a:r>
          </a:p>
          <a:p>
            <a:r>
              <a:rPr lang="en-US" dirty="0"/>
              <a:t>Cardinal </a:t>
            </a:r>
            <a:r>
              <a:rPr lang="en-US" dirty="0" err="1"/>
              <a:t>Albani</a:t>
            </a:r>
            <a:r>
              <a:rPr lang="en-US" dirty="0"/>
              <a:t> sponsored a villa for the purpose of displaying his vast collection of art and artifacts.</a:t>
            </a:r>
          </a:p>
          <a:p>
            <a:pPr lvl="1"/>
            <a:r>
              <a:rPr lang="en-US" dirty="0"/>
              <a:t>His librarian Johann Winckelmann became the first art historian to analyze the history of art by period styles.</a:t>
            </a:r>
          </a:p>
          <a:p>
            <a:r>
              <a:rPr lang="en-US" dirty="0" err="1"/>
              <a:t>Mengs</a:t>
            </a:r>
            <a:endParaRPr lang="en-US" dirty="0"/>
          </a:p>
          <a:p>
            <a:pPr lvl="1"/>
            <a:r>
              <a:rPr lang="en-US" dirty="0"/>
              <a:t>Anton Raphael </a:t>
            </a:r>
            <a:r>
              <a:rPr lang="en-US" dirty="0" err="1"/>
              <a:t>Mengs</a:t>
            </a:r>
            <a:r>
              <a:rPr lang="uk-UA" dirty="0"/>
              <a:t>'</a:t>
            </a:r>
            <a:r>
              <a:rPr lang="en-US" dirty="0"/>
              <a:t>s </a:t>
            </a:r>
            <a:r>
              <a:rPr lang="en-US" i="1" dirty="0"/>
              <a:t>Parnassus</a:t>
            </a:r>
            <a:r>
              <a:rPr lang="en-US" dirty="0"/>
              <a:t> was the first full expression of Neoclassicism, featuring a scene from Classical mythology.</a:t>
            </a:r>
          </a:p>
          <a:p>
            <a:pPr lvl="2"/>
            <a:r>
              <a:rPr lang="en-US" dirty="0"/>
              <a:t>The pose of Apollo was copied from the </a:t>
            </a:r>
            <a:r>
              <a:rPr lang="en-US" i="1" dirty="0"/>
              <a:t>Apollo Belvedere </a:t>
            </a:r>
            <a:r>
              <a:rPr lang="en-US" dirty="0"/>
              <a:t>in the Vatican collection.</a:t>
            </a:r>
          </a:p>
          <a:p>
            <a:pPr lvl="1"/>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3"/>
          <p:cNvSpPr>
            <a:spLocks noGrp="1"/>
          </p:cNvSpPr>
          <p:nvPr>
            <p:ph type="title"/>
          </p:nvPr>
        </p:nvSpPr>
        <p:spPr/>
        <p:txBody>
          <a:bodyPr>
            <a:normAutofit fontScale="90000"/>
          </a:bodyPr>
          <a:lstStyle/>
          <a:p>
            <a:r>
              <a:rPr lang="en-US" dirty="0"/>
              <a:t>Anton Raphael </a:t>
            </a:r>
            <a:r>
              <a:rPr lang="en-US" dirty="0" err="1"/>
              <a:t>Mengs</a:t>
            </a:r>
            <a:r>
              <a:rPr lang="en-US" dirty="0"/>
              <a:t> PARNASSUS</a:t>
            </a:r>
            <a:br>
              <a:rPr lang="en-US" dirty="0"/>
            </a:br>
            <a:r>
              <a:rPr lang="en-US" dirty="0"/>
              <a:t>Ceiling fresco in the Villa </a:t>
            </a:r>
            <a:r>
              <a:rPr lang="en-US" dirty="0" err="1"/>
              <a:t>Albani</a:t>
            </a:r>
            <a:r>
              <a:rPr lang="en-US" dirty="0"/>
              <a:t>, Rome. 1761.</a:t>
            </a:r>
            <a:br>
              <a:rPr lang="en-US" dirty="0"/>
            </a:br>
            <a:r>
              <a:rPr lang="en-US" dirty="0"/>
              <a:t>© </a:t>
            </a:r>
            <a:r>
              <a:rPr lang="en-US" dirty="0" err="1"/>
              <a:t>akg</a:t>
            </a:r>
            <a:r>
              <a:rPr lang="en-US" dirty="0"/>
              <a:t>-images/Mondadori Portfolio/Sergio </a:t>
            </a:r>
            <a:r>
              <a:rPr lang="en-US" dirty="0" err="1"/>
              <a:t>Anelli</a:t>
            </a:r>
            <a:r>
              <a:rPr lang="en-US" dirty="0"/>
              <a:t>. </a:t>
            </a:r>
          </a:p>
        </p:txBody>
      </p:sp>
      <p:pic>
        <p:nvPicPr>
          <p:cNvPr id="2" name="Picture 1" descr="A lithe male figure stands on a high, rocky plateau, under a few trees. Ten women in colorful draperies surround him, dancing or listening to him perform."/>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3"/>
          <p:cNvSpPr>
            <a:spLocks noGrp="1"/>
          </p:cNvSpPr>
          <p:nvPr>
            <p:ph type="title"/>
          </p:nvPr>
        </p:nvSpPr>
        <p:spPr/>
        <p:txBody>
          <a:bodyPr/>
          <a:lstStyle/>
          <a:p>
            <a:r>
              <a:rPr lang="en-US" dirty="0"/>
              <a:t>Neoclassicism in Rome (2)</a:t>
            </a:r>
          </a:p>
        </p:txBody>
      </p:sp>
      <p:sp>
        <p:nvSpPr>
          <p:cNvPr id="64514" name="Content Placeholder 14"/>
          <p:cNvSpPr>
            <a:spLocks noGrp="1"/>
          </p:cNvSpPr>
          <p:nvPr>
            <p:ph idx="1"/>
          </p:nvPr>
        </p:nvSpPr>
        <p:spPr/>
        <p:txBody>
          <a:bodyPr/>
          <a:lstStyle/>
          <a:p>
            <a:r>
              <a:rPr lang="en-US"/>
              <a:t>Canova</a:t>
            </a:r>
          </a:p>
          <a:p>
            <a:pPr lvl="1"/>
            <a:r>
              <a:rPr lang="en-US"/>
              <a:t>Antonio Canova was the leading Neoclassical sculptor of the late eighteenth century.</a:t>
            </a:r>
          </a:p>
          <a:p>
            <a:pPr lvl="1"/>
            <a:r>
              <a:rPr lang="en-US" i="1"/>
              <a:t>Pauline Borghese as Venus </a:t>
            </a:r>
            <a:r>
              <a:rPr lang="en-US"/>
              <a:t>was an eroticized mythological sculpture originally meant for Napoleon</a:t>
            </a:r>
            <a:r>
              <a:rPr lang="uk-UA"/>
              <a:t>'</a:t>
            </a:r>
            <a:r>
              <a:rPr lang="en-US"/>
              <a:t>s brother-in-law, Prince Camillo Borghese, but the recipient had it installed in a private room.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3"/>
          <p:cNvSpPr>
            <a:spLocks noGrp="1"/>
          </p:cNvSpPr>
          <p:nvPr>
            <p:ph type="title"/>
          </p:nvPr>
        </p:nvSpPr>
        <p:spPr/>
        <p:txBody>
          <a:bodyPr>
            <a:normAutofit fontScale="90000"/>
          </a:bodyPr>
          <a:lstStyle/>
          <a:p>
            <a:r>
              <a:rPr lang="en-US" dirty="0"/>
              <a:t>Antonio Canova CUPID AND PSYCHE</a:t>
            </a:r>
            <a:br>
              <a:rPr lang="en-US" dirty="0"/>
            </a:br>
            <a:r>
              <a:rPr lang="en-US" dirty="0"/>
              <a:t>1787–1793. Marble, 61 × 68</a:t>
            </a:r>
            <a:r>
              <a:rPr lang="ru-RU" dirty="0"/>
              <a:t>"</a:t>
            </a:r>
            <a:r>
              <a:rPr lang="en-US" dirty="0"/>
              <a:t> (1.55 × 1.73 m).</a:t>
            </a:r>
            <a:br>
              <a:rPr lang="en-US" dirty="0"/>
            </a:br>
            <a:r>
              <a:rPr lang="en-US" dirty="0" err="1"/>
              <a:t>Musée</a:t>
            </a:r>
            <a:r>
              <a:rPr lang="en-US" dirty="0"/>
              <a:t> du Louvre, Paris. Photo © Dist. RMN-Grand Palais/Raphaël </a:t>
            </a:r>
            <a:r>
              <a:rPr lang="en-US" dirty="0" err="1"/>
              <a:t>Chipault</a:t>
            </a:r>
            <a:r>
              <a:rPr lang="en-US" dirty="0"/>
              <a:t>. </a:t>
            </a:r>
          </a:p>
        </p:txBody>
      </p:sp>
      <p:pic>
        <p:nvPicPr>
          <p:cNvPr id="2" name="Picture 1" descr="Cupid alights on a carved stone mound, reaching down to embrace the nude Psyche as she reaches up, wrapping her arms around his neck and looking into his eyes. Psyche’s bedsheets cover her genitals, and Cupid’s arm covers her breast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3"/>
          <p:cNvSpPr>
            <a:spLocks noGrp="1"/>
          </p:cNvSpPr>
          <p:nvPr>
            <p:ph type="title"/>
          </p:nvPr>
        </p:nvSpPr>
        <p:spPr/>
        <p:txBody>
          <a:bodyPr/>
          <a:lstStyle/>
          <a:p>
            <a:r>
              <a:rPr lang="en-US"/>
              <a:t>Neoclassicism and Early Romanticism in Britain</a:t>
            </a:r>
          </a:p>
        </p:txBody>
      </p:sp>
      <p:sp>
        <p:nvSpPr>
          <p:cNvPr id="67586" name="Content Placeholder 14"/>
          <p:cNvSpPr>
            <a:spLocks noGrp="1"/>
          </p:cNvSpPr>
          <p:nvPr>
            <p:ph idx="1"/>
          </p:nvPr>
        </p:nvSpPr>
        <p:spPr/>
        <p:txBody>
          <a:bodyPr/>
          <a:lstStyle/>
          <a:p>
            <a:r>
              <a:rPr lang="en-US"/>
              <a:t>Late eighteenth-century Neoclassical British artists revived civic virtue through a lens of patriotism for the British nation.</a:t>
            </a:r>
          </a:p>
          <a:p>
            <a:r>
              <a:rPr lang="en-US"/>
              <a:t>Romanticism describes both the style and attitude of the subjective, emotional, and individual.</a:t>
            </a:r>
          </a:p>
          <a:p>
            <a:r>
              <a:rPr lang="en-US"/>
              <a:t>Both styles existed side by side, at times without clear distinction.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3"/>
          <p:cNvSpPr>
            <a:spLocks noGrp="1"/>
          </p:cNvSpPr>
          <p:nvPr>
            <p:ph type="title"/>
          </p:nvPr>
        </p:nvSpPr>
        <p:spPr/>
        <p:txBody>
          <a:bodyPr/>
          <a:lstStyle/>
          <a:p>
            <a:r>
              <a:rPr lang="en-US"/>
              <a:t>The Classical Revival in Architecture and Design (1 of 5)</a:t>
            </a:r>
          </a:p>
        </p:txBody>
      </p:sp>
      <p:sp>
        <p:nvSpPr>
          <p:cNvPr id="68610" name="Content Placeholder 14"/>
          <p:cNvSpPr>
            <a:spLocks noGrp="1"/>
          </p:cNvSpPr>
          <p:nvPr>
            <p:ph idx="1"/>
          </p:nvPr>
        </p:nvSpPr>
        <p:spPr/>
        <p:txBody>
          <a:bodyPr/>
          <a:lstStyle/>
          <a:p>
            <a:r>
              <a:rPr lang="en-US"/>
              <a:t>Buildings, utensils, poetry, and fashion all gained inspiration from Classical elements.</a:t>
            </a:r>
          </a:p>
          <a:p>
            <a:r>
              <a:rPr lang="en-US"/>
              <a:t>A group of architects led by Colen Campbell challenged the extravagance of the Italian Baroque with a return to austerity and simplicity.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3"/>
          <p:cNvSpPr>
            <a:spLocks noGrp="1"/>
          </p:cNvSpPr>
          <p:nvPr>
            <p:ph type="title"/>
          </p:nvPr>
        </p:nvSpPr>
        <p:spPr/>
        <p:txBody>
          <a:bodyPr/>
          <a:lstStyle/>
          <a:p>
            <a:r>
              <a:rPr lang="en-US"/>
              <a:t>The Classical Revival in Architecture and Design (2 of 5)</a:t>
            </a:r>
          </a:p>
        </p:txBody>
      </p:sp>
      <p:sp>
        <p:nvSpPr>
          <p:cNvPr id="69634" name="Content Placeholder 14"/>
          <p:cNvSpPr>
            <a:spLocks noGrp="1"/>
          </p:cNvSpPr>
          <p:nvPr>
            <p:ph idx="1"/>
          </p:nvPr>
        </p:nvSpPr>
        <p:spPr/>
        <p:txBody>
          <a:bodyPr/>
          <a:lstStyle/>
          <a:p>
            <a:r>
              <a:rPr lang="en-US"/>
              <a:t>Chiswick House</a:t>
            </a:r>
          </a:p>
          <a:p>
            <a:pPr lvl="1"/>
            <a:r>
              <a:rPr lang="en-US"/>
              <a:t>The Villa Rotunda served as inspiration for this Neo-Palladian house.</a:t>
            </a:r>
          </a:p>
          <a:p>
            <a:pPr lvl="1"/>
            <a:r>
              <a:rPr lang="en-US"/>
              <a:t>Richard Boyle, the third Earl of Burlington, served as designer and owner.</a:t>
            </a:r>
          </a:p>
          <a:p>
            <a:pPr lvl="1"/>
            <a:r>
              <a:rPr lang="en-US"/>
              <a:t>William Kent designed the grounds, utilizing the style of an English landscape garden, as well as the interior.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3"/>
          <p:cNvSpPr>
            <a:spLocks noGrp="1"/>
          </p:cNvSpPr>
          <p:nvPr>
            <p:ph type="title"/>
          </p:nvPr>
        </p:nvSpPr>
        <p:spPr/>
        <p:txBody>
          <a:bodyPr>
            <a:normAutofit fontScale="90000"/>
          </a:bodyPr>
          <a:lstStyle/>
          <a:p>
            <a:r>
              <a:rPr lang="en-US" dirty="0"/>
              <a:t>Richard Boyle (Lord Burlington) EXTERIOR VIEW OF CHISWICK HOUSE</a:t>
            </a:r>
            <a:br>
              <a:rPr lang="en-US" dirty="0"/>
            </a:br>
            <a:r>
              <a:rPr lang="en-US" dirty="0"/>
              <a:t>West London, England. 1724–1729. Interior decoration (1726–1729) and new gardens (1730–1740) by William Kent. © Achim Bednorz, Cologne. </a:t>
            </a:r>
          </a:p>
        </p:txBody>
      </p:sp>
      <p:pic>
        <p:nvPicPr>
          <p:cNvPr id="2" name="Picture 1" descr="Two staircases branch downward from Chiswick House’s front portico, each branching into two more staircases at ground level. An octagonal drum and dome rise behind the gabled façade, flanked by rows of whitewashed chimney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3"/>
          <p:cNvSpPr>
            <a:spLocks noGrp="1"/>
          </p:cNvSpPr>
          <p:nvPr>
            <p:ph type="title"/>
          </p:nvPr>
        </p:nvSpPr>
        <p:spPr/>
        <p:txBody>
          <a:bodyPr>
            <a:normAutofit fontScale="90000"/>
          </a:bodyPr>
          <a:lstStyle/>
          <a:p>
            <a:r>
              <a:rPr lang="en-US" dirty="0"/>
              <a:t>Richard Boyle (Lord Burlington) PLAN OF CHISWICK HOUSE</a:t>
            </a:r>
            <a:br>
              <a:rPr lang="en-US" dirty="0"/>
            </a:br>
            <a:r>
              <a:rPr lang="en-US" dirty="0"/>
              <a:t>West London, England. 1724.</a:t>
            </a:r>
            <a:br>
              <a:rPr lang="en-US" dirty="0"/>
            </a:br>
            <a:endParaRPr lang="en-US" dirty="0"/>
          </a:p>
        </p:txBody>
      </p:sp>
      <p:pic>
        <p:nvPicPr>
          <p:cNvPr id="2" name="Picture 1" descr="Burlington’s floorplan is symmetrical, with the portico leading to a hall running the width of the building, and from there to five other rooms, forming a square around the central octagon. The smaller, rear portico is reached by 2 staircases, not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3"/>
          <p:cNvSpPr>
            <a:spLocks noGrp="1"/>
          </p:cNvSpPr>
          <p:nvPr>
            <p:ph type="title"/>
          </p:nvPr>
        </p:nvSpPr>
        <p:spPr/>
        <p:txBody>
          <a:bodyPr/>
          <a:lstStyle/>
          <a:p>
            <a:r>
              <a:rPr lang="en-US"/>
              <a:t>The Classical Revival in Architecture and Design (3 of 5)</a:t>
            </a:r>
          </a:p>
        </p:txBody>
      </p:sp>
      <p:sp>
        <p:nvSpPr>
          <p:cNvPr id="74754" name="Content Placeholder 14"/>
          <p:cNvSpPr>
            <a:spLocks noGrp="1"/>
          </p:cNvSpPr>
          <p:nvPr>
            <p:ph idx="1"/>
          </p:nvPr>
        </p:nvSpPr>
        <p:spPr/>
        <p:txBody>
          <a:bodyPr/>
          <a:lstStyle/>
          <a:p>
            <a:r>
              <a:rPr lang="en-US"/>
              <a:t>Stourhead</a:t>
            </a:r>
          </a:p>
          <a:p>
            <a:pPr lvl="1"/>
            <a:r>
              <a:rPr lang="en-US"/>
              <a:t>Henry Hoare redesigned the grounds at Stourhead with the assistance of Henry Flitcroft.</a:t>
            </a:r>
          </a:p>
          <a:p>
            <a:pPr lvl="1"/>
            <a:r>
              <a:rPr lang="en-US"/>
              <a:t>The </a:t>
            </a:r>
            <a:r>
              <a:rPr lang="en-US" b="1"/>
              <a:t>pictureseque</a:t>
            </a:r>
            <a:r>
              <a:rPr lang="en-US"/>
              <a:t> style was meant to mimic compositional devices of landscape painter Claude Lorrain.</a:t>
            </a:r>
          </a:p>
          <a:p>
            <a:pPr lvl="2"/>
            <a:r>
              <a:rPr lang="en-US"/>
              <a:t>It was intentionally contrived to look natural and unkempt.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3"/>
          <p:cNvSpPr>
            <a:spLocks noGrp="1"/>
          </p:cNvSpPr>
          <p:nvPr>
            <p:ph type="title"/>
          </p:nvPr>
        </p:nvSpPr>
        <p:spPr/>
        <p:txBody>
          <a:bodyPr>
            <a:normAutofit fontScale="90000"/>
          </a:bodyPr>
          <a:lstStyle/>
          <a:p>
            <a:r>
              <a:rPr lang="en-US" dirty="0"/>
              <a:t>Henry </a:t>
            </a:r>
            <a:r>
              <a:rPr lang="en-US" dirty="0" err="1"/>
              <a:t>Flitcroft</a:t>
            </a:r>
            <a:r>
              <a:rPr lang="en-US" dirty="0"/>
              <a:t> and Henry Hoare THE PARK AT STOURHEAD</a:t>
            </a:r>
            <a:br>
              <a:rPr lang="en-US" dirty="0"/>
            </a:br>
            <a:r>
              <a:rPr lang="en-US" dirty="0"/>
              <a:t>Wiltshire, England.</a:t>
            </a:r>
            <a:br>
              <a:rPr lang="en-US" dirty="0"/>
            </a:br>
            <a:r>
              <a:rPr lang="en-US" dirty="0"/>
              <a:t>Laid out 1743, executed 1744–1765, with continuing additions.</a:t>
            </a:r>
            <a:br>
              <a:rPr lang="en-US" dirty="0"/>
            </a:br>
            <a:r>
              <a:rPr lang="en-US" dirty="0"/>
              <a:t>Gail Johnson/</a:t>
            </a:r>
            <a:r>
              <a:rPr lang="en-US" dirty="0" err="1"/>
              <a:t>Fotolia</a:t>
            </a:r>
            <a:r>
              <a:rPr lang="en-US" dirty="0"/>
              <a:t>. </a:t>
            </a:r>
          </a:p>
        </p:txBody>
      </p:sp>
      <p:pic>
        <p:nvPicPr>
          <p:cNvPr id="2" name="Picture 1" descr="Short, well-tended grass covers a gentle hill that descends to a small lake, surrounded by a forest.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3"/>
          <p:cNvSpPr>
            <a:spLocks noGrp="1"/>
          </p:cNvSpPr>
          <p:nvPr>
            <p:ph type="title"/>
          </p:nvPr>
        </p:nvSpPr>
        <p:spPr/>
        <p:txBody>
          <a:bodyPr/>
          <a:lstStyle/>
          <a:p>
            <a:r>
              <a:rPr lang="en-US"/>
              <a:t>The Classical Revival in Architecture and Design (4 of 5)</a:t>
            </a:r>
          </a:p>
        </p:txBody>
      </p:sp>
      <p:sp>
        <p:nvSpPr>
          <p:cNvPr id="79874" name="Content Placeholder 14"/>
          <p:cNvSpPr>
            <a:spLocks noGrp="1"/>
          </p:cNvSpPr>
          <p:nvPr>
            <p:ph idx="1"/>
          </p:nvPr>
        </p:nvSpPr>
        <p:spPr/>
        <p:txBody>
          <a:bodyPr/>
          <a:lstStyle/>
          <a:p>
            <a:r>
              <a:rPr lang="en-US"/>
              <a:t>Decorative Arts</a:t>
            </a:r>
          </a:p>
          <a:p>
            <a:pPr lvl="1"/>
            <a:r>
              <a:rPr lang="en-US"/>
              <a:t>Josiah Wedgewood was a talented chemist who developed colored </a:t>
            </a:r>
            <a:r>
              <a:rPr lang="en-US" b="1"/>
              <a:t>jasperware</a:t>
            </a:r>
            <a:r>
              <a:rPr lang="en-US"/>
              <a:t> pottery.</a:t>
            </a:r>
          </a:p>
          <a:p>
            <a:pPr lvl="1"/>
            <a:r>
              <a:rPr lang="en-US" i="1"/>
              <a:t>The Apotheosis of Homer </a:t>
            </a:r>
            <a:r>
              <a:rPr lang="en-US"/>
              <a:t>features white figures against a blue ground.</a:t>
            </a:r>
          </a:p>
          <a:p>
            <a:pPr lvl="2"/>
            <a:r>
              <a:rPr lang="en-US"/>
              <a:t>The design was simplified in order to accommodate mass production as well as the idealized notions of ancient Greek art.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3"/>
          <p:cNvSpPr>
            <a:spLocks noGrp="1"/>
          </p:cNvSpPr>
          <p:nvPr>
            <p:ph type="title"/>
          </p:nvPr>
        </p:nvSpPr>
        <p:spPr>
          <a:xfrm>
            <a:off x="457200" y="5715000"/>
            <a:ext cx="8229600" cy="685800"/>
          </a:xfrm>
        </p:spPr>
        <p:txBody>
          <a:bodyPr>
            <a:normAutofit fontScale="90000"/>
          </a:bodyPr>
          <a:lstStyle/>
          <a:p>
            <a:r>
              <a:rPr lang="en-US" dirty="0"/>
              <a:t>Josiah Wedgwood THE APOTHEOSIS OF HOMER</a:t>
            </a:r>
            <a:br>
              <a:rPr lang="en-US" dirty="0"/>
            </a:br>
            <a:r>
              <a:rPr lang="en-US" dirty="0"/>
              <a:t>Made at the Wedgwood Etruria factory, Staffordshire, England. 1790–1795.</a:t>
            </a:r>
            <a:br>
              <a:rPr lang="en-US" dirty="0"/>
            </a:br>
            <a:r>
              <a:rPr lang="en-US" dirty="0"/>
              <a:t>White jasperware body with a mid-blue dip and white relief, height 18</a:t>
            </a:r>
            <a:r>
              <a:rPr lang="ru-RU" dirty="0"/>
              <a:t>"</a:t>
            </a:r>
            <a:r>
              <a:rPr lang="en-US" dirty="0"/>
              <a:t> (45.7 cm).</a:t>
            </a:r>
            <a:br>
              <a:rPr lang="en-US" dirty="0"/>
            </a:br>
            <a:r>
              <a:rPr lang="en-US" dirty="0"/>
              <a:t>Relief of </a:t>
            </a:r>
            <a:r>
              <a:rPr lang="en-US" i="1" dirty="0"/>
              <a:t>The Apotheosis of Homer </a:t>
            </a:r>
            <a:r>
              <a:rPr lang="en-US" dirty="0"/>
              <a:t>adapted from a plaque by John Flaxman, Jr., 1778. Trustees of the Wedgwood Museum, </a:t>
            </a:r>
            <a:r>
              <a:rPr lang="en-US" dirty="0" err="1"/>
              <a:t>Barlaston</a:t>
            </a:r>
            <a:r>
              <a:rPr lang="en-US" dirty="0"/>
              <a:t>, Staffordshire, England. Photo © Wedgwood Museum/WWRD.</a:t>
            </a:r>
          </a:p>
        </p:txBody>
      </p:sp>
      <p:pic>
        <p:nvPicPr>
          <p:cNvPr id="2" name="Picture 1" descr="An elegant, white-on-blue jasperware vessel. Relief sculpture depicts Homer, carrying a large lyre, surrounded by winged women. The handle on the vessel’s lid depicts a winged horse on a cloud.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152400"/>
            <a:ext cx="8107680" cy="5031232"/>
          </a:xfrm>
          <a:prstGeom prst="rect">
            <a:avLst/>
          </a:prstGeom>
        </p:spPr>
      </p:pic>
    </p:spTree>
  </p:cSld>
  <p:clrMapOvr>
    <a:masterClrMapping/>
  </p:clrMapOvr>
  <p:transition spd="slow" advTm="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3"/>
          <p:cNvSpPr>
            <a:spLocks noGrp="1"/>
          </p:cNvSpPr>
          <p:nvPr>
            <p:ph type="title"/>
          </p:nvPr>
        </p:nvSpPr>
        <p:spPr/>
        <p:txBody>
          <a:bodyPr/>
          <a:lstStyle/>
          <a:p>
            <a:r>
              <a:rPr lang="en-US"/>
              <a:t>The Classical Revival in Architecture and Design (5 of 5)</a:t>
            </a:r>
          </a:p>
        </p:txBody>
      </p:sp>
      <p:sp>
        <p:nvSpPr>
          <p:cNvPr id="80898" name="Content Placeholder 14"/>
          <p:cNvSpPr>
            <a:spLocks noGrp="1"/>
          </p:cNvSpPr>
          <p:nvPr>
            <p:ph idx="1"/>
          </p:nvPr>
        </p:nvSpPr>
        <p:spPr/>
        <p:txBody>
          <a:bodyPr/>
          <a:lstStyle/>
          <a:p>
            <a:r>
              <a:rPr lang="en-US"/>
              <a:t>Decorative Arts</a:t>
            </a:r>
          </a:p>
          <a:p>
            <a:pPr lvl="1"/>
            <a:r>
              <a:rPr lang="en-US"/>
              <a:t>He was also active in the effort to abolish slavery, evident in </a:t>
            </a:r>
            <a:r>
              <a:rPr lang="ru-RU"/>
              <a:t>"</a:t>
            </a:r>
            <a:r>
              <a:rPr lang="en-US"/>
              <a:t>Am I not a man and a brother?</a:t>
            </a:r>
            <a:r>
              <a:rPr lang="ru-RU"/>
              <a:t>"</a:t>
            </a:r>
            <a:endParaRPr lang="en-US"/>
          </a:p>
          <a:p>
            <a:pPr lvl="2"/>
            <a:r>
              <a:rPr lang="en-US"/>
              <a:t>He commissioned a medallion for the British Committee to Abolish the Slave Trade and sent copies to Benjamin Franklin, then-president of the Philadelphia Abolition Society.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3"/>
          <p:cNvSpPr>
            <a:spLocks noGrp="1"/>
          </p:cNvSpPr>
          <p:nvPr>
            <p:ph type="title"/>
          </p:nvPr>
        </p:nvSpPr>
        <p:spPr/>
        <p:txBody>
          <a:bodyPr>
            <a:normAutofit fontScale="90000"/>
          </a:bodyPr>
          <a:lstStyle/>
          <a:p>
            <a:r>
              <a:rPr lang="en-US" dirty="0"/>
              <a:t>William </a:t>
            </a:r>
            <a:r>
              <a:rPr lang="en-US" dirty="0" err="1"/>
              <a:t>Hackwood</a:t>
            </a:r>
            <a:r>
              <a:rPr lang="en-US" dirty="0"/>
              <a:t> for Josiah Wedgwood </a:t>
            </a:r>
            <a:r>
              <a:rPr lang="ru-RU" dirty="0"/>
              <a:t>"</a:t>
            </a:r>
            <a:r>
              <a:rPr lang="en-US" dirty="0"/>
              <a:t>AM I NOT A MAN AND A BROTHER?</a:t>
            </a:r>
            <a:r>
              <a:rPr lang="ru-RU" dirty="0"/>
              <a:t>"</a:t>
            </a:r>
            <a:br>
              <a:rPr lang="en-US" dirty="0"/>
            </a:br>
            <a:r>
              <a:rPr lang="en-US" dirty="0"/>
              <a:t>1787. Black-and-white jasperware, 1-3/8</a:t>
            </a:r>
            <a:r>
              <a:rPr lang="ru-RU" dirty="0"/>
              <a:t>"</a:t>
            </a:r>
            <a:r>
              <a:rPr lang="en-US" dirty="0"/>
              <a:t> × 1-3/8</a:t>
            </a:r>
            <a:r>
              <a:rPr lang="ru-RU" dirty="0"/>
              <a:t>"</a:t>
            </a:r>
            <a:r>
              <a:rPr lang="en-US" dirty="0"/>
              <a:t> (3.5 × 3.5 cm).</a:t>
            </a:r>
            <a:br>
              <a:rPr lang="en-US" dirty="0"/>
            </a:br>
            <a:r>
              <a:rPr lang="en-US" dirty="0"/>
              <a:t>Trustees of the Wedgwood Museum, </a:t>
            </a:r>
            <a:r>
              <a:rPr lang="en-US" dirty="0" err="1"/>
              <a:t>Barlaston</a:t>
            </a:r>
            <a:r>
              <a:rPr lang="en-US" dirty="0"/>
              <a:t>, Staffordshire, England. Photo © Wedgwood Museum/WWRD. </a:t>
            </a:r>
          </a:p>
        </p:txBody>
      </p:sp>
      <p:pic>
        <p:nvPicPr>
          <p:cNvPr id="2" name="Picture 1" descr="The chained African man kneels and pleads, with his hands raised and clasped. The words of his challenge to the viewer are written in raised relief in a semicircle, arching over him."/>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itle 13"/>
          <p:cNvSpPr>
            <a:spLocks noGrp="1"/>
          </p:cNvSpPr>
          <p:nvPr>
            <p:ph type="title"/>
          </p:nvPr>
        </p:nvSpPr>
        <p:spPr/>
        <p:txBody>
          <a:bodyPr/>
          <a:lstStyle/>
          <a:p>
            <a:r>
              <a:rPr lang="en-US"/>
              <a:t>The Gothic Revival in Architecture and Design</a:t>
            </a:r>
          </a:p>
        </p:txBody>
      </p:sp>
      <p:sp>
        <p:nvSpPr>
          <p:cNvPr id="86018" name="Content Placeholder 14"/>
          <p:cNvSpPr>
            <a:spLocks noGrp="1"/>
          </p:cNvSpPr>
          <p:nvPr>
            <p:ph idx="1"/>
          </p:nvPr>
        </p:nvSpPr>
        <p:spPr/>
        <p:txBody>
          <a:bodyPr/>
          <a:lstStyle/>
          <a:p>
            <a:r>
              <a:rPr lang="en-US"/>
              <a:t>Horace Walpole</a:t>
            </a:r>
            <a:r>
              <a:rPr lang="uk-UA"/>
              <a:t>'</a:t>
            </a:r>
            <a:r>
              <a:rPr lang="en-US"/>
              <a:t>s </a:t>
            </a:r>
            <a:r>
              <a:rPr lang="en-US" i="1"/>
              <a:t>The Castle of Otranto </a:t>
            </a:r>
            <a:r>
              <a:rPr lang="en-US"/>
              <a:t>was regarded as the first Gothic novel, setting the revival in motion.</a:t>
            </a:r>
          </a:p>
          <a:p>
            <a:pPr lvl="1"/>
            <a:r>
              <a:rPr lang="en-US"/>
              <a:t>He remodeled his country house, Strawberry Hill, into a Gothic castle.</a:t>
            </a:r>
          </a:p>
          <a:p>
            <a:pPr lvl="2"/>
            <a:r>
              <a:rPr lang="en-US"/>
              <a:t>The Picture Gallery inside was inspired by engravings of medieval architecture, in some places deviating to accommodate Walpole</a:t>
            </a:r>
            <a:r>
              <a:rPr lang="uk-UA"/>
              <a:t>'</a:t>
            </a:r>
            <a:r>
              <a:rPr lang="en-US"/>
              <a:t>s taste.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3"/>
          <p:cNvSpPr>
            <a:spLocks noGrp="1"/>
          </p:cNvSpPr>
          <p:nvPr>
            <p:ph type="title"/>
          </p:nvPr>
        </p:nvSpPr>
        <p:spPr/>
        <p:txBody>
          <a:bodyPr>
            <a:normAutofit fontScale="90000"/>
          </a:bodyPr>
          <a:lstStyle/>
          <a:p>
            <a:r>
              <a:rPr lang="en-US" dirty="0"/>
              <a:t>Horace Walpole and others STRAWBERRY HILL</a:t>
            </a:r>
            <a:br>
              <a:rPr lang="en-US" dirty="0"/>
            </a:br>
            <a:r>
              <a:rPr lang="en-US" dirty="0" err="1"/>
              <a:t>Twickenham</a:t>
            </a:r>
            <a:r>
              <a:rPr lang="en-US" dirty="0"/>
              <a:t>, England. 1749–1776.</a:t>
            </a:r>
            <a:br>
              <a:rPr lang="en-US" dirty="0"/>
            </a:br>
            <a:r>
              <a:rPr lang="en-US" dirty="0"/>
              <a:t>Photo: Robert Neuman. </a:t>
            </a:r>
          </a:p>
        </p:txBody>
      </p:sp>
      <p:pic>
        <p:nvPicPr>
          <p:cNvPr id="2" name="Picture 1" descr="The Strawberry Hill house’s exterior is painted a brilliant white, with different wings having varying external architecture, all topped by crenellation. A wide, cylindrical tower and an attached, spire-topped tower rise from the structur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3"/>
          <p:cNvSpPr>
            <a:spLocks noGrp="1"/>
          </p:cNvSpPr>
          <p:nvPr>
            <p:ph type="title"/>
          </p:nvPr>
        </p:nvSpPr>
        <p:spPr/>
        <p:txBody>
          <a:bodyPr>
            <a:normAutofit fontScale="90000"/>
          </a:bodyPr>
          <a:lstStyle/>
          <a:p>
            <a:r>
              <a:rPr lang="en-US" dirty="0"/>
              <a:t>Horace Walpole, John Chute, and Richard Bentley PICTURE GALLERY SHOWING</a:t>
            </a:r>
            <a:br>
              <a:rPr lang="en-US" dirty="0"/>
            </a:br>
            <a:r>
              <a:rPr lang="en-US" dirty="0"/>
              <a:t>FAN-VAULTED CEILING, STRAWBERRY HILL</a:t>
            </a:r>
            <a:br>
              <a:rPr lang="en-US" dirty="0"/>
            </a:br>
            <a:r>
              <a:rPr lang="en-US" dirty="0"/>
              <a:t>After 1754.</a:t>
            </a:r>
            <a:br>
              <a:rPr lang="en-US" dirty="0"/>
            </a:br>
            <a:r>
              <a:rPr lang="en-US" dirty="0"/>
              <a:t>© </a:t>
            </a:r>
            <a:r>
              <a:rPr lang="en-US" dirty="0" err="1"/>
              <a:t>akg</a:t>
            </a:r>
            <a:r>
              <a:rPr lang="en-US" dirty="0"/>
              <a:t>-images /</a:t>
            </a:r>
            <a:r>
              <a:rPr lang="en-US" dirty="0" err="1"/>
              <a:t>A.F.Kersting</a:t>
            </a:r>
            <a:r>
              <a:rPr lang="en-US" dirty="0"/>
              <a:t>. </a:t>
            </a:r>
          </a:p>
        </p:txBody>
      </p:sp>
      <p:pic>
        <p:nvPicPr>
          <p:cNvPr id="2" name="Picture 1" descr="On the ceiling, sharply pointed lancet shapes expand outward like flower petals from knobby, downward-pointing bosse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2768"/>
            <a:ext cx="8107680" cy="5031232"/>
          </a:xfrm>
          <a:prstGeom prst="rect">
            <a:avLst/>
          </a:prstGeom>
        </p:spPr>
      </p:pic>
    </p:spTree>
  </p:cSld>
  <p:clrMapOvr>
    <a:masterClrMapping/>
  </p:clrMapOvr>
  <p:transition spd="slow" advTm="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3"/>
          <p:cNvSpPr>
            <a:spLocks noGrp="1"/>
          </p:cNvSpPr>
          <p:nvPr>
            <p:ph type="title"/>
          </p:nvPr>
        </p:nvSpPr>
        <p:spPr/>
        <p:txBody>
          <a:bodyPr/>
          <a:lstStyle/>
          <a:p>
            <a:r>
              <a:rPr lang="en-US"/>
              <a:t>Iron as a Building Material</a:t>
            </a:r>
          </a:p>
        </p:txBody>
      </p:sp>
      <p:sp>
        <p:nvSpPr>
          <p:cNvPr id="91138" name="Content Placeholder 14"/>
          <p:cNvSpPr>
            <a:spLocks noGrp="1"/>
          </p:cNvSpPr>
          <p:nvPr>
            <p:ph idx="1"/>
          </p:nvPr>
        </p:nvSpPr>
        <p:spPr/>
        <p:txBody>
          <a:bodyPr/>
          <a:lstStyle/>
          <a:p>
            <a:r>
              <a:rPr lang="en-US"/>
              <a:t>The bridge over the Severn River in England was the first large-scale example of structural metal in bridge building.</a:t>
            </a:r>
          </a:p>
          <a:p>
            <a:r>
              <a:rPr lang="en-US"/>
              <a:t>Requirements of engineering determined the form, but produced a new aesthetic that would influence cast iron works leading up to the Eiffel Tower.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3"/>
          <p:cNvSpPr>
            <a:spLocks noGrp="1"/>
          </p:cNvSpPr>
          <p:nvPr>
            <p:ph type="title"/>
          </p:nvPr>
        </p:nvSpPr>
        <p:spPr/>
        <p:txBody>
          <a:bodyPr>
            <a:normAutofit fontScale="90000"/>
          </a:bodyPr>
          <a:lstStyle/>
          <a:p>
            <a:r>
              <a:rPr lang="en-US" dirty="0"/>
              <a:t>Abraham Darby III SEVERN RIVER BRIDGE</a:t>
            </a:r>
            <a:br>
              <a:rPr lang="en-US" dirty="0"/>
            </a:br>
            <a:r>
              <a:rPr lang="en-US" dirty="0" err="1"/>
              <a:t>Coalbrookdale</a:t>
            </a:r>
            <a:r>
              <a:rPr lang="en-US" dirty="0"/>
              <a:t>, England. 1779.</a:t>
            </a:r>
            <a:br>
              <a:rPr lang="en-US" dirty="0"/>
            </a:br>
            <a:r>
              <a:rPr lang="en-US" dirty="0"/>
              <a:t>© Dorling Kindersley.</a:t>
            </a:r>
          </a:p>
        </p:txBody>
      </p:sp>
      <p:pic>
        <p:nvPicPr>
          <p:cNvPr id="2" name="Picture 1" descr="Darby’s iron bridge spans the gaps between tall stone piers, with arches supporting the nearly flat path abov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5168"/>
            <a:ext cx="8107680" cy="5031232"/>
          </a:xfrm>
          <a:prstGeom prst="rect">
            <a:avLst/>
          </a:prstGeom>
        </p:spPr>
      </p:pic>
    </p:spTree>
  </p:cSld>
  <p:clrMapOvr>
    <a:masterClrMapping/>
  </p:clrMapOvr>
  <p:transition spd="slow" advTm="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3"/>
          <p:cNvSpPr>
            <a:spLocks noGrp="1"/>
          </p:cNvSpPr>
          <p:nvPr>
            <p:ph type="title"/>
          </p:nvPr>
        </p:nvSpPr>
        <p:spPr/>
        <p:txBody>
          <a:bodyPr/>
          <a:lstStyle/>
          <a:p>
            <a:r>
              <a:rPr lang="en-US"/>
              <a:t>Trends in British Painting (1 of 12)</a:t>
            </a:r>
          </a:p>
        </p:txBody>
      </p:sp>
      <p:sp>
        <p:nvSpPr>
          <p:cNvPr id="94210" name="Content Placeholder 14"/>
          <p:cNvSpPr>
            <a:spLocks noGrp="1"/>
          </p:cNvSpPr>
          <p:nvPr>
            <p:ph idx="1"/>
          </p:nvPr>
        </p:nvSpPr>
        <p:spPr/>
        <p:txBody>
          <a:bodyPr/>
          <a:lstStyle/>
          <a:p>
            <a:r>
              <a:rPr lang="en-US"/>
              <a:t>Portraits remained popular for the patrons with means to commission them.</a:t>
            </a:r>
          </a:p>
          <a:p>
            <a:r>
              <a:rPr lang="en-US"/>
              <a:t>A taste developed for subjects that reflected the social change, embrace of natural beauty, and enthusiasm for technology that grew within Britain.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3"/>
          <p:cNvSpPr>
            <a:spLocks noGrp="1"/>
          </p:cNvSpPr>
          <p:nvPr>
            <p:ph type="title"/>
          </p:nvPr>
        </p:nvSpPr>
        <p:spPr/>
        <p:txBody>
          <a:bodyPr/>
          <a:lstStyle/>
          <a:p>
            <a:r>
              <a:rPr lang="en-US"/>
              <a:t>Trends in British Painting (2 of 12)</a:t>
            </a:r>
          </a:p>
        </p:txBody>
      </p:sp>
      <p:sp>
        <p:nvSpPr>
          <p:cNvPr id="95234" name="Content Placeholder 14"/>
          <p:cNvSpPr>
            <a:spLocks noGrp="1"/>
          </p:cNvSpPr>
          <p:nvPr>
            <p:ph idx="1"/>
          </p:nvPr>
        </p:nvSpPr>
        <p:spPr/>
        <p:txBody>
          <a:bodyPr/>
          <a:lstStyle/>
          <a:p>
            <a:r>
              <a:rPr lang="en-US"/>
              <a:t>The Satiric Spirit</a:t>
            </a:r>
          </a:p>
          <a:p>
            <a:pPr lvl="1"/>
            <a:r>
              <a:rPr lang="en-US"/>
              <a:t>William Hogarth invented moralizing paintings that the then turned into prints to sell as a set to the public.</a:t>
            </a:r>
          </a:p>
          <a:p>
            <a:pPr lvl="2"/>
            <a:r>
              <a:rPr lang="en-US" i="1"/>
              <a:t>The Marriage à la Mode </a:t>
            </a:r>
            <a:r>
              <a:rPr lang="en-US"/>
              <a:t>series promoted marriage based on love.</a:t>
            </a:r>
          </a:p>
          <a:p>
            <a:pPr lvl="2"/>
            <a:r>
              <a:rPr lang="en-US" i="1"/>
              <a:t>The Marriage Contract </a:t>
            </a:r>
            <a:r>
              <a:rPr lang="en-US"/>
              <a:t>shows a lord arranging for his son to marry the daughter of a wealthy merchant, and the betrothed couple is entirely loveless.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3"/>
          <p:cNvSpPr>
            <a:spLocks noGrp="1"/>
          </p:cNvSpPr>
          <p:nvPr>
            <p:ph type="title"/>
          </p:nvPr>
        </p:nvSpPr>
        <p:spPr/>
        <p:txBody>
          <a:bodyPr>
            <a:normAutofit fontScale="90000"/>
          </a:bodyPr>
          <a:lstStyle/>
          <a:p>
            <a:r>
              <a:rPr lang="en-US" dirty="0"/>
              <a:t>William Hogarth THE MARRIAGE CONTRACT</a:t>
            </a:r>
            <a:br>
              <a:rPr lang="en-US" dirty="0"/>
            </a:br>
            <a:r>
              <a:rPr lang="en-US" dirty="0"/>
              <a:t>From </a:t>
            </a:r>
            <a:r>
              <a:rPr lang="en-US" i="1" dirty="0"/>
              <a:t>Marriage </a:t>
            </a:r>
            <a:r>
              <a:rPr lang="en-US" i="1" dirty="0" err="1"/>
              <a:t>à</a:t>
            </a:r>
            <a:r>
              <a:rPr lang="en-US" i="1" dirty="0"/>
              <a:t> la Mode</a:t>
            </a:r>
            <a:r>
              <a:rPr lang="en-US" dirty="0"/>
              <a:t>, 1743–1745.</a:t>
            </a:r>
            <a:br>
              <a:rPr lang="en-US" dirty="0"/>
            </a:br>
            <a:r>
              <a:rPr lang="en-US" dirty="0"/>
              <a:t>Oil on canvas, 27-1/2</a:t>
            </a:r>
            <a:r>
              <a:rPr lang="ru-RU" dirty="0"/>
              <a:t>"</a:t>
            </a:r>
            <a:r>
              <a:rPr lang="en-US" dirty="0"/>
              <a:t> × 35-3/4</a:t>
            </a:r>
            <a:r>
              <a:rPr lang="ru-RU" dirty="0"/>
              <a:t>"</a:t>
            </a:r>
            <a:r>
              <a:rPr lang="en-US" dirty="0"/>
              <a:t> (69.9 × 90.8 cm).</a:t>
            </a:r>
            <a:br>
              <a:rPr lang="en-US" dirty="0"/>
            </a:br>
            <a:r>
              <a:rPr lang="en-US" dirty="0"/>
              <a:t>National Gallery, London. © 2016. Copyright The National Gallery, London/Scala, Florence.</a:t>
            </a:r>
          </a:p>
        </p:txBody>
      </p:sp>
      <p:pic>
        <p:nvPicPr>
          <p:cNvPr id="2" name="Picture 1" descr="The scene is a lavish sitting room, decorated by paintings and drapery. Three lawyers attend the signing of the contract: one reads by light from an open window, another discusses documents, and the third speaks to the weeping bride-to-b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3"/>
          <p:cNvSpPr>
            <a:spLocks noGrp="1"/>
          </p:cNvSpPr>
          <p:nvPr>
            <p:ph type="title"/>
          </p:nvPr>
        </p:nvSpPr>
        <p:spPr/>
        <p:txBody>
          <a:bodyPr/>
          <a:lstStyle/>
          <a:p>
            <a:r>
              <a:rPr lang="en-US"/>
              <a:t>Trends in British Painting (3 of 12)</a:t>
            </a:r>
          </a:p>
        </p:txBody>
      </p:sp>
      <p:sp>
        <p:nvSpPr>
          <p:cNvPr id="98306" name="Content Placeholder 14"/>
          <p:cNvSpPr>
            <a:spLocks noGrp="1"/>
          </p:cNvSpPr>
          <p:nvPr>
            <p:ph idx="1"/>
          </p:nvPr>
        </p:nvSpPr>
        <p:spPr/>
        <p:txBody>
          <a:bodyPr/>
          <a:lstStyle/>
          <a:p>
            <a:r>
              <a:rPr lang="en-US"/>
              <a:t>The Satiric Spirit</a:t>
            </a:r>
          </a:p>
          <a:p>
            <a:pPr lvl="1"/>
            <a:r>
              <a:rPr lang="en-US"/>
              <a:t>Hogarth intended to create a distinctively British style without obscure mythological references.</a:t>
            </a:r>
          </a:p>
          <a:p>
            <a:pPr lvl="2"/>
            <a:r>
              <a:rPr lang="en-US"/>
              <a:t>Entertaining and amusing audiences while emphasizing the downfalls of the aristocracy led to the popularity of his works.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3"/>
          <p:cNvSpPr>
            <a:spLocks noGrp="1"/>
          </p:cNvSpPr>
          <p:nvPr>
            <p:ph type="title"/>
          </p:nvPr>
        </p:nvSpPr>
        <p:spPr/>
        <p:txBody>
          <a:bodyPr/>
          <a:lstStyle/>
          <a:p>
            <a:r>
              <a:rPr lang="en-US"/>
              <a:t>Trends in British Painting (4 of 12)</a:t>
            </a:r>
          </a:p>
        </p:txBody>
      </p:sp>
      <p:sp>
        <p:nvSpPr>
          <p:cNvPr id="99330" name="Content Placeholder 14"/>
          <p:cNvSpPr>
            <a:spLocks noGrp="1"/>
          </p:cNvSpPr>
          <p:nvPr>
            <p:ph idx="1"/>
          </p:nvPr>
        </p:nvSpPr>
        <p:spPr/>
        <p:txBody>
          <a:bodyPr/>
          <a:lstStyle/>
          <a:p>
            <a:r>
              <a:rPr lang="en-US"/>
              <a:t>Portraiture</a:t>
            </a:r>
          </a:p>
          <a:p>
            <a:pPr lvl="1"/>
            <a:r>
              <a:rPr lang="en-US"/>
              <a:t>Sir Joshua Reynolds was appointed the first president of the Royal Academy.</a:t>
            </a:r>
          </a:p>
          <a:p>
            <a:pPr lvl="1"/>
            <a:r>
              <a:rPr lang="en-US"/>
              <a:t>Combining his own taste for history paintings with patrons</a:t>
            </a:r>
            <a:r>
              <a:rPr lang="uk-UA"/>
              <a:t>'</a:t>
            </a:r>
            <a:r>
              <a:rPr lang="en-US"/>
              <a:t> desire for portraits, he developed the </a:t>
            </a:r>
            <a:r>
              <a:rPr lang="en-US" b="1"/>
              <a:t>Grand Manner </a:t>
            </a:r>
            <a:r>
              <a:rPr lang="en-US"/>
              <a:t>style.</a:t>
            </a:r>
          </a:p>
          <a:p>
            <a:pPr lvl="2"/>
            <a:r>
              <a:rPr lang="en-US"/>
              <a:t>Large scale and Classical details characterize this style.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3"/>
          <p:cNvSpPr>
            <a:spLocks noGrp="1"/>
          </p:cNvSpPr>
          <p:nvPr>
            <p:ph type="title"/>
          </p:nvPr>
        </p:nvSpPr>
        <p:spPr/>
        <p:txBody>
          <a:bodyPr>
            <a:normAutofit fontScale="90000"/>
          </a:bodyPr>
          <a:lstStyle/>
          <a:p>
            <a:r>
              <a:rPr lang="en-US" dirty="0"/>
              <a:t>Joshua Reynolds LADY SARAH BUNBURY SACRIFICING TO THE GRACES</a:t>
            </a:r>
            <a:br>
              <a:rPr lang="en-US" dirty="0"/>
            </a:br>
            <a:r>
              <a:rPr lang="en-US" dirty="0"/>
              <a:t>1765. Oil on canvas, 7</a:t>
            </a:r>
            <a:r>
              <a:rPr lang="uk-UA" dirty="0"/>
              <a:t>'</a:t>
            </a:r>
            <a:r>
              <a:rPr lang="en-US" dirty="0"/>
              <a:t>10</a:t>
            </a:r>
            <a:r>
              <a:rPr lang="ru-RU" dirty="0"/>
              <a:t>"</a:t>
            </a:r>
            <a:r>
              <a:rPr lang="en-US" dirty="0"/>
              <a:t> × 5</a:t>
            </a:r>
            <a:r>
              <a:rPr lang="uk-UA" dirty="0"/>
              <a:t>'</a:t>
            </a:r>
            <a:r>
              <a:rPr lang="en-US" dirty="0"/>
              <a:t> (2.42 × 1.53 m).</a:t>
            </a:r>
            <a:br>
              <a:rPr lang="en-US" dirty="0"/>
            </a:br>
            <a:r>
              <a:rPr lang="en-US" dirty="0"/>
              <a:t>The Art Institute of Chicago. Mr. and Mrs. W. W. Kimball Collection, 1922.4468.</a:t>
            </a:r>
            <a:br>
              <a:rPr lang="en-US" dirty="0"/>
            </a:br>
            <a:r>
              <a:rPr lang="en-US" dirty="0"/>
              <a:t>© </a:t>
            </a:r>
            <a:r>
              <a:rPr lang="en-US" dirty="0" err="1"/>
              <a:t>akg</a:t>
            </a:r>
            <a:r>
              <a:rPr lang="en-US" dirty="0"/>
              <a:t>-images/De Agostini Picture Lib. </a:t>
            </a:r>
          </a:p>
        </p:txBody>
      </p:sp>
      <p:pic>
        <p:nvPicPr>
          <p:cNvPr id="2" name="Picture 1" descr="A pale-skinned, dark-haired woman kneels on a cushioned bench before a flaming brazier. She pours the contents of a small bowl into the flame as she gazes up at a statue of three nude women, representing the Grace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Title 13"/>
          <p:cNvSpPr>
            <a:spLocks noGrp="1"/>
          </p:cNvSpPr>
          <p:nvPr>
            <p:ph type="title"/>
          </p:nvPr>
        </p:nvSpPr>
        <p:spPr/>
        <p:txBody>
          <a:bodyPr/>
          <a:lstStyle/>
          <a:p>
            <a:r>
              <a:rPr lang="en-US"/>
              <a:t>Trends in British Painting (5 of 12)</a:t>
            </a:r>
          </a:p>
        </p:txBody>
      </p:sp>
      <p:sp>
        <p:nvSpPr>
          <p:cNvPr id="102402" name="Content Placeholder 14"/>
          <p:cNvSpPr>
            <a:spLocks noGrp="1"/>
          </p:cNvSpPr>
          <p:nvPr>
            <p:ph idx="1"/>
          </p:nvPr>
        </p:nvSpPr>
        <p:spPr/>
        <p:txBody>
          <a:bodyPr/>
          <a:lstStyle/>
          <a:p>
            <a:r>
              <a:rPr lang="en-US"/>
              <a:t>Portraiture</a:t>
            </a:r>
          </a:p>
          <a:p>
            <a:pPr lvl="1"/>
            <a:r>
              <a:rPr lang="en-US"/>
              <a:t>The emphasis on setting in Thomas Gainsborough</a:t>
            </a:r>
            <a:r>
              <a:rPr lang="uk-UA"/>
              <a:t>'</a:t>
            </a:r>
            <a:r>
              <a:rPr lang="en-US"/>
              <a:t>s portrait of </a:t>
            </a:r>
            <a:r>
              <a:rPr lang="en-US" i="1"/>
              <a:t>Robert Andrews and Frances Carter </a:t>
            </a:r>
            <a:r>
              <a:rPr lang="en-US"/>
              <a:t>almost turns it into a landscape painting.</a:t>
            </a:r>
          </a:p>
          <a:p>
            <a:pPr lvl="2"/>
            <a:r>
              <a:rPr lang="en-US"/>
              <a:t>Informal poses and natural landscapes were originally introduced by Van Dyck in the 1620s.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le 3"/>
          <p:cNvSpPr>
            <a:spLocks noGrp="1"/>
          </p:cNvSpPr>
          <p:nvPr>
            <p:ph type="title"/>
          </p:nvPr>
        </p:nvSpPr>
        <p:spPr/>
        <p:txBody>
          <a:bodyPr>
            <a:normAutofit fontScale="90000"/>
          </a:bodyPr>
          <a:lstStyle/>
          <a:p>
            <a:r>
              <a:rPr lang="en-US" dirty="0"/>
              <a:t>Thomas Gainsborough ROBERT ANDREWS AND FRANCES CARTER</a:t>
            </a:r>
            <a:br>
              <a:rPr lang="en-US" dirty="0"/>
            </a:br>
            <a:r>
              <a:rPr lang="en-US" dirty="0"/>
              <a:t>(MR. AND MRS. ANDREWS)</a:t>
            </a:r>
            <a:br>
              <a:rPr lang="en-US" dirty="0"/>
            </a:br>
            <a:r>
              <a:rPr lang="en-US" dirty="0"/>
              <a:t>c. 1748–1750. Oil on canvas, 27-1/2</a:t>
            </a:r>
            <a:r>
              <a:rPr lang="ru-RU" dirty="0"/>
              <a:t>"</a:t>
            </a:r>
            <a:r>
              <a:rPr lang="en-US" dirty="0"/>
              <a:t> × 47</a:t>
            </a:r>
            <a:r>
              <a:rPr lang="ru-RU" dirty="0"/>
              <a:t>"</a:t>
            </a:r>
            <a:r>
              <a:rPr lang="en-US" dirty="0"/>
              <a:t> (69.7 × 119.3 cm).</a:t>
            </a:r>
            <a:br>
              <a:rPr lang="en-US" dirty="0"/>
            </a:br>
            <a:r>
              <a:rPr lang="en-US" dirty="0"/>
              <a:t>National Gallery, London. © 2016. Copyright The National Gallery, London/Scala, Florence. </a:t>
            </a:r>
          </a:p>
        </p:txBody>
      </p:sp>
      <p:pic>
        <p:nvPicPr>
          <p:cNvPr id="2" name="Picture 1" descr="A woman in a blue dress and white bonnet sits on an iron bench under a tree, near a partially harvested wheat field. Her husband leans against the bench, as if taking a break in the middle of hunting with his dog.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Title 13"/>
          <p:cNvSpPr>
            <a:spLocks noGrp="1"/>
          </p:cNvSpPr>
          <p:nvPr>
            <p:ph type="title"/>
          </p:nvPr>
        </p:nvSpPr>
        <p:spPr/>
        <p:txBody>
          <a:bodyPr/>
          <a:lstStyle/>
          <a:p>
            <a:r>
              <a:rPr lang="en-US"/>
              <a:t>Trends in British Painting (6 of 12)</a:t>
            </a:r>
          </a:p>
        </p:txBody>
      </p:sp>
      <p:sp>
        <p:nvSpPr>
          <p:cNvPr id="105474" name="Content Placeholder 14"/>
          <p:cNvSpPr>
            <a:spLocks noGrp="1"/>
          </p:cNvSpPr>
          <p:nvPr>
            <p:ph idx="1"/>
          </p:nvPr>
        </p:nvSpPr>
        <p:spPr/>
        <p:txBody>
          <a:bodyPr/>
          <a:lstStyle/>
          <a:p>
            <a:r>
              <a:rPr lang="en-US"/>
              <a:t>The Romance of Science</a:t>
            </a:r>
          </a:p>
          <a:p>
            <a:pPr lvl="1"/>
            <a:r>
              <a:rPr lang="en-US" i="1"/>
              <a:t>An Experiment on a Bird in the Air-pump </a:t>
            </a:r>
            <a:r>
              <a:rPr lang="en-US"/>
              <a:t>is Joseph Wright of Derby</a:t>
            </a:r>
            <a:r>
              <a:rPr lang="uk-UA"/>
              <a:t>'</a:t>
            </a:r>
            <a:r>
              <a:rPr lang="en-US"/>
              <a:t>s example of the Enlightenment fascination with the drama and romance of science.</a:t>
            </a:r>
          </a:p>
          <a:p>
            <a:pPr lvl="2"/>
            <a:r>
              <a:rPr lang="en-US"/>
              <a:t>In it, an experiment removed the air from a glass bowl until a bird collapsed from lack of oxygen, but the bird is quickly revived.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le 3"/>
          <p:cNvSpPr>
            <a:spLocks noGrp="1"/>
          </p:cNvSpPr>
          <p:nvPr>
            <p:ph type="title"/>
          </p:nvPr>
        </p:nvSpPr>
        <p:spPr/>
        <p:txBody>
          <a:bodyPr>
            <a:normAutofit fontScale="90000"/>
          </a:bodyPr>
          <a:lstStyle/>
          <a:p>
            <a:r>
              <a:rPr lang="en-US" dirty="0"/>
              <a:t>Joseph Wright of Derby AN EXPERIMENT ON A BIRD IN THE AIR-PUMP</a:t>
            </a:r>
            <a:br>
              <a:rPr lang="en-US" dirty="0"/>
            </a:br>
            <a:r>
              <a:rPr lang="en-US" dirty="0"/>
              <a:t>1768. Oil on canvas, 6</a:t>
            </a:r>
            <a:r>
              <a:rPr lang="uk-UA" dirty="0"/>
              <a:t>'</a:t>
            </a:r>
            <a:r>
              <a:rPr lang="en-US" dirty="0"/>
              <a:t> × 8</a:t>
            </a:r>
            <a:r>
              <a:rPr lang="uk-UA" dirty="0"/>
              <a:t>'</a:t>
            </a:r>
            <a:r>
              <a:rPr lang="en-US" dirty="0"/>
              <a:t> (1.82 × 2.43 m).</a:t>
            </a:r>
            <a:br>
              <a:rPr lang="en-US" dirty="0"/>
            </a:br>
            <a:r>
              <a:rPr lang="en-US" dirty="0"/>
              <a:t>National Gallery, London. © 2016. Copyright The National Gallery, London/Scala, Florence.</a:t>
            </a:r>
          </a:p>
        </p:txBody>
      </p:sp>
      <p:pic>
        <p:nvPicPr>
          <p:cNvPr id="2" name="Picture 1" descr="Men, women, and children gather around a table in a darkened room, where a large glass bowl is set atop a tall pedestal, attached to wires or hoses. Two girls’ expressions turn sad at seeing the bird in the bowl seem to di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3"/>
          <p:cNvSpPr>
            <a:spLocks noGrp="1"/>
          </p:cNvSpPr>
          <p:nvPr>
            <p:ph type="title"/>
          </p:nvPr>
        </p:nvSpPr>
        <p:spPr/>
        <p:txBody>
          <a:bodyPr/>
          <a:lstStyle/>
          <a:p>
            <a:r>
              <a:rPr lang="en-US"/>
              <a:t>Trends in British Painting (7 of 12)</a:t>
            </a:r>
          </a:p>
        </p:txBody>
      </p:sp>
      <p:sp>
        <p:nvSpPr>
          <p:cNvPr id="108546" name="Content Placeholder 14"/>
          <p:cNvSpPr>
            <a:spLocks noGrp="1"/>
          </p:cNvSpPr>
          <p:nvPr>
            <p:ph idx="1"/>
          </p:nvPr>
        </p:nvSpPr>
        <p:spPr/>
        <p:txBody>
          <a:bodyPr/>
          <a:lstStyle/>
          <a:p>
            <a:r>
              <a:rPr lang="en-US"/>
              <a:t>Academies and Academy Exhibitions</a:t>
            </a:r>
          </a:p>
          <a:p>
            <a:pPr lvl="1"/>
            <a:r>
              <a:rPr lang="en-US" b="1"/>
              <a:t>History paintings </a:t>
            </a:r>
            <a:r>
              <a:rPr lang="en-US"/>
              <a:t>were relegated to the highest place in the Academy</a:t>
            </a:r>
            <a:r>
              <a:rPr lang="uk-UA"/>
              <a:t>'</a:t>
            </a:r>
            <a:r>
              <a:rPr lang="en-US"/>
              <a:t>s hierarchy of genres.</a:t>
            </a:r>
          </a:p>
          <a:p>
            <a:pPr lvl="1"/>
            <a:r>
              <a:rPr lang="en-US"/>
              <a:t>The competitive </a:t>
            </a:r>
            <a:r>
              <a:rPr lang="ru-RU"/>
              <a:t>"</a:t>
            </a:r>
            <a:r>
              <a:rPr lang="en-US"/>
              <a:t>Prix de Rome</a:t>
            </a:r>
            <a:r>
              <a:rPr lang="ru-RU"/>
              <a:t>"</a:t>
            </a:r>
            <a:r>
              <a:rPr lang="en-US"/>
              <a:t> enabled winners to study in Rome for 3–5 years.</a:t>
            </a:r>
          </a:p>
          <a:p>
            <a:pPr lvl="1"/>
            <a:r>
              <a:rPr lang="en-US"/>
              <a:t>Only seven women were admitted between 1648–1706, and admission was limited to four thereafter.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le 3"/>
          <p:cNvSpPr>
            <a:spLocks noGrp="1"/>
          </p:cNvSpPr>
          <p:nvPr>
            <p:ph type="title"/>
          </p:nvPr>
        </p:nvSpPr>
        <p:spPr/>
        <p:txBody>
          <a:bodyPr>
            <a:normAutofit fontScale="90000"/>
          </a:bodyPr>
          <a:lstStyle/>
          <a:p>
            <a:r>
              <a:rPr lang="en-US" dirty="0"/>
              <a:t>Johann </a:t>
            </a:r>
            <a:r>
              <a:rPr lang="en-US" dirty="0" err="1"/>
              <a:t>Zoffany</a:t>
            </a:r>
            <a:r>
              <a:rPr lang="en-US" dirty="0"/>
              <a:t> ACADEMICIANS OF THE ROYAL ACADEMY</a:t>
            </a:r>
            <a:br>
              <a:rPr lang="en-US" dirty="0"/>
            </a:br>
            <a:r>
              <a:rPr lang="en-US" dirty="0"/>
              <a:t>1771–1772. Oil on canvas, 47-1/2</a:t>
            </a:r>
            <a:r>
              <a:rPr lang="ru-RU" dirty="0"/>
              <a:t>"</a:t>
            </a:r>
            <a:r>
              <a:rPr lang="en-US" dirty="0"/>
              <a:t> × 59-1/2</a:t>
            </a:r>
            <a:r>
              <a:rPr lang="ru-RU" dirty="0"/>
              <a:t>"</a:t>
            </a:r>
            <a:r>
              <a:rPr lang="en-US" dirty="0"/>
              <a:t> (120.6 × 151.2 cm).</a:t>
            </a:r>
            <a:br>
              <a:rPr lang="en-US" dirty="0"/>
            </a:br>
            <a:r>
              <a:rPr lang="en-US" dirty="0"/>
              <a:t>The Royal Collection, Windsor Castle, England. Royal Collection Trust © Her Majesty Queen Elizabeth II, 2016/. Bridgeman Images. </a:t>
            </a:r>
          </a:p>
        </p:txBody>
      </p:sp>
      <p:pic>
        <p:nvPicPr>
          <p:cNvPr id="2" name="Picture 1" descr="Well-dressed men gather in a large room, lit by oil lamps. Each wall features displays of sculpture or painting. On one side, two of the men begin undressi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Title 13"/>
          <p:cNvSpPr>
            <a:spLocks noGrp="1"/>
          </p:cNvSpPr>
          <p:nvPr>
            <p:ph type="title"/>
          </p:nvPr>
        </p:nvSpPr>
        <p:spPr/>
        <p:txBody>
          <a:bodyPr/>
          <a:lstStyle/>
          <a:p>
            <a:r>
              <a:rPr lang="en-US"/>
              <a:t>Trends in British Painting (8 of 12)</a:t>
            </a:r>
          </a:p>
        </p:txBody>
      </p:sp>
      <p:sp>
        <p:nvSpPr>
          <p:cNvPr id="111618" name="Content Placeholder 14"/>
          <p:cNvSpPr>
            <a:spLocks noGrp="1"/>
          </p:cNvSpPr>
          <p:nvPr>
            <p:ph idx="1"/>
          </p:nvPr>
        </p:nvSpPr>
        <p:spPr/>
        <p:txBody>
          <a:bodyPr/>
          <a:lstStyle/>
          <a:p>
            <a:r>
              <a:rPr lang="en-US"/>
              <a:t>History Painting</a:t>
            </a:r>
          </a:p>
          <a:p>
            <a:pPr lvl="1"/>
            <a:r>
              <a:rPr lang="en-US"/>
              <a:t>Angelica Kauffmann embarked on an independent career in history painting despite the trend of women specializing in portraiture or still life.</a:t>
            </a:r>
          </a:p>
          <a:p>
            <a:pPr lvl="2"/>
            <a:r>
              <a:rPr lang="en-US" i="1"/>
              <a:t>Cornelia Pointing to Her Children as Her Treasures </a:t>
            </a:r>
            <a:r>
              <a:rPr lang="en-US"/>
              <a:t>illustrates a moral lesson from ancient Republican Rome, and glorifies the idealized </a:t>
            </a:r>
            <a:r>
              <a:rPr lang="ru-RU"/>
              <a:t>"</a:t>
            </a:r>
            <a:r>
              <a:rPr lang="en-US"/>
              <a:t>good mother.</a:t>
            </a:r>
            <a:r>
              <a:rPr lang="ru-RU"/>
              <a:t>"</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3"/>
          <p:cNvSpPr>
            <a:spLocks noGrp="1"/>
          </p:cNvSpPr>
          <p:nvPr>
            <p:ph type="title"/>
          </p:nvPr>
        </p:nvSpPr>
        <p:spPr/>
        <p:txBody>
          <a:bodyPr>
            <a:normAutofit fontScale="90000"/>
          </a:bodyPr>
          <a:lstStyle/>
          <a:p>
            <a:r>
              <a:rPr lang="en-US" dirty="0"/>
              <a:t>Angelica Kauffmann CORNELIA POINTING TO HER CHILDREN AS HER TREASURES</a:t>
            </a:r>
            <a:br>
              <a:rPr lang="en-US" dirty="0"/>
            </a:br>
            <a:r>
              <a:rPr lang="en-US" dirty="0"/>
              <a:t>c. 1785. Oil on canvas, 40 × 50</a:t>
            </a:r>
            <a:r>
              <a:rPr lang="ru-RU" dirty="0"/>
              <a:t>"</a:t>
            </a:r>
            <a:r>
              <a:rPr lang="en-US" dirty="0"/>
              <a:t> (101.6 × 127 cm).</a:t>
            </a:r>
            <a:br>
              <a:rPr lang="en-US" dirty="0"/>
            </a:br>
            <a:r>
              <a:rPr lang="en-US" dirty="0"/>
              <a:t>Virginia Museum of Fine Arts, Richmond, Virginia. The Adolph D. and Wilkins C. Williams Fund. Virginia Museum of Fine Arts, Richmond. Photo: Katherine Wetzel. </a:t>
            </a:r>
          </a:p>
        </p:txBody>
      </p:sp>
      <p:pic>
        <p:nvPicPr>
          <p:cNvPr id="2" name="Picture 1" descr="The woman visiting Cornelia’s home wears a bright red drape. Cornelia’s drape is tan, like the walls around her, but her children wear orange, pink, and red.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3"/>
          <p:cNvSpPr>
            <a:spLocks noGrp="1"/>
          </p:cNvSpPr>
          <p:nvPr>
            <p:ph type="title"/>
          </p:nvPr>
        </p:nvSpPr>
        <p:spPr/>
        <p:txBody>
          <a:bodyPr/>
          <a:lstStyle/>
          <a:p>
            <a:r>
              <a:rPr lang="en-US"/>
              <a:t>Trends in British Painting (9 of 12)</a:t>
            </a:r>
          </a:p>
        </p:txBody>
      </p:sp>
      <p:sp>
        <p:nvSpPr>
          <p:cNvPr id="114690" name="Content Placeholder 14"/>
          <p:cNvSpPr>
            <a:spLocks noGrp="1"/>
          </p:cNvSpPr>
          <p:nvPr>
            <p:ph idx="1"/>
          </p:nvPr>
        </p:nvSpPr>
        <p:spPr/>
        <p:txBody>
          <a:bodyPr/>
          <a:lstStyle/>
          <a:p>
            <a:r>
              <a:rPr lang="en-US"/>
              <a:t>History Painting</a:t>
            </a:r>
          </a:p>
          <a:p>
            <a:pPr lvl="1"/>
            <a:r>
              <a:rPr lang="en-US"/>
              <a:t>American-born Benjamin West broke with tradition in his </a:t>
            </a:r>
            <a:r>
              <a:rPr lang="en-US" i="1"/>
              <a:t>The Death of General Wolfe.</a:t>
            </a:r>
          </a:p>
          <a:p>
            <a:pPr lvl="2"/>
            <a:r>
              <a:rPr lang="en-US"/>
              <a:t>It was a </a:t>
            </a:r>
            <a:r>
              <a:rPr lang="ru-RU"/>
              <a:t>"</a:t>
            </a:r>
            <a:r>
              <a:rPr lang="en-US"/>
              <a:t>modern history</a:t>
            </a:r>
            <a:r>
              <a:rPr lang="ru-RU"/>
              <a:t>"</a:t>
            </a:r>
            <a:r>
              <a:rPr lang="en-US"/>
              <a:t> painting depicting a contemporary subject in an elevated scene not meant to be perceived as an objective recording.</a:t>
            </a:r>
          </a:p>
          <a:p>
            <a:pPr lvl="2"/>
            <a:r>
              <a:rPr lang="en-US"/>
              <a:t>Poses suggest a Lamentation of the dead Christ.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3"/>
          <p:cNvSpPr>
            <a:spLocks noGrp="1"/>
          </p:cNvSpPr>
          <p:nvPr>
            <p:ph type="title"/>
          </p:nvPr>
        </p:nvSpPr>
        <p:spPr/>
        <p:txBody>
          <a:bodyPr>
            <a:normAutofit fontScale="90000"/>
          </a:bodyPr>
          <a:lstStyle/>
          <a:p>
            <a:r>
              <a:rPr lang="en-US" dirty="0"/>
              <a:t>Benjamin West THE DEATH OF GENERAL WOLFE</a:t>
            </a:r>
            <a:br>
              <a:rPr lang="en-US" dirty="0"/>
            </a:br>
            <a:r>
              <a:rPr lang="en-US" dirty="0"/>
              <a:t>1770. Oil on canvas, 4</a:t>
            </a:r>
            <a:r>
              <a:rPr lang="uk-UA" dirty="0"/>
              <a:t>'</a:t>
            </a:r>
            <a:r>
              <a:rPr lang="en-US" dirty="0"/>
              <a:t>11-1/2</a:t>
            </a:r>
            <a:r>
              <a:rPr lang="ru-RU" dirty="0"/>
              <a:t>"</a:t>
            </a:r>
            <a:r>
              <a:rPr lang="en-US" dirty="0"/>
              <a:t> × 7</a:t>
            </a:r>
            <a:r>
              <a:rPr lang="uk-UA" dirty="0"/>
              <a:t>'</a:t>
            </a:r>
            <a:r>
              <a:rPr lang="en-US" dirty="0"/>
              <a:t> (1.51 × 2.14 m).</a:t>
            </a:r>
            <a:br>
              <a:rPr lang="en-US" dirty="0"/>
            </a:br>
            <a:r>
              <a:rPr lang="en-US" dirty="0"/>
              <a:t>National Gallery of Canada, Ottawa. Transfer from the Canadian War Memorials, 1921. Gift of the 2nd Duke of Westminster, Eaton Hall, Cheshire, 1918. National Gallery of Canada, Ottawa. </a:t>
            </a:r>
          </a:p>
        </p:txBody>
      </p:sp>
      <p:pic>
        <p:nvPicPr>
          <p:cNvPr id="2" name="Picture 1" descr="Englishmen, Frenchmen, and a single Native American huddle around the fallen British general, watching and listening carefully in the last moments before he dies. Behind this scene, the battle for Montreal continue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3"/>
          <p:cNvSpPr>
            <a:spLocks noGrp="1"/>
          </p:cNvSpPr>
          <p:nvPr>
            <p:ph type="title"/>
          </p:nvPr>
        </p:nvSpPr>
        <p:spPr/>
        <p:txBody>
          <a:bodyPr/>
          <a:lstStyle/>
          <a:p>
            <a:r>
              <a:rPr lang="en-US"/>
              <a:t>Trends in British Painting (10 of 12)</a:t>
            </a:r>
          </a:p>
        </p:txBody>
      </p:sp>
      <p:sp>
        <p:nvSpPr>
          <p:cNvPr id="117762" name="Content Placeholder 14"/>
          <p:cNvSpPr>
            <a:spLocks noGrp="1"/>
          </p:cNvSpPr>
          <p:nvPr>
            <p:ph idx="1"/>
          </p:nvPr>
        </p:nvSpPr>
        <p:spPr/>
        <p:txBody>
          <a:bodyPr/>
          <a:lstStyle/>
          <a:p>
            <a:r>
              <a:rPr lang="en-US"/>
              <a:t>Romantic Painting</a:t>
            </a:r>
          </a:p>
          <a:p>
            <a:pPr lvl="1"/>
            <a:r>
              <a:rPr lang="en-US"/>
              <a:t>John Henry Fuseli glorified Romanticism in works such as </a:t>
            </a:r>
            <a:r>
              <a:rPr lang="en-US" i="1"/>
              <a:t>The Nightmare</a:t>
            </a:r>
            <a:r>
              <a:rPr lang="en-US"/>
              <a:t>, which was both irrational and erotic in its depiction of a sleeping woman oppressed by a demon sitting on her chest.</a:t>
            </a:r>
          </a:p>
          <a:p>
            <a:pPr lvl="2"/>
            <a:r>
              <a:rPr lang="en-US"/>
              <a:t>A horse bursting into the scene from the curtains adds frightening effect.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itle 3"/>
          <p:cNvSpPr>
            <a:spLocks noGrp="1"/>
          </p:cNvSpPr>
          <p:nvPr>
            <p:ph type="title"/>
          </p:nvPr>
        </p:nvSpPr>
        <p:spPr/>
        <p:txBody>
          <a:bodyPr>
            <a:normAutofit fontScale="90000"/>
          </a:bodyPr>
          <a:lstStyle/>
          <a:p>
            <a:r>
              <a:rPr lang="en-US" dirty="0"/>
              <a:t>John Henry Fuseli THE NIGHTMARE</a:t>
            </a:r>
            <a:br>
              <a:rPr lang="en-US" dirty="0"/>
            </a:br>
            <a:r>
              <a:rPr lang="en-US" dirty="0"/>
              <a:t>1781. Oil on canvas, 39-3/4</a:t>
            </a:r>
            <a:r>
              <a:rPr lang="ru-RU" dirty="0"/>
              <a:t>"</a:t>
            </a:r>
            <a:r>
              <a:rPr lang="en-US" dirty="0"/>
              <a:t> × 49-1/2</a:t>
            </a:r>
            <a:r>
              <a:rPr lang="ru-RU" dirty="0"/>
              <a:t>"</a:t>
            </a:r>
            <a:r>
              <a:rPr lang="en-US" dirty="0"/>
              <a:t> (101 × 127 cm).</a:t>
            </a:r>
            <a:br>
              <a:rPr lang="en-US" dirty="0"/>
            </a:br>
            <a:r>
              <a:rPr lang="en-US" dirty="0"/>
              <a:t>The Detroit Institute of Arts. Founders Society purchase with Mr. and Mrs. Bert L. </a:t>
            </a:r>
            <a:r>
              <a:rPr lang="en-US" dirty="0" err="1"/>
              <a:t>Smokler</a:t>
            </a:r>
            <a:r>
              <a:rPr lang="en-US" dirty="0"/>
              <a:t> and Mr. and Mrs. Lawrence A. Fleischmann funds. Bridgeman Images</a:t>
            </a:r>
          </a:p>
        </p:txBody>
      </p:sp>
      <p:pic>
        <p:nvPicPr>
          <p:cNvPr id="2" name="Picture 1" descr="The creature sitting on the erotically posed woman resembles a gargoyle, with large, pointed ears, small horns on its forehead, and beady red eyes, turned toward the viewer.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3"/>
          <p:cNvSpPr>
            <a:spLocks noGrp="1"/>
          </p:cNvSpPr>
          <p:nvPr>
            <p:ph type="title"/>
          </p:nvPr>
        </p:nvSpPr>
        <p:spPr/>
        <p:txBody>
          <a:bodyPr/>
          <a:lstStyle/>
          <a:p>
            <a:r>
              <a:rPr lang="en-US"/>
              <a:t>Trends in British Painting (11 of 12)</a:t>
            </a:r>
          </a:p>
        </p:txBody>
      </p:sp>
      <p:sp>
        <p:nvSpPr>
          <p:cNvPr id="120834" name="Content Placeholder 14"/>
          <p:cNvSpPr>
            <a:spLocks noGrp="1"/>
          </p:cNvSpPr>
          <p:nvPr>
            <p:ph idx="1"/>
          </p:nvPr>
        </p:nvSpPr>
        <p:spPr/>
        <p:txBody>
          <a:bodyPr/>
          <a:lstStyle/>
          <a:p>
            <a:r>
              <a:rPr lang="en-US"/>
              <a:t>Romantic Painting</a:t>
            </a:r>
          </a:p>
          <a:p>
            <a:pPr lvl="1"/>
            <a:r>
              <a:rPr lang="en-US"/>
              <a:t>Poet, painter, and printmaker William Blake was interested in examining the nature of good and evil.</a:t>
            </a:r>
          </a:p>
          <a:p>
            <a:pPr lvl="1"/>
            <a:r>
              <a:rPr lang="en-US"/>
              <a:t>The large print </a:t>
            </a:r>
            <a:r>
              <a:rPr lang="en-US" i="1"/>
              <a:t>Newton</a:t>
            </a:r>
            <a:r>
              <a:rPr lang="en-US"/>
              <a:t> was included in a series of prophetic prints and depicted the epitome of eighteenth-century rationalism.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Title 3"/>
          <p:cNvSpPr>
            <a:spLocks noGrp="1"/>
          </p:cNvSpPr>
          <p:nvPr>
            <p:ph type="title"/>
          </p:nvPr>
        </p:nvSpPr>
        <p:spPr/>
        <p:txBody>
          <a:bodyPr>
            <a:normAutofit fontScale="90000"/>
          </a:bodyPr>
          <a:lstStyle/>
          <a:p>
            <a:r>
              <a:rPr lang="en-US" dirty="0"/>
              <a:t>William Blake NEWTON</a:t>
            </a:r>
            <a:br>
              <a:rPr lang="en-US" dirty="0"/>
            </a:br>
            <a:r>
              <a:rPr lang="en-US" dirty="0"/>
              <a:t>1795–c. 1805.</a:t>
            </a:r>
            <a:br>
              <a:rPr lang="en-US" dirty="0"/>
            </a:br>
            <a:r>
              <a:rPr lang="en-US" dirty="0"/>
              <a:t>Color print finished in ink and watercolor, 18-1/8</a:t>
            </a:r>
            <a:r>
              <a:rPr lang="ru-RU" dirty="0"/>
              <a:t>"</a:t>
            </a:r>
            <a:r>
              <a:rPr lang="en-US" dirty="0"/>
              <a:t> × 23-5/8</a:t>
            </a:r>
            <a:r>
              <a:rPr lang="ru-RU" dirty="0"/>
              <a:t>"</a:t>
            </a:r>
            <a:r>
              <a:rPr lang="en-US" dirty="0"/>
              <a:t> (46 × 60 cm).</a:t>
            </a:r>
            <a:br>
              <a:rPr lang="en-US" dirty="0"/>
            </a:br>
            <a:r>
              <a:rPr lang="en-US" dirty="0"/>
              <a:t>Tate, London. Photo © Peter Willi/ARTOTHEK. </a:t>
            </a:r>
          </a:p>
        </p:txBody>
      </p:sp>
      <p:pic>
        <p:nvPicPr>
          <p:cNvPr id="2" name="Picture 1" descr="Newton sits on a naturally occurring shelf in the cave wall, leaning sharply forward to trace the figures drawn on his discarded white drape, which curls like parchment on the cave floor.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itle 13"/>
          <p:cNvSpPr>
            <a:spLocks noGrp="1"/>
          </p:cNvSpPr>
          <p:nvPr>
            <p:ph type="title"/>
          </p:nvPr>
        </p:nvSpPr>
        <p:spPr/>
        <p:txBody>
          <a:bodyPr/>
          <a:lstStyle/>
          <a:p>
            <a:r>
              <a:rPr lang="en-US"/>
              <a:t>Trends in British Painting (12 of 12)</a:t>
            </a:r>
          </a:p>
        </p:txBody>
      </p:sp>
      <p:sp>
        <p:nvSpPr>
          <p:cNvPr id="123906" name="Content Placeholder 14"/>
          <p:cNvSpPr>
            <a:spLocks noGrp="1"/>
          </p:cNvSpPr>
          <p:nvPr>
            <p:ph idx="1"/>
          </p:nvPr>
        </p:nvSpPr>
        <p:spPr/>
        <p:txBody>
          <a:bodyPr/>
          <a:lstStyle/>
          <a:p>
            <a:r>
              <a:rPr lang="en-US"/>
              <a:t>Romantic Painting</a:t>
            </a:r>
          </a:p>
          <a:p>
            <a:pPr lvl="1"/>
            <a:r>
              <a:rPr lang="en-US"/>
              <a:t>John Singleton Copley became a painter of modern history.</a:t>
            </a:r>
          </a:p>
          <a:p>
            <a:pPr lvl="2"/>
            <a:r>
              <a:rPr lang="en-US" i="1"/>
              <a:t>Watson and the Shark </a:t>
            </a:r>
            <a:r>
              <a:rPr lang="en-US"/>
              <a:t>is an example of a work with figures inspired by Classical sources, but a gruesome subject.</a:t>
            </a:r>
          </a:p>
          <a:p>
            <a:pPr lvl="3"/>
            <a:r>
              <a:rPr lang="en-US"/>
              <a:t>The inclusion of the African figure reflected a debate in British Parliament about the American slave trade; it could indicate Watson</a:t>
            </a:r>
            <a:r>
              <a:rPr lang="uk-UA"/>
              <a:t>'</a:t>
            </a:r>
            <a:r>
              <a:rPr lang="en-US"/>
              <a:t>s sympathy for slaves.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Title 3"/>
          <p:cNvSpPr>
            <a:spLocks noGrp="1"/>
          </p:cNvSpPr>
          <p:nvPr>
            <p:ph type="title"/>
          </p:nvPr>
        </p:nvSpPr>
        <p:spPr/>
        <p:txBody>
          <a:bodyPr>
            <a:normAutofit fontScale="90000"/>
          </a:bodyPr>
          <a:lstStyle/>
          <a:p>
            <a:r>
              <a:rPr lang="en-US" dirty="0"/>
              <a:t>John Singleton Copley WATSON AND THE SHARK</a:t>
            </a:r>
            <a:br>
              <a:rPr lang="en-US" dirty="0"/>
            </a:br>
            <a:r>
              <a:rPr lang="en-US" dirty="0"/>
              <a:t>1778. Oil on canvas, 5</a:t>
            </a:r>
            <a:r>
              <a:rPr lang="uk-UA" dirty="0"/>
              <a:t>'</a:t>
            </a:r>
            <a:r>
              <a:rPr lang="en-US" dirty="0"/>
              <a:t>10-3/4</a:t>
            </a:r>
            <a:r>
              <a:rPr lang="ru-RU" dirty="0"/>
              <a:t>"</a:t>
            </a:r>
            <a:r>
              <a:rPr lang="en-US" dirty="0"/>
              <a:t> × 7</a:t>
            </a:r>
            <a:r>
              <a:rPr lang="uk-UA" dirty="0"/>
              <a:t>'</a:t>
            </a:r>
            <a:r>
              <a:rPr lang="en-US" dirty="0"/>
              <a:t>6-1/2</a:t>
            </a:r>
            <a:r>
              <a:rPr lang="ru-RU" dirty="0"/>
              <a:t>"</a:t>
            </a:r>
            <a:r>
              <a:rPr lang="en-US" dirty="0"/>
              <a:t> (1.82 × 2.29 m).</a:t>
            </a:r>
            <a:br>
              <a:rPr lang="en-US" dirty="0"/>
            </a:br>
            <a:r>
              <a:rPr lang="en-US" dirty="0"/>
              <a:t>National Gallery of Art, Washington, DC. Ferdinand </a:t>
            </a:r>
            <a:r>
              <a:rPr lang="en-US" dirty="0" err="1"/>
              <a:t>Lammot</a:t>
            </a:r>
            <a:r>
              <a:rPr lang="en-US" dirty="0"/>
              <a:t> Belin Fund. Image courtesy the National Gallery of Art, Washington. </a:t>
            </a:r>
          </a:p>
        </p:txBody>
      </p:sp>
      <p:pic>
        <p:nvPicPr>
          <p:cNvPr id="2" name="Picture 1" descr="A rowboat full of sailors attempts to save a nude swimmer before he is eaten by a shark."/>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5168"/>
            <a:ext cx="8107680" cy="5031232"/>
          </a:xfrm>
          <a:prstGeom prst="rect">
            <a:avLst/>
          </a:prstGeom>
        </p:spPr>
      </p:pic>
    </p:spTree>
  </p:cSld>
  <p:clrMapOvr>
    <a:masterClrMapping/>
  </p:clrMapOvr>
  <p:transition spd="slow" advTm="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le 13"/>
          <p:cNvSpPr>
            <a:spLocks noGrp="1"/>
          </p:cNvSpPr>
          <p:nvPr>
            <p:ph type="title"/>
          </p:nvPr>
        </p:nvSpPr>
        <p:spPr/>
        <p:txBody>
          <a:bodyPr/>
          <a:lstStyle/>
          <a:p>
            <a:r>
              <a:rPr lang="en-US"/>
              <a:t>Later Eighteenth-Century Art in France</a:t>
            </a:r>
          </a:p>
        </p:txBody>
      </p:sp>
      <p:sp>
        <p:nvSpPr>
          <p:cNvPr id="126978" name="Content Placeholder 14"/>
          <p:cNvSpPr>
            <a:spLocks noGrp="1"/>
          </p:cNvSpPr>
          <p:nvPr>
            <p:ph idx="1"/>
          </p:nvPr>
        </p:nvSpPr>
        <p:spPr/>
        <p:txBody>
          <a:bodyPr/>
          <a:lstStyle/>
          <a:p>
            <a:r>
              <a:rPr lang="en-US"/>
              <a:t>The Enlightenment threw out the extravagance of the Rococo style.</a:t>
            </a:r>
          </a:p>
          <a:p>
            <a:r>
              <a:rPr lang="en-US"/>
              <a:t>French art and architecture held closer to Classical styles as the Neoclassical movement took hold.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Title 13"/>
          <p:cNvSpPr>
            <a:spLocks noGrp="1"/>
          </p:cNvSpPr>
          <p:nvPr>
            <p:ph type="title"/>
          </p:nvPr>
        </p:nvSpPr>
        <p:spPr/>
        <p:txBody>
          <a:bodyPr/>
          <a:lstStyle/>
          <a:p>
            <a:r>
              <a:rPr lang="en-US"/>
              <a:t>Architecture</a:t>
            </a:r>
          </a:p>
        </p:txBody>
      </p:sp>
      <p:sp>
        <p:nvSpPr>
          <p:cNvPr id="128002" name="Content Placeholder 14"/>
          <p:cNvSpPr>
            <a:spLocks noGrp="1"/>
          </p:cNvSpPr>
          <p:nvPr>
            <p:ph idx="1"/>
          </p:nvPr>
        </p:nvSpPr>
        <p:spPr/>
        <p:txBody>
          <a:bodyPr/>
          <a:lstStyle/>
          <a:p>
            <a:r>
              <a:rPr lang="en-US"/>
              <a:t>Jacques-Germain Soufflot</a:t>
            </a:r>
            <a:r>
              <a:rPr lang="uk-UA"/>
              <a:t>'</a:t>
            </a:r>
            <a:r>
              <a:rPr lang="en-US"/>
              <a:t>s Panthéon exemplifies the Neoclassical style of architecture in Paris.</a:t>
            </a:r>
          </a:p>
          <a:p>
            <a:pPr lvl="1"/>
            <a:r>
              <a:rPr lang="en-US"/>
              <a:t>The building</a:t>
            </a:r>
            <a:r>
              <a:rPr lang="uk-UA"/>
              <a:t>'</a:t>
            </a:r>
            <a:r>
              <a:rPr lang="en-US"/>
              <a:t>s ordered plan and sparse decoration reflect severity and simplicity.</a:t>
            </a:r>
          </a:p>
          <a:p>
            <a:pPr lvl="1"/>
            <a:r>
              <a:rPr lang="en-US"/>
              <a:t>Elements are drawn from ancient Roman temples, Wren</a:t>
            </a:r>
            <a:r>
              <a:rPr lang="uk-UA"/>
              <a:t>'</a:t>
            </a:r>
            <a:r>
              <a:rPr lang="en-US"/>
              <a:t>s St. Paul</a:t>
            </a:r>
            <a:r>
              <a:rPr lang="uk-UA"/>
              <a:t>'</a:t>
            </a:r>
            <a:r>
              <a:rPr lang="en-US"/>
              <a:t>s Cathedral, and Chiswick House.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3"/>
          <p:cNvSpPr>
            <a:spLocks noGrp="1"/>
          </p:cNvSpPr>
          <p:nvPr>
            <p:ph type="title"/>
          </p:nvPr>
        </p:nvSpPr>
        <p:spPr/>
        <p:txBody>
          <a:bodyPr>
            <a:normAutofit fontScale="90000"/>
          </a:bodyPr>
          <a:lstStyle/>
          <a:p>
            <a:r>
              <a:rPr lang="en-US" dirty="0"/>
              <a:t>Jacques-Germain </a:t>
            </a:r>
            <a:r>
              <a:rPr lang="en-US" dirty="0" err="1"/>
              <a:t>Soufflot</a:t>
            </a:r>
            <a:r>
              <a:rPr lang="en-US" dirty="0"/>
              <a:t> PANTHÉON (CHURCH OF SAINTE-GENEVIÉVE), PARIS</a:t>
            </a:r>
            <a:br>
              <a:rPr lang="en-US" dirty="0"/>
            </a:br>
            <a:r>
              <a:rPr lang="en-US" dirty="0"/>
              <a:t>1755–1792.</a:t>
            </a:r>
            <a:br>
              <a:rPr lang="en-US" dirty="0"/>
            </a:br>
            <a:r>
              <a:rPr lang="en-US" dirty="0" err="1"/>
              <a:t>JonRob</a:t>
            </a:r>
            <a:r>
              <a:rPr lang="en-US" dirty="0"/>
              <a:t>/</a:t>
            </a:r>
            <a:r>
              <a:rPr lang="en-US" dirty="0" err="1"/>
              <a:t>Fotolia</a:t>
            </a:r>
            <a:r>
              <a:rPr lang="en-US" dirty="0"/>
              <a:t>. </a:t>
            </a:r>
          </a:p>
        </p:txBody>
      </p:sp>
      <p:pic>
        <p:nvPicPr>
          <p:cNvPr id="2" name="Picture 1" descr="Although façade of the Paris Pantheon is similar to that of the Roman Pantheon, the structure behind the façade is cruciform, and supports a raised, columned drum, dome, and lantern."/>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Title 3"/>
          <p:cNvSpPr>
            <a:spLocks noGrp="1"/>
          </p:cNvSpPr>
          <p:nvPr>
            <p:ph type="title"/>
          </p:nvPr>
        </p:nvSpPr>
        <p:spPr/>
        <p:txBody>
          <a:bodyPr/>
          <a:lstStyle/>
          <a:p>
            <a:r>
              <a:rPr lang="en-US" dirty="0"/>
              <a:t>CUTAWAY ILLUSTRATION OF THE PANTHÉON</a:t>
            </a:r>
            <a:br>
              <a:rPr lang="en-US" dirty="0"/>
            </a:br>
            <a:r>
              <a:rPr lang="en-US" dirty="0"/>
              <a:t>© Dorling Kindersley. </a:t>
            </a:r>
          </a:p>
        </p:txBody>
      </p:sp>
      <p:pic>
        <p:nvPicPr>
          <p:cNvPr id="2" name="Picture 1" descr="A cutaway drawing reveals the Paris Pantheon’s more notable, non-architectural decorations in the form of patters along the inner dome, and concentric rings in the tiling under the dome, enclosed by the bay’s square edg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Title 13"/>
          <p:cNvSpPr>
            <a:spLocks noGrp="1"/>
          </p:cNvSpPr>
          <p:nvPr>
            <p:ph type="title"/>
          </p:nvPr>
        </p:nvSpPr>
        <p:spPr/>
        <p:txBody>
          <a:bodyPr/>
          <a:lstStyle/>
          <a:p>
            <a:r>
              <a:rPr lang="en-US"/>
              <a:t>Painting (1 of 8)</a:t>
            </a:r>
          </a:p>
        </p:txBody>
      </p:sp>
      <p:sp>
        <p:nvSpPr>
          <p:cNvPr id="133122" name="Content Placeholder 14"/>
          <p:cNvSpPr>
            <a:spLocks noGrp="1"/>
          </p:cNvSpPr>
          <p:nvPr>
            <p:ph idx="1"/>
          </p:nvPr>
        </p:nvSpPr>
        <p:spPr/>
        <p:txBody>
          <a:bodyPr/>
          <a:lstStyle/>
          <a:p>
            <a:r>
              <a:rPr lang="en-US"/>
              <a:t>Denis Diderot was a leading detractor of Rococo in the 1760s.</a:t>
            </a:r>
          </a:p>
          <a:p>
            <a:pPr lvl="1"/>
            <a:r>
              <a:rPr lang="en-US"/>
              <a:t>His </a:t>
            </a:r>
            <a:r>
              <a:rPr lang="en-US" i="1"/>
              <a:t>Encyclopédie</a:t>
            </a:r>
            <a:r>
              <a:rPr lang="en-US"/>
              <a:t> served as an archive of Enlightenment through France.</a:t>
            </a:r>
          </a:p>
          <a:p>
            <a:pPr lvl="1"/>
            <a:r>
              <a:rPr lang="en-US"/>
              <a:t>He believed that art</a:t>
            </a:r>
            <a:r>
              <a:rPr lang="uk-UA"/>
              <a:t>'</a:t>
            </a:r>
            <a:r>
              <a:rPr lang="en-US"/>
              <a:t>s function was to </a:t>
            </a:r>
            <a:r>
              <a:rPr lang="ru-RU"/>
              <a:t>"</a:t>
            </a:r>
            <a:r>
              <a:rPr lang="en-US"/>
              <a:t>inspire virtue and purify manners</a:t>
            </a:r>
            <a:r>
              <a:rPr lang="ru-RU"/>
              <a:t>"</a:t>
            </a:r>
            <a:r>
              <a:rPr lang="en-US"/>
              <a:t> that Rococo could never satisfy.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Title 13"/>
          <p:cNvSpPr>
            <a:spLocks noGrp="1"/>
          </p:cNvSpPr>
          <p:nvPr>
            <p:ph type="title"/>
          </p:nvPr>
        </p:nvSpPr>
        <p:spPr/>
        <p:txBody>
          <a:bodyPr/>
          <a:lstStyle/>
          <a:p>
            <a:r>
              <a:rPr lang="en-US"/>
              <a:t>Painting (2 of 8)</a:t>
            </a:r>
          </a:p>
        </p:txBody>
      </p:sp>
      <p:sp>
        <p:nvSpPr>
          <p:cNvPr id="134146" name="Content Placeholder 14"/>
          <p:cNvSpPr>
            <a:spLocks noGrp="1"/>
          </p:cNvSpPr>
          <p:nvPr>
            <p:ph idx="1"/>
          </p:nvPr>
        </p:nvSpPr>
        <p:spPr/>
        <p:txBody>
          <a:bodyPr/>
          <a:lstStyle/>
          <a:p>
            <a:r>
              <a:rPr lang="en-US"/>
              <a:t>Chardin</a:t>
            </a:r>
          </a:p>
          <a:p>
            <a:pPr lvl="1"/>
            <a:r>
              <a:rPr lang="en-US"/>
              <a:t>Jean-Siméon Chardin</a:t>
            </a:r>
            <a:r>
              <a:rPr lang="uk-UA"/>
              <a:t>'</a:t>
            </a:r>
            <a:r>
              <a:rPr lang="en-US"/>
              <a:t>s </a:t>
            </a:r>
            <a:r>
              <a:rPr lang="en-US" i="1"/>
              <a:t>Saying Grace </a:t>
            </a:r>
            <a:r>
              <a:rPr lang="en-US"/>
              <a:t>illustrates a mother setting the table for a meal in front of her two children.</a:t>
            </a:r>
          </a:p>
          <a:p>
            <a:pPr lvl="2"/>
            <a:r>
              <a:rPr lang="en-US"/>
              <a:t>This genre painting extols the virtues of daily moral goodness in order to live a proper political and familial life.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Title 3"/>
          <p:cNvSpPr>
            <a:spLocks noGrp="1"/>
          </p:cNvSpPr>
          <p:nvPr>
            <p:ph type="title"/>
          </p:nvPr>
        </p:nvSpPr>
        <p:spPr/>
        <p:txBody>
          <a:bodyPr>
            <a:normAutofit fontScale="90000"/>
          </a:bodyPr>
          <a:lstStyle/>
          <a:p>
            <a:r>
              <a:rPr lang="en-US" dirty="0"/>
              <a:t>Jean-</a:t>
            </a:r>
            <a:r>
              <a:rPr lang="en-US" dirty="0" err="1"/>
              <a:t>Siméon</a:t>
            </a:r>
            <a:r>
              <a:rPr lang="en-US" dirty="0"/>
              <a:t> Chardin SAYING GRACE</a:t>
            </a:r>
            <a:br>
              <a:rPr lang="en-US" dirty="0"/>
            </a:br>
            <a:r>
              <a:rPr lang="en-US" dirty="0"/>
              <a:t>c. 1740. Oil on canvas, 19 × 15-1⁄8″ (49 × 38 cm).</a:t>
            </a:r>
            <a:br>
              <a:rPr lang="en-US" dirty="0"/>
            </a:br>
            <a:r>
              <a:rPr lang="en-US" dirty="0" err="1"/>
              <a:t>Musée</a:t>
            </a:r>
            <a:r>
              <a:rPr lang="en-US" dirty="0"/>
              <a:t> du Louvre, Paris. Photo © </a:t>
            </a:r>
            <a:r>
              <a:rPr lang="en-US" dirty="0" err="1"/>
              <a:t>Musée</a:t>
            </a:r>
            <a:r>
              <a:rPr lang="en-US" dirty="0"/>
              <a:t> du Louvre, Dist. RMN-Grand Palais/</a:t>
            </a:r>
            <a:r>
              <a:rPr lang="en-US" dirty="0" err="1"/>
              <a:t>Angèle</a:t>
            </a:r>
            <a:r>
              <a:rPr lang="en-US" dirty="0"/>
              <a:t> </a:t>
            </a:r>
            <a:r>
              <a:rPr lang="en-US" dirty="0" err="1"/>
              <a:t>Dequier</a:t>
            </a:r>
            <a:r>
              <a:rPr lang="en-US" dirty="0"/>
              <a:t>.</a:t>
            </a:r>
          </a:p>
        </p:txBody>
      </p:sp>
      <p:pic>
        <p:nvPicPr>
          <p:cNvPr id="2" name="Picture 1" descr="A mother in a plain dress and simple bonnet sets bowls of steaming food on the dinner table. Her children sit patiently with their hands clasped and their heads bowe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Title 13"/>
          <p:cNvSpPr>
            <a:spLocks noGrp="1"/>
          </p:cNvSpPr>
          <p:nvPr>
            <p:ph type="title"/>
          </p:nvPr>
        </p:nvSpPr>
        <p:spPr/>
        <p:txBody>
          <a:bodyPr/>
          <a:lstStyle/>
          <a:p>
            <a:r>
              <a:rPr lang="en-US"/>
              <a:t>Painting (3 of 8)</a:t>
            </a:r>
          </a:p>
        </p:txBody>
      </p:sp>
      <p:sp>
        <p:nvSpPr>
          <p:cNvPr id="137218" name="Content Placeholder 14"/>
          <p:cNvSpPr>
            <a:spLocks noGrp="1"/>
          </p:cNvSpPr>
          <p:nvPr>
            <p:ph idx="1"/>
          </p:nvPr>
        </p:nvSpPr>
        <p:spPr/>
        <p:txBody>
          <a:bodyPr/>
          <a:lstStyle/>
          <a:p>
            <a:r>
              <a:rPr lang="en-US"/>
              <a:t>Greuze</a:t>
            </a:r>
          </a:p>
          <a:p>
            <a:pPr lvl="1"/>
            <a:r>
              <a:rPr lang="en-US"/>
              <a:t>Jean-Baptiste Greuze specialized in reflecting Diderot</a:t>
            </a:r>
            <a:r>
              <a:rPr lang="uk-UA"/>
              <a:t>'</a:t>
            </a:r>
            <a:r>
              <a:rPr lang="en-US"/>
              <a:t>s </a:t>
            </a:r>
            <a:r>
              <a:rPr lang="en-US" i="1"/>
              <a:t>drame bourgeois</a:t>
            </a:r>
            <a:r>
              <a:rPr lang="en-US"/>
              <a:t> and </a:t>
            </a:r>
            <a:r>
              <a:rPr lang="ru-RU"/>
              <a:t>"</a:t>
            </a:r>
            <a:r>
              <a:rPr lang="en-US"/>
              <a:t>middle tragedy</a:t>
            </a:r>
            <a:r>
              <a:rPr lang="ru-RU"/>
              <a:t>"</a:t>
            </a:r>
            <a:r>
              <a:rPr lang="en-US"/>
              <a:t> through domestic genre paintings.</a:t>
            </a:r>
          </a:p>
          <a:p>
            <a:pPr lvl="1"/>
            <a:r>
              <a:rPr lang="en-US" i="1"/>
              <a:t>The Village Bride </a:t>
            </a:r>
            <a:r>
              <a:rPr lang="en-US"/>
              <a:t>appeals to the notion that poverty and virtue can coexist.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Title 3"/>
          <p:cNvSpPr>
            <a:spLocks noGrp="1"/>
          </p:cNvSpPr>
          <p:nvPr>
            <p:ph type="title"/>
          </p:nvPr>
        </p:nvSpPr>
        <p:spPr/>
        <p:txBody>
          <a:bodyPr>
            <a:normAutofit fontScale="90000"/>
          </a:bodyPr>
          <a:lstStyle/>
          <a:p>
            <a:r>
              <a:rPr lang="en-US" dirty="0"/>
              <a:t>Jean-Baptiste Greuze THE VILLAGE BRIDE, OR THE MARRIAGE, THE MOMENT WHEN A FATHER GIVES HIS SON-IN-LAW A DOWRY</a:t>
            </a:r>
            <a:br>
              <a:rPr lang="en-US" dirty="0"/>
            </a:br>
            <a:r>
              <a:rPr lang="en-US" dirty="0"/>
              <a:t>1761. Oil on canvas, 36</a:t>
            </a:r>
            <a:r>
              <a:rPr lang="ru-RU" dirty="0"/>
              <a:t>"</a:t>
            </a:r>
            <a:r>
              <a:rPr lang="en-US" dirty="0"/>
              <a:t> × 46 1/2</a:t>
            </a:r>
            <a:r>
              <a:rPr lang="ru-RU" dirty="0"/>
              <a:t>"</a:t>
            </a:r>
            <a:r>
              <a:rPr lang="en-US" dirty="0"/>
              <a:t> (91.4 × 118.1 cm).</a:t>
            </a:r>
            <a:br>
              <a:rPr lang="en-US" dirty="0"/>
            </a:br>
            <a:r>
              <a:rPr lang="en-US" dirty="0" err="1"/>
              <a:t>Musée</a:t>
            </a:r>
            <a:r>
              <a:rPr lang="en-US" dirty="0"/>
              <a:t> du Louvre, Paris. Photo © RMN-Grand Palais (</a:t>
            </a:r>
            <a:r>
              <a:rPr lang="en-US" dirty="0" err="1"/>
              <a:t>musée</a:t>
            </a:r>
            <a:r>
              <a:rPr lang="en-US" dirty="0"/>
              <a:t> du Louvre)/Franck </a:t>
            </a:r>
            <a:r>
              <a:rPr lang="en-US" dirty="0" err="1"/>
              <a:t>Raux</a:t>
            </a:r>
            <a:r>
              <a:rPr lang="en-US" dirty="0"/>
              <a:t>. </a:t>
            </a:r>
          </a:p>
        </p:txBody>
      </p:sp>
      <p:pic>
        <p:nvPicPr>
          <p:cNvPr id="2" name="Picture 1" descr="Two families gather in a modest home to complete a wedding under the observation of a notary, in a dark hat and coat. A hen and several chicks peck at the floorboards in the foreground, as the father of the bride opens his arms toward the coupl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Title 13"/>
          <p:cNvSpPr>
            <a:spLocks noGrp="1"/>
          </p:cNvSpPr>
          <p:nvPr>
            <p:ph type="title"/>
          </p:nvPr>
        </p:nvSpPr>
        <p:spPr/>
        <p:txBody>
          <a:bodyPr/>
          <a:lstStyle/>
          <a:p>
            <a:r>
              <a:rPr lang="en-US"/>
              <a:t>Painting (4 of 8)</a:t>
            </a:r>
          </a:p>
        </p:txBody>
      </p:sp>
      <p:sp>
        <p:nvSpPr>
          <p:cNvPr id="140290" name="Content Placeholder 14"/>
          <p:cNvSpPr>
            <a:spLocks noGrp="1"/>
          </p:cNvSpPr>
          <p:nvPr>
            <p:ph idx="1"/>
          </p:nvPr>
        </p:nvSpPr>
        <p:spPr/>
        <p:txBody>
          <a:bodyPr/>
          <a:lstStyle/>
          <a:p>
            <a:r>
              <a:rPr lang="en-US"/>
              <a:t>Vigée-Lebrun</a:t>
            </a:r>
          </a:p>
          <a:p>
            <a:pPr lvl="1"/>
            <a:r>
              <a:rPr lang="en-US"/>
              <a:t>Marie-Louise-Élisabeth Vigée-Lebrun</a:t>
            </a:r>
            <a:r>
              <a:rPr lang="uk-UA"/>
              <a:t>'</a:t>
            </a:r>
            <a:r>
              <a:rPr lang="en-US"/>
              <a:t>s </a:t>
            </a:r>
            <a:r>
              <a:rPr lang="en-US" i="1"/>
              <a:t>Portrait of Marie Antoinette with Her Children</a:t>
            </a:r>
            <a:r>
              <a:rPr lang="en-US"/>
              <a:t> is in a more restrained style, depicting Marie Antoinette as a </a:t>
            </a:r>
            <a:r>
              <a:rPr lang="ru-RU"/>
              <a:t>"</a:t>
            </a:r>
            <a:r>
              <a:rPr lang="en-US"/>
              <a:t>good mother</a:t>
            </a:r>
            <a:r>
              <a:rPr lang="ru-RU"/>
              <a:t>"</a:t>
            </a:r>
            <a:r>
              <a:rPr lang="en-US"/>
              <a:t> despite her reputation.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itle 3"/>
          <p:cNvSpPr>
            <a:spLocks noGrp="1"/>
          </p:cNvSpPr>
          <p:nvPr>
            <p:ph type="title"/>
          </p:nvPr>
        </p:nvSpPr>
        <p:spPr/>
        <p:txBody>
          <a:bodyPr>
            <a:normAutofit fontScale="90000"/>
          </a:bodyPr>
          <a:lstStyle/>
          <a:p>
            <a:r>
              <a:rPr lang="en-US" dirty="0"/>
              <a:t>Marie-Louise-</a:t>
            </a:r>
            <a:r>
              <a:rPr lang="en-US" dirty="0" err="1"/>
              <a:t>Élisabeth</a:t>
            </a:r>
            <a:r>
              <a:rPr lang="en-US" dirty="0"/>
              <a:t> </a:t>
            </a:r>
            <a:r>
              <a:rPr lang="en-US" dirty="0" err="1"/>
              <a:t>Vigée</a:t>
            </a:r>
            <a:r>
              <a:rPr lang="en-US" dirty="0"/>
              <a:t>-Lebrun PORTRAIT OF MARIE ANTOINETTE WITH HER CHILDREN</a:t>
            </a:r>
            <a:br>
              <a:rPr lang="en-US" dirty="0"/>
            </a:br>
            <a:r>
              <a:rPr lang="en-US" dirty="0"/>
              <a:t>1787. Oil on canvas, 9</a:t>
            </a:r>
            <a:r>
              <a:rPr lang="uk-UA" dirty="0"/>
              <a:t>'</a:t>
            </a:r>
            <a:r>
              <a:rPr lang="en-US" dirty="0"/>
              <a:t>-1/2</a:t>
            </a:r>
            <a:r>
              <a:rPr lang="ru-RU" dirty="0"/>
              <a:t>"</a:t>
            </a:r>
            <a:r>
              <a:rPr lang="en-US" dirty="0"/>
              <a:t> × 7</a:t>
            </a:r>
            <a:r>
              <a:rPr lang="uk-UA" dirty="0"/>
              <a:t>'</a:t>
            </a:r>
            <a:r>
              <a:rPr lang="en-US" dirty="0"/>
              <a:t>-5/8</a:t>
            </a:r>
            <a:r>
              <a:rPr lang="ru-RU" dirty="0"/>
              <a:t>"</a:t>
            </a:r>
            <a:r>
              <a:rPr lang="en-US" dirty="0"/>
              <a:t> (2.75 × 2.15 m).</a:t>
            </a:r>
            <a:br>
              <a:rPr lang="en-US" dirty="0"/>
            </a:br>
            <a:r>
              <a:rPr lang="en-US" dirty="0" err="1"/>
              <a:t>Musée</a:t>
            </a:r>
            <a:r>
              <a:rPr lang="en-US" dirty="0"/>
              <a:t> National du Château de Versailles. © Jean </a:t>
            </a:r>
            <a:r>
              <a:rPr lang="en-US" dirty="0" err="1"/>
              <a:t>Feuillie</a:t>
            </a:r>
            <a:r>
              <a:rPr lang="en-US" dirty="0"/>
              <a:t>/Centre des monuments </a:t>
            </a:r>
            <a:r>
              <a:rPr lang="en-US" dirty="0" err="1"/>
              <a:t>nationaux</a:t>
            </a:r>
            <a:r>
              <a:rPr lang="en-US" dirty="0"/>
              <a:t>.</a:t>
            </a:r>
          </a:p>
        </p:txBody>
      </p:sp>
      <p:pic>
        <p:nvPicPr>
          <p:cNvPr id="2" name="Picture 1" descr="The queen sits next to an empty crib with a black drapery over its back half. Her regal dress makes her lap seem expansive, providing an ample perch for the third child she holds there, who grasps at her bosom."/>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Title 13"/>
          <p:cNvSpPr>
            <a:spLocks noGrp="1"/>
          </p:cNvSpPr>
          <p:nvPr>
            <p:ph type="title"/>
          </p:nvPr>
        </p:nvSpPr>
        <p:spPr/>
        <p:txBody>
          <a:bodyPr/>
          <a:lstStyle/>
          <a:p>
            <a:r>
              <a:rPr lang="en-US"/>
              <a:t>Painting (5 of 8)</a:t>
            </a:r>
          </a:p>
        </p:txBody>
      </p:sp>
      <p:sp>
        <p:nvSpPr>
          <p:cNvPr id="143362" name="Content Placeholder 14"/>
          <p:cNvSpPr>
            <a:spLocks noGrp="1"/>
          </p:cNvSpPr>
          <p:nvPr>
            <p:ph idx="1"/>
          </p:nvPr>
        </p:nvSpPr>
        <p:spPr/>
        <p:txBody>
          <a:bodyPr/>
          <a:lstStyle/>
          <a:p>
            <a:r>
              <a:rPr lang="en-US"/>
              <a:t>David</a:t>
            </a:r>
          </a:p>
          <a:p>
            <a:pPr lvl="1"/>
            <a:r>
              <a:rPr lang="en-US"/>
              <a:t>Jacques-Louis David dominated French art for over 20 years during the French Revolution and reign of Napoleon.</a:t>
            </a:r>
          </a:p>
          <a:p>
            <a:pPr lvl="2"/>
            <a:r>
              <a:rPr lang="en-US" i="1"/>
              <a:t>The Oath of the Horatii </a:t>
            </a:r>
            <a:r>
              <a:rPr lang="en-US"/>
              <a:t>was inspired by Pierre Corneille</a:t>
            </a:r>
            <a:r>
              <a:rPr lang="uk-UA"/>
              <a:t>'</a:t>
            </a:r>
            <a:r>
              <a:rPr lang="en-US"/>
              <a:t>s drama, </a:t>
            </a:r>
            <a:r>
              <a:rPr lang="en-US" i="1"/>
              <a:t>Horace</a:t>
            </a:r>
            <a:r>
              <a:rPr lang="en-US"/>
              <a:t>, but the scene occurs neither in the drama nor any ancient text.</a:t>
            </a:r>
          </a:p>
          <a:p>
            <a:pPr lvl="3"/>
            <a:r>
              <a:rPr lang="en-US"/>
              <a:t>It became an ironic emblem of the 1789 French Revolution.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Title 3"/>
          <p:cNvSpPr>
            <a:spLocks noGrp="1"/>
          </p:cNvSpPr>
          <p:nvPr>
            <p:ph type="title"/>
          </p:nvPr>
        </p:nvSpPr>
        <p:spPr/>
        <p:txBody>
          <a:bodyPr>
            <a:normAutofit fontScale="90000"/>
          </a:bodyPr>
          <a:lstStyle/>
          <a:p>
            <a:r>
              <a:rPr lang="en-US" dirty="0"/>
              <a:t>Jacques-Louis David OATH OF THE HORATII</a:t>
            </a:r>
            <a:br>
              <a:rPr lang="en-US" dirty="0"/>
            </a:br>
            <a:r>
              <a:rPr lang="en-US" dirty="0"/>
              <a:t>1784–1785. Oil on canvas, 10</a:t>
            </a:r>
            <a:r>
              <a:rPr lang="uk-UA" dirty="0"/>
              <a:t>'</a:t>
            </a:r>
            <a:r>
              <a:rPr lang="en-US" dirty="0"/>
              <a:t>8-1/4</a:t>
            </a:r>
            <a:r>
              <a:rPr lang="ru-RU" dirty="0"/>
              <a:t>"</a:t>
            </a:r>
            <a:r>
              <a:rPr lang="en-US" dirty="0"/>
              <a:t> × 14</a:t>
            </a:r>
            <a:r>
              <a:rPr lang="uk-UA" dirty="0"/>
              <a:t>'</a:t>
            </a:r>
            <a:r>
              <a:rPr lang="en-US" dirty="0"/>
              <a:t> (3.26 × 4.27 m).</a:t>
            </a:r>
            <a:br>
              <a:rPr lang="en-US" dirty="0"/>
            </a:br>
            <a:r>
              <a:rPr lang="en-US" dirty="0" err="1"/>
              <a:t>Musée</a:t>
            </a:r>
            <a:r>
              <a:rPr lang="en-US" dirty="0"/>
              <a:t> du Louvre, Paris. Photo © RMN-Grand Palais (</a:t>
            </a:r>
            <a:r>
              <a:rPr lang="en-US" dirty="0" err="1"/>
              <a:t>musée</a:t>
            </a:r>
            <a:r>
              <a:rPr lang="en-US" dirty="0"/>
              <a:t> du Louvre)/ Gérard Blot/Christian Jean.</a:t>
            </a:r>
          </a:p>
        </p:txBody>
      </p:sp>
      <p:pic>
        <p:nvPicPr>
          <p:cNvPr id="2" name="Picture 1" descr="Three armored Roman soldiers stand in a row, both embracing each other and raising their arms, palm down, to their father and the three swords he holds. Women and children huddle behind the father, weepi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Title 13"/>
          <p:cNvSpPr>
            <a:spLocks noGrp="1"/>
          </p:cNvSpPr>
          <p:nvPr>
            <p:ph type="title"/>
          </p:nvPr>
        </p:nvSpPr>
        <p:spPr/>
        <p:txBody>
          <a:bodyPr/>
          <a:lstStyle/>
          <a:p>
            <a:r>
              <a:rPr lang="en-US"/>
              <a:t>Painting (6 of 8)</a:t>
            </a:r>
          </a:p>
        </p:txBody>
      </p:sp>
      <p:sp>
        <p:nvSpPr>
          <p:cNvPr id="146434" name="Content Placeholder 14"/>
          <p:cNvSpPr>
            <a:spLocks noGrp="1"/>
          </p:cNvSpPr>
          <p:nvPr>
            <p:ph idx="1"/>
          </p:nvPr>
        </p:nvSpPr>
        <p:spPr/>
        <p:txBody>
          <a:bodyPr/>
          <a:lstStyle/>
          <a:p>
            <a:r>
              <a:rPr lang="en-US"/>
              <a:t>David</a:t>
            </a:r>
          </a:p>
          <a:p>
            <a:pPr lvl="1"/>
            <a:r>
              <a:rPr lang="en-US" i="1"/>
              <a:t>Death of Marat </a:t>
            </a:r>
            <a:r>
              <a:rPr lang="en-US"/>
              <a:t>depicts not the violent stabbing of Jean-Paul Marat, but the melodramatic aftermath.</a:t>
            </a:r>
          </a:p>
          <a:p>
            <a:pPr lvl="2"/>
            <a:r>
              <a:rPr lang="en-US"/>
              <a:t>Marat</a:t>
            </a:r>
            <a:r>
              <a:rPr lang="uk-UA"/>
              <a:t>'</a:t>
            </a:r>
            <a:r>
              <a:rPr lang="en-US"/>
              <a:t>s pose implies that he was a martyr for the people.</a:t>
            </a:r>
          </a:p>
          <a:p>
            <a:pPr lvl="1"/>
            <a:r>
              <a:rPr lang="en-US"/>
              <a:t>David, a Jacobin, was arrested twice when the Jacobins lost power, but re-emerged during the height of Napoleon</a:t>
            </a:r>
            <a:r>
              <a:rPr lang="uk-UA"/>
              <a:t>'</a:t>
            </a:r>
            <a:r>
              <a:rPr lang="en-US"/>
              <a:t>s ascendancy.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Title 3"/>
          <p:cNvSpPr>
            <a:spLocks noGrp="1"/>
          </p:cNvSpPr>
          <p:nvPr>
            <p:ph type="title"/>
          </p:nvPr>
        </p:nvSpPr>
        <p:spPr/>
        <p:txBody>
          <a:bodyPr>
            <a:normAutofit fontScale="90000"/>
          </a:bodyPr>
          <a:lstStyle/>
          <a:p>
            <a:r>
              <a:rPr lang="en-US" dirty="0"/>
              <a:t>Jacques-Louis David DEATH OF MARAT</a:t>
            </a:r>
            <a:br>
              <a:rPr lang="en-US" dirty="0"/>
            </a:br>
            <a:r>
              <a:rPr lang="en-US" dirty="0"/>
              <a:t>1793. Oil on canvas, 5</a:t>
            </a:r>
            <a:r>
              <a:rPr lang="uk-UA" dirty="0"/>
              <a:t>'</a:t>
            </a:r>
            <a:r>
              <a:rPr lang="en-US" dirty="0"/>
              <a:t>5</a:t>
            </a:r>
            <a:r>
              <a:rPr lang="ru-RU" dirty="0"/>
              <a:t>"</a:t>
            </a:r>
            <a:r>
              <a:rPr lang="en-US" dirty="0"/>
              <a:t> × 4</a:t>
            </a:r>
            <a:r>
              <a:rPr lang="uk-UA" dirty="0"/>
              <a:t>'</a:t>
            </a:r>
            <a:r>
              <a:rPr lang="en-US" dirty="0"/>
              <a:t>2-1/2</a:t>
            </a:r>
            <a:r>
              <a:rPr lang="ru-RU" dirty="0"/>
              <a:t>"</a:t>
            </a:r>
            <a:r>
              <a:rPr lang="en-US" dirty="0"/>
              <a:t> (1.65 × 1.28 m).</a:t>
            </a:r>
            <a:br>
              <a:rPr lang="en-US" dirty="0"/>
            </a:br>
            <a:r>
              <a:rPr lang="en-US" dirty="0"/>
              <a:t>© Royal Museums of Fine Arts of Belgium, Brussels. © Royal Museums of Fine Arts of Belgium, Brussels/Photo: J. </a:t>
            </a:r>
            <a:r>
              <a:rPr lang="en-US" dirty="0" err="1"/>
              <a:t>Geleyns</a:t>
            </a:r>
            <a:r>
              <a:rPr lang="en-US" dirty="0"/>
              <a:t> - </a:t>
            </a:r>
            <a:r>
              <a:rPr lang="en-US" dirty="0" err="1"/>
              <a:t>Roscan</a:t>
            </a:r>
            <a:r>
              <a:rPr lang="en-US" dirty="0"/>
              <a:t>. </a:t>
            </a:r>
          </a:p>
        </p:txBody>
      </p:sp>
      <p:pic>
        <p:nvPicPr>
          <p:cNvPr id="2" name="Picture 1" descr="Marat’s corpse has slumped to his right side, toward the viewer. A green blanket covers the bath, supported by a wooden blank to act as a table. Only a narrow sliver of crimson bath water is visible. The murder weapon lies on the floor nearby.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Title 13"/>
          <p:cNvSpPr>
            <a:spLocks noGrp="1"/>
          </p:cNvSpPr>
          <p:nvPr>
            <p:ph type="title"/>
          </p:nvPr>
        </p:nvSpPr>
        <p:spPr/>
        <p:txBody>
          <a:bodyPr/>
          <a:lstStyle/>
          <a:p>
            <a:r>
              <a:rPr lang="en-US"/>
              <a:t>Painting (7 of 8)</a:t>
            </a:r>
          </a:p>
        </p:txBody>
      </p:sp>
      <p:sp>
        <p:nvSpPr>
          <p:cNvPr id="149506" name="Content Placeholder 14"/>
          <p:cNvSpPr>
            <a:spLocks noGrp="1"/>
          </p:cNvSpPr>
          <p:nvPr>
            <p:ph idx="1"/>
          </p:nvPr>
        </p:nvSpPr>
        <p:spPr/>
        <p:txBody>
          <a:bodyPr/>
          <a:lstStyle/>
          <a:p>
            <a:r>
              <a:rPr lang="en-US"/>
              <a:t>Girodet-Trioson and Labille Guiard</a:t>
            </a:r>
          </a:p>
          <a:p>
            <a:pPr lvl="1"/>
            <a:r>
              <a:rPr lang="en-US"/>
              <a:t>Anne-Louis Girodet-Trioson</a:t>
            </a:r>
            <a:r>
              <a:rPr lang="uk-UA"/>
              <a:t>'</a:t>
            </a:r>
            <a:r>
              <a:rPr lang="en-US"/>
              <a:t>s </a:t>
            </a:r>
            <a:r>
              <a:rPr lang="en-US" i="1"/>
              <a:t>Portrait of Jean-Baptiste Belley</a:t>
            </a:r>
            <a:r>
              <a:rPr lang="en-US"/>
              <a:t> was a political statement.</a:t>
            </a:r>
          </a:p>
          <a:p>
            <a:pPr lvl="2"/>
            <a:r>
              <a:rPr lang="en-US"/>
              <a:t>The subject was a former slave who had led the campaign to abolish slavery in the colonies, particularly Saint-Domingue (now Haiti).</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Title 3"/>
          <p:cNvSpPr>
            <a:spLocks noGrp="1"/>
          </p:cNvSpPr>
          <p:nvPr>
            <p:ph type="title"/>
          </p:nvPr>
        </p:nvSpPr>
        <p:spPr/>
        <p:txBody>
          <a:bodyPr>
            <a:normAutofit fontScale="90000"/>
          </a:bodyPr>
          <a:lstStyle/>
          <a:p>
            <a:r>
              <a:rPr lang="en-US" dirty="0"/>
              <a:t>Anne-Louis </a:t>
            </a:r>
            <a:r>
              <a:rPr lang="en-US" dirty="0" err="1"/>
              <a:t>Girodet-Trioson</a:t>
            </a:r>
            <a:r>
              <a:rPr lang="en-US" dirty="0"/>
              <a:t> PORTRAIT OF JEAN-BAPTISTE BELLEY</a:t>
            </a:r>
            <a:br>
              <a:rPr lang="en-US" dirty="0"/>
            </a:br>
            <a:r>
              <a:rPr lang="en-US" dirty="0"/>
              <a:t>1797. Oil on canvas, 5</a:t>
            </a:r>
            <a:r>
              <a:rPr lang="uk-UA" dirty="0"/>
              <a:t>'</a:t>
            </a:r>
            <a:r>
              <a:rPr lang="en-US" dirty="0"/>
              <a:t>2-1/2</a:t>
            </a:r>
            <a:r>
              <a:rPr lang="ru-RU" dirty="0"/>
              <a:t>"</a:t>
            </a:r>
            <a:r>
              <a:rPr lang="en-US" dirty="0"/>
              <a:t> × 3</a:t>
            </a:r>
            <a:r>
              <a:rPr lang="uk-UA" dirty="0"/>
              <a:t>'</a:t>
            </a:r>
            <a:r>
              <a:rPr lang="en-US" dirty="0"/>
              <a:t>8-1/2</a:t>
            </a:r>
            <a:r>
              <a:rPr lang="ru-RU" dirty="0"/>
              <a:t>"</a:t>
            </a:r>
            <a:r>
              <a:rPr lang="en-US" dirty="0"/>
              <a:t> (1.59 × 1.13 m).</a:t>
            </a:r>
            <a:br>
              <a:rPr lang="en-US" dirty="0"/>
            </a:br>
            <a:r>
              <a:rPr lang="en-US" dirty="0" err="1"/>
              <a:t>Musée</a:t>
            </a:r>
            <a:r>
              <a:rPr lang="en-US" dirty="0"/>
              <a:t> National du Château de Versailles. Photo © RMN-Grand Palais (Château de Versailles)/Gérard Blot. </a:t>
            </a:r>
          </a:p>
        </p:txBody>
      </p:sp>
      <p:pic>
        <p:nvPicPr>
          <p:cNvPr id="2" name="Picture 1" descr="A clean-shaven, gray-haired African man leans against a pedestal supporting a marble bust. The man holds a wide-brimmed hat with colorful plumage, matching his military uniform and wide, colorful belt.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Title 13"/>
          <p:cNvSpPr>
            <a:spLocks noGrp="1"/>
          </p:cNvSpPr>
          <p:nvPr>
            <p:ph type="title"/>
          </p:nvPr>
        </p:nvSpPr>
        <p:spPr/>
        <p:txBody>
          <a:bodyPr/>
          <a:lstStyle/>
          <a:p>
            <a:r>
              <a:rPr lang="en-US"/>
              <a:t>Painting (8 of 8)</a:t>
            </a:r>
          </a:p>
        </p:txBody>
      </p:sp>
      <p:sp>
        <p:nvSpPr>
          <p:cNvPr id="152578" name="Content Placeholder 14"/>
          <p:cNvSpPr>
            <a:spLocks noGrp="1"/>
          </p:cNvSpPr>
          <p:nvPr>
            <p:ph idx="1"/>
          </p:nvPr>
        </p:nvSpPr>
        <p:spPr/>
        <p:txBody>
          <a:bodyPr/>
          <a:lstStyle/>
          <a:p>
            <a:r>
              <a:rPr lang="en-US"/>
              <a:t>Girodet-Trioson and Labille Guiard</a:t>
            </a:r>
          </a:p>
          <a:p>
            <a:pPr lvl="1"/>
            <a:r>
              <a:rPr lang="en-US"/>
              <a:t>Adélaïde Labille-Guiard petitioned for the entry of women into the French Academy in 1790.</a:t>
            </a:r>
          </a:p>
          <a:p>
            <a:pPr lvl="1"/>
            <a:r>
              <a:rPr lang="en-US"/>
              <a:t>Her </a:t>
            </a:r>
            <a:r>
              <a:rPr lang="en-US" i="1"/>
              <a:t>Self-Portrait with Two Pupils </a:t>
            </a:r>
            <a:r>
              <a:rPr lang="en-US"/>
              <a:t>was submitted to the Salon of 1785.</a:t>
            </a:r>
          </a:p>
          <a:p>
            <a:pPr lvl="2"/>
            <a:r>
              <a:rPr lang="en-US"/>
              <a:t>The only male in this painting is her father, shown in bust behind her canvas—a role usually designated for women.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Title 3"/>
          <p:cNvSpPr>
            <a:spLocks noGrp="1"/>
          </p:cNvSpPr>
          <p:nvPr>
            <p:ph type="title"/>
          </p:nvPr>
        </p:nvSpPr>
        <p:spPr/>
        <p:txBody>
          <a:bodyPr>
            <a:normAutofit fontScale="90000"/>
          </a:bodyPr>
          <a:lstStyle/>
          <a:p>
            <a:r>
              <a:rPr lang="en-US" dirty="0"/>
              <a:t>Adélaïde </a:t>
            </a:r>
            <a:r>
              <a:rPr lang="en-US" dirty="0" err="1"/>
              <a:t>Labille-Guiard</a:t>
            </a:r>
            <a:r>
              <a:rPr lang="en-US" dirty="0"/>
              <a:t> SELF-PORTRAIT WITH TWO PUPILS</a:t>
            </a:r>
            <a:br>
              <a:rPr lang="en-US" dirty="0"/>
            </a:br>
            <a:r>
              <a:rPr lang="en-US" dirty="0"/>
              <a:t>1785. Oil on canvas, 6</a:t>
            </a:r>
            <a:r>
              <a:rPr lang="uk-UA" dirty="0"/>
              <a:t>'</a:t>
            </a:r>
            <a:r>
              <a:rPr lang="en-US" dirty="0"/>
              <a:t>11</a:t>
            </a:r>
            <a:r>
              <a:rPr lang="ru-RU" dirty="0"/>
              <a:t>"</a:t>
            </a:r>
            <a:r>
              <a:rPr lang="en-US" dirty="0"/>
              <a:t> × 4</a:t>
            </a:r>
            <a:r>
              <a:rPr lang="uk-UA" dirty="0"/>
              <a:t>'</a:t>
            </a:r>
            <a:r>
              <a:rPr lang="en-US" dirty="0"/>
              <a:t>11-1/2</a:t>
            </a:r>
            <a:r>
              <a:rPr lang="ru-RU" dirty="0"/>
              <a:t>"</a:t>
            </a:r>
            <a:r>
              <a:rPr lang="en-US" dirty="0"/>
              <a:t> (2.11 × 1.51 m).</a:t>
            </a:r>
            <a:br>
              <a:rPr lang="en-US" dirty="0"/>
            </a:br>
            <a:r>
              <a:rPr lang="en-US" dirty="0"/>
              <a:t>Metropolitan Museum of Art, New York. Gift of Julia A. </a:t>
            </a:r>
            <a:r>
              <a:rPr lang="en-US" dirty="0" err="1"/>
              <a:t>Berwind</a:t>
            </a:r>
            <a:r>
              <a:rPr lang="en-US" dirty="0"/>
              <a:t>, 1953 (53.225.5).</a:t>
            </a:r>
            <a:br>
              <a:rPr lang="en-US" dirty="0"/>
            </a:br>
            <a:r>
              <a:rPr lang="en-US" dirty="0"/>
              <a:t>© 2016. Image copyright The Metropolitan Museum of Art/Art Resource/Scala, Florence.</a:t>
            </a:r>
          </a:p>
        </p:txBody>
      </p:sp>
      <p:pic>
        <p:nvPicPr>
          <p:cNvPr id="2" name="Picture 1" descr="The artist sits at her easel, wearing a shimmering, light-blue satin dress and a wide-brimmed sunhat with a blue ribbon and large white plume. One of the young women behind her looks at the viewer, while the other looks at the canva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3"/>
          <p:cNvSpPr>
            <a:spLocks noGrp="1"/>
          </p:cNvSpPr>
          <p:nvPr>
            <p:ph type="title"/>
          </p:nvPr>
        </p:nvSpPr>
        <p:spPr/>
        <p:txBody>
          <a:bodyPr/>
          <a:lstStyle/>
          <a:p>
            <a:r>
              <a:rPr lang="en-US"/>
              <a:t>Sculpture</a:t>
            </a:r>
          </a:p>
        </p:txBody>
      </p:sp>
      <p:sp>
        <p:nvSpPr>
          <p:cNvPr id="155650" name="Content Placeholder 14"/>
          <p:cNvSpPr>
            <a:spLocks noGrp="1"/>
          </p:cNvSpPr>
          <p:nvPr>
            <p:ph idx="1"/>
          </p:nvPr>
        </p:nvSpPr>
        <p:spPr/>
        <p:txBody>
          <a:bodyPr/>
          <a:lstStyle/>
          <a:p>
            <a:r>
              <a:rPr lang="en-US"/>
              <a:t>Houdon</a:t>
            </a:r>
          </a:p>
          <a:p>
            <a:pPr lvl="1"/>
            <a:r>
              <a:rPr lang="en-US"/>
              <a:t>Jean-Antoine Houdon was commissioned to make the portrait statue of </a:t>
            </a:r>
            <a:r>
              <a:rPr lang="en-US" i="1"/>
              <a:t>George Washington </a:t>
            </a:r>
            <a:r>
              <a:rPr lang="en-US"/>
              <a:t>to be installed in the Virginia state capitol building.</a:t>
            </a:r>
          </a:p>
          <a:p>
            <a:pPr lvl="2"/>
            <a:r>
              <a:rPr lang="en-US"/>
              <a:t>The sculpture dresses Washington in modern clothes, but poses him in a Classical manner.</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Title 3"/>
          <p:cNvSpPr>
            <a:spLocks noGrp="1"/>
          </p:cNvSpPr>
          <p:nvPr>
            <p:ph type="title"/>
          </p:nvPr>
        </p:nvSpPr>
        <p:spPr/>
        <p:txBody>
          <a:bodyPr>
            <a:normAutofit fontScale="90000"/>
          </a:bodyPr>
          <a:lstStyle/>
          <a:p>
            <a:r>
              <a:rPr lang="en-US" dirty="0"/>
              <a:t>Jean-Antoine Houdon GEORGE WASHINGTON</a:t>
            </a:r>
            <a:br>
              <a:rPr lang="en-US" dirty="0"/>
            </a:br>
            <a:r>
              <a:rPr lang="en-US" dirty="0"/>
              <a:t>1788–1792. Marble, height 6</a:t>
            </a:r>
            <a:r>
              <a:rPr lang="uk-UA" dirty="0"/>
              <a:t>'</a:t>
            </a:r>
            <a:r>
              <a:rPr lang="en-US" dirty="0"/>
              <a:t>2</a:t>
            </a:r>
            <a:r>
              <a:rPr lang="ru-RU" dirty="0"/>
              <a:t>"</a:t>
            </a:r>
            <a:r>
              <a:rPr lang="en-US" dirty="0"/>
              <a:t> (1.9 m).</a:t>
            </a:r>
            <a:br>
              <a:rPr lang="en-US" dirty="0"/>
            </a:br>
            <a:r>
              <a:rPr lang="en-US" dirty="0"/>
              <a:t>State Capitol, Richmond, Virginia. </a:t>
            </a:r>
          </a:p>
        </p:txBody>
      </p:sp>
      <p:pic>
        <p:nvPicPr>
          <p:cNvPr id="2" name="Picture 1" descr="Washing stands with his right hand on a finely made walking stick. His uniform is complemented by riding boots with small spurs. He gazes to the horizon, chin slightly elevate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Title 13"/>
          <p:cNvSpPr>
            <a:spLocks noGrp="1"/>
          </p:cNvSpPr>
          <p:nvPr>
            <p:ph type="title"/>
          </p:nvPr>
        </p:nvSpPr>
        <p:spPr/>
        <p:txBody>
          <a:bodyPr/>
          <a:lstStyle/>
          <a:p>
            <a:r>
              <a:rPr lang="en-US"/>
              <a:t>Spain and Spanish America</a:t>
            </a:r>
          </a:p>
        </p:txBody>
      </p:sp>
      <p:sp>
        <p:nvSpPr>
          <p:cNvPr id="158722" name="Content Placeholder 14"/>
          <p:cNvSpPr>
            <a:spLocks noGrp="1"/>
          </p:cNvSpPr>
          <p:nvPr>
            <p:ph idx="1"/>
          </p:nvPr>
        </p:nvSpPr>
        <p:spPr/>
        <p:txBody>
          <a:bodyPr/>
          <a:lstStyle/>
          <a:p>
            <a:r>
              <a:rPr lang="en-US"/>
              <a:t>Spanish artists did not embrace Neoclassicism with as much enthusiasm as the Baroque style.</a:t>
            </a:r>
          </a:p>
          <a:p>
            <a:r>
              <a:rPr lang="en-US"/>
              <a:t>Court painter Francisco Goya shaped art at the end of the eighteenth century.</a:t>
            </a:r>
          </a:p>
          <a:p>
            <a:r>
              <a:rPr lang="en-US"/>
              <a:t>Colonial art and architecture intermingled Spanish Baroque with the traditions of native peoples.</a:t>
            </a:r>
          </a:p>
        </p:txBody>
      </p:sp>
    </p:spTree>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Custom Desig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1777</TotalTime>
  <Words>4986</Words>
  <Application>Microsoft Office PowerPoint</Application>
  <PresentationFormat>On-screen Show (4:3)</PresentationFormat>
  <Paragraphs>254</Paragraphs>
  <Slides>69</Slides>
  <Notes>32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69</vt:i4>
      </vt:variant>
    </vt:vector>
  </HeadingPairs>
  <TitlesOfParts>
    <vt:vector size="74" baseType="lpstr">
      <vt:lpstr>Arial</vt:lpstr>
      <vt:lpstr>Verdana</vt:lpstr>
      <vt:lpstr>Wingdings</vt:lpstr>
      <vt:lpstr>508 Lecture</vt:lpstr>
      <vt:lpstr>Custom Design</vt:lpstr>
      <vt:lpstr>Chapter 23</vt:lpstr>
      <vt:lpstr>Learning Objectives</vt:lpstr>
      <vt:lpstr>Industrial, Intellectual, and Political Revolutions</vt:lpstr>
      <vt:lpstr>John Singleton Copley THOMAS MIFFLIN AND SARAH MORRIS (MR. AND MRS. MIFFLIN) 1773. Oil on canvas, 61-5/8" × 48" (156.5 × 121.9 cm). Philadelphia Museum of Art. © 2016. Photo Art Resource/Scala, Florence.</vt:lpstr>
      <vt:lpstr>EUROPE AND NORTH AMERICA IN THE EIGHTEENTH CENTURY During the eighteenth century, three major artistic styles—Rococo, Neoclassicism, and Romanticism—flourished in Europe and North America.</vt:lpstr>
      <vt:lpstr>Neoclassicism in Rome (1)</vt:lpstr>
      <vt:lpstr>Anton Raphael Mengs PARNASSUS Ceiling fresco in the Villa Albani, Rome. 1761. © akg-images/Mondadori Portfolio/Sergio Anelli. </vt:lpstr>
      <vt:lpstr>Neoclassicism in Rome (2)</vt:lpstr>
      <vt:lpstr>Antonio Canova CUPID AND PSYCHE 1787–1793. Marble, 61 × 68" (1.55 × 1.73 m). Musée du Louvre, Paris. Photo © Dist. RMN-Grand Palais/Raphaël Chipault. </vt:lpstr>
      <vt:lpstr>Neoclassicism and Early Romanticism in Britain</vt:lpstr>
      <vt:lpstr>The Classical Revival in Architecture and Design (1 of 5)</vt:lpstr>
      <vt:lpstr>The Classical Revival in Architecture and Design (2 of 5)</vt:lpstr>
      <vt:lpstr>Richard Boyle (Lord Burlington) EXTERIOR VIEW OF CHISWICK HOUSE West London, England. 1724–1729. Interior decoration (1726–1729) and new gardens (1730–1740) by William Kent. © Achim Bednorz, Cologne. </vt:lpstr>
      <vt:lpstr>Richard Boyle (Lord Burlington) PLAN OF CHISWICK HOUSE West London, England. 1724. </vt:lpstr>
      <vt:lpstr>The Classical Revival in Architecture and Design (3 of 5)</vt:lpstr>
      <vt:lpstr>Henry Flitcroft and Henry Hoare THE PARK AT STOURHEAD Wiltshire, England. Laid out 1743, executed 1744–1765, with continuing additions. Gail Johnson/Fotolia. </vt:lpstr>
      <vt:lpstr>The Classical Revival in Architecture and Design (4 of 5)</vt:lpstr>
      <vt:lpstr>Josiah Wedgwood THE APOTHEOSIS OF HOMER Made at the Wedgwood Etruria factory, Staffordshire, England. 1790–1795. White jasperware body with a mid-blue dip and white relief, height 18" (45.7 cm). Relief of The Apotheosis of Homer adapted from a plaque by John Flaxman, Jr., 1778. Trustees of the Wedgwood Museum, Barlaston, Staffordshire, England. Photo © Wedgwood Museum/WWRD.</vt:lpstr>
      <vt:lpstr>The Classical Revival in Architecture and Design (5 of 5)</vt:lpstr>
      <vt:lpstr>William Hackwood for Josiah Wedgwood "AM I NOT A MAN AND A BROTHER?" 1787. Black-and-white jasperware, 1-3/8" × 1-3/8" (3.5 × 3.5 cm). Trustees of the Wedgwood Museum, Barlaston, Staffordshire, England. Photo © Wedgwood Museum/WWRD. </vt:lpstr>
      <vt:lpstr>The Gothic Revival in Architecture and Design</vt:lpstr>
      <vt:lpstr>Horace Walpole and others STRAWBERRY HILL Twickenham, England. 1749–1776. Photo: Robert Neuman. </vt:lpstr>
      <vt:lpstr>Horace Walpole, John Chute, and Richard Bentley PICTURE GALLERY SHOWING FAN-VAULTED CEILING, STRAWBERRY HILL After 1754. © akg-images /A.F.Kersting. </vt:lpstr>
      <vt:lpstr>Iron as a Building Material</vt:lpstr>
      <vt:lpstr>Abraham Darby III SEVERN RIVER BRIDGE Coalbrookdale, England. 1779. © Dorling Kindersley.</vt:lpstr>
      <vt:lpstr>Trends in British Painting (1 of 12)</vt:lpstr>
      <vt:lpstr>Trends in British Painting (2 of 12)</vt:lpstr>
      <vt:lpstr>William Hogarth THE MARRIAGE CONTRACT From Marriage à la Mode, 1743–1745. Oil on canvas, 27-1/2" × 35-3/4" (69.9 × 90.8 cm). National Gallery, London. © 2016. Copyright The National Gallery, London/Scala, Florence.</vt:lpstr>
      <vt:lpstr>Trends in British Painting (3 of 12)</vt:lpstr>
      <vt:lpstr>Trends in British Painting (4 of 12)</vt:lpstr>
      <vt:lpstr>Joshua Reynolds LADY SARAH BUNBURY SACRIFICING TO THE GRACES 1765. Oil on canvas, 7'10" × 5' (2.42 × 1.53 m). The Art Institute of Chicago. Mr. and Mrs. W. W. Kimball Collection, 1922.4468. © akg-images/De Agostini Picture Lib. </vt:lpstr>
      <vt:lpstr>Trends in British Painting (5 of 12)</vt:lpstr>
      <vt:lpstr>Thomas Gainsborough ROBERT ANDREWS AND FRANCES CARTER (MR. AND MRS. ANDREWS) c. 1748–1750. Oil on canvas, 27-1/2" × 47" (69.7 × 119.3 cm). National Gallery, London. © 2016. Copyright The National Gallery, London/Scala, Florence. </vt:lpstr>
      <vt:lpstr>Trends in British Painting (6 of 12)</vt:lpstr>
      <vt:lpstr>Joseph Wright of Derby AN EXPERIMENT ON A BIRD IN THE AIR-PUMP 1768. Oil on canvas, 6' × 8' (1.82 × 2.43 m). National Gallery, London. © 2016. Copyright The National Gallery, London/Scala, Florence.</vt:lpstr>
      <vt:lpstr>Trends in British Painting (7 of 12)</vt:lpstr>
      <vt:lpstr>Johann Zoffany ACADEMICIANS OF THE ROYAL ACADEMY 1771–1772. Oil on canvas, 47-1/2" × 59-1/2" (120.6 × 151.2 cm). The Royal Collection, Windsor Castle, England. Royal Collection Trust © Her Majesty Queen Elizabeth II, 2016/. Bridgeman Images. </vt:lpstr>
      <vt:lpstr>Trends in British Painting (8 of 12)</vt:lpstr>
      <vt:lpstr>Angelica Kauffmann CORNELIA POINTING TO HER CHILDREN AS HER TREASURES c. 1785. Oil on canvas, 40 × 50" (101.6 × 127 cm). Virginia Museum of Fine Arts, Richmond, Virginia. The Adolph D. and Wilkins C. Williams Fund. Virginia Museum of Fine Arts, Richmond. Photo: Katherine Wetzel. </vt:lpstr>
      <vt:lpstr>Trends in British Painting (9 of 12)</vt:lpstr>
      <vt:lpstr>Benjamin West THE DEATH OF GENERAL WOLFE 1770. Oil on canvas, 4'11-1/2" × 7' (1.51 × 2.14 m). National Gallery of Canada, Ottawa. Transfer from the Canadian War Memorials, 1921. Gift of the 2nd Duke of Westminster, Eaton Hall, Cheshire, 1918. National Gallery of Canada, Ottawa. </vt:lpstr>
      <vt:lpstr>Trends in British Painting (10 of 12)</vt:lpstr>
      <vt:lpstr>John Henry Fuseli THE NIGHTMARE 1781. Oil on canvas, 39-3/4" × 49-1/2" (101 × 127 cm). The Detroit Institute of Arts. Founders Society purchase with Mr. and Mrs. Bert L. Smokler and Mr. and Mrs. Lawrence A. Fleischmann funds. Bridgeman Images</vt:lpstr>
      <vt:lpstr>Trends in British Painting (11 of 12)</vt:lpstr>
      <vt:lpstr>William Blake NEWTON 1795–c. 1805. Color print finished in ink and watercolor, 18-1/8" × 23-5/8" (46 × 60 cm). Tate, London. Photo © Peter Willi/ARTOTHEK. </vt:lpstr>
      <vt:lpstr>Trends in British Painting (12 of 12)</vt:lpstr>
      <vt:lpstr>John Singleton Copley WATSON AND THE SHARK 1778. Oil on canvas, 5'10-3/4" × 7'6-1/2" (1.82 × 2.29 m). National Gallery of Art, Washington, DC. Ferdinand Lammot Belin Fund. Image courtesy the National Gallery of Art, Washington. </vt:lpstr>
      <vt:lpstr>Later Eighteenth-Century Art in France</vt:lpstr>
      <vt:lpstr>Architecture</vt:lpstr>
      <vt:lpstr>Jacques-Germain Soufflot PANTHÉON (CHURCH OF SAINTE-GENEVIÉVE), PARIS 1755–1792. JonRob/Fotolia. </vt:lpstr>
      <vt:lpstr>CUTAWAY ILLUSTRATION OF THE PANTHÉON © Dorling Kindersley. </vt:lpstr>
      <vt:lpstr>Painting (1 of 8)</vt:lpstr>
      <vt:lpstr>Painting (2 of 8)</vt:lpstr>
      <vt:lpstr>Jean-Siméon Chardin SAYING GRACE c. 1740. Oil on canvas, 19 × 15-1⁄8″ (49 × 38 cm). Musée du Louvre, Paris. Photo © Musée du Louvre, Dist. RMN-Grand Palais/Angèle Dequier.</vt:lpstr>
      <vt:lpstr>Painting (3 of 8)</vt:lpstr>
      <vt:lpstr>Jean-Baptiste Greuze THE VILLAGE BRIDE, OR THE MARRIAGE, THE MOMENT WHEN A FATHER GIVES HIS SON-IN-LAW A DOWRY 1761. Oil on canvas, 36" × 46 1/2" (91.4 × 118.1 cm). Musée du Louvre, Paris. Photo © RMN-Grand Palais (musée du Louvre)/Franck Raux. </vt:lpstr>
      <vt:lpstr>Painting (4 of 8)</vt:lpstr>
      <vt:lpstr>Marie-Louise-Élisabeth Vigée-Lebrun PORTRAIT OF MARIE ANTOINETTE WITH HER CHILDREN 1787. Oil on canvas, 9'-1/2" × 7'-5/8" (2.75 × 2.15 m). Musée National du Château de Versailles. © Jean Feuillie/Centre des monuments nationaux.</vt:lpstr>
      <vt:lpstr>Painting (5 of 8)</vt:lpstr>
      <vt:lpstr>Jacques-Louis David OATH OF THE HORATII 1784–1785. Oil on canvas, 10'8-1/4" × 14' (3.26 × 4.27 m). Musée du Louvre, Paris. Photo © RMN-Grand Palais (musée du Louvre)/ Gérard Blot/Christian Jean.</vt:lpstr>
      <vt:lpstr>Painting (6 of 8)</vt:lpstr>
      <vt:lpstr>Jacques-Louis David DEATH OF MARAT 1793. Oil on canvas, 5'5" × 4'2-1/2" (1.65 × 1.28 m). © Royal Museums of Fine Arts of Belgium, Brussels. © Royal Museums of Fine Arts of Belgium, Brussels/Photo: J. Geleyns - Roscan. </vt:lpstr>
      <vt:lpstr>Painting (7 of 8)</vt:lpstr>
      <vt:lpstr>Anne-Louis Girodet-Trioson PORTRAIT OF JEAN-BAPTISTE BELLEY 1797. Oil on canvas, 5'2-1/2" × 3'8-1/2" (1.59 × 1.13 m). Musée National du Château de Versailles. Photo © RMN-Grand Palais (Château de Versailles)/Gérard Blot. </vt:lpstr>
      <vt:lpstr>Painting (8 of 8)</vt:lpstr>
      <vt:lpstr>Adélaïde Labille-Guiard SELF-PORTRAIT WITH TWO PUPILS 1785. Oil on canvas, 6'11" × 4'11-1/2" (2.11 × 1.51 m). Metropolitan Museum of Art, New York. Gift of Julia A. Berwind, 1953 (53.225.5). © 2016. Image copyright The Metropolitan Museum of Art/Art Resource/Scala, Florence.</vt:lpstr>
      <vt:lpstr>Sculpture</vt:lpstr>
      <vt:lpstr>Jean-Antoine Houdon GEORGE WASHINGTON 1788–1792. Marble, height 6'2" (1.9 m). State Capitol, Richmond, Virginia. </vt:lpstr>
      <vt:lpstr>Spain and Spanish America</vt:lpstr>
    </vt:vector>
  </TitlesOfParts>
  <Company>echosvoice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Beverly Murphy</cp:lastModifiedBy>
  <cp:revision>212</cp:revision>
  <dcterms:created xsi:type="dcterms:W3CDTF">2016-12-06T19:25:09Z</dcterms:created>
  <dcterms:modified xsi:type="dcterms:W3CDTF">2020-06-19T21:13:31Z</dcterms:modified>
</cp:coreProperties>
</file>