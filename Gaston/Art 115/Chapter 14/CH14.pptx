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79"/>
  </p:notesMasterIdLst>
  <p:handoutMasterIdLst>
    <p:handoutMasterId r:id="rId80"/>
  </p:handoutMasterIdLst>
  <p:sldIdLst>
    <p:sldId id="595" r:id="rId3"/>
    <p:sldId id="507" r:id="rId4"/>
    <p:sldId id="511" r:id="rId5"/>
    <p:sldId id="512" r:id="rId6"/>
    <p:sldId id="513" r:id="rId7"/>
    <p:sldId id="514" r:id="rId8"/>
    <p:sldId id="515" r:id="rId9"/>
    <p:sldId id="516" r:id="rId10"/>
    <p:sldId id="518" r:id="rId11"/>
    <p:sldId id="519" r:id="rId12"/>
    <p:sldId id="521" r:id="rId13"/>
    <p:sldId id="522" r:id="rId14"/>
    <p:sldId id="524" r:id="rId15"/>
    <p:sldId id="525" r:id="rId16"/>
    <p:sldId id="526" r:id="rId17"/>
    <p:sldId id="527" r:id="rId18"/>
    <p:sldId id="528" r:id="rId19"/>
    <p:sldId id="529" r:id="rId20"/>
    <p:sldId id="530" r:id="rId21"/>
    <p:sldId id="531" r:id="rId22"/>
    <p:sldId id="532" r:id="rId23"/>
    <p:sldId id="533" r:id="rId24"/>
    <p:sldId id="534" r:id="rId25"/>
    <p:sldId id="535" r:id="rId26"/>
    <p:sldId id="536" r:id="rId27"/>
    <p:sldId id="537" r:id="rId28"/>
    <p:sldId id="538" r:id="rId29"/>
    <p:sldId id="539" r:id="rId30"/>
    <p:sldId id="540" r:id="rId31"/>
    <p:sldId id="541" r:id="rId32"/>
    <p:sldId id="542" r:id="rId33"/>
    <p:sldId id="543" r:id="rId34"/>
    <p:sldId id="544" r:id="rId35"/>
    <p:sldId id="545" r:id="rId36"/>
    <p:sldId id="546" r:id="rId37"/>
    <p:sldId id="547" r:id="rId38"/>
    <p:sldId id="548" r:id="rId39"/>
    <p:sldId id="550" r:id="rId40"/>
    <p:sldId id="551" r:id="rId41"/>
    <p:sldId id="552" r:id="rId42"/>
    <p:sldId id="553" r:id="rId43"/>
    <p:sldId id="554" r:id="rId44"/>
    <p:sldId id="555" r:id="rId45"/>
    <p:sldId id="556" r:id="rId46"/>
    <p:sldId id="557" r:id="rId47"/>
    <p:sldId id="558" r:id="rId48"/>
    <p:sldId id="559" r:id="rId49"/>
    <p:sldId id="560" r:id="rId50"/>
    <p:sldId id="563" r:id="rId51"/>
    <p:sldId id="565" r:id="rId52"/>
    <p:sldId id="564" r:id="rId53"/>
    <p:sldId id="566" r:id="rId54"/>
    <p:sldId id="567" r:id="rId55"/>
    <p:sldId id="568" r:id="rId56"/>
    <p:sldId id="569" r:id="rId57"/>
    <p:sldId id="571" r:id="rId58"/>
    <p:sldId id="572" r:id="rId59"/>
    <p:sldId id="573" r:id="rId60"/>
    <p:sldId id="574" r:id="rId61"/>
    <p:sldId id="575" r:id="rId62"/>
    <p:sldId id="576" r:id="rId63"/>
    <p:sldId id="577" r:id="rId64"/>
    <p:sldId id="578" r:id="rId65"/>
    <p:sldId id="579" r:id="rId66"/>
    <p:sldId id="580" r:id="rId67"/>
    <p:sldId id="581" r:id="rId68"/>
    <p:sldId id="582" r:id="rId69"/>
    <p:sldId id="583" r:id="rId70"/>
    <p:sldId id="584" r:id="rId71"/>
    <p:sldId id="585" r:id="rId72"/>
    <p:sldId id="586" r:id="rId73"/>
    <p:sldId id="587" r:id="rId74"/>
    <p:sldId id="588" r:id="rId75"/>
    <p:sldId id="589" r:id="rId76"/>
    <p:sldId id="590" r:id="rId77"/>
    <p:sldId id="591"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5" autoAdjust="0"/>
    <p:restoredTop sz="86524" autoAdjust="0"/>
  </p:normalViewPr>
  <p:slideViewPr>
    <p:cSldViewPr>
      <p:cViewPr varScale="1">
        <p:scale>
          <a:sx n="89" d="100"/>
          <a:sy n="89" d="100"/>
        </p:scale>
        <p:origin x="1182" y="66"/>
      </p:cViewPr>
      <p:guideLst>
        <p:guide orient="horz" pos="2160"/>
        <p:guide pos="2880"/>
      </p:guideLst>
    </p:cSldViewPr>
  </p:slideViewPr>
  <p:outlineViewPr>
    <p:cViewPr>
      <p:scale>
        <a:sx n="33" d="100"/>
        <a:sy n="33" d="100"/>
      </p:scale>
      <p:origin x="0" y="-48392"/>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p:spPr>
      </p:sp>
      <p:sp>
        <p:nvSpPr>
          <p:cNvPr id="14338" name="Notes Placeholder 2"/>
          <p:cNvSpPr>
            <a:spLocks noGrp="1"/>
          </p:cNvSpPr>
          <p:nvPr>
            <p:ph type="body" idx="1"/>
          </p:nvPr>
        </p:nvSpPr>
        <p:spPr bwMode="auto">
          <a:noFill/>
        </p:spPr>
        <p:txBody>
          <a:bodyPr/>
          <a:lstStyle/>
          <a:p>
            <a:pPr>
              <a:spcBef>
                <a:spcPct val="0"/>
              </a:spcBef>
            </a:pPr>
            <a:r>
              <a:rPr lang="en-US" dirty="0"/>
              <a:t>Jan van Eyck DOUBLE PORTRAIT OF GIOVANNI ARNOLFINI AND HIS WIFE</a:t>
            </a:r>
            <a:br>
              <a:rPr lang="en-US" dirty="0"/>
            </a:br>
            <a:r>
              <a:rPr lang="en-US" dirty="0"/>
              <a:t>1434. Oil on wood panel, 33</a:t>
            </a:r>
            <a:r>
              <a:rPr lang="ru-RU" dirty="0"/>
              <a:t>"</a:t>
            </a:r>
            <a:r>
              <a:rPr lang="en-US" dirty="0"/>
              <a:t> × 22-1/2</a:t>
            </a:r>
            <a:r>
              <a:rPr lang="ru-RU" dirty="0"/>
              <a:t>"</a:t>
            </a:r>
            <a:r>
              <a:rPr lang="en-US" dirty="0"/>
              <a:t> (83.8 × 57.2 cm).</a:t>
            </a:r>
            <a:br>
              <a:rPr lang="en-US" dirty="0"/>
            </a:br>
            <a:r>
              <a:rPr lang="en-US" dirty="0"/>
              <a:t>The National Gallery, London. © 2016. Copyright The National Gallery, London/Scala, Florence</a:t>
            </a:r>
          </a:p>
        </p:txBody>
      </p:sp>
      <p:sp>
        <p:nvSpPr>
          <p:cNvPr id="14339" name="Slide Number Placeholder 3"/>
          <p:cNvSpPr>
            <a:spLocks noGrp="1"/>
          </p:cNvSpPr>
          <p:nvPr>
            <p:ph type="sldNum" sz="quarter" idx="5"/>
          </p:nvPr>
        </p:nvSpPr>
        <p:spPr bwMode="auto">
          <a:noFill/>
          <a:ln>
            <a:miter lim="800000"/>
            <a:headEnd/>
            <a:tailEnd/>
          </a:ln>
        </p:spPr>
        <p:txBody>
          <a:bodyPr/>
          <a:lstStyle/>
          <a:p>
            <a:fld id="{FDB5A661-CE20-D745-B2F9-C45DF502FA98}" type="slidenum">
              <a:rPr lang="en-US"/>
              <a:pPr/>
              <a:t>3</a:t>
            </a:fld>
            <a:endParaRPr lang="en-US"/>
          </a:p>
        </p:txBody>
      </p:sp>
    </p:spTree>
    <p:extLst>
      <p:ext uri="{BB962C8B-B14F-4D97-AF65-F5344CB8AC3E}">
        <p14:creationId xmlns:p14="http://schemas.microsoft.com/office/powerpoint/2010/main" val="1128077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noTextEdit="1"/>
          </p:cNvSpPr>
          <p:nvPr>
            <p:ph type="sldImg"/>
          </p:nvPr>
        </p:nvSpPr>
        <p:spPr bwMode="auto">
          <a:noFill/>
          <a:ln>
            <a:solidFill>
              <a:srgbClr val="000000"/>
            </a:solidFill>
            <a:miter lim="800000"/>
            <a:headEnd/>
            <a:tailEnd/>
          </a:ln>
        </p:spPr>
      </p:sp>
      <p:sp>
        <p:nvSpPr>
          <p:cNvPr id="17410" name="Notes Placeholder 2"/>
          <p:cNvSpPr>
            <a:spLocks noGrp="1"/>
          </p:cNvSpPr>
          <p:nvPr>
            <p:ph type="body" idx="1"/>
          </p:nvPr>
        </p:nvSpPr>
        <p:spPr bwMode="auto">
          <a:noFill/>
        </p:spPr>
        <p:txBody>
          <a:bodyPr/>
          <a:lstStyle/>
          <a:p>
            <a:pPr>
              <a:spcBef>
                <a:spcPct val="0"/>
              </a:spcBef>
            </a:pPr>
            <a:r>
              <a:rPr lang="en-US" dirty="0"/>
              <a:t>FIFTEENTH-CENTURY NORTHERN EUROPE</a:t>
            </a:r>
            <a:br>
              <a:rPr lang="en-US" dirty="0"/>
            </a:br>
            <a:r>
              <a:rPr lang="en-US" dirty="0"/>
              <a:t>The dukes of Burgundy—whose territory included much of present-day Belgium and Luxembourg, the Netherlands, and eastern France—became the cultural and political leaders of western Europe. Their major cities of Bruges (Belgium) and Dijon (France) were centers of art and industry as well as politics.</a:t>
            </a:r>
          </a:p>
        </p:txBody>
      </p:sp>
      <p:sp>
        <p:nvSpPr>
          <p:cNvPr id="17411" name="Slide Number Placeholder 3"/>
          <p:cNvSpPr>
            <a:spLocks noGrp="1"/>
          </p:cNvSpPr>
          <p:nvPr>
            <p:ph type="sldNum" sz="quarter" idx="5"/>
          </p:nvPr>
        </p:nvSpPr>
        <p:spPr bwMode="auto">
          <a:noFill/>
          <a:ln>
            <a:miter lim="800000"/>
            <a:headEnd/>
            <a:tailEnd/>
          </a:ln>
        </p:spPr>
        <p:txBody>
          <a:bodyPr/>
          <a:lstStyle/>
          <a:p>
            <a:fld id="{9AB2CF5F-BA0D-A64E-B4D1-B3A65C00D65D}" type="slidenum">
              <a:rPr lang="en-US"/>
              <a:pPr/>
              <a:t>5</a:t>
            </a:fld>
            <a:endParaRPr lang="en-US"/>
          </a:p>
        </p:txBody>
      </p:sp>
    </p:spTree>
    <p:extLst>
      <p:ext uri="{BB962C8B-B14F-4D97-AF65-F5344CB8AC3E}">
        <p14:creationId xmlns:p14="http://schemas.microsoft.com/office/powerpoint/2010/main" val="1608436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a:lstStyle/>
          <a:p>
            <a:pPr>
              <a:spcBef>
                <a:spcPct val="0"/>
              </a:spcBef>
            </a:pPr>
            <a:r>
              <a:rPr lang="en-US" dirty="0"/>
              <a:t>Melchior </a:t>
            </a:r>
            <a:r>
              <a:rPr lang="en-US" dirty="0" err="1"/>
              <a:t>Broederlam</a:t>
            </a:r>
            <a:r>
              <a:rPr lang="en-US" dirty="0"/>
              <a:t> ANNUNCIATION, VISITATION, PRESENTATION IN THE TEMPLE, AND FLIGHT INTO EGYPT</a:t>
            </a:r>
            <a:br>
              <a:rPr lang="en-US" dirty="0"/>
            </a:br>
            <a:r>
              <a:rPr lang="en-US" dirty="0"/>
              <a:t>Exterior of the wings of the altarpiece of the Chartreuse de </a:t>
            </a:r>
            <a:r>
              <a:rPr lang="en-US" dirty="0" err="1"/>
              <a:t>Champmol</a:t>
            </a:r>
            <a:r>
              <a:rPr lang="en-US" dirty="0"/>
              <a:t>. 1393–1399.</a:t>
            </a:r>
            <a:br>
              <a:rPr lang="en-US" dirty="0"/>
            </a:br>
            <a:r>
              <a:rPr lang="en-US" dirty="0"/>
              <a:t>Oil on wood panel, 5</a:t>
            </a:r>
            <a:r>
              <a:rPr lang="uk-UA" dirty="0"/>
              <a:t>'</a:t>
            </a:r>
            <a:r>
              <a:rPr lang="en-US" dirty="0"/>
              <a:t>5-3/4</a:t>
            </a:r>
            <a:r>
              <a:rPr lang="ru-RU" dirty="0"/>
              <a:t>"</a:t>
            </a:r>
            <a:r>
              <a:rPr lang="en-US" dirty="0"/>
              <a:t> × 4</a:t>
            </a:r>
            <a:r>
              <a:rPr lang="uk-UA" dirty="0"/>
              <a:t>'</a:t>
            </a:r>
            <a:r>
              <a:rPr lang="en-US" dirty="0"/>
              <a:t>1-1/4</a:t>
            </a:r>
            <a:r>
              <a:rPr lang="ru-RU" dirty="0"/>
              <a:t>"</a:t>
            </a:r>
            <a:r>
              <a:rPr lang="en-US" dirty="0"/>
              <a:t> (1.67 × 1.25 m).</a:t>
            </a:r>
            <a:br>
              <a:rPr lang="en-US" dirty="0"/>
            </a:br>
            <a:r>
              <a:rPr lang="en-US" dirty="0" err="1"/>
              <a:t>Musée</a:t>
            </a:r>
            <a:r>
              <a:rPr lang="en-US" dirty="0"/>
              <a:t> des Beaux-Arts, Dijon. © </a:t>
            </a:r>
            <a:r>
              <a:rPr lang="en-US" dirty="0" err="1"/>
              <a:t>akg</a:t>
            </a:r>
            <a:r>
              <a:rPr lang="en-US" dirty="0"/>
              <a:t>-images/Erich Lessing. </a:t>
            </a:r>
          </a:p>
        </p:txBody>
      </p:sp>
      <p:sp>
        <p:nvSpPr>
          <p:cNvPr id="21507" name="Slide Number Placeholder 3"/>
          <p:cNvSpPr>
            <a:spLocks noGrp="1"/>
          </p:cNvSpPr>
          <p:nvPr>
            <p:ph type="sldNum" sz="quarter" idx="5"/>
          </p:nvPr>
        </p:nvSpPr>
        <p:spPr bwMode="auto">
          <a:noFill/>
          <a:ln>
            <a:miter lim="800000"/>
            <a:headEnd/>
            <a:tailEnd/>
          </a:ln>
        </p:spPr>
        <p:txBody>
          <a:bodyPr/>
          <a:lstStyle/>
          <a:p>
            <a:fld id="{195BA31A-2BFA-2E43-9B6C-9143C968F2C4}" type="slidenum">
              <a:rPr lang="en-US"/>
              <a:pPr/>
              <a:t>8</a:t>
            </a:fld>
            <a:endParaRPr lang="en-US"/>
          </a:p>
        </p:txBody>
      </p:sp>
    </p:spTree>
    <p:extLst>
      <p:ext uri="{BB962C8B-B14F-4D97-AF65-F5344CB8AC3E}">
        <p14:creationId xmlns:p14="http://schemas.microsoft.com/office/powerpoint/2010/main" val="1841363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a:lstStyle/>
          <a:p>
            <a:pPr>
              <a:spcBef>
                <a:spcPct val="0"/>
              </a:spcBef>
            </a:pPr>
            <a:r>
              <a:rPr lang="en-US"/>
              <a:t>ART AND ITS CONTEXTS: Altars and Alterpieces</a:t>
            </a:r>
            <a:br>
              <a:rPr lang="en-US"/>
            </a:br>
            <a:r>
              <a:rPr lang="en-US"/>
              <a:t>Kathy Mrozek</a:t>
            </a:r>
          </a:p>
        </p:txBody>
      </p:sp>
      <p:sp>
        <p:nvSpPr>
          <p:cNvPr id="26627" name="Slide Number Placeholder 3"/>
          <p:cNvSpPr>
            <a:spLocks noGrp="1"/>
          </p:cNvSpPr>
          <p:nvPr>
            <p:ph type="sldNum" sz="quarter" idx="5"/>
          </p:nvPr>
        </p:nvSpPr>
        <p:spPr bwMode="auto">
          <a:noFill/>
          <a:ln>
            <a:miter lim="800000"/>
            <a:headEnd/>
            <a:tailEnd/>
          </a:ln>
        </p:spPr>
        <p:txBody>
          <a:bodyPr/>
          <a:lstStyle/>
          <a:p>
            <a:fld id="{9EAAD550-E4F6-A54F-A3BF-622F45814063}" type="slidenum">
              <a:rPr lang="en-US"/>
              <a:pPr/>
              <a:t>10</a:t>
            </a:fld>
            <a:endParaRPr lang="en-US"/>
          </a:p>
        </p:txBody>
      </p:sp>
    </p:spTree>
    <p:extLst>
      <p:ext uri="{BB962C8B-B14F-4D97-AF65-F5344CB8AC3E}">
        <p14:creationId xmlns:p14="http://schemas.microsoft.com/office/powerpoint/2010/main" val="1171970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bwMode="auto">
          <a:noFill/>
          <a:ln>
            <a:solidFill>
              <a:srgbClr val="000000"/>
            </a:solidFill>
            <a:miter lim="800000"/>
            <a:headEnd/>
            <a:tailEnd/>
          </a:ln>
        </p:spPr>
      </p:sp>
      <p:sp>
        <p:nvSpPr>
          <p:cNvPr id="31746" name="Notes Placeholder 2"/>
          <p:cNvSpPr>
            <a:spLocks noGrp="1"/>
          </p:cNvSpPr>
          <p:nvPr>
            <p:ph type="body" idx="1"/>
          </p:nvPr>
        </p:nvSpPr>
        <p:spPr bwMode="auto">
          <a:noFill/>
        </p:spPr>
        <p:txBody>
          <a:bodyPr/>
          <a:lstStyle/>
          <a:p>
            <a:pPr>
              <a:spcBef>
                <a:spcPct val="0"/>
              </a:spcBef>
            </a:pPr>
            <a:r>
              <a:rPr lang="en-US" dirty="0"/>
              <a:t>Claus </a:t>
            </a:r>
            <a:r>
              <a:rPr lang="en-US" dirty="0" err="1"/>
              <a:t>Sluter</a:t>
            </a:r>
            <a:r>
              <a:rPr lang="en-US" dirty="0"/>
              <a:t> WELL OF MOSES, DETAIL OF MOSES AND DAVID</a:t>
            </a:r>
            <a:br>
              <a:rPr lang="en-US" dirty="0"/>
            </a:br>
            <a:r>
              <a:rPr lang="en-US" dirty="0"/>
              <a:t>The Chartreuse de </a:t>
            </a:r>
            <a:r>
              <a:rPr lang="en-US" dirty="0" err="1"/>
              <a:t>Champmol</a:t>
            </a:r>
            <a:r>
              <a:rPr lang="en-US" dirty="0"/>
              <a:t>, Dijon, France. 1395–1406.</a:t>
            </a:r>
            <a:br>
              <a:rPr lang="en-US" dirty="0"/>
            </a:br>
            <a:r>
              <a:rPr lang="en-US" dirty="0"/>
              <a:t>Limestone with traces of paint, height of figures about 5</a:t>
            </a:r>
            <a:r>
              <a:rPr lang="uk-UA" dirty="0"/>
              <a:t>'</a:t>
            </a:r>
            <a:r>
              <a:rPr lang="en-US" dirty="0"/>
              <a:t>8</a:t>
            </a:r>
            <a:r>
              <a:rPr lang="ru-RU" dirty="0"/>
              <a:t>"</a:t>
            </a:r>
            <a:r>
              <a:rPr lang="en-US" dirty="0"/>
              <a:t> (1.69 m).</a:t>
            </a:r>
            <a:br>
              <a:rPr lang="en-US" dirty="0"/>
            </a:br>
            <a:r>
              <a:rPr lang="en-US" dirty="0"/>
              <a:t>© Paul M.R. </a:t>
            </a:r>
            <a:r>
              <a:rPr lang="en-US" dirty="0" err="1"/>
              <a:t>Maeyaert</a:t>
            </a:r>
            <a:r>
              <a:rPr lang="en-US" dirty="0"/>
              <a:t>.</a:t>
            </a:r>
          </a:p>
        </p:txBody>
      </p:sp>
      <p:sp>
        <p:nvSpPr>
          <p:cNvPr id="31747" name="Slide Number Placeholder 3"/>
          <p:cNvSpPr>
            <a:spLocks noGrp="1"/>
          </p:cNvSpPr>
          <p:nvPr>
            <p:ph type="sldNum" sz="quarter" idx="5"/>
          </p:nvPr>
        </p:nvSpPr>
        <p:spPr bwMode="auto">
          <a:noFill/>
          <a:ln>
            <a:miter lim="800000"/>
            <a:headEnd/>
            <a:tailEnd/>
          </a:ln>
        </p:spPr>
        <p:txBody>
          <a:bodyPr/>
          <a:lstStyle/>
          <a:p>
            <a:fld id="{02EC893E-BD3A-0E46-855C-A1D7D3547365}" type="slidenum">
              <a:rPr lang="en-US"/>
              <a:pPr/>
              <a:t>12</a:t>
            </a:fld>
            <a:endParaRPr lang="en-US"/>
          </a:p>
        </p:txBody>
      </p:sp>
    </p:spTree>
    <p:extLst>
      <p:ext uri="{BB962C8B-B14F-4D97-AF65-F5344CB8AC3E}">
        <p14:creationId xmlns:p14="http://schemas.microsoft.com/office/powerpoint/2010/main" val="1146389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Slide Image Placeholder 1"/>
          <p:cNvSpPr>
            <a:spLocks noGrp="1" noRot="1" noChangeAspect="1" noTextEdit="1"/>
          </p:cNvSpPr>
          <p:nvPr>
            <p:ph type="sldImg"/>
          </p:nvPr>
        </p:nvSpPr>
        <p:spPr bwMode="auto">
          <a:noFill/>
          <a:ln>
            <a:solidFill>
              <a:srgbClr val="000000"/>
            </a:solidFill>
            <a:miter lim="800000"/>
            <a:headEnd/>
            <a:tailEnd/>
          </a:ln>
        </p:spPr>
      </p:sp>
      <p:sp>
        <p:nvSpPr>
          <p:cNvPr id="146434" name="Notes Placeholder 2"/>
          <p:cNvSpPr>
            <a:spLocks noGrp="1"/>
          </p:cNvSpPr>
          <p:nvPr>
            <p:ph type="body" idx="1"/>
          </p:nvPr>
        </p:nvSpPr>
        <p:spPr bwMode="auto">
          <a:noFill/>
        </p:spPr>
        <p:txBody>
          <a:bodyPr/>
          <a:lstStyle/>
          <a:p>
            <a:r>
              <a:rPr lang="en-US" dirty="0"/>
              <a:t>PAGE WITH A MINIATURE PAINTING  OF THAMYRIS</a:t>
            </a:r>
            <a:br>
              <a:rPr lang="en-US" dirty="0"/>
            </a:br>
            <a:r>
              <a:rPr lang="en-US" dirty="0"/>
              <a:t>From Giovanni Boccaccio</a:t>
            </a:r>
            <a:r>
              <a:rPr lang="uk-UA" dirty="0"/>
              <a:t>'</a:t>
            </a:r>
            <a:r>
              <a:rPr lang="en-US" dirty="0"/>
              <a:t>s </a:t>
            </a:r>
            <a:r>
              <a:rPr lang="en-US" i="1" dirty="0"/>
              <a:t>De Claris </a:t>
            </a:r>
            <a:r>
              <a:rPr lang="en-US" i="1" dirty="0" err="1"/>
              <a:t>Mulieribus</a:t>
            </a:r>
            <a:r>
              <a:rPr lang="en-US" i="1" dirty="0"/>
              <a:t> (Concerning Famous Women)</a:t>
            </a:r>
            <a:r>
              <a:rPr lang="en-US" dirty="0"/>
              <a:t>. 1402.</a:t>
            </a:r>
            <a:br>
              <a:rPr lang="en-US" dirty="0"/>
            </a:br>
            <a:r>
              <a:rPr lang="en-US" dirty="0"/>
              <a:t>Ink and tempera on vellum, 14 × 91⁄2″ (35.5 × 24 cm). </a:t>
            </a:r>
            <a:r>
              <a:rPr lang="en-US" dirty="0" err="1"/>
              <a:t>Bibliothèque</a:t>
            </a:r>
            <a:r>
              <a:rPr lang="en-US" dirty="0"/>
              <a:t> </a:t>
            </a:r>
            <a:r>
              <a:rPr lang="en-US" dirty="0" err="1"/>
              <a:t>Nationale</a:t>
            </a:r>
            <a:r>
              <a:rPr lang="en-US" dirty="0"/>
              <a:t>, Paris. </a:t>
            </a:r>
            <a:br>
              <a:rPr lang="en-US" dirty="0"/>
            </a:br>
            <a:r>
              <a:rPr lang="en-US" dirty="0" err="1"/>
              <a:t>Bibliothèque</a:t>
            </a:r>
            <a:r>
              <a:rPr lang="en-US" dirty="0"/>
              <a:t> </a:t>
            </a:r>
            <a:r>
              <a:rPr lang="en-US" dirty="0" err="1"/>
              <a:t>Nationale</a:t>
            </a:r>
            <a:r>
              <a:rPr lang="en-US" dirty="0"/>
              <a:t> de France, Paris.</a:t>
            </a:r>
          </a:p>
        </p:txBody>
      </p:sp>
      <p:sp>
        <p:nvSpPr>
          <p:cNvPr id="146435" name="Slide Number Placeholder 3"/>
          <p:cNvSpPr>
            <a:spLocks noGrp="1"/>
          </p:cNvSpPr>
          <p:nvPr>
            <p:ph type="sldNum" sz="quarter" idx="5"/>
          </p:nvPr>
        </p:nvSpPr>
        <p:spPr bwMode="auto">
          <a:noFill/>
          <a:ln>
            <a:miter lim="800000"/>
            <a:headEnd/>
            <a:tailEnd/>
          </a:ln>
        </p:spPr>
        <p:txBody>
          <a:bodyPr/>
          <a:lstStyle/>
          <a:p>
            <a:fld id="{84122C94-0FA4-7846-BD3D-512785048096}" type="slidenum">
              <a:rPr lang="en-US"/>
              <a:pPr/>
              <a:t>14</a:t>
            </a:fld>
            <a:endParaRPr lang="en-US"/>
          </a:p>
        </p:txBody>
      </p:sp>
    </p:spTree>
    <p:extLst>
      <p:ext uri="{BB962C8B-B14F-4D97-AF65-F5344CB8AC3E}">
        <p14:creationId xmlns:p14="http://schemas.microsoft.com/office/powerpoint/2010/main" val="1207544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a:lstStyle/>
          <a:p>
            <a:pPr>
              <a:spcBef>
                <a:spcPct val="0"/>
              </a:spcBef>
            </a:pPr>
            <a:r>
              <a:rPr lang="en-US" dirty="0"/>
              <a:t>Paul, Herman, and Jean Limbourg FEBRUARY: LIFE IN THE COUNTRY, TRÈS RICHES HEURES</a:t>
            </a:r>
            <a:br>
              <a:rPr lang="en-US" dirty="0"/>
            </a:br>
            <a:r>
              <a:rPr lang="en-US" dirty="0"/>
              <a:t>1411–1416. Colors and ink on parchment, 11-3/8</a:t>
            </a:r>
            <a:r>
              <a:rPr lang="ru-RU" dirty="0"/>
              <a:t>"</a:t>
            </a:r>
            <a:r>
              <a:rPr lang="en-US" dirty="0"/>
              <a:t> × 8-1/4</a:t>
            </a:r>
            <a:r>
              <a:rPr lang="ru-RU" dirty="0"/>
              <a:t>"</a:t>
            </a:r>
            <a:r>
              <a:rPr lang="en-US" dirty="0"/>
              <a:t> (29 × 21 cm).</a:t>
            </a:r>
            <a:br>
              <a:rPr lang="en-US" dirty="0"/>
            </a:br>
            <a:r>
              <a:rPr lang="en-US" dirty="0" err="1"/>
              <a:t>Musée</a:t>
            </a:r>
            <a:r>
              <a:rPr lang="en-US" dirty="0"/>
              <a:t> Condé, Chantilly, France. Photo © RMN-Grand Palais/René-Gabriel </a:t>
            </a:r>
            <a:r>
              <a:rPr lang="en-US" dirty="0" err="1"/>
              <a:t>Ojéda</a:t>
            </a:r>
            <a:r>
              <a:rPr lang="en-US" dirty="0"/>
              <a:t>.</a:t>
            </a:r>
          </a:p>
        </p:txBody>
      </p:sp>
      <p:sp>
        <p:nvSpPr>
          <p:cNvPr id="37891" name="Slide Number Placeholder 3"/>
          <p:cNvSpPr>
            <a:spLocks noGrp="1"/>
          </p:cNvSpPr>
          <p:nvPr>
            <p:ph type="sldNum" sz="quarter" idx="5"/>
          </p:nvPr>
        </p:nvSpPr>
        <p:spPr bwMode="auto">
          <a:noFill/>
          <a:ln>
            <a:miter lim="800000"/>
            <a:headEnd/>
            <a:tailEnd/>
          </a:ln>
        </p:spPr>
        <p:txBody>
          <a:bodyPr/>
          <a:lstStyle/>
          <a:p>
            <a:fld id="{D4EA146D-23A4-EA4B-80A8-8392E7A25D78}" type="slidenum">
              <a:rPr lang="en-US"/>
              <a:pPr/>
              <a:t>16</a:t>
            </a:fld>
            <a:endParaRPr lang="en-US"/>
          </a:p>
        </p:txBody>
      </p:sp>
    </p:spTree>
    <p:extLst>
      <p:ext uri="{BB962C8B-B14F-4D97-AF65-F5344CB8AC3E}">
        <p14:creationId xmlns:p14="http://schemas.microsoft.com/office/powerpoint/2010/main" val="1486871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a:lstStyle/>
          <a:p>
            <a:pPr>
              <a:spcBef>
                <a:spcPct val="0"/>
              </a:spcBef>
            </a:pPr>
            <a:r>
              <a:rPr lang="en-US" dirty="0"/>
              <a:t>Paul, Herman, and Jean Limbourg JANUARY: THE DUKE OF BERRY AT TABLE, TRÈS RICHES HEURES</a:t>
            </a:r>
            <a:br>
              <a:rPr lang="en-US" dirty="0"/>
            </a:br>
            <a:r>
              <a:rPr lang="en-US" dirty="0"/>
              <a:t>1411–1416. Colors and ink on parchment, 11-3/8</a:t>
            </a:r>
            <a:r>
              <a:rPr lang="ru-RU" dirty="0"/>
              <a:t>"</a:t>
            </a:r>
            <a:r>
              <a:rPr lang="en-US" dirty="0"/>
              <a:t> × 8-1/4</a:t>
            </a:r>
            <a:r>
              <a:rPr lang="ru-RU" dirty="0"/>
              <a:t>"</a:t>
            </a:r>
            <a:r>
              <a:rPr lang="en-US" dirty="0"/>
              <a:t> (29 × 21 cm).</a:t>
            </a:r>
            <a:br>
              <a:rPr lang="en-US" dirty="0"/>
            </a:br>
            <a:r>
              <a:rPr lang="en-US" dirty="0" err="1"/>
              <a:t>Musée</a:t>
            </a:r>
            <a:r>
              <a:rPr lang="en-US" dirty="0"/>
              <a:t> Condé, Chantilly, France. Photo © RMN-Grand Palais/René-Gabriel </a:t>
            </a:r>
            <a:r>
              <a:rPr lang="en-US" dirty="0" err="1"/>
              <a:t>Ojéda</a:t>
            </a:r>
            <a:r>
              <a:rPr lang="en-US" dirty="0"/>
              <a:t>.</a:t>
            </a:r>
            <a:br>
              <a:rPr lang="en-US" dirty="0"/>
            </a:br>
            <a:endParaRPr lang="en-US" dirty="0"/>
          </a:p>
        </p:txBody>
      </p:sp>
      <p:sp>
        <p:nvSpPr>
          <p:cNvPr id="40963" name="Slide Number Placeholder 3"/>
          <p:cNvSpPr>
            <a:spLocks noGrp="1"/>
          </p:cNvSpPr>
          <p:nvPr>
            <p:ph type="sldNum" sz="quarter" idx="5"/>
          </p:nvPr>
        </p:nvSpPr>
        <p:spPr bwMode="auto">
          <a:noFill/>
          <a:ln>
            <a:miter lim="800000"/>
            <a:headEnd/>
            <a:tailEnd/>
          </a:ln>
        </p:spPr>
        <p:txBody>
          <a:bodyPr/>
          <a:lstStyle/>
          <a:p>
            <a:fld id="{F992152F-30CC-7A43-A325-C7A81F867A30}" type="slidenum">
              <a:rPr lang="en-US"/>
              <a:pPr/>
              <a:t>18</a:t>
            </a:fld>
            <a:endParaRPr lang="en-US"/>
          </a:p>
        </p:txBody>
      </p:sp>
    </p:spTree>
    <p:extLst>
      <p:ext uri="{BB962C8B-B14F-4D97-AF65-F5344CB8AC3E}">
        <p14:creationId xmlns:p14="http://schemas.microsoft.com/office/powerpoint/2010/main" val="1735197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p:spPr>
      </p:sp>
      <p:sp>
        <p:nvSpPr>
          <p:cNvPr id="44034" name="Notes Placeholder 2"/>
          <p:cNvSpPr>
            <a:spLocks noGrp="1"/>
          </p:cNvSpPr>
          <p:nvPr>
            <p:ph type="body" idx="1"/>
          </p:nvPr>
        </p:nvSpPr>
        <p:spPr bwMode="auto">
          <a:noFill/>
        </p:spPr>
        <p:txBody>
          <a:bodyPr/>
          <a:lstStyle/>
          <a:p>
            <a:pPr>
              <a:spcBef>
                <a:spcPct val="0"/>
              </a:spcBef>
            </a:pPr>
            <a:r>
              <a:rPr lang="en-US" dirty="0"/>
              <a:t>Mary of Burgundy Painter MARY AT HER DEVOTIONS, HOURS OF MARY OF BURGUNDY</a:t>
            </a:r>
            <a:br>
              <a:rPr lang="en-US" dirty="0"/>
            </a:br>
            <a:r>
              <a:rPr lang="en-US" dirty="0"/>
              <a:t>Before 1482. Colors and ink on parchment, size of image 7 1/2</a:t>
            </a:r>
            <a:r>
              <a:rPr lang="ru-RU" dirty="0"/>
              <a:t>"</a:t>
            </a:r>
            <a:r>
              <a:rPr lang="en-US" dirty="0"/>
              <a:t> × 5 1/4</a:t>
            </a:r>
            <a:r>
              <a:rPr lang="ru-RU" dirty="0"/>
              <a:t>"</a:t>
            </a:r>
            <a:r>
              <a:rPr lang="en-US" dirty="0"/>
              <a:t> (19.1 × 13.3 cm). </a:t>
            </a:r>
            <a:r>
              <a:rPr lang="en-US" dirty="0" err="1"/>
              <a:t>Österreichische</a:t>
            </a:r>
            <a:r>
              <a:rPr lang="en-US" dirty="0"/>
              <a:t> </a:t>
            </a:r>
            <a:r>
              <a:rPr lang="en-US" dirty="0" err="1"/>
              <a:t>Nationalbibliothek</a:t>
            </a:r>
            <a:r>
              <a:rPr lang="en-US" dirty="0"/>
              <a:t>, Vienna. © 2016. </a:t>
            </a:r>
            <a:r>
              <a:rPr lang="en-US" dirty="0" err="1"/>
              <a:t>DeAgostini</a:t>
            </a:r>
            <a:r>
              <a:rPr lang="en-US" dirty="0"/>
              <a:t> Picture </a:t>
            </a:r>
            <a:r>
              <a:rPr lang="en-US" dirty="0" err="1"/>
              <a:t>Libary</a:t>
            </a:r>
            <a:r>
              <a:rPr lang="en-US" dirty="0"/>
              <a:t>/Scala, Florence</a:t>
            </a:r>
          </a:p>
        </p:txBody>
      </p:sp>
      <p:sp>
        <p:nvSpPr>
          <p:cNvPr id="44035" name="Slide Number Placeholder 3"/>
          <p:cNvSpPr>
            <a:spLocks noGrp="1"/>
          </p:cNvSpPr>
          <p:nvPr>
            <p:ph type="sldNum" sz="quarter" idx="5"/>
          </p:nvPr>
        </p:nvSpPr>
        <p:spPr bwMode="auto">
          <a:noFill/>
          <a:ln>
            <a:miter lim="800000"/>
            <a:headEnd/>
            <a:tailEnd/>
          </a:ln>
        </p:spPr>
        <p:txBody>
          <a:bodyPr/>
          <a:lstStyle/>
          <a:p>
            <a:fld id="{FB156E9A-7503-9B45-B533-8929138B5477}" type="slidenum">
              <a:rPr lang="en-US"/>
              <a:pPr/>
              <a:t>20</a:t>
            </a:fld>
            <a:endParaRPr lang="en-US"/>
          </a:p>
        </p:txBody>
      </p:sp>
    </p:spTree>
    <p:extLst>
      <p:ext uri="{BB962C8B-B14F-4D97-AF65-F5344CB8AC3E}">
        <p14:creationId xmlns:p14="http://schemas.microsoft.com/office/powerpoint/2010/main" val="637229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p:spPr>
      </p:sp>
      <p:sp>
        <p:nvSpPr>
          <p:cNvPr id="48130" name="Notes Placeholder 2"/>
          <p:cNvSpPr>
            <a:spLocks noGrp="1"/>
          </p:cNvSpPr>
          <p:nvPr>
            <p:ph type="body" idx="1"/>
          </p:nvPr>
        </p:nvSpPr>
        <p:spPr bwMode="auto">
          <a:noFill/>
        </p:spPr>
        <p:txBody>
          <a:bodyPr/>
          <a:lstStyle/>
          <a:p>
            <a:pPr>
              <a:spcBef>
                <a:spcPct val="0"/>
              </a:spcBef>
            </a:pPr>
            <a:r>
              <a:rPr lang="en-US" dirty="0"/>
              <a:t>UNICORN IS FOUND AT THE FOUNTAIN</a:t>
            </a:r>
            <a:br>
              <a:rPr lang="en-US" dirty="0"/>
            </a:br>
            <a:r>
              <a:rPr lang="en-US" dirty="0"/>
              <a:t>From the Hunt of the Unicorn tapestry series. c. 1495–1505. Wool, silk, and silver- and gilt-wrapped thread (13-21 warp threads per inch), 12</a:t>
            </a:r>
            <a:r>
              <a:rPr lang="uk-UA" dirty="0"/>
              <a:t>'</a:t>
            </a:r>
            <a:r>
              <a:rPr lang="en-US" dirty="0"/>
              <a:t>1</a:t>
            </a:r>
            <a:r>
              <a:rPr lang="ru-RU" dirty="0"/>
              <a:t>"</a:t>
            </a:r>
            <a:r>
              <a:rPr lang="en-US" dirty="0"/>
              <a:t> × 12</a:t>
            </a:r>
            <a:r>
              <a:rPr lang="uk-UA" dirty="0"/>
              <a:t>'</a:t>
            </a:r>
            <a:r>
              <a:rPr lang="en-US" dirty="0"/>
              <a:t>5</a:t>
            </a:r>
            <a:r>
              <a:rPr lang="ru-RU" dirty="0"/>
              <a:t>"</a:t>
            </a:r>
            <a:r>
              <a:rPr lang="en-US" dirty="0"/>
              <a:t> (3.68 × 3.78 m). Metropolitan Museum of Art, New York. Gift of John D. Rockefeller Jr., The Cloisters Collection, 1937 (37.80.2). © 2016. Image copyright The Metropolitan Museum of Art/Art Resource/Scala, Florence.</a:t>
            </a:r>
          </a:p>
        </p:txBody>
      </p:sp>
      <p:sp>
        <p:nvSpPr>
          <p:cNvPr id="48131" name="Slide Number Placeholder 3"/>
          <p:cNvSpPr>
            <a:spLocks noGrp="1"/>
          </p:cNvSpPr>
          <p:nvPr>
            <p:ph type="sldNum" sz="quarter" idx="5"/>
          </p:nvPr>
        </p:nvSpPr>
        <p:spPr bwMode="auto">
          <a:noFill/>
          <a:ln>
            <a:miter lim="800000"/>
            <a:headEnd/>
            <a:tailEnd/>
          </a:ln>
        </p:spPr>
        <p:txBody>
          <a:bodyPr/>
          <a:lstStyle/>
          <a:p>
            <a:fld id="{94B2D05F-485D-0541-A432-94AC69C3A8CE}" type="slidenum">
              <a:rPr lang="en-US"/>
              <a:pPr/>
              <a:t>23</a:t>
            </a:fld>
            <a:endParaRPr lang="en-US"/>
          </a:p>
        </p:txBody>
      </p:sp>
    </p:spTree>
    <p:extLst>
      <p:ext uri="{BB962C8B-B14F-4D97-AF65-F5344CB8AC3E}">
        <p14:creationId xmlns:p14="http://schemas.microsoft.com/office/powerpoint/2010/main" val="412939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p:spPr>
      </p:sp>
      <p:sp>
        <p:nvSpPr>
          <p:cNvPr id="51202" name="Notes Placeholder 2"/>
          <p:cNvSpPr>
            <a:spLocks noGrp="1"/>
          </p:cNvSpPr>
          <p:nvPr>
            <p:ph type="body" idx="1"/>
          </p:nvPr>
        </p:nvSpPr>
        <p:spPr bwMode="auto">
          <a:noFill/>
        </p:spPr>
        <p:txBody>
          <a:bodyPr/>
          <a:lstStyle/>
          <a:p>
            <a:pPr>
              <a:spcBef>
                <a:spcPct val="0"/>
              </a:spcBef>
            </a:pPr>
            <a:r>
              <a:rPr lang="en-US" dirty="0"/>
              <a:t>COPE OF THE ORDER OF THE GOLDEN FLEECE</a:t>
            </a:r>
            <a:br>
              <a:rPr lang="en-US" dirty="0"/>
            </a:br>
            <a:r>
              <a:rPr lang="en-US" dirty="0"/>
              <a:t>Flemish. Mid 15th century.</a:t>
            </a:r>
            <a:br>
              <a:rPr lang="en-US" dirty="0"/>
            </a:br>
            <a:r>
              <a:rPr lang="en-US" dirty="0"/>
              <a:t>Cloth with gold and colored silk embroidery, 5</a:t>
            </a:r>
            <a:r>
              <a:rPr lang="uk-UA" dirty="0"/>
              <a:t>'</a:t>
            </a:r>
            <a:r>
              <a:rPr lang="en-US" dirty="0"/>
              <a:t>4-9/16</a:t>
            </a:r>
            <a:r>
              <a:rPr lang="ru-RU" dirty="0"/>
              <a:t>"</a:t>
            </a:r>
            <a:r>
              <a:rPr lang="en-US" dirty="0"/>
              <a:t> × 10</a:t>
            </a:r>
            <a:r>
              <a:rPr lang="uk-UA" dirty="0"/>
              <a:t>'</a:t>
            </a:r>
            <a:r>
              <a:rPr lang="en-US" dirty="0"/>
              <a:t>9-5/16</a:t>
            </a:r>
            <a:r>
              <a:rPr lang="ru-RU" dirty="0"/>
              <a:t>"</a:t>
            </a:r>
            <a:r>
              <a:rPr lang="en-US" dirty="0"/>
              <a:t> (1.64 × 3.3 m).</a:t>
            </a:r>
            <a:br>
              <a:rPr lang="en-US" dirty="0"/>
            </a:br>
            <a:r>
              <a:rPr lang="en-US" dirty="0"/>
              <a:t>Imperial Treasury, Vienna. © KHM-</a:t>
            </a:r>
            <a:r>
              <a:rPr lang="en-US" dirty="0" err="1"/>
              <a:t>Museumsverband</a:t>
            </a:r>
            <a:r>
              <a:rPr lang="en-US" dirty="0"/>
              <a:t>.</a:t>
            </a:r>
          </a:p>
        </p:txBody>
      </p:sp>
      <p:sp>
        <p:nvSpPr>
          <p:cNvPr id="51203" name="Slide Number Placeholder 3"/>
          <p:cNvSpPr>
            <a:spLocks noGrp="1"/>
          </p:cNvSpPr>
          <p:nvPr>
            <p:ph type="sldNum" sz="quarter" idx="5"/>
          </p:nvPr>
        </p:nvSpPr>
        <p:spPr bwMode="auto">
          <a:noFill/>
          <a:ln>
            <a:miter lim="800000"/>
            <a:headEnd/>
            <a:tailEnd/>
          </a:ln>
        </p:spPr>
        <p:txBody>
          <a:bodyPr/>
          <a:lstStyle/>
          <a:p>
            <a:fld id="{F5B5A11E-EF3D-134C-B6F0-ECC24F8051F8}" type="slidenum">
              <a:rPr lang="en-US"/>
              <a:pPr/>
              <a:t>25</a:t>
            </a:fld>
            <a:endParaRPr lang="en-US"/>
          </a:p>
        </p:txBody>
      </p:sp>
    </p:spTree>
    <p:extLst>
      <p:ext uri="{BB962C8B-B14F-4D97-AF65-F5344CB8AC3E}">
        <p14:creationId xmlns:p14="http://schemas.microsoft.com/office/powerpoint/2010/main" val="1755269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a:lstStyle/>
          <a:p>
            <a:pPr eaLnBrk="1" hangingPunct="1">
              <a:spcBef>
                <a:spcPct val="0"/>
              </a:spcBef>
            </a:pPr>
            <a:r>
              <a:rPr lang="en-US" dirty="0"/>
              <a:t>Workshop of the Master of </a:t>
            </a:r>
            <a:r>
              <a:rPr lang="en-US" dirty="0" err="1"/>
              <a:t>Flémalle</a:t>
            </a:r>
            <a:r>
              <a:rPr lang="en-US" dirty="0"/>
              <a:t> MÉRODE ALTARPIECE (TRIPTYCH OF THE ANNUNCIATION) (OPEN)</a:t>
            </a:r>
            <a:br>
              <a:rPr lang="en-US" dirty="0"/>
            </a:br>
            <a:r>
              <a:rPr lang="en-US" dirty="0"/>
              <a:t>c. 1425–1430s. Oil on wood panel, center 25-1/4</a:t>
            </a:r>
            <a:r>
              <a:rPr lang="ru-RU" dirty="0"/>
              <a:t>"</a:t>
            </a:r>
            <a:r>
              <a:rPr lang="en-US" dirty="0"/>
              <a:t> × 24-7/8</a:t>
            </a:r>
            <a:r>
              <a:rPr lang="ru-RU" dirty="0"/>
              <a:t>"</a:t>
            </a:r>
            <a:r>
              <a:rPr lang="en-US" dirty="0"/>
              <a:t> (64.1 × 63.2 cm); each wing approx. 25-3/8</a:t>
            </a:r>
            <a:r>
              <a:rPr lang="ru-RU" dirty="0"/>
              <a:t>"</a:t>
            </a:r>
            <a:r>
              <a:rPr lang="en-US" dirty="0"/>
              <a:t> × 10-3/4</a:t>
            </a:r>
            <a:r>
              <a:rPr lang="ru-RU" dirty="0"/>
              <a:t>"</a:t>
            </a:r>
            <a:r>
              <a:rPr lang="en-US" dirty="0"/>
              <a:t> (64.5 × 27.6 cm).</a:t>
            </a:r>
            <a:br>
              <a:rPr lang="en-US" dirty="0"/>
            </a:br>
            <a:r>
              <a:rPr lang="en-US" dirty="0"/>
              <a:t>Metropolitan Museum of Art, New York. The Cloisters Collection, 1956 (56.70). © 2016. Image copyright The Metropolitan Museum of Art/Art Resource/Scala, Florence.</a:t>
            </a:r>
          </a:p>
        </p:txBody>
      </p:sp>
      <p:sp>
        <p:nvSpPr>
          <p:cNvPr id="57347" name="Slide Number Placeholder 3"/>
          <p:cNvSpPr>
            <a:spLocks noGrp="1"/>
          </p:cNvSpPr>
          <p:nvPr>
            <p:ph type="sldNum" sz="quarter" idx="5"/>
          </p:nvPr>
        </p:nvSpPr>
        <p:spPr bwMode="auto">
          <a:noFill/>
          <a:ln>
            <a:miter lim="800000"/>
            <a:headEnd/>
            <a:tailEnd/>
          </a:ln>
        </p:spPr>
        <p:txBody>
          <a:bodyPr/>
          <a:lstStyle/>
          <a:p>
            <a:fld id="{033D34FD-1ACF-0649-A8AE-B2E4F564221B}" type="slidenum">
              <a:rPr lang="en-US"/>
              <a:pPr/>
              <a:t>30</a:t>
            </a:fld>
            <a:endParaRPr lang="en-US"/>
          </a:p>
        </p:txBody>
      </p:sp>
    </p:spTree>
    <p:extLst>
      <p:ext uri="{BB962C8B-B14F-4D97-AF65-F5344CB8AC3E}">
        <p14:creationId xmlns:p14="http://schemas.microsoft.com/office/powerpoint/2010/main" val="829241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p:spPr>
      </p:sp>
      <p:sp>
        <p:nvSpPr>
          <p:cNvPr id="59394" name="Notes Placeholder 2"/>
          <p:cNvSpPr>
            <a:spLocks noGrp="1"/>
          </p:cNvSpPr>
          <p:nvPr>
            <p:ph type="body" idx="1"/>
          </p:nvPr>
        </p:nvSpPr>
        <p:spPr bwMode="auto">
          <a:noFill/>
        </p:spPr>
        <p:txBody>
          <a:bodyPr/>
          <a:lstStyle/>
          <a:p>
            <a:pPr>
              <a:spcBef>
                <a:spcPct val="0"/>
              </a:spcBef>
            </a:pPr>
            <a:r>
              <a:rPr lang="en-US" dirty="0">
                <a:latin typeface="Verdana" charset="0"/>
              </a:rPr>
              <a:t>Workshop of the Master of </a:t>
            </a:r>
            <a:r>
              <a:rPr lang="en-US" dirty="0" err="1">
                <a:latin typeface="Verdana" charset="0"/>
              </a:rPr>
              <a:t>Flémalle</a:t>
            </a:r>
            <a:r>
              <a:rPr lang="en-US" dirty="0">
                <a:latin typeface="Verdana" charset="0"/>
              </a:rPr>
              <a:t> A FLEMISH CITY</a:t>
            </a:r>
            <a:br>
              <a:rPr lang="en-US" dirty="0">
                <a:latin typeface="Verdana" charset="0"/>
              </a:rPr>
            </a:br>
            <a:r>
              <a:rPr lang="en-US" dirty="0">
                <a:latin typeface="Verdana" charset="0"/>
              </a:rPr>
              <a:t>Detail of the right wing of the </a:t>
            </a:r>
            <a:r>
              <a:rPr lang="en-US" dirty="0" err="1">
                <a:latin typeface="Verdana" charset="0"/>
              </a:rPr>
              <a:t>Mérode</a:t>
            </a:r>
            <a:r>
              <a:rPr lang="en-US" dirty="0">
                <a:latin typeface="Verdana" charset="0"/>
              </a:rPr>
              <a:t> Altarpiece (FIG. 19-10).</a:t>
            </a:r>
            <a:br>
              <a:rPr lang="en-US" dirty="0">
                <a:latin typeface="Verdana" charset="0"/>
              </a:rPr>
            </a:br>
            <a:r>
              <a:rPr lang="en-US" dirty="0">
                <a:latin typeface="Verdana" charset="0"/>
              </a:rPr>
              <a:t>© 2016. Image copyright The Metropolitan Museum of Art/Art Resource/Scala, Florence.</a:t>
            </a:r>
            <a:endParaRPr lang="en-US" dirty="0"/>
          </a:p>
        </p:txBody>
      </p:sp>
      <p:sp>
        <p:nvSpPr>
          <p:cNvPr id="59395" name="Slide Number Placeholder 3"/>
          <p:cNvSpPr>
            <a:spLocks noGrp="1"/>
          </p:cNvSpPr>
          <p:nvPr>
            <p:ph type="sldNum" sz="quarter" idx="5"/>
          </p:nvPr>
        </p:nvSpPr>
        <p:spPr bwMode="auto">
          <a:noFill/>
          <a:ln>
            <a:miter lim="800000"/>
            <a:headEnd/>
            <a:tailEnd/>
          </a:ln>
        </p:spPr>
        <p:txBody>
          <a:bodyPr/>
          <a:lstStyle/>
          <a:p>
            <a:fld id="{46B1A776-E8F3-624B-B560-AD0C742584A6}" type="slidenum">
              <a:rPr lang="en-US"/>
              <a:pPr/>
              <a:t>31</a:t>
            </a:fld>
            <a:endParaRPr lang="en-US"/>
          </a:p>
        </p:txBody>
      </p:sp>
    </p:spTree>
    <p:extLst>
      <p:ext uri="{BB962C8B-B14F-4D97-AF65-F5344CB8AC3E}">
        <p14:creationId xmlns:p14="http://schemas.microsoft.com/office/powerpoint/2010/main" val="2033227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a:lstStyle/>
          <a:p>
            <a:pPr>
              <a:spcBef>
                <a:spcPct val="0"/>
              </a:spcBef>
            </a:pPr>
            <a:r>
              <a:rPr lang="en-US" dirty="0">
                <a:latin typeface="Verdana" charset="0"/>
              </a:rPr>
              <a:t>Jan van Eyck MAN IN A RED TURBAN</a:t>
            </a:r>
            <a:br>
              <a:rPr lang="en-US" dirty="0">
                <a:latin typeface="Verdana" charset="0"/>
              </a:rPr>
            </a:br>
            <a:r>
              <a:rPr lang="en-US" dirty="0">
                <a:latin typeface="Verdana" charset="0"/>
              </a:rPr>
              <a:t>1433. Oil on wood panel, 13-1/8</a:t>
            </a:r>
            <a:r>
              <a:rPr lang="ru-RU" dirty="0">
                <a:latin typeface="Verdana" charset="0"/>
              </a:rPr>
              <a:t>"</a:t>
            </a:r>
            <a:r>
              <a:rPr lang="en-US" dirty="0">
                <a:latin typeface="Verdana" charset="0"/>
              </a:rPr>
              <a:t> × 10-1/4</a:t>
            </a:r>
            <a:r>
              <a:rPr lang="ru-RU" dirty="0">
                <a:latin typeface="Verdana" charset="0"/>
              </a:rPr>
              <a:t>"</a:t>
            </a:r>
            <a:r>
              <a:rPr lang="en-US" dirty="0">
                <a:latin typeface="Verdana" charset="0"/>
              </a:rPr>
              <a:t> (33.3 × 25.8 cm).</a:t>
            </a:r>
            <a:br>
              <a:rPr lang="en-US" dirty="0">
                <a:latin typeface="Verdana" charset="0"/>
              </a:rPr>
            </a:br>
            <a:r>
              <a:rPr lang="en-US" dirty="0">
                <a:latin typeface="Verdana" charset="0"/>
              </a:rPr>
              <a:t>National Gallery, London. © 2016. Copyright Scala, Florence.</a:t>
            </a:r>
            <a:endParaRPr lang="en-US" dirty="0"/>
          </a:p>
        </p:txBody>
      </p:sp>
      <p:sp>
        <p:nvSpPr>
          <p:cNvPr id="62467" name="Slide Number Placeholder 3"/>
          <p:cNvSpPr>
            <a:spLocks noGrp="1"/>
          </p:cNvSpPr>
          <p:nvPr>
            <p:ph type="sldNum" sz="quarter" idx="5"/>
          </p:nvPr>
        </p:nvSpPr>
        <p:spPr bwMode="auto">
          <a:noFill/>
          <a:ln>
            <a:miter lim="800000"/>
            <a:headEnd/>
            <a:tailEnd/>
          </a:ln>
        </p:spPr>
        <p:txBody>
          <a:bodyPr/>
          <a:lstStyle/>
          <a:p>
            <a:fld id="{649953AC-14E6-4542-A930-8A21F125E9E6}" type="slidenum">
              <a:rPr lang="en-US"/>
              <a:pPr/>
              <a:t>33</a:t>
            </a:fld>
            <a:endParaRPr lang="en-US"/>
          </a:p>
        </p:txBody>
      </p:sp>
    </p:spTree>
    <p:extLst>
      <p:ext uri="{BB962C8B-B14F-4D97-AF65-F5344CB8AC3E}">
        <p14:creationId xmlns:p14="http://schemas.microsoft.com/office/powerpoint/2010/main" val="1697927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a:lstStyle/>
          <a:p>
            <a:pPr>
              <a:spcBef>
                <a:spcPct val="0"/>
              </a:spcBef>
            </a:pPr>
            <a:r>
              <a:rPr lang="en-US" dirty="0">
                <a:latin typeface="Verdana" charset="0"/>
              </a:rPr>
              <a:t>Jan and Hubert (?) van Eyck GHENT ALTARPIECE (OPEN), ADORATION OF THE MYSTIC LAMB</a:t>
            </a:r>
            <a:br>
              <a:rPr lang="en-US" dirty="0">
                <a:latin typeface="Verdana" charset="0"/>
              </a:rPr>
            </a:br>
            <a:r>
              <a:rPr lang="en-US" dirty="0">
                <a:latin typeface="Verdana" charset="0"/>
              </a:rPr>
              <a:t>Completed 1432. Oil on panel, 11</a:t>
            </a:r>
            <a:r>
              <a:rPr lang="uk-UA" dirty="0">
                <a:latin typeface="Verdana" charset="0"/>
              </a:rPr>
              <a:t>'</a:t>
            </a:r>
            <a:r>
              <a:rPr lang="en-US" dirty="0">
                <a:latin typeface="Verdana" charset="0"/>
              </a:rPr>
              <a:t>5-3/4</a:t>
            </a:r>
            <a:r>
              <a:rPr lang="ru-RU" dirty="0">
                <a:latin typeface="Verdana" charset="0"/>
              </a:rPr>
              <a:t>"</a:t>
            </a:r>
            <a:r>
              <a:rPr lang="en-US" dirty="0">
                <a:latin typeface="Verdana" charset="0"/>
              </a:rPr>
              <a:t> × 15</a:t>
            </a:r>
            <a:r>
              <a:rPr lang="uk-UA" dirty="0">
                <a:latin typeface="Verdana" charset="0"/>
              </a:rPr>
              <a:t>'</a:t>
            </a:r>
            <a:r>
              <a:rPr lang="en-US" dirty="0">
                <a:latin typeface="Verdana" charset="0"/>
              </a:rPr>
              <a:t>1-1/2</a:t>
            </a:r>
            <a:r>
              <a:rPr lang="ru-RU" dirty="0">
                <a:latin typeface="Verdana" charset="0"/>
              </a:rPr>
              <a:t>"</a:t>
            </a:r>
            <a:r>
              <a:rPr lang="en-US" dirty="0">
                <a:latin typeface="Verdana" charset="0"/>
              </a:rPr>
              <a:t> (3.5 × 4.6 m).</a:t>
            </a:r>
            <a:br>
              <a:rPr lang="en-US" dirty="0">
                <a:latin typeface="Verdana" charset="0"/>
              </a:rPr>
            </a:br>
            <a:r>
              <a:rPr lang="en-US" dirty="0">
                <a:latin typeface="Verdana" charset="0"/>
              </a:rPr>
              <a:t>Cathedral of St. </a:t>
            </a:r>
            <a:r>
              <a:rPr lang="en-US" dirty="0" err="1">
                <a:latin typeface="Verdana" charset="0"/>
              </a:rPr>
              <a:t>Bavo</a:t>
            </a:r>
            <a:r>
              <a:rPr lang="en-US" dirty="0">
                <a:latin typeface="Verdana" charset="0"/>
              </a:rPr>
              <a:t>, Ghent. © </a:t>
            </a:r>
            <a:r>
              <a:rPr lang="en-US" dirty="0" err="1">
                <a:latin typeface="Verdana" charset="0"/>
              </a:rPr>
              <a:t>akg</a:t>
            </a:r>
            <a:r>
              <a:rPr lang="en-US" dirty="0">
                <a:latin typeface="Verdana" charset="0"/>
              </a:rPr>
              <a:t>-images/Erich Lessing.</a:t>
            </a:r>
            <a:endParaRPr lang="en-US" dirty="0"/>
          </a:p>
        </p:txBody>
      </p:sp>
      <p:sp>
        <p:nvSpPr>
          <p:cNvPr id="65539" name="Slide Number Placeholder 3"/>
          <p:cNvSpPr>
            <a:spLocks noGrp="1"/>
          </p:cNvSpPr>
          <p:nvPr>
            <p:ph type="sldNum" sz="quarter" idx="5"/>
          </p:nvPr>
        </p:nvSpPr>
        <p:spPr bwMode="auto">
          <a:noFill/>
          <a:ln>
            <a:miter lim="800000"/>
            <a:headEnd/>
            <a:tailEnd/>
          </a:ln>
        </p:spPr>
        <p:txBody>
          <a:bodyPr/>
          <a:lstStyle/>
          <a:p>
            <a:fld id="{D48B2963-6270-7F4B-A00C-F024F6C5D550}" type="slidenum">
              <a:rPr lang="en-US"/>
              <a:pPr/>
              <a:t>35</a:t>
            </a:fld>
            <a:endParaRPr lang="en-US"/>
          </a:p>
        </p:txBody>
      </p:sp>
    </p:spTree>
    <p:extLst>
      <p:ext uri="{BB962C8B-B14F-4D97-AF65-F5344CB8AC3E}">
        <p14:creationId xmlns:p14="http://schemas.microsoft.com/office/powerpoint/2010/main" val="1305429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p:spPr>
      </p:sp>
      <p:sp>
        <p:nvSpPr>
          <p:cNvPr id="67586"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Jan and Hubert (?) van Eyck GHENT ALTARPIECE (CLOSED), ANNUNCIATION WITH DONORS</a:t>
            </a:r>
            <a:br>
              <a:rPr lang="en-US" dirty="0">
                <a:solidFill>
                  <a:schemeClr val="bg1"/>
                </a:solidFill>
                <a:latin typeface="Verdana" charset="0"/>
              </a:rPr>
            </a:br>
            <a:r>
              <a:rPr lang="en-US" dirty="0">
                <a:solidFill>
                  <a:schemeClr val="bg1"/>
                </a:solidFill>
                <a:latin typeface="Verdana" charset="0"/>
              </a:rPr>
              <a:t>Completed 1432. Oil on panel, height 11</a:t>
            </a:r>
            <a:r>
              <a:rPr lang="uk-UA" dirty="0">
                <a:solidFill>
                  <a:schemeClr val="bg1"/>
                </a:solidFill>
                <a:latin typeface="Verdana" charset="0"/>
              </a:rPr>
              <a:t>'</a:t>
            </a:r>
            <a:r>
              <a:rPr lang="en-US" dirty="0">
                <a:solidFill>
                  <a:schemeClr val="bg1"/>
                </a:solidFill>
                <a:latin typeface="Verdana" charset="0"/>
              </a:rPr>
              <a:t>5</a:t>
            </a:r>
            <a:r>
              <a:rPr lang="ru-RU" dirty="0">
                <a:solidFill>
                  <a:schemeClr val="bg1"/>
                </a:solidFill>
                <a:latin typeface="Verdana" charset="0"/>
              </a:rPr>
              <a:t>"</a:t>
            </a:r>
            <a:r>
              <a:rPr lang="en-US" dirty="0">
                <a:solidFill>
                  <a:schemeClr val="bg1"/>
                </a:solidFill>
                <a:latin typeface="Verdana" charset="0"/>
              </a:rPr>
              <a:t> (3.48 m).</a:t>
            </a:r>
            <a:br>
              <a:rPr lang="en-US" dirty="0">
                <a:solidFill>
                  <a:schemeClr val="bg1"/>
                </a:solidFill>
                <a:latin typeface="Verdana" charset="0"/>
              </a:rPr>
            </a:br>
            <a:r>
              <a:rPr lang="en-US" dirty="0">
                <a:solidFill>
                  <a:schemeClr val="bg1"/>
                </a:solidFill>
                <a:latin typeface="Verdana" charset="0"/>
              </a:rPr>
              <a:t>Cathedral of St. </a:t>
            </a:r>
            <a:r>
              <a:rPr lang="en-US" dirty="0" err="1">
                <a:solidFill>
                  <a:schemeClr val="bg1"/>
                </a:solidFill>
                <a:latin typeface="Verdana" charset="0"/>
              </a:rPr>
              <a:t>Bavo</a:t>
            </a:r>
            <a:r>
              <a:rPr lang="en-US" dirty="0">
                <a:solidFill>
                  <a:schemeClr val="bg1"/>
                </a:solidFill>
                <a:latin typeface="Verdana" charset="0"/>
              </a:rPr>
              <a:t>, Ghent</a:t>
            </a:r>
            <a:endParaRPr lang="en-US" dirty="0"/>
          </a:p>
        </p:txBody>
      </p:sp>
      <p:sp>
        <p:nvSpPr>
          <p:cNvPr id="67587" name="Slide Number Placeholder 3"/>
          <p:cNvSpPr>
            <a:spLocks noGrp="1"/>
          </p:cNvSpPr>
          <p:nvPr>
            <p:ph type="sldNum" sz="quarter" idx="5"/>
          </p:nvPr>
        </p:nvSpPr>
        <p:spPr bwMode="auto">
          <a:noFill/>
          <a:ln>
            <a:miter lim="800000"/>
            <a:headEnd/>
            <a:tailEnd/>
          </a:ln>
        </p:spPr>
        <p:txBody>
          <a:bodyPr/>
          <a:lstStyle/>
          <a:p>
            <a:fld id="{0A09A70C-35D1-2B4A-9ECC-DDDD634BD54F}" type="slidenum">
              <a:rPr lang="en-US"/>
              <a:pPr/>
              <a:t>36</a:t>
            </a:fld>
            <a:endParaRPr lang="en-US"/>
          </a:p>
        </p:txBody>
      </p:sp>
    </p:spTree>
    <p:extLst>
      <p:ext uri="{BB962C8B-B14F-4D97-AF65-F5344CB8AC3E}">
        <p14:creationId xmlns:p14="http://schemas.microsoft.com/office/powerpoint/2010/main" val="1666215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p:spPr>
      </p:sp>
      <p:sp>
        <p:nvSpPr>
          <p:cNvPr id="73730" name="Notes Placeholder 2"/>
          <p:cNvSpPr>
            <a:spLocks noGrp="1"/>
          </p:cNvSpPr>
          <p:nvPr>
            <p:ph type="body" idx="1"/>
          </p:nvPr>
        </p:nvSpPr>
        <p:spPr bwMode="auto">
          <a:noFill/>
        </p:spPr>
        <p:txBody>
          <a:bodyPr/>
          <a:lstStyle/>
          <a:p>
            <a:pPr>
              <a:spcBef>
                <a:spcPct val="0"/>
              </a:spcBef>
            </a:pPr>
            <a:r>
              <a:rPr lang="en-US" dirty="0" err="1"/>
              <a:t>Rogier</a:t>
            </a:r>
            <a:r>
              <a:rPr lang="en-US" dirty="0"/>
              <a:t> van der Weyden DEPOSITION</a:t>
            </a:r>
            <a:br>
              <a:rPr lang="en-US" dirty="0"/>
            </a:br>
            <a:r>
              <a:rPr lang="en-US" dirty="0"/>
              <a:t>From an altarpiece commissioned by the crossbowmen</a:t>
            </a:r>
            <a:r>
              <a:rPr lang="uk-UA" dirty="0"/>
              <a:t>'</a:t>
            </a:r>
            <a:r>
              <a:rPr lang="en-US" dirty="0"/>
              <a:t>s guild, Louvain, Belgium.</a:t>
            </a:r>
            <a:br>
              <a:rPr lang="en-US" dirty="0"/>
            </a:br>
            <a:r>
              <a:rPr lang="en-US" dirty="0"/>
              <a:t>Before 1443, possibly c. 1435–1438.</a:t>
            </a:r>
            <a:br>
              <a:rPr lang="en-US" dirty="0"/>
            </a:br>
            <a:r>
              <a:rPr lang="en-US" dirty="0"/>
              <a:t>Oil on wood panel, 7</a:t>
            </a:r>
            <a:r>
              <a:rPr lang="uk-UA" dirty="0"/>
              <a:t>'</a:t>
            </a:r>
            <a:r>
              <a:rPr lang="en-US" dirty="0"/>
              <a:t>2-5/8</a:t>
            </a:r>
            <a:r>
              <a:rPr lang="ru-RU" dirty="0"/>
              <a:t>"</a:t>
            </a:r>
            <a:r>
              <a:rPr lang="en-US" dirty="0"/>
              <a:t> × 8</a:t>
            </a:r>
            <a:r>
              <a:rPr lang="uk-UA" dirty="0"/>
              <a:t>'</a:t>
            </a:r>
            <a:r>
              <a:rPr lang="en-US" dirty="0"/>
              <a:t>7-1/8</a:t>
            </a:r>
            <a:r>
              <a:rPr lang="ru-RU" dirty="0"/>
              <a:t>"</a:t>
            </a:r>
            <a:r>
              <a:rPr lang="en-US" dirty="0"/>
              <a:t> (2.2 × 2.62 m).</a:t>
            </a:r>
            <a:br>
              <a:rPr lang="en-US" dirty="0"/>
            </a:br>
            <a:r>
              <a:rPr lang="en-US" dirty="0"/>
              <a:t>Museo del Prado, Madrid. © 2016. Image Copyright Museo Nacional del Prado. © Photo MNP/Scala, Florence.</a:t>
            </a:r>
          </a:p>
        </p:txBody>
      </p:sp>
      <p:sp>
        <p:nvSpPr>
          <p:cNvPr id="73731" name="Slide Number Placeholder 3"/>
          <p:cNvSpPr>
            <a:spLocks noGrp="1"/>
          </p:cNvSpPr>
          <p:nvPr>
            <p:ph type="sldNum" sz="quarter" idx="5"/>
          </p:nvPr>
        </p:nvSpPr>
        <p:spPr bwMode="auto">
          <a:noFill/>
          <a:ln>
            <a:miter lim="800000"/>
            <a:headEnd/>
            <a:tailEnd/>
          </a:ln>
        </p:spPr>
        <p:txBody>
          <a:bodyPr/>
          <a:lstStyle/>
          <a:p>
            <a:fld id="{6AD65D53-86E2-534C-B8DF-7C6216EBB533}" type="slidenum">
              <a:rPr lang="en-US"/>
              <a:pPr/>
              <a:t>39</a:t>
            </a:fld>
            <a:endParaRPr lang="en-US"/>
          </a:p>
        </p:txBody>
      </p:sp>
    </p:spTree>
    <p:extLst>
      <p:ext uri="{BB962C8B-B14F-4D97-AF65-F5344CB8AC3E}">
        <p14:creationId xmlns:p14="http://schemas.microsoft.com/office/powerpoint/2010/main" val="644583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a:lstStyle/>
          <a:p>
            <a:pPr>
              <a:spcBef>
                <a:spcPct val="0"/>
              </a:spcBef>
            </a:pPr>
            <a:r>
              <a:rPr lang="en-US" dirty="0" err="1"/>
              <a:t>Rogier</a:t>
            </a:r>
            <a:r>
              <a:rPr lang="en-US" dirty="0"/>
              <a:t> van der Weyden ST. LUKE DRAWING THE VIRGIN AND CHILD</a:t>
            </a:r>
            <a:br>
              <a:rPr lang="en-US" dirty="0"/>
            </a:br>
            <a:r>
              <a:rPr lang="en-US" dirty="0"/>
              <a:t>c. 1435–1440. Oil and tempera on wood panel, 54-1/4</a:t>
            </a:r>
            <a:r>
              <a:rPr lang="ru-RU" dirty="0"/>
              <a:t>"</a:t>
            </a:r>
            <a:r>
              <a:rPr lang="en-US" dirty="0"/>
              <a:t> × 43-5/8</a:t>
            </a:r>
            <a:r>
              <a:rPr lang="ru-RU" dirty="0"/>
              <a:t>"</a:t>
            </a:r>
            <a:r>
              <a:rPr lang="en-US" dirty="0"/>
              <a:t> (137.7 × 110.8 cm). Museum of Fine Arts, Boston. Photograph © 2017 Museum of Fine Arts, Boston.</a:t>
            </a:r>
          </a:p>
        </p:txBody>
      </p:sp>
      <p:sp>
        <p:nvSpPr>
          <p:cNvPr id="76803" name="Slide Number Placeholder 3"/>
          <p:cNvSpPr>
            <a:spLocks noGrp="1"/>
          </p:cNvSpPr>
          <p:nvPr>
            <p:ph type="sldNum" sz="quarter" idx="5"/>
          </p:nvPr>
        </p:nvSpPr>
        <p:spPr bwMode="auto">
          <a:noFill/>
          <a:ln>
            <a:miter lim="800000"/>
            <a:headEnd/>
            <a:tailEnd/>
          </a:ln>
        </p:spPr>
        <p:txBody>
          <a:bodyPr/>
          <a:lstStyle/>
          <a:p>
            <a:fld id="{CBD9A540-E748-BC4F-B3E3-8822E63F4F70}" type="slidenum">
              <a:rPr lang="en-US"/>
              <a:pPr/>
              <a:t>41</a:t>
            </a:fld>
            <a:endParaRPr lang="en-US"/>
          </a:p>
        </p:txBody>
      </p:sp>
    </p:spTree>
    <p:extLst>
      <p:ext uri="{BB962C8B-B14F-4D97-AF65-F5344CB8AC3E}">
        <p14:creationId xmlns:p14="http://schemas.microsoft.com/office/powerpoint/2010/main" val="1602679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bwMode="auto">
          <a:noFill/>
          <a:ln>
            <a:solidFill>
              <a:srgbClr val="000000"/>
            </a:solidFill>
            <a:miter lim="800000"/>
            <a:headEnd/>
            <a:tailEnd/>
          </a:ln>
        </p:spPr>
      </p:sp>
      <p:sp>
        <p:nvSpPr>
          <p:cNvPr id="80898" name="Notes Placeholder 2"/>
          <p:cNvSpPr>
            <a:spLocks noGrp="1"/>
          </p:cNvSpPr>
          <p:nvPr>
            <p:ph type="body" idx="1"/>
          </p:nvPr>
        </p:nvSpPr>
        <p:spPr bwMode="auto">
          <a:noFill/>
        </p:spPr>
        <p:txBody>
          <a:bodyPr/>
          <a:lstStyle/>
          <a:p>
            <a:pPr>
              <a:spcBef>
                <a:spcPct val="0"/>
              </a:spcBef>
            </a:pPr>
            <a:r>
              <a:rPr lang="en-US" dirty="0"/>
              <a:t>A CLOSER LOOK: A Goldsmith in his Shop by Petrus Christus</a:t>
            </a:r>
            <a:br>
              <a:rPr lang="en-US" dirty="0"/>
            </a:br>
            <a:r>
              <a:rPr lang="en-US" dirty="0"/>
              <a:t>1449. Oil on oak panel, 38-5/8 × 33-1/2</a:t>
            </a:r>
            <a:r>
              <a:rPr lang="ru-RU" dirty="0"/>
              <a:t>"</a:t>
            </a:r>
            <a:r>
              <a:rPr lang="en-US" dirty="0"/>
              <a:t> (98 × 85 cm).</a:t>
            </a:r>
            <a:br>
              <a:rPr lang="en-US" dirty="0"/>
            </a:br>
            <a:r>
              <a:rPr lang="en-US" dirty="0"/>
              <a:t>Metropolitan Museum of Art, New York. Robert Lehman Collection, 1975. 1975.1.110. © 2016. Image copyright The Metropolitan Museum of Art/Art Resource/Scala, Florence.</a:t>
            </a:r>
          </a:p>
        </p:txBody>
      </p:sp>
      <p:sp>
        <p:nvSpPr>
          <p:cNvPr id="80899" name="Slide Number Placeholder 3"/>
          <p:cNvSpPr>
            <a:spLocks noGrp="1"/>
          </p:cNvSpPr>
          <p:nvPr>
            <p:ph type="sldNum" sz="quarter" idx="5"/>
          </p:nvPr>
        </p:nvSpPr>
        <p:spPr bwMode="auto">
          <a:noFill/>
          <a:ln>
            <a:miter lim="800000"/>
            <a:headEnd/>
            <a:tailEnd/>
          </a:ln>
        </p:spPr>
        <p:txBody>
          <a:bodyPr/>
          <a:lstStyle/>
          <a:p>
            <a:fld id="{D2E5CE7B-8A2C-D945-B2B3-4EFCA4F84C53}" type="slidenum">
              <a:rPr lang="en-US"/>
              <a:pPr/>
              <a:t>44</a:t>
            </a:fld>
            <a:endParaRPr lang="en-US"/>
          </a:p>
        </p:txBody>
      </p:sp>
    </p:spTree>
    <p:extLst>
      <p:ext uri="{BB962C8B-B14F-4D97-AF65-F5344CB8AC3E}">
        <p14:creationId xmlns:p14="http://schemas.microsoft.com/office/powerpoint/2010/main" val="353342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noFill/>
          <a:ln>
            <a:solidFill>
              <a:srgbClr val="000000"/>
            </a:solidFill>
            <a:miter lim="800000"/>
            <a:headEnd/>
            <a:tailEnd/>
          </a:ln>
        </p:spPr>
      </p:sp>
      <p:sp>
        <p:nvSpPr>
          <p:cNvPr id="83970" name="Notes Placeholder 2"/>
          <p:cNvSpPr>
            <a:spLocks noGrp="1"/>
          </p:cNvSpPr>
          <p:nvPr>
            <p:ph type="body" idx="1"/>
          </p:nvPr>
        </p:nvSpPr>
        <p:spPr bwMode="auto">
          <a:noFill/>
        </p:spPr>
        <p:txBody>
          <a:bodyPr/>
          <a:lstStyle/>
          <a:p>
            <a:pPr>
              <a:spcBef>
                <a:spcPct val="0"/>
              </a:spcBef>
            </a:pPr>
            <a:r>
              <a:rPr lang="en-US" dirty="0" err="1"/>
              <a:t>Dieric</a:t>
            </a:r>
            <a:r>
              <a:rPr lang="en-US" dirty="0"/>
              <a:t> Bouts VIRGIN AND CHILD</a:t>
            </a:r>
            <a:br>
              <a:rPr lang="en-US" dirty="0"/>
            </a:br>
            <a:r>
              <a:rPr lang="en-US" dirty="0"/>
              <a:t>c. 1455–1460. Oil on wood panel, 8-1/2</a:t>
            </a:r>
            <a:r>
              <a:rPr lang="ru-RU" dirty="0"/>
              <a:t>"</a:t>
            </a:r>
            <a:r>
              <a:rPr lang="en-US" dirty="0"/>
              <a:t> × 6-1/2</a:t>
            </a:r>
            <a:r>
              <a:rPr lang="ru-RU" dirty="0"/>
              <a:t>"</a:t>
            </a:r>
            <a:r>
              <a:rPr lang="en-US" dirty="0"/>
              <a:t> (21.6 × 16.5 cm).</a:t>
            </a:r>
            <a:br>
              <a:rPr lang="en-US" dirty="0"/>
            </a:br>
            <a:r>
              <a:rPr lang="en-US" dirty="0"/>
              <a:t>Metropolitan Museum of Art, New York. © 2016. Image copyright The Metropolitan Museum of Art/Art Resource/Scala, Florence.</a:t>
            </a:r>
          </a:p>
        </p:txBody>
      </p:sp>
      <p:sp>
        <p:nvSpPr>
          <p:cNvPr id="83971" name="Slide Number Placeholder 3"/>
          <p:cNvSpPr>
            <a:spLocks noGrp="1"/>
          </p:cNvSpPr>
          <p:nvPr>
            <p:ph type="sldNum" sz="quarter" idx="5"/>
          </p:nvPr>
        </p:nvSpPr>
        <p:spPr bwMode="auto">
          <a:noFill/>
          <a:ln>
            <a:miter lim="800000"/>
            <a:headEnd/>
            <a:tailEnd/>
          </a:ln>
        </p:spPr>
        <p:txBody>
          <a:bodyPr/>
          <a:lstStyle/>
          <a:p>
            <a:fld id="{66D90F67-C8C9-AD40-995F-0D0AD5CEFC15}" type="slidenum">
              <a:rPr lang="en-US"/>
              <a:pPr/>
              <a:t>46</a:t>
            </a:fld>
            <a:endParaRPr lang="en-US"/>
          </a:p>
        </p:txBody>
      </p:sp>
    </p:spTree>
    <p:extLst>
      <p:ext uri="{BB962C8B-B14F-4D97-AF65-F5344CB8AC3E}">
        <p14:creationId xmlns:p14="http://schemas.microsoft.com/office/powerpoint/2010/main" val="827247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noTextEdit="1"/>
          </p:cNvSpPr>
          <p:nvPr>
            <p:ph type="sldImg"/>
          </p:nvPr>
        </p:nvSpPr>
        <p:spPr bwMode="auto">
          <a:noFill/>
          <a:ln>
            <a:solidFill>
              <a:srgbClr val="000000"/>
            </a:solidFill>
            <a:miter lim="800000"/>
            <a:headEnd/>
            <a:tailEnd/>
          </a:ln>
        </p:spPr>
      </p:sp>
      <p:sp>
        <p:nvSpPr>
          <p:cNvPr id="87042" name="Notes Placeholder 2"/>
          <p:cNvSpPr>
            <a:spLocks noGrp="1"/>
          </p:cNvSpPr>
          <p:nvPr>
            <p:ph type="body" idx="1"/>
          </p:nvPr>
        </p:nvSpPr>
        <p:spPr bwMode="auto">
          <a:noFill/>
        </p:spPr>
        <p:txBody>
          <a:bodyPr/>
          <a:lstStyle/>
          <a:p>
            <a:pPr>
              <a:spcBef>
                <a:spcPct val="0"/>
              </a:spcBef>
            </a:pPr>
            <a:r>
              <a:rPr lang="en-US" dirty="0"/>
              <a:t>Hugo van der Goes PORTINARI ALTARPIECE (OPEN)</a:t>
            </a:r>
            <a:br>
              <a:rPr lang="en-US" dirty="0"/>
            </a:br>
            <a:r>
              <a:rPr lang="en-US" dirty="0"/>
              <a:t>c. 1474–1476. Tempera and oil on wood panel; center 8</a:t>
            </a:r>
            <a:r>
              <a:rPr lang="uk-UA" dirty="0"/>
              <a:t>'</a:t>
            </a:r>
            <a:r>
              <a:rPr lang="en-US" dirty="0"/>
              <a:t>3-1/2</a:t>
            </a:r>
            <a:r>
              <a:rPr lang="ru-RU" dirty="0"/>
              <a:t>"</a:t>
            </a:r>
            <a:r>
              <a:rPr lang="en-US" dirty="0"/>
              <a:t> × 10</a:t>
            </a:r>
            <a:r>
              <a:rPr lang="uk-UA" dirty="0"/>
              <a:t>'</a:t>
            </a:r>
            <a:r>
              <a:rPr lang="en-US" dirty="0"/>
              <a:t> (2.53 × 3.01 m), wings each 8</a:t>
            </a:r>
            <a:r>
              <a:rPr lang="uk-UA" dirty="0"/>
              <a:t>'</a:t>
            </a:r>
            <a:r>
              <a:rPr lang="en-US" dirty="0"/>
              <a:t>3-1/2</a:t>
            </a:r>
            <a:r>
              <a:rPr lang="ru-RU" dirty="0"/>
              <a:t>"</a:t>
            </a:r>
            <a:r>
              <a:rPr lang="en-US" dirty="0"/>
              <a:t> × 4</a:t>
            </a:r>
            <a:r>
              <a:rPr lang="uk-UA" dirty="0"/>
              <a:t>'</a:t>
            </a:r>
            <a:r>
              <a:rPr lang="en-US" dirty="0"/>
              <a:t>7-1/2</a:t>
            </a:r>
            <a:r>
              <a:rPr lang="ru-RU" dirty="0"/>
              <a:t>"</a:t>
            </a:r>
            <a:r>
              <a:rPr lang="en-US" dirty="0"/>
              <a:t> (2.53 × 1.41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sp>
        <p:nvSpPr>
          <p:cNvPr id="87043" name="Slide Number Placeholder 3"/>
          <p:cNvSpPr>
            <a:spLocks noGrp="1"/>
          </p:cNvSpPr>
          <p:nvPr>
            <p:ph type="sldNum" sz="quarter" idx="5"/>
          </p:nvPr>
        </p:nvSpPr>
        <p:spPr bwMode="auto">
          <a:noFill/>
          <a:ln>
            <a:miter lim="800000"/>
            <a:headEnd/>
            <a:tailEnd/>
          </a:ln>
        </p:spPr>
        <p:txBody>
          <a:bodyPr/>
          <a:lstStyle/>
          <a:p>
            <a:fld id="{0D9A5598-A710-1C42-A990-A4FE61D982BE}" type="slidenum">
              <a:rPr lang="en-US"/>
              <a:pPr/>
              <a:t>48</a:t>
            </a:fld>
            <a:endParaRPr lang="en-US"/>
          </a:p>
        </p:txBody>
      </p:sp>
    </p:spTree>
    <p:extLst>
      <p:ext uri="{BB962C8B-B14F-4D97-AF65-F5344CB8AC3E}">
        <p14:creationId xmlns:p14="http://schemas.microsoft.com/office/powerpoint/2010/main" val="745803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noTextEdit="1"/>
          </p:cNvSpPr>
          <p:nvPr>
            <p:ph type="sldImg"/>
          </p:nvPr>
        </p:nvSpPr>
        <p:spPr bwMode="auto">
          <a:noFill/>
          <a:ln>
            <a:solidFill>
              <a:srgbClr val="000000"/>
            </a:solidFill>
            <a:miter lim="800000"/>
            <a:headEnd/>
            <a:tailEnd/>
          </a:ln>
        </p:spPr>
      </p:sp>
      <p:sp>
        <p:nvSpPr>
          <p:cNvPr id="95234" name="Notes Placeholder 2"/>
          <p:cNvSpPr>
            <a:spLocks noGrp="1"/>
          </p:cNvSpPr>
          <p:nvPr>
            <p:ph type="body" idx="1"/>
          </p:nvPr>
        </p:nvSpPr>
        <p:spPr bwMode="auto">
          <a:noFill/>
        </p:spPr>
        <p:txBody>
          <a:bodyPr/>
          <a:lstStyle/>
          <a:p>
            <a:pPr>
              <a:spcBef>
                <a:spcPct val="0"/>
              </a:spcBef>
            </a:pPr>
            <a:r>
              <a:rPr lang="en-US" dirty="0"/>
              <a:t>Hans Memling DIPTYCH OF MAARTEN VAN NIEUWENHOVE</a:t>
            </a:r>
            <a:br>
              <a:rPr lang="en-US" dirty="0"/>
            </a:br>
            <a:r>
              <a:rPr lang="en-US" dirty="0"/>
              <a:t>1487. Oil on wood panel, each panel (including frames) 20-1/2</a:t>
            </a:r>
            <a:r>
              <a:rPr lang="ru-RU" dirty="0"/>
              <a:t>"</a:t>
            </a:r>
            <a:r>
              <a:rPr lang="en-US" dirty="0"/>
              <a:t> × 16-1/4</a:t>
            </a:r>
            <a:r>
              <a:rPr lang="ru-RU" dirty="0"/>
              <a:t>"</a:t>
            </a:r>
            <a:r>
              <a:rPr lang="en-US" dirty="0"/>
              <a:t> (52 × 41.5 cm).</a:t>
            </a:r>
            <a:br>
              <a:rPr lang="en-US" dirty="0"/>
            </a:br>
            <a:r>
              <a:rPr lang="en-US" dirty="0"/>
              <a:t>Hans Memling Museum, </a:t>
            </a:r>
            <a:r>
              <a:rPr lang="en-US" dirty="0" err="1"/>
              <a:t>Musea</a:t>
            </a:r>
            <a:r>
              <a:rPr lang="en-US" dirty="0"/>
              <a:t> </a:t>
            </a:r>
            <a:r>
              <a:rPr lang="en-US" dirty="0" err="1"/>
              <a:t>Brugge</a:t>
            </a:r>
            <a:r>
              <a:rPr lang="en-US" dirty="0"/>
              <a:t>, Sint-</a:t>
            </a:r>
            <a:r>
              <a:rPr lang="en-US" dirty="0" err="1"/>
              <a:t>Jans</a:t>
            </a:r>
            <a:r>
              <a:rPr lang="en-US" dirty="0"/>
              <a:t> Hospital, Bruges. © </a:t>
            </a:r>
            <a:r>
              <a:rPr lang="en-US" dirty="0" err="1"/>
              <a:t>akg</a:t>
            </a:r>
            <a:r>
              <a:rPr lang="en-US" dirty="0"/>
              <a:t>-images/Erich Lessing.</a:t>
            </a:r>
          </a:p>
        </p:txBody>
      </p:sp>
      <p:sp>
        <p:nvSpPr>
          <p:cNvPr id="95235" name="Slide Number Placeholder 3"/>
          <p:cNvSpPr>
            <a:spLocks noGrp="1"/>
          </p:cNvSpPr>
          <p:nvPr>
            <p:ph type="sldNum" sz="quarter" idx="5"/>
          </p:nvPr>
        </p:nvSpPr>
        <p:spPr bwMode="auto">
          <a:noFill/>
          <a:ln>
            <a:miter lim="800000"/>
            <a:headEnd/>
            <a:tailEnd/>
          </a:ln>
        </p:spPr>
        <p:txBody>
          <a:bodyPr/>
          <a:lstStyle/>
          <a:p>
            <a:fld id="{02B9B55E-EEC0-BF49-AB8D-D2489870C75E}" type="slidenum">
              <a:rPr lang="en-US"/>
              <a:pPr/>
              <a:t>50</a:t>
            </a:fld>
            <a:endParaRPr lang="en-US"/>
          </a:p>
        </p:txBody>
      </p:sp>
    </p:spTree>
    <p:extLst>
      <p:ext uri="{BB962C8B-B14F-4D97-AF65-F5344CB8AC3E}">
        <p14:creationId xmlns:p14="http://schemas.microsoft.com/office/powerpoint/2010/main" val="537391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p:cNvSpPr>
            <a:spLocks noGrp="1" noRot="1" noChangeAspect="1" noTextEdit="1"/>
          </p:cNvSpPr>
          <p:nvPr>
            <p:ph type="sldImg"/>
          </p:nvPr>
        </p:nvSpPr>
        <p:spPr bwMode="auto">
          <a:noFill/>
          <a:ln>
            <a:solidFill>
              <a:srgbClr val="000000"/>
            </a:solidFill>
            <a:miter lim="800000"/>
            <a:headEnd/>
            <a:tailEnd/>
          </a:ln>
        </p:spPr>
      </p:sp>
      <p:sp>
        <p:nvSpPr>
          <p:cNvPr id="99330" name="Notes Placeholder 2"/>
          <p:cNvSpPr>
            <a:spLocks noGrp="1"/>
          </p:cNvSpPr>
          <p:nvPr>
            <p:ph type="body" idx="1"/>
          </p:nvPr>
        </p:nvSpPr>
        <p:spPr bwMode="auto">
          <a:noFill/>
        </p:spPr>
        <p:txBody>
          <a:bodyPr/>
          <a:lstStyle/>
          <a:p>
            <a:pPr>
              <a:spcBef>
                <a:spcPct val="0"/>
              </a:spcBef>
            </a:pPr>
            <a:r>
              <a:rPr lang="en-US" dirty="0"/>
              <a:t>Jean Fouquet ÉTIENNE CHEVALIER AND ST. STEPHEN, VIRGIN AND CHILD</a:t>
            </a:r>
            <a:br>
              <a:rPr lang="en-US" dirty="0"/>
            </a:br>
            <a:r>
              <a:rPr lang="en-US" dirty="0"/>
              <a:t>The Melun Diptych. c. 1452–1455. Oil on oak panel. Left wing: 36-1/2</a:t>
            </a:r>
            <a:r>
              <a:rPr lang="ru-RU" dirty="0"/>
              <a:t>"</a:t>
            </a:r>
            <a:r>
              <a:rPr lang="en-US" dirty="0"/>
              <a:t> × 33-1/2</a:t>
            </a:r>
            <a:r>
              <a:rPr lang="ru-RU" dirty="0"/>
              <a:t>"</a:t>
            </a:r>
            <a:r>
              <a:rPr lang="en-US" dirty="0"/>
              <a:t> (92.7 × 85.5 cm), Staatliche </a:t>
            </a:r>
            <a:r>
              <a:rPr lang="en-US" dirty="0" err="1"/>
              <a:t>Museen</a:t>
            </a:r>
            <a:r>
              <a:rPr lang="en-US" dirty="0"/>
              <a:t> </a:t>
            </a:r>
            <a:r>
              <a:rPr lang="en-US" dirty="0" err="1"/>
              <a:t>zu</a:t>
            </a:r>
            <a:r>
              <a:rPr lang="en-US" dirty="0"/>
              <a:t> Berlin, </a:t>
            </a:r>
            <a:r>
              <a:rPr lang="en-US" dirty="0" err="1"/>
              <a:t>Preussischer</a:t>
            </a:r>
            <a:r>
              <a:rPr lang="en-US" dirty="0"/>
              <a:t> </a:t>
            </a:r>
            <a:r>
              <a:rPr lang="en-US" dirty="0" err="1"/>
              <a:t>Kulturbesitz</a:t>
            </a:r>
            <a:r>
              <a:rPr lang="en-US" dirty="0"/>
              <a:t>, </a:t>
            </a:r>
            <a:r>
              <a:rPr lang="en-US" dirty="0" err="1"/>
              <a:t>Gemäldegalerie</a:t>
            </a:r>
            <a:r>
              <a:rPr lang="en-US" dirty="0"/>
              <a:t>. ; right wing: 37-1/4 × 33-1/2</a:t>
            </a:r>
            <a:r>
              <a:rPr lang="ru-RU" dirty="0"/>
              <a:t>"</a:t>
            </a:r>
            <a:r>
              <a:rPr lang="en-US" dirty="0"/>
              <a:t> (94.5 × 85.5 cm), </a:t>
            </a:r>
            <a:r>
              <a:rPr lang="en-US" dirty="0" err="1"/>
              <a:t>Koninklijk</a:t>
            </a:r>
            <a:r>
              <a:rPr lang="en-US" dirty="0"/>
              <a:t> Museum </a:t>
            </a:r>
            <a:r>
              <a:rPr lang="en-US" dirty="0" err="1"/>
              <a:t>voor</a:t>
            </a:r>
            <a:r>
              <a:rPr lang="en-US" dirty="0"/>
              <a:t> </a:t>
            </a:r>
            <a:r>
              <a:rPr lang="en-US" dirty="0" err="1"/>
              <a:t>Schone</a:t>
            </a:r>
            <a:r>
              <a:rPr lang="en-US" dirty="0"/>
              <a:t> </a:t>
            </a:r>
            <a:r>
              <a:rPr lang="en-US" dirty="0" err="1"/>
              <a:t>Kunsten</a:t>
            </a:r>
            <a:r>
              <a:rPr lang="en-US" dirty="0"/>
              <a:t>, Antwerp, Belgium.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a:t>
            </a:r>
          </a:p>
        </p:txBody>
      </p:sp>
      <p:sp>
        <p:nvSpPr>
          <p:cNvPr id="99331" name="Slide Number Placeholder 3"/>
          <p:cNvSpPr>
            <a:spLocks noGrp="1"/>
          </p:cNvSpPr>
          <p:nvPr>
            <p:ph type="sldNum" sz="quarter" idx="5"/>
          </p:nvPr>
        </p:nvSpPr>
        <p:spPr bwMode="auto">
          <a:noFill/>
          <a:ln>
            <a:miter lim="800000"/>
            <a:headEnd/>
            <a:tailEnd/>
          </a:ln>
        </p:spPr>
        <p:txBody>
          <a:bodyPr/>
          <a:lstStyle/>
          <a:p>
            <a:fld id="{7A6276EA-A658-4742-983B-21FC95AC8E08}" type="slidenum">
              <a:rPr lang="en-US"/>
              <a:pPr/>
              <a:t>54</a:t>
            </a:fld>
            <a:endParaRPr lang="en-US"/>
          </a:p>
        </p:txBody>
      </p:sp>
    </p:spTree>
    <p:extLst>
      <p:ext uri="{BB962C8B-B14F-4D97-AF65-F5344CB8AC3E}">
        <p14:creationId xmlns:p14="http://schemas.microsoft.com/office/powerpoint/2010/main" val="1765734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noTextEdit="1"/>
          </p:cNvSpPr>
          <p:nvPr>
            <p:ph type="sldImg"/>
          </p:nvPr>
        </p:nvSpPr>
        <p:spPr bwMode="auto">
          <a:noFill/>
          <a:ln>
            <a:solidFill>
              <a:srgbClr val="000000"/>
            </a:solidFill>
            <a:miter lim="800000"/>
            <a:headEnd/>
            <a:tailEnd/>
          </a:ln>
        </p:spPr>
      </p:sp>
      <p:sp>
        <p:nvSpPr>
          <p:cNvPr id="105474" name="Notes Placeholder 2"/>
          <p:cNvSpPr>
            <a:spLocks noGrp="1"/>
          </p:cNvSpPr>
          <p:nvPr>
            <p:ph type="body" idx="1"/>
          </p:nvPr>
        </p:nvSpPr>
        <p:spPr bwMode="auto">
          <a:noFill/>
        </p:spPr>
        <p:txBody>
          <a:bodyPr/>
          <a:lstStyle/>
          <a:p>
            <a:pPr>
              <a:spcBef>
                <a:spcPct val="0"/>
              </a:spcBef>
            </a:pPr>
            <a:r>
              <a:rPr lang="en-US" dirty="0">
                <a:latin typeface="Verdana" charset="0"/>
              </a:rPr>
              <a:t>Jean Hey (The Master of Moulins) PORTRAIT OF MARGARET OF AUSTRIA</a:t>
            </a:r>
            <a:br>
              <a:rPr lang="en-US" dirty="0">
                <a:latin typeface="Verdana" charset="0"/>
              </a:rPr>
            </a:br>
            <a:r>
              <a:rPr lang="en-US" dirty="0">
                <a:latin typeface="Verdana" charset="0"/>
              </a:rPr>
              <a:t>c. 1490. Oil on wood panel, 12-7/8</a:t>
            </a:r>
            <a:r>
              <a:rPr lang="ru-RU" dirty="0">
                <a:latin typeface="Verdana" charset="0"/>
              </a:rPr>
              <a:t>"</a:t>
            </a:r>
            <a:r>
              <a:rPr lang="en-US" dirty="0">
                <a:latin typeface="Verdana" charset="0"/>
              </a:rPr>
              <a:t> × 9-1/8</a:t>
            </a:r>
            <a:r>
              <a:rPr lang="ru-RU" dirty="0">
                <a:latin typeface="Verdana" charset="0"/>
              </a:rPr>
              <a:t>"</a:t>
            </a:r>
            <a:r>
              <a:rPr lang="en-US" dirty="0">
                <a:latin typeface="Verdana" charset="0"/>
              </a:rPr>
              <a:t> (32.7 × 23 cm).</a:t>
            </a:r>
            <a:br>
              <a:rPr lang="en-US" dirty="0">
                <a:latin typeface="Verdana" charset="0"/>
              </a:rPr>
            </a:br>
            <a:r>
              <a:rPr lang="en-US" dirty="0">
                <a:latin typeface="Verdana" charset="0"/>
              </a:rPr>
              <a:t>Metropolitan Museum of Art, New York. Robert Lehman Collection. © 2016. Image copyright Resource/Scala, Florence</a:t>
            </a:r>
            <a:endParaRPr lang="en-US" dirty="0"/>
          </a:p>
        </p:txBody>
      </p:sp>
      <p:sp>
        <p:nvSpPr>
          <p:cNvPr id="105475" name="Slide Number Placeholder 3"/>
          <p:cNvSpPr>
            <a:spLocks noGrp="1"/>
          </p:cNvSpPr>
          <p:nvPr>
            <p:ph type="sldNum" sz="quarter" idx="5"/>
          </p:nvPr>
        </p:nvSpPr>
        <p:spPr bwMode="auto">
          <a:noFill/>
          <a:ln>
            <a:miter lim="800000"/>
            <a:headEnd/>
            <a:tailEnd/>
          </a:ln>
        </p:spPr>
        <p:txBody>
          <a:bodyPr/>
          <a:lstStyle/>
          <a:p>
            <a:fld id="{B784FAB1-128B-AE47-A7B2-02BCB764B699}" type="slidenum">
              <a:rPr lang="en-US"/>
              <a:pPr/>
              <a:t>57</a:t>
            </a:fld>
            <a:endParaRPr lang="en-US"/>
          </a:p>
        </p:txBody>
      </p:sp>
    </p:spTree>
    <p:extLst>
      <p:ext uri="{BB962C8B-B14F-4D97-AF65-F5344CB8AC3E}">
        <p14:creationId xmlns:p14="http://schemas.microsoft.com/office/powerpoint/2010/main" val="791573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6" name="Notes Placeholder 2"/>
          <p:cNvSpPr>
            <a:spLocks noGrp="1"/>
          </p:cNvSpPr>
          <p:nvPr>
            <p:ph type="body" idx="1"/>
          </p:nvPr>
        </p:nvSpPr>
        <p:spPr bwMode="auto">
          <a:noFill/>
        </p:spPr>
        <p:txBody>
          <a:bodyPr/>
          <a:lstStyle/>
          <a:p>
            <a:pPr>
              <a:spcBef>
                <a:spcPct val="0"/>
              </a:spcBef>
            </a:pPr>
            <a:r>
              <a:rPr lang="en-US" dirty="0"/>
              <a:t>Pierre Robin (?) CHURCH OF SAINT-MACLOU, ROUEN</a:t>
            </a:r>
            <a:br>
              <a:rPr lang="en-US" dirty="0"/>
            </a:br>
            <a:r>
              <a:rPr lang="en-US" dirty="0"/>
              <a:t>Normandy, France.</a:t>
            </a:r>
            <a:br>
              <a:rPr lang="en-US" dirty="0"/>
            </a:br>
            <a:r>
              <a:rPr lang="en-US" dirty="0"/>
              <a:t>West façade, 1432–1521; façade c. 1500–1514</a:t>
            </a:r>
            <a:br>
              <a:rPr lang="en-US" dirty="0"/>
            </a:br>
            <a:r>
              <a:rPr lang="en-US" dirty="0"/>
              <a:t>© Achim Bednorz, Cologne. </a:t>
            </a:r>
          </a:p>
        </p:txBody>
      </p:sp>
      <p:sp>
        <p:nvSpPr>
          <p:cNvPr id="108547" name="Slide Number Placeholder 3"/>
          <p:cNvSpPr>
            <a:spLocks noGrp="1"/>
          </p:cNvSpPr>
          <p:nvPr>
            <p:ph type="sldNum" sz="quarter" idx="5"/>
          </p:nvPr>
        </p:nvSpPr>
        <p:spPr bwMode="auto">
          <a:noFill/>
          <a:ln>
            <a:miter lim="800000"/>
            <a:headEnd/>
            <a:tailEnd/>
          </a:ln>
        </p:spPr>
        <p:txBody>
          <a:bodyPr/>
          <a:lstStyle/>
          <a:p>
            <a:fld id="{A3C8ABF8-B148-1745-B657-D7EC1408A01A}" type="slidenum">
              <a:rPr lang="en-US"/>
              <a:pPr/>
              <a:t>59</a:t>
            </a:fld>
            <a:endParaRPr lang="en-US"/>
          </a:p>
        </p:txBody>
      </p:sp>
    </p:spTree>
    <p:extLst>
      <p:ext uri="{BB962C8B-B14F-4D97-AF65-F5344CB8AC3E}">
        <p14:creationId xmlns:p14="http://schemas.microsoft.com/office/powerpoint/2010/main" val="317175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4" name="Notes Placeholder 2"/>
          <p:cNvSpPr>
            <a:spLocks noGrp="1"/>
          </p:cNvSpPr>
          <p:nvPr>
            <p:ph type="body" idx="1"/>
          </p:nvPr>
        </p:nvSpPr>
        <p:spPr bwMode="auto">
          <a:noFill/>
        </p:spPr>
        <p:txBody>
          <a:bodyPr/>
          <a:lstStyle/>
          <a:p>
            <a:pPr>
              <a:spcBef>
                <a:spcPct val="0"/>
              </a:spcBef>
            </a:pPr>
            <a:r>
              <a:rPr lang="en-US" dirty="0"/>
              <a:t>PLAN OF JACQUES COEUR HOUSE</a:t>
            </a:r>
            <a:br>
              <a:rPr lang="en-US" dirty="0"/>
            </a:br>
            <a:r>
              <a:rPr lang="en-US" dirty="0"/>
              <a:t>Bourges, France. 1443–1451.</a:t>
            </a:r>
          </a:p>
        </p:txBody>
      </p:sp>
      <p:sp>
        <p:nvSpPr>
          <p:cNvPr id="110595" name="Slide Number Placeholder 3"/>
          <p:cNvSpPr>
            <a:spLocks noGrp="1"/>
          </p:cNvSpPr>
          <p:nvPr>
            <p:ph type="sldNum" sz="quarter" idx="5"/>
          </p:nvPr>
        </p:nvSpPr>
        <p:spPr bwMode="auto">
          <a:noFill/>
          <a:ln>
            <a:miter lim="800000"/>
            <a:headEnd/>
            <a:tailEnd/>
          </a:ln>
        </p:spPr>
        <p:txBody>
          <a:bodyPr/>
          <a:lstStyle/>
          <a:p>
            <a:fld id="{3FEB822B-A9B5-F343-9BE0-D0E79E842464}" type="slidenum">
              <a:rPr lang="en-US"/>
              <a:pPr/>
              <a:t>60</a:t>
            </a:fld>
            <a:endParaRPr lang="en-US"/>
          </a:p>
        </p:txBody>
      </p:sp>
    </p:spTree>
    <p:extLst>
      <p:ext uri="{BB962C8B-B14F-4D97-AF65-F5344CB8AC3E}">
        <p14:creationId xmlns:p14="http://schemas.microsoft.com/office/powerpoint/2010/main" val="7226033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2" name="Notes Placeholder 2"/>
          <p:cNvSpPr>
            <a:spLocks noGrp="1"/>
          </p:cNvSpPr>
          <p:nvPr>
            <p:ph type="body" idx="1"/>
          </p:nvPr>
        </p:nvSpPr>
        <p:spPr bwMode="auto">
          <a:noFill/>
        </p:spPr>
        <p:txBody>
          <a:bodyPr/>
          <a:lstStyle/>
          <a:p>
            <a:pPr>
              <a:spcBef>
                <a:spcPct val="0"/>
              </a:spcBef>
            </a:pPr>
            <a:r>
              <a:rPr lang="en-US" dirty="0"/>
              <a:t>INTERIOR COURTYARD OF JACQUES COEUR HOUSE</a:t>
            </a:r>
            <a:br>
              <a:rPr lang="en-US" dirty="0"/>
            </a:br>
            <a:r>
              <a:rPr lang="en-US" dirty="0"/>
              <a:t>Bourges, France. 1443–1451.</a:t>
            </a:r>
            <a:br>
              <a:rPr lang="en-US" dirty="0"/>
            </a:br>
            <a:r>
              <a:rPr lang="en-US" dirty="0"/>
              <a:t>© </a:t>
            </a:r>
            <a:r>
              <a:rPr lang="en-US" dirty="0" err="1"/>
              <a:t>Hervé</a:t>
            </a:r>
            <a:r>
              <a:rPr lang="en-US" dirty="0"/>
              <a:t> Champollion/</a:t>
            </a:r>
            <a:r>
              <a:rPr lang="en-US" dirty="0" err="1"/>
              <a:t>akg</a:t>
            </a:r>
            <a:r>
              <a:rPr lang="en-US" dirty="0"/>
              <a:t>-images. </a:t>
            </a:r>
          </a:p>
        </p:txBody>
      </p:sp>
      <p:sp>
        <p:nvSpPr>
          <p:cNvPr id="112643" name="Slide Number Placeholder 3"/>
          <p:cNvSpPr>
            <a:spLocks noGrp="1"/>
          </p:cNvSpPr>
          <p:nvPr>
            <p:ph type="sldNum" sz="quarter" idx="5"/>
          </p:nvPr>
        </p:nvSpPr>
        <p:spPr bwMode="auto">
          <a:noFill/>
          <a:ln>
            <a:miter lim="800000"/>
            <a:headEnd/>
            <a:tailEnd/>
          </a:ln>
        </p:spPr>
        <p:txBody>
          <a:bodyPr/>
          <a:lstStyle/>
          <a:p>
            <a:fld id="{623469CA-B61D-BD4E-819F-F82DAB4D06BD}" type="slidenum">
              <a:rPr lang="en-US"/>
              <a:pPr/>
              <a:t>61</a:t>
            </a:fld>
            <a:endParaRPr lang="en-US"/>
          </a:p>
        </p:txBody>
      </p:sp>
    </p:spTree>
    <p:extLst>
      <p:ext uri="{BB962C8B-B14F-4D97-AF65-F5344CB8AC3E}">
        <p14:creationId xmlns:p14="http://schemas.microsoft.com/office/powerpoint/2010/main" val="7742947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a:lstStyle/>
          <a:p>
            <a:pPr>
              <a:spcBef>
                <a:spcPct val="0"/>
              </a:spcBef>
            </a:pPr>
            <a:r>
              <a:rPr lang="en-US" dirty="0">
                <a:latin typeface="Verdana" charset="0"/>
              </a:rPr>
              <a:t>Konrad </a:t>
            </a:r>
            <a:r>
              <a:rPr lang="en-US" dirty="0" err="1">
                <a:latin typeface="Verdana" charset="0"/>
              </a:rPr>
              <a:t>Witz</a:t>
            </a:r>
            <a:r>
              <a:rPr lang="en-US" dirty="0">
                <a:latin typeface="Verdana" charset="0"/>
              </a:rPr>
              <a:t> MIRACULOUS DRAFT OF FISHES</a:t>
            </a:r>
            <a:br>
              <a:rPr lang="en-US" dirty="0">
                <a:latin typeface="Verdana" charset="0"/>
              </a:rPr>
            </a:br>
            <a:r>
              <a:rPr lang="en-US" dirty="0">
                <a:latin typeface="Verdana" charset="0"/>
              </a:rPr>
              <a:t>From an altarpiece for the Cathedral of St. Peter, Geneva, Switzerland.</a:t>
            </a:r>
            <a:br>
              <a:rPr lang="en-US" dirty="0">
                <a:latin typeface="Verdana" charset="0"/>
              </a:rPr>
            </a:br>
            <a:r>
              <a:rPr lang="en-US" dirty="0">
                <a:latin typeface="Verdana" charset="0"/>
              </a:rPr>
              <a:t>1444. Oil on wood panel, 4</a:t>
            </a:r>
            <a:r>
              <a:rPr lang="uk-UA" dirty="0">
                <a:latin typeface="Verdana" charset="0"/>
              </a:rPr>
              <a:t>'</a:t>
            </a:r>
            <a:r>
              <a:rPr lang="en-US" dirty="0">
                <a:latin typeface="Verdana" charset="0"/>
              </a:rPr>
              <a:t>3</a:t>
            </a:r>
            <a:r>
              <a:rPr lang="ru-RU" dirty="0">
                <a:latin typeface="Verdana" charset="0"/>
              </a:rPr>
              <a:t>"</a:t>
            </a:r>
            <a:r>
              <a:rPr lang="en-US" dirty="0">
                <a:latin typeface="Verdana" charset="0"/>
              </a:rPr>
              <a:t> × 5</a:t>
            </a:r>
            <a:r>
              <a:rPr lang="uk-UA" dirty="0">
                <a:latin typeface="Verdana" charset="0"/>
              </a:rPr>
              <a:t>'</a:t>
            </a:r>
            <a:r>
              <a:rPr lang="en-US" dirty="0">
                <a:latin typeface="Verdana" charset="0"/>
              </a:rPr>
              <a:t>1</a:t>
            </a:r>
            <a:r>
              <a:rPr lang="ru-RU" dirty="0">
                <a:latin typeface="Verdana" charset="0"/>
              </a:rPr>
              <a:t>"</a:t>
            </a:r>
            <a:r>
              <a:rPr lang="en-US" dirty="0">
                <a:latin typeface="Verdana" charset="0"/>
              </a:rPr>
              <a:t> (1.29 × 1.55 m).</a:t>
            </a:r>
            <a:br>
              <a:rPr lang="en-US" dirty="0">
                <a:latin typeface="Verdana" charset="0"/>
              </a:rPr>
            </a:br>
            <a:r>
              <a:rPr lang="en-US" dirty="0" err="1">
                <a:latin typeface="Verdana" charset="0"/>
              </a:rPr>
              <a:t>Musée</a:t>
            </a:r>
            <a:r>
              <a:rPr lang="en-US" dirty="0">
                <a:latin typeface="Verdana" charset="0"/>
              </a:rPr>
              <a:t> d</a:t>
            </a:r>
            <a:r>
              <a:rPr lang="uk-UA" dirty="0">
                <a:latin typeface="Verdana" charset="0"/>
              </a:rPr>
              <a:t>'</a:t>
            </a:r>
            <a:r>
              <a:rPr lang="en-US" dirty="0">
                <a:latin typeface="Verdana" charset="0"/>
              </a:rPr>
              <a:t>Art et d</a:t>
            </a:r>
            <a:r>
              <a:rPr lang="uk-UA" dirty="0">
                <a:latin typeface="Verdana" charset="0"/>
              </a:rPr>
              <a:t>'</a:t>
            </a:r>
            <a:r>
              <a:rPr lang="en-US" dirty="0" err="1">
                <a:latin typeface="Verdana" charset="0"/>
              </a:rPr>
              <a:t>Histoire</a:t>
            </a:r>
            <a:r>
              <a:rPr lang="en-US" dirty="0">
                <a:latin typeface="Verdana" charset="0"/>
              </a:rPr>
              <a:t>, Geneva. © </a:t>
            </a:r>
            <a:r>
              <a:rPr lang="en-US" dirty="0" err="1">
                <a:latin typeface="Verdana" charset="0"/>
              </a:rPr>
              <a:t>Musée</a:t>
            </a:r>
            <a:r>
              <a:rPr lang="en-US" dirty="0">
                <a:latin typeface="Verdana" charset="0"/>
              </a:rPr>
              <a:t> d</a:t>
            </a:r>
            <a:r>
              <a:rPr lang="uk-UA" dirty="0">
                <a:latin typeface="Verdana" charset="0"/>
              </a:rPr>
              <a:t>'</a:t>
            </a:r>
            <a:r>
              <a:rPr lang="en-US" dirty="0">
                <a:latin typeface="Verdana" charset="0"/>
              </a:rPr>
              <a:t>art et d</a:t>
            </a:r>
            <a:r>
              <a:rPr lang="uk-UA" dirty="0">
                <a:latin typeface="Verdana" charset="0"/>
              </a:rPr>
              <a:t>'</a:t>
            </a:r>
            <a:r>
              <a:rPr lang="en-US" dirty="0" err="1">
                <a:latin typeface="Verdana" charset="0"/>
              </a:rPr>
              <a:t>histoire</a:t>
            </a:r>
            <a:r>
              <a:rPr lang="en-US" dirty="0">
                <a:latin typeface="Verdana" charset="0"/>
              </a:rPr>
              <a:t>, Ville de Genève. Photo: Flora Bevilacqua.</a:t>
            </a:r>
            <a:endParaRPr lang="en-US" dirty="0"/>
          </a:p>
        </p:txBody>
      </p:sp>
      <p:sp>
        <p:nvSpPr>
          <p:cNvPr id="116739" name="Slide Number Placeholder 3"/>
          <p:cNvSpPr>
            <a:spLocks noGrp="1"/>
          </p:cNvSpPr>
          <p:nvPr>
            <p:ph type="sldNum" sz="quarter" idx="5"/>
          </p:nvPr>
        </p:nvSpPr>
        <p:spPr bwMode="auto">
          <a:noFill/>
          <a:ln>
            <a:miter lim="800000"/>
            <a:headEnd/>
            <a:tailEnd/>
          </a:ln>
        </p:spPr>
        <p:txBody>
          <a:bodyPr/>
          <a:lstStyle/>
          <a:p>
            <a:fld id="{59A584B9-CE75-4B46-92E4-890B9A07678A}" type="slidenum">
              <a:rPr lang="en-US"/>
              <a:pPr/>
              <a:t>64</a:t>
            </a:fld>
            <a:endParaRPr lang="en-US"/>
          </a:p>
        </p:txBody>
      </p:sp>
    </p:spTree>
    <p:extLst>
      <p:ext uri="{BB962C8B-B14F-4D97-AF65-F5344CB8AC3E}">
        <p14:creationId xmlns:p14="http://schemas.microsoft.com/office/powerpoint/2010/main" val="1969084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0" name="Notes Placeholder 2"/>
          <p:cNvSpPr>
            <a:spLocks noGrp="1"/>
          </p:cNvSpPr>
          <p:nvPr>
            <p:ph type="body" idx="1"/>
          </p:nvPr>
        </p:nvSpPr>
        <p:spPr bwMode="auto">
          <a:noFill/>
        </p:spPr>
        <p:txBody>
          <a:bodyPr/>
          <a:lstStyle/>
          <a:p>
            <a:pPr>
              <a:spcBef>
                <a:spcPct val="0"/>
              </a:spcBef>
            </a:pPr>
            <a:r>
              <a:rPr lang="en-US" dirty="0"/>
              <a:t>Michael Pacher ST. WOLFGANG ALTARPIECE</a:t>
            </a:r>
            <a:br>
              <a:rPr lang="en-US" dirty="0"/>
            </a:br>
            <a:r>
              <a:rPr lang="en-US" dirty="0"/>
              <a:t>Church of St. Wolfgang, Austria. 1471–1481.</a:t>
            </a:r>
            <a:br>
              <a:rPr lang="en-US" dirty="0"/>
            </a:br>
            <a:r>
              <a:rPr lang="en-US" dirty="0"/>
              <a:t>Carved, painted, and gilt wood; wings are oil on wood panel. © </a:t>
            </a:r>
            <a:r>
              <a:rPr lang="en-US" dirty="0" err="1"/>
              <a:t>akg</a:t>
            </a:r>
            <a:r>
              <a:rPr lang="en-US" dirty="0"/>
              <a:t>-images/Erich Lessing. </a:t>
            </a:r>
          </a:p>
        </p:txBody>
      </p:sp>
      <p:sp>
        <p:nvSpPr>
          <p:cNvPr id="119811" name="Slide Number Placeholder 3"/>
          <p:cNvSpPr>
            <a:spLocks noGrp="1"/>
          </p:cNvSpPr>
          <p:nvPr>
            <p:ph type="sldNum" sz="quarter" idx="5"/>
          </p:nvPr>
        </p:nvSpPr>
        <p:spPr bwMode="auto">
          <a:noFill/>
          <a:ln>
            <a:miter lim="800000"/>
            <a:headEnd/>
            <a:tailEnd/>
          </a:ln>
        </p:spPr>
        <p:txBody>
          <a:bodyPr/>
          <a:lstStyle/>
          <a:p>
            <a:fld id="{290B6931-59A0-0647-B5FF-A00AB0E3F504}" type="slidenum">
              <a:rPr lang="en-US"/>
              <a:pPr/>
              <a:t>66</a:t>
            </a:fld>
            <a:endParaRPr lang="en-US"/>
          </a:p>
        </p:txBody>
      </p:sp>
    </p:spTree>
    <p:extLst>
      <p:ext uri="{BB962C8B-B14F-4D97-AF65-F5344CB8AC3E}">
        <p14:creationId xmlns:p14="http://schemas.microsoft.com/office/powerpoint/2010/main" val="1684275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2" name="Notes Placeholder 2"/>
          <p:cNvSpPr>
            <a:spLocks noGrp="1"/>
          </p:cNvSpPr>
          <p:nvPr>
            <p:ph type="body" idx="1"/>
          </p:nvPr>
        </p:nvSpPr>
        <p:spPr bwMode="auto">
          <a:noFill/>
        </p:spPr>
        <p:txBody>
          <a:bodyPr/>
          <a:lstStyle/>
          <a:p>
            <a:pPr>
              <a:spcBef>
                <a:spcPct val="0"/>
              </a:spcBef>
            </a:pPr>
            <a:r>
              <a:rPr lang="en-US">
                <a:solidFill>
                  <a:schemeClr val="bg1"/>
                </a:solidFill>
                <a:latin typeface="Verdana" charset="0"/>
              </a:rPr>
              <a:t>TECHNIQUE: Woodcuts and Engravings of Metal</a:t>
            </a:r>
            <a:endParaRPr lang="en-US"/>
          </a:p>
        </p:txBody>
      </p:sp>
      <p:sp>
        <p:nvSpPr>
          <p:cNvPr id="122883" name="Slide Number Placeholder 3"/>
          <p:cNvSpPr>
            <a:spLocks noGrp="1"/>
          </p:cNvSpPr>
          <p:nvPr>
            <p:ph type="sldNum" sz="quarter" idx="5"/>
          </p:nvPr>
        </p:nvSpPr>
        <p:spPr bwMode="auto">
          <a:noFill/>
          <a:ln>
            <a:miter lim="800000"/>
            <a:headEnd/>
            <a:tailEnd/>
          </a:ln>
        </p:spPr>
        <p:txBody>
          <a:bodyPr/>
          <a:lstStyle/>
          <a:p>
            <a:fld id="{966A57A8-7BE0-FA4E-9E26-BB675B4B311C}" type="slidenum">
              <a:rPr lang="en-US"/>
              <a:pPr/>
              <a:t>68</a:t>
            </a:fld>
            <a:endParaRPr lang="en-US"/>
          </a:p>
        </p:txBody>
      </p:sp>
    </p:spTree>
    <p:extLst>
      <p:ext uri="{BB962C8B-B14F-4D97-AF65-F5344CB8AC3E}">
        <p14:creationId xmlns:p14="http://schemas.microsoft.com/office/powerpoint/2010/main" val="16335370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8" name="Notes Placeholder 2"/>
          <p:cNvSpPr>
            <a:spLocks noGrp="1"/>
          </p:cNvSpPr>
          <p:nvPr>
            <p:ph type="body" idx="1"/>
          </p:nvPr>
        </p:nvSpPr>
        <p:spPr bwMode="auto">
          <a:noFill/>
        </p:spPr>
        <p:txBody>
          <a:bodyPr/>
          <a:lstStyle/>
          <a:p>
            <a:pPr>
              <a:spcBef>
                <a:spcPct val="0"/>
              </a:spcBef>
            </a:pPr>
            <a:r>
              <a:rPr lang="en-US" dirty="0"/>
              <a:t>THE BUXHEIM ST. CHRISTOPHER</a:t>
            </a:r>
            <a:br>
              <a:rPr lang="en-US" dirty="0"/>
            </a:br>
            <a:r>
              <a:rPr lang="en-US" dirty="0"/>
              <a:t>Mid 15th century. Hand-colored woodcut, 11-3/8</a:t>
            </a:r>
            <a:r>
              <a:rPr lang="ru-RU" dirty="0"/>
              <a:t>"</a:t>
            </a:r>
            <a:r>
              <a:rPr lang="en-US" dirty="0"/>
              <a:t> × 8-1/8</a:t>
            </a:r>
            <a:r>
              <a:rPr lang="ru-RU" dirty="0"/>
              <a:t>"</a:t>
            </a:r>
            <a:r>
              <a:rPr lang="en-US" dirty="0"/>
              <a:t> (28.85 × 20.7 cm).</a:t>
            </a:r>
            <a:br>
              <a:rPr lang="en-US" dirty="0"/>
            </a:br>
            <a:r>
              <a:rPr lang="en-US" dirty="0"/>
              <a:t>Private collection. © Fine Art Images/</a:t>
            </a:r>
            <a:r>
              <a:rPr lang="en-US" dirty="0" err="1"/>
              <a:t>Archivi</a:t>
            </a:r>
            <a:r>
              <a:rPr lang="en-US" dirty="0"/>
              <a:t> </a:t>
            </a:r>
            <a:r>
              <a:rPr lang="en-US" dirty="0" err="1"/>
              <a:t>Alinari</a:t>
            </a:r>
            <a:r>
              <a:rPr lang="en-US" dirty="0"/>
              <a:t>, Firenze.</a:t>
            </a:r>
          </a:p>
        </p:txBody>
      </p:sp>
      <p:sp>
        <p:nvSpPr>
          <p:cNvPr id="126979" name="Slide Number Placeholder 3"/>
          <p:cNvSpPr>
            <a:spLocks noGrp="1"/>
          </p:cNvSpPr>
          <p:nvPr>
            <p:ph type="sldNum" sz="quarter" idx="5"/>
          </p:nvPr>
        </p:nvSpPr>
        <p:spPr bwMode="auto">
          <a:noFill/>
          <a:ln>
            <a:miter lim="800000"/>
            <a:headEnd/>
            <a:tailEnd/>
          </a:ln>
        </p:spPr>
        <p:txBody>
          <a:bodyPr/>
          <a:lstStyle/>
          <a:p>
            <a:fld id="{56383E8E-46E7-5A42-A761-35CAAA28A56D}" type="slidenum">
              <a:rPr lang="en-US"/>
              <a:pPr/>
              <a:t>71</a:t>
            </a:fld>
            <a:endParaRPr lang="en-US"/>
          </a:p>
        </p:txBody>
      </p:sp>
    </p:spTree>
    <p:extLst>
      <p:ext uri="{BB962C8B-B14F-4D97-AF65-F5344CB8AC3E}">
        <p14:creationId xmlns:p14="http://schemas.microsoft.com/office/powerpoint/2010/main" val="14255838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bwMode="auto">
          <a:noFill/>
          <a:ln>
            <a:solidFill>
              <a:srgbClr val="000000"/>
            </a:solidFill>
            <a:miter lim="800000"/>
            <a:headEnd/>
            <a:tailEnd/>
          </a:ln>
        </p:spPr>
      </p:sp>
      <p:sp>
        <p:nvSpPr>
          <p:cNvPr id="130050" name="Notes Placeholder 2"/>
          <p:cNvSpPr>
            <a:spLocks noGrp="1"/>
          </p:cNvSpPr>
          <p:nvPr>
            <p:ph type="body" idx="1"/>
          </p:nvPr>
        </p:nvSpPr>
        <p:spPr bwMode="auto">
          <a:noFill/>
        </p:spPr>
        <p:txBody>
          <a:bodyPr/>
          <a:lstStyle/>
          <a:p>
            <a:pPr>
              <a:spcBef>
                <a:spcPct val="0"/>
              </a:spcBef>
            </a:pPr>
            <a:r>
              <a:rPr lang="en-US" dirty="0"/>
              <a:t>Martin Schongauer THE TEMPTATIONS OF ST. ANTHONY</a:t>
            </a:r>
            <a:br>
              <a:rPr lang="en-US" dirty="0"/>
            </a:br>
            <a:r>
              <a:rPr lang="en-US" dirty="0"/>
              <a:t>c. 1470–1480. Engraving, 12-1/4</a:t>
            </a:r>
            <a:r>
              <a:rPr lang="ru-RU" dirty="0"/>
              <a:t>"</a:t>
            </a:r>
            <a:r>
              <a:rPr lang="en-US" dirty="0"/>
              <a:t> × 9</a:t>
            </a:r>
            <a:r>
              <a:rPr lang="ru-RU" dirty="0"/>
              <a:t>"</a:t>
            </a:r>
            <a:r>
              <a:rPr lang="en-US" dirty="0"/>
              <a:t> (31.1 × 22.9 cm).</a:t>
            </a:r>
            <a:br>
              <a:rPr lang="en-US" dirty="0"/>
            </a:br>
            <a:r>
              <a:rPr lang="en-US" dirty="0"/>
              <a:t>Metropolitan Museum of Art, New York. Rogers Fund, 1920 (20.5.2). © 2016. Image copyright The Metropolitan Museum of Art/Art Resource/Scala, Florence.</a:t>
            </a:r>
          </a:p>
        </p:txBody>
      </p:sp>
      <p:sp>
        <p:nvSpPr>
          <p:cNvPr id="130051" name="Slide Number Placeholder 3"/>
          <p:cNvSpPr>
            <a:spLocks noGrp="1"/>
          </p:cNvSpPr>
          <p:nvPr>
            <p:ph type="sldNum" sz="quarter" idx="5"/>
          </p:nvPr>
        </p:nvSpPr>
        <p:spPr bwMode="auto">
          <a:noFill/>
          <a:ln>
            <a:miter lim="800000"/>
            <a:headEnd/>
            <a:tailEnd/>
          </a:ln>
        </p:spPr>
        <p:txBody>
          <a:bodyPr/>
          <a:lstStyle/>
          <a:p>
            <a:fld id="{91AE6E89-97AD-7847-8634-FE75651740FC}" type="slidenum">
              <a:rPr lang="en-US"/>
              <a:pPr/>
              <a:t>73</a:t>
            </a:fld>
            <a:endParaRPr lang="en-US"/>
          </a:p>
        </p:txBody>
      </p:sp>
    </p:spTree>
    <p:extLst>
      <p:ext uri="{BB962C8B-B14F-4D97-AF65-F5344CB8AC3E}">
        <p14:creationId xmlns:p14="http://schemas.microsoft.com/office/powerpoint/2010/main" val="312246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bwMode="auto">
          <a:noFill/>
          <a:ln>
            <a:solidFill>
              <a:srgbClr val="000000"/>
            </a:solidFill>
            <a:miter lim="800000"/>
            <a:headEnd/>
            <a:tailEnd/>
          </a:ln>
        </p:spPr>
      </p:sp>
      <p:sp>
        <p:nvSpPr>
          <p:cNvPr id="134146" name="Notes Placeholder 2"/>
          <p:cNvSpPr>
            <a:spLocks noGrp="1"/>
          </p:cNvSpPr>
          <p:nvPr>
            <p:ph type="body" idx="1"/>
          </p:nvPr>
        </p:nvSpPr>
        <p:spPr bwMode="auto">
          <a:noFill/>
        </p:spPr>
        <p:txBody>
          <a:bodyPr/>
          <a:lstStyle/>
          <a:p>
            <a:pPr>
              <a:spcBef>
                <a:spcPct val="0"/>
              </a:spcBef>
            </a:pPr>
            <a:r>
              <a:rPr lang="en-US" dirty="0"/>
              <a:t>Michael </a:t>
            </a:r>
            <a:r>
              <a:rPr lang="en-US" dirty="0" err="1"/>
              <a:t>Wolgemut</a:t>
            </a:r>
            <a:r>
              <a:rPr lang="en-US" dirty="0"/>
              <a:t>, Wilhelm </a:t>
            </a:r>
            <a:r>
              <a:rPr lang="en-US" dirty="0" err="1"/>
              <a:t>Pleydenwurff</a:t>
            </a:r>
            <a:r>
              <a:rPr lang="en-US" dirty="0"/>
              <a:t>, and workshop THE CITY OF NUREMBERG</a:t>
            </a:r>
            <a:br>
              <a:rPr lang="en-US" dirty="0"/>
            </a:br>
            <a:r>
              <a:rPr lang="en-US" i="1" dirty="0"/>
              <a:t>Nuremberg Chronicle</a:t>
            </a:r>
            <a:r>
              <a:rPr lang="en-US" dirty="0"/>
              <a:t>, published by Anton </a:t>
            </a:r>
            <a:r>
              <a:rPr lang="en-US" dirty="0" err="1"/>
              <a:t>Koberger</a:t>
            </a:r>
            <a:r>
              <a:rPr lang="en-US" dirty="0"/>
              <a:t> in 1493.</a:t>
            </a:r>
            <a:br>
              <a:rPr lang="en-US" dirty="0"/>
            </a:br>
            <a:r>
              <a:rPr lang="en-US" dirty="0"/>
              <a:t>Woodcut within a printed book, hand-colored after printing,</a:t>
            </a:r>
            <a:br>
              <a:rPr lang="en-US" dirty="0"/>
            </a:br>
            <a:r>
              <a:rPr lang="en-US" dirty="0"/>
              <a:t>each page 18-1/2</a:t>
            </a:r>
            <a:r>
              <a:rPr lang="ru-RU" dirty="0"/>
              <a:t>"</a:t>
            </a:r>
            <a:r>
              <a:rPr lang="en-US" dirty="0"/>
              <a:t> × 12-3/4</a:t>
            </a:r>
            <a:r>
              <a:rPr lang="ru-RU" dirty="0"/>
              <a:t>"</a:t>
            </a:r>
            <a:r>
              <a:rPr lang="en-US" dirty="0"/>
              <a:t> (47 × 32.4 cm).</a:t>
            </a:r>
            <a:br>
              <a:rPr lang="en-US" dirty="0"/>
            </a:br>
            <a:r>
              <a:rPr lang="en-US" dirty="0"/>
              <a:t>Staatliche </a:t>
            </a:r>
            <a:r>
              <a:rPr lang="en-US" dirty="0" err="1"/>
              <a:t>Museen</a:t>
            </a:r>
            <a:r>
              <a:rPr lang="en-US" dirty="0"/>
              <a:t> </a:t>
            </a:r>
            <a:r>
              <a:rPr lang="en-US" dirty="0" err="1"/>
              <a:t>zu</a:t>
            </a:r>
            <a:r>
              <a:rPr lang="en-US" dirty="0"/>
              <a:t> Berlin.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a:t>
            </a:r>
            <a:r>
              <a:rPr lang="en-US"/>
              <a:t>Berlin.</a:t>
            </a:r>
            <a:endParaRPr lang="en-US" dirty="0"/>
          </a:p>
        </p:txBody>
      </p:sp>
      <p:sp>
        <p:nvSpPr>
          <p:cNvPr id="134147" name="Slide Number Placeholder 3"/>
          <p:cNvSpPr>
            <a:spLocks noGrp="1"/>
          </p:cNvSpPr>
          <p:nvPr>
            <p:ph type="sldNum" sz="quarter" idx="5"/>
          </p:nvPr>
        </p:nvSpPr>
        <p:spPr bwMode="auto">
          <a:noFill/>
          <a:ln>
            <a:miter lim="800000"/>
            <a:headEnd/>
            <a:tailEnd/>
          </a:ln>
        </p:spPr>
        <p:txBody>
          <a:bodyPr/>
          <a:lstStyle/>
          <a:p>
            <a:fld id="{4BF88A96-9628-4849-9F66-239E6F59D178}" type="slidenum">
              <a:rPr lang="en-US"/>
              <a:pPr/>
              <a:t>76</a:t>
            </a:fld>
            <a:endParaRPr lang="en-US"/>
          </a:p>
        </p:txBody>
      </p:sp>
    </p:spTree>
    <p:extLst>
      <p:ext uri="{BB962C8B-B14F-4D97-AF65-F5344CB8AC3E}">
        <p14:creationId xmlns:p14="http://schemas.microsoft.com/office/powerpoint/2010/main" val="1628997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00949243"/>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8F34-FAC7-134E-993B-74911C766F30}"/>
              </a:ext>
            </a:extLst>
          </p:cNvPr>
          <p:cNvSpPr>
            <a:spLocks noGrp="1"/>
          </p:cNvSpPr>
          <p:nvPr>
            <p:ph type="ctrTitle"/>
          </p:nvPr>
        </p:nvSpPr>
        <p:spPr/>
        <p:txBody>
          <a:bodyPr/>
          <a:lstStyle/>
          <a:p>
            <a:r>
              <a:rPr lang="en-US" dirty="0"/>
              <a:t>Chapter 14</a:t>
            </a:r>
          </a:p>
        </p:txBody>
      </p:sp>
      <p:sp>
        <p:nvSpPr>
          <p:cNvPr id="3" name="Subtitle 2">
            <a:extLst>
              <a:ext uri="{FF2B5EF4-FFF2-40B4-BE49-F238E27FC236}">
                <a16:creationId xmlns:a16="http://schemas.microsoft.com/office/drawing/2014/main" id="{20B90E66-B409-6441-9D0D-A1B8741E60ED}"/>
              </a:ext>
            </a:extLst>
          </p:cNvPr>
          <p:cNvSpPr>
            <a:spLocks noGrp="1"/>
          </p:cNvSpPr>
          <p:nvPr>
            <p:ph type="subTitle" idx="1"/>
          </p:nvPr>
        </p:nvSpPr>
        <p:spPr/>
        <p:txBody>
          <a:bodyPr/>
          <a:lstStyle/>
          <a:p>
            <a:r>
              <a:rPr lang="en-US" dirty="0"/>
              <a:t>Artistic Innovations in Fifteenth-Century Northern Europe </a:t>
            </a:r>
          </a:p>
        </p:txBody>
      </p:sp>
    </p:spTree>
    <p:extLst>
      <p:ext uri="{BB962C8B-B14F-4D97-AF65-F5344CB8AC3E}">
        <p14:creationId xmlns:p14="http://schemas.microsoft.com/office/powerpoint/2010/main" val="3969529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 </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Examine the characteristics of the luxurious International Gothic.</a:t>
            </a:r>
          </a:p>
          <a:p>
            <a:pPr marL="457200" lvl="0" indent="-457200" fontAlgn="base">
              <a:buFont typeface="+mj-lt"/>
              <a:buAutoNum type="arabicPeriod"/>
            </a:pPr>
            <a:r>
              <a:rPr lang="en-US" dirty="0"/>
              <a:t>Discover the detailed naturalism and innovative techniques associated with Netherlandish painting in the fifteenth century.</a:t>
            </a:r>
          </a:p>
          <a:p>
            <a:pPr marL="457200" lvl="0" indent="-457200" fontAlgn="base">
              <a:buFont typeface="+mj-lt"/>
              <a:buAutoNum type="arabicPeriod"/>
            </a:pPr>
            <a:r>
              <a:rPr lang="en-US" dirty="0"/>
              <a:t>Analyze the imagery and complex symbolism of Netherlandish paintings.</a:t>
            </a:r>
          </a:p>
          <a:p>
            <a:pPr marL="457200" lvl="0" indent="-457200" fontAlgn="base">
              <a:buFont typeface="+mj-lt"/>
              <a:buAutoNum type="arabicPeriod"/>
            </a:pPr>
            <a:r>
              <a:rPr lang="en-US" dirty="0"/>
              <a:t>Trace the spread of Netherlandish styles into other regions of Northern Europe.</a:t>
            </a:r>
          </a:p>
          <a:p>
            <a:pPr marL="457200" lvl="0" indent="-457200" fontAlgn="base">
              <a:buFont typeface="+mj-lt"/>
              <a:buAutoNum type="arabicPeriod"/>
            </a:pPr>
            <a:r>
              <a:rPr lang="en-US" dirty="0"/>
              <a:t>Explore the origins of print media.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3"/>
          <p:cNvSpPr>
            <a:spLocks noGrp="1"/>
          </p:cNvSpPr>
          <p:nvPr>
            <p:ph type="title"/>
          </p:nvPr>
        </p:nvSpPr>
        <p:spPr/>
        <p:txBody>
          <a:bodyPr>
            <a:normAutofit fontScale="90000"/>
          </a:bodyPr>
          <a:lstStyle/>
          <a:p>
            <a:r>
              <a:rPr lang="en-US" dirty="0"/>
              <a:t>Jan van Eyck DOUBLE PORTRAIT OF GIOVANNI ARNOLFINI AND HIS WIFE</a:t>
            </a:r>
            <a:br>
              <a:rPr lang="en-US" dirty="0"/>
            </a:br>
            <a:r>
              <a:rPr lang="en-US" dirty="0"/>
              <a:t>1434. Oil on wood panel, 33</a:t>
            </a:r>
            <a:r>
              <a:rPr lang="ru-RU" dirty="0"/>
              <a:t>"</a:t>
            </a:r>
            <a:r>
              <a:rPr lang="en-US" dirty="0"/>
              <a:t> × 22-1/2</a:t>
            </a:r>
            <a:r>
              <a:rPr lang="ru-RU" dirty="0"/>
              <a:t>"</a:t>
            </a:r>
            <a:r>
              <a:rPr lang="en-US" dirty="0"/>
              <a:t> (83.8 × 57.2 cm).</a:t>
            </a:r>
            <a:br>
              <a:rPr lang="en-US" dirty="0"/>
            </a:br>
            <a:r>
              <a:rPr lang="en-US" dirty="0"/>
              <a:t>The National Gallery, London. © 2016. Copyright The National Gallery, London/Scala, Florence</a:t>
            </a:r>
          </a:p>
        </p:txBody>
      </p:sp>
      <p:pic>
        <p:nvPicPr>
          <p:cNvPr id="2" name="Picture 1" descr="A man in an oversized, black top hat raises one hand in a rhetorical gesture, while holding his wife’s hand in the other. The couple’s clothing and the deep, red cloth on their furniture and draperies demonstrate the cloth merchant’s wealth."/>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t>The Northern Renaissance</a:t>
            </a:r>
          </a:p>
        </p:txBody>
      </p:sp>
      <p:sp>
        <p:nvSpPr>
          <p:cNvPr id="15362" name="Content Placeholder 2"/>
          <p:cNvSpPr>
            <a:spLocks noGrp="1"/>
          </p:cNvSpPr>
          <p:nvPr>
            <p:ph idx="1"/>
          </p:nvPr>
        </p:nvSpPr>
        <p:spPr/>
        <p:txBody>
          <a:bodyPr/>
          <a:lstStyle/>
          <a:p>
            <a:r>
              <a:rPr lang="en-US"/>
              <a:t>Closely observing and detailing nature accurately through art became popular.</a:t>
            </a:r>
          </a:p>
          <a:p>
            <a:r>
              <a:rPr lang="en-US"/>
              <a:t>The concept of individual personalities also rose to prominence, and more artists began to sign their work.</a:t>
            </a:r>
          </a:p>
          <a:p>
            <a:r>
              <a:rPr lang="en-US"/>
              <a:t>The new power of Flanders and the greater Netherlands began to challenge the traditions of the Church.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3"/>
          <p:cNvSpPr>
            <a:spLocks noGrp="1"/>
          </p:cNvSpPr>
          <p:nvPr>
            <p:ph type="title"/>
          </p:nvPr>
        </p:nvSpPr>
        <p:spPr>
          <a:xfrm>
            <a:off x="457200" y="5715000"/>
            <a:ext cx="8229600" cy="685800"/>
          </a:xfrm>
        </p:spPr>
        <p:txBody>
          <a:bodyPr>
            <a:normAutofit fontScale="90000"/>
          </a:bodyPr>
          <a:lstStyle/>
          <a:p>
            <a:r>
              <a:rPr lang="en-US" dirty="0"/>
              <a:t>FIFTEENTH-CENTURY NORTHERN EUROPE</a:t>
            </a:r>
            <a:br>
              <a:rPr lang="en-US" dirty="0"/>
            </a:br>
            <a:r>
              <a:rPr lang="en-US" dirty="0"/>
              <a:t>The dukes of Burgundy—whose territory included much of present-day Belgium and Luxembourg, the Netherlands, and eastern France—became the cultural and political leaders of western Europe. Their major cities of Bruges (Belgium) and Dijon (France) were centers of art and industry as well as politics.</a:t>
            </a:r>
          </a:p>
        </p:txBody>
      </p:sp>
      <p:pic>
        <p:nvPicPr>
          <p:cNvPr id="2" name="Picture 1" descr="A map shows the extent of Burgundy’s territory at the death of Philip the Good in 1467.  Burgundian territory lay in two areas: a compact region to the northwest of Geneva, including Burgundy itself and the adjacent France-Comte of Burgundy region to the east; and a sprawling, loose territory along the North Sea, extending northeast from Artois and Flanders through Hainaut, the Brabant cities of Brussels, Ghent, and Antwerp, as far north as Haarlem in northern Holland, and creeping inland to include Limbourg, Cologne, and the region of Luxembourg. Unfortunately, both clusters of Burgundian territory straddled the border between the Kingdom of France and the German Empire, which placed Bruges, Arras, Dijon, and Moulins on the French side; and on the German side, the Franche-Comte, Brussels, Ghent, Antwerp, Haarlem, Luxembourg, and the German cities of Limbourgh and Cologn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t>Art for the French Ducal Courts</a:t>
            </a:r>
          </a:p>
        </p:txBody>
      </p:sp>
      <p:sp>
        <p:nvSpPr>
          <p:cNvPr id="18434" name="Content Placeholder 2"/>
          <p:cNvSpPr>
            <a:spLocks noGrp="1"/>
          </p:cNvSpPr>
          <p:nvPr>
            <p:ph idx="1"/>
          </p:nvPr>
        </p:nvSpPr>
        <p:spPr/>
        <p:txBody>
          <a:bodyPr/>
          <a:lstStyle/>
          <a:p>
            <a:r>
              <a:rPr lang="en-US"/>
              <a:t>The dukes of Burgundy</a:t>
            </a:r>
            <a:r>
              <a:rPr lang="uk-UA"/>
              <a:t>'</a:t>
            </a:r>
            <a:r>
              <a:rPr lang="en-US"/>
              <a:t>s rule encompassed Flemish and Netherlandish cities as well.</a:t>
            </a:r>
          </a:p>
          <a:p>
            <a:pPr lvl="1"/>
            <a:r>
              <a:rPr lang="en-US"/>
              <a:t>Dukes became the arbiters of taste.</a:t>
            </a:r>
          </a:p>
          <a:p>
            <a:r>
              <a:rPr lang="en-US"/>
              <a:t>A composite style called the International Gothic prevailed in late fourteenth-century Europe.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t>Painting and Sculpture for the Chartreuse de Champmol (1 of 2)</a:t>
            </a:r>
          </a:p>
        </p:txBody>
      </p:sp>
      <p:sp>
        <p:nvSpPr>
          <p:cNvPr id="19458" name="Content Placeholder 2"/>
          <p:cNvSpPr>
            <a:spLocks noGrp="1"/>
          </p:cNvSpPr>
          <p:nvPr>
            <p:ph idx="1"/>
          </p:nvPr>
        </p:nvSpPr>
        <p:spPr/>
        <p:txBody>
          <a:bodyPr/>
          <a:lstStyle/>
          <a:p>
            <a:r>
              <a:rPr lang="en-US"/>
              <a:t>Philip the Bold sponsored the building of the </a:t>
            </a:r>
            <a:r>
              <a:rPr lang="en-US" i="1"/>
              <a:t>chartreuse</a:t>
            </a:r>
            <a:r>
              <a:rPr lang="en-US"/>
              <a:t> at Champmol.</a:t>
            </a:r>
          </a:p>
          <a:p>
            <a:r>
              <a:rPr lang="en-US"/>
              <a:t>Melchior Broederlam</a:t>
            </a:r>
          </a:p>
          <a:p>
            <a:pPr lvl="1"/>
            <a:r>
              <a:rPr lang="en-US"/>
              <a:t>The altarpiece called for scenes of the Adoration of the Magi, Crucifixion, and Entombment, which Broederlam renders in the International Style.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3"/>
          <p:cNvSpPr>
            <a:spLocks noGrp="1"/>
          </p:cNvSpPr>
          <p:nvPr>
            <p:ph type="title"/>
          </p:nvPr>
        </p:nvSpPr>
        <p:spPr/>
        <p:txBody>
          <a:bodyPr>
            <a:normAutofit fontScale="90000"/>
          </a:bodyPr>
          <a:lstStyle/>
          <a:p>
            <a:r>
              <a:rPr lang="en-US" dirty="0"/>
              <a:t>Melchior </a:t>
            </a:r>
            <a:r>
              <a:rPr lang="en-US" dirty="0" err="1"/>
              <a:t>Broederlam</a:t>
            </a:r>
            <a:r>
              <a:rPr lang="en-US" dirty="0"/>
              <a:t> ANNUNCIATION, VISITATION, PRESENTATION IN THE TEMPLE, AND FLIGHT INTO EGYPT</a:t>
            </a:r>
            <a:br>
              <a:rPr lang="en-US" dirty="0"/>
            </a:br>
            <a:r>
              <a:rPr lang="en-US" dirty="0"/>
              <a:t>Exterior of the wings of the altarpiece of the Chartreuse de </a:t>
            </a:r>
            <a:r>
              <a:rPr lang="en-US" dirty="0" err="1"/>
              <a:t>Champmol</a:t>
            </a:r>
            <a:r>
              <a:rPr lang="en-US" dirty="0"/>
              <a:t>. 1393–1399.</a:t>
            </a:r>
            <a:br>
              <a:rPr lang="en-US" dirty="0"/>
            </a:br>
            <a:r>
              <a:rPr lang="en-US" dirty="0"/>
              <a:t>Oil on wood panel, 5</a:t>
            </a:r>
            <a:r>
              <a:rPr lang="uk-UA" dirty="0"/>
              <a:t>'</a:t>
            </a:r>
            <a:r>
              <a:rPr lang="en-US" dirty="0"/>
              <a:t>5-3/4</a:t>
            </a:r>
            <a:r>
              <a:rPr lang="ru-RU" dirty="0"/>
              <a:t>"</a:t>
            </a:r>
            <a:r>
              <a:rPr lang="en-US" dirty="0"/>
              <a:t> × 4</a:t>
            </a:r>
            <a:r>
              <a:rPr lang="uk-UA" dirty="0"/>
              <a:t>'</a:t>
            </a:r>
            <a:r>
              <a:rPr lang="en-US" dirty="0"/>
              <a:t>1-1/4</a:t>
            </a:r>
            <a:r>
              <a:rPr lang="ru-RU" dirty="0"/>
              <a:t>"</a:t>
            </a:r>
            <a:r>
              <a:rPr lang="en-US" dirty="0"/>
              <a:t> (1.67 × 1.25 m).</a:t>
            </a:r>
            <a:br>
              <a:rPr lang="en-US" dirty="0"/>
            </a:br>
            <a:r>
              <a:rPr lang="en-US" dirty="0" err="1"/>
              <a:t>Musée</a:t>
            </a:r>
            <a:r>
              <a:rPr lang="en-US" dirty="0"/>
              <a:t> des Beaux-Arts, Dijon. © </a:t>
            </a:r>
            <a:r>
              <a:rPr lang="en-US" dirty="0" err="1"/>
              <a:t>akg</a:t>
            </a:r>
            <a:r>
              <a:rPr lang="en-US" dirty="0"/>
              <a:t>-images/Erich Lessing.</a:t>
            </a:r>
          </a:p>
        </p:txBody>
      </p:sp>
      <p:pic>
        <p:nvPicPr>
          <p:cNvPr id="2" name="Picture 1" descr="In the left panel, an angel kneels to Mary and reads from a scroll; Mary then greets Elizabeth. In the right panel, Mary and Joseph present Jesus to a rabbi, then travel through the wilderness to Egyp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t>Art and Its Contexts: Alters and Alterpieces</a:t>
            </a:r>
          </a:p>
        </p:txBody>
      </p:sp>
      <p:sp>
        <p:nvSpPr>
          <p:cNvPr id="24578" name="Content Placeholder 2"/>
          <p:cNvSpPr>
            <a:spLocks noGrp="1"/>
          </p:cNvSpPr>
          <p:nvPr>
            <p:ph idx="1"/>
          </p:nvPr>
        </p:nvSpPr>
        <p:spPr/>
        <p:txBody>
          <a:bodyPr/>
          <a:lstStyle/>
          <a:p>
            <a:r>
              <a:rPr lang="en-US"/>
              <a:t>As a table, the altar is a site where priests celebrate Mass.</a:t>
            </a:r>
          </a:p>
          <a:p>
            <a:r>
              <a:rPr lang="en-US"/>
              <a:t>Altarpieces are painted, carved, and placed at the back of the altar so that they appear to join to the altar itself.</a:t>
            </a:r>
          </a:p>
          <a:p>
            <a:r>
              <a:rPr lang="en-US"/>
              <a:t>A winged altarpiece could be a diptych, triptych, or polyptych, consisting of many panels.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3"/>
          <p:cNvSpPr>
            <a:spLocks noGrp="1"/>
          </p:cNvSpPr>
          <p:nvPr>
            <p:ph type="title"/>
          </p:nvPr>
        </p:nvSpPr>
        <p:spPr/>
        <p:txBody>
          <a:bodyPr/>
          <a:lstStyle/>
          <a:p>
            <a:r>
              <a:rPr lang="en-US"/>
              <a:t>ART AND ITS CONTEXTS: Altars and Alterpieces</a:t>
            </a:r>
            <a:br>
              <a:rPr lang="en-US"/>
            </a:br>
            <a:r>
              <a:rPr lang="en-US"/>
              <a:t>Kathy Mrozek</a:t>
            </a:r>
          </a:p>
        </p:txBody>
      </p:sp>
      <p:pic>
        <p:nvPicPr>
          <p:cNvPr id="2" name="Picture 1" descr="A polyptych altarpiece sits on the flat top of a rectangular altar, referred to as the altar’s mensa. The altar’s frontal panel, or antependium, presented a flat surface for decoration between the horizontal stripes above and below."/>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a:t>Painting and Sculpture for the Chartreuse de Champmol (2 of 2)</a:t>
            </a:r>
          </a:p>
        </p:txBody>
      </p:sp>
      <p:sp>
        <p:nvSpPr>
          <p:cNvPr id="29698" name="Content Placeholder 2"/>
          <p:cNvSpPr>
            <a:spLocks noGrp="1"/>
          </p:cNvSpPr>
          <p:nvPr>
            <p:ph idx="1"/>
          </p:nvPr>
        </p:nvSpPr>
        <p:spPr/>
        <p:txBody>
          <a:bodyPr/>
          <a:lstStyle/>
          <a:p>
            <a:r>
              <a:rPr lang="en-US"/>
              <a:t>Claus Sluter</a:t>
            </a:r>
          </a:p>
          <a:p>
            <a:pPr lvl="1"/>
            <a:r>
              <a:rPr lang="en-US"/>
              <a:t>Sluter left the complex </a:t>
            </a:r>
            <a:r>
              <a:rPr lang="en-US" i="1"/>
              <a:t>Well of Moses </a:t>
            </a:r>
            <a:r>
              <a:rPr lang="en-US"/>
              <a:t>unfinished at the time of his death.</a:t>
            </a:r>
          </a:p>
          <a:p>
            <a:pPr lvl="2"/>
            <a:r>
              <a:rPr lang="en-US"/>
              <a:t>Figures of patriarchs and prophets serve as a pedestal for a free-standing figure of Christ on the cross.</a:t>
            </a:r>
          </a:p>
          <a:p>
            <a:pPr lvl="2"/>
            <a:r>
              <a:rPr lang="en-US"/>
              <a:t>He sculpted figures with voluminous drapery that created horizontal folds across their bodies.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3"/>
          <p:cNvSpPr>
            <a:spLocks noGrp="1"/>
          </p:cNvSpPr>
          <p:nvPr>
            <p:ph type="title"/>
          </p:nvPr>
        </p:nvSpPr>
        <p:spPr/>
        <p:txBody>
          <a:bodyPr>
            <a:normAutofit fontScale="90000"/>
          </a:bodyPr>
          <a:lstStyle/>
          <a:p>
            <a:r>
              <a:rPr lang="en-US" dirty="0"/>
              <a:t>Claus </a:t>
            </a:r>
            <a:r>
              <a:rPr lang="en-US" dirty="0" err="1"/>
              <a:t>Sluter</a:t>
            </a:r>
            <a:r>
              <a:rPr lang="en-US" dirty="0"/>
              <a:t> WELL OF MOSES, DETAIL OF MOSES AND DAVID</a:t>
            </a:r>
            <a:br>
              <a:rPr lang="en-US" dirty="0"/>
            </a:br>
            <a:r>
              <a:rPr lang="en-US" dirty="0"/>
              <a:t>The Chartreuse de </a:t>
            </a:r>
            <a:r>
              <a:rPr lang="en-US" dirty="0" err="1"/>
              <a:t>Champmol</a:t>
            </a:r>
            <a:r>
              <a:rPr lang="en-US" dirty="0"/>
              <a:t>, Dijon, France. 1395–1406.</a:t>
            </a:r>
            <a:br>
              <a:rPr lang="en-US" dirty="0"/>
            </a:br>
            <a:r>
              <a:rPr lang="en-US" dirty="0"/>
              <a:t>Limestone with traces of paint, height of figures about 5</a:t>
            </a:r>
            <a:r>
              <a:rPr lang="uk-UA" dirty="0"/>
              <a:t>'</a:t>
            </a:r>
            <a:r>
              <a:rPr lang="en-US" dirty="0"/>
              <a:t>8</a:t>
            </a:r>
            <a:r>
              <a:rPr lang="ru-RU" dirty="0"/>
              <a:t>"</a:t>
            </a:r>
            <a:r>
              <a:rPr lang="en-US" dirty="0"/>
              <a:t> (1.69 m).</a:t>
            </a:r>
            <a:br>
              <a:rPr lang="en-US" dirty="0"/>
            </a:br>
            <a:r>
              <a:rPr lang="en-US" dirty="0"/>
              <a:t>© Paul M.R. </a:t>
            </a:r>
            <a:r>
              <a:rPr lang="en-US" dirty="0" err="1"/>
              <a:t>Maeyaert</a:t>
            </a:r>
            <a:r>
              <a:rPr lang="en-US" dirty="0"/>
              <a:t>. </a:t>
            </a:r>
          </a:p>
        </p:txBody>
      </p:sp>
      <p:pic>
        <p:nvPicPr>
          <p:cNvPr id="2" name="Picture 1" descr="Each side of the central pillar features a statue of a biblical character. In this example, a man at center holds the expanse of his rippling drapery and looks into the distance, with his forked, curly beard hanging to his bel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a:t>Manuscript Illumination (1 of 4)</a:t>
            </a:r>
          </a:p>
        </p:txBody>
      </p:sp>
      <p:sp>
        <p:nvSpPr>
          <p:cNvPr id="34818" name="Content Placeholder 2"/>
          <p:cNvSpPr>
            <a:spLocks noGrp="1"/>
          </p:cNvSpPr>
          <p:nvPr>
            <p:ph idx="1"/>
          </p:nvPr>
        </p:nvSpPr>
        <p:spPr/>
        <p:txBody>
          <a:bodyPr/>
          <a:lstStyle/>
          <a:p>
            <a:r>
              <a:rPr lang="en-US"/>
              <a:t>Wealthy patrons treasured volumes of secular writing as well as religious texts.</a:t>
            </a:r>
          </a:p>
          <a:p>
            <a:r>
              <a:rPr lang="en-US"/>
              <a:t>Only the most lavish books would have full-page miniature paintings set off with frames.</a:t>
            </a:r>
          </a:p>
          <a:p>
            <a:pPr lvl="1"/>
            <a:r>
              <a:rPr lang="en-US"/>
              <a:t>They were conceived as windows looking out at landscapes.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Title 1"/>
          <p:cNvSpPr>
            <a:spLocks noGrp="1"/>
          </p:cNvSpPr>
          <p:nvPr>
            <p:ph type="title"/>
          </p:nvPr>
        </p:nvSpPr>
        <p:spPr/>
        <p:txBody>
          <a:bodyPr>
            <a:normAutofit fontScale="90000"/>
          </a:bodyPr>
          <a:lstStyle/>
          <a:p>
            <a:r>
              <a:rPr lang="en-US" dirty="0"/>
              <a:t>PAGE WITH A MINIATURE PAINTING  OF THAMYRIS</a:t>
            </a:r>
            <a:br>
              <a:rPr lang="en-US" dirty="0"/>
            </a:br>
            <a:r>
              <a:rPr lang="en-US" dirty="0"/>
              <a:t>From Giovanni Boccaccio</a:t>
            </a:r>
            <a:r>
              <a:rPr lang="uk-UA" dirty="0"/>
              <a:t>'</a:t>
            </a:r>
            <a:r>
              <a:rPr lang="en-US" dirty="0"/>
              <a:t>s </a:t>
            </a:r>
            <a:r>
              <a:rPr lang="en-US" i="1" dirty="0"/>
              <a:t>De Claris </a:t>
            </a:r>
            <a:r>
              <a:rPr lang="en-US" i="1" dirty="0" err="1"/>
              <a:t>Mulieribus</a:t>
            </a:r>
            <a:r>
              <a:rPr lang="en-US" i="1" dirty="0"/>
              <a:t> (Concerning Famous Women)</a:t>
            </a:r>
            <a:r>
              <a:rPr lang="en-US" dirty="0"/>
              <a:t>. 1402.</a:t>
            </a:r>
            <a:br>
              <a:rPr lang="en-US" dirty="0"/>
            </a:br>
            <a:r>
              <a:rPr lang="en-US" dirty="0"/>
              <a:t>Ink and tempera on vellum, 14 × 91⁄2″ (35.5 × 24 cm). </a:t>
            </a:r>
            <a:r>
              <a:rPr lang="en-US" dirty="0" err="1"/>
              <a:t>Bibliothèque</a:t>
            </a:r>
            <a:r>
              <a:rPr lang="en-US" dirty="0"/>
              <a:t> </a:t>
            </a:r>
            <a:r>
              <a:rPr lang="en-US" dirty="0" err="1"/>
              <a:t>Nationale</a:t>
            </a:r>
            <a:r>
              <a:rPr lang="en-US" dirty="0"/>
              <a:t>, Paris. </a:t>
            </a:r>
            <a:br>
              <a:rPr lang="en-US" dirty="0"/>
            </a:br>
            <a:r>
              <a:rPr lang="en-US" dirty="0" err="1"/>
              <a:t>Bibliothèque</a:t>
            </a:r>
            <a:r>
              <a:rPr lang="en-US" dirty="0"/>
              <a:t> </a:t>
            </a:r>
            <a:r>
              <a:rPr lang="en-US" dirty="0" err="1"/>
              <a:t>Nationale</a:t>
            </a:r>
            <a:r>
              <a:rPr lang="en-US" dirty="0"/>
              <a:t> de France, Paris. </a:t>
            </a:r>
          </a:p>
        </p:txBody>
      </p:sp>
      <p:pic>
        <p:nvPicPr>
          <p:cNvPr id="2" name="Picture 1" descr="A tall, straight tree design bisects a page of handwritten text into columns. The right-side column features an inset painting of artists in a workshop, then a paragraph written in salmon-colored ink, then a historiated initia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r>
              <a:rPr lang="en-US"/>
              <a:t>Manuscript Illumination (2 of 4)</a:t>
            </a:r>
          </a:p>
        </p:txBody>
      </p:sp>
      <p:sp>
        <p:nvSpPr>
          <p:cNvPr id="35842" name="Content Placeholder 2"/>
          <p:cNvSpPr>
            <a:spLocks noGrp="1"/>
          </p:cNvSpPr>
          <p:nvPr>
            <p:ph idx="1"/>
          </p:nvPr>
        </p:nvSpPr>
        <p:spPr/>
        <p:txBody>
          <a:bodyPr/>
          <a:lstStyle/>
          <a:p>
            <a:r>
              <a:rPr lang="en-US"/>
              <a:t>The Limbourg Brothers</a:t>
            </a:r>
          </a:p>
          <a:p>
            <a:pPr lvl="1"/>
            <a:r>
              <a:rPr lang="en-US"/>
              <a:t>Three brothers became famous for their miniature paintings.</a:t>
            </a:r>
          </a:p>
          <a:p>
            <a:pPr lvl="1"/>
            <a:r>
              <a:rPr lang="en-US"/>
              <a:t>On the February page of </a:t>
            </a:r>
            <a:r>
              <a:rPr lang="en-US" i="1"/>
              <a:t>Très Riches Heures</a:t>
            </a:r>
            <a:r>
              <a:rPr lang="en-US"/>
              <a:t>, farmers relax before a fire.</a:t>
            </a:r>
          </a:p>
          <a:p>
            <a:pPr lvl="2"/>
            <a:r>
              <a:rPr lang="en-US"/>
              <a:t>Gothic conventions still seen in this work include the cutaway view of the house, attention to anecdotal detail, and the high placement of the horizon line.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p:cNvSpPr>
            <a:spLocks noGrp="1"/>
          </p:cNvSpPr>
          <p:nvPr>
            <p:ph type="title"/>
          </p:nvPr>
        </p:nvSpPr>
        <p:spPr/>
        <p:txBody>
          <a:bodyPr>
            <a:normAutofit fontScale="90000"/>
          </a:bodyPr>
          <a:lstStyle/>
          <a:p>
            <a:r>
              <a:rPr lang="en-US" dirty="0"/>
              <a:t>Paul, Herman, and Jean Limbourg FEBRUARY: LIFE IN THE COUNTRY, TRÈS RICHES HEURES</a:t>
            </a:r>
            <a:br>
              <a:rPr lang="en-US" dirty="0"/>
            </a:br>
            <a:r>
              <a:rPr lang="en-US" dirty="0"/>
              <a:t>1411–1416. Colors and ink on parchment, 11-3/8</a:t>
            </a:r>
            <a:r>
              <a:rPr lang="ru-RU" dirty="0"/>
              <a:t>"</a:t>
            </a:r>
            <a:r>
              <a:rPr lang="en-US" dirty="0"/>
              <a:t> × 8-1/4</a:t>
            </a:r>
            <a:r>
              <a:rPr lang="ru-RU" dirty="0"/>
              <a:t>"</a:t>
            </a:r>
            <a:r>
              <a:rPr lang="en-US" dirty="0"/>
              <a:t> (29 × 21 cm).</a:t>
            </a:r>
            <a:br>
              <a:rPr lang="en-US" dirty="0"/>
            </a:br>
            <a:r>
              <a:rPr lang="en-US" dirty="0" err="1"/>
              <a:t>Musée</a:t>
            </a:r>
            <a:r>
              <a:rPr lang="en-US" dirty="0"/>
              <a:t> Condé, Chantilly, France. Photo © RMN-Grand Palais/René-Gabriel </a:t>
            </a:r>
            <a:r>
              <a:rPr lang="en-US" dirty="0" err="1"/>
              <a:t>Ojéda</a:t>
            </a:r>
            <a:r>
              <a:rPr lang="en-US" dirty="0"/>
              <a:t>.</a:t>
            </a:r>
          </a:p>
        </p:txBody>
      </p:sp>
      <p:pic>
        <p:nvPicPr>
          <p:cNvPr id="2" name="Picture 1" descr="An unfortunate worker, wrapped in heavy garments, leads a donkey carrying supplies away from the warmth of the farmhouse, down the snowy road to the village in the backg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a:t>Manuscript Illumination (3 of 4)</a:t>
            </a:r>
          </a:p>
        </p:txBody>
      </p:sp>
      <p:sp>
        <p:nvSpPr>
          <p:cNvPr id="38914" name="Content Placeholder 2"/>
          <p:cNvSpPr>
            <a:spLocks noGrp="1"/>
          </p:cNvSpPr>
          <p:nvPr>
            <p:ph idx="1"/>
          </p:nvPr>
        </p:nvSpPr>
        <p:spPr/>
        <p:txBody>
          <a:bodyPr/>
          <a:lstStyle/>
          <a:p>
            <a:r>
              <a:rPr lang="en-US"/>
              <a:t>The Limbourg Brothers</a:t>
            </a:r>
          </a:p>
          <a:p>
            <a:pPr lvl="1"/>
            <a:r>
              <a:rPr lang="en-US"/>
              <a:t>The January page depicts an aristocratic household, barely hinting of the harsh winter represented in the previous work.</a:t>
            </a:r>
          </a:p>
          <a:p>
            <a:pPr lvl="2"/>
            <a:r>
              <a:rPr lang="en-US"/>
              <a:t>Luxury items attest to the wealth and lavish lifestyle of this patron of the arts.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3"/>
          <p:cNvSpPr>
            <a:spLocks noGrp="1"/>
          </p:cNvSpPr>
          <p:nvPr>
            <p:ph type="title"/>
          </p:nvPr>
        </p:nvSpPr>
        <p:spPr/>
        <p:txBody>
          <a:bodyPr>
            <a:normAutofit fontScale="90000"/>
          </a:bodyPr>
          <a:lstStyle/>
          <a:p>
            <a:r>
              <a:rPr lang="en-US" dirty="0"/>
              <a:t>Paul, Herman, and Jean Limbourg JANUARY: THE DUKE OF BERRY AT TABLE, TRÈS RICHES HEURES</a:t>
            </a:r>
            <a:br>
              <a:rPr lang="en-US" dirty="0"/>
            </a:br>
            <a:r>
              <a:rPr lang="en-US" dirty="0"/>
              <a:t>1411–1416. Colors and ink on parchment, 11-3/8</a:t>
            </a:r>
            <a:r>
              <a:rPr lang="ru-RU" dirty="0"/>
              <a:t>"</a:t>
            </a:r>
            <a:r>
              <a:rPr lang="en-US" dirty="0"/>
              <a:t> × 8-1/4</a:t>
            </a:r>
            <a:r>
              <a:rPr lang="ru-RU" dirty="0"/>
              <a:t>"</a:t>
            </a:r>
            <a:r>
              <a:rPr lang="en-US" dirty="0"/>
              <a:t> (29 × 21 cm).</a:t>
            </a:r>
            <a:br>
              <a:rPr lang="en-US" dirty="0"/>
            </a:br>
            <a:r>
              <a:rPr lang="en-US" dirty="0" err="1"/>
              <a:t>Musée</a:t>
            </a:r>
            <a:r>
              <a:rPr lang="en-US" dirty="0"/>
              <a:t> Condé, Chantilly, France. Photo © RMN-Grand Palais/René-Gabriel </a:t>
            </a:r>
            <a:r>
              <a:rPr lang="en-US" dirty="0" err="1"/>
              <a:t>Ojéda</a:t>
            </a:r>
            <a:r>
              <a:rPr lang="en-US" dirty="0"/>
              <a:t>.</a:t>
            </a:r>
          </a:p>
        </p:txBody>
      </p:sp>
      <p:pic>
        <p:nvPicPr>
          <p:cNvPr id="2" name="Picture 1" descr="At the duke’s New Year’s fest, celebrants approach the duke at a table covered with plates of food. A mural along the walls depicts columns of soldiers on the battlefield, adding to the sense of depth and crowding in the roo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r>
              <a:rPr lang="en-US"/>
              <a:t>Manuscript Illumination (4 of 4)</a:t>
            </a:r>
          </a:p>
        </p:txBody>
      </p:sp>
      <p:sp>
        <p:nvSpPr>
          <p:cNvPr id="41986" name="Content Placeholder 2"/>
          <p:cNvSpPr>
            <a:spLocks noGrp="1"/>
          </p:cNvSpPr>
          <p:nvPr>
            <p:ph idx="1"/>
          </p:nvPr>
        </p:nvSpPr>
        <p:spPr/>
        <p:txBody>
          <a:bodyPr/>
          <a:lstStyle/>
          <a:p>
            <a:r>
              <a:rPr lang="en-US"/>
              <a:t>The Mary of Burgundy Painter</a:t>
            </a:r>
          </a:p>
          <a:p>
            <a:pPr lvl="1"/>
            <a:r>
              <a:rPr lang="en-US"/>
              <a:t>The painting of </a:t>
            </a:r>
            <a:r>
              <a:rPr lang="en-US" i="1"/>
              <a:t>Mary at Her Devotions </a:t>
            </a:r>
            <a:r>
              <a:rPr lang="en-US"/>
              <a:t>shows viewers two windows: one is the frame of the painting itself, and the other is a view into the far reaches of the church interior.</a:t>
            </a:r>
          </a:p>
          <a:p>
            <a:pPr lvl="1"/>
            <a:r>
              <a:rPr lang="en-US"/>
              <a:t>The message is of private faith.</a:t>
            </a:r>
          </a:p>
          <a:p>
            <a:pPr lvl="2"/>
            <a:r>
              <a:rPr lang="en-US"/>
              <a:t>Christians of this time were encouraged to imagine themselves within biblical events to feel a stronger connection.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3"/>
          <p:cNvSpPr>
            <a:spLocks noGrp="1"/>
          </p:cNvSpPr>
          <p:nvPr>
            <p:ph type="title"/>
          </p:nvPr>
        </p:nvSpPr>
        <p:spPr/>
        <p:txBody>
          <a:bodyPr>
            <a:normAutofit fontScale="90000"/>
          </a:bodyPr>
          <a:lstStyle/>
          <a:p>
            <a:r>
              <a:rPr lang="en-US" dirty="0"/>
              <a:t>Mary of Burgundy Painter MARY AT HER DEVOTIONS, HOURS OF MARY OF BURGUNDY</a:t>
            </a:r>
            <a:br>
              <a:rPr lang="en-US" dirty="0"/>
            </a:br>
            <a:r>
              <a:rPr lang="en-US" dirty="0"/>
              <a:t>Before 1482. Colors and ink on parchment, size of image 7 1/2</a:t>
            </a:r>
            <a:r>
              <a:rPr lang="ru-RU" dirty="0"/>
              <a:t>"</a:t>
            </a:r>
            <a:r>
              <a:rPr lang="en-US" dirty="0"/>
              <a:t> × 5 1/4</a:t>
            </a:r>
            <a:r>
              <a:rPr lang="ru-RU" dirty="0"/>
              <a:t>"</a:t>
            </a:r>
            <a:r>
              <a:rPr lang="en-US" dirty="0"/>
              <a:t> (19.1 × 13.3 cm). </a:t>
            </a:r>
            <a:r>
              <a:rPr lang="en-US" dirty="0" err="1"/>
              <a:t>Österreichische</a:t>
            </a:r>
            <a:r>
              <a:rPr lang="en-US" dirty="0"/>
              <a:t> </a:t>
            </a:r>
            <a:r>
              <a:rPr lang="en-US" dirty="0" err="1"/>
              <a:t>Nationalbibliothek</a:t>
            </a:r>
            <a:r>
              <a:rPr lang="en-US" dirty="0"/>
              <a:t>, Vienna. © 2016. </a:t>
            </a:r>
            <a:r>
              <a:rPr lang="en-US" dirty="0" err="1"/>
              <a:t>DeAgostini</a:t>
            </a:r>
            <a:r>
              <a:rPr lang="en-US" dirty="0"/>
              <a:t> Picture </a:t>
            </a:r>
            <a:r>
              <a:rPr lang="en-US" dirty="0" err="1"/>
              <a:t>Libary</a:t>
            </a:r>
            <a:r>
              <a:rPr lang="en-US" dirty="0"/>
              <a:t>/Scala, Florence.</a:t>
            </a:r>
          </a:p>
        </p:txBody>
      </p:sp>
      <p:pic>
        <p:nvPicPr>
          <p:cNvPr id="2" name="Picture 1" descr="A woman in a veiled, conical cap sits at an open window, reading a book of religious meditations. The window seems to open directly into the sanctuary of a cathedral, where the woman attends a service held by Mary and the infant Jesu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r>
              <a:rPr lang="en-US"/>
              <a:t>Textiles (1 of 3)</a:t>
            </a:r>
          </a:p>
        </p:txBody>
      </p:sp>
      <p:sp>
        <p:nvSpPr>
          <p:cNvPr id="45058" name="Content Placeholder 2"/>
          <p:cNvSpPr>
            <a:spLocks noGrp="1"/>
          </p:cNvSpPr>
          <p:nvPr>
            <p:ph idx="1"/>
          </p:nvPr>
        </p:nvSpPr>
        <p:spPr/>
        <p:txBody>
          <a:bodyPr/>
          <a:lstStyle/>
          <a:p>
            <a:r>
              <a:rPr lang="en-US"/>
              <a:t>Flemish textiles were treasured arts of the Renaissance.</a:t>
            </a:r>
          </a:p>
          <a:p>
            <a:pPr lvl="1"/>
            <a:r>
              <a:rPr lang="en-US"/>
              <a:t>They were portable, displayable symbols of wealth as well as practical means of warmth.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r>
              <a:rPr lang="en-US"/>
              <a:t>Textiles (2 of 3)</a:t>
            </a:r>
          </a:p>
        </p:txBody>
      </p:sp>
      <p:sp>
        <p:nvSpPr>
          <p:cNvPr id="46082" name="Content Placeholder 2"/>
          <p:cNvSpPr>
            <a:spLocks noGrp="1"/>
          </p:cNvSpPr>
          <p:nvPr>
            <p:ph idx="1"/>
          </p:nvPr>
        </p:nvSpPr>
        <p:spPr/>
        <p:txBody>
          <a:bodyPr/>
          <a:lstStyle/>
          <a:p>
            <a:r>
              <a:rPr lang="en-US"/>
              <a:t>The Unicorn Tapestry</a:t>
            </a:r>
          </a:p>
          <a:p>
            <a:pPr lvl="1"/>
            <a:r>
              <a:rPr lang="en-US"/>
              <a:t>The </a:t>
            </a:r>
            <a:r>
              <a:rPr lang="en-US" i="1"/>
              <a:t>Unicorn is Found </a:t>
            </a:r>
            <a:r>
              <a:rPr lang="en-US"/>
              <a:t>section of the </a:t>
            </a:r>
            <a:r>
              <a:rPr lang="en-US" i="1"/>
              <a:t>Hunt of the Unicorn </a:t>
            </a:r>
            <a:r>
              <a:rPr lang="en-US"/>
              <a:t>was preserved.</a:t>
            </a:r>
          </a:p>
          <a:p>
            <a:pPr lvl="1"/>
            <a:r>
              <a:rPr lang="en-US"/>
              <a:t>Subtle modeling indicates virtuosity of the weaver.</a:t>
            </a:r>
          </a:p>
          <a:p>
            <a:pPr lvl="1"/>
            <a:r>
              <a:rPr lang="en-US"/>
              <a:t>The natural world has symbolic meaning for the Resurrection in the lions and stag.</a:t>
            </a:r>
          </a:p>
          <a:p>
            <a:pPr lvl="2"/>
            <a:r>
              <a:rPr lang="en-US"/>
              <a:t>Plants and the unicorn itself carry other meaning as well.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p:cNvSpPr>
            <a:spLocks noGrp="1"/>
          </p:cNvSpPr>
          <p:nvPr>
            <p:ph type="title"/>
          </p:nvPr>
        </p:nvSpPr>
        <p:spPr>
          <a:xfrm>
            <a:off x="457200" y="5715000"/>
            <a:ext cx="8229600" cy="685800"/>
          </a:xfrm>
        </p:spPr>
        <p:txBody>
          <a:bodyPr>
            <a:normAutofit fontScale="90000"/>
          </a:bodyPr>
          <a:lstStyle/>
          <a:p>
            <a:r>
              <a:rPr lang="en-US" dirty="0"/>
              <a:t>UNICORN IS FOUND AT THE FOUNTAIN</a:t>
            </a:r>
            <a:br>
              <a:rPr lang="en-US" dirty="0"/>
            </a:br>
            <a:r>
              <a:rPr lang="en-US" dirty="0"/>
              <a:t>From the Hunt of the Unicorn tapestry series. c. 1495–1505. Wool, silk, and silver- and gilt-wrapped thread (13-21 warp threads per inch), 12</a:t>
            </a:r>
            <a:r>
              <a:rPr lang="uk-UA" dirty="0"/>
              <a:t>'</a:t>
            </a:r>
            <a:r>
              <a:rPr lang="en-US" dirty="0"/>
              <a:t>1</a:t>
            </a:r>
            <a:r>
              <a:rPr lang="ru-RU" dirty="0"/>
              <a:t>"</a:t>
            </a:r>
            <a:r>
              <a:rPr lang="en-US" dirty="0"/>
              <a:t> × 12</a:t>
            </a:r>
            <a:r>
              <a:rPr lang="uk-UA" dirty="0"/>
              <a:t>'</a:t>
            </a:r>
            <a:r>
              <a:rPr lang="en-US" dirty="0"/>
              <a:t>5</a:t>
            </a:r>
            <a:r>
              <a:rPr lang="ru-RU" dirty="0"/>
              <a:t>"</a:t>
            </a:r>
            <a:r>
              <a:rPr lang="en-US" dirty="0"/>
              <a:t> (3.68 × 3.78 m). Metropolitan Museum of Art, New York. Gift of John D. Rockefeller Jr., The Cloisters Collection, 1937 (37.80.2). © 2016. Image copyright The Metropolitan Museum of Art/Art Resource/Scala, Florence. </a:t>
            </a:r>
          </a:p>
        </p:txBody>
      </p:sp>
      <p:pic>
        <p:nvPicPr>
          <p:cNvPr id="2" name="Picture 1" descr="Medieval hunters surround a fountain in a forest. Water spews from the fountain’s base and flows toward a kneeling, white unicorn, whose horn touches the water, directing it into a horizontal strea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r>
              <a:rPr lang="en-US"/>
              <a:t>Textiles (3 of 3)</a:t>
            </a:r>
          </a:p>
        </p:txBody>
      </p:sp>
      <p:sp>
        <p:nvSpPr>
          <p:cNvPr id="49154" name="Content Placeholder 2"/>
          <p:cNvSpPr>
            <a:spLocks noGrp="1"/>
          </p:cNvSpPr>
          <p:nvPr>
            <p:ph idx="1"/>
          </p:nvPr>
        </p:nvSpPr>
        <p:spPr/>
        <p:txBody>
          <a:bodyPr/>
          <a:lstStyle/>
          <a:p>
            <a:r>
              <a:rPr lang="en-US"/>
              <a:t>Cope of the Order of the Golden Fleece</a:t>
            </a:r>
          </a:p>
          <a:p>
            <a:pPr lvl="1"/>
            <a:r>
              <a:rPr lang="en-US"/>
              <a:t>This cloak served as a vestment for religious services.</a:t>
            </a:r>
          </a:p>
          <a:p>
            <a:pPr lvl="1"/>
            <a:r>
              <a:rPr lang="en-US"/>
              <a:t>Embroiderers worked with precision to match illusionistic effects being produced by contemporary Flemish painting.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3"/>
          <p:cNvSpPr>
            <a:spLocks noGrp="1"/>
          </p:cNvSpPr>
          <p:nvPr>
            <p:ph type="title"/>
          </p:nvPr>
        </p:nvSpPr>
        <p:spPr/>
        <p:txBody>
          <a:bodyPr>
            <a:normAutofit fontScale="90000"/>
          </a:bodyPr>
          <a:lstStyle/>
          <a:p>
            <a:r>
              <a:rPr lang="en-US" dirty="0"/>
              <a:t>COPE OF THE ORDER OF THE GOLDEN FLEECE</a:t>
            </a:r>
            <a:br>
              <a:rPr lang="en-US" dirty="0"/>
            </a:br>
            <a:r>
              <a:rPr lang="en-US" dirty="0"/>
              <a:t>Flemish. Mid 15th century.</a:t>
            </a:r>
            <a:br>
              <a:rPr lang="en-US" dirty="0"/>
            </a:br>
            <a:r>
              <a:rPr lang="en-US" dirty="0"/>
              <a:t>Cloth with gold and colored silk embroidery, 5</a:t>
            </a:r>
            <a:r>
              <a:rPr lang="uk-UA" dirty="0"/>
              <a:t>'</a:t>
            </a:r>
            <a:r>
              <a:rPr lang="en-US" dirty="0"/>
              <a:t>4-9/16</a:t>
            </a:r>
            <a:r>
              <a:rPr lang="ru-RU" dirty="0"/>
              <a:t>"</a:t>
            </a:r>
            <a:r>
              <a:rPr lang="en-US" dirty="0"/>
              <a:t> × 10</a:t>
            </a:r>
            <a:r>
              <a:rPr lang="uk-UA" dirty="0"/>
              <a:t>'</a:t>
            </a:r>
            <a:r>
              <a:rPr lang="en-US" dirty="0"/>
              <a:t>9-5/16</a:t>
            </a:r>
            <a:r>
              <a:rPr lang="ru-RU" dirty="0"/>
              <a:t>"</a:t>
            </a:r>
            <a:r>
              <a:rPr lang="en-US" dirty="0"/>
              <a:t> (1.64 × 3.3 m).</a:t>
            </a:r>
            <a:br>
              <a:rPr lang="en-US" dirty="0"/>
            </a:br>
            <a:r>
              <a:rPr lang="en-US" dirty="0"/>
              <a:t>Imperial Treasury, Vienna. © KHM-</a:t>
            </a:r>
            <a:r>
              <a:rPr lang="en-US" dirty="0" err="1"/>
              <a:t>Museumsverband</a:t>
            </a:r>
            <a:r>
              <a:rPr lang="en-US" dirty="0"/>
              <a:t>. </a:t>
            </a:r>
          </a:p>
        </p:txBody>
      </p:sp>
      <p:pic>
        <p:nvPicPr>
          <p:cNvPr id="2" name="Picture 1" descr="When laid flat, the golden fleece is semicircular, with Christ enthroned at the straight side’s midpoint. Three rings of hexagonal compartments radiate outward from the throne to fill the semicircular field, each containing a portrai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r>
              <a:rPr lang="en-US"/>
              <a:t>Technique: Oil Painting</a:t>
            </a:r>
          </a:p>
        </p:txBody>
      </p:sp>
      <p:sp>
        <p:nvSpPr>
          <p:cNvPr id="52226" name="Content Placeholder 2"/>
          <p:cNvSpPr>
            <a:spLocks noGrp="1"/>
          </p:cNvSpPr>
          <p:nvPr>
            <p:ph idx="1"/>
          </p:nvPr>
        </p:nvSpPr>
        <p:spPr/>
        <p:txBody>
          <a:bodyPr/>
          <a:lstStyle/>
          <a:p>
            <a:r>
              <a:rPr lang="en-US"/>
              <a:t>Limitations of tempera paint resulted in the Flemish preference for oil paint.</a:t>
            </a:r>
          </a:p>
          <a:p>
            <a:r>
              <a:rPr lang="en-US"/>
              <a:t>It is a viscous medium that has time to smooth out during the drying process.</a:t>
            </a:r>
          </a:p>
          <a:p>
            <a:r>
              <a:rPr lang="en-US"/>
              <a:t>Additionally, it can be applied in thin layers called glazes that can create the appearance of an interior glow.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r>
              <a:rPr lang="en-US"/>
              <a:t>Painting in Flanders</a:t>
            </a:r>
          </a:p>
        </p:txBody>
      </p:sp>
      <p:sp>
        <p:nvSpPr>
          <p:cNvPr id="53250" name="Content Placeholder 2"/>
          <p:cNvSpPr>
            <a:spLocks noGrp="1"/>
          </p:cNvSpPr>
          <p:nvPr>
            <p:ph idx="1"/>
          </p:nvPr>
        </p:nvSpPr>
        <p:spPr/>
        <p:txBody>
          <a:bodyPr/>
          <a:lstStyle/>
          <a:p>
            <a:r>
              <a:rPr lang="en-US"/>
              <a:t>Civic groups, town councils, and wealthy merchants were important patrons in the Netherlands.</a:t>
            </a:r>
          </a:p>
          <a:p>
            <a:r>
              <a:rPr lang="en-US"/>
              <a:t>Guilds oversaw nearly every aspect of members</a:t>
            </a:r>
            <a:r>
              <a:rPr lang="uk-UA"/>
              <a:t>'</a:t>
            </a:r>
            <a:r>
              <a:rPr lang="en-US"/>
              <a:t> lives.</a:t>
            </a:r>
          </a:p>
          <a:p>
            <a:pPr lvl="1"/>
            <a:r>
              <a:rPr lang="en-US"/>
              <a:t>Artists who moved from one city to another had to work as assistants until being granted guild membership, regardless of experience.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a:t>The Master of Flémalle (1 of 2)</a:t>
            </a:r>
          </a:p>
        </p:txBody>
      </p:sp>
      <p:sp>
        <p:nvSpPr>
          <p:cNvPr id="54274" name="Content Placeholder 2"/>
          <p:cNvSpPr>
            <a:spLocks noGrp="1"/>
          </p:cNvSpPr>
          <p:nvPr>
            <p:ph idx="1"/>
          </p:nvPr>
        </p:nvSpPr>
        <p:spPr/>
        <p:txBody>
          <a:bodyPr/>
          <a:lstStyle/>
          <a:p>
            <a:r>
              <a:rPr lang="en-US"/>
              <a:t>Robert Campin is identified as some art historians as being this master.</a:t>
            </a:r>
          </a:p>
          <a:p>
            <a:r>
              <a:rPr lang="en-US"/>
              <a:t>The </a:t>
            </a:r>
            <a:r>
              <a:rPr lang="en-US" i="1"/>
              <a:t>Mèrode Altarpiece </a:t>
            </a:r>
            <a:r>
              <a:rPr lang="en-US"/>
              <a:t>is a triptych of relatively small size.</a:t>
            </a:r>
          </a:p>
          <a:p>
            <a:pPr lvl="1"/>
            <a:r>
              <a:rPr lang="en-US"/>
              <a:t>The Annunciation is the theme of the central panel.</a:t>
            </a:r>
          </a:p>
          <a:p>
            <a:pPr lvl="2"/>
            <a:r>
              <a:rPr lang="en-US"/>
              <a:t>Various symbols for Mary</a:t>
            </a:r>
            <a:r>
              <a:rPr lang="uk-UA"/>
              <a:t>'</a:t>
            </a:r>
            <a:r>
              <a:rPr lang="en-US"/>
              <a:t>s virginity rest in a room that would have </a:t>
            </a:r>
            <a:r>
              <a:rPr lang="ru-RU"/>
              <a:t>"</a:t>
            </a:r>
            <a:r>
              <a:rPr lang="en-US"/>
              <a:t>hidden</a:t>
            </a:r>
            <a:r>
              <a:rPr lang="ru-RU"/>
              <a:t>"</a:t>
            </a:r>
            <a:r>
              <a:rPr lang="en-US"/>
              <a:t> them as a normal part of the setting.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r>
              <a:rPr lang="en-US"/>
              <a:t>The Master of Flémalle (2 of 2)</a:t>
            </a:r>
          </a:p>
        </p:txBody>
      </p:sp>
      <p:sp>
        <p:nvSpPr>
          <p:cNvPr id="55298" name="Content Placeholder 2"/>
          <p:cNvSpPr>
            <a:spLocks noGrp="1"/>
          </p:cNvSpPr>
          <p:nvPr>
            <p:ph idx="1"/>
          </p:nvPr>
        </p:nvSpPr>
        <p:spPr/>
        <p:txBody>
          <a:bodyPr/>
          <a:lstStyle/>
          <a:p>
            <a:r>
              <a:rPr lang="en-US"/>
              <a:t>The </a:t>
            </a:r>
            <a:r>
              <a:rPr lang="en-US" i="1"/>
              <a:t>Mèrode Altarpiece </a:t>
            </a:r>
            <a:r>
              <a:rPr lang="en-US"/>
              <a:t>is a triptych of relatively small size.</a:t>
            </a:r>
          </a:p>
          <a:p>
            <a:pPr lvl="1"/>
            <a:r>
              <a:rPr lang="en-US"/>
              <a:t>In the left wing, a married couple kneels in the garden of the house where the Annunciation is taking place.</a:t>
            </a:r>
          </a:p>
          <a:p>
            <a:pPr lvl="1"/>
            <a:r>
              <a:rPr lang="en-US"/>
              <a:t>In the right wing, Joseph is working in his carpentry shop in the foreground while a sumptuous scene of a Flemish street details the background.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3"/>
          <p:cNvSpPr>
            <a:spLocks noGrp="1"/>
          </p:cNvSpPr>
          <p:nvPr>
            <p:ph type="title"/>
          </p:nvPr>
        </p:nvSpPr>
        <p:spPr>
          <a:xfrm>
            <a:off x="457200" y="5638800"/>
            <a:ext cx="8229600" cy="685800"/>
          </a:xfrm>
        </p:spPr>
        <p:txBody>
          <a:bodyPr>
            <a:normAutofit fontScale="90000"/>
          </a:bodyPr>
          <a:lstStyle/>
          <a:p>
            <a:r>
              <a:rPr lang="en-US" dirty="0"/>
              <a:t>Workshop of the Master of </a:t>
            </a:r>
            <a:r>
              <a:rPr lang="en-US" dirty="0" err="1"/>
              <a:t>Flémalle</a:t>
            </a:r>
            <a:r>
              <a:rPr lang="en-US" dirty="0"/>
              <a:t> MÉRODE ALTARPIECE (TRIPTYCH OF THE ANNUNCIATION) (OPEN)</a:t>
            </a:r>
            <a:br>
              <a:rPr lang="en-US" dirty="0"/>
            </a:br>
            <a:r>
              <a:rPr lang="en-US" dirty="0"/>
              <a:t>c. 1425–1430s. Oil on wood panel, center 25-1/4</a:t>
            </a:r>
            <a:r>
              <a:rPr lang="ru-RU" dirty="0"/>
              <a:t>"</a:t>
            </a:r>
            <a:r>
              <a:rPr lang="en-US" dirty="0"/>
              <a:t> × 24-7/8</a:t>
            </a:r>
            <a:r>
              <a:rPr lang="ru-RU" dirty="0"/>
              <a:t>"</a:t>
            </a:r>
            <a:r>
              <a:rPr lang="en-US" dirty="0"/>
              <a:t> (64.1 × 63.2 cm); each wing approx. 25-3/8</a:t>
            </a:r>
            <a:r>
              <a:rPr lang="ru-RU" dirty="0"/>
              <a:t>"</a:t>
            </a:r>
            <a:r>
              <a:rPr lang="en-US" dirty="0"/>
              <a:t> × 10-3/4</a:t>
            </a:r>
            <a:r>
              <a:rPr lang="ru-RU" dirty="0"/>
              <a:t>"</a:t>
            </a:r>
            <a:r>
              <a:rPr lang="en-US" dirty="0"/>
              <a:t> (64.5 × 27.6 cm).</a:t>
            </a:r>
            <a:br>
              <a:rPr lang="en-US" dirty="0"/>
            </a:br>
            <a:r>
              <a:rPr lang="en-US" dirty="0"/>
              <a:t>Metropolitan Museum of Art, New York. The Cloisters Collection, 1956 (56.70). © 2016. Image copyright The Metropolitan Museum of Art/Art Resource/Scala, Florence.</a:t>
            </a:r>
            <a:br>
              <a:rPr lang="en-US" dirty="0"/>
            </a:br>
            <a:endParaRPr lang="en-US" dirty="0"/>
          </a:p>
        </p:txBody>
      </p:sp>
      <p:pic>
        <p:nvPicPr>
          <p:cNvPr id="2" name="Picture 1" descr="A triptych. On the left, a holy man and woman approach a home’s front door. In the center, a woman sits in her home, reading, as an angel kneels across the table from her. On the right, a carpenter sits at his workbench, drilling holes in a small plan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76200"/>
            <a:ext cx="8107680" cy="5031232"/>
          </a:xfrm>
          <a:prstGeom prst="rect">
            <a:avLst/>
          </a:prstGeom>
        </p:spPr>
      </p:pic>
    </p:spTree>
  </p:cSld>
  <p:clrMapOvr>
    <a:masterClrMapping/>
  </p:clrMapOvr>
  <p:transition spd="slow" advTm="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3"/>
          <p:cNvSpPr>
            <a:spLocks noGrp="1"/>
          </p:cNvSpPr>
          <p:nvPr>
            <p:ph type="title"/>
          </p:nvPr>
        </p:nvSpPr>
        <p:spPr/>
        <p:txBody>
          <a:bodyPr>
            <a:normAutofit fontScale="90000"/>
          </a:bodyPr>
          <a:lstStyle/>
          <a:p>
            <a:r>
              <a:rPr lang="en-US" dirty="0"/>
              <a:t>Workshop of the Master of </a:t>
            </a:r>
            <a:r>
              <a:rPr lang="en-US" dirty="0" err="1"/>
              <a:t>Flémalle</a:t>
            </a:r>
            <a:r>
              <a:rPr lang="en-US" dirty="0"/>
              <a:t> A FLEMISH CITY</a:t>
            </a:r>
            <a:br>
              <a:rPr lang="en-US" dirty="0"/>
            </a:br>
            <a:r>
              <a:rPr lang="en-US" dirty="0"/>
              <a:t>Detail of the right wing of the </a:t>
            </a:r>
            <a:r>
              <a:rPr lang="en-US" dirty="0" err="1"/>
              <a:t>Mérode</a:t>
            </a:r>
            <a:r>
              <a:rPr lang="en-US" dirty="0"/>
              <a:t> Altarpiece (FIG. 19-10).</a:t>
            </a:r>
            <a:br>
              <a:rPr lang="en-US" dirty="0"/>
            </a:br>
            <a:r>
              <a:rPr lang="en-US" dirty="0"/>
              <a:t>© 2016. Image copyright The Metropolitan Museum of Art/Art Resource/Scala, Florence.</a:t>
            </a:r>
          </a:p>
        </p:txBody>
      </p:sp>
      <p:pic>
        <p:nvPicPr>
          <p:cNvPr id="2" name="Picture 1" descr="A city is visible in the background, outside the carpenter’s window.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r>
              <a:rPr lang="en-US"/>
              <a:t>Jan van Eyck (1 of 3)</a:t>
            </a:r>
          </a:p>
        </p:txBody>
      </p:sp>
      <p:sp>
        <p:nvSpPr>
          <p:cNvPr id="60418" name="Content Placeholder 2"/>
          <p:cNvSpPr>
            <a:spLocks noGrp="1"/>
          </p:cNvSpPr>
          <p:nvPr>
            <p:ph idx="1"/>
          </p:nvPr>
        </p:nvSpPr>
        <p:spPr/>
        <p:txBody>
          <a:bodyPr/>
          <a:lstStyle/>
          <a:p>
            <a:r>
              <a:rPr lang="en-US" i="1"/>
              <a:t>Man in a Red Turban </a:t>
            </a:r>
            <a:r>
              <a:rPr lang="en-US"/>
              <a:t>strongly presents the sitter</a:t>
            </a:r>
            <a:r>
              <a:rPr lang="uk-UA"/>
              <a:t>'</a:t>
            </a:r>
            <a:r>
              <a:rPr lang="en-US"/>
              <a:t>s personality, and it may have even been a self-portrait.</a:t>
            </a:r>
          </a:p>
          <a:p>
            <a:r>
              <a:rPr lang="en-US"/>
              <a:t>A huge polyptych painted for the Cathedral of St. Bavo in Ghent is his best known work.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3"/>
          <p:cNvSpPr>
            <a:spLocks noGrp="1"/>
          </p:cNvSpPr>
          <p:nvPr>
            <p:ph type="title"/>
          </p:nvPr>
        </p:nvSpPr>
        <p:spPr/>
        <p:txBody>
          <a:bodyPr>
            <a:normAutofit fontScale="90000"/>
          </a:bodyPr>
          <a:lstStyle/>
          <a:p>
            <a:r>
              <a:rPr lang="en-US" dirty="0"/>
              <a:t>Jan van Eyck MAN IN A RED TURBAN</a:t>
            </a:r>
            <a:br>
              <a:rPr lang="en-US" dirty="0"/>
            </a:br>
            <a:r>
              <a:rPr lang="en-US" dirty="0"/>
              <a:t>1433. Oil on wood panel, 13-1/8</a:t>
            </a:r>
            <a:r>
              <a:rPr lang="ru-RU" dirty="0"/>
              <a:t>"</a:t>
            </a:r>
            <a:r>
              <a:rPr lang="en-US" dirty="0"/>
              <a:t> × 10-1/4</a:t>
            </a:r>
            <a:r>
              <a:rPr lang="ru-RU" dirty="0"/>
              <a:t>"</a:t>
            </a:r>
            <a:r>
              <a:rPr lang="en-US" dirty="0"/>
              <a:t> (33.3 × 25.8 cm).</a:t>
            </a:r>
            <a:br>
              <a:rPr lang="en-US" dirty="0"/>
            </a:br>
            <a:r>
              <a:rPr lang="en-US" dirty="0"/>
              <a:t>National Gallery, London. © 2016. Copyright Scala, Florence. </a:t>
            </a:r>
          </a:p>
        </p:txBody>
      </p:sp>
      <p:pic>
        <p:nvPicPr>
          <p:cNvPr id="2" name="Picture 1" descr="A portrait of a clean-shaven man, holding his mouth in a flat line. He wears a heavy, black overcoat, and a large, irregularly arranged red turba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p:txBody>
          <a:bodyPr/>
          <a:lstStyle/>
          <a:p>
            <a:r>
              <a:rPr lang="en-US"/>
              <a:t>Jan van Eyck (2 of 3) </a:t>
            </a:r>
          </a:p>
        </p:txBody>
      </p:sp>
      <p:sp>
        <p:nvSpPr>
          <p:cNvPr id="63490" name="Content Placeholder 2"/>
          <p:cNvSpPr>
            <a:spLocks noGrp="1"/>
          </p:cNvSpPr>
          <p:nvPr>
            <p:ph idx="1"/>
          </p:nvPr>
        </p:nvSpPr>
        <p:spPr/>
        <p:txBody>
          <a:bodyPr/>
          <a:lstStyle/>
          <a:p>
            <a:r>
              <a:rPr lang="en-US"/>
              <a:t>The </a:t>
            </a:r>
            <a:r>
              <a:rPr lang="en-US" i="1"/>
              <a:t>Ghent Alterpiece</a:t>
            </a:r>
          </a:p>
          <a:p>
            <a:pPr lvl="1"/>
            <a:r>
              <a:rPr lang="en-US"/>
              <a:t>The </a:t>
            </a:r>
            <a:r>
              <a:rPr lang="en-US" i="1"/>
              <a:t>Ghent Altarpiece </a:t>
            </a:r>
            <a:r>
              <a:rPr lang="en-US"/>
              <a:t>showed remarkable surface realism in textures such as jewels and human flesh.</a:t>
            </a:r>
          </a:p>
          <a:p>
            <a:pPr lvl="1"/>
            <a:r>
              <a:rPr lang="en-US"/>
              <a:t>Closed, its colors were muted and sober; when it opened on Sundays and feast days, it was vibrantly colored.</a:t>
            </a:r>
          </a:p>
          <a:p>
            <a:pPr lvl="1"/>
            <a:r>
              <a:rPr lang="en-US"/>
              <a:t>Some historians believe Hubert van Eyck began the painting, but others believed it was Jan</a:t>
            </a:r>
            <a:r>
              <a:rPr lang="uk-UA"/>
              <a:t>'</a:t>
            </a:r>
            <a:r>
              <a:rPr lang="en-US"/>
              <a:t>s workshop.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3"/>
          <p:cNvSpPr>
            <a:spLocks noGrp="1"/>
          </p:cNvSpPr>
          <p:nvPr>
            <p:ph type="title"/>
          </p:nvPr>
        </p:nvSpPr>
        <p:spPr/>
        <p:txBody>
          <a:bodyPr>
            <a:normAutofit fontScale="90000"/>
          </a:bodyPr>
          <a:lstStyle/>
          <a:p>
            <a:r>
              <a:rPr lang="en-US" dirty="0"/>
              <a:t>Jan and Hubert (?) van Eyck GHENT ALTARPIECE (OPEN), ADORATION OF THE MYSTIC LAMB</a:t>
            </a:r>
            <a:br>
              <a:rPr lang="en-US" dirty="0"/>
            </a:br>
            <a:r>
              <a:rPr lang="en-US" dirty="0"/>
              <a:t>Completed 1432. Oil on panel, 11</a:t>
            </a:r>
            <a:r>
              <a:rPr lang="uk-UA" dirty="0"/>
              <a:t>'</a:t>
            </a:r>
            <a:r>
              <a:rPr lang="en-US" dirty="0"/>
              <a:t>5-3/4</a:t>
            </a:r>
            <a:r>
              <a:rPr lang="ru-RU" dirty="0"/>
              <a:t>"</a:t>
            </a:r>
            <a:r>
              <a:rPr lang="en-US" dirty="0"/>
              <a:t> × 15</a:t>
            </a:r>
            <a:r>
              <a:rPr lang="uk-UA" dirty="0"/>
              <a:t>'</a:t>
            </a:r>
            <a:r>
              <a:rPr lang="en-US" dirty="0"/>
              <a:t>1-1/2</a:t>
            </a:r>
            <a:r>
              <a:rPr lang="ru-RU" dirty="0"/>
              <a:t>"</a:t>
            </a:r>
            <a:r>
              <a:rPr lang="en-US" dirty="0"/>
              <a:t> (3.5 × 4.6 m).</a:t>
            </a:r>
            <a:br>
              <a:rPr lang="en-US" dirty="0"/>
            </a:br>
            <a:r>
              <a:rPr lang="en-US" dirty="0"/>
              <a:t>Cathedral of St. </a:t>
            </a:r>
            <a:r>
              <a:rPr lang="en-US" dirty="0" err="1"/>
              <a:t>Bavo</a:t>
            </a:r>
            <a:r>
              <a:rPr lang="en-US" dirty="0"/>
              <a:t>, Ghent. © </a:t>
            </a:r>
            <a:r>
              <a:rPr lang="en-US" dirty="0" err="1"/>
              <a:t>akg</a:t>
            </a:r>
            <a:r>
              <a:rPr lang="en-US" dirty="0"/>
              <a:t>-images/Erich Lessing. </a:t>
            </a:r>
          </a:p>
        </p:txBody>
      </p:sp>
      <p:pic>
        <p:nvPicPr>
          <p:cNvPr id="2" name="Picture 1" descr="When open, the altarpiece depicts a courtly scene of heaven in the top register, flanked by Adam and a pregnant Eve, and an early scene in the bottom register, with crowds gathering from four directions to worship at an alta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3"/>
          <p:cNvSpPr>
            <a:spLocks noGrp="1"/>
          </p:cNvSpPr>
          <p:nvPr>
            <p:ph type="title"/>
          </p:nvPr>
        </p:nvSpPr>
        <p:spPr/>
        <p:txBody>
          <a:bodyPr>
            <a:normAutofit fontScale="90000"/>
          </a:bodyPr>
          <a:lstStyle/>
          <a:p>
            <a:r>
              <a:rPr lang="en-US" dirty="0"/>
              <a:t>Jan and Hubert (?) van Eyck GHENT ALTARPIECE (CLOSED), ANNUNCIATION WITH DONORS</a:t>
            </a:r>
            <a:br>
              <a:rPr lang="en-US" dirty="0"/>
            </a:br>
            <a:r>
              <a:rPr lang="en-US" dirty="0"/>
              <a:t>Completed 1432. Oil on panel, height 11</a:t>
            </a:r>
            <a:r>
              <a:rPr lang="uk-UA" dirty="0"/>
              <a:t>'</a:t>
            </a:r>
            <a:r>
              <a:rPr lang="en-US" dirty="0"/>
              <a:t>5</a:t>
            </a:r>
            <a:r>
              <a:rPr lang="ru-RU" dirty="0"/>
              <a:t>"</a:t>
            </a:r>
            <a:r>
              <a:rPr lang="en-US" dirty="0"/>
              <a:t> (3.48 m).</a:t>
            </a:r>
            <a:br>
              <a:rPr lang="en-US" dirty="0"/>
            </a:br>
            <a:r>
              <a:rPr lang="en-US" dirty="0"/>
              <a:t>Cathedral of St. </a:t>
            </a:r>
            <a:r>
              <a:rPr lang="en-US" dirty="0" err="1"/>
              <a:t>Bavo</a:t>
            </a:r>
            <a:r>
              <a:rPr lang="en-US" dirty="0"/>
              <a:t>, Ghent. © </a:t>
            </a:r>
            <a:r>
              <a:rPr lang="en-US" dirty="0" err="1"/>
              <a:t>akg</a:t>
            </a:r>
            <a:r>
              <a:rPr lang="en-US" dirty="0"/>
              <a:t>-images/Erich Lessing</a:t>
            </a:r>
          </a:p>
        </p:txBody>
      </p:sp>
      <p:pic>
        <p:nvPicPr>
          <p:cNvPr id="2" name="Picture 1" descr="When closed, the altarpiece depicts the angel Gabriel appearing to Mary in the top register, and a man and a woman flanking statues under trefoil arches in the bottom regist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r>
              <a:rPr lang="en-US"/>
              <a:t>Jan van Eyck (3 of 3)</a:t>
            </a:r>
          </a:p>
        </p:txBody>
      </p:sp>
      <p:sp>
        <p:nvSpPr>
          <p:cNvPr id="68610" name="Content Placeholder 2"/>
          <p:cNvSpPr>
            <a:spLocks noGrp="1"/>
          </p:cNvSpPr>
          <p:nvPr>
            <p:ph idx="1"/>
          </p:nvPr>
        </p:nvSpPr>
        <p:spPr/>
        <p:txBody>
          <a:bodyPr/>
          <a:lstStyle/>
          <a:p>
            <a:r>
              <a:rPr lang="en-US"/>
              <a:t>The Arnolfini Double Portrait</a:t>
            </a:r>
          </a:p>
          <a:p>
            <a:pPr lvl="1"/>
            <a:r>
              <a:rPr lang="en-US"/>
              <a:t>Early interpretations pegged the double portrait of </a:t>
            </a:r>
            <a:r>
              <a:rPr lang="en-US" i="1"/>
              <a:t>Giovanni Arnolfini and His Wife </a:t>
            </a:r>
            <a:r>
              <a:rPr lang="en-US"/>
              <a:t>as a wedding commission, but it has later been identified as a commission for a prospective marriage.</a:t>
            </a:r>
          </a:p>
          <a:p>
            <a:pPr lvl="1"/>
            <a:r>
              <a:rPr lang="en-US"/>
              <a:t>The artist signed his name within the mirror on the back wall.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p:txBody>
          <a:bodyPr/>
          <a:lstStyle/>
          <a:p>
            <a:r>
              <a:rPr lang="en-US"/>
              <a:t>Rogier van der Weyden (1 of 2)</a:t>
            </a:r>
          </a:p>
        </p:txBody>
      </p:sp>
      <p:sp>
        <p:nvSpPr>
          <p:cNvPr id="71682" name="Content Placeholder 2"/>
          <p:cNvSpPr>
            <a:spLocks noGrp="1"/>
          </p:cNvSpPr>
          <p:nvPr>
            <p:ph idx="1"/>
          </p:nvPr>
        </p:nvSpPr>
        <p:spPr/>
        <p:txBody>
          <a:bodyPr/>
          <a:lstStyle/>
          <a:p>
            <a:r>
              <a:rPr lang="en-US"/>
              <a:t>The peak of his career was spent in Brussels, where the artist was the official city painter.</a:t>
            </a:r>
          </a:p>
          <a:p>
            <a:r>
              <a:rPr lang="en-US" i="1"/>
              <a:t>Deposition</a:t>
            </a:r>
            <a:r>
              <a:rPr lang="en-US"/>
              <a:t> presented a popular theme for the time because of its dramatic, personally engaging portrayal.</a:t>
            </a:r>
          </a:p>
          <a:p>
            <a:pPr lvl="1"/>
            <a:r>
              <a:rPr lang="en-US"/>
              <a:t>Mourners have individual reactions to the scene.</a:t>
            </a:r>
          </a:p>
          <a:p>
            <a:pPr lvl="1"/>
            <a:r>
              <a:rPr lang="en-US"/>
              <a:t>Color and pattern enhance this piece.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3"/>
          <p:cNvSpPr>
            <a:spLocks noGrp="1"/>
          </p:cNvSpPr>
          <p:nvPr>
            <p:ph type="title"/>
          </p:nvPr>
        </p:nvSpPr>
        <p:spPr>
          <a:xfrm>
            <a:off x="457200" y="5715000"/>
            <a:ext cx="8229600" cy="685800"/>
          </a:xfrm>
        </p:spPr>
        <p:txBody>
          <a:bodyPr>
            <a:normAutofit fontScale="90000"/>
          </a:bodyPr>
          <a:lstStyle/>
          <a:p>
            <a:r>
              <a:rPr lang="en-US" dirty="0" err="1"/>
              <a:t>Rogier</a:t>
            </a:r>
            <a:r>
              <a:rPr lang="en-US" dirty="0"/>
              <a:t> van der Weyden DEPOSITION</a:t>
            </a:r>
            <a:br>
              <a:rPr lang="en-US" dirty="0"/>
            </a:br>
            <a:r>
              <a:rPr lang="en-US" dirty="0"/>
              <a:t>From an altarpiece commissioned by the crossbowmen</a:t>
            </a:r>
            <a:r>
              <a:rPr lang="uk-UA" dirty="0"/>
              <a:t>'</a:t>
            </a:r>
            <a:r>
              <a:rPr lang="en-US" dirty="0"/>
              <a:t>s guild, Louvain, Belgium.</a:t>
            </a:r>
            <a:br>
              <a:rPr lang="en-US" dirty="0"/>
            </a:br>
            <a:r>
              <a:rPr lang="en-US" dirty="0"/>
              <a:t>Before 1443, possibly c. 1435–1438.</a:t>
            </a:r>
            <a:br>
              <a:rPr lang="en-US" dirty="0"/>
            </a:br>
            <a:r>
              <a:rPr lang="en-US" dirty="0"/>
              <a:t>Oil on wood panel, 7</a:t>
            </a:r>
            <a:r>
              <a:rPr lang="uk-UA" dirty="0"/>
              <a:t>'</a:t>
            </a:r>
            <a:r>
              <a:rPr lang="en-US" dirty="0"/>
              <a:t>2-5/8</a:t>
            </a:r>
            <a:r>
              <a:rPr lang="ru-RU" dirty="0"/>
              <a:t>"</a:t>
            </a:r>
            <a:r>
              <a:rPr lang="en-US" dirty="0"/>
              <a:t> × 8</a:t>
            </a:r>
            <a:r>
              <a:rPr lang="uk-UA" dirty="0"/>
              <a:t>'</a:t>
            </a:r>
            <a:r>
              <a:rPr lang="en-US" dirty="0"/>
              <a:t>7-1/8</a:t>
            </a:r>
            <a:r>
              <a:rPr lang="ru-RU" dirty="0"/>
              <a:t>"</a:t>
            </a:r>
            <a:r>
              <a:rPr lang="en-US" dirty="0"/>
              <a:t> (2.2 × 2.62 m).</a:t>
            </a:r>
            <a:br>
              <a:rPr lang="en-US" dirty="0"/>
            </a:br>
            <a:r>
              <a:rPr lang="en-US" dirty="0"/>
              <a:t>Museo del Prado, Madrid. © 2016. Image Copyright Museo Nacional del Prado. © Photo MNP/Scala, Florence. </a:t>
            </a:r>
          </a:p>
        </p:txBody>
      </p:sp>
      <p:pic>
        <p:nvPicPr>
          <p:cNvPr id="2" name="Picture 1" descr="A small gathering of Jesus’s friends and family attend as his body is removed from the cross. Mary feints, her body’s posture echoing her son’s, with her limp hand falling beside a skul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p:txBody>
          <a:bodyPr/>
          <a:lstStyle/>
          <a:p>
            <a:r>
              <a:rPr lang="en-US"/>
              <a:t>Rogier van der Weyden (2 of 2)</a:t>
            </a:r>
          </a:p>
        </p:txBody>
      </p:sp>
      <p:sp>
        <p:nvSpPr>
          <p:cNvPr id="74754" name="Content Placeholder 2"/>
          <p:cNvSpPr>
            <a:spLocks noGrp="1"/>
          </p:cNvSpPr>
          <p:nvPr>
            <p:ph idx="1"/>
          </p:nvPr>
        </p:nvSpPr>
        <p:spPr/>
        <p:txBody>
          <a:bodyPr/>
          <a:lstStyle/>
          <a:p>
            <a:r>
              <a:rPr lang="en-US" i="1"/>
              <a:t>St. Luke Drawing the Virgin and Child </a:t>
            </a:r>
            <a:r>
              <a:rPr lang="en-US"/>
              <a:t>is based on legend that Luke witnessed a miraculous appearance of the Virgin and Child so he could record their likenesses.</a:t>
            </a:r>
          </a:p>
          <a:p>
            <a:pPr lvl="1"/>
            <a:r>
              <a:rPr lang="en-US"/>
              <a:t>Art historians interpret it as a document of Rogier</a:t>
            </a:r>
            <a:r>
              <a:rPr lang="uk-UA"/>
              <a:t>'</a:t>
            </a:r>
            <a:r>
              <a:rPr lang="en-US"/>
              <a:t>s sense of his profession; they also assert that it elevates the importance of painting as profession.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3"/>
          <p:cNvSpPr>
            <a:spLocks noGrp="1"/>
          </p:cNvSpPr>
          <p:nvPr>
            <p:ph type="title"/>
          </p:nvPr>
        </p:nvSpPr>
        <p:spPr/>
        <p:txBody>
          <a:bodyPr>
            <a:normAutofit fontScale="90000"/>
          </a:bodyPr>
          <a:lstStyle/>
          <a:p>
            <a:r>
              <a:rPr lang="en-US" dirty="0" err="1"/>
              <a:t>Rogier</a:t>
            </a:r>
            <a:r>
              <a:rPr lang="en-US" dirty="0"/>
              <a:t> van der Weyden ST. LUKE DRAWING THE VIRGIN AND CHILD</a:t>
            </a:r>
            <a:br>
              <a:rPr lang="en-US" dirty="0"/>
            </a:br>
            <a:r>
              <a:rPr lang="en-US" dirty="0"/>
              <a:t>c. 1435–1440. Oil and tempera on wood panel, 54-1/4</a:t>
            </a:r>
            <a:r>
              <a:rPr lang="ru-RU" dirty="0"/>
              <a:t>"</a:t>
            </a:r>
            <a:r>
              <a:rPr lang="en-US" dirty="0"/>
              <a:t> × 43-5/8</a:t>
            </a:r>
            <a:r>
              <a:rPr lang="ru-RU" dirty="0"/>
              <a:t>"</a:t>
            </a:r>
            <a:r>
              <a:rPr lang="en-US" dirty="0"/>
              <a:t> (137.7 × 110.8 cm). Museum of Fine Arts, Boston. Photograph © 2017 Museum of Fine Arts, Boston.</a:t>
            </a:r>
            <a:br>
              <a:rPr lang="en-US" dirty="0"/>
            </a:br>
            <a:endParaRPr lang="en-US" dirty="0"/>
          </a:p>
        </p:txBody>
      </p:sp>
      <p:pic>
        <p:nvPicPr>
          <p:cNvPr id="2" name="Picture 1" descr="Whether by the artist’s request or by divine intuition, the manifested Mary and infant Jesus sit comfortably in front of an exquisitely decorated drapery that hangs over the studio’s rafters to act as a backdrop for Luke’s portrai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p:txBody>
          <a:bodyPr/>
          <a:lstStyle/>
          <a:p>
            <a:r>
              <a:rPr lang="en-US"/>
              <a:t>Painting at Mid Century: The Second Generation (1 of 3)</a:t>
            </a:r>
          </a:p>
        </p:txBody>
      </p:sp>
      <p:sp>
        <p:nvSpPr>
          <p:cNvPr id="77826" name="Content Placeholder 2"/>
          <p:cNvSpPr>
            <a:spLocks noGrp="1"/>
          </p:cNvSpPr>
          <p:nvPr>
            <p:ph idx="1"/>
          </p:nvPr>
        </p:nvSpPr>
        <p:spPr/>
        <p:txBody>
          <a:bodyPr/>
          <a:lstStyle/>
          <a:p>
            <a:r>
              <a:rPr lang="en-US"/>
              <a:t>The second generation of Flemish painters produced work that was simpler, more direct, and easier to understand.</a:t>
            </a:r>
          </a:p>
          <a:p>
            <a:pPr lvl="1"/>
            <a:r>
              <a:rPr lang="en-US"/>
              <a:t>However, the work was more emotionally complex.</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r>
              <a:rPr lang="en-US"/>
              <a:t>Painting at Mid Century: The Second Generation (2 of 3)</a:t>
            </a:r>
          </a:p>
        </p:txBody>
      </p:sp>
      <p:sp>
        <p:nvSpPr>
          <p:cNvPr id="78850" name="Content Placeholder 2"/>
          <p:cNvSpPr>
            <a:spLocks noGrp="1"/>
          </p:cNvSpPr>
          <p:nvPr>
            <p:ph idx="1"/>
          </p:nvPr>
        </p:nvSpPr>
        <p:spPr/>
        <p:txBody>
          <a:bodyPr/>
          <a:lstStyle/>
          <a:p>
            <a:r>
              <a:rPr lang="en-US"/>
              <a:t>Petrus Christus</a:t>
            </a:r>
          </a:p>
          <a:p>
            <a:pPr lvl="1"/>
            <a:r>
              <a:rPr lang="en-US"/>
              <a:t>The artist painted a portrait of a goldsmith serving two customers.</a:t>
            </a:r>
          </a:p>
          <a:p>
            <a:pPr lvl="1"/>
            <a:r>
              <a:rPr lang="en-US"/>
              <a:t>Originally thought to be an image of St. Eloi, it was reevaluated in 1993 as a portrait of an actual goldsmith.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3"/>
          <p:cNvSpPr>
            <a:spLocks noGrp="1"/>
          </p:cNvSpPr>
          <p:nvPr>
            <p:ph type="title"/>
          </p:nvPr>
        </p:nvSpPr>
        <p:spPr/>
        <p:txBody>
          <a:bodyPr>
            <a:normAutofit fontScale="90000"/>
          </a:bodyPr>
          <a:lstStyle/>
          <a:p>
            <a:r>
              <a:rPr lang="en-US" dirty="0"/>
              <a:t>A CLOSER LOOK: A Goldsmith in his Shop by Petrus Christus</a:t>
            </a:r>
            <a:br>
              <a:rPr lang="en-US" dirty="0"/>
            </a:br>
            <a:r>
              <a:rPr lang="en-US" dirty="0"/>
              <a:t>1449. Oil on oak panel, 38-5/8 × 33-1/2</a:t>
            </a:r>
            <a:r>
              <a:rPr lang="ru-RU" dirty="0"/>
              <a:t>"</a:t>
            </a:r>
            <a:r>
              <a:rPr lang="en-US" dirty="0"/>
              <a:t> (98 × 85 cm).</a:t>
            </a:r>
            <a:br>
              <a:rPr lang="en-US" dirty="0"/>
            </a:br>
            <a:r>
              <a:rPr lang="en-US" dirty="0"/>
              <a:t>Metropolitan Museum of Art, New York. Robert Lehman Collection, 1975. 1975.1.110. © 2016. Image copyright The Metropolitan Museum of Art/Art Resource/Scala, Florence.</a:t>
            </a:r>
            <a:br>
              <a:rPr lang="en-US" dirty="0"/>
            </a:br>
            <a:endParaRPr lang="en-US" dirty="0"/>
          </a:p>
        </p:txBody>
      </p:sp>
      <p:pic>
        <p:nvPicPr>
          <p:cNvPr id="2" name="Picture 1" descr="A diagram of a painting depicting a goldsmith at work in his shop. A young man and woman visit a goldsmith’s shop, arm in arm. The smith sits at a workbench with an array of tools, in a bright red outfit. The coat of arms of the dukes of Guelders hangs from a chain around the young man’s neck, leading some to speculate that the woman, who is the more active of the pair, is Mary of Guelders, niece of Duke Philip the Good, who married King James the second of the Scotts the same year this picture was painted. Goldsmiths were expected to perform all their transactions, including the weighing of gold, in public view to safeguard against dishonesty. Here, the scales tip toward the couple visiting the shop, perhaps an allusion to the scales of the Last Judgment, which always tips to the side of the righteous. Three types of coin rest on the shop counter in front of the smith: florins, from Mainz; angels, from English king Henry the sixth French territories; and riders, minted under Philip the Good. Such diversity of currency could show the goldsmith’s cosmopolitanism, or they could indicate his participation in money changing, since members of that profession belonged to the same guild as goldsmiths. Two men, one with a falcon on his arm, are reflected in the obliquely placed mirror beside the goldsmith as they stand in front of the shop. The edges of the reflection catch the red sleeve of the goldsmith and the doorframe, uniting the interior spaces and drawing the viewer into the painting. A coconut cup stands on a counter near the back wall. This was supposed to neutralize poison. The slabs of porphyry and rock crystal nearby were, touchstones, used to test gold and precious stones. Also standing nearby are the red coral and serpents’ tongues, which were actually fossilized sharks’ teeth, intended to ward off the evil eye. The artist signed and dated his work in a bold inscription that appears just under the tabletop at the bottom of the painting. The inscription reads, Master Petrus Christus made me in the year 144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p:txBody>
          <a:bodyPr/>
          <a:lstStyle/>
          <a:p>
            <a:r>
              <a:rPr lang="en-US"/>
              <a:t>Painting at Mid Century: The Second Generation (3 of 3)</a:t>
            </a:r>
          </a:p>
        </p:txBody>
      </p:sp>
      <p:sp>
        <p:nvSpPr>
          <p:cNvPr id="81922" name="Content Placeholder 2"/>
          <p:cNvSpPr>
            <a:spLocks noGrp="1"/>
          </p:cNvSpPr>
          <p:nvPr>
            <p:ph idx="1"/>
          </p:nvPr>
        </p:nvSpPr>
        <p:spPr/>
        <p:txBody>
          <a:bodyPr/>
          <a:lstStyle/>
          <a:p>
            <a:r>
              <a:rPr lang="en-US"/>
              <a:t>Dieric Bouts</a:t>
            </a:r>
          </a:p>
          <a:p>
            <a:pPr lvl="1"/>
            <a:r>
              <a:rPr lang="en-US" i="1"/>
              <a:t>Virgin and Child</a:t>
            </a:r>
            <a:r>
              <a:rPr lang="en-US"/>
              <a:t>, at 8-1/2</a:t>
            </a:r>
            <a:r>
              <a:rPr lang="ru-RU"/>
              <a:t>"</a:t>
            </a:r>
            <a:r>
              <a:rPr lang="en-US"/>
              <a:t> tall, is an intimate rendering of a private moment between mother and child.</a:t>
            </a:r>
          </a:p>
          <a:p>
            <a:pPr lvl="2"/>
            <a:r>
              <a:rPr lang="en-US"/>
              <a:t>Both subjects look like people who would have existed during the artist</a:t>
            </a:r>
            <a:r>
              <a:rPr lang="uk-UA"/>
              <a:t>'</a:t>
            </a:r>
            <a:r>
              <a:rPr lang="en-US"/>
              <a:t>s time.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3"/>
          <p:cNvSpPr>
            <a:spLocks noGrp="1"/>
          </p:cNvSpPr>
          <p:nvPr>
            <p:ph type="title"/>
          </p:nvPr>
        </p:nvSpPr>
        <p:spPr/>
        <p:txBody>
          <a:bodyPr>
            <a:normAutofit fontScale="90000"/>
          </a:bodyPr>
          <a:lstStyle/>
          <a:p>
            <a:r>
              <a:rPr lang="en-US" dirty="0" err="1"/>
              <a:t>Dieric</a:t>
            </a:r>
            <a:r>
              <a:rPr lang="en-US" dirty="0"/>
              <a:t> Bouts VIRGIN AND CHILD</a:t>
            </a:r>
            <a:br>
              <a:rPr lang="en-US" dirty="0"/>
            </a:br>
            <a:r>
              <a:rPr lang="en-US" dirty="0"/>
              <a:t>c. 1455–1460. Oil on wood panel, 8-1/2</a:t>
            </a:r>
            <a:r>
              <a:rPr lang="ru-RU" dirty="0"/>
              <a:t>"</a:t>
            </a:r>
            <a:r>
              <a:rPr lang="en-US" dirty="0"/>
              <a:t> × 6-1/2</a:t>
            </a:r>
            <a:r>
              <a:rPr lang="ru-RU" dirty="0"/>
              <a:t>"</a:t>
            </a:r>
            <a:r>
              <a:rPr lang="en-US" dirty="0"/>
              <a:t> (21.6 × 16.5 cm).</a:t>
            </a:r>
            <a:br>
              <a:rPr lang="en-US" dirty="0"/>
            </a:br>
            <a:r>
              <a:rPr lang="en-US" dirty="0"/>
              <a:t>Metropolitan Museum of Art, New York. © 2016. Image copyright The Metropolitan Museum of Art/Art Resource/Scala, Florence. </a:t>
            </a:r>
          </a:p>
        </p:txBody>
      </p:sp>
      <p:pic>
        <p:nvPicPr>
          <p:cNvPr id="2" name="Picture 1" descr="Mary holds the infant Jesus, who wraps an arm across the back of her neck to lift his cheek up to he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p:txBody>
          <a:bodyPr/>
          <a:lstStyle/>
          <a:p>
            <a:r>
              <a:rPr lang="en-US"/>
              <a:t>Hugo van der Goes and Hans Memling</a:t>
            </a:r>
            <a:br>
              <a:rPr lang="en-US"/>
            </a:br>
            <a:r>
              <a:rPr lang="en-US"/>
              <a:t>(1 of 3)</a:t>
            </a:r>
          </a:p>
        </p:txBody>
      </p:sp>
      <p:sp>
        <p:nvSpPr>
          <p:cNvPr id="84994" name="Content Placeholder 2"/>
          <p:cNvSpPr>
            <a:spLocks noGrp="1"/>
          </p:cNvSpPr>
          <p:nvPr>
            <p:ph idx="1"/>
          </p:nvPr>
        </p:nvSpPr>
        <p:spPr/>
        <p:txBody>
          <a:bodyPr/>
          <a:lstStyle/>
          <a:p>
            <a:pPr lvl="1"/>
            <a:r>
              <a:rPr lang="en-US"/>
              <a:t>The Portinari altarpiece was exceptionally large and its patrons were portrayed on the wing interiors.</a:t>
            </a:r>
          </a:p>
          <a:p>
            <a:pPr lvl="2"/>
            <a:r>
              <a:rPr lang="en-US"/>
              <a:t>Its theme was the Nativity as told by Luke. </a:t>
            </a:r>
          </a:p>
          <a:p>
            <a:pPr lvl="2"/>
            <a:r>
              <a:rPr lang="en-US"/>
              <a:t>Meadows and woods are meticulously painted and light plays a large role.</a:t>
            </a:r>
          </a:p>
          <a:p>
            <a:pPr lvl="2"/>
            <a:r>
              <a:rPr lang="en-US"/>
              <a:t>Symbols that viewers would have interpreted dot this work.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3"/>
          <p:cNvSpPr>
            <a:spLocks noGrp="1"/>
          </p:cNvSpPr>
          <p:nvPr>
            <p:ph type="title"/>
          </p:nvPr>
        </p:nvSpPr>
        <p:spPr/>
        <p:txBody>
          <a:bodyPr>
            <a:normAutofit fontScale="90000"/>
          </a:bodyPr>
          <a:lstStyle/>
          <a:p>
            <a:r>
              <a:rPr lang="en-US" dirty="0"/>
              <a:t>Hugo van der Goes PORTINARI ALTARPIECE (OPEN)</a:t>
            </a:r>
            <a:br>
              <a:rPr lang="en-US" dirty="0"/>
            </a:br>
            <a:r>
              <a:rPr lang="en-US" dirty="0"/>
              <a:t>c. 1474–1476. Tempera and oil on wood panel; center 8</a:t>
            </a:r>
            <a:r>
              <a:rPr lang="uk-UA" dirty="0"/>
              <a:t>'</a:t>
            </a:r>
            <a:r>
              <a:rPr lang="en-US" dirty="0"/>
              <a:t>3-1/2</a:t>
            </a:r>
            <a:r>
              <a:rPr lang="ru-RU" dirty="0"/>
              <a:t>"</a:t>
            </a:r>
            <a:r>
              <a:rPr lang="en-US" dirty="0"/>
              <a:t> × 10</a:t>
            </a:r>
            <a:r>
              <a:rPr lang="uk-UA" dirty="0"/>
              <a:t>'</a:t>
            </a:r>
            <a:r>
              <a:rPr lang="en-US" dirty="0"/>
              <a:t> (2.53 × 3.01 m), wings each 8</a:t>
            </a:r>
            <a:r>
              <a:rPr lang="uk-UA" dirty="0"/>
              <a:t>'</a:t>
            </a:r>
            <a:r>
              <a:rPr lang="en-US" dirty="0"/>
              <a:t>3-1/2</a:t>
            </a:r>
            <a:r>
              <a:rPr lang="ru-RU" dirty="0"/>
              <a:t>"</a:t>
            </a:r>
            <a:r>
              <a:rPr lang="en-US" dirty="0"/>
              <a:t> × 4</a:t>
            </a:r>
            <a:r>
              <a:rPr lang="uk-UA" dirty="0"/>
              <a:t>'</a:t>
            </a:r>
            <a:r>
              <a:rPr lang="en-US" dirty="0"/>
              <a:t>7-1/2</a:t>
            </a:r>
            <a:r>
              <a:rPr lang="ru-RU" dirty="0"/>
              <a:t>"</a:t>
            </a:r>
            <a:r>
              <a:rPr lang="en-US" dirty="0"/>
              <a:t> (2.53 × 1.41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pic>
        <p:nvPicPr>
          <p:cNvPr id="2" name="Picture 1" descr="A triptych. The center depicts the birth of Jesus, attended by angels and shepherds. The side panels depict the donor’s family members and their namesake saints, with males on the left and females on the righ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p:txBody>
          <a:bodyPr/>
          <a:lstStyle/>
          <a:p>
            <a:r>
              <a:rPr lang="en-US"/>
              <a:t>Hugo van der Goes and Hans Memling</a:t>
            </a:r>
            <a:br>
              <a:rPr lang="en-US"/>
            </a:br>
            <a:r>
              <a:rPr lang="en-US"/>
              <a:t>(2 of 3)</a:t>
            </a:r>
          </a:p>
        </p:txBody>
      </p:sp>
      <p:sp>
        <p:nvSpPr>
          <p:cNvPr id="92162" name="Content Placeholder 2"/>
          <p:cNvSpPr>
            <a:spLocks noGrp="1"/>
          </p:cNvSpPr>
          <p:nvPr>
            <p:ph idx="1"/>
          </p:nvPr>
        </p:nvSpPr>
        <p:spPr/>
        <p:txBody>
          <a:bodyPr/>
          <a:lstStyle/>
          <a:p>
            <a:r>
              <a:rPr lang="en-US"/>
              <a:t>Hans Memling</a:t>
            </a:r>
          </a:p>
          <a:p>
            <a:pPr lvl="1"/>
            <a:r>
              <a:rPr lang="en-US"/>
              <a:t>Memling combines intellectual depth and technical rendering with a delicacy of feeling and </a:t>
            </a:r>
            <a:r>
              <a:rPr lang="ru-RU"/>
              <a:t>"</a:t>
            </a:r>
            <a:r>
              <a:rPr lang="en-US"/>
              <a:t>prettiness.</a:t>
            </a:r>
            <a:r>
              <a:rPr lang="ru-RU"/>
              <a:t>"</a:t>
            </a:r>
            <a:r>
              <a:rPr lang="en-US"/>
              <a:t> </a:t>
            </a:r>
          </a:p>
          <a:p>
            <a:pPr lvl="1"/>
            <a:r>
              <a:rPr lang="en-US"/>
              <a:t>He was commissioned to create a diptych of the Virgin and Child as appearing fictionally in the home of Maarten van Nieuwenhove.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3"/>
          <p:cNvSpPr>
            <a:spLocks noGrp="1"/>
          </p:cNvSpPr>
          <p:nvPr>
            <p:ph type="title"/>
          </p:nvPr>
        </p:nvSpPr>
        <p:spPr/>
        <p:txBody>
          <a:bodyPr>
            <a:normAutofit fontScale="90000"/>
          </a:bodyPr>
          <a:lstStyle/>
          <a:p>
            <a:r>
              <a:rPr lang="en-US" dirty="0"/>
              <a:t>Hans Memling DIPTYCH OF MAARTEN VAN NIEUWENHOVE</a:t>
            </a:r>
            <a:br>
              <a:rPr lang="en-US" dirty="0"/>
            </a:br>
            <a:r>
              <a:rPr lang="en-US" dirty="0"/>
              <a:t>1487. Oil on wood panel, each panel (including frames) 20-1/2</a:t>
            </a:r>
            <a:r>
              <a:rPr lang="ru-RU" dirty="0"/>
              <a:t>"</a:t>
            </a:r>
            <a:r>
              <a:rPr lang="en-US" dirty="0"/>
              <a:t> × 16-1/4</a:t>
            </a:r>
            <a:r>
              <a:rPr lang="ru-RU" dirty="0"/>
              <a:t>"</a:t>
            </a:r>
            <a:r>
              <a:rPr lang="en-US" dirty="0"/>
              <a:t> (52 × 41.5 cm).</a:t>
            </a:r>
            <a:br>
              <a:rPr lang="en-US" dirty="0"/>
            </a:br>
            <a:r>
              <a:rPr lang="en-US" dirty="0"/>
              <a:t>Hans Memling Museum, </a:t>
            </a:r>
            <a:r>
              <a:rPr lang="en-US" dirty="0" err="1"/>
              <a:t>Musea</a:t>
            </a:r>
            <a:r>
              <a:rPr lang="en-US" dirty="0"/>
              <a:t> </a:t>
            </a:r>
            <a:r>
              <a:rPr lang="en-US" dirty="0" err="1"/>
              <a:t>Brugge</a:t>
            </a:r>
            <a:r>
              <a:rPr lang="en-US" dirty="0"/>
              <a:t>, Sint-</a:t>
            </a:r>
            <a:r>
              <a:rPr lang="en-US" dirty="0" err="1"/>
              <a:t>Jans</a:t>
            </a:r>
            <a:r>
              <a:rPr lang="en-US" dirty="0"/>
              <a:t> Hospital, Bruges. © </a:t>
            </a:r>
            <a:r>
              <a:rPr lang="en-US" dirty="0" err="1"/>
              <a:t>akg</a:t>
            </a:r>
            <a:r>
              <a:rPr lang="en-US" dirty="0"/>
              <a:t>-images/Erich Lessing. </a:t>
            </a:r>
          </a:p>
        </p:txBody>
      </p:sp>
      <p:pic>
        <p:nvPicPr>
          <p:cNvPr id="2" name="Picture 1" descr="A diptych, with a man in prayer on the right, and a woman on the left, holding a small piece of fruit toward the nude baby boy in her lap."/>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p:txBody>
          <a:bodyPr/>
          <a:lstStyle/>
          <a:p>
            <a:r>
              <a:rPr lang="en-US"/>
              <a:t>Hugo van der Goes and Hans Memling</a:t>
            </a:r>
            <a:br>
              <a:rPr lang="en-US"/>
            </a:br>
            <a:r>
              <a:rPr lang="en-US"/>
              <a:t>(3 of 3)</a:t>
            </a:r>
          </a:p>
        </p:txBody>
      </p:sp>
      <p:sp>
        <p:nvSpPr>
          <p:cNvPr id="93186" name="Content Placeholder 2"/>
          <p:cNvSpPr>
            <a:spLocks noGrp="1"/>
          </p:cNvSpPr>
          <p:nvPr>
            <p:ph idx="1"/>
          </p:nvPr>
        </p:nvSpPr>
        <p:spPr/>
        <p:txBody>
          <a:bodyPr/>
          <a:lstStyle/>
          <a:p>
            <a:r>
              <a:rPr lang="en-US"/>
              <a:t>Hans Memling</a:t>
            </a:r>
          </a:p>
          <a:p>
            <a:pPr lvl="1"/>
            <a:r>
              <a:rPr lang="en-US"/>
              <a:t>Memling</a:t>
            </a:r>
            <a:r>
              <a:rPr lang="uk-UA"/>
              <a:t>'</a:t>
            </a:r>
            <a:r>
              <a:rPr lang="en-US"/>
              <a:t>s construction of a coherent space is impressive in this format. </a:t>
            </a:r>
          </a:p>
          <a:p>
            <a:pPr lvl="2"/>
            <a:r>
              <a:rPr lang="en-US"/>
              <a:t>The Virgin</a:t>
            </a:r>
            <a:r>
              <a:rPr lang="uk-UA"/>
              <a:t>'</a:t>
            </a:r>
            <a:r>
              <a:rPr lang="en-US"/>
              <a:t>s scarlet mantle extends under the division of the two wings to connect the pieces and rests under Maarten</a:t>
            </a:r>
            <a:r>
              <a:rPr lang="uk-UA"/>
              <a:t>'</a:t>
            </a:r>
            <a:r>
              <a:rPr lang="en-US"/>
              <a:t>s Book of Hours.</a:t>
            </a:r>
          </a:p>
          <a:p>
            <a:pPr lvl="2"/>
            <a:r>
              <a:rPr lang="en-US"/>
              <a:t>A convex mirror reflects the backs of both Maarten and Mary.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p:txBody>
          <a:bodyPr/>
          <a:lstStyle/>
          <a:p>
            <a:r>
              <a:rPr lang="en-US"/>
              <a:t>France</a:t>
            </a:r>
          </a:p>
        </p:txBody>
      </p:sp>
      <p:sp>
        <p:nvSpPr>
          <p:cNvPr id="96258" name="Content Placeholder 2"/>
          <p:cNvSpPr>
            <a:spLocks noGrp="1"/>
          </p:cNvSpPr>
          <p:nvPr>
            <p:ph idx="1"/>
          </p:nvPr>
        </p:nvSpPr>
        <p:spPr/>
        <p:txBody>
          <a:bodyPr/>
          <a:lstStyle/>
          <a:p>
            <a:r>
              <a:rPr lang="en-US"/>
              <a:t>Under the rule of Charles VII and Louis XI, the French royal court became a major source for patronage of the arts.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p:txBody>
          <a:bodyPr/>
          <a:lstStyle/>
          <a:p>
            <a:r>
              <a:rPr lang="en-US"/>
              <a:t>Jean Fouquet and Jean Hey (1 of 3)</a:t>
            </a:r>
          </a:p>
        </p:txBody>
      </p:sp>
      <p:sp>
        <p:nvSpPr>
          <p:cNvPr id="97282" name="Content Placeholder 2"/>
          <p:cNvSpPr>
            <a:spLocks noGrp="1"/>
          </p:cNvSpPr>
          <p:nvPr>
            <p:ph idx="1"/>
          </p:nvPr>
        </p:nvSpPr>
        <p:spPr/>
        <p:txBody>
          <a:bodyPr/>
          <a:lstStyle/>
          <a:p>
            <a:r>
              <a:rPr lang="en-US"/>
              <a:t>Jean Fouquet</a:t>
            </a:r>
          </a:p>
          <a:p>
            <a:pPr lvl="1"/>
            <a:r>
              <a:rPr lang="en-US"/>
              <a:t>Fouquet drew from contemporary Italian Classicism and Flemish illusionism.</a:t>
            </a:r>
          </a:p>
          <a:p>
            <a:pPr lvl="1"/>
            <a:r>
              <a:rPr lang="en-US"/>
              <a:t>A diptych was commissioned for Étienne Chevalier to put over the tomb of his wife.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3"/>
          <p:cNvSpPr>
            <a:spLocks noGrp="1"/>
          </p:cNvSpPr>
          <p:nvPr>
            <p:ph type="title"/>
          </p:nvPr>
        </p:nvSpPr>
        <p:spPr>
          <a:xfrm>
            <a:off x="457200" y="5715000"/>
            <a:ext cx="8229600" cy="685800"/>
          </a:xfrm>
        </p:spPr>
        <p:txBody>
          <a:bodyPr>
            <a:normAutofit fontScale="90000"/>
          </a:bodyPr>
          <a:lstStyle/>
          <a:p>
            <a:r>
              <a:rPr lang="en-US" dirty="0"/>
              <a:t>Jean Fouquet ÉTIENNE CHEVALIER AND ST. STEPHEN, VIRGIN AND CHILD</a:t>
            </a:r>
            <a:br>
              <a:rPr lang="en-US" dirty="0"/>
            </a:br>
            <a:r>
              <a:rPr lang="en-US" dirty="0"/>
              <a:t>The Melun Diptych. c. 1452–1455. Oil on oak panel. Left wing: 36-1/2</a:t>
            </a:r>
            <a:r>
              <a:rPr lang="ru-RU" dirty="0"/>
              <a:t>"</a:t>
            </a:r>
            <a:r>
              <a:rPr lang="en-US" dirty="0"/>
              <a:t> × 33-1/2</a:t>
            </a:r>
            <a:r>
              <a:rPr lang="ru-RU" dirty="0"/>
              <a:t>"</a:t>
            </a:r>
            <a:r>
              <a:rPr lang="en-US" dirty="0"/>
              <a:t> (92.7 × 85.5 cm), Staatliche </a:t>
            </a:r>
            <a:r>
              <a:rPr lang="en-US" dirty="0" err="1"/>
              <a:t>Museen</a:t>
            </a:r>
            <a:r>
              <a:rPr lang="en-US" dirty="0"/>
              <a:t> </a:t>
            </a:r>
            <a:r>
              <a:rPr lang="en-US" dirty="0" err="1"/>
              <a:t>zu</a:t>
            </a:r>
            <a:r>
              <a:rPr lang="en-US" dirty="0"/>
              <a:t> Berlin, </a:t>
            </a:r>
            <a:r>
              <a:rPr lang="en-US" dirty="0" err="1"/>
              <a:t>Preussischer</a:t>
            </a:r>
            <a:r>
              <a:rPr lang="en-US" dirty="0"/>
              <a:t> </a:t>
            </a:r>
            <a:r>
              <a:rPr lang="en-US" dirty="0" err="1"/>
              <a:t>Kulturbesitz</a:t>
            </a:r>
            <a:r>
              <a:rPr lang="en-US" dirty="0"/>
              <a:t>, </a:t>
            </a:r>
            <a:r>
              <a:rPr lang="en-US" dirty="0" err="1"/>
              <a:t>Gemäldegalerie</a:t>
            </a:r>
            <a:r>
              <a:rPr lang="en-US" dirty="0"/>
              <a:t>. ; right wing: 37-1/4 × 33-1/2</a:t>
            </a:r>
            <a:r>
              <a:rPr lang="ru-RU" dirty="0"/>
              <a:t>"</a:t>
            </a:r>
            <a:r>
              <a:rPr lang="en-US" dirty="0"/>
              <a:t> (94.5 × 85.5 cm), </a:t>
            </a:r>
            <a:r>
              <a:rPr lang="en-US" dirty="0" err="1"/>
              <a:t>Koninklijk</a:t>
            </a:r>
            <a:r>
              <a:rPr lang="en-US" dirty="0"/>
              <a:t> Museum </a:t>
            </a:r>
            <a:r>
              <a:rPr lang="en-US" dirty="0" err="1"/>
              <a:t>voor</a:t>
            </a:r>
            <a:r>
              <a:rPr lang="en-US" dirty="0"/>
              <a:t> </a:t>
            </a:r>
            <a:r>
              <a:rPr lang="en-US" dirty="0" err="1"/>
              <a:t>Schone</a:t>
            </a:r>
            <a:r>
              <a:rPr lang="en-US" dirty="0"/>
              <a:t> </a:t>
            </a:r>
            <a:r>
              <a:rPr lang="en-US" dirty="0" err="1"/>
              <a:t>Kunsten</a:t>
            </a:r>
            <a:r>
              <a:rPr lang="en-US" dirty="0"/>
              <a:t>, Antwerp, Belgium.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a:t>
            </a:r>
          </a:p>
        </p:txBody>
      </p:sp>
      <p:pic>
        <p:nvPicPr>
          <p:cNvPr id="2" name="Picture 1" descr="A diptych. On the left, Etienne stands with his hands clasped in prayer, with his namesake saint beside him, holding a book with a heavy stone upon it. On the right, Mary wears the contemporary attire of a queen, unlaced to nurse Jesu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p:cNvSpPr>
            <a:spLocks noGrp="1"/>
          </p:cNvSpPr>
          <p:nvPr>
            <p:ph type="title"/>
          </p:nvPr>
        </p:nvSpPr>
        <p:spPr/>
        <p:txBody>
          <a:bodyPr/>
          <a:lstStyle/>
          <a:p>
            <a:r>
              <a:rPr lang="en-US"/>
              <a:t>Jean Fouquet and Jean Hey (2 of 3)</a:t>
            </a:r>
          </a:p>
        </p:txBody>
      </p:sp>
      <p:sp>
        <p:nvSpPr>
          <p:cNvPr id="100354" name="Content Placeholder 2"/>
          <p:cNvSpPr>
            <a:spLocks noGrp="1"/>
          </p:cNvSpPr>
          <p:nvPr>
            <p:ph idx="1"/>
          </p:nvPr>
        </p:nvSpPr>
        <p:spPr/>
        <p:txBody>
          <a:bodyPr/>
          <a:lstStyle/>
          <a:p>
            <a:r>
              <a:rPr lang="en-US"/>
              <a:t>Jean Fouquet</a:t>
            </a:r>
          </a:p>
          <a:p>
            <a:pPr lvl="1"/>
            <a:r>
              <a:rPr lang="en-US"/>
              <a:t>The left panel of the diptych features saint Stephen presenting the patron to the Virgin and Child in the adjacent panel.</a:t>
            </a:r>
          </a:p>
          <a:p>
            <a:pPr lvl="1"/>
            <a:r>
              <a:rPr lang="en-US"/>
              <a:t>The right panel of the diptych presents a supernatural, abstracted vision of the Virgin holding a substantial baby Christ.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p:cNvSpPr>
            <a:spLocks noGrp="1"/>
          </p:cNvSpPr>
          <p:nvPr>
            <p:ph type="title"/>
          </p:nvPr>
        </p:nvSpPr>
        <p:spPr/>
        <p:txBody>
          <a:bodyPr/>
          <a:lstStyle/>
          <a:p>
            <a:r>
              <a:rPr lang="en-US"/>
              <a:t>Jean Fouquet and Jean Hey (3 of 3)</a:t>
            </a:r>
          </a:p>
        </p:txBody>
      </p:sp>
      <p:sp>
        <p:nvSpPr>
          <p:cNvPr id="103426" name="Content Placeholder 2"/>
          <p:cNvSpPr>
            <a:spLocks noGrp="1"/>
          </p:cNvSpPr>
          <p:nvPr>
            <p:ph idx="1"/>
          </p:nvPr>
        </p:nvSpPr>
        <p:spPr/>
        <p:txBody>
          <a:bodyPr/>
          <a:lstStyle/>
          <a:p>
            <a:r>
              <a:rPr lang="en-US"/>
              <a:t>Jean Hey, the Master of Moulins</a:t>
            </a:r>
          </a:p>
          <a:p>
            <a:pPr lvl="1"/>
            <a:r>
              <a:rPr lang="en-US"/>
              <a:t>The charming portrait of Margaret of Austria may have originally been a diptych.</a:t>
            </a:r>
          </a:p>
          <a:p>
            <a:pPr lvl="2"/>
            <a:r>
              <a:rPr lang="en-US"/>
              <a:t>Hey captures </a:t>
            </a:r>
            <a:r>
              <a:rPr lang="ru-RU"/>
              <a:t>"</a:t>
            </a:r>
            <a:r>
              <a:rPr lang="en-US"/>
              <a:t>Cs</a:t>
            </a:r>
            <a:r>
              <a:rPr lang="ru-RU"/>
              <a:t>"</a:t>
            </a:r>
            <a:r>
              <a:rPr lang="en-US"/>
              <a:t> and </a:t>
            </a:r>
            <a:r>
              <a:rPr lang="ru-RU"/>
              <a:t>"</a:t>
            </a:r>
            <a:r>
              <a:rPr lang="en-US"/>
              <a:t>Ms</a:t>
            </a:r>
            <a:r>
              <a:rPr lang="ru-RU"/>
              <a:t>"</a:t>
            </a:r>
            <a:r>
              <a:rPr lang="en-US"/>
              <a:t> embroidered on her collar that would have signaled her betrothal to Charles VIII, to whom she had been betrothed at age 2 or 3.</a:t>
            </a:r>
          </a:p>
          <a:p>
            <a:pPr lvl="2"/>
            <a:r>
              <a:rPr lang="en-US"/>
              <a:t>Her facial features are delicate and vulnerable.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3"/>
          <p:cNvSpPr>
            <a:spLocks noGrp="1"/>
          </p:cNvSpPr>
          <p:nvPr>
            <p:ph type="title"/>
          </p:nvPr>
        </p:nvSpPr>
        <p:spPr/>
        <p:txBody>
          <a:bodyPr>
            <a:normAutofit fontScale="90000"/>
          </a:bodyPr>
          <a:lstStyle/>
          <a:p>
            <a:r>
              <a:rPr lang="en-US" dirty="0"/>
              <a:t>Jean Hey (The Master of Moulins) PORTRAIT OF MARGARET OF AUSTRIA</a:t>
            </a:r>
            <a:br>
              <a:rPr lang="en-US" dirty="0"/>
            </a:br>
            <a:r>
              <a:rPr lang="en-US" dirty="0"/>
              <a:t>c. 1490. Oil on wood panel, 12-7/8</a:t>
            </a:r>
            <a:r>
              <a:rPr lang="ru-RU" dirty="0"/>
              <a:t>"</a:t>
            </a:r>
            <a:r>
              <a:rPr lang="en-US" dirty="0"/>
              <a:t> × 9-1/8</a:t>
            </a:r>
            <a:r>
              <a:rPr lang="ru-RU" dirty="0"/>
              <a:t>"</a:t>
            </a:r>
            <a:r>
              <a:rPr lang="en-US" dirty="0"/>
              <a:t> (32.7 × 23 cm).</a:t>
            </a:r>
            <a:br>
              <a:rPr lang="en-US" dirty="0"/>
            </a:br>
            <a:r>
              <a:rPr lang="en-US" dirty="0"/>
              <a:t>Metropolitan Museum of Art, New York. Robert Lehman Collection. © 2016. Image copyright Resource/Scala, Florence. </a:t>
            </a:r>
          </a:p>
        </p:txBody>
      </p:sp>
      <p:pic>
        <p:nvPicPr>
          <p:cNvPr id="2" name="Picture 1" descr="A woman stands at two windows, with a subdued expression. She wears a gold-threaded head covering and a red dress, and a large pendant hangs from her nec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p:cNvSpPr>
            <a:spLocks noGrp="1"/>
          </p:cNvSpPr>
          <p:nvPr>
            <p:ph type="title"/>
          </p:nvPr>
        </p:nvSpPr>
        <p:spPr/>
        <p:txBody>
          <a:bodyPr/>
          <a:lstStyle/>
          <a:p>
            <a:r>
              <a:rPr lang="en-US"/>
              <a:t>Flamboyant Architecture</a:t>
            </a:r>
          </a:p>
        </p:txBody>
      </p:sp>
      <p:sp>
        <p:nvSpPr>
          <p:cNvPr id="106498" name="Content Placeholder 2"/>
          <p:cNvSpPr>
            <a:spLocks noGrp="1"/>
          </p:cNvSpPr>
          <p:nvPr>
            <p:ph idx="1"/>
          </p:nvPr>
        </p:nvSpPr>
        <p:spPr/>
        <p:txBody>
          <a:bodyPr/>
          <a:lstStyle/>
          <a:p>
            <a:r>
              <a:rPr lang="en-US"/>
              <a:t>The Church of Saint-Maclou in Rouen is a well-preserved example.</a:t>
            </a:r>
          </a:p>
          <a:p>
            <a:pPr lvl="1"/>
            <a:r>
              <a:rPr lang="en-US"/>
              <a:t>Designed by Pierre Robin, it featured repeated, twisted, flamelike tracery.</a:t>
            </a:r>
          </a:p>
          <a:p>
            <a:r>
              <a:rPr lang="en-US"/>
              <a:t>The house of Jacques Couer also retains flamboyant elements.</a:t>
            </a:r>
          </a:p>
          <a:p>
            <a:pPr lvl="1"/>
            <a:r>
              <a:rPr lang="en-US"/>
              <a:t>It is built around an irregular, open courtyard; tympana over doors indicate functions of the room within.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3"/>
          <p:cNvSpPr>
            <a:spLocks noGrp="1"/>
          </p:cNvSpPr>
          <p:nvPr>
            <p:ph type="title"/>
          </p:nvPr>
        </p:nvSpPr>
        <p:spPr/>
        <p:txBody>
          <a:bodyPr>
            <a:normAutofit fontScale="90000"/>
          </a:bodyPr>
          <a:lstStyle/>
          <a:p>
            <a:r>
              <a:rPr lang="en-US" dirty="0"/>
              <a:t>Pierre Robin (?) CHURCH OF SAINT-MACLOU, ROUEN</a:t>
            </a:r>
            <a:br>
              <a:rPr lang="en-US" dirty="0"/>
            </a:br>
            <a:r>
              <a:rPr lang="en-US" dirty="0"/>
              <a:t>Normandy, France.</a:t>
            </a:r>
            <a:br>
              <a:rPr lang="en-US" dirty="0"/>
            </a:br>
            <a:r>
              <a:rPr lang="en-US" dirty="0"/>
              <a:t>West façade, 1432–1521; façade c. 1500–1514</a:t>
            </a:r>
            <a:br>
              <a:rPr lang="en-US" dirty="0"/>
            </a:br>
            <a:r>
              <a:rPr lang="en-US" dirty="0"/>
              <a:t>© Achim Bednorz, Cologne.</a:t>
            </a:r>
          </a:p>
        </p:txBody>
      </p:sp>
      <p:pic>
        <p:nvPicPr>
          <p:cNvPr id="2" name="Picture 1" descr="The crockets along the steeply pitched gables and flying buttresses are similar to the knoblike decorations spaced around the pointed arches below, along the faça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3"/>
          <p:cNvSpPr>
            <a:spLocks noGrp="1"/>
          </p:cNvSpPr>
          <p:nvPr>
            <p:ph type="title"/>
          </p:nvPr>
        </p:nvSpPr>
        <p:spPr/>
        <p:txBody>
          <a:bodyPr/>
          <a:lstStyle/>
          <a:p>
            <a:r>
              <a:rPr lang="en-US" dirty="0"/>
              <a:t>PLAN OF JACQUES COEUR HOUSE</a:t>
            </a:r>
            <a:br>
              <a:rPr lang="en-US" dirty="0"/>
            </a:br>
            <a:r>
              <a:rPr lang="en-US" dirty="0"/>
              <a:t>Bourges, France. 1443–1451.</a:t>
            </a:r>
          </a:p>
        </p:txBody>
      </p:sp>
      <p:pic>
        <p:nvPicPr>
          <p:cNvPr id="2" name="Picture 1" descr="Jacques Coeur’s house was built around an irregularly shaped pentagon, with circular towers at the intersections of some inner and outer wall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3"/>
          <p:cNvSpPr>
            <a:spLocks noGrp="1"/>
          </p:cNvSpPr>
          <p:nvPr>
            <p:ph type="title"/>
          </p:nvPr>
        </p:nvSpPr>
        <p:spPr/>
        <p:txBody>
          <a:bodyPr>
            <a:normAutofit fontScale="90000"/>
          </a:bodyPr>
          <a:lstStyle/>
          <a:p>
            <a:r>
              <a:rPr lang="en-US" dirty="0"/>
              <a:t>INTERIOR COURTYARD OF JACQUES COEUR HOUSE</a:t>
            </a:r>
            <a:br>
              <a:rPr lang="en-US" dirty="0"/>
            </a:br>
            <a:r>
              <a:rPr lang="en-US" dirty="0"/>
              <a:t>Bourges, France. 1443–1451.</a:t>
            </a:r>
            <a:br>
              <a:rPr lang="en-US" dirty="0"/>
            </a:br>
            <a:r>
              <a:rPr lang="en-US" dirty="0"/>
              <a:t>© </a:t>
            </a:r>
            <a:r>
              <a:rPr lang="en-US" dirty="0" err="1"/>
              <a:t>Hervé</a:t>
            </a:r>
            <a:r>
              <a:rPr lang="en-US" dirty="0"/>
              <a:t> Champollion/</a:t>
            </a:r>
            <a:r>
              <a:rPr lang="en-US" dirty="0" err="1"/>
              <a:t>akg</a:t>
            </a:r>
            <a:r>
              <a:rPr lang="en-US" dirty="0"/>
              <a:t>-images. </a:t>
            </a:r>
          </a:p>
        </p:txBody>
      </p:sp>
      <p:pic>
        <p:nvPicPr>
          <p:cNvPr id="2" name="Picture 1" descr="The inward-facing walls surrounding the courtyard of the Coeur house featured many windows. A few along the top stories are set in trefoil-topped arches, but most windows are rectangular, with red tri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p:txBody>
          <a:bodyPr/>
          <a:lstStyle/>
          <a:p>
            <a:r>
              <a:rPr lang="en-US"/>
              <a:t>The Germanic Lands</a:t>
            </a:r>
          </a:p>
        </p:txBody>
      </p:sp>
      <p:sp>
        <p:nvSpPr>
          <p:cNvPr id="113666" name="Content Placeholder 2"/>
          <p:cNvSpPr>
            <a:spLocks noGrp="1"/>
          </p:cNvSpPr>
          <p:nvPr>
            <p:ph idx="1"/>
          </p:nvPr>
        </p:nvSpPr>
        <p:spPr/>
        <p:txBody>
          <a:bodyPr/>
          <a:lstStyle/>
          <a:p>
            <a:r>
              <a:rPr lang="en-US"/>
              <a:t>Artisan guilds grew powerful and trade flourished under the Hanseatic League.</a:t>
            </a:r>
          </a:p>
          <a:p>
            <a:r>
              <a:rPr lang="en-US"/>
              <a:t>Konrad Witz</a:t>
            </a:r>
          </a:p>
          <a:p>
            <a:pPr lvl="1"/>
            <a:r>
              <a:rPr lang="en-US"/>
              <a:t>Witz found patronage through the Church.</a:t>
            </a:r>
          </a:p>
          <a:p>
            <a:pPr lvl="1"/>
            <a:r>
              <a:rPr lang="en-US" i="1"/>
              <a:t>Miraculous Draft of the Fishes </a:t>
            </a:r>
            <a:r>
              <a:rPr lang="en-US"/>
              <a:t>sets the biblical scene on the Lake of Geneva, enhancing every surface texture with great detail.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p:txBody>
          <a:bodyPr/>
          <a:lstStyle/>
          <a:p>
            <a:r>
              <a:rPr lang="en-US"/>
              <a:t>Painting and Sculpture (1 of 2)</a:t>
            </a:r>
          </a:p>
        </p:txBody>
      </p:sp>
      <p:sp>
        <p:nvSpPr>
          <p:cNvPr id="114690" name="Content Placeholder 2"/>
          <p:cNvSpPr>
            <a:spLocks noGrp="1"/>
          </p:cNvSpPr>
          <p:nvPr>
            <p:ph idx="1"/>
          </p:nvPr>
        </p:nvSpPr>
        <p:spPr/>
        <p:txBody>
          <a:bodyPr/>
          <a:lstStyle/>
          <a:p>
            <a:r>
              <a:rPr lang="en-US"/>
              <a:t>Konrad Witz</a:t>
            </a:r>
          </a:p>
          <a:p>
            <a:pPr lvl="1"/>
            <a:r>
              <a:rPr lang="en-US"/>
              <a:t>Witz found patronage through the Church.</a:t>
            </a:r>
          </a:p>
          <a:p>
            <a:pPr lvl="1"/>
            <a:r>
              <a:rPr lang="en-US" i="1"/>
              <a:t>Miraculous Draft of the Fishes </a:t>
            </a:r>
            <a:r>
              <a:rPr lang="en-US"/>
              <a:t>sets the biblical scene on the Lake of Geneva, enhancing every surface texture with great detail.</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3"/>
          <p:cNvSpPr>
            <a:spLocks noGrp="1"/>
          </p:cNvSpPr>
          <p:nvPr>
            <p:ph type="title"/>
          </p:nvPr>
        </p:nvSpPr>
        <p:spPr/>
        <p:txBody>
          <a:bodyPr>
            <a:normAutofit fontScale="90000"/>
          </a:bodyPr>
          <a:lstStyle/>
          <a:p>
            <a:r>
              <a:rPr lang="en-US" dirty="0"/>
              <a:t>Konrad </a:t>
            </a:r>
            <a:r>
              <a:rPr lang="en-US" dirty="0" err="1"/>
              <a:t>Witz</a:t>
            </a:r>
            <a:r>
              <a:rPr lang="en-US" dirty="0"/>
              <a:t> MIRACULOUS DRAFT OF FISHES</a:t>
            </a:r>
            <a:br>
              <a:rPr lang="en-US" dirty="0"/>
            </a:br>
            <a:r>
              <a:rPr lang="en-US" dirty="0"/>
              <a:t>From an altarpiece for the Cathedral of St. Peter, Geneva, Switzerland.</a:t>
            </a:r>
            <a:br>
              <a:rPr lang="en-US" dirty="0"/>
            </a:br>
            <a:r>
              <a:rPr lang="en-US" dirty="0"/>
              <a:t>1444. Oil on wood panel, 4</a:t>
            </a:r>
            <a:r>
              <a:rPr lang="uk-UA" dirty="0"/>
              <a:t>'</a:t>
            </a:r>
            <a:r>
              <a:rPr lang="en-US" dirty="0"/>
              <a:t>3</a:t>
            </a:r>
            <a:r>
              <a:rPr lang="ru-RU" dirty="0"/>
              <a:t>"</a:t>
            </a:r>
            <a:r>
              <a:rPr lang="en-US" dirty="0"/>
              <a:t> × 5</a:t>
            </a:r>
            <a:r>
              <a:rPr lang="uk-UA" dirty="0"/>
              <a:t>'</a:t>
            </a:r>
            <a:r>
              <a:rPr lang="en-US" dirty="0"/>
              <a:t>1</a:t>
            </a:r>
            <a:r>
              <a:rPr lang="ru-RU" dirty="0"/>
              <a:t>"</a:t>
            </a:r>
            <a:r>
              <a:rPr lang="en-US" dirty="0"/>
              <a:t> (1.29 × 1.55 m).</a:t>
            </a:r>
            <a:br>
              <a:rPr lang="en-US" dirty="0"/>
            </a:br>
            <a:r>
              <a:rPr lang="en-US" dirty="0" err="1"/>
              <a:t>Musée</a:t>
            </a:r>
            <a:r>
              <a:rPr lang="en-US" dirty="0"/>
              <a:t> d</a:t>
            </a:r>
            <a:r>
              <a:rPr lang="uk-UA" dirty="0"/>
              <a:t>'</a:t>
            </a:r>
            <a:r>
              <a:rPr lang="en-US" dirty="0"/>
              <a:t>Art et d</a:t>
            </a:r>
            <a:r>
              <a:rPr lang="uk-UA" dirty="0"/>
              <a:t>'</a:t>
            </a:r>
            <a:r>
              <a:rPr lang="en-US" dirty="0" err="1"/>
              <a:t>Histoire</a:t>
            </a:r>
            <a:r>
              <a:rPr lang="en-US" dirty="0"/>
              <a:t>, Geneva. © </a:t>
            </a:r>
            <a:r>
              <a:rPr lang="en-US" dirty="0" err="1"/>
              <a:t>Musée</a:t>
            </a:r>
            <a:r>
              <a:rPr lang="en-US" dirty="0"/>
              <a:t> d</a:t>
            </a:r>
            <a:r>
              <a:rPr lang="uk-UA" dirty="0"/>
              <a:t>'</a:t>
            </a:r>
            <a:r>
              <a:rPr lang="en-US" dirty="0"/>
              <a:t>art et d</a:t>
            </a:r>
            <a:r>
              <a:rPr lang="uk-UA" dirty="0"/>
              <a:t>'</a:t>
            </a:r>
            <a:r>
              <a:rPr lang="en-US" dirty="0" err="1"/>
              <a:t>histoire</a:t>
            </a:r>
            <a:r>
              <a:rPr lang="en-US" dirty="0"/>
              <a:t>, Ville de Genève. Photo: Flora Bevilacqua.</a:t>
            </a:r>
          </a:p>
        </p:txBody>
      </p:sp>
      <p:pic>
        <p:nvPicPr>
          <p:cNvPr id="2" name="Picture 1" descr="Biblical fishermen from the Sea of Galilee are transposed to the still waters of Lake Geneva. One man leaps from the boat and swims toward Jesus, who stands atop the shallow water near the sho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p:txBody>
          <a:bodyPr/>
          <a:lstStyle/>
          <a:p>
            <a:r>
              <a:rPr lang="en-US"/>
              <a:t>Painting and Sculpture (2 of 2)</a:t>
            </a:r>
          </a:p>
        </p:txBody>
      </p:sp>
      <p:sp>
        <p:nvSpPr>
          <p:cNvPr id="117762" name="Content Placeholder 2"/>
          <p:cNvSpPr>
            <a:spLocks noGrp="1"/>
          </p:cNvSpPr>
          <p:nvPr>
            <p:ph idx="1"/>
          </p:nvPr>
        </p:nvSpPr>
        <p:spPr/>
        <p:txBody>
          <a:bodyPr/>
          <a:lstStyle/>
          <a:p>
            <a:r>
              <a:rPr lang="en-US"/>
              <a:t>Michael Pacher</a:t>
            </a:r>
          </a:p>
          <a:p>
            <a:pPr lvl="1"/>
            <a:r>
              <a:rPr lang="en-US"/>
              <a:t>Painter and sculptor Pacher was commissioned for a large altarpiece that survives in its original setting.</a:t>
            </a:r>
          </a:p>
          <a:p>
            <a:pPr lvl="2"/>
            <a:r>
              <a:rPr lang="en-US"/>
              <a:t>Open, it shows a sculptural ensemble flanked by four panel paintings.</a:t>
            </a:r>
          </a:p>
          <a:p>
            <a:pPr lvl="2"/>
            <a:r>
              <a:rPr lang="en-US"/>
              <a:t>Other artists collaborated with him for the execution of the work.</a:t>
            </a:r>
          </a:p>
          <a:p>
            <a:pPr lvl="2"/>
            <a:r>
              <a:rPr lang="en-US"/>
              <a:t>The use of soft wood allowed for high detailing.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3"/>
          <p:cNvSpPr>
            <a:spLocks noGrp="1"/>
          </p:cNvSpPr>
          <p:nvPr>
            <p:ph type="title"/>
          </p:nvPr>
        </p:nvSpPr>
        <p:spPr/>
        <p:txBody>
          <a:bodyPr>
            <a:normAutofit fontScale="90000"/>
          </a:bodyPr>
          <a:lstStyle/>
          <a:p>
            <a:r>
              <a:rPr lang="en-US" dirty="0"/>
              <a:t>Michael Pacher ST. WOLFGANG ALTARPIECE</a:t>
            </a:r>
            <a:br>
              <a:rPr lang="en-US" dirty="0"/>
            </a:br>
            <a:r>
              <a:rPr lang="en-US" dirty="0"/>
              <a:t>Church of St. Wolfgang, Austria. 1471–1481.</a:t>
            </a:r>
            <a:br>
              <a:rPr lang="en-US" dirty="0"/>
            </a:br>
            <a:r>
              <a:rPr lang="en-US" dirty="0"/>
              <a:t>Carved, painted, and gilt wood; wings are oil on wood panel. © </a:t>
            </a:r>
            <a:r>
              <a:rPr lang="en-US" dirty="0" err="1"/>
              <a:t>akg</a:t>
            </a:r>
            <a:r>
              <a:rPr lang="en-US" dirty="0"/>
              <a:t>-images/Erich Lessing. </a:t>
            </a:r>
          </a:p>
        </p:txBody>
      </p:sp>
      <p:pic>
        <p:nvPicPr>
          <p:cNvPr id="2" name="Picture 1" descr="The deeply incised carvings in the central panel contrast the two-dimensional, but more visually deep oil paintings along the inside surfaces of the wing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p:txBody>
          <a:bodyPr/>
          <a:lstStyle/>
          <a:p>
            <a:r>
              <a:rPr lang="en-US"/>
              <a:t>Technique: Woodcuts and Engravings on Metal</a:t>
            </a:r>
          </a:p>
        </p:txBody>
      </p:sp>
      <p:sp>
        <p:nvSpPr>
          <p:cNvPr id="120834" name="Content Placeholder 2"/>
          <p:cNvSpPr>
            <a:spLocks noGrp="1"/>
          </p:cNvSpPr>
          <p:nvPr>
            <p:ph idx="1"/>
          </p:nvPr>
        </p:nvSpPr>
        <p:spPr/>
        <p:txBody>
          <a:bodyPr/>
          <a:lstStyle/>
          <a:p>
            <a:r>
              <a:rPr lang="en-US" b="1"/>
              <a:t>Woodcuts</a:t>
            </a:r>
            <a:r>
              <a:rPr lang="en-US"/>
              <a:t> are made by cutting away areas around drawn lines on a block, leaving the lines in high relief.</a:t>
            </a:r>
          </a:p>
          <a:p>
            <a:r>
              <a:rPr lang="en-US" b="1"/>
              <a:t>Engraving</a:t>
            </a:r>
            <a:r>
              <a:rPr lang="en-US"/>
              <a:t> uses </a:t>
            </a:r>
            <a:r>
              <a:rPr lang="en-US" b="1"/>
              <a:t>burins</a:t>
            </a:r>
            <a:r>
              <a:rPr lang="en-US"/>
              <a:t> to cut into the metal plate.</a:t>
            </a:r>
          </a:p>
          <a:p>
            <a:r>
              <a:rPr lang="en-US"/>
              <a:t>Making multiple prints from a single version was a team effort.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3"/>
          <p:cNvSpPr>
            <a:spLocks noGrp="1"/>
          </p:cNvSpPr>
          <p:nvPr>
            <p:ph type="title"/>
          </p:nvPr>
        </p:nvSpPr>
        <p:spPr/>
        <p:txBody>
          <a:bodyPr/>
          <a:lstStyle/>
          <a:p>
            <a:r>
              <a:rPr lang="en-US"/>
              <a:t>TECHNIQUE: Woodcuts and Engravings of Metal</a:t>
            </a:r>
          </a:p>
        </p:txBody>
      </p:sp>
      <p:pic>
        <p:nvPicPr>
          <p:cNvPr id="2" name="Picture 1" descr="In relief printing, ink on a plate’s raised grooves transfers to paper. In intaglio printing, ink remaining in a wiped plate’s cut grooves transfers to pap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533400"/>
            <a:ext cx="8107680" cy="5031232"/>
          </a:xfrm>
          <a:prstGeom prst="rect">
            <a:avLst/>
          </a:prstGeom>
        </p:spPr>
      </p:pic>
    </p:spTree>
  </p:cSld>
  <p:clrMapOvr>
    <a:masterClrMapping/>
  </p:clrMapOvr>
  <p:transition spd="slow" advTm="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p:cNvSpPr>
          <p:nvPr>
            <p:ph type="title"/>
          </p:nvPr>
        </p:nvSpPr>
        <p:spPr/>
        <p:txBody>
          <a:bodyPr/>
          <a:lstStyle/>
          <a:p>
            <a:r>
              <a:rPr lang="en-US"/>
              <a:t>The Graphic Arts (1 of 3)</a:t>
            </a:r>
          </a:p>
        </p:txBody>
      </p:sp>
      <p:sp>
        <p:nvSpPr>
          <p:cNvPr id="123906" name="Content Placeholder 2"/>
          <p:cNvSpPr>
            <a:spLocks noGrp="1"/>
          </p:cNvSpPr>
          <p:nvPr>
            <p:ph idx="1"/>
          </p:nvPr>
        </p:nvSpPr>
        <p:spPr/>
        <p:txBody>
          <a:bodyPr/>
          <a:lstStyle/>
          <a:p>
            <a:r>
              <a:rPr lang="en-US"/>
              <a:t>Only in the fifteenth century did </a:t>
            </a:r>
            <a:r>
              <a:rPr lang="en-US" b="1"/>
              <a:t>woodblock</a:t>
            </a:r>
            <a:r>
              <a:rPr lang="en-US"/>
              <a:t> printing of images and text on paper replace copying of each book by hand.</a:t>
            </a:r>
          </a:p>
          <a:p>
            <a:r>
              <a:rPr lang="en-US"/>
              <a:t>Woodcut and engraving were techniques used by printmakers.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p:cNvSpPr>
          <p:nvPr>
            <p:ph type="title"/>
          </p:nvPr>
        </p:nvSpPr>
        <p:spPr/>
        <p:txBody>
          <a:bodyPr/>
          <a:lstStyle/>
          <a:p>
            <a:r>
              <a:rPr lang="en-US"/>
              <a:t>The Graphic Arts (2 of 3)</a:t>
            </a:r>
          </a:p>
        </p:txBody>
      </p:sp>
      <p:sp>
        <p:nvSpPr>
          <p:cNvPr id="124930" name="Content Placeholder 2"/>
          <p:cNvSpPr>
            <a:spLocks noGrp="1"/>
          </p:cNvSpPr>
          <p:nvPr>
            <p:ph idx="1"/>
          </p:nvPr>
        </p:nvSpPr>
        <p:spPr/>
        <p:txBody>
          <a:bodyPr/>
          <a:lstStyle/>
          <a:p>
            <a:r>
              <a:rPr lang="en-US" i="1"/>
              <a:t>The Buxheim St. Christopher</a:t>
            </a:r>
          </a:p>
          <a:p>
            <a:pPr lvl="1"/>
            <a:r>
              <a:rPr lang="en-US"/>
              <a:t>This devotional image was glued to the inside cover of another manuscript.</a:t>
            </a:r>
          </a:p>
          <a:p>
            <a:pPr lvl="1"/>
            <a:r>
              <a:rPr lang="en-US"/>
              <a:t>Both the cutting of the block and the printing itself are high quality with varying line widths.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3"/>
          <p:cNvSpPr>
            <a:spLocks noGrp="1"/>
          </p:cNvSpPr>
          <p:nvPr>
            <p:ph type="title"/>
          </p:nvPr>
        </p:nvSpPr>
        <p:spPr/>
        <p:txBody>
          <a:bodyPr>
            <a:normAutofit fontScale="90000"/>
          </a:bodyPr>
          <a:lstStyle/>
          <a:p>
            <a:r>
              <a:rPr lang="en-US" dirty="0"/>
              <a:t>THE BUXHEIM ST. CHRISTOPHER</a:t>
            </a:r>
            <a:br>
              <a:rPr lang="en-US" dirty="0"/>
            </a:br>
            <a:r>
              <a:rPr lang="en-US" dirty="0"/>
              <a:t>Mid 15th century. Hand-colored woodcut, 11-3/8</a:t>
            </a:r>
            <a:r>
              <a:rPr lang="ru-RU" dirty="0"/>
              <a:t>"</a:t>
            </a:r>
            <a:r>
              <a:rPr lang="en-US" dirty="0"/>
              <a:t> × 8-1/8</a:t>
            </a:r>
            <a:r>
              <a:rPr lang="ru-RU" dirty="0"/>
              <a:t>"</a:t>
            </a:r>
            <a:r>
              <a:rPr lang="en-US" dirty="0"/>
              <a:t> (28.85 × 20.7 cm).</a:t>
            </a:r>
            <a:br>
              <a:rPr lang="en-US" dirty="0"/>
            </a:br>
            <a:r>
              <a:rPr lang="en-US" dirty="0"/>
              <a:t>Private collection. © Fine Art Images/</a:t>
            </a:r>
            <a:r>
              <a:rPr lang="en-US" dirty="0" err="1"/>
              <a:t>Archivi</a:t>
            </a:r>
            <a:r>
              <a:rPr lang="en-US" dirty="0"/>
              <a:t> </a:t>
            </a:r>
            <a:r>
              <a:rPr lang="en-US" dirty="0" err="1"/>
              <a:t>Alinari</a:t>
            </a:r>
            <a:r>
              <a:rPr lang="en-US" dirty="0"/>
              <a:t>, Firenze.</a:t>
            </a:r>
          </a:p>
        </p:txBody>
      </p:sp>
      <p:pic>
        <p:nvPicPr>
          <p:cNvPr id="2" name="Picture 1" descr="Saint Christopher is depicted in hierarchical scale, using a tall tree as a walking stick as he crosses a river. The Christ Child on his shoulder has a cruciform halo and carries an orb with a cross atop i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p:cNvSpPr>
            <a:spLocks noGrp="1"/>
          </p:cNvSpPr>
          <p:nvPr>
            <p:ph type="title"/>
          </p:nvPr>
        </p:nvSpPr>
        <p:spPr/>
        <p:txBody>
          <a:bodyPr/>
          <a:lstStyle/>
          <a:p>
            <a:r>
              <a:rPr lang="en-US"/>
              <a:t>The Graphic Arts (3 of 3)</a:t>
            </a:r>
          </a:p>
        </p:txBody>
      </p:sp>
      <p:sp>
        <p:nvSpPr>
          <p:cNvPr id="128002" name="Content Placeholder 2"/>
          <p:cNvSpPr>
            <a:spLocks noGrp="1"/>
          </p:cNvSpPr>
          <p:nvPr>
            <p:ph idx="1"/>
          </p:nvPr>
        </p:nvSpPr>
        <p:spPr/>
        <p:txBody>
          <a:bodyPr/>
          <a:lstStyle/>
          <a:p>
            <a:r>
              <a:rPr lang="en-US"/>
              <a:t>Martin Schongauer</a:t>
            </a:r>
          </a:p>
          <a:p>
            <a:pPr lvl="1"/>
            <a:r>
              <a:rPr lang="en-US"/>
              <a:t>Schongauer learned the technique from his father and produced </a:t>
            </a:r>
            <a:r>
              <a:rPr lang="en-US" i="1"/>
              <a:t>The Temptations of St. Anthony</a:t>
            </a:r>
            <a:r>
              <a:rPr lang="en-US"/>
              <a:t>.</a:t>
            </a:r>
          </a:p>
          <a:p>
            <a:pPr lvl="1"/>
            <a:r>
              <a:rPr lang="en-US"/>
              <a:t>The moment is presented as a horrifying assault, but the saint shows no sign of torment due to his inner focus.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3"/>
          <p:cNvSpPr>
            <a:spLocks noGrp="1"/>
          </p:cNvSpPr>
          <p:nvPr>
            <p:ph type="title"/>
          </p:nvPr>
        </p:nvSpPr>
        <p:spPr/>
        <p:txBody>
          <a:bodyPr>
            <a:normAutofit fontScale="90000"/>
          </a:bodyPr>
          <a:lstStyle/>
          <a:p>
            <a:r>
              <a:rPr lang="en-US" dirty="0"/>
              <a:t>Martin Schongauer THE TEMPTATIONS OF ST. ANTHONY</a:t>
            </a:r>
            <a:br>
              <a:rPr lang="en-US" dirty="0"/>
            </a:br>
            <a:r>
              <a:rPr lang="en-US" dirty="0"/>
              <a:t>c. 1470–1480. Engraving, 12-1/4</a:t>
            </a:r>
            <a:r>
              <a:rPr lang="ru-RU" dirty="0"/>
              <a:t>"</a:t>
            </a:r>
            <a:r>
              <a:rPr lang="en-US" dirty="0"/>
              <a:t> × 9</a:t>
            </a:r>
            <a:r>
              <a:rPr lang="ru-RU" dirty="0"/>
              <a:t>"</a:t>
            </a:r>
            <a:r>
              <a:rPr lang="en-US" dirty="0"/>
              <a:t> (31.1 × 22.9 cm).</a:t>
            </a:r>
            <a:br>
              <a:rPr lang="en-US" dirty="0"/>
            </a:br>
            <a:r>
              <a:rPr lang="en-US" dirty="0"/>
              <a:t>Metropolitan Museum of Art, New York. Rogers Fund, 1920 (20.5.2). © 2016. Image copyright The Metropolitan Museum of Art/Art Resource/Scala, Florence.</a:t>
            </a:r>
          </a:p>
        </p:txBody>
      </p:sp>
      <p:pic>
        <p:nvPicPr>
          <p:cNvPr id="2" name="Picture 1" descr="Nightmarish monsters, resembling improbable combinations of creatures from the land, sea, and air, attack the robed Saint Anthony. He is bowed by their weight, but closes his eyes, and ignores the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p:txBody>
          <a:bodyPr/>
          <a:lstStyle/>
          <a:p>
            <a:r>
              <a:rPr lang="en-US"/>
              <a:t>Printed Books (1 of 2)</a:t>
            </a:r>
          </a:p>
        </p:txBody>
      </p:sp>
      <p:sp>
        <p:nvSpPr>
          <p:cNvPr id="131074" name="Content Placeholder 2"/>
          <p:cNvSpPr>
            <a:spLocks noGrp="1"/>
          </p:cNvSpPr>
          <p:nvPr>
            <p:ph idx="1"/>
          </p:nvPr>
        </p:nvSpPr>
        <p:spPr/>
        <p:txBody>
          <a:bodyPr/>
          <a:lstStyle/>
          <a:p>
            <a:r>
              <a:rPr lang="en-US"/>
              <a:t>The use of woodcuts for printmaking began to replace written manuscripts.</a:t>
            </a:r>
          </a:p>
          <a:p>
            <a:r>
              <a:rPr lang="en-US"/>
              <a:t>Movable-type printing was achieved with the Gutenberg press.</a:t>
            </a:r>
          </a:p>
          <a:p>
            <a:pPr lvl="1"/>
            <a:r>
              <a:rPr lang="en-US"/>
              <a:t>This allowed for a number of identical books to be made concurrently.</a:t>
            </a:r>
          </a:p>
          <a:p>
            <a:r>
              <a:rPr lang="en-US"/>
              <a:t>Rapid spread of these texts enhanced intellectual and spiritual life across Europe.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le 1"/>
          <p:cNvSpPr>
            <a:spLocks noGrp="1"/>
          </p:cNvSpPr>
          <p:nvPr>
            <p:ph type="title"/>
          </p:nvPr>
        </p:nvSpPr>
        <p:spPr/>
        <p:txBody>
          <a:bodyPr/>
          <a:lstStyle/>
          <a:p>
            <a:r>
              <a:rPr lang="en-US"/>
              <a:t>Printed Books (2 of 2)</a:t>
            </a:r>
          </a:p>
        </p:txBody>
      </p:sp>
      <p:sp>
        <p:nvSpPr>
          <p:cNvPr id="132098" name="Content Placeholder 2"/>
          <p:cNvSpPr>
            <a:spLocks noGrp="1"/>
          </p:cNvSpPr>
          <p:nvPr>
            <p:ph idx="1"/>
          </p:nvPr>
        </p:nvSpPr>
        <p:spPr/>
        <p:txBody>
          <a:bodyPr/>
          <a:lstStyle/>
          <a:p>
            <a:r>
              <a:rPr lang="en-US"/>
              <a:t>The </a:t>
            </a:r>
            <a:r>
              <a:rPr lang="en-US" i="1"/>
              <a:t>Nuremburg Chronicle</a:t>
            </a:r>
          </a:p>
          <a:p>
            <a:pPr lvl="1"/>
            <a:r>
              <a:rPr lang="en-US"/>
              <a:t>The </a:t>
            </a:r>
            <a:r>
              <a:rPr lang="en-US" i="1"/>
              <a:t>Nuremburg Chronicle </a:t>
            </a:r>
            <a:r>
              <a:rPr lang="en-US"/>
              <a:t>was published in 1493 and contained 1,809 woodcut illustrations.</a:t>
            </a:r>
          </a:p>
          <a:p>
            <a:pPr lvl="1"/>
            <a:r>
              <a:rPr lang="en-US"/>
              <a:t>The panoramic </a:t>
            </a:r>
            <a:r>
              <a:rPr lang="en-US" i="1"/>
              <a:t>City of Nuremburg </a:t>
            </a:r>
            <a:r>
              <a:rPr lang="en-US"/>
              <a:t>spread was painted by hand with color to enhance its appeal.</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3"/>
          <p:cNvSpPr>
            <a:spLocks noGrp="1"/>
          </p:cNvSpPr>
          <p:nvPr>
            <p:ph type="title"/>
          </p:nvPr>
        </p:nvSpPr>
        <p:spPr>
          <a:xfrm>
            <a:off x="457200" y="5715000"/>
            <a:ext cx="8229600" cy="685800"/>
          </a:xfrm>
        </p:spPr>
        <p:txBody>
          <a:bodyPr>
            <a:normAutofit fontScale="90000"/>
          </a:bodyPr>
          <a:lstStyle/>
          <a:p>
            <a:r>
              <a:rPr lang="en-US" dirty="0"/>
              <a:t>Michael </a:t>
            </a:r>
            <a:r>
              <a:rPr lang="en-US" dirty="0" err="1"/>
              <a:t>Wolgemut</a:t>
            </a:r>
            <a:r>
              <a:rPr lang="en-US" dirty="0"/>
              <a:t>, Wilhelm </a:t>
            </a:r>
            <a:r>
              <a:rPr lang="en-US" dirty="0" err="1"/>
              <a:t>Pleydenwurff</a:t>
            </a:r>
            <a:r>
              <a:rPr lang="en-US" dirty="0"/>
              <a:t>, and workshop THE CITY OF NUREMBERG</a:t>
            </a:r>
            <a:br>
              <a:rPr lang="en-US" dirty="0"/>
            </a:br>
            <a:r>
              <a:rPr lang="en-US" i="1" dirty="0"/>
              <a:t>Nuremberg Chronicle</a:t>
            </a:r>
            <a:r>
              <a:rPr lang="en-US" dirty="0"/>
              <a:t>, published by Anton </a:t>
            </a:r>
            <a:r>
              <a:rPr lang="en-US" dirty="0" err="1"/>
              <a:t>Koberger</a:t>
            </a:r>
            <a:r>
              <a:rPr lang="en-US" dirty="0"/>
              <a:t> in 1493.</a:t>
            </a:r>
            <a:br>
              <a:rPr lang="en-US" dirty="0"/>
            </a:br>
            <a:r>
              <a:rPr lang="en-US" dirty="0"/>
              <a:t>Woodcut within a printed book, hand-colored after printing,</a:t>
            </a:r>
            <a:br>
              <a:rPr lang="en-US" dirty="0"/>
            </a:br>
            <a:r>
              <a:rPr lang="en-US" dirty="0"/>
              <a:t>each page 18-1/2</a:t>
            </a:r>
            <a:r>
              <a:rPr lang="ru-RU" dirty="0"/>
              <a:t>"</a:t>
            </a:r>
            <a:r>
              <a:rPr lang="en-US" dirty="0"/>
              <a:t> × 12-3/4</a:t>
            </a:r>
            <a:r>
              <a:rPr lang="ru-RU" dirty="0"/>
              <a:t>"</a:t>
            </a:r>
            <a:r>
              <a:rPr lang="en-US" dirty="0"/>
              <a:t> (47 × 32.4 cm).</a:t>
            </a:r>
            <a:br>
              <a:rPr lang="en-US" dirty="0"/>
            </a:br>
            <a:r>
              <a:rPr lang="en-US" dirty="0"/>
              <a:t>Staatliche </a:t>
            </a:r>
            <a:r>
              <a:rPr lang="en-US" dirty="0" err="1"/>
              <a:t>Museen</a:t>
            </a:r>
            <a:r>
              <a:rPr lang="en-US" dirty="0"/>
              <a:t> </a:t>
            </a:r>
            <a:r>
              <a:rPr lang="en-US" dirty="0" err="1"/>
              <a:t>zu</a:t>
            </a:r>
            <a:r>
              <a:rPr lang="en-US" dirty="0"/>
              <a:t> Berlin.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a:t>
            </a:r>
          </a:p>
        </p:txBody>
      </p:sp>
      <p:pic>
        <p:nvPicPr>
          <p:cNvPr id="2" name="Picture 1" descr="The double-walled city of Nuremburg is built on a hill, rising above farmland. Pennants fly above its many towe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1524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2822</TotalTime>
  <Words>5759</Words>
  <Application>Microsoft Office PowerPoint</Application>
  <PresentationFormat>On-screen Show (4:3)</PresentationFormat>
  <Paragraphs>280</Paragraphs>
  <Slides>76</Slides>
  <Notes>33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76</vt:i4>
      </vt:variant>
    </vt:vector>
  </HeadingPairs>
  <TitlesOfParts>
    <vt:vector size="81" baseType="lpstr">
      <vt:lpstr>Arial</vt:lpstr>
      <vt:lpstr>Verdana</vt:lpstr>
      <vt:lpstr>Wingdings</vt:lpstr>
      <vt:lpstr>508 Lecture</vt:lpstr>
      <vt:lpstr>Custom Design</vt:lpstr>
      <vt:lpstr>Chapter 14</vt:lpstr>
      <vt:lpstr>Learning Objectives </vt:lpstr>
      <vt:lpstr>Jan van Eyck DOUBLE PORTRAIT OF GIOVANNI ARNOLFINI AND HIS WIFE 1434. Oil on wood panel, 33" × 22-1/2" (83.8 × 57.2 cm). The National Gallery, London. © 2016. Copyright The National Gallery, London/Scala, Florence</vt:lpstr>
      <vt:lpstr>The Northern Renaissance</vt:lpstr>
      <vt:lpstr>FIFTEENTH-CENTURY NORTHERN EUROPE The dukes of Burgundy—whose territory included much of present-day Belgium and Luxembourg, the Netherlands, and eastern France—became the cultural and political leaders of western Europe. Their major cities of Bruges (Belgium) and Dijon (France) were centers of art and industry as well as politics.</vt:lpstr>
      <vt:lpstr>Art for the French Ducal Courts</vt:lpstr>
      <vt:lpstr>Painting and Sculpture for the Chartreuse de Champmol (1 of 2)</vt:lpstr>
      <vt:lpstr>Melchior Broederlam ANNUNCIATION, VISITATION, PRESENTATION IN THE TEMPLE, AND FLIGHT INTO EGYPT Exterior of the wings of the altarpiece of the Chartreuse de Champmol. 1393–1399. Oil on wood panel, 5'5-3/4" × 4'1-1/4" (1.67 × 1.25 m). Musée des Beaux-Arts, Dijon. © akg-images/Erich Lessing.</vt:lpstr>
      <vt:lpstr>Art and Its Contexts: Alters and Alterpieces</vt:lpstr>
      <vt:lpstr>ART AND ITS CONTEXTS: Altars and Alterpieces Kathy Mrozek</vt:lpstr>
      <vt:lpstr>Painting and Sculpture for the Chartreuse de Champmol (2 of 2)</vt:lpstr>
      <vt:lpstr>Claus Sluter WELL OF MOSES, DETAIL OF MOSES AND DAVID The Chartreuse de Champmol, Dijon, France. 1395–1406. Limestone with traces of paint, height of figures about 5'8" (1.69 m). © Paul M.R. Maeyaert. </vt:lpstr>
      <vt:lpstr>Manuscript Illumination (1 of 4)</vt:lpstr>
      <vt:lpstr>PAGE WITH A MINIATURE PAINTING  OF THAMYRIS From Giovanni Boccaccio's De Claris Mulieribus (Concerning Famous Women). 1402. Ink and tempera on vellum, 14 × 91⁄2″ (35.5 × 24 cm). Bibliothèque Nationale, Paris.  Bibliothèque Nationale de France, Paris. </vt:lpstr>
      <vt:lpstr>Manuscript Illumination (2 of 4)</vt:lpstr>
      <vt:lpstr>Paul, Herman, and Jean Limbourg FEBRUARY: LIFE IN THE COUNTRY, TRÈS RICHES HEURES 1411–1416. Colors and ink on parchment, 11-3/8" × 8-1/4" (29 × 21 cm). Musée Condé, Chantilly, France. Photo © RMN-Grand Palais/René-Gabriel Ojéda.</vt:lpstr>
      <vt:lpstr>Manuscript Illumination (3 of 4)</vt:lpstr>
      <vt:lpstr>Paul, Herman, and Jean Limbourg JANUARY: THE DUKE OF BERRY AT TABLE, TRÈS RICHES HEURES 1411–1416. Colors and ink on parchment, 11-3/8" × 8-1/4" (29 × 21 cm). Musée Condé, Chantilly, France. Photo © RMN-Grand Palais/René-Gabriel Ojéda.</vt:lpstr>
      <vt:lpstr>Manuscript Illumination (4 of 4)</vt:lpstr>
      <vt:lpstr>Mary of Burgundy Painter MARY AT HER DEVOTIONS, HOURS OF MARY OF BURGUNDY Before 1482. Colors and ink on parchment, size of image 7 1/2" × 5 1/4" (19.1 × 13.3 cm). Österreichische Nationalbibliothek, Vienna. © 2016. DeAgostini Picture Libary/Scala, Florence.</vt:lpstr>
      <vt:lpstr>Textiles (1 of 3)</vt:lpstr>
      <vt:lpstr>Textiles (2 of 3)</vt:lpstr>
      <vt:lpstr>UNICORN IS FOUND AT THE FOUNTAIN From the Hunt of the Unicorn tapestry series. c. 1495–1505. Wool, silk, and silver- and gilt-wrapped thread (13-21 warp threads per inch), 12'1" × 12'5" (3.68 × 3.78 m). Metropolitan Museum of Art, New York. Gift of John D. Rockefeller Jr., The Cloisters Collection, 1937 (37.80.2). © 2016. Image copyright The Metropolitan Museum of Art/Art Resource/Scala, Florence. </vt:lpstr>
      <vt:lpstr>Textiles (3 of 3)</vt:lpstr>
      <vt:lpstr>COPE OF THE ORDER OF THE GOLDEN FLEECE Flemish. Mid 15th century. Cloth with gold and colored silk embroidery, 5'4-9/16" × 10'9-5/16" (1.64 × 3.3 m). Imperial Treasury, Vienna. © KHM-Museumsverband. </vt:lpstr>
      <vt:lpstr>Technique: Oil Painting</vt:lpstr>
      <vt:lpstr>Painting in Flanders</vt:lpstr>
      <vt:lpstr>The Master of Flémalle (1 of 2)</vt:lpstr>
      <vt:lpstr>The Master of Flémalle (2 of 2)</vt:lpstr>
      <vt:lpstr>Workshop of the Master of Flémalle MÉRODE ALTARPIECE (TRIPTYCH OF THE ANNUNCIATION) (OPEN) c. 1425–1430s. Oil on wood panel, center 25-1/4" × 24-7/8" (64.1 × 63.2 cm); each wing approx. 25-3/8" × 10-3/4" (64.5 × 27.6 cm). Metropolitan Museum of Art, New York. The Cloisters Collection, 1956 (56.70). © 2016. Image copyright The Metropolitan Museum of Art/Art Resource/Scala, Florence. </vt:lpstr>
      <vt:lpstr>Workshop of the Master of Flémalle A FLEMISH CITY Detail of the right wing of the Mérode Altarpiece (FIG. 19-10). © 2016. Image copyright The Metropolitan Museum of Art/Art Resource/Scala, Florence.</vt:lpstr>
      <vt:lpstr>Jan van Eyck (1 of 3)</vt:lpstr>
      <vt:lpstr>Jan van Eyck MAN IN A RED TURBAN 1433. Oil on wood panel, 13-1/8" × 10-1/4" (33.3 × 25.8 cm). National Gallery, London. © 2016. Copyright Scala, Florence. </vt:lpstr>
      <vt:lpstr>Jan van Eyck (2 of 3) </vt:lpstr>
      <vt:lpstr>Jan and Hubert (?) van Eyck GHENT ALTARPIECE (OPEN), ADORATION OF THE MYSTIC LAMB Completed 1432. Oil on panel, 11'5-3/4" × 15'1-1/2" (3.5 × 4.6 m). Cathedral of St. Bavo, Ghent. © akg-images/Erich Lessing. </vt:lpstr>
      <vt:lpstr>Jan and Hubert (?) van Eyck GHENT ALTARPIECE (CLOSED), ANNUNCIATION WITH DONORS Completed 1432. Oil on panel, height 11'5" (3.48 m). Cathedral of St. Bavo, Ghent. © akg-images/Erich Lessing</vt:lpstr>
      <vt:lpstr>Jan van Eyck (3 of 3)</vt:lpstr>
      <vt:lpstr>Rogier van der Weyden (1 of 2)</vt:lpstr>
      <vt:lpstr>Rogier van der Weyden DEPOSITION From an altarpiece commissioned by the crossbowmen's guild, Louvain, Belgium. Before 1443, possibly c. 1435–1438. Oil on wood panel, 7'2-5/8" × 8'7-1/8" (2.2 × 2.62 m). Museo del Prado, Madrid. © 2016. Image Copyright Museo Nacional del Prado. © Photo MNP/Scala, Florence. </vt:lpstr>
      <vt:lpstr>Rogier van der Weyden (2 of 2)</vt:lpstr>
      <vt:lpstr>Rogier van der Weyden ST. LUKE DRAWING THE VIRGIN AND CHILD c. 1435–1440. Oil and tempera on wood panel, 54-1/4" × 43-5/8" (137.7 × 110.8 cm). Museum of Fine Arts, Boston. Photograph © 2017 Museum of Fine Arts, Boston. </vt:lpstr>
      <vt:lpstr>Painting at Mid Century: The Second Generation (1 of 3)</vt:lpstr>
      <vt:lpstr>Painting at Mid Century: The Second Generation (2 of 3)</vt:lpstr>
      <vt:lpstr>A CLOSER LOOK: A Goldsmith in his Shop by Petrus Christus 1449. Oil on oak panel, 38-5/8 × 33-1/2" (98 × 85 cm). Metropolitan Museum of Art, New York. Robert Lehman Collection, 1975. 1975.1.110. © 2016. Image copyright The Metropolitan Museum of Art/Art Resource/Scala, Florence. </vt:lpstr>
      <vt:lpstr>Painting at Mid Century: The Second Generation (3 of 3)</vt:lpstr>
      <vt:lpstr>Dieric Bouts VIRGIN AND CHILD c. 1455–1460. Oil on wood panel, 8-1/2" × 6-1/2" (21.6 × 16.5 cm). Metropolitan Museum of Art, New York. © 2016. Image copyright The Metropolitan Museum of Art/Art Resource/Scala, Florence. </vt:lpstr>
      <vt:lpstr>Hugo van der Goes and Hans Memling (1 of 3)</vt:lpstr>
      <vt:lpstr>Hugo van der Goes PORTINARI ALTARPIECE (OPEN) c. 1474–1476. Tempera and oil on wood panel; center 8'3-1/2" × 10' (2.53 × 3.01 m), wings each 8'3-1/2" × 4'7-1/2" (2.53 × 1.41 m). Galleria degli Uffizi, Florence. © Studio Fotografico Quattrone, Florence.</vt:lpstr>
      <vt:lpstr>Hugo van der Goes and Hans Memling (2 of 3)</vt:lpstr>
      <vt:lpstr>Hans Memling DIPTYCH OF MAARTEN VAN NIEUWENHOVE 1487. Oil on wood panel, each panel (including frames) 20-1/2" × 16-1/4" (52 × 41.5 cm). Hans Memling Museum, Musea Brugge, Sint-Jans Hospital, Bruges. © akg-images/Erich Lessing. </vt:lpstr>
      <vt:lpstr>Hugo van der Goes and Hans Memling (3 of 3)</vt:lpstr>
      <vt:lpstr>France</vt:lpstr>
      <vt:lpstr>Jean Fouquet and Jean Hey (1 of 3)</vt:lpstr>
      <vt:lpstr>Jean Fouquet ÉTIENNE CHEVALIER AND ST. STEPHEN, VIRGIN AND CHILD The Melun Diptych. c. 1452–1455. Oil on oak panel. Left wing: 36-1/2" × 33-1/2" (92.7 × 85.5 cm), Staatliche Museen zu Berlin, Preussischer Kulturbesitz, Gemäldegalerie. ; right wing: 37-1/4 × 33-1/2" (94.5 × 85.5 cm), Koninklijk Museum voor Schone Kunsten, Antwerp, Belgium. © 2016. Photo Scala, Florence/bpk, Bildagentur für Kunst, Kultur und Geschichte, Berlin</vt:lpstr>
      <vt:lpstr>Jean Fouquet and Jean Hey (2 of 3)</vt:lpstr>
      <vt:lpstr>Jean Fouquet and Jean Hey (3 of 3)</vt:lpstr>
      <vt:lpstr>Jean Hey (The Master of Moulins) PORTRAIT OF MARGARET OF AUSTRIA c. 1490. Oil on wood panel, 12-7/8" × 9-1/8" (32.7 × 23 cm). Metropolitan Museum of Art, New York. Robert Lehman Collection. © 2016. Image copyright Resource/Scala, Florence. </vt:lpstr>
      <vt:lpstr>Flamboyant Architecture</vt:lpstr>
      <vt:lpstr>Pierre Robin (?) CHURCH OF SAINT-MACLOU, ROUEN Normandy, France. West façade, 1432–1521; façade c. 1500–1514 © Achim Bednorz, Cologne.</vt:lpstr>
      <vt:lpstr>PLAN OF JACQUES COEUR HOUSE Bourges, France. 1443–1451.</vt:lpstr>
      <vt:lpstr>INTERIOR COURTYARD OF JACQUES COEUR HOUSE Bourges, France. 1443–1451. © Hervé Champollion/akg-images. </vt:lpstr>
      <vt:lpstr>The Germanic Lands</vt:lpstr>
      <vt:lpstr>Painting and Sculpture (1 of 2)</vt:lpstr>
      <vt:lpstr>Konrad Witz MIRACULOUS DRAFT OF FISHES From an altarpiece for the Cathedral of St. Peter, Geneva, Switzerland. 1444. Oil on wood panel, 4'3" × 5'1" (1.29 × 1.55 m). Musée d'Art et d'Histoire, Geneva. © Musée d'art et d'histoire, Ville de Genève. Photo: Flora Bevilacqua.</vt:lpstr>
      <vt:lpstr>Painting and Sculpture (2 of 2)</vt:lpstr>
      <vt:lpstr>Michael Pacher ST. WOLFGANG ALTARPIECE Church of St. Wolfgang, Austria. 1471–1481. Carved, painted, and gilt wood; wings are oil on wood panel. © akg-images/Erich Lessing. </vt:lpstr>
      <vt:lpstr>Technique: Woodcuts and Engravings on Metal</vt:lpstr>
      <vt:lpstr>TECHNIQUE: Woodcuts and Engravings of Metal</vt:lpstr>
      <vt:lpstr>The Graphic Arts (1 of 3)</vt:lpstr>
      <vt:lpstr>The Graphic Arts (2 of 3)</vt:lpstr>
      <vt:lpstr>THE BUXHEIM ST. CHRISTOPHER Mid 15th century. Hand-colored woodcut, 11-3/8" × 8-1/8" (28.85 × 20.7 cm). Private collection. © Fine Art Images/Archivi Alinari, Firenze.</vt:lpstr>
      <vt:lpstr>The Graphic Arts (3 of 3)</vt:lpstr>
      <vt:lpstr>Martin Schongauer THE TEMPTATIONS OF ST. ANTHONY c. 1470–1480. Engraving, 12-1/4" × 9" (31.1 × 22.9 cm). Metropolitan Museum of Art, New York. Rogers Fund, 1920 (20.5.2). © 2016. Image copyright The Metropolitan Museum of Art/Art Resource/Scala, Florence.</vt:lpstr>
      <vt:lpstr>Printed Books (1 of 2)</vt:lpstr>
      <vt:lpstr>Printed Books (2 of 2)</vt:lpstr>
      <vt:lpstr>Michael Wolgemut, Wilhelm Pleydenwurff, and workshop THE CITY OF NUREMBERG Nuremberg Chronicle, published by Anton Koberger in 1493. Woodcut within a printed book, hand-colored after printing, each page 18-1/2" × 12-3/4" (47 × 32.4 cm). Staatliche Museen zu Berlin. © 2016. Photo Scala, Florence/bpk, Bildagentur für Kunst, Kultur und Geschichte, Berlin.</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197</cp:revision>
  <dcterms:created xsi:type="dcterms:W3CDTF">2016-11-16T19:15:36Z</dcterms:created>
  <dcterms:modified xsi:type="dcterms:W3CDTF">2020-06-19T16:44:21Z</dcterms:modified>
</cp:coreProperties>
</file>