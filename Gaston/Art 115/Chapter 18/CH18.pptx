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82"/>
  </p:notesMasterIdLst>
  <p:handoutMasterIdLst>
    <p:handoutMasterId r:id="rId83"/>
  </p:handoutMasterIdLst>
  <p:sldIdLst>
    <p:sldId id="592" r:id="rId3"/>
    <p:sldId id="507" r:id="rId4"/>
    <p:sldId id="512" r:id="rId5"/>
    <p:sldId id="513" r:id="rId6"/>
    <p:sldId id="514" r:id="rId7"/>
    <p:sldId id="515" r:id="rId8"/>
    <p:sldId id="516" r:id="rId9"/>
    <p:sldId id="517" r:id="rId10"/>
    <p:sldId id="518" r:id="rId11"/>
    <p:sldId id="519" r:id="rId12"/>
    <p:sldId id="520" r:id="rId13"/>
    <p:sldId id="521" r:id="rId14"/>
    <p:sldId id="522" r:id="rId15"/>
    <p:sldId id="523" r:id="rId16"/>
    <p:sldId id="524" r:id="rId17"/>
    <p:sldId id="525" r:id="rId18"/>
    <p:sldId id="526" r:id="rId19"/>
    <p:sldId id="527" r:id="rId20"/>
    <p:sldId id="528" r:id="rId21"/>
    <p:sldId id="529" r:id="rId22"/>
    <p:sldId id="530" r:id="rId23"/>
    <p:sldId id="531" r:id="rId24"/>
    <p:sldId id="532" r:id="rId25"/>
    <p:sldId id="533" r:id="rId26"/>
    <p:sldId id="534" r:id="rId27"/>
    <p:sldId id="535" r:id="rId28"/>
    <p:sldId id="536" r:id="rId29"/>
    <p:sldId id="537" r:id="rId30"/>
    <p:sldId id="538" r:id="rId31"/>
    <p:sldId id="539" r:id="rId32"/>
    <p:sldId id="540" r:id="rId33"/>
    <p:sldId id="541" r:id="rId34"/>
    <p:sldId id="542" r:id="rId35"/>
    <p:sldId id="543" r:id="rId36"/>
    <p:sldId id="544" r:id="rId37"/>
    <p:sldId id="545" r:id="rId38"/>
    <p:sldId id="546" r:id="rId39"/>
    <p:sldId id="547" r:id="rId40"/>
    <p:sldId id="548" r:id="rId41"/>
    <p:sldId id="549" r:id="rId42"/>
    <p:sldId id="550" r:id="rId43"/>
    <p:sldId id="551" r:id="rId44"/>
    <p:sldId id="552" r:id="rId45"/>
    <p:sldId id="553" r:id="rId46"/>
    <p:sldId id="554" r:id="rId47"/>
    <p:sldId id="555" r:id="rId48"/>
    <p:sldId id="556" r:id="rId49"/>
    <p:sldId id="557" r:id="rId50"/>
    <p:sldId id="558" r:id="rId51"/>
    <p:sldId id="559" r:id="rId52"/>
    <p:sldId id="560" r:id="rId53"/>
    <p:sldId id="562" r:id="rId54"/>
    <p:sldId id="561" r:id="rId55"/>
    <p:sldId id="563" r:id="rId56"/>
    <p:sldId id="564" r:id="rId57"/>
    <p:sldId id="565" r:id="rId58"/>
    <p:sldId id="566" r:id="rId59"/>
    <p:sldId id="567" r:id="rId60"/>
    <p:sldId id="568" r:id="rId61"/>
    <p:sldId id="569" r:id="rId62"/>
    <p:sldId id="570" r:id="rId63"/>
    <p:sldId id="571" r:id="rId64"/>
    <p:sldId id="572" r:id="rId65"/>
    <p:sldId id="573" r:id="rId66"/>
    <p:sldId id="574" r:id="rId67"/>
    <p:sldId id="575" r:id="rId68"/>
    <p:sldId id="576" r:id="rId69"/>
    <p:sldId id="577" r:id="rId70"/>
    <p:sldId id="578" r:id="rId71"/>
    <p:sldId id="579" r:id="rId72"/>
    <p:sldId id="580" r:id="rId73"/>
    <p:sldId id="581" r:id="rId74"/>
    <p:sldId id="582" r:id="rId75"/>
    <p:sldId id="583" r:id="rId76"/>
    <p:sldId id="584" r:id="rId77"/>
    <p:sldId id="585" r:id="rId78"/>
    <p:sldId id="586" r:id="rId79"/>
    <p:sldId id="587" r:id="rId80"/>
    <p:sldId id="588"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76" autoAdjust="0"/>
    <p:restoredTop sz="86524" autoAdjust="0"/>
  </p:normalViewPr>
  <p:slideViewPr>
    <p:cSldViewPr>
      <p:cViewPr varScale="1">
        <p:scale>
          <a:sx n="89" d="100"/>
          <a:sy n="89" d="100"/>
        </p:scale>
        <p:origin x="1179" y="66"/>
      </p:cViewPr>
      <p:guideLst>
        <p:guide orient="horz" pos="2160"/>
        <p:guide pos="2880"/>
      </p:guideLst>
    </p:cSldViewPr>
  </p:slideViewPr>
  <p:outlineViewPr>
    <p:cViewPr>
      <p:scale>
        <a:sx n="33" d="100"/>
        <a:sy n="33" d="100"/>
      </p:scale>
      <p:origin x="0" y="-4868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6/19/2020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6/19/2020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noTextEdit="1"/>
          </p:cNvSpPr>
          <p:nvPr>
            <p:ph type="sldImg"/>
          </p:nvPr>
        </p:nvSpPr>
        <p:spPr bwMode="auto">
          <a:noFill/>
          <a:ln>
            <a:solidFill>
              <a:srgbClr val="000000"/>
            </a:solidFill>
            <a:miter lim="800000"/>
            <a:headEnd/>
            <a:tailEnd/>
          </a:ln>
        </p:spPr>
      </p:sp>
      <p:sp>
        <p:nvSpPr>
          <p:cNvPr id="15362" name="Notes Placeholder 2"/>
          <p:cNvSpPr>
            <a:spLocks noGrp="1"/>
          </p:cNvSpPr>
          <p:nvPr>
            <p:ph type="body" idx="1"/>
          </p:nvPr>
        </p:nvSpPr>
        <p:spPr bwMode="auto">
          <a:noFill/>
        </p:spPr>
        <p:txBody>
          <a:bodyPr/>
          <a:lstStyle/>
          <a:p>
            <a:pPr>
              <a:spcBef>
                <a:spcPct val="0"/>
              </a:spcBef>
            </a:pPr>
            <a:r>
              <a:rPr lang="en-US" dirty="0"/>
              <a:t>Albrecht </a:t>
            </a:r>
            <a:r>
              <a:rPr lang="en-US" dirty="0" err="1"/>
              <a:t>Dürer</a:t>
            </a:r>
            <a:r>
              <a:rPr lang="en-US" dirty="0"/>
              <a:t> SELF-PORTRAIT</a:t>
            </a:r>
            <a:br>
              <a:rPr lang="en-US" dirty="0"/>
            </a:br>
            <a:r>
              <a:rPr lang="en-US" dirty="0"/>
              <a:t>1500. Signed </a:t>
            </a:r>
            <a:r>
              <a:rPr lang="ru-RU" dirty="0"/>
              <a:t>"</a:t>
            </a:r>
            <a:r>
              <a:rPr lang="en-US" dirty="0"/>
              <a:t>Albrecht </a:t>
            </a:r>
            <a:r>
              <a:rPr lang="en-US" dirty="0" err="1"/>
              <a:t>Dürer</a:t>
            </a:r>
            <a:r>
              <a:rPr lang="en-US" dirty="0"/>
              <a:t> of Nuremberg</a:t>
            </a:r>
            <a:r>
              <a:rPr lang="is-IS" dirty="0"/>
              <a:t>…</a:t>
            </a:r>
            <a:r>
              <a:rPr lang="en-US" dirty="0"/>
              <a:t>age 28.</a:t>
            </a:r>
            <a:r>
              <a:rPr lang="ru-RU" dirty="0"/>
              <a:t>"</a:t>
            </a:r>
            <a:br>
              <a:rPr lang="en-US" dirty="0"/>
            </a:br>
            <a:r>
              <a:rPr lang="en-US" dirty="0"/>
              <a:t>Oil on wood panel, 26-1/4</a:t>
            </a:r>
            <a:r>
              <a:rPr lang="ru-RU" dirty="0"/>
              <a:t>"</a:t>
            </a:r>
            <a:r>
              <a:rPr lang="en-US" dirty="0"/>
              <a:t> × 19-1/4</a:t>
            </a:r>
            <a:r>
              <a:rPr lang="ru-RU" dirty="0"/>
              <a:t>"</a:t>
            </a:r>
            <a:r>
              <a:rPr lang="en-US" dirty="0"/>
              <a:t> (66.3 × 49 cm).</a:t>
            </a:r>
            <a:br>
              <a:rPr lang="en-US" dirty="0"/>
            </a:br>
            <a:r>
              <a:rPr lang="en-US" dirty="0"/>
              <a:t>Alte </a:t>
            </a:r>
            <a:r>
              <a:rPr lang="en-US" dirty="0" err="1"/>
              <a:t>Pinakothek</a:t>
            </a:r>
            <a:r>
              <a:rPr lang="en-US" dirty="0"/>
              <a:t>, Munich. © 2016.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Berlin. </a:t>
            </a:r>
          </a:p>
        </p:txBody>
      </p:sp>
      <p:sp>
        <p:nvSpPr>
          <p:cNvPr id="15363" name="Slide Number Placeholder 3"/>
          <p:cNvSpPr>
            <a:spLocks noGrp="1"/>
          </p:cNvSpPr>
          <p:nvPr>
            <p:ph type="sldNum" sz="quarter" idx="5"/>
          </p:nvPr>
        </p:nvSpPr>
        <p:spPr bwMode="auto">
          <a:noFill/>
          <a:ln>
            <a:miter lim="800000"/>
            <a:headEnd/>
            <a:tailEnd/>
          </a:ln>
        </p:spPr>
        <p:txBody>
          <a:bodyPr/>
          <a:lstStyle/>
          <a:p>
            <a:fld id="{D4D66D73-CE26-8247-92A2-5F85EEC0FBA9}" type="slidenum">
              <a:rPr lang="en-US"/>
              <a:pPr/>
              <a:t>3</a:t>
            </a:fld>
            <a:endParaRPr lang="en-US"/>
          </a:p>
        </p:txBody>
      </p:sp>
    </p:spTree>
    <p:extLst>
      <p:ext uri="{BB962C8B-B14F-4D97-AF65-F5344CB8AC3E}">
        <p14:creationId xmlns:p14="http://schemas.microsoft.com/office/powerpoint/2010/main" val="1541752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bwMode="auto">
          <a:noFill/>
          <a:ln>
            <a:solidFill>
              <a:srgbClr val="000000"/>
            </a:solidFill>
            <a:miter lim="800000"/>
            <a:headEnd/>
            <a:tailEnd/>
          </a:ln>
        </p:spPr>
      </p:sp>
      <p:sp>
        <p:nvSpPr>
          <p:cNvPr id="18434" name="Notes Placeholder 2"/>
          <p:cNvSpPr>
            <a:spLocks noGrp="1"/>
          </p:cNvSpPr>
          <p:nvPr>
            <p:ph type="body" idx="1"/>
          </p:nvPr>
        </p:nvSpPr>
        <p:spPr bwMode="auto">
          <a:noFill/>
        </p:spPr>
        <p:txBody>
          <a:bodyPr/>
          <a:lstStyle/>
          <a:p>
            <a:pPr>
              <a:spcBef>
                <a:spcPct val="0"/>
              </a:spcBef>
            </a:pPr>
            <a:r>
              <a:rPr lang="en-US" dirty="0"/>
              <a:t>WESTERN EUROPE DURING THE REFORMATION, C. 1560</a:t>
            </a:r>
            <a:br>
              <a:rPr lang="en-US" dirty="0"/>
            </a:br>
            <a:r>
              <a:rPr lang="en-US" dirty="0"/>
              <a:t>Sixteenth-century Europe remained largely Roman Catholic, except in Switzerland and the far north, where the impact of the Protestant Reformation was strongest. </a:t>
            </a:r>
          </a:p>
        </p:txBody>
      </p:sp>
      <p:sp>
        <p:nvSpPr>
          <p:cNvPr id="18435" name="Slide Number Placeholder 3"/>
          <p:cNvSpPr>
            <a:spLocks noGrp="1"/>
          </p:cNvSpPr>
          <p:nvPr>
            <p:ph type="sldNum" sz="quarter" idx="5"/>
          </p:nvPr>
        </p:nvSpPr>
        <p:spPr bwMode="auto">
          <a:noFill/>
          <a:ln>
            <a:miter lim="800000"/>
            <a:headEnd/>
            <a:tailEnd/>
          </a:ln>
        </p:spPr>
        <p:txBody>
          <a:bodyPr/>
          <a:lstStyle/>
          <a:p>
            <a:fld id="{9FD86EA4-2503-0943-9850-D06E915C034A}" type="slidenum">
              <a:rPr lang="en-US"/>
              <a:pPr/>
              <a:t>5</a:t>
            </a:fld>
            <a:endParaRPr lang="en-US"/>
          </a:p>
        </p:txBody>
      </p:sp>
    </p:spTree>
    <p:extLst>
      <p:ext uri="{BB962C8B-B14F-4D97-AF65-F5344CB8AC3E}">
        <p14:creationId xmlns:p14="http://schemas.microsoft.com/office/powerpoint/2010/main" val="695977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noTextEdit="1"/>
          </p:cNvSpPr>
          <p:nvPr>
            <p:ph type="sldImg"/>
          </p:nvPr>
        </p:nvSpPr>
        <p:spPr bwMode="auto">
          <a:noFill/>
          <a:ln>
            <a:solidFill>
              <a:srgbClr val="000000"/>
            </a:solidFill>
            <a:miter lim="800000"/>
            <a:headEnd/>
            <a:tailEnd/>
          </a:ln>
        </p:spPr>
      </p:sp>
      <p:sp>
        <p:nvSpPr>
          <p:cNvPr id="21506" name="Notes Placeholder 2"/>
          <p:cNvSpPr>
            <a:spLocks noGrp="1"/>
          </p:cNvSpPr>
          <p:nvPr>
            <p:ph type="body" idx="1"/>
          </p:nvPr>
        </p:nvSpPr>
        <p:spPr bwMode="auto">
          <a:noFill/>
        </p:spPr>
        <p:txBody>
          <a:bodyPr/>
          <a:lstStyle/>
          <a:p>
            <a:pPr>
              <a:spcBef>
                <a:spcPct val="0"/>
              </a:spcBef>
            </a:pPr>
            <a:r>
              <a:rPr lang="en-US" dirty="0"/>
              <a:t>APPLE CUP</a:t>
            </a:r>
            <a:br>
              <a:rPr lang="en-US" dirty="0"/>
            </a:br>
            <a:r>
              <a:rPr lang="en-US" dirty="0"/>
              <a:t>c. 1510–1515. Gilt silver, height 8-1/2</a:t>
            </a:r>
            <a:r>
              <a:rPr lang="ru-RU" dirty="0"/>
              <a:t>"</a:t>
            </a:r>
            <a:r>
              <a:rPr lang="en-US" dirty="0"/>
              <a:t> (21.5 cm).</a:t>
            </a:r>
            <a:br>
              <a:rPr lang="en-US" dirty="0"/>
            </a:br>
            <a:r>
              <a:rPr lang="en-US" dirty="0" err="1"/>
              <a:t>Germanisches</a:t>
            </a:r>
            <a:r>
              <a:rPr lang="en-US" dirty="0"/>
              <a:t> </a:t>
            </a:r>
            <a:r>
              <a:rPr lang="en-US" dirty="0" err="1"/>
              <a:t>Nationalmuseum</a:t>
            </a:r>
            <a:r>
              <a:rPr lang="en-US" dirty="0"/>
              <a:t>, Nuremberg. © 2016. Photo Scala, Florence. </a:t>
            </a:r>
          </a:p>
        </p:txBody>
      </p:sp>
      <p:sp>
        <p:nvSpPr>
          <p:cNvPr id="21507" name="Slide Number Placeholder 3"/>
          <p:cNvSpPr>
            <a:spLocks noGrp="1"/>
          </p:cNvSpPr>
          <p:nvPr>
            <p:ph type="sldNum" sz="quarter" idx="5"/>
          </p:nvPr>
        </p:nvSpPr>
        <p:spPr bwMode="auto">
          <a:noFill/>
          <a:ln>
            <a:miter lim="800000"/>
            <a:headEnd/>
            <a:tailEnd/>
          </a:ln>
        </p:spPr>
        <p:txBody>
          <a:bodyPr/>
          <a:lstStyle/>
          <a:p>
            <a:fld id="{58550240-BDCE-9448-8F20-A8A16FDC63B6}" type="slidenum">
              <a:rPr lang="en-US"/>
              <a:pPr/>
              <a:t>7</a:t>
            </a:fld>
            <a:endParaRPr lang="en-US"/>
          </a:p>
        </p:txBody>
      </p:sp>
    </p:spTree>
    <p:extLst>
      <p:ext uri="{BB962C8B-B14F-4D97-AF65-F5344CB8AC3E}">
        <p14:creationId xmlns:p14="http://schemas.microsoft.com/office/powerpoint/2010/main" val="656499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p:cNvSpPr>
            <a:spLocks noGrp="1" noRot="1" noChangeAspect="1" noTextEdit="1"/>
          </p:cNvSpPr>
          <p:nvPr>
            <p:ph type="sldImg"/>
          </p:nvPr>
        </p:nvSpPr>
        <p:spPr bwMode="auto">
          <a:noFill/>
          <a:ln>
            <a:solidFill>
              <a:srgbClr val="000000"/>
            </a:solidFill>
            <a:miter lim="800000"/>
            <a:headEnd/>
            <a:tailEnd/>
          </a:ln>
        </p:spPr>
      </p:sp>
      <p:sp>
        <p:nvSpPr>
          <p:cNvPr id="25602" name="Notes Placeholder 2"/>
          <p:cNvSpPr>
            <a:spLocks noGrp="1"/>
          </p:cNvSpPr>
          <p:nvPr>
            <p:ph type="body" idx="1"/>
          </p:nvPr>
        </p:nvSpPr>
        <p:spPr bwMode="auto">
          <a:noFill/>
        </p:spPr>
        <p:txBody>
          <a:bodyPr/>
          <a:lstStyle/>
          <a:p>
            <a:pPr>
              <a:spcBef>
                <a:spcPct val="0"/>
              </a:spcBef>
            </a:pPr>
            <a:r>
              <a:rPr lang="en-US" dirty="0"/>
              <a:t>Tilman </a:t>
            </a:r>
            <a:r>
              <a:rPr lang="en-US" dirty="0" err="1"/>
              <a:t>Riemenschneider</a:t>
            </a:r>
            <a:r>
              <a:rPr lang="en-US" dirty="0"/>
              <a:t> ALTARPIECE OF THE HOLY BLOOD (OPEN)</a:t>
            </a:r>
            <a:br>
              <a:rPr lang="en-US" dirty="0"/>
            </a:br>
            <a:r>
              <a:rPr lang="en-US" dirty="0"/>
              <a:t>Sankt </a:t>
            </a:r>
            <a:r>
              <a:rPr lang="en-US" dirty="0" err="1"/>
              <a:t>Jakobskirche</a:t>
            </a:r>
            <a:r>
              <a:rPr lang="en-US" dirty="0"/>
              <a:t> (church of St. James), </a:t>
            </a:r>
            <a:r>
              <a:rPr lang="en-US" dirty="0" err="1"/>
              <a:t>Rothenburg</a:t>
            </a:r>
            <a:r>
              <a:rPr lang="en-US" dirty="0"/>
              <a:t> </a:t>
            </a:r>
            <a:r>
              <a:rPr lang="en-US" dirty="0" err="1"/>
              <a:t>ob</a:t>
            </a:r>
            <a:r>
              <a:rPr lang="en-US" dirty="0"/>
              <a:t> der Tauber, Germany. Center, </a:t>
            </a:r>
            <a:r>
              <a:rPr lang="en-US" i="1" dirty="0"/>
              <a:t>Last Supper</a:t>
            </a:r>
            <a:r>
              <a:rPr lang="en-US" dirty="0"/>
              <a:t>. c. 1499–1505. Limewood, glass, height of tallest figure 39</a:t>
            </a:r>
            <a:r>
              <a:rPr lang="ru-RU" dirty="0"/>
              <a:t>"</a:t>
            </a:r>
            <a:r>
              <a:rPr lang="en-US" dirty="0"/>
              <a:t> (99.1 cm), height of altar 29</a:t>
            </a:r>
            <a:r>
              <a:rPr lang="uk-UA" dirty="0"/>
              <a:t>'</a:t>
            </a:r>
            <a:r>
              <a:rPr lang="en-US" dirty="0"/>
              <a:t>6</a:t>
            </a:r>
            <a:r>
              <a:rPr lang="ru-RU" dirty="0"/>
              <a:t>"</a:t>
            </a:r>
            <a:r>
              <a:rPr lang="en-US" dirty="0"/>
              <a:t> (9 m). © </a:t>
            </a:r>
            <a:r>
              <a:rPr lang="en-US" dirty="0" err="1"/>
              <a:t>akg</a:t>
            </a:r>
            <a:r>
              <a:rPr lang="en-US" dirty="0"/>
              <a:t>-images/Erich Lessing.</a:t>
            </a:r>
          </a:p>
        </p:txBody>
      </p:sp>
      <p:sp>
        <p:nvSpPr>
          <p:cNvPr id="25603" name="Slide Number Placeholder 3"/>
          <p:cNvSpPr>
            <a:spLocks noGrp="1"/>
          </p:cNvSpPr>
          <p:nvPr>
            <p:ph type="sldNum" sz="quarter" idx="5"/>
          </p:nvPr>
        </p:nvSpPr>
        <p:spPr bwMode="auto">
          <a:noFill/>
          <a:ln>
            <a:miter lim="800000"/>
            <a:headEnd/>
            <a:tailEnd/>
          </a:ln>
        </p:spPr>
        <p:txBody>
          <a:bodyPr/>
          <a:lstStyle/>
          <a:p>
            <a:fld id="{4DB5C5F8-98B0-C546-BFA0-CDE1A6B382AC}" type="slidenum">
              <a:rPr lang="en-US"/>
              <a:pPr/>
              <a:t>10</a:t>
            </a:fld>
            <a:endParaRPr lang="en-US"/>
          </a:p>
        </p:txBody>
      </p:sp>
    </p:spTree>
    <p:extLst>
      <p:ext uri="{BB962C8B-B14F-4D97-AF65-F5344CB8AC3E}">
        <p14:creationId xmlns:p14="http://schemas.microsoft.com/office/powerpoint/2010/main" val="14824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noTextEdit="1"/>
          </p:cNvSpPr>
          <p:nvPr>
            <p:ph type="sldImg"/>
          </p:nvPr>
        </p:nvSpPr>
        <p:spPr bwMode="auto">
          <a:noFill/>
          <a:ln>
            <a:solidFill>
              <a:srgbClr val="000000"/>
            </a:solidFill>
            <a:miter lim="800000"/>
            <a:headEnd/>
            <a:tailEnd/>
          </a:ln>
        </p:spPr>
      </p:sp>
      <p:sp>
        <p:nvSpPr>
          <p:cNvPr id="29698" name="Notes Placeholder 2"/>
          <p:cNvSpPr>
            <a:spLocks noGrp="1"/>
          </p:cNvSpPr>
          <p:nvPr>
            <p:ph type="body" idx="1"/>
          </p:nvPr>
        </p:nvSpPr>
        <p:spPr bwMode="auto">
          <a:noFill/>
        </p:spPr>
        <p:txBody>
          <a:bodyPr/>
          <a:lstStyle/>
          <a:p>
            <a:pPr eaLnBrk="1" hangingPunct="1">
              <a:spcBef>
                <a:spcPct val="0"/>
              </a:spcBef>
            </a:pPr>
            <a:r>
              <a:rPr lang="en-US" dirty="0"/>
              <a:t>Nikolaus </a:t>
            </a:r>
            <a:r>
              <a:rPr lang="en-US" dirty="0" err="1"/>
              <a:t>Hagenauer</a:t>
            </a:r>
            <a:r>
              <a:rPr lang="en-US" dirty="0"/>
              <a:t> (central panels and </a:t>
            </a:r>
            <a:r>
              <a:rPr lang="en-US" dirty="0" err="1"/>
              <a:t>predella</a:t>
            </a:r>
            <a:r>
              <a:rPr lang="en-US" dirty="0"/>
              <a:t>) and Matthias </a:t>
            </a:r>
            <a:r>
              <a:rPr lang="en-US" dirty="0" err="1"/>
              <a:t>Grünewald</a:t>
            </a:r>
            <a:r>
              <a:rPr lang="en-US" dirty="0"/>
              <a:t> (wings) ISENHEIM ALTARPIECE (OPEN)</a:t>
            </a:r>
            <a:br>
              <a:rPr lang="en-US" dirty="0"/>
            </a:br>
            <a:r>
              <a:rPr lang="en-US" dirty="0"/>
              <a:t>From the Community of St. Anthony, </a:t>
            </a:r>
            <a:r>
              <a:rPr lang="en-US" dirty="0" err="1"/>
              <a:t>Isenheim</a:t>
            </a:r>
            <a:r>
              <a:rPr lang="en-US" dirty="0"/>
              <a:t>, Alsace, France. Center panels and </a:t>
            </a:r>
            <a:r>
              <a:rPr lang="en-US" dirty="0" err="1"/>
              <a:t>predella</a:t>
            </a:r>
            <a:r>
              <a:rPr lang="en-US" dirty="0"/>
              <a:t>: </a:t>
            </a:r>
            <a:r>
              <a:rPr lang="en-US" i="1" dirty="0"/>
              <a:t>St. Anthony Enthroned between SS. Augustine and Jerome, Christ and the Apostles</a:t>
            </a:r>
            <a:r>
              <a:rPr lang="en-US" dirty="0"/>
              <a:t>, c. 1500. Painted and gilt limewood, center panel 9</a:t>
            </a:r>
            <a:r>
              <a:rPr lang="uk-UA" dirty="0"/>
              <a:t>'</a:t>
            </a:r>
            <a:r>
              <a:rPr lang="en-US" dirty="0"/>
              <a:t>9-1/2</a:t>
            </a:r>
            <a:r>
              <a:rPr lang="ru-RU" dirty="0"/>
              <a:t>"</a:t>
            </a:r>
            <a:r>
              <a:rPr lang="en-US" dirty="0"/>
              <a:t> × 10</a:t>
            </a:r>
            <a:r>
              <a:rPr lang="uk-UA" dirty="0"/>
              <a:t>'</a:t>
            </a:r>
            <a:r>
              <a:rPr lang="en-US" dirty="0"/>
              <a:t>9</a:t>
            </a:r>
            <a:r>
              <a:rPr lang="ru-RU" dirty="0"/>
              <a:t>"</a:t>
            </a:r>
            <a:r>
              <a:rPr lang="en-US" dirty="0"/>
              <a:t> (2.97 × 3.28 m), </a:t>
            </a:r>
            <a:r>
              <a:rPr lang="en-US" dirty="0" err="1"/>
              <a:t>predella</a:t>
            </a:r>
            <a:r>
              <a:rPr lang="en-US" dirty="0"/>
              <a:t> 2</a:t>
            </a:r>
            <a:r>
              <a:rPr lang="uk-UA" dirty="0"/>
              <a:t>'</a:t>
            </a:r>
            <a:r>
              <a:rPr lang="en-US" dirty="0"/>
              <a:t>5-1/2</a:t>
            </a:r>
            <a:r>
              <a:rPr lang="ru-RU" dirty="0"/>
              <a:t>"</a:t>
            </a:r>
            <a:r>
              <a:rPr lang="en-US" dirty="0"/>
              <a:t> × 11</a:t>
            </a:r>
            <a:r>
              <a:rPr lang="uk-UA" dirty="0"/>
              <a:t>'</a:t>
            </a:r>
            <a:r>
              <a:rPr lang="en-US" dirty="0"/>
              <a:t>2</a:t>
            </a:r>
            <a:r>
              <a:rPr lang="ru-RU" dirty="0"/>
              <a:t>"</a:t>
            </a:r>
            <a:r>
              <a:rPr lang="en-US" dirty="0"/>
              <a:t> (0.75 × 3.4 m). Wings: </a:t>
            </a:r>
            <a:r>
              <a:rPr lang="en-US" i="1" dirty="0"/>
              <a:t>SS. Anthony and Paul the Hermit </a:t>
            </a:r>
            <a:r>
              <a:rPr lang="en-US" dirty="0"/>
              <a:t>(left); </a:t>
            </a:r>
            <a:r>
              <a:rPr lang="en-US" i="1" dirty="0"/>
              <a:t>The Temptation of St. Anthony </a:t>
            </a:r>
            <a:r>
              <a:rPr lang="en-US" dirty="0"/>
              <a:t>(right). 1510–1515. Oil on wood panel, 8</a:t>
            </a:r>
            <a:r>
              <a:rPr lang="uk-UA" dirty="0"/>
              <a:t>'</a:t>
            </a:r>
            <a:r>
              <a:rPr lang="en-US" dirty="0"/>
              <a:t>2-1/2</a:t>
            </a:r>
            <a:r>
              <a:rPr lang="ru-RU" dirty="0"/>
              <a:t>"</a:t>
            </a:r>
            <a:r>
              <a:rPr lang="en-US" dirty="0"/>
              <a:t> × 3</a:t>
            </a:r>
            <a:r>
              <a:rPr lang="uk-UA" dirty="0"/>
              <a:t>'</a:t>
            </a:r>
            <a:r>
              <a:rPr lang="en-US" dirty="0"/>
              <a:t>-1/2</a:t>
            </a:r>
            <a:r>
              <a:rPr lang="ru-RU" dirty="0"/>
              <a:t>"</a:t>
            </a:r>
            <a:r>
              <a:rPr lang="en-US" dirty="0"/>
              <a:t> (2.49 × 0.93 m).</a:t>
            </a:r>
            <a:r>
              <a:rPr lang="en-US" dirty="0" err="1"/>
              <a:t>Musée</a:t>
            </a:r>
            <a:r>
              <a:rPr lang="en-US" dirty="0"/>
              <a:t> d</a:t>
            </a:r>
            <a:r>
              <a:rPr lang="uk-UA" dirty="0"/>
              <a:t>'</a:t>
            </a:r>
            <a:r>
              <a:rPr lang="en-US" dirty="0" err="1"/>
              <a:t>Unterlinden</a:t>
            </a:r>
            <a:r>
              <a:rPr lang="en-US" dirty="0"/>
              <a:t>, Colmar, France. Bridgeman Images.</a:t>
            </a:r>
          </a:p>
        </p:txBody>
      </p:sp>
      <p:sp>
        <p:nvSpPr>
          <p:cNvPr id="29699" name="Slide Number Placeholder 3"/>
          <p:cNvSpPr>
            <a:spLocks noGrp="1"/>
          </p:cNvSpPr>
          <p:nvPr>
            <p:ph type="sldNum" sz="quarter" idx="5"/>
          </p:nvPr>
        </p:nvSpPr>
        <p:spPr bwMode="auto">
          <a:noFill/>
          <a:ln>
            <a:miter lim="800000"/>
            <a:headEnd/>
            <a:tailEnd/>
          </a:ln>
        </p:spPr>
        <p:txBody>
          <a:bodyPr/>
          <a:lstStyle/>
          <a:p>
            <a:fld id="{9752939B-10B7-6C4D-8317-50D496B74AF7}" type="slidenum">
              <a:rPr lang="en-US"/>
              <a:pPr/>
              <a:t>13</a:t>
            </a:fld>
            <a:endParaRPr lang="en-US"/>
          </a:p>
        </p:txBody>
      </p:sp>
    </p:spTree>
    <p:extLst>
      <p:ext uri="{BB962C8B-B14F-4D97-AF65-F5344CB8AC3E}">
        <p14:creationId xmlns:p14="http://schemas.microsoft.com/office/powerpoint/2010/main" val="40125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p:cNvSpPr>
            <a:spLocks noGrp="1" noRot="1" noChangeAspect="1" noTextEdit="1"/>
          </p:cNvSpPr>
          <p:nvPr>
            <p:ph type="sldImg"/>
          </p:nvPr>
        </p:nvSpPr>
        <p:spPr bwMode="auto">
          <a:noFill/>
          <a:ln>
            <a:solidFill>
              <a:srgbClr val="000000"/>
            </a:solidFill>
            <a:miter lim="800000"/>
            <a:headEnd/>
            <a:tailEnd/>
          </a:ln>
        </p:spPr>
      </p:sp>
      <p:sp>
        <p:nvSpPr>
          <p:cNvPr id="33794" name="Notes Placeholder 2"/>
          <p:cNvSpPr>
            <a:spLocks noGrp="1"/>
          </p:cNvSpPr>
          <p:nvPr>
            <p:ph type="body" idx="1"/>
          </p:nvPr>
        </p:nvSpPr>
        <p:spPr bwMode="auto">
          <a:noFill/>
        </p:spPr>
        <p:txBody>
          <a:bodyPr/>
          <a:lstStyle/>
          <a:p>
            <a:pPr eaLnBrk="1" hangingPunct="1">
              <a:spcBef>
                <a:spcPct val="0"/>
              </a:spcBef>
            </a:pPr>
            <a:r>
              <a:rPr lang="en-US" dirty="0"/>
              <a:t>Matthias </a:t>
            </a:r>
            <a:r>
              <a:rPr lang="en-US" dirty="0" err="1"/>
              <a:t>Grünewald</a:t>
            </a:r>
            <a:r>
              <a:rPr lang="en-US" dirty="0"/>
              <a:t> ISENHEIM ALTARPIECE (CLOSED)</a:t>
            </a:r>
            <a:br>
              <a:rPr lang="en-US" dirty="0"/>
            </a:br>
            <a:r>
              <a:rPr lang="en-US" dirty="0"/>
              <a:t>From the Community of St. Anthony, </a:t>
            </a:r>
            <a:r>
              <a:rPr lang="en-US" dirty="0" err="1"/>
              <a:t>Isenheim</a:t>
            </a:r>
            <a:r>
              <a:rPr lang="en-US" dirty="0"/>
              <a:t>, Alsace, France. Center panels: </a:t>
            </a:r>
            <a:r>
              <a:rPr lang="en-US" i="1" dirty="0"/>
              <a:t>Crucifixion</a:t>
            </a:r>
            <a:r>
              <a:rPr lang="en-US" dirty="0"/>
              <a:t>; </a:t>
            </a:r>
            <a:r>
              <a:rPr lang="en-US" dirty="0" err="1"/>
              <a:t>predella</a:t>
            </a:r>
            <a:r>
              <a:rPr lang="en-US" dirty="0"/>
              <a:t>: </a:t>
            </a:r>
            <a:r>
              <a:rPr lang="en-US" i="1" dirty="0"/>
              <a:t>Lamentation</a:t>
            </a:r>
            <a:r>
              <a:rPr lang="en-US" dirty="0"/>
              <a:t>; side panels: SS. </a:t>
            </a:r>
            <a:r>
              <a:rPr lang="en-US" i="1" dirty="0"/>
              <a:t>Sebastian</a:t>
            </a:r>
            <a:r>
              <a:rPr lang="en-US" dirty="0"/>
              <a:t> (left) and </a:t>
            </a:r>
            <a:r>
              <a:rPr lang="en-US" i="1" dirty="0"/>
              <a:t>Anthony Abbot </a:t>
            </a:r>
            <a:r>
              <a:rPr lang="en-US" dirty="0"/>
              <a:t>(right). c. 1510–1515. Date 1515 on ointment jar. Oil on wood panel, center panels 9</a:t>
            </a:r>
            <a:r>
              <a:rPr lang="uk-UA" dirty="0"/>
              <a:t>'</a:t>
            </a:r>
            <a:r>
              <a:rPr lang="en-US" dirty="0"/>
              <a:t>9-1/2</a:t>
            </a:r>
            <a:r>
              <a:rPr lang="ru-RU" dirty="0"/>
              <a:t>"</a:t>
            </a:r>
            <a:r>
              <a:rPr lang="en-US" dirty="0"/>
              <a:t> × 10</a:t>
            </a:r>
            <a:r>
              <a:rPr lang="uk-UA" dirty="0"/>
              <a:t>'</a:t>
            </a:r>
            <a:r>
              <a:rPr lang="en-US" dirty="0"/>
              <a:t>9</a:t>
            </a:r>
            <a:r>
              <a:rPr lang="ru-RU" dirty="0"/>
              <a:t>"</a:t>
            </a:r>
            <a:r>
              <a:rPr lang="en-US" dirty="0"/>
              <a:t> (2.97 × 3.28 m) overall, each wing 8</a:t>
            </a:r>
            <a:r>
              <a:rPr lang="uk-UA" dirty="0"/>
              <a:t>'</a:t>
            </a:r>
            <a:r>
              <a:rPr lang="en-US" dirty="0"/>
              <a:t>2-1/2</a:t>
            </a:r>
            <a:r>
              <a:rPr lang="ru-RU" dirty="0"/>
              <a:t>"</a:t>
            </a:r>
            <a:r>
              <a:rPr lang="en-US" dirty="0"/>
              <a:t> × 3</a:t>
            </a:r>
            <a:r>
              <a:rPr lang="uk-UA" dirty="0"/>
              <a:t>'</a:t>
            </a:r>
            <a:r>
              <a:rPr lang="en-US" dirty="0"/>
              <a:t>-1/2</a:t>
            </a:r>
            <a:r>
              <a:rPr lang="ru-RU" dirty="0"/>
              <a:t>"</a:t>
            </a:r>
            <a:r>
              <a:rPr lang="en-US" dirty="0"/>
              <a:t> (2.49 × 0.93 m), </a:t>
            </a:r>
            <a:r>
              <a:rPr lang="en-US" dirty="0" err="1"/>
              <a:t>predella</a:t>
            </a:r>
            <a:r>
              <a:rPr lang="en-US" dirty="0"/>
              <a:t> 2</a:t>
            </a:r>
            <a:r>
              <a:rPr lang="uk-UA" dirty="0"/>
              <a:t>'</a:t>
            </a:r>
            <a:r>
              <a:rPr lang="en-US" dirty="0"/>
              <a:t>5-1/2</a:t>
            </a:r>
            <a:r>
              <a:rPr lang="ru-RU" dirty="0"/>
              <a:t>"</a:t>
            </a:r>
            <a:r>
              <a:rPr lang="en-US" dirty="0"/>
              <a:t> × 11</a:t>
            </a:r>
            <a:r>
              <a:rPr lang="uk-UA" dirty="0"/>
              <a:t>'</a:t>
            </a:r>
            <a:r>
              <a:rPr lang="en-US" dirty="0"/>
              <a:t>2</a:t>
            </a:r>
            <a:r>
              <a:rPr lang="ru-RU" dirty="0"/>
              <a:t>"</a:t>
            </a:r>
            <a:r>
              <a:rPr lang="en-US" dirty="0"/>
              <a:t> (0.75 × 3.4 m). </a:t>
            </a:r>
            <a:r>
              <a:rPr lang="en-US" dirty="0" err="1"/>
              <a:t>Musée</a:t>
            </a:r>
            <a:r>
              <a:rPr lang="en-US" dirty="0"/>
              <a:t> d</a:t>
            </a:r>
            <a:r>
              <a:rPr lang="uk-UA" dirty="0"/>
              <a:t>'</a:t>
            </a:r>
            <a:r>
              <a:rPr lang="en-US" dirty="0" err="1"/>
              <a:t>Unterlinden</a:t>
            </a:r>
            <a:r>
              <a:rPr lang="en-US" dirty="0"/>
              <a:t>, Colmar, France. Bridgeman Images.</a:t>
            </a:r>
          </a:p>
        </p:txBody>
      </p:sp>
      <p:sp>
        <p:nvSpPr>
          <p:cNvPr id="33795" name="Slide Number Placeholder 3"/>
          <p:cNvSpPr>
            <a:spLocks noGrp="1"/>
          </p:cNvSpPr>
          <p:nvPr>
            <p:ph type="sldNum" sz="quarter" idx="5"/>
          </p:nvPr>
        </p:nvSpPr>
        <p:spPr bwMode="auto">
          <a:noFill/>
          <a:ln>
            <a:miter lim="800000"/>
            <a:headEnd/>
            <a:tailEnd/>
          </a:ln>
        </p:spPr>
        <p:txBody>
          <a:bodyPr/>
          <a:lstStyle/>
          <a:p>
            <a:fld id="{2C2A19D5-1F68-E94B-B816-375905139188}" type="slidenum">
              <a:rPr lang="en-US"/>
              <a:pPr/>
              <a:t>16</a:t>
            </a:fld>
            <a:endParaRPr lang="en-US"/>
          </a:p>
        </p:txBody>
      </p:sp>
    </p:spTree>
    <p:extLst>
      <p:ext uri="{BB962C8B-B14F-4D97-AF65-F5344CB8AC3E}">
        <p14:creationId xmlns:p14="http://schemas.microsoft.com/office/powerpoint/2010/main" val="78959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p:spPr>
      </p:sp>
      <p:sp>
        <p:nvSpPr>
          <p:cNvPr id="36866" name="Notes Placeholder 2"/>
          <p:cNvSpPr>
            <a:spLocks noGrp="1"/>
          </p:cNvSpPr>
          <p:nvPr>
            <p:ph type="body" idx="1"/>
          </p:nvPr>
        </p:nvSpPr>
        <p:spPr bwMode="auto">
          <a:noFill/>
        </p:spPr>
        <p:txBody>
          <a:bodyPr/>
          <a:lstStyle/>
          <a:p>
            <a:pPr>
              <a:spcBef>
                <a:spcPct val="0"/>
              </a:spcBef>
            </a:pPr>
            <a:r>
              <a:rPr lang="en-US" dirty="0"/>
              <a:t>Matthias </a:t>
            </a:r>
            <a:r>
              <a:rPr lang="en-US" dirty="0" err="1"/>
              <a:t>Grünewald</a:t>
            </a:r>
            <a:r>
              <a:rPr lang="en-US" dirty="0"/>
              <a:t> ISENHEIM ALTARPIECE (FIRST OPENING)</a:t>
            </a:r>
            <a:br>
              <a:rPr lang="en-US" dirty="0"/>
            </a:br>
            <a:r>
              <a:rPr lang="en-US" dirty="0"/>
              <a:t>Left to right: </a:t>
            </a:r>
            <a:r>
              <a:rPr lang="en-US" i="1" dirty="0"/>
              <a:t>Annunciation</a:t>
            </a:r>
            <a:r>
              <a:rPr lang="en-US" dirty="0"/>
              <a:t>, </a:t>
            </a:r>
            <a:r>
              <a:rPr lang="en-US" i="1" dirty="0"/>
              <a:t>Virgin and Child with Angels</a:t>
            </a:r>
            <a:r>
              <a:rPr lang="en-US" dirty="0"/>
              <a:t>, </a:t>
            </a:r>
            <a:r>
              <a:rPr lang="en-US" i="1" dirty="0"/>
              <a:t>Resurrection</a:t>
            </a:r>
            <a:r>
              <a:rPr lang="en-US" dirty="0"/>
              <a:t>. c. 1510–1515.</a:t>
            </a:r>
            <a:br>
              <a:rPr lang="en-US" dirty="0"/>
            </a:br>
            <a:r>
              <a:rPr lang="en-US" dirty="0"/>
              <a:t>Oil on wood panel, center panel 9</a:t>
            </a:r>
            <a:r>
              <a:rPr lang="uk-UA" dirty="0"/>
              <a:t>'</a:t>
            </a:r>
            <a:r>
              <a:rPr lang="en-US" dirty="0"/>
              <a:t>9-1/2</a:t>
            </a:r>
            <a:r>
              <a:rPr lang="ru-RU" dirty="0"/>
              <a:t>"</a:t>
            </a:r>
            <a:r>
              <a:rPr lang="en-US" dirty="0"/>
              <a:t> × 10</a:t>
            </a:r>
            <a:r>
              <a:rPr lang="uk-UA" dirty="0"/>
              <a:t>'</a:t>
            </a:r>
            <a:r>
              <a:rPr lang="en-US" dirty="0"/>
              <a:t>9</a:t>
            </a:r>
            <a:r>
              <a:rPr lang="ru-RU" dirty="0"/>
              <a:t>"</a:t>
            </a:r>
            <a:r>
              <a:rPr lang="en-US" dirty="0"/>
              <a:t> (2.97 × 3.28 m) overall, each wing 8</a:t>
            </a:r>
            <a:r>
              <a:rPr lang="uk-UA" dirty="0"/>
              <a:t>’</a:t>
            </a:r>
            <a:r>
              <a:rPr lang="en-US" dirty="0"/>
              <a:t>10</a:t>
            </a:r>
            <a:r>
              <a:rPr lang="ru-RU" dirty="0"/>
              <a:t>"</a:t>
            </a:r>
            <a:r>
              <a:rPr lang="en-US" dirty="0"/>
              <a:t> × 4</a:t>
            </a:r>
            <a:r>
              <a:rPr lang="uk-UA" dirty="0"/>
              <a:t>'</a:t>
            </a:r>
            <a:r>
              <a:rPr lang="en-US" dirty="0"/>
              <a:t> 8</a:t>
            </a:r>
            <a:r>
              <a:rPr lang="ru-RU" dirty="0"/>
              <a:t>"</a:t>
            </a:r>
            <a:r>
              <a:rPr lang="en-US" dirty="0"/>
              <a:t> (2.69 × 1.42 m). </a:t>
            </a:r>
            <a:r>
              <a:rPr lang="en-US" dirty="0" err="1"/>
              <a:t>Musée</a:t>
            </a:r>
            <a:r>
              <a:rPr lang="en-US" dirty="0"/>
              <a:t> d</a:t>
            </a:r>
            <a:r>
              <a:rPr lang="uk-UA" dirty="0"/>
              <a:t>'</a:t>
            </a:r>
            <a:r>
              <a:rPr lang="en-US" dirty="0" err="1"/>
              <a:t>Unterlinden</a:t>
            </a:r>
            <a:r>
              <a:rPr lang="en-US" dirty="0"/>
              <a:t>, Colmar, France. Bridgeman Images </a:t>
            </a:r>
          </a:p>
        </p:txBody>
      </p:sp>
      <p:sp>
        <p:nvSpPr>
          <p:cNvPr id="36867" name="Slide Number Placeholder 3"/>
          <p:cNvSpPr>
            <a:spLocks noGrp="1"/>
          </p:cNvSpPr>
          <p:nvPr>
            <p:ph type="sldNum" sz="quarter" idx="5"/>
          </p:nvPr>
        </p:nvSpPr>
        <p:spPr bwMode="auto">
          <a:noFill/>
          <a:ln>
            <a:miter lim="800000"/>
            <a:headEnd/>
            <a:tailEnd/>
          </a:ln>
        </p:spPr>
        <p:txBody>
          <a:bodyPr/>
          <a:lstStyle/>
          <a:p>
            <a:fld id="{83BE77FE-0EBA-AE48-A018-F1E2F1C9F72D}" type="slidenum">
              <a:rPr lang="en-US"/>
              <a:pPr/>
              <a:t>18</a:t>
            </a:fld>
            <a:endParaRPr lang="en-US"/>
          </a:p>
        </p:txBody>
      </p:sp>
    </p:spTree>
    <p:extLst>
      <p:ext uri="{BB962C8B-B14F-4D97-AF65-F5344CB8AC3E}">
        <p14:creationId xmlns:p14="http://schemas.microsoft.com/office/powerpoint/2010/main" val="2075797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noTextEdit="1"/>
          </p:cNvSpPr>
          <p:nvPr>
            <p:ph type="sldImg"/>
          </p:nvPr>
        </p:nvSpPr>
        <p:spPr bwMode="auto">
          <a:noFill/>
          <a:ln>
            <a:solidFill>
              <a:srgbClr val="000000"/>
            </a:solidFill>
            <a:miter lim="800000"/>
            <a:headEnd/>
            <a:tailEnd/>
          </a:ln>
        </p:spPr>
      </p:sp>
      <p:sp>
        <p:nvSpPr>
          <p:cNvPr id="39938" name="Notes Placeholder 2"/>
          <p:cNvSpPr>
            <a:spLocks noGrp="1"/>
          </p:cNvSpPr>
          <p:nvPr>
            <p:ph type="body" idx="1"/>
          </p:nvPr>
        </p:nvSpPr>
        <p:spPr bwMode="auto">
          <a:noFill/>
        </p:spPr>
        <p:txBody>
          <a:bodyPr/>
          <a:lstStyle/>
          <a:p>
            <a:pPr>
              <a:spcBef>
                <a:spcPct val="0"/>
              </a:spcBef>
            </a:pPr>
            <a:r>
              <a:rPr lang="en-US" dirty="0"/>
              <a:t>Albrecht </a:t>
            </a:r>
            <a:r>
              <a:rPr lang="en-US" dirty="0" err="1"/>
              <a:t>Dürer</a:t>
            </a:r>
            <a:r>
              <a:rPr lang="en-US" dirty="0"/>
              <a:t> THE FOUR HORSEMEN OF THE APOCALYPSE</a:t>
            </a:r>
            <a:br>
              <a:rPr lang="en-US" dirty="0"/>
            </a:br>
            <a:r>
              <a:rPr lang="en-US" dirty="0"/>
              <a:t>From </a:t>
            </a:r>
            <a:r>
              <a:rPr lang="en-US" i="1" dirty="0"/>
              <a:t>The Apocalypse</a:t>
            </a:r>
            <a:r>
              <a:rPr lang="en-US" dirty="0"/>
              <a:t>. 1497–1498. 1511 edition. Woodcut, 15-1/2</a:t>
            </a:r>
            <a:r>
              <a:rPr lang="ru-RU" dirty="0"/>
              <a:t>"</a:t>
            </a:r>
            <a:r>
              <a:rPr lang="en-US" dirty="0"/>
              <a:t> × 11-1/16</a:t>
            </a:r>
            <a:r>
              <a:rPr lang="ru-RU" dirty="0"/>
              <a:t>"</a:t>
            </a:r>
            <a:r>
              <a:rPr lang="en-US" dirty="0"/>
              <a:t> (39.4 × 28.1 cm). ). Yale University Art Gallery, New Haven, Connecticut. Library transfer, Gift of Paul Mellon, B.A. 1929 (1956.16.3e). Image courtesy Yale University Art Gallery. </a:t>
            </a:r>
          </a:p>
        </p:txBody>
      </p:sp>
      <p:sp>
        <p:nvSpPr>
          <p:cNvPr id="39939" name="Slide Number Placeholder 3"/>
          <p:cNvSpPr>
            <a:spLocks noGrp="1"/>
          </p:cNvSpPr>
          <p:nvPr>
            <p:ph type="sldNum" sz="quarter" idx="5"/>
          </p:nvPr>
        </p:nvSpPr>
        <p:spPr bwMode="auto">
          <a:noFill/>
          <a:ln>
            <a:miter lim="800000"/>
            <a:headEnd/>
            <a:tailEnd/>
          </a:ln>
        </p:spPr>
        <p:txBody>
          <a:bodyPr/>
          <a:lstStyle/>
          <a:p>
            <a:fld id="{8F7C5031-CF89-424A-AC1B-4D0BD5ACA088}" type="slidenum">
              <a:rPr lang="en-US"/>
              <a:pPr/>
              <a:t>20</a:t>
            </a:fld>
            <a:endParaRPr lang="en-US"/>
          </a:p>
        </p:txBody>
      </p:sp>
    </p:spTree>
    <p:extLst>
      <p:ext uri="{BB962C8B-B14F-4D97-AF65-F5344CB8AC3E}">
        <p14:creationId xmlns:p14="http://schemas.microsoft.com/office/powerpoint/2010/main" val="2049543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p:spPr>
      </p:sp>
      <p:sp>
        <p:nvSpPr>
          <p:cNvPr id="43010" name="Notes Placeholder 2"/>
          <p:cNvSpPr>
            <a:spLocks noGrp="1"/>
          </p:cNvSpPr>
          <p:nvPr>
            <p:ph type="body" idx="1"/>
          </p:nvPr>
        </p:nvSpPr>
        <p:spPr bwMode="auto">
          <a:noFill/>
        </p:spPr>
        <p:txBody>
          <a:bodyPr/>
          <a:lstStyle/>
          <a:p>
            <a:pPr>
              <a:spcBef>
                <a:spcPct val="0"/>
              </a:spcBef>
            </a:pPr>
            <a:r>
              <a:rPr lang="en-US" dirty="0"/>
              <a:t>Albrecht </a:t>
            </a:r>
            <a:r>
              <a:rPr lang="en-US" dirty="0" err="1"/>
              <a:t>Dürer</a:t>
            </a:r>
            <a:r>
              <a:rPr lang="en-US" dirty="0"/>
              <a:t> ADAM AND EVE</a:t>
            </a:r>
            <a:br>
              <a:rPr lang="en-US" dirty="0"/>
            </a:br>
            <a:r>
              <a:rPr lang="en-US" dirty="0"/>
              <a:t>1504. Engraving, 9-5/8</a:t>
            </a:r>
            <a:r>
              <a:rPr lang="ru-RU" dirty="0"/>
              <a:t>"</a:t>
            </a:r>
            <a:r>
              <a:rPr lang="en-US" dirty="0"/>
              <a:t> × 7-5/8</a:t>
            </a:r>
            <a:r>
              <a:rPr lang="ru-RU" dirty="0"/>
              <a:t>"</a:t>
            </a:r>
            <a:r>
              <a:rPr lang="en-US" dirty="0"/>
              <a:t> (244 × 19.3 cm).</a:t>
            </a:r>
            <a:br>
              <a:rPr lang="en-US" dirty="0"/>
            </a:br>
            <a:r>
              <a:rPr lang="en-US" dirty="0"/>
              <a:t>Yale University Art Gallery, New Haven, Connecticut. Fritz </a:t>
            </a:r>
            <a:r>
              <a:rPr lang="en-US" dirty="0" err="1"/>
              <a:t>Achelis</a:t>
            </a:r>
            <a:r>
              <a:rPr lang="en-US" dirty="0"/>
              <a:t> Memorial Collection, Gift of Frederic George </a:t>
            </a:r>
            <a:r>
              <a:rPr lang="en-US" dirty="0" err="1"/>
              <a:t>Achelis</a:t>
            </a:r>
            <a:r>
              <a:rPr lang="en-US" dirty="0"/>
              <a:t>, B.A. 1907; reacquired in 1972 with the Henry J. Heinz II, B.A. 1931, Fund; Everett V. Meeks, B.A. 1901, Fund; and Stephen Carlton Clark, B.A. 1903, Fund (1925.29). Image courtesy Yale University Art Gallery.</a:t>
            </a:r>
          </a:p>
        </p:txBody>
      </p:sp>
      <p:sp>
        <p:nvSpPr>
          <p:cNvPr id="43011" name="Slide Number Placeholder 3"/>
          <p:cNvSpPr>
            <a:spLocks noGrp="1"/>
          </p:cNvSpPr>
          <p:nvPr>
            <p:ph type="sldNum" sz="quarter" idx="5"/>
          </p:nvPr>
        </p:nvSpPr>
        <p:spPr bwMode="auto">
          <a:noFill/>
          <a:ln>
            <a:miter lim="800000"/>
            <a:headEnd/>
            <a:tailEnd/>
          </a:ln>
        </p:spPr>
        <p:txBody>
          <a:bodyPr/>
          <a:lstStyle/>
          <a:p>
            <a:fld id="{3525D28F-3EF8-BA43-84B7-C311B11A27F7}" type="slidenum">
              <a:rPr lang="en-US"/>
              <a:pPr/>
              <a:t>22</a:t>
            </a:fld>
            <a:endParaRPr lang="en-US"/>
          </a:p>
        </p:txBody>
      </p:sp>
    </p:spTree>
    <p:extLst>
      <p:ext uri="{BB962C8B-B14F-4D97-AF65-F5344CB8AC3E}">
        <p14:creationId xmlns:p14="http://schemas.microsoft.com/office/powerpoint/2010/main" val="1041402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noTextEdit="1"/>
          </p:cNvSpPr>
          <p:nvPr>
            <p:ph type="sldImg"/>
          </p:nvPr>
        </p:nvSpPr>
        <p:spPr bwMode="auto">
          <a:noFill/>
          <a:ln>
            <a:solidFill>
              <a:srgbClr val="000000"/>
            </a:solidFill>
            <a:miter lim="800000"/>
            <a:headEnd/>
            <a:tailEnd/>
          </a:ln>
        </p:spPr>
      </p:sp>
      <p:sp>
        <p:nvSpPr>
          <p:cNvPr id="46082" name="Notes Placeholder 2"/>
          <p:cNvSpPr>
            <a:spLocks noGrp="1"/>
          </p:cNvSpPr>
          <p:nvPr>
            <p:ph type="body" idx="1"/>
          </p:nvPr>
        </p:nvSpPr>
        <p:spPr bwMode="auto">
          <a:noFill/>
        </p:spPr>
        <p:txBody>
          <a:bodyPr/>
          <a:lstStyle/>
          <a:p>
            <a:pPr>
              <a:spcBef>
                <a:spcPct val="0"/>
              </a:spcBef>
            </a:pPr>
            <a:r>
              <a:rPr lang="en-US" dirty="0">
                <a:latin typeface="Verdana" charset="0"/>
              </a:rPr>
              <a:t>Albrecht </a:t>
            </a:r>
            <a:r>
              <a:rPr lang="en-US" dirty="0" err="1">
                <a:latin typeface="Verdana" charset="0"/>
              </a:rPr>
              <a:t>Dürer</a:t>
            </a:r>
            <a:r>
              <a:rPr lang="en-US" dirty="0">
                <a:latin typeface="Verdana" charset="0"/>
              </a:rPr>
              <a:t> FOUR APOSTLES</a:t>
            </a:r>
            <a:br>
              <a:rPr lang="en-US" dirty="0">
                <a:latin typeface="Verdana" charset="0"/>
              </a:rPr>
            </a:br>
            <a:r>
              <a:rPr lang="en-US" dirty="0">
                <a:latin typeface="Verdana" charset="0"/>
              </a:rPr>
              <a:t>1526. Oil on wood panel, each panel 7</a:t>
            </a:r>
            <a:r>
              <a:rPr lang="uk-UA" dirty="0">
                <a:latin typeface="Verdana" charset="0"/>
              </a:rPr>
              <a:t>'</a:t>
            </a:r>
            <a:r>
              <a:rPr lang="en-US" dirty="0">
                <a:latin typeface="Verdana" charset="0"/>
              </a:rPr>
              <a:t>-1/2</a:t>
            </a:r>
            <a:r>
              <a:rPr lang="ru-RU" dirty="0">
                <a:latin typeface="Verdana" charset="0"/>
              </a:rPr>
              <a:t>"</a:t>
            </a:r>
            <a:r>
              <a:rPr lang="en-US" dirty="0">
                <a:latin typeface="Verdana" charset="0"/>
              </a:rPr>
              <a:t> × 2</a:t>
            </a:r>
            <a:r>
              <a:rPr lang="uk-UA" dirty="0">
                <a:latin typeface="Verdana" charset="0"/>
              </a:rPr>
              <a:t>'</a:t>
            </a:r>
            <a:r>
              <a:rPr lang="en-US" dirty="0">
                <a:latin typeface="Verdana" charset="0"/>
              </a:rPr>
              <a:t>6</a:t>
            </a:r>
            <a:r>
              <a:rPr lang="ru-RU" dirty="0">
                <a:latin typeface="Verdana" charset="0"/>
              </a:rPr>
              <a:t>"</a:t>
            </a:r>
            <a:r>
              <a:rPr lang="en-US" dirty="0">
                <a:latin typeface="Verdana" charset="0"/>
              </a:rPr>
              <a:t> (2.15 × 0.76 m).</a:t>
            </a:r>
            <a:br>
              <a:rPr lang="en-US" dirty="0">
                <a:latin typeface="Verdana" charset="0"/>
              </a:rPr>
            </a:br>
            <a:r>
              <a:rPr lang="en-US" dirty="0">
                <a:latin typeface="Verdana" charset="0"/>
              </a:rPr>
              <a:t>Alte </a:t>
            </a:r>
            <a:r>
              <a:rPr lang="en-US" dirty="0" err="1">
                <a:latin typeface="Verdana" charset="0"/>
              </a:rPr>
              <a:t>Pinakothek</a:t>
            </a:r>
            <a:r>
              <a:rPr lang="en-US" dirty="0">
                <a:latin typeface="Verdana" charset="0"/>
              </a:rPr>
              <a:t>, Munich. Photo © </a:t>
            </a:r>
            <a:r>
              <a:rPr lang="en-US" dirty="0" err="1">
                <a:latin typeface="Verdana" charset="0"/>
              </a:rPr>
              <a:t>Bayer@Mitko</a:t>
            </a:r>
            <a:r>
              <a:rPr lang="en-US" dirty="0">
                <a:latin typeface="Verdana" charset="0"/>
              </a:rPr>
              <a:t>/ARTOTHEK.</a:t>
            </a:r>
            <a:endParaRPr lang="en-US" dirty="0"/>
          </a:p>
        </p:txBody>
      </p:sp>
      <p:sp>
        <p:nvSpPr>
          <p:cNvPr id="46083" name="Slide Number Placeholder 3"/>
          <p:cNvSpPr>
            <a:spLocks noGrp="1"/>
          </p:cNvSpPr>
          <p:nvPr>
            <p:ph type="sldNum" sz="quarter" idx="5"/>
          </p:nvPr>
        </p:nvSpPr>
        <p:spPr bwMode="auto">
          <a:noFill/>
          <a:ln>
            <a:miter lim="800000"/>
            <a:headEnd/>
            <a:tailEnd/>
          </a:ln>
        </p:spPr>
        <p:txBody>
          <a:bodyPr/>
          <a:lstStyle/>
          <a:p>
            <a:fld id="{7FE20A96-444E-914E-849D-72F379D079ED}" type="slidenum">
              <a:rPr lang="en-US"/>
              <a:pPr/>
              <a:t>24</a:t>
            </a:fld>
            <a:endParaRPr lang="en-US"/>
          </a:p>
        </p:txBody>
      </p:sp>
    </p:spTree>
    <p:extLst>
      <p:ext uri="{BB962C8B-B14F-4D97-AF65-F5344CB8AC3E}">
        <p14:creationId xmlns:p14="http://schemas.microsoft.com/office/powerpoint/2010/main" val="859136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p:cNvSpPr>
            <a:spLocks noGrp="1" noRot="1" noChangeAspect="1" noTextEdit="1"/>
          </p:cNvSpPr>
          <p:nvPr>
            <p:ph type="sldImg"/>
          </p:nvPr>
        </p:nvSpPr>
        <p:spPr bwMode="auto">
          <a:noFill/>
          <a:ln>
            <a:solidFill>
              <a:srgbClr val="000000"/>
            </a:solidFill>
            <a:miter lim="800000"/>
            <a:headEnd/>
            <a:tailEnd/>
          </a:ln>
        </p:spPr>
      </p:sp>
      <p:sp>
        <p:nvSpPr>
          <p:cNvPr id="50178" name="Notes Placeholder 2"/>
          <p:cNvSpPr>
            <a:spLocks noGrp="1"/>
          </p:cNvSpPr>
          <p:nvPr>
            <p:ph type="body" idx="1"/>
          </p:nvPr>
        </p:nvSpPr>
        <p:spPr bwMode="auto">
          <a:noFill/>
        </p:spPr>
        <p:txBody>
          <a:bodyPr/>
          <a:lstStyle/>
          <a:p>
            <a:pPr>
              <a:spcBef>
                <a:spcPct val="0"/>
              </a:spcBef>
            </a:pPr>
            <a:r>
              <a:rPr lang="en-US" dirty="0">
                <a:latin typeface="Verdana" charset="0"/>
              </a:rPr>
              <a:t>Lucas Cranach the Elder NYMPH OF THE SPRING</a:t>
            </a:r>
            <a:br>
              <a:rPr lang="en-US" dirty="0">
                <a:latin typeface="Verdana" charset="0"/>
              </a:rPr>
            </a:br>
            <a:r>
              <a:rPr lang="en-US" dirty="0">
                <a:latin typeface="Verdana" charset="0"/>
              </a:rPr>
              <a:t>c. 1537. Oil on panel, 19</a:t>
            </a:r>
            <a:r>
              <a:rPr lang="ru-RU" dirty="0">
                <a:latin typeface="Verdana" charset="0"/>
              </a:rPr>
              <a:t>"</a:t>
            </a:r>
            <a:r>
              <a:rPr lang="en-US" dirty="0">
                <a:latin typeface="Verdana" charset="0"/>
              </a:rPr>
              <a:t> × 28-1/2</a:t>
            </a:r>
            <a:r>
              <a:rPr lang="ru-RU" dirty="0">
                <a:latin typeface="Verdana" charset="0"/>
              </a:rPr>
              <a:t>"</a:t>
            </a:r>
            <a:r>
              <a:rPr lang="en-US" dirty="0">
                <a:latin typeface="Verdana" charset="0"/>
              </a:rPr>
              <a:t> (48.5 × 72.9 cm).</a:t>
            </a:r>
            <a:br>
              <a:rPr lang="en-US" dirty="0">
                <a:latin typeface="Verdana" charset="0"/>
              </a:rPr>
            </a:br>
            <a:r>
              <a:rPr lang="en-US" dirty="0">
                <a:latin typeface="Verdana" charset="0"/>
              </a:rPr>
              <a:t>National Gallery of Art, Washington, DC. Image courtesy the National Gallery of Art, Washington. </a:t>
            </a:r>
            <a:endParaRPr lang="en-US" dirty="0"/>
          </a:p>
        </p:txBody>
      </p:sp>
      <p:sp>
        <p:nvSpPr>
          <p:cNvPr id="50179" name="Slide Number Placeholder 3"/>
          <p:cNvSpPr>
            <a:spLocks noGrp="1"/>
          </p:cNvSpPr>
          <p:nvPr>
            <p:ph type="sldNum" sz="quarter" idx="5"/>
          </p:nvPr>
        </p:nvSpPr>
        <p:spPr bwMode="auto">
          <a:noFill/>
          <a:ln>
            <a:miter lim="800000"/>
            <a:headEnd/>
            <a:tailEnd/>
          </a:ln>
        </p:spPr>
        <p:txBody>
          <a:bodyPr/>
          <a:lstStyle/>
          <a:p>
            <a:fld id="{DB38A40F-41CC-AD4A-B0FD-BE54D4581646}" type="slidenum">
              <a:rPr lang="en-US"/>
              <a:pPr/>
              <a:t>27</a:t>
            </a:fld>
            <a:endParaRPr lang="en-US"/>
          </a:p>
        </p:txBody>
      </p:sp>
    </p:spTree>
    <p:extLst>
      <p:ext uri="{BB962C8B-B14F-4D97-AF65-F5344CB8AC3E}">
        <p14:creationId xmlns:p14="http://schemas.microsoft.com/office/powerpoint/2010/main" val="1973773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p:spPr>
      </p:sp>
      <p:sp>
        <p:nvSpPr>
          <p:cNvPr id="53250" name="Notes Placeholder 2"/>
          <p:cNvSpPr>
            <a:spLocks noGrp="1"/>
          </p:cNvSpPr>
          <p:nvPr>
            <p:ph type="body" idx="1"/>
          </p:nvPr>
        </p:nvSpPr>
        <p:spPr bwMode="auto">
          <a:noFill/>
        </p:spPr>
        <p:txBody>
          <a:bodyPr/>
          <a:lstStyle/>
          <a:p>
            <a:pPr>
              <a:spcBef>
                <a:spcPct val="0"/>
              </a:spcBef>
            </a:pPr>
            <a:r>
              <a:rPr lang="en-US" dirty="0"/>
              <a:t>Hans </a:t>
            </a:r>
            <a:r>
              <a:rPr lang="en-US" dirty="0" err="1"/>
              <a:t>Baldung</a:t>
            </a:r>
            <a:r>
              <a:rPr lang="en-US" dirty="0"/>
              <a:t> </a:t>
            </a:r>
            <a:r>
              <a:rPr lang="en-US" dirty="0" err="1"/>
              <a:t>Grien</a:t>
            </a:r>
            <a:r>
              <a:rPr lang="en-US" dirty="0"/>
              <a:t> DEATH AND THE MATRON</a:t>
            </a:r>
            <a:br>
              <a:rPr lang="en-US" dirty="0"/>
            </a:br>
            <a:r>
              <a:rPr lang="en-US" dirty="0"/>
              <a:t>c. 1520–1525. Oil on wood panel, 12-3/8</a:t>
            </a:r>
            <a:r>
              <a:rPr lang="ru-RU" dirty="0"/>
              <a:t>"</a:t>
            </a:r>
            <a:r>
              <a:rPr lang="en-US" dirty="0"/>
              <a:t> × 7-3/8</a:t>
            </a:r>
            <a:r>
              <a:rPr lang="ru-RU" dirty="0"/>
              <a:t>"</a:t>
            </a:r>
            <a:r>
              <a:rPr lang="en-US" dirty="0"/>
              <a:t> (31.3 × 18.7 cm).</a:t>
            </a:r>
            <a:br>
              <a:rPr lang="en-US" dirty="0"/>
            </a:br>
            <a:r>
              <a:rPr lang="en-US" dirty="0" err="1"/>
              <a:t>Öffentliche</a:t>
            </a:r>
            <a:r>
              <a:rPr lang="en-US" dirty="0"/>
              <a:t> </a:t>
            </a:r>
            <a:r>
              <a:rPr lang="en-US" dirty="0" err="1"/>
              <a:t>Kunstsammlung</a:t>
            </a:r>
            <a:r>
              <a:rPr lang="en-US" dirty="0"/>
              <a:t>, Basel. Photo © Hans </a:t>
            </a:r>
            <a:r>
              <a:rPr lang="en-US" dirty="0" err="1"/>
              <a:t>Hinz</a:t>
            </a:r>
            <a:r>
              <a:rPr lang="en-US" dirty="0"/>
              <a:t>/ARTOTHEK. </a:t>
            </a:r>
          </a:p>
        </p:txBody>
      </p:sp>
      <p:sp>
        <p:nvSpPr>
          <p:cNvPr id="53251" name="Slide Number Placeholder 3"/>
          <p:cNvSpPr>
            <a:spLocks noGrp="1"/>
          </p:cNvSpPr>
          <p:nvPr>
            <p:ph type="sldNum" sz="quarter" idx="5"/>
          </p:nvPr>
        </p:nvSpPr>
        <p:spPr bwMode="auto">
          <a:noFill/>
          <a:ln>
            <a:miter lim="800000"/>
            <a:headEnd/>
            <a:tailEnd/>
          </a:ln>
        </p:spPr>
        <p:txBody>
          <a:bodyPr/>
          <a:lstStyle/>
          <a:p>
            <a:fld id="{77D58D1C-9A32-3E4F-8705-C24DB67F5189}" type="slidenum">
              <a:rPr lang="en-US"/>
              <a:pPr/>
              <a:t>29</a:t>
            </a:fld>
            <a:endParaRPr lang="en-US"/>
          </a:p>
        </p:txBody>
      </p:sp>
    </p:spTree>
    <p:extLst>
      <p:ext uri="{BB962C8B-B14F-4D97-AF65-F5344CB8AC3E}">
        <p14:creationId xmlns:p14="http://schemas.microsoft.com/office/powerpoint/2010/main" val="1025873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p:cNvSpPr>
            <a:spLocks noGrp="1" noRot="1" noChangeAspect="1" noTextEdit="1"/>
          </p:cNvSpPr>
          <p:nvPr>
            <p:ph type="sldImg"/>
          </p:nvPr>
        </p:nvSpPr>
        <p:spPr bwMode="auto">
          <a:noFill/>
          <a:ln>
            <a:solidFill>
              <a:srgbClr val="000000"/>
            </a:solidFill>
            <a:miter lim="800000"/>
            <a:headEnd/>
            <a:tailEnd/>
          </a:ln>
        </p:spPr>
      </p:sp>
      <p:sp>
        <p:nvSpPr>
          <p:cNvPr id="56322" name="Notes Placeholder 2"/>
          <p:cNvSpPr>
            <a:spLocks noGrp="1"/>
          </p:cNvSpPr>
          <p:nvPr>
            <p:ph type="body" idx="1"/>
          </p:nvPr>
        </p:nvSpPr>
        <p:spPr bwMode="auto">
          <a:noFill/>
        </p:spPr>
        <p:txBody>
          <a:bodyPr/>
          <a:lstStyle/>
          <a:p>
            <a:pPr>
              <a:spcBef>
                <a:spcPct val="0"/>
              </a:spcBef>
            </a:pPr>
            <a:r>
              <a:rPr lang="en-US" dirty="0">
                <a:latin typeface="Verdana" charset="0"/>
              </a:rPr>
              <a:t>Albrecht </a:t>
            </a:r>
            <a:r>
              <a:rPr lang="en-US" dirty="0" err="1">
                <a:latin typeface="Verdana" charset="0"/>
              </a:rPr>
              <a:t>Altdorfer</a:t>
            </a:r>
            <a:r>
              <a:rPr lang="en-US" dirty="0">
                <a:latin typeface="Verdana" charset="0"/>
              </a:rPr>
              <a:t> DANUBE LANDSCAPE</a:t>
            </a:r>
            <a:br>
              <a:rPr lang="en-US" dirty="0">
                <a:latin typeface="Verdana" charset="0"/>
              </a:rPr>
            </a:br>
            <a:r>
              <a:rPr lang="en-US" dirty="0">
                <a:latin typeface="Verdana" charset="0"/>
              </a:rPr>
              <a:t>c. 1525. Oil on vellum on wood panel, 12</a:t>
            </a:r>
            <a:r>
              <a:rPr lang="ru-RU" dirty="0">
                <a:latin typeface="Verdana" charset="0"/>
              </a:rPr>
              <a:t>"</a:t>
            </a:r>
            <a:r>
              <a:rPr lang="en-US" dirty="0">
                <a:latin typeface="Verdana" charset="0"/>
              </a:rPr>
              <a:t> × 8-1/2</a:t>
            </a:r>
            <a:r>
              <a:rPr lang="ru-RU" dirty="0">
                <a:latin typeface="Verdana" charset="0"/>
              </a:rPr>
              <a:t>"</a:t>
            </a:r>
            <a:r>
              <a:rPr lang="en-US" dirty="0">
                <a:latin typeface="Verdana" charset="0"/>
              </a:rPr>
              <a:t> (30.5 × 22.2 cm).</a:t>
            </a:r>
            <a:br>
              <a:rPr lang="en-US" dirty="0">
                <a:latin typeface="Verdana" charset="0"/>
              </a:rPr>
            </a:br>
            <a:r>
              <a:rPr lang="en-US" dirty="0">
                <a:latin typeface="Verdana" charset="0"/>
              </a:rPr>
              <a:t>Alte </a:t>
            </a:r>
            <a:r>
              <a:rPr lang="en-US" dirty="0" err="1">
                <a:latin typeface="Verdana" charset="0"/>
              </a:rPr>
              <a:t>Pinakothek</a:t>
            </a:r>
            <a:r>
              <a:rPr lang="en-US" dirty="0">
                <a:latin typeface="Verdana" charset="0"/>
              </a:rPr>
              <a:t>, Munich. © 2016. Photo Scala, Florence/</a:t>
            </a:r>
            <a:r>
              <a:rPr lang="en-US" dirty="0" err="1">
                <a:latin typeface="Verdana" charset="0"/>
              </a:rPr>
              <a:t>bpk</a:t>
            </a:r>
            <a:r>
              <a:rPr lang="en-US" dirty="0">
                <a:latin typeface="Verdana" charset="0"/>
              </a:rPr>
              <a:t>, </a:t>
            </a:r>
            <a:r>
              <a:rPr lang="en-US" dirty="0" err="1">
                <a:latin typeface="Verdana" charset="0"/>
              </a:rPr>
              <a:t>Bildagentur</a:t>
            </a:r>
            <a:r>
              <a:rPr lang="en-US" dirty="0">
                <a:latin typeface="Verdana" charset="0"/>
              </a:rPr>
              <a:t> </a:t>
            </a:r>
            <a:r>
              <a:rPr lang="en-US" dirty="0" err="1">
                <a:latin typeface="Verdana" charset="0"/>
              </a:rPr>
              <a:t>für</a:t>
            </a:r>
            <a:r>
              <a:rPr lang="en-US" dirty="0">
                <a:latin typeface="Verdana" charset="0"/>
              </a:rPr>
              <a:t> Kunst, </a:t>
            </a:r>
            <a:r>
              <a:rPr lang="en-US" dirty="0" err="1">
                <a:latin typeface="Verdana" charset="0"/>
              </a:rPr>
              <a:t>Kultur</a:t>
            </a:r>
            <a:r>
              <a:rPr lang="en-US" dirty="0">
                <a:latin typeface="Verdana" charset="0"/>
              </a:rPr>
              <a:t> und </a:t>
            </a:r>
            <a:r>
              <a:rPr lang="en-US" dirty="0" err="1">
                <a:latin typeface="Verdana" charset="0"/>
              </a:rPr>
              <a:t>Geschichte</a:t>
            </a:r>
            <a:r>
              <a:rPr lang="en-US" dirty="0">
                <a:latin typeface="Verdana" charset="0"/>
              </a:rPr>
              <a:t>, Berlin. </a:t>
            </a:r>
            <a:endParaRPr lang="en-US" dirty="0"/>
          </a:p>
        </p:txBody>
      </p:sp>
      <p:sp>
        <p:nvSpPr>
          <p:cNvPr id="56323" name="Slide Number Placeholder 3"/>
          <p:cNvSpPr>
            <a:spLocks noGrp="1"/>
          </p:cNvSpPr>
          <p:nvPr>
            <p:ph type="sldNum" sz="quarter" idx="5"/>
          </p:nvPr>
        </p:nvSpPr>
        <p:spPr bwMode="auto">
          <a:noFill/>
          <a:ln>
            <a:miter lim="800000"/>
            <a:headEnd/>
            <a:tailEnd/>
          </a:ln>
        </p:spPr>
        <p:txBody>
          <a:bodyPr/>
          <a:lstStyle/>
          <a:p>
            <a:fld id="{7FCD118E-C181-BA4C-805F-836CB4FB793F}" type="slidenum">
              <a:rPr lang="en-US"/>
              <a:pPr/>
              <a:t>31</a:t>
            </a:fld>
            <a:endParaRPr lang="en-US"/>
          </a:p>
        </p:txBody>
      </p:sp>
    </p:spTree>
    <p:extLst>
      <p:ext uri="{BB962C8B-B14F-4D97-AF65-F5344CB8AC3E}">
        <p14:creationId xmlns:p14="http://schemas.microsoft.com/office/powerpoint/2010/main" val="1862625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noTextEdit="1"/>
          </p:cNvSpPr>
          <p:nvPr>
            <p:ph type="sldImg"/>
          </p:nvPr>
        </p:nvSpPr>
        <p:spPr bwMode="auto">
          <a:noFill/>
          <a:ln>
            <a:solidFill>
              <a:srgbClr val="000000"/>
            </a:solidFill>
            <a:miter lim="800000"/>
            <a:headEnd/>
            <a:tailEnd/>
          </a:ln>
        </p:spPr>
      </p:sp>
      <p:sp>
        <p:nvSpPr>
          <p:cNvPr id="62466" name="Notes Placeholder 2"/>
          <p:cNvSpPr>
            <a:spLocks noGrp="1"/>
          </p:cNvSpPr>
          <p:nvPr>
            <p:ph type="body" idx="1"/>
          </p:nvPr>
        </p:nvSpPr>
        <p:spPr bwMode="auto">
          <a:noFill/>
        </p:spPr>
        <p:txBody>
          <a:bodyPr/>
          <a:lstStyle/>
          <a:p>
            <a:pPr>
              <a:spcBef>
                <a:spcPct val="0"/>
              </a:spcBef>
            </a:pPr>
            <a:r>
              <a:rPr lang="en-US" dirty="0"/>
              <a:t>Jean Clouet FRANCIS I</a:t>
            </a:r>
            <a:br>
              <a:rPr lang="en-US" dirty="0"/>
            </a:br>
            <a:r>
              <a:rPr lang="en-US" dirty="0"/>
              <a:t>1525–1530. Oil and tempera on wood panel, 37-3/4</a:t>
            </a:r>
            <a:r>
              <a:rPr lang="ru-RU" dirty="0"/>
              <a:t>"</a:t>
            </a:r>
            <a:r>
              <a:rPr lang="en-US" dirty="0"/>
              <a:t> × 29-1/8</a:t>
            </a:r>
            <a:r>
              <a:rPr lang="ru-RU" dirty="0"/>
              <a:t>"</a:t>
            </a:r>
            <a:r>
              <a:rPr lang="en-US" dirty="0"/>
              <a:t> (95.9 × 74 cm).</a:t>
            </a:r>
            <a:br>
              <a:rPr lang="en-US" dirty="0"/>
            </a:br>
            <a:r>
              <a:rPr lang="en-US" dirty="0" err="1"/>
              <a:t>Musée</a:t>
            </a:r>
            <a:r>
              <a:rPr lang="en-US" dirty="0"/>
              <a:t> du Louvre, Paris. © 2016. Photo Scala, Florence</a:t>
            </a:r>
          </a:p>
        </p:txBody>
      </p:sp>
      <p:sp>
        <p:nvSpPr>
          <p:cNvPr id="62467" name="Slide Number Placeholder 3"/>
          <p:cNvSpPr>
            <a:spLocks noGrp="1"/>
          </p:cNvSpPr>
          <p:nvPr>
            <p:ph type="sldNum" sz="quarter" idx="5"/>
          </p:nvPr>
        </p:nvSpPr>
        <p:spPr bwMode="auto">
          <a:noFill/>
          <a:ln>
            <a:miter lim="800000"/>
            <a:headEnd/>
            <a:tailEnd/>
          </a:ln>
        </p:spPr>
        <p:txBody>
          <a:bodyPr/>
          <a:lstStyle/>
          <a:p>
            <a:fld id="{5331F6F4-8B5D-BA4F-8BB9-3D6C7FAC8AA8}" type="slidenum">
              <a:rPr lang="en-US"/>
              <a:pPr/>
              <a:t>36</a:t>
            </a:fld>
            <a:endParaRPr lang="en-US"/>
          </a:p>
        </p:txBody>
      </p:sp>
    </p:spTree>
    <p:extLst>
      <p:ext uri="{BB962C8B-B14F-4D97-AF65-F5344CB8AC3E}">
        <p14:creationId xmlns:p14="http://schemas.microsoft.com/office/powerpoint/2010/main" val="1270008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p:spPr>
      </p:sp>
      <p:sp>
        <p:nvSpPr>
          <p:cNvPr id="65538" name="Notes Placeholder 2"/>
          <p:cNvSpPr>
            <a:spLocks noGrp="1"/>
          </p:cNvSpPr>
          <p:nvPr>
            <p:ph type="body" idx="1"/>
          </p:nvPr>
        </p:nvSpPr>
        <p:spPr bwMode="auto">
          <a:noFill/>
        </p:spPr>
        <p:txBody>
          <a:bodyPr/>
          <a:lstStyle/>
          <a:p>
            <a:pPr>
              <a:spcBef>
                <a:spcPct val="0"/>
              </a:spcBef>
            </a:pPr>
            <a:r>
              <a:rPr lang="en-US" dirty="0"/>
              <a:t>CHÂTEAU OF CHENONCEAU</a:t>
            </a:r>
            <a:br>
              <a:rPr lang="en-US" dirty="0"/>
            </a:br>
            <a:r>
              <a:rPr lang="en-US" dirty="0"/>
              <a:t>Touraine, France. Original building (at right) 1513–1521; gallery on bridge at left by Philibert de l</a:t>
            </a:r>
            <a:r>
              <a:rPr lang="uk-UA" dirty="0"/>
              <a:t>'</a:t>
            </a:r>
            <a:r>
              <a:rPr lang="en-US" dirty="0"/>
              <a:t>Orme, finished c. 1581. Wildman/</a:t>
            </a:r>
            <a:r>
              <a:rPr lang="en-US" dirty="0" err="1"/>
              <a:t>Fotolia</a:t>
            </a:r>
            <a:r>
              <a:rPr lang="en-US" dirty="0"/>
              <a:t>. </a:t>
            </a:r>
          </a:p>
        </p:txBody>
      </p:sp>
      <p:sp>
        <p:nvSpPr>
          <p:cNvPr id="65539" name="Slide Number Placeholder 3"/>
          <p:cNvSpPr>
            <a:spLocks noGrp="1"/>
          </p:cNvSpPr>
          <p:nvPr>
            <p:ph type="sldNum" sz="quarter" idx="5"/>
          </p:nvPr>
        </p:nvSpPr>
        <p:spPr bwMode="auto">
          <a:noFill/>
          <a:ln>
            <a:miter lim="800000"/>
            <a:headEnd/>
            <a:tailEnd/>
          </a:ln>
        </p:spPr>
        <p:txBody>
          <a:bodyPr/>
          <a:lstStyle/>
          <a:p>
            <a:fld id="{FF140787-9C6F-5445-A272-FC14FD8D0A60}" type="slidenum">
              <a:rPr lang="en-US"/>
              <a:pPr/>
              <a:t>38</a:t>
            </a:fld>
            <a:endParaRPr lang="en-US"/>
          </a:p>
        </p:txBody>
      </p:sp>
    </p:spTree>
    <p:extLst>
      <p:ext uri="{BB962C8B-B14F-4D97-AF65-F5344CB8AC3E}">
        <p14:creationId xmlns:p14="http://schemas.microsoft.com/office/powerpoint/2010/main" val="1201228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p:cNvSpPr>
            <a:spLocks noGrp="1" noRot="1" noChangeAspect="1" noTextEdit="1"/>
          </p:cNvSpPr>
          <p:nvPr>
            <p:ph type="sldImg"/>
          </p:nvPr>
        </p:nvSpPr>
        <p:spPr bwMode="auto">
          <a:noFill/>
          <a:ln>
            <a:solidFill>
              <a:srgbClr val="000000"/>
            </a:solidFill>
            <a:miter lim="800000"/>
            <a:headEnd/>
            <a:tailEnd/>
          </a:ln>
        </p:spPr>
      </p:sp>
      <p:sp>
        <p:nvSpPr>
          <p:cNvPr id="68610" name="Notes Placeholder 2"/>
          <p:cNvSpPr>
            <a:spLocks noGrp="1"/>
          </p:cNvSpPr>
          <p:nvPr>
            <p:ph type="body" idx="1"/>
          </p:nvPr>
        </p:nvSpPr>
        <p:spPr bwMode="auto">
          <a:noFill/>
        </p:spPr>
        <p:txBody>
          <a:bodyPr/>
          <a:lstStyle/>
          <a:p>
            <a:pPr>
              <a:spcBef>
                <a:spcPct val="0"/>
              </a:spcBef>
            </a:pPr>
            <a:r>
              <a:rPr lang="en-US" dirty="0" err="1">
                <a:latin typeface="Verdana" charset="0"/>
              </a:rPr>
              <a:t>Primaticcio</a:t>
            </a:r>
            <a:r>
              <a:rPr lang="en-US" dirty="0">
                <a:latin typeface="Verdana" charset="0"/>
              </a:rPr>
              <a:t> STUCCO AND WALL PAINTING, CHAMBER OF THE DUCHESS OF ÉTAMPES, CHÂTEAU OF FONTAINEBLEAU</a:t>
            </a:r>
            <a:br>
              <a:rPr lang="en-US" dirty="0">
                <a:latin typeface="Verdana" charset="0"/>
              </a:rPr>
            </a:br>
            <a:r>
              <a:rPr lang="en-US" dirty="0">
                <a:latin typeface="Verdana" charset="0"/>
              </a:rPr>
              <a:t>France. 1540s. Photo © RMN-Grand Palais (Château de Fontainebleau)/Jean-Pierre </a:t>
            </a:r>
            <a:r>
              <a:rPr lang="en-US" dirty="0" err="1">
                <a:latin typeface="Verdana" charset="0"/>
              </a:rPr>
              <a:t>Lagiewski</a:t>
            </a:r>
            <a:endParaRPr lang="en-US" dirty="0"/>
          </a:p>
        </p:txBody>
      </p:sp>
      <p:sp>
        <p:nvSpPr>
          <p:cNvPr id="68611" name="Slide Number Placeholder 3"/>
          <p:cNvSpPr>
            <a:spLocks noGrp="1"/>
          </p:cNvSpPr>
          <p:nvPr>
            <p:ph type="sldNum" sz="quarter" idx="5"/>
          </p:nvPr>
        </p:nvSpPr>
        <p:spPr bwMode="auto">
          <a:noFill/>
          <a:ln>
            <a:miter lim="800000"/>
            <a:headEnd/>
            <a:tailEnd/>
          </a:ln>
        </p:spPr>
        <p:txBody>
          <a:bodyPr/>
          <a:lstStyle/>
          <a:p>
            <a:fld id="{03596019-B786-DB43-8CE0-290DE48DA67E}" type="slidenum">
              <a:rPr lang="en-US"/>
              <a:pPr/>
              <a:t>40</a:t>
            </a:fld>
            <a:endParaRPr lang="en-US"/>
          </a:p>
        </p:txBody>
      </p:sp>
    </p:spTree>
    <p:extLst>
      <p:ext uri="{BB962C8B-B14F-4D97-AF65-F5344CB8AC3E}">
        <p14:creationId xmlns:p14="http://schemas.microsoft.com/office/powerpoint/2010/main" val="549247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bwMode="auto">
          <a:noFill/>
          <a:ln>
            <a:solidFill>
              <a:srgbClr val="000000"/>
            </a:solidFill>
            <a:miter lim="800000"/>
            <a:headEnd/>
            <a:tailEnd/>
          </a:ln>
        </p:spPr>
      </p:sp>
      <p:sp>
        <p:nvSpPr>
          <p:cNvPr id="71682" name="Notes Placeholder 2"/>
          <p:cNvSpPr>
            <a:spLocks noGrp="1"/>
          </p:cNvSpPr>
          <p:nvPr>
            <p:ph type="body" idx="1"/>
          </p:nvPr>
        </p:nvSpPr>
        <p:spPr bwMode="auto">
          <a:noFill/>
        </p:spPr>
        <p:txBody>
          <a:bodyPr/>
          <a:lstStyle/>
          <a:p>
            <a:pPr>
              <a:spcBef>
                <a:spcPct val="0"/>
              </a:spcBef>
            </a:pPr>
            <a:r>
              <a:rPr lang="en-US" dirty="0">
                <a:latin typeface="Verdana" charset="0"/>
              </a:rPr>
              <a:t>Pierre Lescot and Jean Goujon WEST WING OF THE COUR CARRÉE, PALAIS DU LOUVRE, PARIS</a:t>
            </a:r>
            <a:br>
              <a:rPr lang="en-US" dirty="0">
                <a:latin typeface="Verdana" charset="0"/>
              </a:rPr>
            </a:br>
            <a:r>
              <a:rPr lang="en-US" dirty="0">
                <a:latin typeface="Verdana" charset="0"/>
              </a:rPr>
              <a:t>Begun 1546.</a:t>
            </a:r>
            <a:br>
              <a:rPr lang="en-US" dirty="0">
                <a:latin typeface="Verdana" charset="0"/>
              </a:rPr>
            </a:br>
            <a:r>
              <a:rPr lang="en-US" dirty="0">
                <a:latin typeface="Verdana" charset="0"/>
              </a:rPr>
              <a:t>© </a:t>
            </a:r>
            <a:r>
              <a:rPr lang="en-US" dirty="0" err="1">
                <a:latin typeface="Verdana" charset="0"/>
              </a:rPr>
              <a:t>akg</a:t>
            </a:r>
            <a:r>
              <a:rPr lang="en-US" dirty="0">
                <a:latin typeface="Verdana" charset="0"/>
              </a:rPr>
              <a:t>-images/Erich Lessing. </a:t>
            </a:r>
            <a:endParaRPr lang="en-US" dirty="0"/>
          </a:p>
        </p:txBody>
      </p:sp>
      <p:sp>
        <p:nvSpPr>
          <p:cNvPr id="71683" name="Slide Number Placeholder 3"/>
          <p:cNvSpPr>
            <a:spLocks noGrp="1"/>
          </p:cNvSpPr>
          <p:nvPr>
            <p:ph type="sldNum" sz="quarter" idx="5"/>
          </p:nvPr>
        </p:nvSpPr>
        <p:spPr bwMode="auto">
          <a:noFill/>
          <a:ln>
            <a:miter lim="800000"/>
            <a:headEnd/>
            <a:tailEnd/>
          </a:ln>
        </p:spPr>
        <p:txBody>
          <a:bodyPr/>
          <a:lstStyle/>
          <a:p>
            <a:fld id="{948BD7BA-8E6C-D940-8D1F-137C37D6DBE2}" type="slidenum">
              <a:rPr lang="en-US"/>
              <a:pPr/>
              <a:t>42</a:t>
            </a:fld>
            <a:endParaRPr lang="en-US"/>
          </a:p>
        </p:txBody>
      </p:sp>
    </p:spTree>
    <p:extLst>
      <p:ext uri="{BB962C8B-B14F-4D97-AF65-F5344CB8AC3E}">
        <p14:creationId xmlns:p14="http://schemas.microsoft.com/office/powerpoint/2010/main" val="1316773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noTextEdit="1"/>
          </p:cNvSpPr>
          <p:nvPr>
            <p:ph type="sldImg"/>
          </p:nvPr>
        </p:nvSpPr>
        <p:spPr bwMode="auto">
          <a:noFill/>
          <a:ln>
            <a:solidFill>
              <a:srgbClr val="000000"/>
            </a:solidFill>
            <a:miter lim="800000"/>
            <a:headEnd/>
            <a:tailEnd/>
          </a:ln>
        </p:spPr>
      </p:sp>
      <p:sp>
        <p:nvSpPr>
          <p:cNvPr id="75778" name="Notes Placeholder 2"/>
          <p:cNvSpPr>
            <a:spLocks noGrp="1"/>
          </p:cNvSpPr>
          <p:nvPr>
            <p:ph type="body" idx="1"/>
          </p:nvPr>
        </p:nvSpPr>
        <p:spPr bwMode="auto">
          <a:noFill/>
        </p:spPr>
        <p:txBody>
          <a:bodyPr/>
          <a:lstStyle/>
          <a:p>
            <a:pPr>
              <a:spcBef>
                <a:spcPct val="0"/>
              </a:spcBef>
            </a:pPr>
            <a:r>
              <a:rPr lang="en-US" dirty="0"/>
              <a:t>Juan Bautista de Toledo and Juan de Herrera THE ESCORIAL</a:t>
            </a:r>
            <a:br>
              <a:rPr lang="en-US" dirty="0"/>
            </a:br>
            <a:r>
              <a:rPr lang="en-US" dirty="0"/>
              <a:t>Madrid. 1563–1584. Detail from an anonymous 17th-century painting. Oil on canvas, </a:t>
            </a:r>
            <a:br>
              <a:rPr lang="en-US" dirty="0"/>
            </a:br>
            <a:r>
              <a:rPr lang="en-US" dirty="0"/>
              <a:t>30-1/4 × 35-7/8” (77 × 91 cm). </a:t>
            </a:r>
            <a:r>
              <a:rPr lang="en-US" dirty="0" err="1"/>
              <a:t>Monasterio</a:t>
            </a:r>
            <a:r>
              <a:rPr lang="en-US" dirty="0"/>
              <a:t>-Pintura, San Lorenzo Del Escorial, Madrid. </a:t>
            </a:r>
            <a:br>
              <a:rPr lang="en-US" dirty="0"/>
            </a:br>
            <a:r>
              <a:rPr lang="en-US" dirty="0"/>
              <a:t> © </a:t>
            </a:r>
            <a:r>
              <a:rPr lang="en-US" dirty="0" err="1"/>
              <a:t>akg</a:t>
            </a:r>
            <a:r>
              <a:rPr lang="en-US" dirty="0"/>
              <a:t>-images/Album/</a:t>
            </a:r>
            <a:r>
              <a:rPr lang="en-US" dirty="0" err="1"/>
              <a:t>Oronoz</a:t>
            </a:r>
            <a:endParaRPr lang="en-US" dirty="0"/>
          </a:p>
        </p:txBody>
      </p:sp>
      <p:sp>
        <p:nvSpPr>
          <p:cNvPr id="75779" name="Slide Number Placeholder 3"/>
          <p:cNvSpPr>
            <a:spLocks noGrp="1"/>
          </p:cNvSpPr>
          <p:nvPr>
            <p:ph type="sldNum" sz="quarter" idx="5"/>
          </p:nvPr>
        </p:nvSpPr>
        <p:spPr bwMode="auto">
          <a:noFill/>
          <a:ln>
            <a:miter lim="800000"/>
            <a:headEnd/>
            <a:tailEnd/>
          </a:ln>
        </p:spPr>
        <p:txBody>
          <a:bodyPr/>
          <a:lstStyle/>
          <a:p>
            <a:fld id="{ACDF9DEE-38C6-E949-8A30-A0E74C577301}" type="slidenum">
              <a:rPr lang="en-US"/>
              <a:pPr/>
              <a:t>45</a:t>
            </a:fld>
            <a:endParaRPr lang="en-US"/>
          </a:p>
        </p:txBody>
      </p:sp>
    </p:spTree>
    <p:extLst>
      <p:ext uri="{BB962C8B-B14F-4D97-AF65-F5344CB8AC3E}">
        <p14:creationId xmlns:p14="http://schemas.microsoft.com/office/powerpoint/2010/main" val="12012322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Image Placeholder 1"/>
          <p:cNvSpPr>
            <a:spLocks noGrp="1" noRot="1" noChangeAspect="1" noTextEdit="1"/>
          </p:cNvSpPr>
          <p:nvPr>
            <p:ph type="sldImg"/>
          </p:nvPr>
        </p:nvSpPr>
        <p:spPr bwMode="auto">
          <a:noFill/>
          <a:ln>
            <a:solidFill>
              <a:srgbClr val="000000"/>
            </a:solidFill>
            <a:miter lim="800000"/>
            <a:headEnd/>
            <a:tailEnd/>
          </a:ln>
        </p:spPr>
      </p:sp>
      <p:sp>
        <p:nvSpPr>
          <p:cNvPr id="78850" name="Notes Placeholder 2"/>
          <p:cNvSpPr>
            <a:spLocks noGrp="1"/>
          </p:cNvSpPr>
          <p:nvPr>
            <p:ph type="body" idx="1"/>
          </p:nvPr>
        </p:nvSpPr>
        <p:spPr bwMode="auto">
          <a:noFill/>
        </p:spPr>
        <p:txBody>
          <a:bodyPr/>
          <a:lstStyle/>
          <a:p>
            <a:pPr>
              <a:spcBef>
                <a:spcPct val="0"/>
              </a:spcBef>
            </a:pPr>
            <a:r>
              <a:rPr lang="en-US" dirty="0" err="1">
                <a:latin typeface="Verdana" charset="0"/>
              </a:rPr>
              <a:t>Diogo</a:t>
            </a:r>
            <a:r>
              <a:rPr lang="en-US" dirty="0">
                <a:latin typeface="Verdana" charset="0"/>
              </a:rPr>
              <a:t> de Arruda WEST WINDOW, CHURCH IN THE CONVENT OF CHRIST, TOMAR</a:t>
            </a:r>
            <a:br>
              <a:rPr lang="en-US" dirty="0">
                <a:latin typeface="Verdana" charset="0"/>
              </a:rPr>
            </a:br>
            <a:r>
              <a:rPr lang="en-US" dirty="0">
                <a:latin typeface="Verdana" charset="0"/>
              </a:rPr>
              <a:t>Portugal. c. 1510.</a:t>
            </a:r>
            <a:br>
              <a:rPr lang="en-US" dirty="0">
                <a:latin typeface="Verdana" charset="0"/>
              </a:rPr>
            </a:br>
            <a:r>
              <a:rPr lang="en-US" dirty="0">
                <a:latin typeface="Verdana" charset="0"/>
              </a:rPr>
              <a:t>Commissioned by King Manuel I of Portugal. </a:t>
            </a:r>
            <a:r>
              <a:rPr lang="en-US" dirty="0" err="1">
                <a:latin typeface="Verdana" charset="0"/>
              </a:rPr>
              <a:t>Lemtal</a:t>
            </a:r>
            <a:r>
              <a:rPr lang="en-US" dirty="0">
                <a:latin typeface="Verdana" charset="0"/>
              </a:rPr>
              <a:t>/</a:t>
            </a:r>
            <a:r>
              <a:rPr lang="en-US" dirty="0" err="1">
                <a:latin typeface="Verdana" charset="0"/>
              </a:rPr>
              <a:t>Fotolia</a:t>
            </a:r>
            <a:r>
              <a:rPr lang="en-US" dirty="0">
                <a:latin typeface="Verdana" charset="0"/>
              </a:rPr>
              <a:t>.</a:t>
            </a:r>
            <a:endParaRPr lang="en-US" dirty="0"/>
          </a:p>
        </p:txBody>
      </p:sp>
      <p:sp>
        <p:nvSpPr>
          <p:cNvPr id="78851" name="Slide Number Placeholder 3"/>
          <p:cNvSpPr>
            <a:spLocks noGrp="1"/>
          </p:cNvSpPr>
          <p:nvPr>
            <p:ph type="sldNum" sz="quarter" idx="5"/>
          </p:nvPr>
        </p:nvSpPr>
        <p:spPr bwMode="auto">
          <a:noFill/>
          <a:ln>
            <a:miter lim="800000"/>
            <a:headEnd/>
            <a:tailEnd/>
          </a:ln>
        </p:spPr>
        <p:txBody>
          <a:bodyPr/>
          <a:lstStyle/>
          <a:p>
            <a:fld id="{8FC3F873-3957-B446-984F-251A405A3C22}" type="slidenum">
              <a:rPr lang="en-US"/>
              <a:pPr/>
              <a:t>47</a:t>
            </a:fld>
            <a:endParaRPr lang="en-US"/>
          </a:p>
        </p:txBody>
      </p:sp>
    </p:spTree>
    <p:extLst>
      <p:ext uri="{BB962C8B-B14F-4D97-AF65-F5344CB8AC3E}">
        <p14:creationId xmlns:p14="http://schemas.microsoft.com/office/powerpoint/2010/main" val="617450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p:cNvSpPr>
            <a:spLocks noGrp="1" noRot="1" noChangeAspect="1" noTextEdit="1"/>
          </p:cNvSpPr>
          <p:nvPr>
            <p:ph type="sldImg"/>
          </p:nvPr>
        </p:nvSpPr>
        <p:spPr bwMode="auto">
          <a:noFill/>
          <a:ln>
            <a:solidFill>
              <a:srgbClr val="000000"/>
            </a:solidFill>
            <a:miter lim="800000"/>
            <a:headEnd/>
            <a:tailEnd/>
          </a:ln>
        </p:spPr>
      </p:sp>
      <p:sp>
        <p:nvSpPr>
          <p:cNvPr id="81922" name="Notes Placeholder 2"/>
          <p:cNvSpPr>
            <a:spLocks noGrp="1"/>
          </p:cNvSpPr>
          <p:nvPr>
            <p:ph type="body" idx="1"/>
          </p:nvPr>
        </p:nvSpPr>
        <p:spPr bwMode="auto">
          <a:noFill/>
        </p:spPr>
        <p:txBody>
          <a:bodyPr/>
          <a:lstStyle/>
          <a:p>
            <a:pPr>
              <a:spcBef>
                <a:spcPct val="0"/>
              </a:spcBef>
            </a:pPr>
            <a:r>
              <a:rPr lang="en-US" dirty="0">
                <a:latin typeface="Verdana" charset="0"/>
              </a:rPr>
              <a:t>El Greco BURIAL OF COUNT ORGAZ</a:t>
            </a:r>
            <a:br>
              <a:rPr lang="en-US" dirty="0">
                <a:latin typeface="Verdana" charset="0"/>
              </a:rPr>
            </a:br>
            <a:r>
              <a:rPr lang="en-US" dirty="0">
                <a:latin typeface="Verdana" charset="0"/>
              </a:rPr>
              <a:t>Church of Santo Tomé, Toledo, Spain. 1586.</a:t>
            </a:r>
            <a:br>
              <a:rPr lang="en-US" dirty="0">
                <a:latin typeface="Verdana" charset="0"/>
              </a:rPr>
            </a:br>
            <a:r>
              <a:rPr lang="en-US" dirty="0">
                <a:latin typeface="Verdana" charset="0"/>
              </a:rPr>
              <a:t>Oil on canvas, 16</a:t>
            </a:r>
            <a:r>
              <a:rPr lang="uk-UA" dirty="0">
                <a:latin typeface="Verdana" charset="0"/>
              </a:rPr>
              <a:t>'</a:t>
            </a:r>
            <a:r>
              <a:rPr lang="en-US" dirty="0">
                <a:latin typeface="Verdana" charset="0"/>
              </a:rPr>
              <a:t> × 11</a:t>
            </a:r>
            <a:r>
              <a:rPr lang="uk-UA" dirty="0">
                <a:latin typeface="Verdana" charset="0"/>
              </a:rPr>
              <a:t>'</a:t>
            </a:r>
            <a:r>
              <a:rPr lang="en-US" dirty="0">
                <a:latin typeface="Verdana" charset="0"/>
              </a:rPr>
              <a:t>10</a:t>
            </a:r>
            <a:r>
              <a:rPr lang="ru-RU" dirty="0">
                <a:latin typeface="Verdana" charset="0"/>
              </a:rPr>
              <a:t>"</a:t>
            </a:r>
            <a:r>
              <a:rPr lang="en-US" dirty="0">
                <a:latin typeface="Verdana" charset="0"/>
              </a:rPr>
              <a:t> (4.88 × 3.61 m).</a:t>
            </a:r>
            <a:br>
              <a:rPr lang="en-US" dirty="0">
                <a:latin typeface="Verdana" charset="0"/>
              </a:rPr>
            </a:br>
            <a:r>
              <a:rPr lang="en-US" dirty="0">
                <a:latin typeface="Verdana" charset="0"/>
              </a:rPr>
              <a:t>Courtesy of Marilyn </a:t>
            </a:r>
            <a:r>
              <a:rPr lang="en-US" dirty="0" err="1">
                <a:latin typeface="Verdana" charset="0"/>
              </a:rPr>
              <a:t>Stokstad</a:t>
            </a:r>
            <a:endParaRPr lang="en-US" dirty="0"/>
          </a:p>
        </p:txBody>
      </p:sp>
      <p:sp>
        <p:nvSpPr>
          <p:cNvPr id="81923" name="Slide Number Placeholder 3"/>
          <p:cNvSpPr>
            <a:spLocks noGrp="1"/>
          </p:cNvSpPr>
          <p:nvPr>
            <p:ph type="sldNum" sz="quarter" idx="5"/>
          </p:nvPr>
        </p:nvSpPr>
        <p:spPr bwMode="auto">
          <a:noFill/>
          <a:ln>
            <a:miter lim="800000"/>
            <a:headEnd/>
            <a:tailEnd/>
          </a:ln>
        </p:spPr>
        <p:txBody>
          <a:bodyPr/>
          <a:lstStyle/>
          <a:p>
            <a:fld id="{8A730654-C558-E649-A10C-4E43F8AB5DDD}" type="slidenum">
              <a:rPr lang="en-US"/>
              <a:pPr/>
              <a:t>49</a:t>
            </a:fld>
            <a:endParaRPr lang="en-US"/>
          </a:p>
        </p:txBody>
      </p:sp>
    </p:spTree>
    <p:extLst>
      <p:ext uri="{BB962C8B-B14F-4D97-AF65-F5344CB8AC3E}">
        <p14:creationId xmlns:p14="http://schemas.microsoft.com/office/powerpoint/2010/main" val="8450669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p:cNvSpPr>
            <a:spLocks noGrp="1" noRot="1" noChangeAspect="1" noTextEdit="1"/>
          </p:cNvSpPr>
          <p:nvPr>
            <p:ph type="sldImg"/>
          </p:nvPr>
        </p:nvSpPr>
        <p:spPr bwMode="auto">
          <a:noFill/>
          <a:ln>
            <a:solidFill>
              <a:srgbClr val="000000"/>
            </a:solidFill>
            <a:miter lim="800000"/>
            <a:headEnd/>
            <a:tailEnd/>
          </a:ln>
        </p:spPr>
      </p:sp>
      <p:sp>
        <p:nvSpPr>
          <p:cNvPr id="87042" name="Notes Placeholder 2"/>
          <p:cNvSpPr>
            <a:spLocks noGrp="1"/>
          </p:cNvSpPr>
          <p:nvPr>
            <p:ph type="body" idx="1"/>
          </p:nvPr>
        </p:nvSpPr>
        <p:spPr bwMode="auto">
          <a:noFill/>
        </p:spPr>
        <p:txBody>
          <a:bodyPr/>
          <a:lstStyle/>
          <a:p>
            <a:pPr>
              <a:spcBef>
                <a:spcPct val="0"/>
              </a:spcBef>
            </a:pPr>
            <a:r>
              <a:rPr lang="en-US" dirty="0"/>
              <a:t>Hieronymus Bosch GARDEN OF EARTHLY DELIGHTS (OPEN)</a:t>
            </a:r>
            <a:br>
              <a:rPr lang="en-US" dirty="0"/>
            </a:br>
            <a:r>
              <a:rPr lang="en-US" dirty="0"/>
              <a:t>c. 1505–1515. Oil on wood panel, center panel 7</a:t>
            </a:r>
            <a:r>
              <a:rPr lang="uk-UA" dirty="0"/>
              <a:t>'</a:t>
            </a:r>
            <a:r>
              <a:rPr lang="en-US" dirty="0"/>
              <a:t>2-1/2</a:t>
            </a:r>
            <a:r>
              <a:rPr lang="ru-RU" dirty="0"/>
              <a:t>"</a:t>
            </a:r>
            <a:r>
              <a:rPr lang="en-US" dirty="0"/>
              <a:t> × 6</a:t>
            </a:r>
            <a:r>
              <a:rPr lang="uk-UA" dirty="0"/>
              <a:t>'</a:t>
            </a:r>
            <a:r>
              <a:rPr lang="en-US" dirty="0"/>
              <a:t>4-3/4</a:t>
            </a:r>
            <a:r>
              <a:rPr lang="ru-RU" dirty="0"/>
              <a:t>"</a:t>
            </a:r>
            <a:r>
              <a:rPr lang="en-US" dirty="0"/>
              <a:t> (2.20 × 1.95 m),</a:t>
            </a:r>
            <a:br>
              <a:rPr lang="en-US" dirty="0"/>
            </a:br>
            <a:r>
              <a:rPr lang="en-US" dirty="0"/>
              <a:t>each wing 7</a:t>
            </a:r>
            <a:r>
              <a:rPr lang="uk-UA" dirty="0"/>
              <a:t>'</a:t>
            </a:r>
            <a:r>
              <a:rPr lang="en-US" dirty="0"/>
              <a:t>2-1/2</a:t>
            </a:r>
            <a:r>
              <a:rPr lang="ru-RU" dirty="0"/>
              <a:t>"</a:t>
            </a:r>
            <a:r>
              <a:rPr lang="en-US" dirty="0"/>
              <a:t> × 3</a:t>
            </a:r>
            <a:r>
              <a:rPr lang="uk-UA" dirty="0"/>
              <a:t>'</a:t>
            </a:r>
            <a:r>
              <a:rPr lang="en-US" dirty="0"/>
              <a:t>2</a:t>
            </a:r>
            <a:r>
              <a:rPr lang="ru-RU" dirty="0"/>
              <a:t>"</a:t>
            </a:r>
            <a:r>
              <a:rPr lang="en-US" dirty="0"/>
              <a:t> (2.20 × 0.97 m).</a:t>
            </a:r>
            <a:br>
              <a:rPr lang="en-US" dirty="0"/>
            </a:br>
            <a:r>
              <a:rPr lang="en-US" dirty="0"/>
              <a:t>Museo del Prado, Madrid. © 2016. Image copyright Museo Nacional del Prado. © Photo MNP/Scala, Florence.</a:t>
            </a:r>
          </a:p>
        </p:txBody>
      </p:sp>
      <p:sp>
        <p:nvSpPr>
          <p:cNvPr id="87043" name="Slide Number Placeholder 3"/>
          <p:cNvSpPr>
            <a:spLocks noGrp="1"/>
          </p:cNvSpPr>
          <p:nvPr>
            <p:ph type="sldNum" sz="quarter" idx="5"/>
          </p:nvPr>
        </p:nvSpPr>
        <p:spPr bwMode="auto">
          <a:noFill/>
          <a:ln>
            <a:miter lim="800000"/>
            <a:headEnd/>
            <a:tailEnd/>
          </a:ln>
        </p:spPr>
        <p:txBody>
          <a:bodyPr/>
          <a:lstStyle/>
          <a:p>
            <a:fld id="{B797EB16-12C8-114B-961D-B051EC8D60FF}" type="slidenum">
              <a:rPr lang="en-US"/>
              <a:pPr/>
              <a:t>52</a:t>
            </a:fld>
            <a:endParaRPr lang="en-US"/>
          </a:p>
        </p:txBody>
      </p:sp>
    </p:spTree>
    <p:extLst>
      <p:ext uri="{BB962C8B-B14F-4D97-AF65-F5344CB8AC3E}">
        <p14:creationId xmlns:p14="http://schemas.microsoft.com/office/powerpoint/2010/main" val="1730366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noTextEdit="1"/>
          </p:cNvSpPr>
          <p:nvPr>
            <p:ph type="sldImg"/>
          </p:nvPr>
        </p:nvSpPr>
        <p:spPr bwMode="auto">
          <a:noFill/>
          <a:ln>
            <a:solidFill>
              <a:srgbClr val="000000"/>
            </a:solidFill>
            <a:miter lim="800000"/>
            <a:headEnd/>
            <a:tailEnd/>
          </a:ln>
        </p:spPr>
      </p:sp>
      <p:sp>
        <p:nvSpPr>
          <p:cNvPr id="90114" name="Notes Placeholder 2"/>
          <p:cNvSpPr>
            <a:spLocks noGrp="1"/>
          </p:cNvSpPr>
          <p:nvPr>
            <p:ph type="body" idx="1"/>
          </p:nvPr>
        </p:nvSpPr>
        <p:spPr bwMode="auto">
          <a:noFill/>
        </p:spPr>
        <p:txBody>
          <a:bodyPr/>
          <a:lstStyle/>
          <a:p>
            <a:pPr>
              <a:spcBef>
                <a:spcPct val="0"/>
              </a:spcBef>
            </a:pPr>
            <a:r>
              <a:rPr lang="en-US" dirty="0">
                <a:latin typeface="Verdana" charset="0"/>
              </a:rPr>
              <a:t>Hieronymus Bosch GARDEN OF EARTHLY DELIGHTS (CLOSED)</a:t>
            </a:r>
            <a:br>
              <a:rPr lang="en-US" dirty="0">
                <a:latin typeface="Verdana" charset="0"/>
              </a:rPr>
            </a:br>
            <a:r>
              <a:rPr lang="en-US" dirty="0">
                <a:latin typeface="Verdana" charset="0"/>
              </a:rPr>
              <a:t>© 2016. Photo Scala, Florence.</a:t>
            </a:r>
            <a:endParaRPr lang="en-US" dirty="0"/>
          </a:p>
        </p:txBody>
      </p:sp>
      <p:sp>
        <p:nvSpPr>
          <p:cNvPr id="90115" name="Slide Number Placeholder 3"/>
          <p:cNvSpPr>
            <a:spLocks noGrp="1"/>
          </p:cNvSpPr>
          <p:nvPr>
            <p:ph type="sldNum" sz="quarter" idx="5"/>
          </p:nvPr>
        </p:nvSpPr>
        <p:spPr bwMode="auto">
          <a:noFill/>
          <a:ln>
            <a:miter lim="800000"/>
            <a:headEnd/>
            <a:tailEnd/>
          </a:ln>
        </p:spPr>
        <p:txBody>
          <a:bodyPr/>
          <a:lstStyle/>
          <a:p>
            <a:fld id="{0827EAC8-FAA6-2746-AFE4-F6C8D744FF3C}" type="slidenum">
              <a:rPr lang="en-US"/>
              <a:pPr/>
              <a:t>55</a:t>
            </a:fld>
            <a:endParaRPr lang="en-US"/>
          </a:p>
        </p:txBody>
      </p:sp>
    </p:spTree>
    <p:extLst>
      <p:ext uri="{BB962C8B-B14F-4D97-AF65-F5344CB8AC3E}">
        <p14:creationId xmlns:p14="http://schemas.microsoft.com/office/powerpoint/2010/main" val="1051747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Image Placeholder 1"/>
          <p:cNvSpPr>
            <a:spLocks noGrp="1" noRot="1" noChangeAspect="1" noTextEdit="1"/>
          </p:cNvSpPr>
          <p:nvPr>
            <p:ph type="sldImg"/>
          </p:nvPr>
        </p:nvSpPr>
        <p:spPr bwMode="auto">
          <a:noFill/>
          <a:ln>
            <a:solidFill>
              <a:srgbClr val="000000"/>
            </a:solidFill>
            <a:miter lim="800000"/>
            <a:headEnd/>
            <a:tailEnd/>
          </a:ln>
        </p:spPr>
      </p:sp>
      <p:sp>
        <p:nvSpPr>
          <p:cNvPr id="93186" name="Notes Placeholder 2"/>
          <p:cNvSpPr>
            <a:spLocks noGrp="1"/>
          </p:cNvSpPr>
          <p:nvPr>
            <p:ph type="body" idx="1"/>
          </p:nvPr>
        </p:nvSpPr>
        <p:spPr bwMode="auto">
          <a:noFill/>
        </p:spPr>
        <p:txBody>
          <a:bodyPr/>
          <a:lstStyle/>
          <a:p>
            <a:pPr>
              <a:spcBef>
                <a:spcPct val="0"/>
              </a:spcBef>
            </a:pPr>
            <a:r>
              <a:rPr lang="en-US" dirty="0">
                <a:latin typeface="Verdana" charset="0"/>
              </a:rPr>
              <a:t>Jan </a:t>
            </a:r>
            <a:r>
              <a:rPr lang="en-US" dirty="0" err="1">
                <a:latin typeface="Verdana" charset="0"/>
              </a:rPr>
              <a:t>Gossaert</a:t>
            </a:r>
            <a:r>
              <a:rPr lang="en-US" dirty="0">
                <a:latin typeface="Verdana" charset="0"/>
              </a:rPr>
              <a:t> ST. LUKE DRAWING THE VIRGIN MARY</a:t>
            </a:r>
            <a:br>
              <a:rPr lang="en-US" dirty="0">
                <a:latin typeface="Verdana" charset="0"/>
              </a:rPr>
            </a:br>
            <a:r>
              <a:rPr lang="en-US" dirty="0">
                <a:latin typeface="Verdana" charset="0"/>
              </a:rPr>
              <a:t>1520. Oil on panel, 43-3/8</a:t>
            </a:r>
            <a:r>
              <a:rPr lang="ru-RU" dirty="0">
                <a:latin typeface="Verdana" charset="0"/>
              </a:rPr>
              <a:t>"</a:t>
            </a:r>
            <a:r>
              <a:rPr lang="en-US" dirty="0">
                <a:latin typeface="Verdana" charset="0"/>
              </a:rPr>
              <a:t> × 32-1/4</a:t>
            </a:r>
            <a:r>
              <a:rPr lang="ru-RU" dirty="0">
                <a:latin typeface="Verdana" charset="0"/>
              </a:rPr>
              <a:t>"</a:t>
            </a:r>
            <a:r>
              <a:rPr lang="en-US" dirty="0">
                <a:latin typeface="Verdana" charset="0"/>
              </a:rPr>
              <a:t> (110.2 × 81.9 cm).</a:t>
            </a:r>
            <a:br>
              <a:rPr lang="en-US" dirty="0">
                <a:latin typeface="Verdana" charset="0"/>
              </a:rPr>
            </a:br>
            <a:r>
              <a:rPr lang="en-US" dirty="0" err="1">
                <a:latin typeface="Verdana" charset="0"/>
              </a:rPr>
              <a:t>Kunsthistorisches</a:t>
            </a:r>
            <a:r>
              <a:rPr lang="en-US" dirty="0">
                <a:latin typeface="Verdana" charset="0"/>
              </a:rPr>
              <a:t> Museum, Vienna. © </a:t>
            </a:r>
            <a:r>
              <a:rPr lang="en-US" dirty="0" err="1">
                <a:latin typeface="Verdana" charset="0"/>
              </a:rPr>
              <a:t>akg</a:t>
            </a:r>
            <a:r>
              <a:rPr lang="en-US" dirty="0">
                <a:latin typeface="Verdana" charset="0"/>
              </a:rPr>
              <a:t>-images/Erich Lessing.</a:t>
            </a:r>
            <a:endParaRPr lang="en-US" dirty="0"/>
          </a:p>
        </p:txBody>
      </p:sp>
      <p:sp>
        <p:nvSpPr>
          <p:cNvPr id="93187" name="Slide Number Placeholder 3"/>
          <p:cNvSpPr>
            <a:spLocks noGrp="1"/>
          </p:cNvSpPr>
          <p:nvPr>
            <p:ph type="sldNum" sz="quarter" idx="5"/>
          </p:nvPr>
        </p:nvSpPr>
        <p:spPr bwMode="auto">
          <a:noFill/>
          <a:ln>
            <a:miter lim="800000"/>
            <a:headEnd/>
            <a:tailEnd/>
          </a:ln>
        </p:spPr>
        <p:txBody>
          <a:bodyPr/>
          <a:lstStyle/>
          <a:p>
            <a:fld id="{662C9B89-7B09-C743-AA42-815C0BB24033}" type="slidenum">
              <a:rPr lang="en-US"/>
              <a:pPr/>
              <a:t>57</a:t>
            </a:fld>
            <a:endParaRPr lang="en-US"/>
          </a:p>
        </p:txBody>
      </p:sp>
    </p:spTree>
    <p:extLst>
      <p:ext uri="{BB962C8B-B14F-4D97-AF65-F5344CB8AC3E}">
        <p14:creationId xmlns:p14="http://schemas.microsoft.com/office/powerpoint/2010/main" val="7794600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Image Placeholder 1"/>
          <p:cNvSpPr>
            <a:spLocks noGrp="1" noRot="1" noChangeAspect="1" noTextEdit="1"/>
          </p:cNvSpPr>
          <p:nvPr>
            <p:ph type="sldImg"/>
          </p:nvPr>
        </p:nvSpPr>
        <p:spPr bwMode="auto">
          <a:noFill/>
          <a:ln>
            <a:solidFill>
              <a:srgbClr val="000000"/>
            </a:solidFill>
            <a:miter lim="800000"/>
            <a:headEnd/>
            <a:tailEnd/>
          </a:ln>
        </p:spPr>
      </p:sp>
      <p:sp>
        <p:nvSpPr>
          <p:cNvPr id="97282" name="Notes Placeholder 2"/>
          <p:cNvSpPr>
            <a:spLocks noGrp="1"/>
          </p:cNvSpPr>
          <p:nvPr>
            <p:ph type="body" idx="1"/>
          </p:nvPr>
        </p:nvSpPr>
        <p:spPr bwMode="auto">
          <a:noFill/>
        </p:spPr>
        <p:txBody>
          <a:bodyPr/>
          <a:lstStyle/>
          <a:p>
            <a:pPr>
              <a:spcBef>
                <a:spcPct val="0"/>
              </a:spcBef>
            </a:pPr>
            <a:r>
              <a:rPr lang="en-US" dirty="0">
                <a:latin typeface="Verdana" charset="0"/>
              </a:rPr>
              <a:t>Quentin </a:t>
            </a:r>
            <a:r>
              <a:rPr lang="en-US" dirty="0" err="1">
                <a:latin typeface="Verdana" charset="0"/>
              </a:rPr>
              <a:t>Massys</a:t>
            </a:r>
            <a:r>
              <a:rPr lang="en-US" dirty="0">
                <a:latin typeface="Verdana" charset="0"/>
              </a:rPr>
              <a:t> MONEY CHANGER AND HIS WIFE</a:t>
            </a:r>
            <a:br>
              <a:rPr lang="en-US" dirty="0">
                <a:latin typeface="Verdana" charset="0"/>
              </a:rPr>
            </a:br>
            <a:r>
              <a:rPr lang="en-US" dirty="0">
                <a:latin typeface="Verdana" charset="0"/>
              </a:rPr>
              <a:t>1514. Oil on panel, 28</a:t>
            </a:r>
            <a:r>
              <a:rPr lang="ru-RU" dirty="0">
                <a:latin typeface="Verdana" charset="0"/>
              </a:rPr>
              <a:t>"</a:t>
            </a:r>
            <a:r>
              <a:rPr lang="en-US" dirty="0">
                <a:latin typeface="Verdana" charset="0"/>
              </a:rPr>
              <a:t> × 26-3/4</a:t>
            </a:r>
            <a:r>
              <a:rPr lang="ru-RU" dirty="0">
                <a:latin typeface="Verdana" charset="0"/>
              </a:rPr>
              <a:t>"</a:t>
            </a:r>
            <a:r>
              <a:rPr lang="en-US" dirty="0">
                <a:latin typeface="Verdana" charset="0"/>
              </a:rPr>
              <a:t> (71.2 × 68 cm).</a:t>
            </a:r>
            <a:br>
              <a:rPr lang="en-US" dirty="0">
                <a:latin typeface="Verdana" charset="0"/>
              </a:rPr>
            </a:br>
            <a:r>
              <a:rPr lang="en-US" dirty="0" err="1">
                <a:latin typeface="Verdana" charset="0"/>
              </a:rPr>
              <a:t>Kunsthistorisches</a:t>
            </a:r>
            <a:r>
              <a:rPr lang="en-US" dirty="0">
                <a:latin typeface="Verdana" charset="0"/>
              </a:rPr>
              <a:t> Museum, Vienna. Photo © RMN-Grand Palais (</a:t>
            </a:r>
            <a:r>
              <a:rPr lang="en-US" dirty="0" err="1">
                <a:latin typeface="Verdana" charset="0"/>
              </a:rPr>
              <a:t>Musée</a:t>
            </a:r>
            <a:r>
              <a:rPr lang="en-US" dirty="0">
                <a:latin typeface="Verdana" charset="0"/>
              </a:rPr>
              <a:t> du Louvre)/Tony </a:t>
            </a:r>
            <a:r>
              <a:rPr lang="en-US" dirty="0" err="1">
                <a:latin typeface="Verdana" charset="0"/>
              </a:rPr>
              <a:t>Querrec</a:t>
            </a:r>
            <a:r>
              <a:rPr lang="en-US" dirty="0">
                <a:latin typeface="Verdana" charset="0"/>
              </a:rPr>
              <a:t>.</a:t>
            </a:r>
            <a:endParaRPr lang="en-US" dirty="0"/>
          </a:p>
        </p:txBody>
      </p:sp>
      <p:sp>
        <p:nvSpPr>
          <p:cNvPr id="97283" name="Slide Number Placeholder 3"/>
          <p:cNvSpPr>
            <a:spLocks noGrp="1"/>
          </p:cNvSpPr>
          <p:nvPr>
            <p:ph type="sldNum" sz="quarter" idx="5"/>
          </p:nvPr>
        </p:nvSpPr>
        <p:spPr bwMode="auto">
          <a:noFill/>
          <a:ln>
            <a:miter lim="800000"/>
            <a:headEnd/>
            <a:tailEnd/>
          </a:ln>
        </p:spPr>
        <p:txBody>
          <a:bodyPr/>
          <a:lstStyle/>
          <a:p>
            <a:fld id="{20638813-B179-4F46-97D3-011CF0FD07D3}" type="slidenum">
              <a:rPr lang="en-US"/>
              <a:pPr/>
              <a:t>60</a:t>
            </a:fld>
            <a:endParaRPr lang="en-US"/>
          </a:p>
        </p:txBody>
      </p:sp>
    </p:spTree>
    <p:extLst>
      <p:ext uri="{BB962C8B-B14F-4D97-AF65-F5344CB8AC3E}">
        <p14:creationId xmlns:p14="http://schemas.microsoft.com/office/powerpoint/2010/main" val="7347464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Image Placeholder 1"/>
          <p:cNvSpPr>
            <a:spLocks noGrp="1" noRot="1" noChangeAspect="1" noTextEdit="1"/>
          </p:cNvSpPr>
          <p:nvPr>
            <p:ph type="sldImg"/>
          </p:nvPr>
        </p:nvSpPr>
        <p:spPr bwMode="auto">
          <a:noFill/>
          <a:ln>
            <a:solidFill>
              <a:srgbClr val="000000"/>
            </a:solidFill>
            <a:miter lim="800000"/>
            <a:headEnd/>
            <a:tailEnd/>
          </a:ln>
        </p:spPr>
      </p:sp>
      <p:sp>
        <p:nvSpPr>
          <p:cNvPr id="100354" name="Notes Placeholder 2"/>
          <p:cNvSpPr>
            <a:spLocks noGrp="1"/>
          </p:cNvSpPr>
          <p:nvPr>
            <p:ph type="body" idx="1"/>
          </p:nvPr>
        </p:nvSpPr>
        <p:spPr bwMode="auto">
          <a:noFill/>
        </p:spPr>
        <p:txBody>
          <a:bodyPr/>
          <a:lstStyle/>
          <a:p>
            <a:pPr>
              <a:spcBef>
                <a:spcPct val="0"/>
              </a:spcBef>
            </a:pPr>
            <a:r>
              <a:rPr lang="en-US" dirty="0"/>
              <a:t>Caterina van </a:t>
            </a:r>
            <a:r>
              <a:rPr lang="en-US" dirty="0" err="1"/>
              <a:t>Hemessen</a:t>
            </a:r>
            <a:r>
              <a:rPr lang="en-US" dirty="0"/>
              <a:t> SELF-PORTRAIT</a:t>
            </a:r>
            <a:br>
              <a:rPr lang="en-US" dirty="0"/>
            </a:br>
            <a:r>
              <a:rPr lang="en-US" dirty="0"/>
              <a:t>1548. Oil on wood panel, 12-1/4</a:t>
            </a:r>
            <a:r>
              <a:rPr lang="ru-RU" dirty="0"/>
              <a:t>"</a:t>
            </a:r>
            <a:r>
              <a:rPr lang="en-US" dirty="0"/>
              <a:t> × 9-1/4</a:t>
            </a:r>
            <a:r>
              <a:rPr lang="ru-RU" dirty="0"/>
              <a:t>"</a:t>
            </a:r>
            <a:r>
              <a:rPr lang="en-US" dirty="0"/>
              <a:t> (31.1 × 23.5 cm).</a:t>
            </a:r>
            <a:br>
              <a:rPr lang="en-US" dirty="0"/>
            </a:br>
            <a:r>
              <a:rPr lang="en-US" dirty="0" err="1"/>
              <a:t>Öffentliche</a:t>
            </a:r>
            <a:r>
              <a:rPr lang="en-US" dirty="0"/>
              <a:t> </a:t>
            </a:r>
            <a:r>
              <a:rPr lang="en-US" dirty="0" err="1"/>
              <a:t>Kunstsammlung</a:t>
            </a:r>
            <a:r>
              <a:rPr lang="en-US" dirty="0"/>
              <a:t>, Basel. Photo: Martin Buhler/</a:t>
            </a:r>
            <a:r>
              <a:rPr lang="en-US" dirty="0" err="1"/>
              <a:t>Kunstmuseum</a:t>
            </a:r>
            <a:r>
              <a:rPr lang="en-US" dirty="0"/>
              <a:t> Basel. </a:t>
            </a:r>
          </a:p>
        </p:txBody>
      </p:sp>
      <p:sp>
        <p:nvSpPr>
          <p:cNvPr id="100355" name="Slide Number Placeholder 3"/>
          <p:cNvSpPr>
            <a:spLocks noGrp="1"/>
          </p:cNvSpPr>
          <p:nvPr>
            <p:ph type="sldNum" sz="quarter" idx="5"/>
          </p:nvPr>
        </p:nvSpPr>
        <p:spPr bwMode="auto">
          <a:noFill/>
          <a:ln>
            <a:miter lim="800000"/>
            <a:headEnd/>
            <a:tailEnd/>
          </a:ln>
        </p:spPr>
        <p:txBody>
          <a:bodyPr/>
          <a:lstStyle/>
          <a:p>
            <a:fld id="{8CF21E14-B982-094D-B605-6FD1D3F3E0E2}" type="slidenum">
              <a:rPr lang="en-US"/>
              <a:pPr/>
              <a:t>62</a:t>
            </a:fld>
            <a:endParaRPr lang="en-US"/>
          </a:p>
        </p:txBody>
      </p:sp>
    </p:spTree>
    <p:extLst>
      <p:ext uri="{BB962C8B-B14F-4D97-AF65-F5344CB8AC3E}">
        <p14:creationId xmlns:p14="http://schemas.microsoft.com/office/powerpoint/2010/main" val="8521443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Slide Image Placeholder 1"/>
          <p:cNvSpPr>
            <a:spLocks noGrp="1" noRot="1" noChangeAspect="1" noTextEdit="1"/>
          </p:cNvSpPr>
          <p:nvPr>
            <p:ph type="sldImg"/>
          </p:nvPr>
        </p:nvSpPr>
        <p:spPr bwMode="auto">
          <a:noFill/>
          <a:ln>
            <a:solidFill>
              <a:srgbClr val="000000"/>
            </a:solidFill>
            <a:miter lim="800000"/>
            <a:headEnd/>
            <a:tailEnd/>
          </a:ln>
        </p:spPr>
      </p:sp>
      <p:sp>
        <p:nvSpPr>
          <p:cNvPr id="104450" name="Notes Placeholder 2"/>
          <p:cNvSpPr>
            <a:spLocks noGrp="1"/>
          </p:cNvSpPr>
          <p:nvPr>
            <p:ph type="body" idx="1"/>
          </p:nvPr>
        </p:nvSpPr>
        <p:spPr bwMode="auto">
          <a:noFill/>
        </p:spPr>
        <p:txBody>
          <a:bodyPr/>
          <a:lstStyle/>
          <a:p>
            <a:pPr>
              <a:spcBef>
                <a:spcPct val="0"/>
              </a:spcBef>
            </a:pPr>
            <a:r>
              <a:rPr lang="en-US" dirty="0">
                <a:latin typeface="Verdana" charset="0"/>
              </a:rPr>
              <a:t>Pieter Bruegel the Elder RETURN OF THE HUNTERS</a:t>
            </a:r>
            <a:br>
              <a:rPr lang="en-US" dirty="0">
                <a:latin typeface="Verdana" charset="0"/>
              </a:rPr>
            </a:br>
            <a:r>
              <a:rPr lang="en-US" dirty="0">
                <a:latin typeface="Verdana" charset="0"/>
              </a:rPr>
              <a:t>1565. Oil on wood panel, 3</a:t>
            </a:r>
            <a:r>
              <a:rPr lang="uk-UA" dirty="0">
                <a:latin typeface="Verdana" charset="0"/>
              </a:rPr>
              <a:t>'</a:t>
            </a:r>
            <a:r>
              <a:rPr lang="en-US" dirty="0">
                <a:latin typeface="Verdana" charset="0"/>
              </a:rPr>
              <a:t>10-1/2</a:t>
            </a:r>
            <a:r>
              <a:rPr lang="ru-RU" dirty="0">
                <a:latin typeface="Verdana" charset="0"/>
              </a:rPr>
              <a:t>"</a:t>
            </a:r>
            <a:r>
              <a:rPr lang="en-US" dirty="0">
                <a:latin typeface="Verdana" charset="0"/>
              </a:rPr>
              <a:t> × 5</a:t>
            </a:r>
            <a:r>
              <a:rPr lang="uk-UA" dirty="0">
                <a:latin typeface="Verdana" charset="0"/>
              </a:rPr>
              <a:t>'</a:t>
            </a:r>
            <a:r>
              <a:rPr lang="en-US" dirty="0">
                <a:latin typeface="Verdana" charset="0"/>
              </a:rPr>
              <a:t>3-3/4</a:t>
            </a:r>
            <a:r>
              <a:rPr lang="ru-RU" dirty="0">
                <a:latin typeface="Verdana" charset="0"/>
              </a:rPr>
              <a:t>"</a:t>
            </a:r>
            <a:r>
              <a:rPr lang="en-US" dirty="0">
                <a:latin typeface="Verdana" charset="0"/>
              </a:rPr>
              <a:t> (1.18 × 1.61 m).</a:t>
            </a:r>
            <a:br>
              <a:rPr lang="en-US" dirty="0">
                <a:latin typeface="Verdana" charset="0"/>
              </a:rPr>
            </a:br>
            <a:r>
              <a:rPr lang="en-US" dirty="0" err="1">
                <a:latin typeface="Verdana" charset="0"/>
              </a:rPr>
              <a:t>Kunsthistorisches</a:t>
            </a:r>
            <a:r>
              <a:rPr lang="en-US" dirty="0">
                <a:latin typeface="Verdana" charset="0"/>
              </a:rPr>
              <a:t> Museum, Vienna. © </a:t>
            </a:r>
            <a:r>
              <a:rPr lang="en-US" dirty="0" err="1">
                <a:latin typeface="Verdana" charset="0"/>
              </a:rPr>
              <a:t>akg</a:t>
            </a:r>
            <a:r>
              <a:rPr lang="en-US" dirty="0">
                <a:latin typeface="Verdana" charset="0"/>
              </a:rPr>
              <a:t>-images/Erich Lessing. </a:t>
            </a:r>
            <a:endParaRPr lang="en-US" dirty="0"/>
          </a:p>
        </p:txBody>
      </p:sp>
      <p:sp>
        <p:nvSpPr>
          <p:cNvPr id="104451" name="Slide Number Placeholder 3"/>
          <p:cNvSpPr>
            <a:spLocks noGrp="1"/>
          </p:cNvSpPr>
          <p:nvPr>
            <p:ph type="sldNum" sz="quarter" idx="5"/>
          </p:nvPr>
        </p:nvSpPr>
        <p:spPr bwMode="auto">
          <a:noFill/>
          <a:ln>
            <a:miter lim="800000"/>
            <a:headEnd/>
            <a:tailEnd/>
          </a:ln>
        </p:spPr>
        <p:txBody>
          <a:bodyPr/>
          <a:lstStyle/>
          <a:p>
            <a:fld id="{E2B1D065-DF57-FF47-9D16-DAFCC5878658}" type="slidenum">
              <a:rPr lang="en-US"/>
              <a:pPr/>
              <a:t>65</a:t>
            </a:fld>
            <a:endParaRPr lang="en-US"/>
          </a:p>
        </p:txBody>
      </p:sp>
    </p:spTree>
    <p:extLst>
      <p:ext uri="{BB962C8B-B14F-4D97-AF65-F5344CB8AC3E}">
        <p14:creationId xmlns:p14="http://schemas.microsoft.com/office/powerpoint/2010/main" val="4208754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8" name="Notes Placeholder 2"/>
          <p:cNvSpPr>
            <a:spLocks noGrp="1"/>
          </p:cNvSpPr>
          <p:nvPr>
            <p:ph type="body" idx="1"/>
          </p:nvPr>
        </p:nvSpPr>
        <p:spPr bwMode="auto">
          <a:noFill/>
        </p:spPr>
        <p:txBody>
          <a:bodyPr/>
          <a:lstStyle/>
          <a:p>
            <a:pPr>
              <a:spcBef>
                <a:spcPct val="0"/>
              </a:spcBef>
            </a:pPr>
            <a:r>
              <a:rPr lang="en-US" dirty="0">
                <a:latin typeface="Verdana" charset="0"/>
              </a:rPr>
              <a:t>Pieter Bruegel the Elder THE HARVESTERS</a:t>
            </a:r>
            <a:br>
              <a:rPr lang="en-US" dirty="0">
                <a:latin typeface="Verdana" charset="0"/>
              </a:rPr>
            </a:br>
            <a:r>
              <a:rPr lang="en-US" dirty="0">
                <a:latin typeface="Verdana" charset="0"/>
              </a:rPr>
              <a:t>1565. Oil on wood panel, 46-7/8</a:t>
            </a:r>
            <a:r>
              <a:rPr lang="ru-RU" dirty="0">
                <a:latin typeface="Verdana" charset="0"/>
              </a:rPr>
              <a:t>"</a:t>
            </a:r>
            <a:r>
              <a:rPr lang="en-US" dirty="0">
                <a:latin typeface="Verdana" charset="0"/>
              </a:rPr>
              <a:t> × 63-3/4</a:t>
            </a:r>
            <a:r>
              <a:rPr lang="ru-RU" dirty="0">
                <a:latin typeface="Verdana" charset="0"/>
              </a:rPr>
              <a:t>"</a:t>
            </a:r>
            <a:r>
              <a:rPr lang="en-US" dirty="0">
                <a:latin typeface="Verdana" charset="0"/>
              </a:rPr>
              <a:t> (1.17 × 1.6 m).</a:t>
            </a:r>
            <a:br>
              <a:rPr lang="en-US" dirty="0">
                <a:latin typeface="Verdana" charset="0"/>
              </a:rPr>
            </a:br>
            <a:r>
              <a:rPr lang="en-US" dirty="0">
                <a:latin typeface="Verdana" charset="0"/>
              </a:rPr>
              <a:t>Metropolitan Museum of Art, New York. Rogers Fund, 1919. (19.164). © 2016. Image copyright The Metropolitan Museum of Art, New York/Art Resource, NY/Scala, Florence.</a:t>
            </a:r>
            <a:endParaRPr lang="en-US" dirty="0"/>
          </a:p>
        </p:txBody>
      </p:sp>
      <p:sp>
        <p:nvSpPr>
          <p:cNvPr id="106499" name="Slide Number Placeholder 3"/>
          <p:cNvSpPr>
            <a:spLocks noGrp="1"/>
          </p:cNvSpPr>
          <p:nvPr>
            <p:ph type="sldNum" sz="quarter" idx="5"/>
          </p:nvPr>
        </p:nvSpPr>
        <p:spPr bwMode="auto">
          <a:noFill/>
          <a:ln>
            <a:miter lim="800000"/>
            <a:headEnd/>
            <a:tailEnd/>
          </a:ln>
        </p:spPr>
        <p:txBody>
          <a:bodyPr/>
          <a:lstStyle/>
          <a:p>
            <a:fld id="{030869C0-55D9-E04A-A940-4133370904C9}" type="slidenum">
              <a:rPr lang="en-US"/>
              <a:pPr/>
              <a:t>66</a:t>
            </a:fld>
            <a:endParaRPr lang="en-US"/>
          </a:p>
        </p:txBody>
      </p:sp>
    </p:spTree>
    <p:extLst>
      <p:ext uri="{BB962C8B-B14F-4D97-AF65-F5344CB8AC3E}">
        <p14:creationId xmlns:p14="http://schemas.microsoft.com/office/powerpoint/2010/main" val="19906268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Slide Image Placeholder 1"/>
          <p:cNvSpPr>
            <a:spLocks noGrp="1" noRot="1" noChangeAspect="1" noTextEdit="1"/>
          </p:cNvSpPr>
          <p:nvPr>
            <p:ph type="sldImg"/>
          </p:nvPr>
        </p:nvSpPr>
        <p:spPr bwMode="auto">
          <a:noFill/>
          <a:ln>
            <a:solidFill>
              <a:srgbClr val="000000"/>
            </a:solidFill>
            <a:miter lim="800000"/>
            <a:headEnd/>
            <a:tailEnd/>
          </a:ln>
        </p:spPr>
      </p:sp>
      <p:sp>
        <p:nvSpPr>
          <p:cNvPr id="110594" name="Notes Placeholder 2"/>
          <p:cNvSpPr>
            <a:spLocks noGrp="1"/>
          </p:cNvSpPr>
          <p:nvPr>
            <p:ph type="body" idx="1"/>
          </p:nvPr>
        </p:nvSpPr>
        <p:spPr bwMode="auto">
          <a:noFill/>
        </p:spPr>
        <p:txBody>
          <a:bodyPr/>
          <a:lstStyle/>
          <a:p>
            <a:pPr>
              <a:spcBef>
                <a:spcPct val="0"/>
              </a:spcBef>
            </a:pPr>
            <a:r>
              <a:rPr lang="en-US" dirty="0"/>
              <a:t>A CLOSER LOOK: The French Ambassadors by Hans Holbein the Younger</a:t>
            </a:r>
            <a:br>
              <a:rPr lang="en-US" dirty="0"/>
            </a:br>
            <a:r>
              <a:rPr lang="en-US" dirty="0"/>
              <a:t>1533. Oil on wood panel. 81-1/8</a:t>
            </a:r>
            <a:r>
              <a:rPr lang="ru-RU" dirty="0"/>
              <a:t>"</a:t>
            </a:r>
            <a:r>
              <a:rPr lang="en-US" dirty="0"/>
              <a:t> × 82-5/8</a:t>
            </a:r>
            <a:r>
              <a:rPr lang="ru-RU" dirty="0"/>
              <a:t>"</a:t>
            </a:r>
            <a:r>
              <a:rPr lang="en-US" dirty="0"/>
              <a:t> (2.07 × 2.1 m).</a:t>
            </a:r>
            <a:br>
              <a:rPr lang="en-US" dirty="0"/>
            </a:br>
            <a:r>
              <a:rPr lang="en-US" dirty="0"/>
              <a:t>National Gallery, London. © 2016. Copyright The National Gallery, London/Scala, Florence.</a:t>
            </a:r>
          </a:p>
        </p:txBody>
      </p:sp>
      <p:sp>
        <p:nvSpPr>
          <p:cNvPr id="110595" name="Slide Number Placeholder 3"/>
          <p:cNvSpPr>
            <a:spLocks noGrp="1"/>
          </p:cNvSpPr>
          <p:nvPr>
            <p:ph type="sldNum" sz="quarter" idx="5"/>
          </p:nvPr>
        </p:nvSpPr>
        <p:spPr bwMode="auto">
          <a:noFill/>
          <a:ln>
            <a:miter lim="800000"/>
            <a:headEnd/>
            <a:tailEnd/>
          </a:ln>
        </p:spPr>
        <p:txBody>
          <a:bodyPr/>
          <a:lstStyle/>
          <a:p>
            <a:fld id="{F61B98AC-9456-D54A-8BED-673BC05C3D00}" type="slidenum">
              <a:rPr lang="en-US"/>
              <a:pPr/>
              <a:t>69</a:t>
            </a:fld>
            <a:endParaRPr lang="en-US"/>
          </a:p>
        </p:txBody>
      </p:sp>
    </p:spTree>
    <p:extLst>
      <p:ext uri="{BB962C8B-B14F-4D97-AF65-F5344CB8AC3E}">
        <p14:creationId xmlns:p14="http://schemas.microsoft.com/office/powerpoint/2010/main" val="8172943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noTextEdit="1"/>
          </p:cNvSpPr>
          <p:nvPr>
            <p:ph type="sldImg"/>
          </p:nvPr>
        </p:nvSpPr>
        <p:spPr bwMode="auto">
          <a:noFill/>
          <a:ln>
            <a:solidFill>
              <a:srgbClr val="000000"/>
            </a:solidFill>
            <a:miter lim="800000"/>
            <a:headEnd/>
            <a:tailEnd/>
          </a:ln>
        </p:spPr>
      </p:sp>
      <p:sp>
        <p:nvSpPr>
          <p:cNvPr id="113666" name="Notes Placeholder 2"/>
          <p:cNvSpPr>
            <a:spLocks noGrp="1"/>
          </p:cNvSpPr>
          <p:nvPr>
            <p:ph type="body" idx="1"/>
          </p:nvPr>
        </p:nvSpPr>
        <p:spPr bwMode="auto">
          <a:noFill/>
        </p:spPr>
        <p:txBody>
          <a:bodyPr/>
          <a:lstStyle/>
          <a:p>
            <a:pPr>
              <a:spcBef>
                <a:spcPct val="0"/>
              </a:spcBef>
            </a:pPr>
            <a:r>
              <a:rPr lang="en-US" dirty="0">
                <a:latin typeface="Verdana" charset="0"/>
              </a:rPr>
              <a:t>Marcus </a:t>
            </a:r>
            <a:r>
              <a:rPr lang="en-US" dirty="0" err="1">
                <a:latin typeface="Verdana" charset="0"/>
              </a:rPr>
              <a:t>Gheeraerts</a:t>
            </a:r>
            <a:r>
              <a:rPr lang="en-US" dirty="0">
                <a:latin typeface="Verdana" charset="0"/>
              </a:rPr>
              <a:t> the Younger QUEEN ELIZABETH I (THE DITCHLEY PORTRAIT)</a:t>
            </a:r>
            <a:br>
              <a:rPr lang="en-US" dirty="0">
                <a:latin typeface="Verdana" charset="0"/>
              </a:rPr>
            </a:br>
            <a:r>
              <a:rPr lang="en-US" dirty="0">
                <a:latin typeface="Verdana" charset="0"/>
              </a:rPr>
              <a:t>c. 1592. Oil on canvas, 95</a:t>
            </a:r>
            <a:r>
              <a:rPr lang="ru-RU" dirty="0">
                <a:latin typeface="Verdana" charset="0"/>
              </a:rPr>
              <a:t>"</a:t>
            </a:r>
            <a:r>
              <a:rPr lang="en-US" dirty="0">
                <a:latin typeface="Verdana" charset="0"/>
              </a:rPr>
              <a:t> × 60</a:t>
            </a:r>
            <a:r>
              <a:rPr lang="ru-RU" dirty="0">
                <a:latin typeface="Verdana" charset="0"/>
              </a:rPr>
              <a:t>"</a:t>
            </a:r>
            <a:r>
              <a:rPr lang="en-US" dirty="0">
                <a:latin typeface="Verdana" charset="0"/>
              </a:rPr>
              <a:t> (2.4 × 1.5 m).</a:t>
            </a:r>
            <a:br>
              <a:rPr lang="en-US" dirty="0">
                <a:latin typeface="Verdana" charset="0"/>
              </a:rPr>
            </a:br>
            <a:r>
              <a:rPr lang="en-US" dirty="0">
                <a:latin typeface="Verdana" charset="0"/>
              </a:rPr>
              <a:t>National Portrait Gallery, London. Photo © Stefano </a:t>
            </a:r>
            <a:r>
              <a:rPr lang="en-US" dirty="0" err="1">
                <a:latin typeface="Verdana" charset="0"/>
              </a:rPr>
              <a:t>Baldini</a:t>
            </a:r>
            <a:r>
              <a:rPr lang="en-US" dirty="0">
                <a:latin typeface="Verdana" charset="0"/>
              </a:rPr>
              <a:t>/Bridgeman Images.</a:t>
            </a:r>
            <a:endParaRPr lang="en-US" dirty="0"/>
          </a:p>
        </p:txBody>
      </p:sp>
      <p:sp>
        <p:nvSpPr>
          <p:cNvPr id="113667" name="Slide Number Placeholder 3"/>
          <p:cNvSpPr>
            <a:spLocks noGrp="1"/>
          </p:cNvSpPr>
          <p:nvPr>
            <p:ph type="sldNum" sz="quarter" idx="5"/>
          </p:nvPr>
        </p:nvSpPr>
        <p:spPr bwMode="auto">
          <a:noFill/>
          <a:ln>
            <a:miter lim="800000"/>
            <a:headEnd/>
            <a:tailEnd/>
          </a:ln>
        </p:spPr>
        <p:txBody>
          <a:bodyPr/>
          <a:lstStyle/>
          <a:p>
            <a:fld id="{7413C585-2DE8-D042-A001-894B5DC95371}" type="slidenum">
              <a:rPr lang="en-US"/>
              <a:pPr/>
              <a:t>71</a:t>
            </a:fld>
            <a:endParaRPr lang="en-US"/>
          </a:p>
        </p:txBody>
      </p:sp>
    </p:spTree>
    <p:extLst>
      <p:ext uri="{BB962C8B-B14F-4D97-AF65-F5344CB8AC3E}">
        <p14:creationId xmlns:p14="http://schemas.microsoft.com/office/powerpoint/2010/main" val="9405052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lide Image Placeholder 1"/>
          <p:cNvSpPr>
            <a:spLocks noGrp="1" noRot="1" noChangeAspect="1" noTextEdit="1"/>
          </p:cNvSpPr>
          <p:nvPr>
            <p:ph type="sldImg"/>
          </p:nvPr>
        </p:nvSpPr>
        <p:spPr bwMode="auto">
          <a:noFill/>
          <a:ln>
            <a:solidFill>
              <a:srgbClr val="000000"/>
            </a:solidFill>
            <a:miter lim="800000"/>
            <a:headEnd/>
            <a:tailEnd/>
          </a:ln>
        </p:spPr>
      </p:sp>
      <p:sp>
        <p:nvSpPr>
          <p:cNvPr id="116738" name="Notes Placeholder 2"/>
          <p:cNvSpPr>
            <a:spLocks noGrp="1"/>
          </p:cNvSpPr>
          <p:nvPr>
            <p:ph type="body" idx="1"/>
          </p:nvPr>
        </p:nvSpPr>
        <p:spPr bwMode="auto">
          <a:noFill/>
        </p:spPr>
        <p:txBody>
          <a:bodyPr/>
          <a:lstStyle/>
          <a:p>
            <a:pPr>
              <a:spcBef>
                <a:spcPct val="0"/>
              </a:spcBef>
            </a:pPr>
            <a:r>
              <a:rPr lang="en-US" dirty="0">
                <a:latin typeface="Verdana" charset="0"/>
              </a:rPr>
              <a:t>Nicholas Hilliard GEORGE CLIFFORD, THIRD EARL OF CUMBERLAND</a:t>
            </a:r>
            <a:br>
              <a:rPr lang="en-US" dirty="0">
                <a:latin typeface="Verdana" charset="0"/>
              </a:rPr>
            </a:br>
            <a:r>
              <a:rPr lang="en-US" dirty="0">
                <a:latin typeface="Verdana" charset="0"/>
              </a:rPr>
              <a:t>c. 1595. Watercolor on vellum on card, oval 2-3/4</a:t>
            </a:r>
            <a:r>
              <a:rPr lang="ru-RU" dirty="0">
                <a:latin typeface="Verdana" charset="0"/>
              </a:rPr>
              <a:t>"</a:t>
            </a:r>
            <a:r>
              <a:rPr lang="en-US" dirty="0">
                <a:latin typeface="Verdana" charset="0"/>
              </a:rPr>
              <a:t> × 2-3/16</a:t>
            </a:r>
            <a:r>
              <a:rPr lang="ru-RU" dirty="0">
                <a:latin typeface="Verdana" charset="0"/>
              </a:rPr>
              <a:t>"</a:t>
            </a:r>
            <a:r>
              <a:rPr lang="en-US" dirty="0">
                <a:latin typeface="Verdana" charset="0"/>
              </a:rPr>
              <a:t> (7.1 × 5.8 cm).</a:t>
            </a:r>
            <a:br>
              <a:rPr lang="en-US" dirty="0">
                <a:latin typeface="Verdana" charset="0"/>
              </a:rPr>
            </a:br>
            <a:r>
              <a:rPr lang="en-US" dirty="0">
                <a:latin typeface="Verdana" charset="0"/>
              </a:rPr>
              <a:t>The Nelson-Atkins Museum of Art, Kansas City, Missouri. Gift of Mr. and Mrs. John W. Starr through the Starr Foundation. F58-60/188</a:t>
            </a:r>
            <a:endParaRPr lang="en-US" dirty="0"/>
          </a:p>
        </p:txBody>
      </p:sp>
      <p:sp>
        <p:nvSpPr>
          <p:cNvPr id="116739" name="Slide Number Placeholder 3"/>
          <p:cNvSpPr>
            <a:spLocks noGrp="1"/>
          </p:cNvSpPr>
          <p:nvPr>
            <p:ph type="sldNum" sz="quarter" idx="5"/>
          </p:nvPr>
        </p:nvSpPr>
        <p:spPr bwMode="auto">
          <a:noFill/>
          <a:ln>
            <a:miter lim="800000"/>
            <a:headEnd/>
            <a:tailEnd/>
          </a:ln>
        </p:spPr>
        <p:txBody>
          <a:bodyPr/>
          <a:lstStyle/>
          <a:p>
            <a:fld id="{3AE80E14-A3FA-B244-B583-72E5846AEABE}" type="slidenum">
              <a:rPr lang="en-US"/>
              <a:pPr/>
              <a:t>73</a:t>
            </a:fld>
            <a:endParaRPr lang="en-US"/>
          </a:p>
        </p:txBody>
      </p:sp>
    </p:spTree>
    <p:extLst>
      <p:ext uri="{BB962C8B-B14F-4D97-AF65-F5344CB8AC3E}">
        <p14:creationId xmlns:p14="http://schemas.microsoft.com/office/powerpoint/2010/main" val="15913721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noTextEdit="1"/>
          </p:cNvSpPr>
          <p:nvPr>
            <p:ph type="sldImg"/>
          </p:nvPr>
        </p:nvSpPr>
        <p:spPr bwMode="auto">
          <a:noFill/>
          <a:ln>
            <a:solidFill>
              <a:srgbClr val="000000"/>
            </a:solidFill>
            <a:miter lim="800000"/>
            <a:headEnd/>
            <a:tailEnd/>
          </a:ln>
        </p:spPr>
      </p:sp>
      <p:sp>
        <p:nvSpPr>
          <p:cNvPr id="119810" name="Notes Placeholder 2"/>
          <p:cNvSpPr>
            <a:spLocks noGrp="1"/>
          </p:cNvSpPr>
          <p:nvPr>
            <p:ph type="body" idx="1"/>
          </p:nvPr>
        </p:nvSpPr>
        <p:spPr bwMode="auto">
          <a:noFill/>
        </p:spPr>
        <p:txBody>
          <a:bodyPr/>
          <a:lstStyle/>
          <a:p>
            <a:pPr>
              <a:spcBef>
                <a:spcPct val="0"/>
              </a:spcBef>
            </a:pPr>
            <a:r>
              <a:rPr lang="en-US" dirty="0"/>
              <a:t>Robert Smythson HARDWICK HALL</a:t>
            </a:r>
            <a:br>
              <a:rPr lang="en-US" dirty="0"/>
            </a:br>
            <a:r>
              <a:rPr lang="en-US" dirty="0"/>
              <a:t>Derbyshire, England. 1591–1597.</a:t>
            </a:r>
            <a:br>
              <a:rPr lang="en-US" dirty="0"/>
            </a:br>
            <a:r>
              <a:rPr lang="en-US" dirty="0"/>
              <a:t>© Phil </a:t>
            </a:r>
            <a:r>
              <a:rPr lang="en-US" dirty="0" err="1"/>
              <a:t>MacD</a:t>
            </a:r>
            <a:r>
              <a:rPr lang="en-US" dirty="0"/>
              <a:t> Photography/Shutterstock. </a:t>
            </a:r>
          </a:p>
        </p:txBody>
      </p:sp>
      <p:sp>
        <p:nvSpPr>
          <p:cNvPr id="119811" name="Slide Number Placeholder 3"/>
          <p:cNvSpPr>
            <a:spLocks noGrp="1"/>
          </p:cNvSpPr>
          <p:nvPr>
            <p:ph type="sldNum" sz="quarter" idx="5"/>
          </p:nvPr>
        </p:nvSpPr>
        <p:spPr bwMode="auto">
          <a:noFill/>
          <a:ln>
            <a:miter lim="800000"/>
            <a:headEnd/>
            <a:tailEnd/>
          </a:ln>
        </p:spPr>
        <p:txBody>
          <a:bodyPr/>
          <a:lstStyle/>
          <a:p>
            <a:fld id="{A27C8931-3488-7444-A436-31CC468CAA90}" type="slidenum">
              <a:rPr lang="en-US"/>
              <a:pPr/>
              <a:t>75</a:t>
            </a:fld>
            <a:endParaRPr lang="en-US"/>
          </a:p>
        </p:txBody>
      </p:sp>
    </p:spTree>
    <p:extLst>
      <p:ext uri="{BB962C8B-B14F-4D97-AF65-F5344CB8AC3E}">
        <p14:creationId xmlns:p14="http://schemas.microsoft.com/office/powerpoint/2010/main" val="14300323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Slide Image Placeholder 1"/>
          <p:cNvSpPr>
            <a:spLocks noGrp="1" noRot="1" noChangeAspect="1" noTextEdit="1"/>
          </p:cNvSpPr>
          <p:nvPr>
            <p:ph type="sldImg"/>
          </p:nvPr>
        </p:nvSpPr>
        <p:spPr bwMode="auto">
          <a:noFill/>
          <a:ln>
            <a:solidFill>
              <a:srgbClr val="000000"/>
            </a:solidFill>
            <a:miter lim="800000"/>
            <a:headEnd/>
            <a:tailEnd/>
          </a:ln>
        </p:spPr>
      </p:sp>
      <p:sp>
        <p:nvSpPr>
          <p:cNvPr id="122882" name="Notes Placeholder 2"/>
          <p:cNvSpPr>
            <a:spLocks noGrp="1"/>
          </p:cNvSpPr>
          <p:nvPr>
            <p:ph type="body" idx="1"/>
          </p:nvPr>
        </p:nvSpPr>
        <p:spPr bwMode="auto">
          <a:noFill/>
        </p:spPr>
        <p:txBody>
          <a:bodyPr/>
          <a:lstStyle/>
          <a:p>
            <a:pPr>
              <a:spcBef>
                <a:spcPct val="0"/>
              </a:spcBef>
            </a:pPr>
            <a:r>
              <a:rPr lang="en-US" dirty="0"/>
              <a:t>Jacob Halder ARMOR OF GEORGE CLIFFORD, THIRD EARL OF CUMBERLAND</a:t>
            </a:r>
            <a:br>
              <a:rPr lang="en-US" dirty="0"/>
            </a:br>
            <a:r>
              <a:rPr lang="en-US" dirty="0"/>
              <a:t>Made in the royal workshop at Greenwich, England. c. 1580–1583.</a:t>
            </a:r>
            <a:br>
              <a:rPr lang="en-US" dirty="0"/>
            </a:br>
            <a:r>
              <a:rPr lang="en-US" dirty="0"/>
              <a:t>Steel and gold, height 5</a:t>
            </a:r>
            <a:r>
              <a:rPr lang="uk-UA" dirty="0"/>
              <a:t>'</a:t>
            </a:r>
            <a:r>
              <a:rPr lang="en-US" dirty="0"/>
              <a:t>9-1/2</a:t>
            </a:r>
            <a:r>
              <a:rPr lang="ru-RU" dirty="0"/>
              <a:t>"</a:t>
            </a:r>
            <a:r>
              <a:rPr lang="en-US" dirty="0"/>
              <a:t> (1.77 m). Metropolitan Museum of Art, New York. Munsey Fund, 1932 (32.130.6). © 2016. Image copyright The Metropolitan Museum of Art/Art Resource/Scala, Florence.</a:t>
            </a:r>
          </a:p>
        </p:txBody>
      </p:sp>
      <p:sp>
        <p:nvSpPr>
          <p:cNvPr id="122883" name="Slide Number Placeholder 3"/>
          <p:cNvSpPr>
            <a:spLocks noGrp="1"/>
          </p:cNvSpPr>
          <p:nvPr>
            <p:ph type="sldNum" sz="quarter" idx="5"/>
          </p:nvPr>
        </p:nvSpPr>
        <p:spPr bwMode="auto">
          <a:noFill/>
          <a:ln>
            <a:miter lim="800000"/>
            <a:headEnd/>
            <a:tailEnd/>
          </a:ln>
        </p:spPr>
        <p:txBody>
          <a:bodyPr/>
          <a:lstStyle/>
          <a:p>
            <a:fld id="{85D38AF6-38D5-7348-93B7-4BEF6C4B9E66}" type="slidenum">
              <a:rPr lang="en-US"/>
              <a:pPr/>
              <a:t>77</a:t>
            </a:fld>
            <a:endParaRPr lang="en-US"/>
          </a:p>
        </p:txBody>
      </p:sp>
    </p:spTree>
    <p:extLst>
      <p:ext uri="{BB962C8B-B14F-4D97-AF65-F5344CB8AC3E}">
        <p14:creationId xmlns:p14="http://schemas.microsoft.com/office/powerpoint/2010/main" val="20644649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Slide Image Placeholder 1"/>
          <p:cNvSpPr>
            <a:spLocks noGrp="1" noRot="1" noChangeAspect="1" noTextEdit="1"/>
          </p:cNvSpPr>
          <p:nvPr>
            <p:ph type="sldImg"/>
          </p:nvPr>
        </p:nvSpPr>
        <p:spPr bwMode="auto">
          <a:noFill/>
          <a:ln>
            <a:solidFill>
              <a:srgbClr val="000000"/>
            </a:solidFill>
            <a:miter lim="800000"/>
            <a:headEnd/>
            <a:tailEnd/>
          </a:ln>
        </p:spPr>
      </p:sp>
      <p:sp>
        <p:nvSpPr>
          <p:cNvPr id="125954" name="Notes Placeholder 2"/>
          <p:cNvSpPr>
            <a:spLocks noGrp="1"/>
          </p:cNvSpPr>
          <p:nvPr>
            <p:ph type="body" idx="1"/>
          </p:nvPr>
        </p:nvSpPr>
        <p:spPr bwMode="auto">
          <a:noFill/>
        </p:spPr>
        <p:txBody>
          <a:bodyPr/>
          <a:lstStyle/>
          <a:p>
            <a:pPr>
              <a:spcBef>
                <a:spcPct val="0"/>
              </a:spcBef>
            </a:pPr>
            <a:r>
              <a:rPr lang="en-US" dirty="0"/>
              <a:t>Robert Smythson HIGH GREAT CHAMBER, HARDWICK HALL</a:t>
            </a:r>
            <a:br>
              <a:rPr lang="en-US" dirty="0"/>
            </a:br>
            <a:r>
              <a:rPr lang="en-US" dirty="0"/>
              <a:t>Derbyshire, England. 1591–1597.</a:t>
            </a:r>
            <a:br>
              <a:rPr lang="en-US" dirty="0"/>
            </a:br>
            <a:r>
              <a:rPr lang="en-US" dirty="0"/>
              <a:t>Brussels tapestries 1550s; painted plaster sculpture by Abraham Smith.</a:t>
            </a:r>
            <a:br>
              <a:rPr lang="en-US" dirty="0"/>
            </a:br>
            <a:r>
              <a:rPr lang="en-US" dirty="0"/>
              <a:t>National Trust Photographic Library/Andreas von </a:t>
            </a:r>
            <a:r>
              <a:rPr lang="en-US" dirty="0" err="1"/>
              <a:t>Einsiedel</a:t>
            </a:r>
            <a:r>
              <a:rPr lang="en-US" dirty="0"/>
              <a:t>/Bridgeman Images</a:t>
            </a:r>
          </a:p>
        </p:txBody>
      </p:sp>
      <p:sp>
        <p:nvSpPr>
          <p:cNvPr id="125955" name="Slide Number Placeholder 3"/>
          <p:cNvSpPr>
            <a:spLocks noGrp="1"/>
          </p:cNvSpPr>
          <p:nvPr>
            <p:ph type="sldNum" sz="quarter" idx="5"/>
          </p:nvPr>
        </p:nvSpPr>
        <p:spPr bwMode="auto">
          <a:noFill/>
          <a:ln>
            <a:miter lim="800000"/>
            <a:headEnd/>
            <a:tailEnd/>
          </a:ln>
        </p:spPr>
        <p:txBody>
          <a:bodyPr/>
          <a:lstStyle/>
          <a:p>
            <a:fld id="{975068BC-D563-F04D-9651-8726DDFD89EF}" type="slidenum">
              <a:rPr lang="en-US"/>
              <a:pPr/>
              <a:t>79</a:t>
            </a:fld>
            <a:endParaRPr lang="en-US"/>
          </a:p>
        </p:txBody>
      </p:sp>
    </p:spTree>
    <p:extLst>
      <p:ext uri="{BB962C8B-B14F-4D97-AF65-F5344CB8AC3E}">
        <p14:creationId xmlns:p14="http://schemas.microsoft.com/office/powerpoint/2010/main" val="569600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15372"/>
            <a:ext cx="8229600" cy="622828"/>
          </a:xfrm>
        </p:spPr>
        <p:txBody>
          <a:bodyPr anchor="t"/>
          <a:lstStyle/>
          <a:p>
            <a:r>
              <a:rPr lang="en-US" dirty="0"/>
              <a:t>Art History</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Sixth Edition</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62000" y="1739785"/>
            <a:ext cx="3217287" cy="411623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000">
                <a:latin typeface="Arial" charset="0"/>
                <a:ea typeface="Arial" charset="0"/>
                <a:cs typeface="Arial" charset="0"/>
              </a:defRPr>
            </a:lvl1pPr>
            <a:lvl2pPr>
              <a:buClr>
                <a:srgbClr val="007FA3"/>
              </a:buClr>
              <a:defRPr sz="2000">
                <a:latin typeface="Arial" charset="0"/>
                <a:ea typeface="Arial" charset="0"/>
                <a:cs typeface="Arial" charset="0"/>
              </a:defRPr>
            </a:lvl2pPr>
            <a:lvl3pPr>
              <a:buClr>
                <a:srgbClr val="007FA3"/>
              </a:buClr>
              <a:defRPr sz="2000">
                <a:latin typeface="Arial" charset="0"/>
                <a:ea typeface="Arial" charset="0"/>
                <a:cs typeface="Arial" charset="0"/>
              </a:defRPr>
            </a:lvl3pPr>
            <a:lvl4pPr>
              <a:buClr>
                <a:srgbClr val="007FA3"/>
              </a:buClr>
              <a:defRPr sz="2000">
                <a:latin typeface="Arial" charset="0"/>
                <a:ea typeface="Arial" charset="0"/>
                <a:cs typeface="Arial" charset="0"/>
              </a:defRPr>
            </a:lvl4pPr>
            <a:lvl5pPr>
              <a:buClr>
                <a:srgbClr val="007FA3"/>
              </a:buClr>
              <a:defRPr sz="2000">
                <a:latin typeface="Arial" charset="0"/>
                <a:ea typeface="Arial" charset="0"/>
                <a:cs typeface="Arial" charset="0"/>
              </a:defRPr>
            </a:lvl5pPr>
            <a:lvl6pPr>
              <a:buClr>
                <a:srgbClr val="007FA3"/>
              </a:buClr>
              <a:defRPr sz="2000">
                <a:latin typeface="Arial" charset="0"/>
                <a:ea typeface="Arial" charset="0"/>
                <a:cs typeface="Arial" charset="0"/>
              </a:defRPr>
            </a:lvl6pPr>
            <a:lvl7pPr>
              <a:buClr>
                <a:srgbClr val="007FA3"/>
              </a:buClr>
              <a:defRPr sz="2000">
                <a:latin typeface="Arial" charset="0"/>
                <a:ea typeface="Arial" charset="0"/>
                <a:cs typeface="Arial" charset="0"/>
              </a:defRPr>
            </a:lvl7pPr>
            <a:lvl8pPr>
              <a:buClr>
                <a:srgbClr val="007FA3"/>
              </a:buClr>
              <a:defRPr sz="2000">
                <a:latin typeface="Arial" charset="0"/>
                <a:ea typeface="Arial" charset="0"/>
                <a:cs typeface="Arial" charset="0"/>
              </a:defRPr>
            </a:lvl8pPr>
            <a:lvl9pPr>
              <a:buClr>
                <a:srgbClr val="007FA3"/>
              </a:buClr>
              <a:defRPr sz="2000">
                <a:latin typeface="Arial" charset="0"/>
                <a:ea typeface="Arial" charset="0"/>
                <a:cs typeface="Arial"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6/19/2020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0" indent="0">
              <a:buClr>
                <a:srgbClr val="007FA3"/>
              </a:buClr>
              <a:buSzPct val="100000"/>
              <a:buFontTx/>
              <a:buNone/>
              <a:tabLst/>
              <a:defRPr sz="2000"/>
            </a:lvl1pPr>
            <a:lvl2pPr marL="569913" indent="-285750">
              <a:buClr>
                <a:srgbClr val="007FA3"/>
              </a:buClr>
              <a:defRPr sz="20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9" name="TextBox 8"/>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10" name="TextBox 9"/>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7_Title and Content">
    <p:spTree>
      <p:nvGrpSpPr>
        <p:cNvPr id="1" name=""/>
        <p:cNvGrpSpPr/>
        <p:nvPr/>
      </p:nvGrpSpPr>
      <p:grpSpPr>
        <a:xfrm>
          <a:off x="0" y="0"/>
          <a:ext cx="0" cy="0"/>
          <a:chOff x="0" y="0"/>
          <a:chExt cx="0" cy="0"/>
        </a:xfrm>
      </p:grpSpPr>
      <p:cxnSp>
        <p:nvCxnSpPr>
          <p:cNvPr id="4" name="Straight Connector 10"/>
          <p:cNvCxnSpPr>
            <a:cxnSpLocks noChangeShapeType="1"/>
          </p:cNvCxnSpPr>
          <p:nvPr userDrawn="1"/>
        </p:nvCxnSpPr>
        <p:spPr bwMode="auto">
          <a:xfrm>
            <a:off x="0" y="1371600"/>
            <a:ext cx="9144000" cy="0"/>
          </a:xfrm>
          <a:prstGeom prst="line">
            <a:avLst/>
          </a:prstGeom>
          <a:noFill/>
          <a:ln w="12700">
            <a:solidFill>
              <a:srgbClr val="008B5D"/>
            </a:solidFill>
            <a:round/>
            <a:headEnd/>
            <a:tailEnd/>
          </a:ln>
        </p:spPr>
      </p:cxnSp>
      <p:sp>
        <p:nvSpPr>
          <p:cNvPr id="2" name="Title 1"/>
          <p:cNvSpPr>
            <a:spLocks noGrp="1"/>
          </p:cNvSpPr>
          <p:nvPr>
            <p:ph type="title"/>
          </p:nvPr>
        </p:nvSpPr>
        <p:spPr>
          <a:noFill/>
          <a:ln>
            <a:noFill/>
          </a:ln>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advTm="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
        <p:nvSpPr>
          <p:cNvPr id="3" name="TextBox 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018901491"/>
      </p:ext>
    </p:extLst>
  </p:cSld>
  <p:clrMapOvr>
    <a:overrideClrMapping bg1="dk1" tx1="lt1" bg2="dk2" tx2="lt2" accent1="accent1" accent2="accent2" accent3="accent3" accent4="accent4" accent5="accent5" accent6="accent6" hlink="hlink" folHlink="folHlink"/>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Tree>
    <p:extLst>
      <p:ext uri="{BB962C8B-B14F-4D97-AF65-F5344CB8AC3E}">
        <p14:creationId xmlns:p14="http://schemas.microsoft.com/office/powerpoint/2010/main" val="249327367"/>
      </p:ext>
    </p:extLst>
  </p:cSld>
  <p:clrMapOvr>
    <a:overrideClrMapping bg1="dk1" tx1="lt1" bg2="dk2" tx2="lt2" accent1="accent1" accent2="accent2" accent3="accent3" accent4="accent4" accent5="accent5" accent6="accent6" hlink="hlink" folHlink="folHlink"/>
  </p:clrMapOvr>
  <p:transition spd="slow" advT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400" b="1" kern="1200">
          <a:solidFill>
            <a:srgbClr val="007FA3"/>
          </a:solidFill>
          <a:latin typeface="Arial" charset="0"/>
          <a:ea typeface="Arial" charset="0"/>
          <a:cs typeface="Arial"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D5F16-63E2-5A45-A9B7-E9956C8974A2}" type="datetimeFigureOut">
              <a:rPr lang="en-US"/>
              <a:pPr/>
              <a:t>6/19/2020</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33623-5977-3140-A7F1-DF5A0A44B763}" type="slidenum">
              <a:rPr/>
              <a:pPr/>
              <a:t>‹#›</a:t>
            </a:fld>
            <a:endParaRPr lang="en-US"/>
          </a:p>
        </p:txBody>
      </p:sp>
    </p:spTree>
    <p:extLst>
      <p:ext uri="{BB962C8B-B14F-4D97-AF65-F5344CB8AC3E}">
        <p14:creationId xmlns:p14="http://schemas.microsoft.com/office/powerpoint/2010/main" val="102227074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6BDD4-9D72-5B41-A69E-AEF05A86428B}"/>
              </a:ext>
            </a:extLst>
          </p:cNvPr>
          <p:cNvSpPr>
            <a:spLocks noGrp="1"/>
          </p:cNvSpPr>
          <p:nvPr>
            <p:ph type="ctrTitle"/>
          </p:nvPr>
        </p:nvSpPr>
        <p:spPr/>
        <p:txBody>
          <a:bodyPr/>
          <a:lstStyle/>
          <a:p>
            <a:r>
              <a:rPr lang="en-US" dirty="0"/>
              <a:t>Chapter 18</a:t>
            </a:r>
          </a:p>
        </p:txBody>
      </p:sp>
      <p:sp>
        <p:nvSpPr>
          <p:cNvPr id="3" name="Subtitle 2">
            <a:extLst>
              <a:ext uri="{FF2B5EF4-FFF2-40B4-BE49-F238E27FC236}">
                <a16:creationId xmlns:a16="http://schemas.microsoft.com/office/drawing/2014/main" id="{A6C7A21E-3916-7645-B5BC-0637556B36EF}"/>
              </a:ext>
            </a:extLst>
          </p:cNvPr>
          <p:cNvSpPr>
            <a:spLocks noGrp="1"/>
          </p:cNvSpPr>
          <p:nvPr>
            <p:ph type="subTitle" idx="1"/>
          </p:nvPr>
        </p:nvSpPr>
        <p:spPr/>
        <p:txBody>
          <a:bodyPr/>
          <a:lstStyle/>
          <a:p>
            <a:r>
              <a:rPr lang="en-US" dirty="0"/>
              <a:t>Renaissance and Reformation in Sixteenth-Century Northern Europe </a:t>
            </a:r>
          </a:p>
        </p:txBody>
      </p:sp>
    </p:spTree>
    <p:extLst>
      <p:ext uri="{BB962C8B-B14F-4D97-AF65-F5344CB8AC3E}">
        <p14:creationId xmlns:p14="http://schemas.microsoft.com/office/powerpoint/2010/main" val="869179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p:txBody>
          <a:bodyPr/>
          <a:lstStyle/>
          <a:p>
            <a:r>
              <a:rPr lang="en-US" dirty="0"/>
              <a:t>Learning Objectives</a:t>
            </a:r>
          </a:p>
        </p:txBody>
      </p:sp>
      <p:sp>
        <p:nvSpPr>
          <p:cNvPr id="9218" name="Content Placeholder 2"/>
          <p:cNvSpPr>
            <a:spLocks noGrp="1"/>
          </p:cNvSpPr>
          <p:nvPr>
            <p:ph idx="1"/>
          </p:nvPr>
        </p:nvSpPr>
        <p:spPr/>
        <p:txBody>
          <a:bodyPr/>
          <a:lstStyle/>
          <a:p>
            <a:pPr marL="457200" lvl="0" indent="-457200" fontAlgn="base">
              <a:buFont typeface="+mj-lt"/>
              <a:buAutoNum type="arabicPeriod"/>
            </a:pPr>
            <a:r>
              <a:rPr lang="en-US" dirty="0"/>
              <a:t>Trace the spread of Italian Renaissance Style throughout Europe.</a:t>
            </a:r>
          </a:p>
          <a:p>
            <a:pPr marL="457200" lvl="0" indent="-457200" fontAlgn="base">
              <a:buFont typeface="+mj-lt"/>
              <a:buAutoNum type="arabicPeriod"/>
            </a:pPr>
            <a:r>
              <a:rPr lang="en-US" dirty="0"/>
              <a:t>Define the impact of the Reformation on art making in Northern Europe.</a:t>
            </a:r>
          </a:p>
          <a:p>
            <a:pPr marL="457200" lvl="0" indent="-457200" fontAlgn="base">
              <a:buFont typeface="+mj-lt"/>
              <a:buAutoNum type="arabicPeriod"/>
            </a:pPr>
            <a:r>
              <a:rPr lang="en-US" dirty="0"/>
              <a:t>Investigate sixteenth century patrons at the courts and in urban centers.</a:t>
            </a:r>
          </a:p>
          <a:p>
            <a:pPr marL="457200" lvl="0" indent="-457200" fontAlgn="base">
              <a:buFont typeface="+mj-lt"/>
              <a:buAutoNum type="arabicPeriod"/>
            </a:pPr>
            <a:r>
              <a:rPr lang="en-US" dirty="0"/>
              <a:t>Identify new themes and subjects in sixteenth century Northern European art.</a:t>
            </a:r>
          </a:p>
          <a:p>
            <a:pPr marL="457200" lvl="0" indent="-457200" fontAlgn="base">
              <a:buFont typeface="+mj-lt"/>
              <a:buAutoNum type="arabicPeriod"/>
            </a:pPr>
            <a:r>
              <a:rPr lang="en-US" dirty="0"/>
              <a:t>Recognize the works and influences on key artists of the period.</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3"/>
          <p:cNvSpPr>
            <a:spLocks noGrp="1"/>
          </p:cNvSpPr>
          <p:nvPr>
            <p:ph type="title"/>
          </p:nvPr>
        </p:nvSpPr>
        <p:spPr/>
        <p:txBody>
          <a:bodyPr>
            <a:normAutofit fontScale="90000"/>
          </a:bodyPr>
          <a:lstStyle/>
          <a:p>
            <a:r>
              <a:rPr lang="en-US" dirty="0"/>
              <a:t>Albrecht </a:t>
            </a:r>
            <a:r>
              <a:rPr lang="en-US" dirty="0" err="1"/>
              <a:t>Dürer</a:t>
            </a:r>
            <a:r>
              <a:rPr lang="en-US" dirty="0"/>
              <a:t> SELF-PORTRAIT</a:t>
            </a:r>
            <a:br>
              <a:rPr lang="en-US" dirty="0"/>
            </a:br>
            <a:r>
              <a:rPr lang="en-US" dirty="0"/>
              <a:t>1500. Signed </a:t>
            </a:r>
            <a:r>
              <a:rPr lang="ru-RU" dirty="0"/>
              <a:t>"</a:t>
            </a:r>
            <a:r>
              <a:rPr lang="en-US" dirty="0"/>
              <a:t>Albrecht </a:t>
            </a:r>
            <a:r>
              <a:rPr lang="en-US" dirty="0" err="1"/>
              <a:t>Dürer</a:t>
            </a:r>
            <a:r>
              <a:rPr lang="en-US" dirty="0"/>
              <a:t> of Nuremberg</a:t>
            </a:r>
            <a:r>
              <a:rPr lang="is-IS" dirty="0"/>
              <a:t>…</a:t>
            </a:r>
            <a:r>
              <a:rPr lang="en-US" dirty="0"/>
              <a:t>age 28.</a:t>
            </a:r>
            <a:r>
              <a:rPr lang="ru-RU" dirty="0"/>
              <a:t>"</a:t>
            </a:r>
            <a:br>
              <a:rPr lang="en-US" dirty="0"/>
            </a:br>
            <a:r>
              <a:rPr lang="en-US" dirty="0"/>
              <a:t>Oil on wood panel, 26-1/4</a:t>
            </a:r>
            <a:r>
              <a:rPr lang="ru-RU" dirty="0"/>
              <a:t>"</a:t>
            </a:r>
            <a:r>
              <a:rPr lang="en-US" dirty="0"/>
              <a:t> × 19-1/4</a:t>
            </a:r>
            <a:r>
              <a:rPr lang="ru-RU" dirty="0"/>
              <a:t>"</a:t>
            </a:r>
            <a:r>
              <a:rPr lang="en-US" dirty="0"/>
              <a:t> (66.3 × 49 cm).</a:t>
            </a:r>
            <a:br>
              <a:rPr lang="en-US" dirty="0"/>
            </a:br>
            <a:r>
              <a:rPr lang="en-US" dirty="0"/>
              <a:t>Alte </a:t>
            </a:r>
            <a:r>
              <a:rPr lang="en-US" dirty="0" err="1"/>
              <a:t>Pinakothek</a:t>
            </a:r>
            <a:r>
              <a:rPr lang="en-US" dirty="0"/>
              <a:t>, Munich. © 2016.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Berlin. </a:t>
            </a:r>
          </a:p>
        </p:txBody>
      </p:sp>
      <p:pic>
        <p:nvPicPr>
          <p:cNvPr id="2" name="Picture 1" descr="A self-portrait of a man with a beard and a mustache, and long, curly hair, wearing a fur-lined jacke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52074"/>
            <a:ext cx="8107680" cy="5031232"/>
          </a:xfrm>
          <a:prstGeom prst="rect">
            <a:avLst/>
          </a:prstGeom>
        </p:spPr>
      </p:pic>
    </p:spTree>
  </p:cSld>
  <p:clrMapOvr>
    <a:masterClrMapping/>
  </p:clrMapOvr>
  <p:transition spd="slow" advTm="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r>
              <a:rPr lang="en-US"/>
              <a:t>The Reformation and the Arts</a:t>
            </a:r>
          </a:p>
        </p:txBody>
      </p:sp>
      <p:sp>
        <p:nvSpPr>
          <p:cNvPr id="16386" name="Content Placeholder 2"/>
          <p:cNvSpPr>
            <a:spLocks noGrp="1"/>
          </p:cNvSpPr>
          <p:nvPr>
            <p:ph idx="1"/>
          </p:nvPr>
        </p:nvSpPr>
        <p:spPr/>
        <p:txBody>
          <a:bodyPr/>
          <a:lstStyle/>
          <a:p>
            <a:r>
              <a:rPr lang="en-US"/>
              <a:t>Two important reformers were Desiderius Erasmus in Holland, and Martin Luther in Germany.</a:t>
            </a:r>
          </a:p>
          <a:p>
            <a:r>
              <a:rPr lang="en-US"/>
              <a:t>Increased literacy and widespread use of the printing press allowed many Europeans to enter religious debate.</a:t>
            </a:r>
          </a:p>
          <a:p>
            <a:r>
              <a:rPr lang="en-US"/>
              <a:t>Years of political and religious strife had a grave impact on artists.</a:t>
            </a:r>
          </a:p>
          <a:p>
            <a:pPr lvl="1"/>
            <a:r>
              <a:rPr lang="en-US"/>
              <a:t>There was a mass destruction of works.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3"/>
          <p:cNvSpPr>
            <a:spLocks noGrp="1"/>
          </p:cNvSpPr>
          <p:nvPr>
            <p:ph type="title"/>
          </p:nvPr>
        </p:nvSpPr>
        <p:spPr/>
        <p:txBody>
          <a:bodyPr>
            <a:normAutofit fontScale="90000"/>
          </a:bodyPr>
          <a:lstStyle/>
          <a:p>
            <a:r>
              <a:rPr lang="en-US" dirty="0"/>
              <a:t>WESTERN EUROPE DURING THE REFORMATION, C. 1560</a:t>
            </a:r>
            <a:br>
              <a:rPr lang="en-US" dirty="0"/>
            </a:br>
            <a:r>
              <a:rPr lang="en-US" dirty="0"/>
              <a:t>Sixteenth-century Europe remained largely Roman Catholic, except in Switzerland and the far north, where the impact of the Protestant Reformation was strongest. </a:t>
            </a:r>
          </a:p>
        </p:txBody>
      </p:sp>
      <p:pic>
        <p:nvPicPr>
          <p:cNvPr id="2" name="Picture 1" descr="A map shows European religious demographics for the sixteenth century. Circa 1560, Roman Catholicism dominated religious belief in Portugal and Spain and throughout France and Italy, though there was a significant Calvinist minority across France. Catholicism had also become the major religion on the western Mediterranean islands, in the northwestern Scottish Highlands, throughout all of Ireland except a small area around Dublin. Roman Catholicism had patchy holds on the territory bordering the Holy Roman Empire, where Lutheranism had taken hold and expanded into Scandinavia and the Baltic countries, as well as penetrating toward the Swiss Federation, by way of Nuremburg and Strasbourg, the major cities between Wittenberg, Germany and Geneva, Switzerland at the time. Despite a strong Calvinist minority throughout France, this religion’s areas of dominance were in the Swiss Federation and the Savoy region, east and south of Burgundy. There were additional strongholds of Calvinism in Heidelberg, northernmost Saxony, and in Scotland. Orthodox Christianity’s major interactions with western Christianity would have occurred with Lutherans, near the borders of Finland and Russia. Anglicanism was confined to England and the small area of Ireland near the country’s capital at Dublin, though both these regions saw Roman Catholic minorities. Though the Anabaptists had no regions where their denomination was dominant, there were minority populations of Anabaptists across Europe, congregating most notably near the Spanish Netherlands, Heidelberg and Strasbourg, to with west of Vignola, Italy, near Vienna and Cracow, and, in their highest concentration, moving upriver from Danzig to Cracow. There were a few notable, scattered Jewish minorities in Macedonia, Hungary, Poland, and Austria, and Naples. Finally, there were two areas of the Iberian Peninsula with Muslim minorities—at Valencia, on Spain’s Mediterranean coast, and in the Pyrenees Mountains, near the kingdom of Aragon.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r>
              <a:rPr lang="en-US"/>
              <a:t>Technique: German Metalwork:</a:t>
            </a:r>
            <a:br>
              <a:rPr lang="en-US"/>
            </a:br>
            <a:r>
              <a:rPr lang="en-US"/>
              <a:t>A Collaborative Venture</a:t>
            </a:r>
          </a:p>
        </p:txBody>
      </p:sp>
      <p:sp>
        <p:nvSpPr>
          <p:cNvPr id="19458" name="Content Placeholder 2"/>
          <p:cNvSpPr>
            <a:spLocks noGrp="1"/>
          </p:cNvSpPr>
          <p:nvPr>
            <p:ph idx="1"/>
          </p:nvPr>
        </p:nvSpPr>
        <p:spPr/>
        <p:txBody>
          <a:bodyPr/>
          <a:lstStyle/>
          <a:p>
            <a:r>
              <a:rPr lang="en-US"/>
              <a:t>Hans Krug and his sons were fine metalworkers in Nuremburg.</a:t>
            </a:r>
          </a:p>
          <a:p>
            <a:r>
              <a:rPr lang="en-US"/>
              <a:t>The silver-gilt </a:t>
            </a:r>
            <a:r>
              <a:rPr lang="en-US" i="1"/>
              <a:t>Apple Cup </a:t>
            </a:r>
            <a:r>
              <a:rPr lang="en-US"/>
              <a:t>was a display piece for the wealthy.</a:t>
            </a:r>
          </a:p>
          <a:p>
            <a:pPr lvl="1"/>
            <a:r>
              <a:rPr lang="en-US"/>
              <a:t>Several artists worked together to produce such pieces: one each to draw, model, and cast it in metal.</a:t>
            </a:r>
          </a:p>
          <a:p>
            <a:pPr lvl="1"/>
            <a:r>
              <a:rPr lang="en-US"/>
              <a:t>Designers created a wooden form for the goldsmith to follow.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3"/>
          <p:cNvSpPr>
            <a:spLocks noGrp="1"/>
          </p:cNvSpPr>
          <p:nvPr>
            <p:ph type="title"/>
          </p:nvPr>
        </p:nvSpPr>
        <p:spPr/>
        <p:txBody>
          <a:bodyPr>
            <a:normAutofit fontScale="90000"/>
          </a:bodyPr>
          <a:lstStyle/>
          <a:p>
            <a:r>
              <a:rPr lang="en-US" dirty="0"/>
              <a:t>APPLE CUP</a:t>
            </a:r>
            <a:br>
              <a:rPr lang="en-US" dirty="0"/>
            </a:br>
            <a:r>
              <a:rPr lang="en-US" dirty="0"/>
              <a:t>c. 1510–1515. Gilt silver, height 8-1/2</a:t>
            </a:r>
            <a:r>
              <a:rPr lang="ru-RU" dirty="0"/>
              <a:t>"</a:t>
            </a:r>
            <a:r>
              <a:rPr lang="en-US" dirty="0"/>
              <a:t> (21.5 cm).</a:t>
            </a:r>
            <a:br>
              <a:rPr lang="en-US" dirty="0"/>
            </a:br>
            <a:r>
              <a:rPr lang="en-US" dirty="0" err="1"/>
              <a:t>Germanisches</a:t>
            </a:r>
            <a:r>
              <a:rPr lang="en-US" dirty="0"/>
              <a:t> </a:t>
            </a:r>
            <a:r>
              <a:rPr lang="en-US" dirty="0" err="1"/>
              <a:t>Nationalmuseum</a:t>
            </a:r>
            <a:r>
              <a:rPr lang="en-US" dirty="0"/>
              <a:t>, Nuremberg. © 2016. Photo Scala, Florence. </a:t>
            </a:r>
          </a:p>
        </p:txBody>
      </p:sp>
      <p:pic>
        <p:nvPicPr>
          <p:cNvPr id="2" name="Picture 1" descr="A gleaming, golden apple balances atop a leafy branch, rising from a disk of dry, fallen leave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r>
              <a:rPr lang="en-US"/>
              <a:t>Germany</a:t>
            </a:r>
          </a:p>
        </p:txBody>
      </p:sp>
      <p:sp>
        <p:nvSpPr>
          <p:cNvPr id="22530" name="Content Placeholder 2"/>
          <p:cNvSpPr>
            <a:spLocks noGrp="1"/>
          </p:cNvSpPr>
          <p:nvPr>
            <p:ph idx="1"/>
          </p:nvPr>
        </p:nvSpPr>
        <p:spPr/>
        <p:txBody>
          <a:bodyPr/>
          <a:lstStyle/>
          <a:p>
            <a:r>
              <a:rPr lang="en-US"/>
              <a:t>Religious upheavals and iconoclastic purges took their toll on the arts at mid century.</a:t>
            </a:r>
          </a:p>
          <a:p>
            <a:r>
              <a:rPr lang="en-US"/>
              <a:t>German merchants and bankers accumulated their own wealth, and were able to order portraits of themselves and furnishings for their residences.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r>
              <a:rPr lang="en-US"/>
              <a:t>Sculpture (1 of 3)</a:t>
            </a:r>
          </a:p>
        </p:txBody>
      </p:sp>
      <p:sp>
        <p:nvSpPr>
          <p:cNvPr id="23554" name="Content Placeholder 2"/>
          <p:cNvSpPr>
            <a:spLocks noGrp="1"/>
          </p:cNvSpPr>
          <p:nvPr>
            <p:ph idx="1"/>
          </p:nvPr>
        </p:nvSpPr>
        <p:spPr/>
        <p:txBody>
          <a:bodyPr/>
          <a:lstStyle/>
          <a:p>
            <a:r>
              <a:rPr lang="en-US"/>
              <a:t>German produced most original work in fine-grained limewood, often gilded and painted.</a:t>
            </a:r>
          </a:p>
          <a:p>
            <a:r>
              <a:rPr lang="en-US"/>
              <a:t>Tilman Riemenschneider</a:t>
            </a:r>
          </a:p>
          <a:p>
            <a:pPr lvl="1"/>
            <a:r>
              <a:rPr lang="en-US"/>
              <a:t>His workshop specialized in wood and stone sculpture.</a:t>
            </a:r>
          </a:p>
          <a:p>
            <a:pPr lvl="1"/>
            <a:r>
              <a:rPr lang="en-US"/>
              <a:t>The </a:t>
            </a:r>
            <a:r>
              <a:rPr lang="en-US" i="1"/>
              <a:t>Altarpiece of the Holy Blood </a:t>
            </a:r>
            <a:r>
              <a:rPr lang="en-US"/>
              <a:t>stands about 30 feet high.</a:t>
            </a:r>
          </a:p>
          <a:p>
            <a:pPr lvl="2"/>
            <a:r>
              <a:rPr lang="en-US"/>
              <a:t>Its subject is the Last Supper.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3"/>
          <p:cNvSpPr>
            <a:spLocks noGrp="1"/>
          </p:cNvSpPr>
          <p:nvPr>
            <p:ph type="title"/>
          </p:nvPr>
        </p:nvSpPr>
        <p:spPr/>
        <p:txBody>
          <a:bodyPr>
            <a:normAutofit fontScale="90000"/>
          </a:bodyPr>
          <a:lstStyle/>
          <a:p>
            <a:r>
              <a:rPr lang="en-US" dirty="0"/>
              <a:t>Tilman </a:t>
            </a:r>
            <a:r>
              <a:rPr lang="en-US" dirty="0" err="1"/>
              <a:t>Riemenschneider</a:t>
            </a:r>
            <a:r>
              <a:rPr lang="en-US" dirty="0"/>
              <a:t> ALTARPIECE OF THE HOLY BLOOD (OPEN)</a:t>
            </a:r>
            <a:br>
              <a:rPr lang="en-US" dirty="0"/>
            </a:br>
            <a:r>
              <a:rPr lang="en-US" dirty="0"/>
              <a:t>Sankt </a:t>
            </a:r>
            <a:r>
              <a:rPr lang="en-US" dirty="0" err="1"/>
              <a:t>Jakobskirche</a:t>
            </a:r>
            <a:r>
              <a:rPr lang="en-US" dirty="0"/>
              <a:t> (church of St. James), </a:t>
            </a:r>
            <a:r>
              <a:rPr lang="en-US" dirty="0" err="1"/>
              <a:t>Rothenburg</a:t>
            </a:r>
            <a:r>
              <a:rPr lang="en-US" dirty="0"/>
              <a:t> </a:t>
            </a:r>
            <a:r>
              <a:rPr lang="en-US" dirty="0" err="1"/>
              <a:t>ob</a:t>
            </a:r>
            <a:r>
              <a:rPr lang="en-US" dirty="0"/>
              <a:t> der Tauber, Germany. Center, </a:t>
            </a:r>
            <a:r>
              <a:rPr lang="en-US" i="1" dirty="0"/>
              <a:t>Last Supper</a:t>
            </a:r>
            <a:r>
              <a:rPr lang="en-US" dirty="0"/>
              <a:t>. c. 1499–1505. Limewood, glass, height of tallest figure 39</a:t>
            </a:r>
            <a:r>
              <a:rPr lang="ru-RU" dirty="0"/>
              <a:t>"</a:t>
            </a:r>
            <a:r>
              <a:rPr lang="en-US" dirty="0"/>
              <a:t> (99.1 cm), height of altar 29</a:t>
            </a:r>
            <a:r>
              <a:rPr lang="uk-UA" dirty="0"/>
              <a:t>'</a:t>
            </a:r>
            <a:r>
              <a:rPr lang="en-US" dirty="0"/>
              <a:t>6</a:t>
            </a:r>
            <a:r>
              <a:rPr lang="ru-RU" dirty="0"/>
              <a:t>"</a:t>
            </a:r>
            <a:r>
              <a:rPr lang="en-US" dirty="0"/>
              <a:t> (9 m). © </a:t>
            </a:r>
            <a:r>
              <a:rPr lang="en-US" dirty="0" err="1"/>
              <a:t>akg</a:t>
            </a:r>
            <a:r>
              <a:rPr lang="en-US" dirty="0"/>
              <a:t>-images/Erich Lessing. </a:t>
            </a:r>
          </a:p>
        </p:txBody>
      </p:sp>
      <p:pic>
        <p:nvPicPr>
          <p:cNvPr id="2" name="Picture 1" descr="When the altarpiece is opened, its panels present intricate relief sculpture in wood, and the object’s top outline resembles a crenelated fortress wall. A canopy of interwoven, leafy branches grows across each scene of the triptych."/>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a:t>Sculpture (2 of 3)</a:t>
            </a:r>
          </a:p>
        </p:txBody>
      </p:sp>
      <p:sp>
        <p:nvSpPr>
          <p:cNvPr id="26626" name="Content Placeholder 2"/>
          <p:cNvSpPr>
            <a:spLocks noGrp="1"/>
          </p:cNvSpPr>
          <p:nvPr>
            <p:ph idx="1"/>
          </p:nvPr>
        </p:nvSpPr>
        <p:spPr/>
        <p:txBody>
          <a:bodyPr/>
          <a:lstStyle/>
          <a:p>
            <a:r>
              <a:rPr lang="en-US"/>
              <a:t>Tilman Riemenschneider</a:t>
            </a:r>
          </a:p>
          <a:p>
            <a:pPr lvl="1"/>
            <a:r>
              <a:rPr lang="en-US"/>
              <a:t>The artist chose to put Judas at the center of the </a:t>
            </a:r>
            <a:r>
              <a:rPr lang="en-US" i="1"/>
              <a:t>Altarpiece</a:t>
            </a:r>
            <a:r>
              <a:rPr lang="uk-UA"/>
              <a:t>'</a:t>
            </a:r>
            <a:r>
              <a:rPr lang="en-US"/>
              <a:t>s main scene.</a:t>
            </a:r>
          </a:p>
          <a:p>
            <a:pPr lvl="1"/>
            <a:r>
              <a:rPr lang="en-US"/>
              <a:t>Rather than creating individual portraits, Riemenschneider repeated a set of established facial types.</a:t>
            </a:r>
          </a:p>
          <a:p>
            <a:pPr lvl="1"/>
            <a:r>
              <a:rPr lang="en-US"/>
              <a:t>Details of figures and environment were carved into the wood itself so the artist could introduce a natural wood finish.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r>
              <a:rPr lang="en-US"/>
              <a:t>Sculpture (3 of 3)</a:t>
            </a:r>
          </a:p>
        </p:txBody>
      </p:sp>
      <p:sp>
        <p:nvSpPr>
          <p:cNvPr id="27650" name="Content Placeholder 2"/>
          <p:cNvSpPr>
            <a:spLocks noGrp="1"/>
          </p:cNvSpPr>
          <p:nvPr>
            <p:ph idx="1"/>
          </p:nvPr>
        </p:nvSpPr>
        <p:spPr/>
        <p:txBody>
          <a:bodyPr/>
          <a:lstStyle/>
          <a:p>
            <a:r>
              <a:rPr lang="en-US"/>
              <a:t>Nikolaus Hagenauer</a:t>
            </a:r>
          </a:p>
          <a:p>
            <a:pPr lvl="1"/>
            <a:r>
              <a:rPr lang="en-US"/>
              <a:t>Sculptor Hagenauer carved an altarpiece for the abbey of St. Anthony in Isenheim, near a hospital that specialized in caring for patients with skin diseases.</a:t>
            </a:r>
          </a:p>
          <a:p>
            <a:pPr lvl="2"/>
            <a:r>
              <a:rPr lang="en-US"/>
              <a:t>SS. Anthony, Jerome, and Augustine are featured in the shrine.</a:t>
            </a:r>
          </a:p>
          <a:p>
            <a:pPr lvl="2"/>
            <a:r>
              <a:rPr lang="en-US"/>
              <a:t>Jesus and his apostles appear below in the predella.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3"/>
          <p:cNvSpPr>
            <a:spLocks noGrp="1"/>
          </p:cNvSpPr>
          <p:nvPr>
            <p:ph type="title"/>
          </p:nvPr>
        </p:nvSpPr>
        <p:spPr>
          <a:xfrm>
            <a:off x="457200" y="5410200"/>
            <a:ext cx="8229600" cy="685800"/>
          </a:xfrm>
        </p:spPr>
        <p:txBody>
          <a:bodyPr>
            <a:normAutofit fontScale="90000"/>
          </a:bodyPr>
          <a:lstStyle/>
          <a:p>
            <a:r>
              <a:rPr lang="en-US" dirty="0"/>
              <a:t>Nikolaus </a:t>
            </a:r>
            <a:r>
              <a:rPr lang="en-US" dirty="0" err="1"/>
              <a:t>Hagenauer</a:t>
            </a:r>
            <a:r>
              <a:rPr lang="en-US" dirty="0"/>
              <a:t> (central panels and </a:t>
            </a:r>
            <a:r>
              <a:rPr lang="en-US" dirty="0" err="1"/>
              <a:t>predella</a:t>
            </a:r>
            <a:r>
              <a:rPr lang="en-US" dirty="0"/>
              <a:t>) and Matthias </a:t>
            </a:r>
            <a:r>
              <a:rPr lang="en-US" dirty="0" err="1"/>
              <a:t>Grünewald</a:t>
            </a:r>
            <a:r>
              <a:rPr lang="en-US" dirty="0"/>
              <a:t> (wings) ISENHEIM ALTARPIECE (OPEN)</a:t>
            </a:r>
            <a:br>
              <a:rPr lang="en-US" dirty="0"/>
            </a:br>
            <a:r>
              <a:rPr lang="en-US" dirty="0"/>
              <a:t>From the Community of St. Anthony, </a:t>
            </a:r>
            <a:r>
              <a:rPr lang="en-US" dirty="0" err="1"/>
              <a:t>Isenheim</a:t>
            </a:r>
            <a:r>
              <a:rPr lang="en-US" dirty="0"/>
              <a:t>, Alsace, France. Center panels and </a:t>
            </a:r>
            <a:r>
              <a:rPr lang="en-US" dirty="0" err="1"/>
              <a:t>predella</a:t>
            </a:r>
            <a:r>
              <a:rPr lang="en-US" dirty="0"/>
              <a:t>: </a:t>
            </a:r>
            <a:r>
              <a:rPr lang="en-US" i="1" dirty="0"/>
              <a:t>St. Anthony Enthroned between SS. Augustine and Jerome, Christ and the Apostles</a:t>
            </a:r>
            <a:r>
              <a:rPr lang="en-US" dirty="0"/>
              <a:t>, c. 1500. Painted and gilt limewood, center panel 9</a:t>
            </a:r>
            <a:r>
              <a:rPr lang="uk-UA" dirty="0"/>
              <a:t>'</a:t>
            </a:r>
            <a:r>
              <a:rPr lang="en-US" dirty="0"/>
              <a:t>9-1/2</a:t>
            </a:r>
            <a:r>
              <a:rPr lang="ru-RU" dirty="0"/>
              <a:t>"</a:t>
            </a:r>
            <a:r>
              <a:rPr lang="en-US" dirty="0"/>
              <a:t> × 10</a:t>
            </a:r>
            <a:r>
              <a:rPr lang="uk-UA" dirty="0"/>
              <a:t>'</a:t>
            </a:r>
            <a:r>
              <a:rPr lang="en-US" dirty="0"/>
              <a:t>9</a:t>
            </a:r>
            <a:r>
              <a:rPr lang="ru-RU" dirty="0"/>
              <a:t>"</a:t>
            </a:r>
            <a:r>
              <a:rPr lang="en-US" dirty="0"/>
              <a:t> </a:t>
            </a:r>
            <a:br>
              <a:rPr lang="en-US" dirty="0"/>
            </a:br>
            <a:r>
              <a:rPr lang="en-US" dirty="0"/>
              <a:t>(2.97 × 3.28 m), </a:t>
            </a:r>
            <a:r>
              <a:rPr lang="en-US" dirty="0" err="1"/>
              <a:t>predella</a:t>
            </a:r>
            <a:r>
              <a:rPr lang="en-US" dirty="0"/>
              <a:t> 2</a:t>
            </a:r>
            <a:r>
              <a:rPr lang="uk-UA" dirty="0"/>
              <a:t>'</a:t>
            </a:r>
            <a:r>
              <a:rPr lang="en-US" dirty="0"/>
              <a:t>5-1/2</a:t>
            </a:r>
            <a:r>
              <a:rPr lang="ru-RU" dirty="0"/>
              <a:t>"</a:t>
            </a:r>
            <a:r>
              <a:rPr lang="en-US" dirty="0"/>
              <a:t> × 11</a:t>
            </a:r>
            <a:r>
              <a:rPr lang="uk-UA" dirty="0"/>
              <a:t>'</a:t>
            </a:r>
            <a:r>
              <a:rPr lang="en-US" dirty="0"/>
              <a:t>2</a:t>
            </a:r>
            <a:r>
              <a:rPr lang="ru-RU" dirty="0"/>
              <a:t>"</a:t>
            </a:r>
            <a:r>
              <a:rPr lang="en-US" dirty="0"/>
              <a:t> (0.75 × 3.4 m). Wings: </a:t>
            </a:r>
            <a:r>
              <a:rPr lang="en-US" i="1" dirty="0"/>
              <a:t>SS. Anthony and Paul the Hermit </a:t>
            </a:r>
            <a:r>
              <a:rPr lang="en-US" dirty="0"/>
              <a:t>(left); </a:t>
            </a:r>
            <a:r>
              <a:rPr lang="en-US" i="1" dirty="0"/>
              <a:t>The Temptation of St. Anthony </a:t>
            </a:r>
            <a:r>
              <a:rPr lang="en-US" dirty="0"/>
              <a:t>(right). 1510–1515. Oil on wood panel, 8</a:t>
            </a:r>
            <a:r>
              <a:rPr lang="uk-UA" dirty="0"/>
              <a:t>'</a:t>
            </a:r>
            <a:r>
              <a:rPr lang="en-US" dirty="0"/>
              <a:t>2-1/2</a:t>
            </a:r>
            <a:r>
              <a:rPr lang="ru-RU" dirty="0"/>
              <a:t>"</a:t>
            </a:r>
            <a:r>
              <a:rPr lang="en-US" dirty="0"/>
              <a:t> × 3</a:t>
            </a:r>
            <a:r>
              <a:rPr lang="uk-UA" dirty="0"/>
              <a:t>'</a:t>
            </a:r>
            <a:r>
              <a:rPr lang="en-US" dirty="0"/>
              <a:t>-1/2</a:t>
            </a:r>
            <a:r>
              <a:rPr lang="ru-RU" dirty="0"/>
              <a:t>"</a:t>
            </a:r>
            <a:r>
              <a:rPr lang="en-US" dirty="0"/>
              <a:t> (2.49 × 0.93 m).</a:t>
            </a:r>
            <a:r>
              <a:rPr lang="en-US" dirty="0" err="1"/>
              <a:t>Musée</a:t>
            </a:r>
            <a:r>
              <a:rPr lang="en-US" dirty="0"/>
              <a:t> d</a:t>
            </a:r>
            <a:r>
              <a:rPr lang="uk-UA" dirty="0"/>
              <a:t>'</a:t>
            </a:r>
            <a:r>
              <a:rPr lang="en-US" dirty="0" err="1"/>
              <a:t>Unterlinden</a:t>
            </a:r>
            <a:r>
              <a:rPr lang="en-US" dirty="0"/>
              <a:t>, Colmar, France. Bridgeman Images</a:t>
            </a:r>
          </a:p>
        </p:txBody>
      </p:sp>
      <p:pic>
        <p:nvPicPr>
          <p:cNvPr id="2" name="Picture 1" descr="An altarpiece opens to reveal paintings framing a tableau of three saints under vaulted canopies, dwarfing the miniaturized representations of the work’s donors at their feat. Below, five alcoves are populated by images of patients flanking Christ at the center.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8179" y="152400"/>
            <a:ext cx="7367641" cy="4572000"/>
          </a:xfrm>
          <a:prstGeom prst="rect">
            <a:avLst/>
          </a:prstGeom>
        </p:spPr>
      </p:pic>
    </p:spTree>
  </p:cSld>
  <p:clrMapOvr>
    <a:masterClrMapping/>
  </p:clrMapOvr>
  <p:transition spd="slow" advTm="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p:txBody>
          <a:bodyPr/>
          <a:lstStyle/>
          <a:p>
            <a:r>
              <a:rPr lang="en-US"/>
              <a:t>Painting (1 of 10)</a:t>
            </a:r>
          </a:p>
        </p:txBody>
      </p:sp>
      <p:sp>
        <p:nvSpPr>
          <p:cNvPr id="30722" name="Content Placeholder 2"/>
          <p:cNvSpPr>
            <a:spLocks noGrp="1"/>
          </p:cNvSpPr>
          <p:nvPr>
            <p:ph idx="1"/>
          </p:nvPr>
        </p:nvSpPr>
        <p:spPr/>
        <p:txBody>
          <a:bodyPr/>
          <a:lstStyle/>
          <a:p>
            <a:r>
              <a:rPr lang="en-US"/>
              <a:t>Matthias Grünewald continued paintings with medieval mysticism and emotional spirituality.</a:t>
            </a:r>
          </a:p>
          <a:p>
            <a:r>
              <a:rPr lang="en-US"/>
              <a:t>Albrecht Dürer, in contrast, rendered his subjects with lifelike representation, using mathematical perspective and a reasoned canon of proportions.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r>
              <a:rPr lang="en-US"/>
              <a:t>Painting (2 of 10)</a:t>
            </a:r>
          </a:p>
        </p:txBody>
      </p:sp>
      <p:sp>
        <p:nvSpPr>
          <p:cNvPr id="31746" name="Content Placeholder 2"/>
          <p:cNvSpPr>
            <a:spLocks noGrp="1"/>
          </p:cNvSpPr>
          <p:nvPr>
            <p:ph idx="1"/>
          </p:nvPr>
        </p:nvSpPr>
        <p:spPr/>
        <p:txBody>
          <a:bodyPr/>
          <a:lstStyle/>
          <a:p>
            <a:r>
              <a:rPr lang="en-US"/>
              <a:t>Matthias Grünewald</a:t>
            </a:r>
          </a:p>
          <a:p>
            <a:pPr lvl="1"/>
            <a:r>
              <a:rPr lang="en-US"/>
              <a:t>His best known work is the shutters attached to the carved Isenheim Altarpiece above.</a:t>
            </a:r>
          </a:p>
          <a:p>
            <a:pPr lvl="1"/>
            <a:r>
              <a:rPr lang="en-US"/>
              <a:t>On weekdays, a scene of the Crucifixion and </a:t>
            </a:r>
            <a:r>
              <a:rPr lang="en-US" i="1"/>
              <a:t>Lamentation</a:t>
            </a:r>
            <a:r>
              <a:rPr lang="en-US"/>
              <a:t> were viewable.</a:t>
            </a:r>
          </a:p>
          <a:p>
            <a:pPr lvl="2"/>
            <a:r>
              <a:rPr lang="en-US"/>
              <a:t>The tortured body of Jesus was covered with horrific details.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3"/>
          <p:cNvSpPr>
            <a:spLocks noGrp="1"/>
          </p:cNvSpPr>
          <p:nvPr>
            <p:ph type="title"/>
          </p:nvPr>
        </p:nvSpPr>
        <p:spPr>
          <a:xfrm>
            <a:off x="457200" y="5562600"/>
            <a:ext cx="8229600" cy="685800"/>
          </a:xfrm>
        </p:spPr>
        <p:txBody>
          <a:bodyPr>
            <a:normAutofit fontScale="90000"/>
          </a:bodyPr>
          <a:lstStyle/>
          <a:p>
            <a:r>
              <a:rPr lang="en-US" dirty="0"/>
              <a:t>Matthias </a:t>
            </a:r>
            <a:r>
              <a:rPr lang="en-US" dirty="0" err="1"/>
              <a:t>Grünewald</a:t>
            </a:r>
            <a:r>
              <a:rPr lang="en-US" dirty="0"/>
              <a:t> ISENHEIM ALTARPIECE (CLOSED)</a:t>
            </a:r>
            <a:br>
              <a:rPr lang="en-US" dirty="0"/>
            </a:br>
            <a:r>
              <a:rPr lang="en-US" dirty="0"/>
              <a:t>From the Community of St. Anthony, </a:t>
            </a:r>
            <a:r>
              <a:rPr lang="en-US" dirty="0" err="1"/>
              <a:t>Isenheim</a:t>
            </a:r>
            <a:r>
              <a:rPr lang="en-US" dirty="0"/>
              <a:t>, Alsace, France. Center panels: </a:t>
            </a:r>
            <a:r>
              <a:rPr lang="en-US" i="1" dirty="0"/>
              <a:t>Crucifixion</a:t>
            </a:r>
            <a:r>
              <a:rPr lang="en-US" dirty="0"/>
              <a:t>; </a:t>
            </a:r>
            <a:r>
              <a:rPr lang="en-US" dirty="0" err="1"/>
              <a:t>predella</a:t>
            </a:r>
            <a:r>
              <a:rPr lang="en-US" dirty="0"/>
              <a:t>: </a:t>
            </a:r>
            <a:r>
              <a:rPr lang="en-US" i="1" dirty="0"/>
              <a:t>Lamentation</a:t>
            </a:r>
            <a:r>
              <a:rPr lang="en-US" dirty="0"/>
              <a:t>; side panels: SS. </a:t>
            </a:r>
            <a:r>
              <a:rPr lang="en-US" i="1" dirty="0"/>
              <a:t>Sebastian</a:t>
            </a:r>
            <a:r>
              <a:rPr lang="en-US" dirty="0"/>
              <a:t> (left) and </a:t>
            </a:r>
            <a:r>
              <a:rPr lang="en-US" i="1" dirty="0"/>
              <a:t>Anthony Abbot </a:t>
            </a:r>
            <a:r>
              <a:rPr lang="en-US" dirty="0"/>
              <a:t>(right). c. 1510–1515. Date 1515 on ointment jar. Oil on wood panel, center panels 9</a:t>
            </a:r>
            <a:r>
              <a:rPr lang="uk-UA" dirty="0"/>
              <a:t>'</a:t>
            </a:r>
            <a:r>
              <a:rPr lang="en-US" dirty="0"/>
              <a:t>9-1/2</a:t>
            </a:r>
            <a:r>
              <a:rPr lang="ru-RU" dirty="0"/>
              <a:t>"</a:t>
            </a:r>
            <a:r>
              <a:rPr lang="en-US" dirty="0"/>
              <a:t> × 10</a:t>
            </a:r>
            <a:r>
              <a:rPr lang="uk-UA" dirty="0"/>
              <a:t>'</a:t>
            </a:r>
            <a:r>
              <a:rPr lang="en-US" dirty="0"/>
              <a:t>9</a:t>
            </a:r>
            <a:r>
              <a:rPr lang="ru-RU" dirty="0"/>
              <a:t>"</a:t>
            </a:r>
            <a:r>
              <a:rPr lang="en-US" dirty="0"/>
              <a:t> (2.97 × 3.28 m) overall, each wing 8</a:t>
            </a:r>
            <a:r>
              <a:rPr lang="uk-UA" dirty="0"/>
              <a:t>'</a:t>
            </a:r>
            <a:r>
              <a:rPr lang="en-US" dirty="0"/>
              <a:t>2-1/2</a:t>
            </a:r>
            <a:r>
              <a:rPr lang="ru-RU" dirty="0"/>
              <a:t>"</a:t>
            </a:r>
            <a:r>
              <a:rPr lang="en-US" dirty="0"/>
              <a:t> × 3</a:t>
            </a:r>
            <a:r>
              <a:rPr lang="uk-UA" dirty="0"/>
              <a:t>'</a:t>
            </a:r>
            <a:r>
              <a:rPr lang="en-US" dirty="0"/>
              <a:t>-1/2</a:t>
            </a:r>
            <a:r>
              <a:rPr lang="ru-RU" dirty="0"/>
              <a:t>"</a:t>
            </a:r>
            <a:r>
              <a:rPr lang="en-US" dirty="0"/>
              <a:t> (2.49 × 0.93 m), </a:t>
            </a:r>
            <a:r>
              <a:rPr lang="en-US" dirty="0" err="1"/>
              <a:t>predella</a:t>
            </a:r>
            <a:r>
              <a:rPr lang="en-US" dirty="0"/>
              <a:t> 2</a:t>
            </a:r>
            <a:r>
              <a:rPr lang="uk-UA" dirty="0"/>
              <a:t>'</a:t>
            </a:r>
            <a:r>
              <a:rPr lang="en-US" dirty="0"/>
              <a:t>5-1/2</a:t>
            </a:r>
            <a:r>
              <a:rPr lang="ru-RU" dirty="0"/>
              <a:t>"</a:t>
            </a:r>
            <a:r>
              <a:rPr lang="en-US" dirty="0"/>
              <a:t> × 11</a:t>
            </a:r>
            <a:r>
              <a:rPr lang="uk-UA" dirty="0"/>
              <a:t>'</a:t>
            </a:r>
            <a:r>
              <a:rPr lang="en-US" dirty="0"/>
              <a:t>2</a:t>
            </a:r>
            <a:r>
              <a:rPr lang="ru-RU" dirty="0"/>
              <a:t>"</a:t>
            </a:r>
            <a:r>
              <a:rPr lang="en-US" dirty="0"/>
              <a:t> (0.75 × 3.4 m). </a:t>
            </a:r>
            <a:r>
              <a:rPr lang="en-US" dirty="0" err="1"/>
              <a:t>Musée</a:t>
            </a:r>
            <a:r>
              <a:rPr lang="en-US" dirty="0"/>
              <a:t> d</a:t>
            </a:r>
            <a:r>
              <a:rPr lang="uk-UA" dirty="0"/>
              <a:t>'</a:t>
            </a:r>
            <a:r>
              <a:rPr lang="en-US" dirty="0" err="1"/>
              <a:t>Unterlinden</a:t>
            </a:r>
            <a:r>
              <a:rPr lang="en-US" dirty="0"/>
              <a:t>, Colmar, France. Bridgeman Images. </a:t>
            </a:r>
          </a:p>
        </p:txBody>
      </p:sp>
      <p:pic>
        <p:nvPicPr>
          <p:cNvPr id="2" name="Picture 1" descr="When the altarpiece is fully closed, Christ is central on the cross, in horrific condition. The Madonna and Mary Magdalene plead with clasped hands to the left, while to the right, John the Baptist’s words hang in red ink against the black sk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8179" y="304800"/>
            <a:ext cx="7367641" cy="4572000"/>
          </a:xfrm>
          <a:prstGeom prst="rect">
            <a:avLst/>
          </a:prstGeom>
        </p:spPr>
      </p:pic>
    </p:spTree>
  </p:cSld>
  <p:clrMapOvr>
    <a:masterClrMapping/>
  </p:clrMapOvr>
  <p:transition spd="slow" advTm="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r>
              <a:rPr lang="en-US"/>
              <a:t>Painting (3 of 10)</a:t>
            </a:r>
          </a:p>
        </p:txBody>
      </p:sp>
      <p:sp>
        <p:nvSpPr>
          <p:cNvPr id="34818" name="Content Placeholder 2"/>
          <p:cNvSpPr>
            <a:spLocks noGrp="1"/>
          </p:cNvSpPr>
          <p:nvPr>
            <p:ph idx="1"/>
          </p:nvPr>
        </p:nvSpPr>
        <p:spPr/>
        <p:txBody>
          <a:bodyPr/>
          <a:lstStyle/>
          <a:p>
            <a:r>
              <a:rPr lang="en-US"/>
              <a:t>Matthias Grünewald</a:t>
            </a:r>
          </a:p>
          <a:p>
            <a:pPr lvl="1"/>
            <a:r>
              <a:rPr lang="en-US"/>
              <a:t>In contrast, the first opening displays joyful events of the Annunciation, Nativity, and Resurrection and was displayed on Sundays and feast days.</a:t>
            </a:r>
          </a:p>
          <a:p>
            <a:pPr lvl="1"/>
            <a:r>
              <a:rPr lang="en-US"/>
              <a:t>The second opening reveals Hagenauer</a:t>
            </a:r>
            <a:r>
              <a:rPr lang="uk-UA"/>
              <a:t>'</a:t>
            </a:r>
            <a:r>
              <a:rPr lang="en-US"/>
              <a:t>s sculpture and was reserved for the festivals of St. Anthony.</a:t>
            </a:r>
          </a:p>
          <a:p>
            <a:pPr lvl="2"/>
            <a:r>
              <a:rPr lang="en-US"/>
              <a:t>Subjects turned to the life of the Saint and acknowledged patients</a:t>
            </a:r>
            <a:r>
              <a:rPr lang="uk-UA"/>
              <a:t>'</a:t>
            </a:r>
            <a:r>
              <a:rPr lang="en-US"/>
              <a:t> pain.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3"/>
          <p:cNvSpPr>
            <a:spLocks noGrp="1"/>
          </p:cNvSpPr>
          <p:nvPr>
            <p:ph type="title"/>
          </p:nvPr>
        </p:nvSpPr>
        <p:spPr/>
        <p:txBody>
          <a:bodyPr>
            <a:normAutofit fontScale="90000"/>
          </a:bodyPr>
          <a:lstStyle/>
          <a:p>
            <a:r>
              <a:rPr lang="en-US" dirty="0"/>
              <a:t>Matthias </a:t>
            </a:r>
            <a:r>
              <a:rPr lang="en-US" dirty="0" err="1"/>
              <a:t>Grünewald</a:t>
            </a:r>
            <a:r>
              <a:rPr lang="en-US" dirty="0"/>
              <a:t> ISENHEIM ALTARPIECE (FIRST OPENING)</a:t>
            </a:r>
            <a:br>
              <a:rPr lang="en-US" dirty="0"/>
            </a:br>
            <a:r>
              <a:rPr lang="en-US" dirty="0"/>
              <a:t>Left to right: </a:t>
            </a:r>
            <a:r>
              <a:rPr lang="en-US" i="1" dirty="0"/>
              <a:t>Annunciation</a:t>
            </a:r>
            <a:r>
              <a:rPr lang="en-US" dirty="0"/>
              <a:t>, </a:t>
            </a:r>
            <a:r>
              <a:rPr lang="en-US" i="1" dirty="0"/>
              <a:t>Virgin and Child with Angels</a:t>
            </a:r>
            <a:r>
              <a:rPr lang="en-US" dirty="0"/>
              <a:t>, </a:t>
            </a:r>
            <a:r>
              <a:rPr lang="en-US" i="1" dirty="0"/>
              <a:t>Resurrection</a:t>
            </a:r>
            <a:r>
              <a:rPr lang="en-US" dirty="0"/>
              <a:t>. c. 1510–1515.</a:t>
            </a:r>
            <a:br>
              <a:rPr lang="en-US" dirty="0"/>
            </a:br>
            <a:r>
              <a:rPr lang="en-US" dirty="0"/>
              <a:t>Oil on wood panel, center panel 9</a:t>
            </a:r>
            <a:r>
              <a:rPr lang="uk-UA" dirty="0"/>
              <a:t>'</a:t>
            </a:r>
            <a:r>
              <a:rPr lang="en-US" dirty="0"/>
              <a:t>9-1/2</a:t>
            </a:r>
            <a:r>
              <a:rPr lang="ru-RU" dirty="0"/>
              <a:t>"</a:t>
            </a:r>
            <a:r>
              <a:rPr lang="en-US" dirty="0"/>
              <a:t> × 10</a:t>
            </a:r>
            <a:r>
              <a:rPr lang="uk-UA" dirty="0"/>
              <a:t>'</a:t>
            </a:r>
            <a:r>
              <a:rPr lang="en-US" dirty="0"/>
              <a:t>9</a:t>
            </a:r>
            <a:r>
              <a:rPr lang="ru-RU" dirty="0"/>
              <a:t>"</a:t>
            </a:r>
            <a:r>
              <a:rPr lang="en-US" dirty="0"/>
              <a:t> (2.97 × 3.28 m) overall, each wing 8</a:t>
            </a:r>
            <a:r>
              <a:rPr lang="uk-UA" dirty="0"/>
              <a:t>’</a:t>
            </a:r>
            <a:r>
              <a:rPr lang="en-US" dirty="0"/>
              <a:t>10</a:t>
            </a:r>
            <a:r>
              <a:rPr lang="ru-RU" dirty="0"/>
              <a:t>"</a:t>
            </a:r>
            <a:r>
              <a:rPr lang="en-US" dirty="0"/>
              <a:t> × 4</a:t>
            </a:r>
            <a:r>
              <a:rPr lang="uk-UA" dirty="0"/>
              <a:t>'</a:t>
            </a:r>
            <a:r>
              <a:rPr lang="en-US" dirty="0"/>
              <a:t> 8</a:t>
            </a:r>
            <a:r>
              <a:rPr lang="ru-RU" dirty="0"/>
              <a:t>"</a:t>
            </a:r>
            <a:r>
              <a:rPr lang="en-US" dirty="0"/>
              <a:t> (2.69 × 1.42 m). </a:t>
            </a:r>
            <a:r>
              <a:rPr lang="en-US" dirty="0" err="1"/>
              <a:t>Musée</a:t>
            </a:r>
            <a:r>
              <a:rPr lang="en-US" dirty="0"/>
              <a:t> d</a:t>
            </a:r>
            <a:r>
              <a:rPr lang="uk-UA" dirty="0"/>
              <a:t>'</a:t>
            </a:r>
            <a:r>
              <a:rPr lang="en-US" dirty="0" err="1"/>
              <a:t>Unterlinden</a:t>
            </a:r>
            <a:r>
              <a:rPr lang="en-US" dirty="0"/>
              <a:t>, Colmar, France. Bridgeman Images </a:t>
            </a:r>
            <a:br>
              <a:rPr lang="en-US" dirty="0"/>
            </a:br>
            <a:endParaRPr lang="en-US" dirty="0"/>
          </a:p>
        </p:txBody>
      </p:sp>
      <p:pic>
        <p:nvPicPr>
          <p:cNvPr id="2" name="Picture 1" descr="After its first opening, the altarpiece presents scenes of joy and triumph from the story of Jesus’s life, though the lower area still displays his body at his sepulch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r>
              <a:rPr lang="en-US"/>
              <a:t>Painting (4 of 10)</a:t>
            </a:r>
          </a:p>
        </p:txBody>
      </p:sp>
      <p:sp>
        <p:nvSpPr>
          <p:cNvPr id="37890" name="Content Placeholder 2"/>
          <p:cNvSpPr>
            <a:spLocks noGrp="1"/>
          </p:cNvSpPr>
          <p:nvPr>
            <p:ph idx="1"/>
          </p:nvPr>
        </p:nvSpPr>
        <p:spPr/>
        <p:txBody>
          <a:bodyPr/>
          <a:lstStyle/>
          <a:p>
            <a:r>
              <a:rPr lang="en-US"/>
              <a:t>Albrecht Dürer</a:t>
            </a:r>
          </a:p>
          <a:p>
            <a:pPr lvl="1"/>
            <a:r>
              <a:rPr lang="en-US"/>
              <a:t>Based in Nuremberg, Dürer traveled to Switzerland, Italy, and Strasbourg to further his studies.</a:t>
            </a:r>
          </a:p>
          <a:p>
            <a:pPr lvl="1"/>
            <a:r>
              <a:rPr lang="en-US"/>
              <a:t>His first print publication, </a:t>
            </a:r>
            <a:r>
              <a:rPr lang="en-US" i="1"/>
              <a:t>The Apocalypse</a:t>
            </a:r>
            <a:r>
              <a:rPr lang="en-US"/>
              <a:t>, appeared in German and Latin editions.</a:t>
            </a:r>
          </a:p>
          <a:p>
            <a:pPr lvl="2"/>
            <a:r>
              <a:rPr lang="en-US"/>
              <a:t>The Four Horsemen of the Apocalypse shows the figures from Revelations in a compact, overlapping group.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3"/>
          <p:cNvSpPr>
            <a:spLocks noGrp="1"/>
          </p:cNvSpPr>
          <p:nvPr>
            <p:ph type="title"/>
          </p:nvPr>
        </p:nvSpPr>
        <p:spPr/>
        <p:txBody>
          <a:bodyPr>
            <a:normAutofit fontScale="90000"/>
          </a:bodyPr>
          <a:lstStyle/>
          <a:p>
            <a:r>
              <a:rPr lang="en-US" dirty="0"/>
              <a:t>Albrecht </a:t>
            </a:r>
            <a:r>
              <a:rPr lang="en-US" dirty="0" err="1"/>
              <a:t>Dürer</a:t>
            </a:r>
            <a:r>
              <a:rPr lang="en-US" dirty="0"/>
              <a:t> THE FOUR HORSEMEN OF THE APOCALYPSE</a:t>
            </a:r>
            <a:br>
              <a:rPr lang="en-US" dirty="0"/>
            </a:br>
            <a:r>
              <a:rPr lang="en-US" dirty="0"/>
              <a:t>From </a:t>
            </a:r>
            <a:r>
              <a:rPr lang="en-US" i="1" dirty="0"/>
              <a:t>The Apocalypse</a:t>
            </a:r>
            <a:r>
              <a:rPr lang="en-US" dirty="0"/>
              <a:t>. 1497–1498. 1511 edition. Woodcut, 15-1/2</a:t>
            </a:r>
            <a:r>
              <a:rPr lang="ru-RU" dirty="0"/>
              <a:t>"</a:t>
            </a:r>
            <a:r>
              <a:rPr lang="en-US" dirty="0"/>
              <a:t> × 11-1/16</a:t>
            </a:r>
            <a:r>
              <a:rPr lang="ru-RU" dirty="0"/>
              <a:t>"</a:t>
            </a:r>
            <a:r>
              <a:rPr lang="en-US" dirty="0"/>
              <a:t> (39.4 × 28.1 cm). ). Yale University Art Gallery, New Haven, Connecticut. Library transfer, Gift of Paul Mellon, B.A. 1929 (1956.16.3e). Image courtesy Yale University Art Gallery. </a:t>
            </a:r>
            <a:br>
              <a:rPr lang="en-US" dirty="0"/>
            </a:br>
            <a:endParaRPr lang="en-US" dirty="0"/>
          </a:p>
        </p:txBody>
      </p:sp>
      <p:pic>
        <p:nvPicPr>
          <p:cNvPr id="2" name="Picture 1" descr="Four horsemen charge across a landscape, leaping over or trampling the bodies of people who have already fallen victim to the threats the horsemen personif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p:txBody>
          <a:bodyPr/>
          <a:lstStyle/>
          <a:p>
            <a:r>
              <a:rPr lang="en-US"/>
              <a:t>Painting (5 of 10)</a:t>
            </a:r>
          </a:p>
        </p:txBody>
      </p:sp>
      <p:sp>
        <p:nvSpPr>
          <p:cNvPr id="40962" name="Content Placeholder 2"/>
          <p:cNvSpPr>
            <a:spLocks noGrp="1"/>
          </p:cNvSpPr>
          <p:nvPr>
            <p:ph idx="1"/>
          </p:nvPr>
        </p:nvSpPr>
        <p:spPr/>
        <p:txBody>
          <a:bodyPr/>
          <a:lstStyle/>
          <a:p>
            <a:r>
              <a:rPr lang="en-US"/>
              <a:t>Albrecht Dürer</a:t>
            </a:r>
          </a:p>
          <a:p>
            <a:pPr lvl="1"/>
            <a:r>
              <a:rPr lang="en-US"/>
              <a:t>As early as 1494, he began to engrave metal plates himself.</a:t>
            </a:r>
          </a:p>
          <a:p>
            <a:pPr lvl="2"/>
            <a:r>
              <a:rPr lang="en-US" i="1"/>
              <a:t>Adam and Eve </a:t>
            </a:r>
            <a:r>
              <a:rPr lang="en-US"/>
              <a:t>is one such work that identifies ideal human proportions based on Roman copies of Greek sculpture.</a:t>
            </a:r>
          </a:p>
          <a:p>
            <a:pPr lvl="2"/>
            <a:r>
              <a:rPr lang="en-US"/>
              <a:t>The four humors, or temperaments, are symbolized in the content of the work.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3"/>
          <p:cNvSpPr>
            <a:spLocks noGrp="1"/>
          </p:cNvSpPr>
          <p:nvPr>
            <p:ph type="title"/>
          </p:nvPr>
        </p:nvSpPr>
        <p:spPr>
          <a:xfrm>
            <a:off x="457200" y="5715000"/>
            <a:ext cx="8229600" cy="685800"/>
          </a:xfrm>
        </p:spPr>
        <p:txBody>
          <a:bodyPr>
            <a:normAutofit fontScale="90000"/>
          </a:bodyPr>
          <a:lstStyle/>
          <a:p>
            <a:r>
              <a:rPr lang="en-US" dirty="0"/>
              <a:t>Albrecht </a:t>
            </a:r>
            <a:r>
              <a:rPr lang="en-US" dirty="0" err="1"/>
              <a:t>Dürer</a:t>
            </a:r>
            <a:r>
              <a:rPr lang="en-US" dirty="0"/>
              <a:t> ADAM AND EVE</a:t>
            </a:r>
            <a:br>
              <a:rPr lang="en-US" dirty="0"/>
            </a:br>
            <a:r>
              <a:rPr lang="en-US" dirty="0"/>
              <a:t>1504. Engraving, 9-5/8</a:t>
            </a:r>
            <a:r>
              <a:rPr lang="ru-RU" dirty="0"/>
              <a:t>"</a:t>
            </a:r>
            <a:r>
              <a:rPr lang="en-US" dirty="0"/>
              <a:t> × 7-5/8</a:t>
            </a:r>
            <a:r>
              <a:rPr lang="ru-RU" dirty="0"/>
              <a:t>"</a:t>
            </a:r>
            <a:r>
              <a:rPr lang="en-US" dirty="0"/>
              <a:t> (244 × 19.3 cm).</a:t>
            </a:r>
            <a:br>
              <a:rPr lang="en-US" dirty="0"/>
            </a:br>
            <a:r>
              <a:rPr lang="en-US" dirty="0"/>
              <a:t>Yale University Art Gallery, New Haven, Connecticut. Fritz </a:t>
            </a:r>
            <a:r>
              <a:rPr lang="en-US" dirty="0" err="1"/>
              <a:t>Achelis</a:t>
            </a:r>
            <a:r>
              <a:rPr lang="en-US" dirty="0"/>
              <a:t> Memorial Collection, Gift of Frederic George </a:t>
            </a:r>
            <a:r>
              <a:rPr lang="en-US" dirty="0" err="1"/>
              <a:t>Achelis</a:t>
            </a:r>
            <a:r>
              <a:rPr lang="en-US" dirty="0"/>
              <a:t>, B.A. 1907; reacquired in 1972 with the Henry J. Heinz II, B.A. 1931, Fund; Everett V. Meeks, B.A. 1901, Fund; and Stephen Carlton Clark, B.A. 1903, Fund (1925.29). Image courtesy Yale University Art Gallery.</a:t>
            </a:r>
          </a:p>
        </p:txBody>
      </p:sp>
      <p:pic>
        <p:nvPicPr>
          <p:cNvPr id="2" name="Picture 1" descr="Adam and Eve stand in the wilderness, surrounded by docile animals. The couple are nude, but with their genitals covered by incidental leaves. They take apples from a tree, moments before eating the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r>
              <a:rPr lang="en-US"/>
              <a:t>Painting (6 of 10)</a:t>
            </a:r>
          </a:p>
        </p:txBody>
      </p:sp>
      <p:sp>
        <p:nvSpPr>
          <p:cNvPr id="44034" name="Content Placeholder 2"/>
          <p:cNvSpPr>
            <a:spLocks noGrp="1"/>
          </p:cNvSpPr>
          <p:nvPr>
            <p:ph idx="1"/>
          </p:nvPr>
        </p:nvSpPr>
        <p:spPr/>
        <p:txBody>
          <a:bodyPr/>
          <a:lstStyle/>
          <a:p>
            <a:r>
              <a:rPr lang="en-US"/>
              <a:t>Albrecht Dürer</a:t>
            </a:r>
          </a:p>
          <a:p>
            <a:pPr lvl="1"/>
            <a:r>
              <a:rPr lang="en-US"/>
              <a:t>The </a:t>
            </a:r>
            <a:r>
              <a:rPr lang="en-US" i="1"/>
              <a:t>Four Apostles </a:t>
            </a:r>
            <a:r>
              <a:rPr lang="en-US"/>
              <a:t>demonstrates the artist</a:t>
            </a:r>
            <a:r>
              <a:rPr lang="uk-UA"/>
              <a:t>'</a:t>
            </a:r>
            <a:r>
              <a:rPr lang="en-US"/>
              <a:t>s Lutheran beliefs.</a:t>
            </a:r>
          </a:p>
          <a:p>
            <a:pPr lvl="2"/>
            <a:r>
              <a:rPr lang="en-US"/>
              <a:t>An inscription on the frame warns viewers not to follow </a:t>
            </a:r>
            <a:r>
              <a:rPr lang="ru-RU"/>
              <a:t>"</a:t>
            </a:r>
            <a:r>
              <a:rPr lang="en-US"/>
              <a:t>false prophets</a:t>
            </a:r>
            <a:r>
              <a:rPr lang="ru-RU"/>
              <a:t>"</a:t>
            </a:r>
            <a:r>
              <a:rPr lang="en-US"/>
              <a:t> but to follow the word of the Bible.</a:t>
            </a:r>
          </a:p>
          <a:p>
            <a:pPr lvl="2"/>
            <a:r>
              <a:rPr lang="en-US"/>
              <a:t>It led the way for the possibility of Protestant visual art.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3"/>
          <p:cNvSpPr>
            <a:spLocks noGrp="1"/>
          </p:cNvSpPr>
          <p:nvPr>
            <p:ph type="title"/>
          </p:nvPr>
        </p:nvSpPr>
        <p:spPr/>
        <p:txBody>
          <a:bodyPr>
            <a:normAutofit fontScale="90000"/>
          </a:bodyPr>
          <a:lstStyle/>
          <a:p>
            <a:r>
              <a:rPr lang="en-US" dirty="0"/>
              <a:t>Albrecht </a:t>
            </a:r>
            <a:r>
              <a:rPr lang="en-US" dirty="0" err="1"/>
              <a:t>Dürer</a:t>
            </a:r>
            <a:r>
              <a:rPr lang="en-US" dirty="0"/>
              <a:t> FOUR APOSTLES</a:t>
            </a:r>
            <a:br>
              <a:rPr lang="en-US" dirty="0"/>
            </a:br>
            <a:r>
              <a:rPr lang="en-US" dirty="0"/>
              <a:t>1526. Oil on wood panel, each panel 7</a:t>
            </a:r>
            <a:r>
              <a:rPr lang="uk-UA" dirty="0"/>
              <a:t>'</a:t>
            </a:r>
            <a:r>
              <a:rPr lang="en-US" dirty="0"/>
              <a:t>-1/2</a:t>
            </a:r>
            <a:r>
              <a:rPr lang="ru-RU" dirty="0"/>
              <a:t>"</a:t>
            </a:r>
            <a:r>
              <a:rPr lang="en-US" dirty="0"/>
              <a:t> × 2</a:t>
            </a:r>
            <a:r>
              <a:rPr lang="uk-UA" dirty="0"/>
              <a:t>'</a:t>
            </a:r>
            <a:r>
              <a:rPr lang="en-US" dirty="0"/>
              <a:t>6</a:t>
            </a:r>
            <a:r>
              <a:rPr lang="ru-RU" dirty="0"/>
              <a:t>"</a:t>
            </a:r>
            <a:r>
              <a:rPr lang="en-US" dirty="0"/>
              <a:t> (2.15 × 0.76 m).</a:t>
            </a:r>
            <a:br>
              <a:rPr lang="en-US" dirty="0"/>
            </a:br>
            <a:r>
              <a:rPr lang="en-US" dirty="0"/>
              <a:t>Alte </a:t>
            </a:r>
            <a:r>
              <a:rPr lang="en-US" dirty="0" err="1"/>
              <a:t>Pinakothek</a:t>
            </a:r>
            <a:r>
              <a:rPr lang="en-US" dirty="0"/>
              <a:t>, Munich. Photo © </a:t>
            </a:r>
            <a:r>
              <a:rPr lang="en-US" dirty="0" err="1"/>
              <a:t>Bayer@Mitko</a:t>
            </a:r>
            <a:r>
              <a:rPr lang="en-US" dirty="0"/>
              <a:t>/ARTOTHEK. </a:t>
            </a:r>
          </a:p>
        </p:txBody>
      </p:sp>
      <p:pic>
        <p:nvPicPr>
          <p:cNvPr id="2" name="Picture 1" descr="A dual-panel painting depicts Durer’s four favorite apostles huddled in pairs, as if in adjacent doorway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5168"/>
            <a:ext cx="8107680" cy="5031232"/>
          </a:xfrm>
          <a:prstGeom prst="rect">
            <a:avLst/>
          </a:prstGeom>
        </p:spPr>
      </p:pic>
    </p:spTree>
  </p:cSld>
  <p:clrMapOvr>
    <a:masterClrMapping/>
  </p:clrMapOvr>
  <p:transition spd="slow" advTm="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p:txBody>
          <a:bodyPr/>
          <a:lstStyle/>
          <a:p>
            <a:r>
              <a:rPr lang="en-US"/>
              <a:t>Painting (7 of 10)</a:t>
            </a:r>
          </a:p>
        </p:txBody>
      </p:sp>
      <p:sp>
        <p:nvSpPr>
          <p:cNvPr id="47106" name="Content Placeholder 2"/>
          <p:cNvSpPr>
            <a:spLocks noGrp="1"/>
          </p:cNvSpPr>
          <p:nvPr>
            <p:ph idx="1"/>
          </p:nvPr>
        </p:nvSpPr>
        <p:spPr/>
        <p:txBody>
          <a:bodyPr/>
          <a:lstStyle/>
          <a:p>
            <a:r>
              <a:rPr lang="en-US"/>
              <a:t>Cranach, Baldung, and Altdorfer</a:t>
            </a:r>
          </a:p>
          <a:p>
            <a:pPr lvl="1"/>
            <a:r>
              <a:rPr lang="en-US"/>
              <a:t>Lucas Cranach the Elder</a:t>
            </a:r>
          </a:p>
          <a:p>
            <a:pPr lvl="2"/>
            <a:r>
              <a:rPr lang="en-US" i="1"/>
              <a:t>Nymph of the Spring </a:t>
            </a:r>
            <a:r>
              <a:rPr lang="en-US"/>
              <a:t>included a Renaissance theme of the sleeping nymph, although this nymph is not the idealized, Classical Venus.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r>
              <a:rPr lang="en-US"/>
              <a:t>Painting (8 of 10)</a:t>
            </a:r>
          </a:p>
        </p:txBody>
      </p:sp>
      <p:sp>
        <p:nvSpPr>
          <p:cNvPr id="48130" name="Content Placeholder 2"/>
          <p:cNvSpPr>
            <a:spLocks noGrp="1"/>
          </p:cNvSpPr>
          <p:nvPr>
            <p:ph idx="1"/>
          </p:nvPr>
        </p:nvSpPr>
        <p:spPr/>
        <p:txBody>
          <a:bodyPr/>
          <a:lstStyle/>
          <a:p>
            <a:r>
              <a:rPr lang="en-US"/>
              <a:t>Cranach, Baldung, and Altdorfer</a:t>
            </a:r>
          </a:p>
          <a:p>
            <a:pPr lvl="1"/>
            <a:r>
              <a:rPr lang="en-US"/>
              <a:t>Lucas Cranach the Elder</a:t>
            </a:r>
          </a:p>
          <a:p>
            <a:pPr lvl="2"/>
            <a:r>
              <a:rPr lang="en-US"/>
              <a:t>Cranach is unconstrained by Protestant patrons; he delights in earthly things in this work, specifically lush foliage and rich red colors in the nymph</a:t>
            </a:r>
            <a:r>
              <a:rPr lang="uk-UA"/>
              <a:t>'</a:t>
            </a:r>
            <a:r>
              <a:rPr lang="en-US"/>
              <a:t>s dress, necklace, and bow and quiver.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3"/>
          <p:cNvSpPr>
            <a:spLocks noGrp="1"/>
          </p:cNvSpPr>
          <p:nvPr>
            <p:ph type="title"/>
          </p:nvPr>
        </p:nvSpPr>
        <p:spPr/>
        <p:txBody>
          <a:bodyPr>
            <a:normAutofit fontScale="90000"/>
          </a:bodyPr>
          <a:lstStyle/>
          <a:p>
            <a:r>
              <a:rPr lang="en-US" dirty="0"/>
              <a:t>Lucas Cranach the Elder NYMPH OF THE SPRING</a:t>
            </a:r>
            <a:br>
              <a:rPr lang="en-US" dirty="0"/>
            </a:br>
            <a:r>
              <a:rPr lang="en-US" dirty="0"/>
              <a:t>c. 1537. Oil on panel, 19</a:t>
            </a:r>
            <a:r>
              <a:rPr lang="ru-RU" dirty="0"/>
              <a:t>"</a:t>
            </a:r>
            <a:r>
              <a:rPr lang="en-US" dirty="0"/>
              <a:t> × 28-1/2</a:t>
            </a:r>
            <a:r>
              <a:rPr lang="ru-RU" dirty="0"/>
              <a:t>"</a:t>
            </a:r>
            <a:r>
              <a:rPr lang="en-US" dirty="0"/>
              <a:t> (48.5 × 72.9 cm).</a:t>
            </a:r>
            <a:br>
              <a:rPr lang="en-US" dirty="0"/>
            </a:br>
            <a:r>
              <a:rPr lang="en-US" dirty="0"/>
              <a:t>National Gallery of Art, Washington, DC. Image courtesy the National Gallery of Art, Washington.</a:t>
            </a:r>
          </a:p>
        </p:txBody>
      </p:sp>
      <p:pic>
        <p:nvPicPr>
          <p:cNvPr id="2" name="Picture 1" descr="Two game birds search the ground for food near the dozing, nude form of a nymph, seemingly unaware of the bow and quiver of arrows hanging from the tree above the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p:nvPr>
        </p:nvSpPr>
        <p:spPr/>
        <p:txBody>
          <a:bodyPr/>
          <a:lstStyle/>
          <a:p>
            <a:r>
              <a:rPr lang="en-US"/>
              <a:t>Painting (9 of 10)</a:t>
            </a:r>
          </a:p>
        </p:txBody>
      </p:sp>
      <p:sp>
        <p:nvSpPr>
          <p:cNvPr id="51202" name="Content Placeholder 2"/>
          <p:cNvSpPr>
            <a:spLocks noGrp="1"/>
          </p:cNvSpPr>
          <p:nvPr>
            <p:ph idx="1"/>
          </p:nvPr>
        </p:nvSpPr>
        <p:spPr/>
        <p:txBody>
          <a:bodyPr/>
          <a:lstStyle/>
          <a:p>
            <a:r>
              <a:rPr lang="en-US"/>
              <a:t>Cranach, Baldung, and Altdorfer</a:t>
            </a:r>
          </a:p>
          <a:p>
            <a:pPr lvl="1"/>
            <a:r>
              <a:rPr lang="en-US"/>
              <a:t>Hans Baldung Grien</a:t>
            </a:r>
          </a:p>
          <a:p>
            <a:pPr lvl="2"/>
            <a:r>
              <a:rPr lang="en-US"/>
              <a:t>Grien is known for his unique visualizations of women.</a:t>
            </a:r>
          </a:p>
          <a:p>
            <a:pPr lvl="2"/>
            <a:r>
              <a:rPr lang="en-US" i="1"/>
              <a:t>Death and the Matron </a:t>
            </a:r>
            <a:r>
              <a:rPr lang="en-US"/>
              <a:t>juxtaposes sensuality with mortality and attraction with repulsion.</a:t>
            </a:r>
          </a:p>
          <a:p>
            <a:pPr lvl="3"/>
            <a:r>
              <a:rPr lang="en-US"/>
              <a:t>The nude expanses of the woman</a:t>
            </a:r>
            <a:r>
              <a:rPr lang="uk-UA"/>
              <a:t>'</a:t>
            </a:r>
            <a:r>
              <a:rPr lang="en-US"/>
              <a:t>s flesh are contrasted with the putrid and decaying flesh of the figure of Death.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3"/>
          <p:cNvSpPr>
            <a:spLocks noGrp="1"/>
          </p:cNvSpPr>
          <p:nvPr>
            <p:ph type="title"/>
          </p:nvPr>
        </p:nvSpPr>
        <p:spPr/>
        <p:txBody>
          <a:bodyPr>
            <a:normAutofit fontScale="90000"/>
          </a:bodyPr>
          <a:lstStyle/>
          <a:p>
            <a:r>
              <a:rPr lang="en-US" dirty="0"/>
              <a:t>Hans </a:t>
            </a:r>
            <a:r>
              <a:rPr lang="en-US" dirty="0" err="1"/>
              <a:t>Baldung</a:t>
            </a:r>
            <a:r>
              <a:rPr lang="en-US" dirty="0"/>
              <a:t> </a:t>
            </a:r>
            <a:r>
              <a:rPr lang="en-US" dirty="0" err="1"/>
              <a:t>Grien</a:t>
            </a:r>
            <a:r>
              <a:rPr lang="en-US" dirty="0"/>
              <a:t> DEATH AND THE MATRON</a:t>
            </a:r>
            <a:br>
              <a:rPr lang="en-US" dirty="0"/>
            </a:br>
            <a:r>
              <a:rPr lang="en-US" dirty="0"/>
              <a:t>c. 1520–1525. Oil on wood panel, 12-3/8</a:t>
            </a:r>
            <a:r>
              <a:rPr lang="ru-RU" dirty="0"/>
              <a:t>"</a:t>
            </a:r>
            <a:r>
              <a:rPr lang="en-US" dirty="0"/>
              <a:t> × 7-3/8</a:t>
            </a:r>
            <a:r>
              <a:rPr lang="ru-RU" dirty="0"/>
              <a:t>"</a:t>
            </a:r>
            <a:r>
              <a:rPr lang="en-US" dirty="0"/>
              <a:t> (31.3 × 18.7 cm).</a:t>
            </a:r>
            <a:br>
              <a:rPr lang="en-US" dirty="0"/>
            </a:br>
            <a:r>
              <a:rPr lang="en-US" dirty="0" err="1"/>
              <a:t>Öffentliche</a:t>
            </a:r>
            <a:r>
              <a:rPr lang="en-US" dirty="0"/>
              <a:t> </a:t>
            </a:r>
            <a:r>
              <a:rPr lang="en-US" dirty="0" err="1"/>
              <a:t>Kunstsammlung</a:t>
            </a:r>
            <a:r>
              <a:rPr lang="en-US" dirty="0"/>
              <a:t>, Basel. Photo © Hans </a:t>
            </a:r>
            <a:r>
              <a:rPr lang="en-US" dirty="0" err="1"/>
              <a:t>Hinz</a:t>
            </a:r>
            <a:r>
              <a:rPr lang="en-US" dirty="0"/>
              <a:t>/ARTOTHEK. </a:t>
            </a:r>
          </a:p>
        </p:txBody>
      </p:sp>
      <p:pic>
        <p:nvPicPr>
          <p:cNvPr id="2" name="Picture 1" descr="A pale, curvaceous woman struggles to regain control of her long white drape, which slips away from her nude form as a sickly, skeletal figure assaults her from behind, seeming to bite her lips in kissing her.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r>
              <a:rPr lang="en-US"/>
              <a:t>Painting (10 of 10)</a:t>
            </a:r>
          </a:p>
        </p:txBody>
      </p:sp>
      <p:sp>
        <p:nvSpPr>
          <p:cNvPr id="54274" name="Content Placeholder 2"/>
          <p:cNvSpPr>
            <a:spLocks noGrp="1"/>
          </p:cNvSpPr>
          <p:nvPr>
            <p:ph idx="1"/>
          </p:nvPr>
        </p:nvSpPr>
        <p:spPr/>
        <p:txBody>
          <a:bodyPr/>
          <a:lstStyle/>
          <a:p>
            <a:r>
              <a:rPr lang="en-US"/>
              <a:t>Cranach, Baldung, and Altdorfer</a:t>
            </a:r>
          </a:p>
          <a:p>
            <a:pPr lvl="1"/>
            <a:r>
              <a:rPr lang="en-US"/>
              <a:t>Albrecht Altdorfer</a:t>
            </a:r>
          </a:p>
          <a:p>
            <a:pPr lvl="2"/>
            <a:r>
              <a:rPr lang="en-US"/>
              <a:t>Although landscapes had no overt religious content, they could be seen as glorifying God</a:t>
            </a:r>
            <a:r>
              <a:rPr lang="uk-UA"/>
              <a:t>'</a:t>
            </a:r>
            <a:r>
              <a:rPr lang="en-US"/>
              <a:t>s works on Earth.</a:t>
            </a:r>
          </a:p>
          <a:p>
            <a:pPr lvl="2"/>
            <a:r>
              <a:rPr lang="en-US" i="1"/>
              <a:t>Danube Landscape </a:t>
            </a:r>
            <a:r>
              <a:rPr lang="en-US"/>
              <a:t>is a pure landscape painting without a narrative, subject, human figures, or religious significance.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3"/>
          <p:cNvSpPr>
            <a:spLocks noGrp="1"/>
          </p:cNvSpPr>
          <p:nvPr>
            <p:ph type="title"/>
          </p:nvPr>
        </p:nvSpPr>
        <p:spPr/>
        <p:txBody>
          <a:bodyPr>
            <a:normAutofit fontScale="90000"/>
          </a:bodyPr>
          <a:lstStyle/>
          <a:p>
            <a:r>
              <a:rPr lang="en-US" dirty="0"/>
              <a:t>Albrecht </a:t>
            </a:r>
            <a:r>
              <a:rPr lang="en-US" dirty="0" err="1"/>
              <a:t>Altdorfer</a:t>
            </a:r>
            <a:r>
              <a:rPr lang="en-US" dirty="0"/>
              <a:t> DANUBE LANDSCAPE</a:t>
            </a:r>
            <a:br>
              <a:rPr lang="en-US" dirty="0"/>
            </a:br>
            <a:r>
              <a:rPr lang="en-US" dirty="0"/>
              <a:t>c. 1525. Oil on vellum on wood panel, 12</a:t>
            </a:r>
            <a:r>
              <a:rPr lang="ru-RU" dirty="0"/>
              <a:t>"</a:t>
            </a:r>
            <a:r>
              <a:rPr lang="en-US" dirty="0"/>
              <a:t> × 8-1/2</a:t>
            </a:r>
            <a:r>
              <a:rPr lang="ru-RU" dirty="0"/>
              <a:t>"</a:t>
            </a:r>
            <a:r>
              <a:rPr lang="en-US" dirty="0"/>
              <a:t> (30.5 × 22.2 cm).</a:t>
            </a:r>
            <a:br>
              <a:rPr lang="en-US" dirty="0"/>
            </a:br>
            <a:r>
              <a:rPr lang="en-US" dirty="0"/>
              <a:t>Alte </a:t>
            </a:r>
            <a:r>
              <a:rPr lang="en-US" dirty="0" err="1"/>
              <a:t>Pinakothek</a:t>
            </a:r>
            <a:r>
              <a:rPr lang="en-US" dirty="0"/>
              <a:t>, Munich. © 2016.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Berlin. </a:t>
            </a:r>
          </a:p>
        </p:txBody>
      </p:sp>
      <p:pic>
        <p:nvPicPr>
          <p:cNvPr id="2" name="Picture 1" descr="An unpaved path leads from a dense alpine forest to a city in the middle distance, built above the curve of a riv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p:txBody>
          <a:bodyPr/>
          <a:lstStyle/>
          <a:p>
            <a:r>
              <a:rPr lang="en-US"/>
              <a:t>France</a:t>
            </a:r>
          </a:p>
        </p:txBody>
      </p:sp>
      <p:sp>
        <p:nvSpPr>
          <p:cNvPr id="57346" name="Content Placeholder 2"/>
          <p:cNvSpPr>
            <a:spLocks noGrp="1"/>
          </p:cNvSpPr>
          <p:nvPr>
            <p:ph idx="1"/>
          </p:nvPr>
        </p:nvSpPr>
        <p:spPr/>
        <p:txBody>
          <a:bodyPr/>
          <a:lstStyle/>
          <a:p>
            <a:r>
              <a:rPr lang="en-US"/>
              <a:t>Reformer John Calvin fled France to establish a theocratic state in Geneva.</a:t>
            </a:r>
          </a:p>
          <a:p>
            <a:r>
              <a:rPr lang="en-US"/>
              <a:t>Political factions favoring Catholics fought those favoring Huguenots, and Catherine de</a:t>
            </a:r>
            <a:r>
              <a:rPr lang="uk-UA"/>
              <a:t>'</a:t>
            </a:r>
            <a:r>
              <a:rPr lang="en-US"/>
              <a:t> Medici failed to balance this warring state.</a:t>
            </a:r>
          </a:p>
          <a:p>
            <a:r>
              <a:rPr lang="en-US"/>
              <a:t>Henry IV ruled with Catholicism, but established tolerance of Protestants with the Edict of Nantes in 1598.</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r>
              <a:rPr lang="en-US"/>
              <a:t>Art and Its Contexts:</a:t>
            </a:r>
            <a:br>
              <a:rPr lang="en-US"/>
            </a:br>
            <a:r>
              <a:rPr lang="en-US"/>
              <a:t>The Castle of the Ladies</a:t>
            </a:r>
          </a:p>
        </p:txBody>
      </p:sp>
      <p:sp>
        <p:nvSpPr>
          <p:cNvPr id="58370" name="Content Placeholder 2"/>
          <p:cNvSpPr>
            <a:spLocks noGrp="1"/>
          </p:cNvSpPr>
          <p:nvPr>
            <p:ph idx="1"/>
          </p:nvPr>
        </p:nvSpPr>
        <p:spPr/>
        <p:txBody>
          <a:bodyPr/>
          <a:lstStyle/>
          <a:p>
            <a:r>
              <a:rPr lang="en-US"/>
              <a:t>The châteaux of the Loire River Valley was built and restored by the patronage of women.</a:t>
            </a:r>
          </a:p>
          <a:p>
            <a:r>
              <a:rPr lang="en-US"/>
              <a:t>Its owners included Catherine Briconnet, Diane de Poitiers, Catherine de</a:t>
            </a:r>
            <a:r>
              <a:rPr lang="uk-UA"/>
              <a:t>'</a:t>
            </a:r>
            <a:r>
              <a:rPr lang="en-US"/>
              <a:t>Medici and Madame Dupin.</a:t>
            </a:r>
          </a:p>
          <a:p>
            <a:r>
              <a:rPr lang="en-US"/>
              <a:t>It was used as a hospital in World War I and an escape route to </a:t>
            </a:r>
            <a:r>
              <a:rPr lang="ru-RU"/>
              <a:t>"</a:t>
            </a:r>
            <a:r>
              <a:rPr lang="en-US"/>
              <a:t>Free</a:t>
            </a:r>
            <a:r>
              <a:rPr lang="ru-RU"/>
              <a:t>"</a:t>
            </a:r>
            <a:r>
              <a:rPr lang="en-US"/>
              <a:t> France in World War II.</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p:txBody>
          <a:bodyPr/>
          <a:lstStyle/>
          <a:p>
            <a:r>
              <a:rPr lang="en-US"/>
              <a:t>A French Renaissasnce Under Francis I</a:t>
            </a:r>
            <a:br>
              <a:rPr lang="en-US"/>
            </a:br>
            <a:r>
              <a:rPr lang="en-US"/>
              <a:t>(1 of 2)</a:t>
            </a:r>
          </a:p>
        </p:txBody>
      </p:sp>
      <p:sp>
        <p:nvSpPr>
          <p:cNvPr id="59394" name="Content Placeholder 2"/>
          <p:cNvSpPr>
            <a:spLocks noGrp="1"/>
          </p:cNvSpPr>
          <p:nvPr>
            <p:ph idx="1"/>
          </p:nvPr>
        </p:nvSpPr>
        <p:spPr/>
        <p:txBody>
          <a:bodyPr/>
          <a:lstStyle/>
          <a:p>
            <a:r>
              <a:rPr lang="en-US"/>
              <a:t>Francis I sought to </a:t>
            </a:r>
            <a:r>
              <a:rPr lang="ru-RU"/>
              <a:t>"</a:t>
            </a:r>
            <a:r>
              <a:rPr lang="en-US"/>
              <a:t>modernize</a:t>
            </a:r>
            <a:r>
              <a:rPr lang="ru-RU"/>
              <a:t>"</a:t>
            </a:r>
            <a:r>
              <a:rPr lang="en-US"/>
              <a:t> the French court.</a:t>
            </a:r>
          </a:p>
          <a:p>
            <a:pPr lvl="1"/>
            <a:r>
              <a:rPr lang="en-US"/>
              <a:t>He supported an Italian-inspired Renaissance in French art and architecture.</a:t>
            </a:r>
          </a:p>
          <a:p>
            <a:pPr lvl="1"/>
            <a:r>
              <a:rPr lang="en-US"/>
              <a:t>Leonardo da Vinci served him after moving to France in 1516.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r>
              <a:rPr lang="en-US"/>
              <a:t>A French Renaissasnce Under Francis I</a:t>
            </a:r>
            <a:br>
              <a:rPr lang="en-US"/>
            </a:br>
            <a:r>
              <a:rPr lang="en-US"/>
              <a:t>(2 of 2)</a:t>
            </a:r>
          </a:p>
        </p:txBody>
      </p:sp>
      <p:sp>
        <p:nvSpPr>
          <p:cNvPr id="60418" name="Content Placeholder 2"/>
          <p:cNvSpPr>
            <a:spLocks noGrp="1"/>
          </p:cNvSpPr>
          <p:nvPr>
            <p:ph idx="1"/>
          </p:nvPr>
        </p:nvSpPr>
        <p:spPr/>
        <p:txBody>
          <a:bodyPr/>
          <a:lstStyle/>
          <a:p>
            <a:r>
              <a:rPr lang="en-US"/>
              <a:t>Jean Clouet</a:t>
            </a:r>
          </a:p>
          <a:p>
            <a:pPr lvl="1"/>
            <a:r>
              <a:rPr lang="en-US"/>
              <a:t>Clouet found favor as a portrait painter, evident in the flattering image of </a:t>
            </a:r>
            <a:r>
              <a:rPr lang="en-US" i="1"/>
              <a:t>Francis I</a:t>
            </a:r>
            <a:r>
              <a:rPr lang="en-US"/>
              <a:t>.</a:t>
            </a:r>
          </a:p>
          <a:p>
            <a:pPr lvl="1"/>
            <a:r>
              <a:rPr lang="en-US"/>
              <a:t>Sumptuous clothes and jewels were often painted separately from the sitter by using servants as models.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3"/>
          <p:cNvSpPr>
            <a:spLocks noGrp="1"/>
          </p:cNvSpPr>
          <p:nvPr>
            <p:ph type="title"/>
          </p:nvPr>
        </p:nvSpPr>
        <p:spPr/>
        <p:txBody>
          <a:bodyPr>
            <a:normAutofit fontScale="90000"/>
          </a:bodyPr>
          <a:lstStyle/>
          <a:p>
            <a:r>
              <a:rPr lang="en-US" dirty="0"/>
              <a:t>Jean Clouet FRANCIS I</a:t>
            </a:r>
            <a:br>
              <a:rPr lang="en-US" dirty="0"/>
            </a:br>
            <a:r>
              <a:rPr lang="en-US" dirty="0"/>
              <a:t>1525–1530. Oil and tempera on wood panel, 37-3/4</a:t>
            </a:r>
            <a:r>
              <a:rPr lang="ru-RU" dirty="0"/>
              <a:t>"</a:t>
            </a:r>
            <a:r>
              <a:rPr lang="en-US" dirty="0"/>
              <a:t> × 29-1/8</a:t>
            </a:r>
            <a:r>
              <a:rPr lang="ru-RU" dirty="0"/>
              <a:t>"</a:t>
            </a:r>
            <a:r>
              <a:rPr lang="en-US" dirty="0"/>
              <a:t> (95.9 × 74 cm).</a:t>
            </a:r>
            <a:br>
              <a:rPr lang="en-US" dirty="0"/>
            </a:br>
            <a:r>
              <a:rPr lang="en-US" dirty="0" err="1"/>
              <a:t>Musée</a:t>
            </a:r>
            <a:r>
              <a:rPr lang="en-US" dirty="0"/>
              <a:t> du Louvre, Paris. © 2016. Photo Scala, Florence. </a:t>
            </a:r>
          </a:p>
        </p:txBody>
      </p:sp>
      <p:pic>
        <p:nvPicPr>
          <p:cNvPr id="2" name="Picture 1" descr="A bearded man poses with his shoulders squared toward the viewer and broadened by his wide, satiny sleeves. He wears a hat resembling a beret, decorated with small beads around its curving brim, with a large white feather folded across the top."/>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p:txBody>
          <a:bodyPr/>
          <a:lstStyle/>
          <a:p>
            <a:r>
              <a:rPr lang="en-US"/>
              <a:t>Royal Residences (1 of 3)</a:t>
            </a:r>
          </a:p>
        </p:txBody>
      </p:sp>
      <p:sp>
        <p:nvSpPr>
          <p:cNvPr id="63490" name="Content Placeholder 2"/>
          <p:cNvSpPr>
            <a:spLocks noGrp="1"/>
          </p:cNvSpPr>
          <p:nvPr>
            <p:ph idx="1"/>
          </p:nvPr>
        </p:nvSpPr>
        <p:spPr/>
        <p:txBody>
          <a:bodyPr/>
          <a:lstStyle/>
          <a:p>
            <a:r>
              <a:rPr lang="en-US"/>
              <a:t>The Château of Chenonceau</a:t>
            </a:r>
          </a:p>
          <a:p>
            <a:pPr lvl="1"/>
            <a:r>
              <a:rPr lang="en-US"/>
              <a:t>Architects were quick to introduce Italianate decoration to otherwise Gothic buildings.</a:t>
            </a:r>
          </a:p>
          <a:p>
            <a:pPr lvl="1"/>
            <a:r>
              <a:rPr lang="en-US"/>
              <a:t>Thomas Bohier demolished the old castle and left only a tower.</a:t>
            </a:r>
          </a:p>
          <a:p>
            <a:pPr lvl="1"/>
            <a:r>
              <a:rPr lang="en-US"/>
              <a:t>Although not originally built as a royal residence, Chenonceau soon belonged to Francis I after its completion.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3"/>
          <p:cNvSpPr>
            <a:spLocks noGrp="1"/>
          </p:cNvSpPr>
          <p:nvPr>
            <p:ph type="title"/>
          </p:nvPr>
        </p:nvSpPr>
        <p:spPr/>
        <p:txBody>
          <a:bodyPr>
            <a:normAutofit fontScale="90000"/>
          </a:bodyPr>
          <a:lstStyle/>
          <a:p>
            <a:r>
              <a:rPr lang="en-US" dirty="0"/>
              <a:t>CHÂTEAU OF CHENONCEAU</a:t>
            </a:r>
            <a:br>
              <a:rPr lang="en-US" dirty="0"/>
            </a:br>
            <a:r>
              <a:rPr lang="en-US" dirty="0"/>
              <a:t>Touraine, France. Original building (at right) 1513–1521; gallery on bridge at left by Philibert de l</a:t>
            </a:r>
            <a:r>
              <a:rPr lang="uk-UA" dirty="0"/>
              <a:t>'</a:t>
            </a:r>
            <a:r>
              <a:rPr lang="en-US" dirty="0"/>
              <a:t>Orme, finished c. 1581. Wildman/</a:t>
            </a:r>
            <a:r>
              <a:rPr lang="en-US" dirty="0" err="1"/>
              <a:t>Fotolia</a:t>
            </a:r>
            <a:r>
              <a:rPr lang="en-US" dirty="0"/>
              <a:t>. </a:t>
            </a:r>
          </a:p>
        </p:txBody>
      </p:sp>
      <p:pic>
        <p:nvPicPr>
          <p:cNvPr id="2" name="Picture 1" descr="The chateau has a long rectangular section that extends from the shore across several piers into the middle of the River Cher, where this gallery connects to a more elaborate structure, featuring rounded towers and lancet window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p:nvPr>
        </p:nvSpPr>
        <p:spPr/>
        <p:txBody>
          <a:bodyPr/>
          <a:lstStyle/>
          <a:p>
            <a:r>
              <a:rPr lang="en-US"/>
              <a:t>Royal Residences (2 of 3)</a:t>
            </a:r>
          </a:p>
        </p:txBody>
      </p:sp>
      <p:sp>
        <p:nvSpPr>
          <p:cNvPr id="66562" name="Content Placeholder 2"/>
          <p:cNvSpPr>
            <a:spLocks noGrp="1"/>
          </p:cNvSpPr>
          <p:nvPr>
            <p:ph idx="1"/>
          </p:nvPr>
        </p:nvSpPr>
        <p:spPr/>
        <p:txBody>
          <a:bodyPr/>
          <a:lstStyle/>
          <a:p>
            <a:r>
              <a:rPr lang="en-US"/>
              <a:t>Fontainebleau</a:t>
            </a:r>
          </a:p>
          <a:p>
            <a:pPr lvl="1"/>
            <a:r>
              <a:rPr lang="en-US"/>
              <a:t>Rosso Fiorentino and Francesco Primaticcio worked to decorate the medieval hunting lodge at Fontainebleau.</a:t>
            </a:r>
          </a:p>
          <a:p>
            <a:pPr lvl="1"/>
            <a:r>
              <a:rPr lang="en-US"/>
              <a:t>Stucco nymphs with spiraling postures are playful, erotic interior elements.</a:t>
            </a:r>
          </a:p>
          <a:p>
            <a:pPr lvl="1"/>
            <a:r>
              <a:rPr lang="en-US"/>
              <a:t>This work established an Italianate tradition of Mannerist painting and interior design.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3"/>
          <p:cNvSpPr>
            <a:spLocks noGrp="1"/>
          </p:cNvSpPr>
          <p:nvPr>
            <p:ph type="title"/>
          </p:nvPr>
        </p:nvSpPr>
        <p:spPr/>
        <p:txBody>
          <a:bodyPr>
            <a:normAutofit fontScale="90000"/>
          </a:bodyPr>
          <a:lstStyle/>
          <a:p>
            <a:r>
              <a:rPr lang="en-US" dirty="0" err="1"/>
              <a:t>Primaticcio</a:t>
            </a:r>
            <a:r>
              <a:rPr lang="en-US" dirty="0"/>
              <a:t> STUCCO AND WALL PAINTING, CHAMBER OF THE DUCHESS OF ÉTAMPES, CHÂTEAU OF FONTAINEBLEAU</a:t>
            </a:r>
            <a:br>
              <a:rPr lang="en-US" dirty="0"/>
            </a:br>
            <a:r>
              <a:rPr lang="en-US" dirty="0"/>
              <a:t>France. 1540s. Photo © RMN-Grand Palais (Château de Fontainebleau)/Jean-Pierre </a:t>
            </a:r>
            <a:r>
              <a:rPr lang="en-US" dirty="0" err="1"/>
              <a:t>Lagiewski</a:t>
            </a:r>
            <a:endParaRPr lang="en-US" dirty="0"/>
          </a:p>
        </p:txBody>
      </p:sp>
      <p:pic>
        <p:nvPicPr>
          <p:cNvPr id="2" name="Picture 1" descr="Statues of nymphs frame a wide painting of a soldier with a helmet speaking before a lithe figure in a simple, scant drapery, whose body resembles those of the flanking sculptur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p:cNvSpPr>
            <a:spLocks noGrp="1"/>
          </p:cNvSpPr>
          <p:nvPr>
            <p:ph type="title"/>
          </p:nvPr>
        </p:nvSpPr>
        <p:spPr/>
        <p:txBody>
          <a:bodyPr/>
          <a:lstStyle/>
          <a:p>
            <a:r>
              <a:rPr lang="en-US"/>
              <a:t>Royal Residences (3 of 3)</a:t>
            </a:r>
          </a:p>
        </p:txBody>
      </p:sp>
      <p:sp>
        <p:nvSpPr>
          <p:cNvPr id="69634" name="Content Placeholder 2"/>
          <p:cNvSpPr>
            <a:spLocks noGrp="1"/>
          </p:cNvSpPr>
          <p:nvPr>
            <p:ph idx="1"/>
          </p:nvPr>
        </p:nvSpPr>
        <p:spPr/>
        <p:txBody>
          <a:bodyPr/>
          <a:lstStyle/>
          <a:p>
            <a:r>
              <a:rPr lang="en-US"/>
              <a:t>The Louvre</a:t>
            </a:r>
          </a:p>
          <a:p>
            <a:pPr lvl="1"/>
            <a:r>
              <a:rPr lang="en-US"/>
              <a:t>The king</a:t>
            </a:r>
            <a:r>
              <a:rPr lang="uk-UA"/>
              <a:t>'</a:t>
            </a:r>
            <a:r>
              <a:rPr lang="en-US"/>
              <a:t>s move to the capital of Paris gave birth to a style of French Classicism.</a:t>
            </a:r>
          </a:p>
          <a:p>
            <a:pPr lvl="1"/>
            <a:r>
              <a:rPr lang="en-US"/>
              <a:t>The west wing, or </a:t>
            </a:r>
            <a:r>
              <a:rPr lang="en-US" i="1"/>
              <a:t>Cour Carrée</a:t>
            </a:r>
            <a:r>
              <a:rPr lang="en-US"/>
              <a:t>, of the Louvre incorporated Renaissance ideals of balance and regularity with Classical architectural details.</a:t>
            </a:r>
          </a:p>
          <a:p>
            <a:pPr lvl="2"/>
            <a:r>
              <a:rPr lang="en-US"/>
              <a:t>Italian loggia mixes with the French Flamboyant style.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3"/>
          <p:cNvSpPr>
            <a:spLocks noGrp="1"/>
          </p:cNvSpPr>
          <p:nvPr>
            <p:ph type="title"/>
          </p:nvPr>
        </p:nvSpPr>
        <p:spPr/>
        <p:txBody>
          <a:bodyPr>
            <a:normAutofit fontScale="90000"/>
          </a:bodyPr>
          <a:lstStyle/>
          <a:p>
            <a:r>
              <a:rPr lang="en-US" dirty="0"/>
              <a:t>Pierre Lescot and Jean Goujon WEST WING OF THE COUR CARRÉE, PALAIS DU LOUVRE, PARIS</a:t>
            </a:r>
            <a:br>
              <a:rPr lang="en-US" dirty="0"/>
            </a:br>
            <a:r>
              <a:rPr lang="en-US" dirty="0"/>
              <a:t>Begun 1546.</a:t>
            </a:r>
            <a:br>
              <a:rPr lang="en-US" dirty="0"/>
            </a:br>
            <a:r>
              <a:rPr lang="en-US" dirty="0"/>
              <a:t>© </a:t>
            </a:r>
            <a:r>
              <a:rPr lang="en-US" dirty="0" err="1"/>
              <a:t>akg</a:t>
            </a:r>
            <a:r>
              <a:rPr lang="en-US" dirty="0"/>
              <a:t>-images/Erich Lessing. </a:t>
            </a:r>
          </a:p>
        </p:txBody>
      </p:sp>
      <p:pic>
        <p:nvPicPr>
          <p:cNvPr id="2" name="Picture 1" descr="The eaves of the roof are either horizontal, or rise into wide barrel arches that enclose coats of arms, two stories above the west wing’s ground-level door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p:txBody>
          <a:bodyPr/>
          <a:lstStyle/>
          <a:p>
            <a:r>
              <a:rPr lang="en-US"/>
              <a:t>Spain and Portugal</a:t>
            </a:r>
          </a:p>
        </p:txBody>
      </p:sp>
      <p:sp>
        <p:nvSpPr>
          <p:cNvPr id="72706" name="Content Placeholder 2"/>
          <p:cNvSpPr>
            <a:spLocks noGrp="1"/>
          </p:cNvSpPr>
          <p:nvPr>
            <p:ph idx="1"/>
          </p:nvPr>
        </p:nvSpPr>
        <p:spPr/>
        <p:txBody>
          <a:bodyPr/>
          <a:lstStyle/>
          <a:p>
            <a:r>
              <a:rPr lang="en-US"/>
              <a:t>The marriage of Isabella of Castile and Ferdinand of Aragon began a powerful reign in Spain that lasted through their great-grandson, Philip II.</a:t>
            </a:r>
          </a:p>
          <a:p>
            <a:r>
              <a:rPr lang="en-US"/>
              <a:t>Philip II supported artists in Spain, Italy, and the Netherlands.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p:cNvSpPr>
            <a:spLocks noGrp="1"/>
          </p:cNvSpPr>
          <p:nvPr>
            <p:ph type="title"/>
          </p:nvPr>
        </p:nvSpPr>
        <p:spPr/>
        <p:txBody>
          <a:bodyPr/>
          <a:lstStyle/>
          <a:p>
            <a:r>
              <a:rPr lang="en-US"/>
              <a:t>Architecture</a:t>
            </a:r>
          </a:p>
        </p:txBody>
      </p:sp>
      <p:sp>
        <p:nvSpPr>
          <p:cNvPr id="73730" name="Content Placeholder 2"/>
          <p:cNvSpPr>
            <a:spLocks noGrp="1"/>
          </p:cNvSpPr>
          <p:nvPr>
            <p:ph idx="1"/>
          </p:nvPr>
        </p:nvSpPr>
        <p:spPr/>
        <p:txBody>
          <a:bodyPr/>
          <a:lstStyle/>
          <a:p>
            <a:r>
              <a:rPr lang="en-US"/>
              <a:t>The Escorial was a palace complex outside Madrid.</a:t>
            </a:r>
          </a:p>
          <a:p>
            <a:r>
              <a:rPr lang="en-US"/>
              <a:t>Juan Bautista de Toledo supervised the design, but Philip II guaranteed its grandeur.</a:t>
            </a:r>
          </a:p>
          <a:p>
            <a:r>
              <a:rPr lang="en-US"/>
              <a:t>Juan de Herrera added to the design with second stories on all wings and a central frontispiece.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3"/>
          <p:cNvSpPr>
            <a:spLocks noGrp="1"/>
          </p:cNvSpPr>
          <p:nvPr>
            <p:ph type="title"/>
          </p:nvPr>
        </p:nvSpPr>
        <p:spPr>
          <a:xfrm>
            <a:off x="457200" y="5791200"/>
            <a:ext cx="8229600" cy="685800"/>
          </a:xfrm>
        </p:spPr>
        <p:txBody>
          <a:bodyPr>
            <a:normAutofit fontScale="90000"/>
          </a:bodyPr>
          <a:lstStyle/>
          <a:p>
            <a:r>
              <a:rPr lang="en-US" dirty="0"/>
              <a:t>Juan Bautista de Toledo and Juan de Herrera THE ESCORIAL</a:t>
            </a:r>
            <a:br>
              <a:rPr lang="en-US" dirty="0"/>
            </a:br>
            <a:r>
              <a:rPr lang="en-US" dirty="0"/>
              <a:t>Madrid. 1563–1584. Detail from an anonymous 17th-century painting. Oil on canvas, </a:t>
            </a:r>
            <a:br>
              <a:rPr lang="en-US" dirty="0"/>
            </a:br>
            <a:r>
              <a:rPr lang="en-US" dirty="0"/>
              <a:t>30-1/4 × 35-7/8” (77 × 91 cm). </a:t>
            </a:r>
            <a:r>
              <a:rPr lang="en-US" dirty="0" err="1"/>
              <a:t>Monasterio</a:t>
            </a:r>
            <a:r>
              <a:rPr lang="en-US" dirty="0"/>
              <a:t>-Pintura, San Lorenzo Del Escorial, Madrid. </a:t>
            </a:r>
            <a:br>
              <a:rPr lang="en-US" dirty="0"/>
            </a:br>
            <a:r>
              <a:rPr lang="en-US" dirty="0"/>
              <a:t> © </a:t>
            </a:r>
            <a:r>
              <a:rPr lang="en-US" dirty="0" err="1"/>
              <a:t>akg</a:t>
            </a:r>
            <a:r>
              <a:rPr lang="en-US" dirty="0"/>
              <a:t>-images/Album/</a:t>
            </a:r>
            <a:r>
              <a:rPr lang="en-US" dirty="0" err="1"/>
              <a:t>Oronoz</a:t>
            </a:r>
            <a:r>
              <a:rPr lang="en-US" dirty="0"/>
              <a:t> </a:t>
            </a:r>
          </a:p>
        </p:txBody>
      </p:sp>
      <p:pic>
        <p:nvPicPr>
          <p:cNvPr id="2" name="Picture 1" descr="An aerial view of the Escorial showcases its expansive, square footprint amid a rectangular grid of manicured lawns. The structure resembles an ancient citadel, with tall central structures surrounded by courtyards and lower structures resembling wall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p:cNvSpPr>
            <a:spLocks noGrp="1"/>
          </p:cNvSpPr>
          <p:nvPr>
            <p:ph type="title"/>
          </p:nvPr>
        </p:nvSpPr>
        <p:spPr/>
        <p:txBody>
          <a:bodyPr/>
          <a:lstStyle/>
          <a:p>
            <a:r>
              <a:rPr lang="en-US"/>
              <a:t>Sculpture</a:t>
            </a:r>
          </a:p>
        </p:txBody>
      </p:sp>
      <p:sp>
        <p:nvSpPr>
          <p:cNvPr id="76802" name="Content Placeholder 2"/>
          <p:cNvSpPr>
            <a:spLocks noGrp="1"/>
          </p:cNvSpPr>
          <p:nvPr>
            <p:ph idx="1"/>
          </p:nvPr>
        </p:nvSpPr>
        <p:spPr/>
        <p:txBody>
          <a:bodyPr/>
          <a:lstStyle/>
          <a:p>
            <a:r>
              <a:rPr lang="en-US"/>
              <a:t>The West Window from the Church in the Convent of Christ, Tomar is an unexpected detail in the Church of the Knights of Christ.</a:t>
            </a:r>
          </a:p>
          <a:p>
            <a:pPr lvl="1"/>
            <a:r>
              <a:rPr lang="en-US"/>
              <a:t>Diogo de Arruda worked in the </a:t>
            </a:r>
            <a:r>
              <a:rPr lang="ru-RU"/>
              <a:t>"</a:t>
            </a:r>
            <a:r>
              <a:rPr lang="en-US"/>
              <a:t>Manueline</a:t>
            </a:r>
            <a:r>
              <a:rPr lang="ru-RU"/>
              <a:t>"</a:t>
            </a:r>
            <a:r>
              <a:rPr lang="en-US"/>
              <a:t> style, carving every detail associated with the sea.</a:t>
            </a:r>
          </a:p>
          <a:p>
            <a:pPr lvl="1"/>
            <a:r>
              <a:rPr lang="en-US"/>
              <a:t>The amillary sphere, a complex celestial globe, was a symbol of the era.</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3"/>
          <p:cNvSpPr>
            <a:spLocks noGrp="1"/>
          </p:cNvSpPr>
          <p:nvPr>
            <p:ph type="title"/>
          </p:nvPr>
        </p:nvSpPr>
        <p:spPr/>
        <p:txBody>
          <a:bodyPr>
            <a:normAutofit fontScale="90000"/>
          </a:bodyPr>
          <a:lstStyle/>
          <a:p>
            <a:r>
              <a:rPr lang="en-US" dirty="0" err="1"/>
              <a:t>Diogo</a:t>
            </a:r>
            <a:r>
              <a:rPr lang="en-US" dirty="0"/>
              <a:t> de Arruda WEST WINDOW, CHURCH IN THE CONVENT OF CHRIST, TOMAR</a:t>
            </a:r>
            <a:br>
              <a:rPr lang="en-US" dirty="0"/>
            </a:br>
            <a:r>
              <a:rPr lang="en-US" dirty="0"/>
              <a:t>Portugal. c. 1510.</a:t>
            </a:r>
            <a:br>
              <a:rPr lang="en-US" dirty="0"/>
            </a:br>
            <a:r>
              <a:rPr lang="en-US" dirty="0"/>
              <a:t>Commissioned by King Manuel I of Portugal. </a:t>
            </a:r>
            <a:r>
              <a:rPr lang="en-US" dirty="0" err="1"/>
              <a:t>Lemtal</a:t>
            </a:r>
            <a:r>
              <a:rPr lang="en-US" dirty="0"/>
              <a:t>/</a:t>
            </a:r>
            <a:r>
              <a:rPr lang="en-US" dirty="0" err="1"/>
              <a:t>Fotolia</a:t>
            </a:r>
            <a:r>
              <a:rPr lang="en-US" dirty="0"/>
              <a:t>. </a:t>
            </a:r>
          </a:p>
        </p:txBody>
      </p:sp>
      <p:pic>
        <p:nvPicPr>
          <p:cNvPr id="2" name="Picture 1" descr="The natural shapes surrounding the west window are accented by patches of light yellow moss, lending the dark gray stone a gilded appearanc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p:cNvSpPr>
            <a:spLocks noGrp="1"/>
          </p:cNvSpPr>
          <p:nvPr>
            <p:ph type="title"/>
          </p:nvPr>
        </p:nvSpPr>
        <p:spPr/>
        <p:txBody>
          <a:bodyPr/>
          <a:lstStyle/>
          <a:p>
            <a:r>
              <a:rPr lang="en-US"/>
              <a:t>Painting</a:t>
            </a:r>
          </a:p>
        </p:txBody>
      </p:sp>
      <p:sp>
        <p:nvSpPr>
          <p:cNvPr id="79874" name="Content Placeholder 2"/>
          <p:cNvSpPr>
            <a:spLocks noGrp="1"/>
          </p:cNvSpPr>
          <p:nvPr>
            <p:ph idx="1"/>
          </p:nvPr>
        </p:nvSpPr>
        <p:spPr/>
        <p:txBody>
          <a:bodyPr/>
          <a:lstStyle/>
          <a:p>
            <a:r>
              <a:rPr lang="en-US"/>
              <a:t>Domenikos Theotokopoulos was the most famous painter at the end of the sixteenth century.</a:t>
            </a:r>
          </a:p>
          <a:p>
            <a:pPr lvl="1"/>
            <a:r>
              <a:rPr lang="en-US"/>
              <a:t>Nicknamed </a:t>
            </a:r>
            <a:r>
              <a:rPr lang="ru-RU"/>
              <a:t>"</a:t>
            </a:r>
            <a:r>
              <a:rPr lang="en-US"/>
              <a:t>El Greco,</a:t>
            </a:r>
            <a:r>
              <a:rPr lang="ru-RU"/>
              <a:t>"</a:t>
            </a:r>
            <a:r>
              <a:rPr lang="en-US"/>
              <a:t> he joined the circle of humanist scholars after failing to gain a position at court.</a:t>
            </a:r>
          </a:p>
          <a:p>
            <a:pPr lvl="1"/>
            <a:r>
              <a:rPr lang="en-US" i="1"/>
              <a:t>The Burial of Count Orgaz </a:t>
            </a:r>
            <a:r>
              <a:rPr lang="en-US"/>
              <a:t>captures a miraculous ascent of Orgaz into heaven.</a:t>
            </a:r>
          </a:p>
          <a:p>
            <a:pPr lvl="2"/>
            <a:r>
              <a:rPr lang="en-US"/>
              <a:t>It utilizes a Mannerist composition.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3"/>
          <p:cNvSpPr>
            <a:spLocks noGrp="1"/>
          </p:cNvSpPr>
          <p:nvPr>
            <p:ph type="title"/>
          </p:nvPr>
        </p:nvSpPr>
        <p:spPr/>
        <p:txBody>
          <a:bodyPr>
            <a:normAutofit fontScale="90000"/>
          </a:bodyPr>
          <a:lstStyle/>
          <a:p>
            <a:r>
              <a:rPr lang="en-US" dirty="0"/>
              <a:t>El Greco BURIAL OF COUNT ORGAZ</a:t>
            </a:r>
            <a:br>
              <a:rPr lang="en-US" dirty="0"/>
            </a:br>
            <a:r>
              <a:rPr lang="en-US" dirty="0"/>
              <a:t>Church of Santo Tomé, Toledo, Spain. 1586.</a:t>
            </a:r>
            <a:br>
              <a:rPr lang="en-US" dirty="0"/>
            </a:br>
            <a:r>
              <a:rPr lang="en-US" dirty="0"/>
              <a:t>Oil on canvas, 16</a:t>
            </a:r>
            <a:r>
              <a:rPr lang="uk-UA" dirty="0"/>
              <a:t>'</a:t>
            </a:r>
            <a:r>
              <a:rPr lang="en-US" dirty="0"/>
              <a:t> × 11</a:t>
            </a:r>
            <a:r>
              <a:rPr lang="uk-UA" dirty="0"/>
              <a:t>'</a:t>
            </a:r>
            <a:r>
              <a:rPr lang="en-US" dirty="0"/>
              <a:t>10</a:t>
            </a:r>
            <a:r>
              <a:rPr lang="ru-RU" dirty="0"/>
              <a:t>"</a:t>
            </a:r>
            <a:r>
              <a:rPr lang="en-US" dirty="0"/>
              <a:t> (4.88 × 3.61 m).</a:t>
            </a:r>
            <a:br>
              <a:rPr lang="en-US" dirty="0"/>
            </a:br>
            <a:r>
              <a:rPr lang="en-US" dirty="0"/>
              <a:t>Courtesy of Marilyn </a:t>
            </a:r>
            <a:r>
              <a:rPr lang="en-US" dirty="0" err="1"/>
              <a:t>Stokstad</a:t>
            </a:r>
            <a:r>
              <a:rPr lang="en-US" dirty="0"/>
              <a:t>. </a:t>
            </a:r>
          </a:p>
        </p:txBody>
      </p:sp>
      <p:pic>
        <p:nvPicPr>
          <p:cNvPr id="2" name="Picture 1" descr="An earthly scene of a noble’s burial plays out below a sprawling tableau of heavenly images above, where gigantic, biblical figures emerge from cloth-like curtains of clouds in the sk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p:cNvSpPr>
            <a:spLocks noGrp="1"/>
          </p:cNvSpPr>
          <p:nvPr>
            <p:ph type="title"/>
          </p:nvPr>
        </p:nvSpPr>
        <p:spPr/>
        <p:txBody>
          <a:bodyPr/>
          <a:lstStyle/>
          <a:p>
            <a:r>
              <a:rPr lang="en-US"/>
              <a:t>The Netherlands</a:t>
            </a:r>
          </a:p>
        </p:txBody>
      </p:sp>
      <p:sp>
        <p:nvSpPr>
          <p:cNvPr id="82946" name="Content Placeholder 2"/>
          <p:cNvSpPr>
            <a:spLocks noGrp="1"/>
          </p:cNvSpPr>
          <p:nvPr>
            <p:ph idx="1"/>
          </p:nvPr>
        </p:nvSpPr>
        <p:spPr/>
        <p:txBody>
          <a:bodyPr/>
          <a:lstStyle/>
          <a:p>
            <a:r>
              <a:rPr lang="en-US"/>
              <a:t>Widespread iconoclasm swept the Netherlands from 1566–1567, followed by a battle for independence.</a:t>
            </a:r>
          </a:p>
          <a:p>
            <a:r>
              <a:rPr lang="en-US"/>
              <a:t>Antwerp developed into a thriving art center because artists sought patrons outside the Church.</a:t>
            </a:r>
          </a:p>
          <a:p>
            <a:pPr lvl="1"/>
            <a:r>
              <a:rPr lang="en-US"/>
              <a:t>The </a:t>
            </a:r>
            <a:r>
              <a:rPr lang="en-US" b="1"/>
              <a:t>graphic arts </a:t>
            </a:r>
            <a:r>
              <a:rPr lang="en-US"/>
              <a:t>emerged as an important medium.</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p:cNvSpPr>
            <a:spLocks noGrp="1"/>
          </p:cNvSpPr>
          <p:nvPr>
            <p:ph type="title"/>
          </p:nvPr>
        </p:nvSpPr>
        <p:spPr/>
        <p:txBody>
          <a:bodyPr/>
          <a:lstStyle/>
          <a:p>
            <a:r>
              <a:rPr lang="en-US"/>
              <a:t>Painting for Aristocratic and Noble Patrons (1 of 4)</a:t>
            </a:r>
          </a:p>
        </p:txBody>
      </p:sp>
      <p:sp>
        <p:nvSpPr>
          <p:cNvPr id="83970" name="Content Placeholder 2"/>
          <p:cNvSpPr>
            <a:spLocks noGrp="1"/>
          </p:cNvSpPr>
          <p:nvPr>
            <p:ph idx="1"/>
          </p:nvPr>
        </p:nvSpPr>
        <p:spPr/>
        <p:txBody>
          <a:bodyPr/>
          <a:lstStyle/>
          <a:p>
            <a:r>
              <a:rPr lang="en-US"/>
              <a:t>Taste varied widely among the wealthy bourgeoisie.</a:t>
            </a:r>
          </a:p>
          <a:p>
            <a:r>
              <a:rPr lang="en-US"/>
              <a:t>Bosch captured imaginative visions while Jan Gossaert composed Italianate works.</a:t>
            </a:r>
          </a:p>
          <a:p>
            <a:r>
              <a:rPr lang="en-US"/>
              <a:t>Hieronymus Bosch</a:t>
            </a:r>
          </a:p>
          <a:p>
            <a:pPr lvl="1"/>
            <a:r>
              <a:rPr lang="en-US"/>
              <a:t>Bosch was a superb colorist and technician, creating unsettling paintings like the </a:t>
            </a:r>
            <a:r>
              <a:rPr lang="en-US" i="1"/>
              <a:t>Garden of Earthly Delights</a:t>
            </a:r>
            <a:r>
              <a:rPr lang="en-US"/>
              <a:t>.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3"/>
          <p:cNvSpPr>
            <a:spLocks noGrp="1"/>
          </p:cNvSpPr>
          <p:nvPr>
            <p:ph type="title"/>
          </p:nvPr>
        </p:nvSpPr>
        <p:spPr/>
        <p:txBody>
          <a:bodyPr>
            <a:normAutofit fontScale="90000"/>
          </a:bodyPr>
          <a:lstStyle/>
          <a:p>
            <a:r>
              <a:rPr lang="en-US" dirty="0"/>
              <a:t>Hieronymus Bosch GARDEN OF EARTHLY DELIGHTS (OPEN)</a:t>
            </a:r>
            <a:br>
              <a:rPr lang="en-US" dirty="0"/>
            </a:br>
            <a:r>
              <a:rPr lang="en-US" dirty="0"/>
              <a:t>c. 1505–1515. Oil on wood panel, center panel 7</a:t>
            </a:r>
            <a:r>
              <a:rPr lang="uk-UA" dirty="0"/>
              <a:t>'</a:t>
            </a:r>
            <a:r>
              <a:rPr lang="en-US" dirty="0"/>
              <a:t>2-1/2</a:t>
            </a:r>
            <a:r>
              <a:rPr lang="ru-RU" dirty="0"/>
              <a:t>"</a:t>
            </a:r>
            <a:r>
              <a:rPr lang="en-US" dirty="0"/>
              <a:t> × 6</a:t>
            </a:r>
            <a:r>
              <a:rPr lang="uk-UA" dirty="0"/>
              <a:t>'</a:t>
            </a:r>
            <a:r>
              <a:rPr lang="en-US" dirty="0"/>
              <a:t>4-3/4</a:t>
            </a:r>
            <a:r>
              <a:rPr lang="ru-RU" dirty="0"/>
              <a:t>"</a:t>
            </a:r>
            <a:r>
              <a:rPr lang="en-US" dirty="0"/>
              <a:t> (2.20 × 1.95 m),</a:t>
            </a:r>
            <a:br>
              <a:rPr lang="en-US" dirty="0"/>
            </a:br>
            <a:r>
              <a:rPr lang="en-US" dirty="0"/>
              <a:t>each wing 7</a:t>
            </a:r>
            <a:r>
              <a:rPr lang="uk-UA" dirty="0"/>
              <a:t>'</a:t>
            </a:r>
            <a:r>
              <a:rPr lang="en-US" dirty="0"/>
              <a:t>2-1/2</a:t>
            </a:r>
            <a:r>
              <a:rPr lang="ru-RU" dirty="0"/>
              <a:t>"</a:t>
            </a:r>
            <a:r>
              <a:rPr lang="en-US" dirty="0"/>
              <a:t> × 3</a:t>
            </a:r>
            <a:r>
              <a:rPr lang="uk-UA" dirty="0"/>
              <a:t>'</a:t>
            </a:r>
            <a:r>
              <a:rPr lang="en-US" dirty="0"/>
              <a:t>2</a:t>
            </a:r>
            <a:r>
              <a:rPr lang="ru-RU" dirty="0"/>
              <a:t>"</a:t>
            </a:r>
            <a:r>
              <a:rPr lang="en-US" dirty="0"/>
              <a:t> (2.20 × 0.97 m).</a:t>
            </a:r>
            <a:br>
              <a:rPr lang="en-US" dirty="0"/>
            </a:br>
            <a:r>
              <a:rPr lang="en-US" dirty="0"/>
              <a:t>Museo del Prado, Madrid. © 2016. Image copyright Museo Nacional del Prado. © Photo MNP/Scala, Florence.</a:t>
            </a:r>
          </a:p>
        </p:txBody>
      </p:sp>
      <p:pic>
        <p:nvPicPr>
          <p:cNvPr id="2" name="Picture 1" descr="A triptych, in which each panel presents a different, fanciful landscape filled with strange human and animal figure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p:cNvSpPr>
            <a:spLocks noGrp="1"/>
          </p:cNvSpPr>
          <p:nvPr>
            <p:ph type="title"/>
          </p:nvPr>
        </p:nvSpPr>
        <p:spPr/>
        <p:txBody>
          <a:bodyPr/>
          <a:lstStyle/>
          <a:p>
            <a:r>
              <a:rPr lang="en-US"/>
              <a:t>Painting for Aristocratic and Noble Patrons (2 of 4)</a:t>
            </a:r>
          </a:p>
        </p:txBody>
      </p:sp>
      <p:sp>
        <p:nvSpPr>
          <p:cNvPr id="84994" name="Content Placeholder 2"/>
          <p:cNvSpPr>
            <a:spLocks noGrp="1"/>
          </p:cNvSpPr>
          <p:nvPr>
            <p:ph idx="1"/>
          </p:nvPr>
        </p:nvSpPr>
        <p:spPr/>
        <p:txBody>
          <a:bodyPr/>
          <a:lstStyle/>
          <a:p>
            <a:r>
              <a:rPr lang="en-US"/>
              <a:t>Hieronymus Bosch</a:t>
            </a:r>
          </a:p>
          <a:p>
            <a:pPr lvl="1"/>
            <a:r>
              <a:rPr lang="en-US"/>
              <a:t>The left wing presents Adam and Eve under the watchful eye of the owl.</a:t>
            </a:r>
          </a:p>
          <a:p>
            <a:pPr lvl="1"/>
            <a:r>
              <a:rPr lang="en-US"/>
              <a:t>The central teems with human revelers and huge fruits.</a:t>
            </a:r>
          </a:p>
          <a:p>
            <a:pPr lvl="1"/>
            <a:r>
              <a:rPr lang="en-US"/>
              <a:t>The right panel shows sensual pleasures as instruments of dark torture.</a:t>
            </a:r>
          </a:p>
          <a:p>
            <a:pPr lvl="1"/>
            <a:r>
              <a:rPr lang="en-US"/>
              <a:t>Theorists believe the fountain may refer to an alchemical </a:t>
            </a:r>
            <a:r>
              <a:rPr lang="ru-RU"/>
              <a:t>"</a:t>
            </a:r>
            <a:r>
              <a:rPr lang="en-US"/>
              <a:t>marrying chamber.</a:t>
            </a:r>
            <a:r>
              <a:rPr lang="ru-RU"/>
              <a:t>"</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1"/>
          <p:cNvSpPr>
            <a:spLocks noGrp="1"/>
          </p:cNvSpPr>
          <p:nvPr>
            <p:ph type="title"/>
          </p:nvPr>
        </p:nvSpPr>
        <p:spPr/>
        <p:txBody>
          <a:bodyPr/>
          <a:lstStyle/>
          <a:p>
            <a:r>
              <a:rPr lang="en-US"/>
              <a:t>Painting for Aristocratic and Noble Patrons (3 of 4)</a:t>
            </a:r>
          </a:p>
        </p:txBody>
      </p:sp>
      <p:sp>
        <p:nvSpPr>
          <p:cNvPr id="88066" name="Content Placeholder 2"/>
          <p:cNvSpPr>
            <a:spLocks noGrp="1"/>
          </p:cNvSpPr>
          <p:nvPr>
            <p:ph idx="1"/>
          </p:nvPr>
        </p:nvSpPr>
        <p:spPr/>
        <p:txBody>
          <a:bodyPr/>
          <a:lstStyle/>
          <a:p>
            <a:r>
              <a:rPr lang="en-US"/>
              <a:t>Hieronymus Bosch</a:t>
            </a:r>
          </a:p>
          <a:p>
            <a:pPr lvl="1"/>
            <a:r>
              <a:rPr lang="en-US"/>
              <a:t>Conforming to the tradition of triptych altarpieces, Bosch painted a </a:t>
            </a:r>
            <a:r>
              <a:rPr lang="en-US" i="1"/>
              <a:t>grisaille</a:t>
            </a:r>
            <a:r>
              <a:rPr lang="en-US"/>
              <a:t> picture on the reverse of the side wings.</a:t>
            </a:r>
          </a:p>
          <a:p>
            <a:pPr lvl="2"/>
            <a:r>
              <a:rPr lang="en-US"/>
              <a:t>A tiny crowned figure of God the Creator hovers in a bubble to the side of a floating sphere.</a:t>
            </a:r>
          </a:p>
          <a:p>
            <a:pPr lvl="1"/>
            <a:r>
              <a:rPr lang="en-US"/>
              <a:t>The choice of triptych was ironic, as it was commissioned for an aristocrat</a:t>
            </a:r>
            <a:r>
              <a:rPr lang="uk-UA"/>
              <a:t>'</a:t>
            </a:r>
            <a:r>
              <a:rPr lang="en-US"/>
              <a:t>s home setting.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3"/>
          <p:cNvSpPr>
            <a:spLocks noGrp="1"/>
          </p:cNvSpPr>
          <p:nvPr>
            <p:ph type="title"/>
          </p:nvPr>
        </p:nvSpPr>
        <p:spPr/>
        <p:txBody>
          <a:bodyPr/>
          <a:lstStyle/>
          <a:p>
            <a:r>
              <a:rPr lang="en-US" dirty="0"/>
              <a:t>Hieronymus Bosch GARDEN OF EARTHLY DELIGHTS (CLOSED)</a:t>
            </a:r>
            <a:br>
              <a:rPr lang="en-US" dirty="0"/>
            </a:br>
            <a:r>
              <a:rPr lang="en-US" dirty="0"/>
              <a:t>© 2016. Photo Scala, Florence. </a:t>
            </a:r>
          </a:p>
        </p:txBody>
      </p:sp>
      <p:pic>
        <p:nvPicPr>
          <p:cNvPr id="2" name="Picture 1" descr="When closed, the triptych displays a translucent, glassy sphere, bisected vertically. Inside the sphere, there is a flat, circular landscape under billowing cloud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p:cNvSpPr>
            <a:spLocks noGrp="1"/>
          </p:cNvSpPr>
          <p:nvPr>
            <p:ph type="title"/>
          </p:nvPr>
        </p:nvSpPr>
        <p:spPr/>
        <p:txBody>
          <a:bodyPr/>
          <a:lstStyle/>
          <a:p>
            <a:r>
              <a:rPr lang="en-US"/>
              <a:t>Painting for Aristocratic and Noble Patrons (4 of 4)</a:t>
            </a:r>
          </a:p>
        </p:txBody>
      </p:sp>
      <p:sp>
        <p:nvSpPr>
          <p:cNvPr id="91138" name="Content Placeholder 2"/>
          <p:cNvSpPr>
            <a:spLocks noGrp="1"/>
          </p:cNvSpPr>
          <p:nvPr>
            <p:ph idx="1"/>
          </p:nvPr>
        </p:nvSpPr>
        <p:spPr/>
        <p:txBody>
          <a:bodyPr/>
          <a:lstStyle/>
          <a:p>
            <a:r>
              <a:rPr lang="en-US"/>
              <a:t>Jan Gossaert</a:t>
            </a:r>
          </a:p>
          <a:p>
            <a:pPr lvl="1"/>
            <a:r>
              <a:rPr lang="en-US"/>
              <a:t>Gossaert utilized a </a:t>
            </a:r>
            <a:r>
              <a:rPr lang="ru-RU"/>
              <a:t>"</a:t>
            </a:r>
            <a:r>
              <a:rPr lang="en-US"/>
              <a:t>Romanizing,</a:t>
            </a:r>
            <a:r>
              <a:rPr lang="ru-RU"/>
              <a:t>"</a:t>
            </a:r>
            <a:r>
              <a:rPr lang="en-US"/>
              <a:t> style evident in </a:t>
            </a:r>
            <a:r>
              <a:rPr lang="en-US" i="1"/>
              <a:t>St. Luke Drawing the Virgin Mary</a:t>
            </a:r>
            <a:r>
              <a:rPr lang="en-US"/>
              <a:t>.</a:t>
            </a:r>
          </a:p>
          <a:p>
            <a:pPr lvl="2"/>
            <a:r>
              <a:rPr lang="en-US"/>
              <a:t>The subjects Mary and Christ appear in a blaze of golden light.</a:t>
            </a:r>
          </a:p>
          <a:p>
            <a:pPr lvl="2"/>
            <a:r>
              <a:rPr lang="en-US"/>
              <a:t>Around Luke, dense ornament of foliage and medallions surround a statue of Moses holding the Tablets of the Law.</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3"/>
          <p:cNvSpPr>
            <a:spLocks noGrp="1"/>
          </p:cNvSpPr>
          <p:nvPr>
            <p:ph type="title"/>
          </p:nvPr>
        </p:nvSpPr>
        <p:spPr/>
        <p:txBody>
          <a:bodyPr>
            <a:normAutofit fontScale="90000"/>
          </a:bodyPr>
          <a:lstStyle/>
          <a:p>
            <a:r>
              <a:rPr lang="en-US" dirty="0"/>
              <a:t>Jan </a:t>
            </a:r>
            <a:r>
              <a:rPr lang="en-US" dirty="0" err="1"/>
              <a:t>Gossaert</a:t>
            </a:r>
            <a:r>
              <a:rPr lang="en-US" dirty="0"/>
              <a:t> ST. LUKE DRAWING THE VIRGIN MARY</a:t>
            </a:r>
            <a:br>
              <a:rPr lang="en-US" dirty="0"/>
            </a:br>
            <a:r>
              <a:rPr lang="en-US" dirty="0"/>
              <a:t>1520. Oil on panel, 43-3/8</a:t>
            </a:r>
            <a:r>
              <a:rPr lang="ru-RU" dirty="0"/>
              <a:t>"</a:t>
            </a:r>
            <a:r>
              <a:rPr lang="en-US" dirty="0"/>
              <a:t> × 32-1/4</a:t>
            </a:r>
            <a:r>
              <a:rPr lang="ru-RU" dirty="0"/>
              <a:t>"</a:t>
            </a:r>
            <a:r>
              <a:rPr lang="en-US" dirty="0"/>
              <a:t> (110.2 × 81.9 cm).</a:t>
            </a:r>
            <a:br>
              <a:rPr lang="en-US" dirty="0"/>
            </a:br>
            <a:r>
              <a:rPr lang="en-US" dirty="0" err="1"/>
              <a:t>Kunsthistorisches</a:t>
            </a:r>
            <a:r>
              <a:rPr lang="en-US" dirty="0"/>
              <a:t> Museum, Vienna. © </a:t>
            </a:r>
            <a:r>
              <a:rPr lang="en-US" dirty="0" err="1"/>
              <a:t>akg</a:t>
            </a:r>
            <a:r>
              <a:rPr lang="en-US" dirty="0"/>
              <a:t>-images/Erich Lessing.</a:t>
            </a:r>
          </a:p>
        </p:txBody>
      </p:sp>
      <p:pic>
        <p:nvPicPr>
          <p:cNvPr id="2" name="Picture 1" descr="The red-robed Saint Luke kneels in a setting resembling a chapel alcove, sketching an image of the Madonna and infant Jesus. An angel guides the brush in Luke’s hand as cherubim lower a crown toward Mary’s hea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p:txBody>
          <a:bodyPr/>
          <a:lstStyle/>
          <a:p>
            <a:r>
              <a:rPr lang="en-US"/>
              <a:t>Antwerp (1 of 5)</a:t>
            </a:r>
          </a:p>
        </p:txBody>
      </p:sp>
      <p:sp>
        <p:nvSpPr>
          <p:cNvPr id="94210" name="Content Placeholder 2"/>
          <p:cNvSpPr>
            <a:spLocks noGrp="1"/>
          </p:cNvSpPr>
          <p:nvPr>
            <p:ph idx="1"/>
          </p:nvPr>
        </p:nvSpPr>
        <p:spPr/>
        <p:txBody>
          <a:bodyPr/>
          <a:lstStyle/>
          <a:p>
            <a:r>
              <a:rPr lang="en-US"/>
              <a:t>The deep port of Antwerp made it an international center of trade as well as the financial center of Europe.</a:t>
            </a:r>
          </a:p>
          <a:p>
            <a:r>
              <a:rPr lang="en-US"/>
              <a:t>Demand for luxury goods fostered the birth of the art market.</a:t>
            </a:r>
          </a:p>
          <a:p>
            <a:r>
              <a:rPr lang="en-US"/>
              <a:t>Many artists became specialists in one area.</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p:txBody>
          <a:bodyPr/>
          <a:lstStyle/>
          <a:p>
            <a:r>
              <a:rPr lang="en-US"/>
              <a:t>Antwerp (2 of 5)</a:t>
            </a:r>
          </a:p>
        </p:txBody>
      </p:sp>
      <p:sp>
        <p:nvSpPr>
          <p:cNvPr id="95234" name="Content Placeholder 2"/>
          <p:cNvSpPr>
            <a:spLocks noGrp="1"/>
          </p:cNvSpPr>
          <p:nvPr>
            <p:ph idx="1"/>
          </p:nvPr>
        </p:nvSpPr>
        <p:spPr/>
        <p:txBody>
          <a:bodyPr/>
          <a:lstStyle/>
          <a:p>
            <a:r>
              <a:rPr lang="en-US"/>
              <a:t>Quentin Massys</a:t>
            </a:r>
          </a:p>
          <a:p>
            <a:pPr lvl="1"/>
            <a:r>
              <a:rPr lang="en-US"/>
              <a:t>Massys entered the Antwerp painters</a:t>
            </a:r>
            <a:r>
              <a:rPr lang="uk-UA"/>
              <a:t>'</a:t>
            </a:r>
            <a:r>
              <a:rPr lang="en-US"/>
              <a:t> guild in 1491 after starting his career as a blacksmith.</a:t>
            </a:r>
          </a:p>
          <a:p>
            <a:pPr lvl="1"/>
            <a:r>
              <a:rPr lang="en-US" i="1"/>
              <a:t>Money Changer and His Wife </a:t>
            </a:r>
            <a:r>
              <a:rPr lang="en-US"/>
              <a:t>relays the moral of just business practices as a form of righteous living just as much as devotional practice.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3"/>
          <p:cNvSpPr>
            <a:spLocks noGrp="1"/>
          </p:cNvSpPr>
          <p:nvPr>
            <p:ph type="title"/>
          </p:nvPr>
        </p:nvSpPr>
        <p:spPr/>
        <p:txBody>
          <a:bodyPr>
            <a:normAutofit fontScale="90000"/>
          </a:bodyPr>
          <a:lstStyle/>
          <a:p>
            <a:r>
              <a:rPr lang="en-US" dirty="0"/>
              <a:t>Quentin </a:t>
            </a:r>
            <a:r>
              <a:rPr lang="en-US" dirty="0" err="1"/>
              <a:t>Massys</a:t>
            </a:r>
            <a:r>
              <a:rPr lang="en-US" dirty="0"/>
              <a:t> MONEY CHANGER AND HIS WIFE</a:t>
            </a:r>
            <a:br>
              <a:rPr lang="en-US" dirty="0"/>
            </a:br>
            <a:r>
              <a:rPr lang="en-US" dirty="0"/>
              <a:t>1514. Oil on panel, 28</a:t>
            </a:r>
            <a:r>
              <a:rPr lang="ru-RU" dirty="0"/>
              <a:t>"</a:t>
            </a:r>
            <a:r>
              <a:rPr lang="en-US" dirty="0"/>
              <a:t> × 26-3/4</a:t>
            </a:r>
            <a:r>
              <a:rPr lang="ru-RU" dirty="0"/>
              <a:t>"</a:t>
            </a:r>
            <a:r>
              <a:rPr lang="en-US" dirty="0"/>
              <a:t> (71.2 × 68 cm).</a:t>
            </a:r>
            <a:br>
              <a:rPr lang="en-US" dirty="0"/>
            </a:br>
            <a:r>
              <a:rPr lang="en-US" dirty="0" err="1"/>
              <a:t>Kunsthistorisches</a:t>
            </a:r>
            <a:r>
              <a:rPr lang="en-US" dirty="0"/>
              <a:t> Museum, Vienna. Photo © RMN-Grand Palais (</a:t>
            </a:r>
            <a:r>
              <a:rPr lang="en-US" dirty="0" err="1"/>
              <a:t>Musée</a:t>
            </a:r>
            <a:r>
              <a:rPr lang="en-US" dirty="0"/>
              <a:t> du Louvre)/Tony </a:t>
            </a:r>
            <a:r>
              <a:rPr lang="en-US" dirty="0" err="1"/>
              <a:t>Querrec</a:t>
            </a:r>
            <a:endParaRPr lang="en-US" dirty="0"/>
          </a:p>
        </p:txBody>
      </p:sp>
      <p:pic>
        <p:nvPicPr>
          <p:cNvPr id="2" name="Picture 1" descr="A man and a woman sit next to each other at a table in their home. The man counts a pile of coins, and his wife watches as she turns the pages of her book. A reflective object on the table mirrors an otherwise unseen window."/>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p:cNvSpPr>
            <a:spLocks noGrp="1"/>
          </p:cNvSpPr>
          <p:nvPr>
            <p:ph type="title"/>
          </p:nvPr>
        </p:nvSpPr>
        <p:spPr/>
        <p:txBody>
          <a:bodyPr/>
          <a:lstStyle/>
          <a:p>
            <a:r>
              <a:rPr lang="en-US"/>
              <a:t>Antwerp (3 of 5)</a:t>
            </a:r>
          </a:p>
        </p:txBody>
      </p:sp>
      <p:sp>
        <p:nvSpPr>
          <p:cNvPr id="98306" name="Content Placeholder 2"/>
          <p:cNvSpPr>
            <a:spLocks noGrp="1"/>
          </p:cNvSpPr>
          <p:nvPr>
            <p:ph idx="1"/>
          </p:nvPr>
        </p:nvSpPr>
        <p:spPr/>
        <p:txBody>
          <a:bodyPr/>
          <a:lstStyle/>
          <a:p>
            <a:r>
              <a:rPr lang="en-US"/>
              <a:t>Caterina van Hemessen</a:t>
            </a:r>
          </a:p>
          <a:p>
            <a:pPr lvl="1"/>
            <a:r>
              <a:rPr lang="en-US"/>
              <a:t>Having learned to paint from her father, van Hemessen owns her own style of quiet realism.</a:t>
            </a:r>
          </a:p>
          <a:p>
            <a:pPr lvl="1"/>
            <a:r>
              <a:rPr lang="en-US"/>
              <a:t>Her </a:t>
            </a:r>
            <a:r>
              <a:rPr lang="en-US" i="1"/>
              <a:t>Self-Portrait </a:t>
            </a:r>
            <a:r>
              <a:rPr lang="en-US"/>
              <a:t>shows a serious young person who interrupts her portrait of a young woman client to look at the viewer.</a:t>
            </a:r>
          </a:p>
          <a:p>
            <a:pPr lvl="1"/>
            <a:r>
              <a:rPr lang="en-US"/>
              <a:t>She became a favored court artist to Mary of Hungary.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3"/>
          <p:cNvSpPr>
            <a:spLocks noGrp="1"/>
          </p:cNvSpPr>
          <p:nvPr>
            <p:ph type="title"/>
          </p:nvPr>
        </p:nvSpPr>
        <p:spPr/>
        <p:txBody>
          <a:bodyPr>
            <a:normAutofit fontScale="90000"/>
          </a:bodyPr>
          <a:lstStyle/>
          <a:p>
            <a:r>
              <a:rPr lang="en-US" dirty="0"/>
              <a:t>Caterina van </a:t>
            </a:r>
            <a:r>
              <a:rPr lang="en-US" dirty="0" err="1"/>
              <a:t>Hemessen</a:t>
            </a:r>
            <a:r>
              <a:rPr lang="en-US" dirty="0"/>
              <a:t> SELF-PORTRAIT</a:t>
            </a:r>
            <a:br>
              <a:rPr lang="en-US" dirty="0"/>
            </a:br>
            <a:r>
              <a:rPr lang="en-US" dirty="0"/>
              <a:t>1548. Oil on wood panel, 12-1/4</a:t>
            </a:r>
            <a:r>
              <a:rPr lang="ru-RU" dirty="0"/>
              <a:t>"</a:t>
            </a:r>
            <a:r>
              <a:rPr lang="en-US" dirty="0"/>
              <a:t> × 9-1/4</a:t>
            </a:r>
            <a:r>
              <a:rPr lang="ru-RU" dirty="0"/>
              <a:t>"</a:t>
            </a:r>
            <a:r>
              <a:rPr lang="en-US" dirty="0"/>
              <a:t> (31.1 × 23.5 cm).</a:t>
            </a:r>
            <a:br>
              <a:rPr lang="en-US" dirty="0"/>
            </a:br>
            <a:r>
              <a:rPr lang="en-US" dirty="0" err="1"/>
              <a:t>Öffentliche</a:t>
            </a:r>
            <a:r>
              <a:rPr lang="en-US" dirty="0"/>
              <a:t> </a:t>
            </a:r>
            <a:r>
              <a:rPr lang="en-US" dirty="0" err="1"/>
              <a:t>Kunstsammlung</a:t>
            </a:r>
            <a:r>
              <a:rPr lang="en-US" dirty="0"/>
              <a:t>, Basel. Photo: Martin Buhler/</a:t>
            </a:r>
            <a:r>
              <a:rPr lang="en-US" dirty="0" err="1"/>
              <a:t>Kunstmuseum</a:t>
            </a:r>
            <a:r>
              <a:rPr lang="en-US" dirty="0"/>
              <a:t> Basel. </a:t>
            </a:r>
          </a:p>
        </p:txBody>
      </p:sp>
      <p:pic>
        <p:nvPicPr>
          <p:cNvPr id="2" name="Picture 1" descr="A young woman sits at an easel, clutching a handful of thin brushes and a small artist’s palett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1"/>
          <p:cNvSpPr>
            <a:spLocks noGrp="1"/>
          </p:cNvSpPr>
          <p:nvPr>
            <p:ph type="title"/>
          </p:nvPr>
        </p:nvSpPr>
        <p:spPr/>
        <p:txBody>
          <a:bodyPr/>
          <a:lstStyle/>
          <a:p>
            <a:r>
              <a:rPr lang="en-US"/>
              <a:t>Antwerp (4 of 5)</a:t>
            </a:r>
          </a:p>
        </p:txBody>
      </p:sp>
      <p:sp>
        <p:nvSpPr>
          <p:cNvPr id="101378" name="Content Placeholder 2"/>
          <p:cNvSpPr>
            <a:spLocks noGrp="1"/>
          </p:cNvSpPr>
          <p:nvPr>
            <p:ph idx="1"/>
          </p:nvPr>
        </p:nvSpPr>
        <p:spPr/>
        <p:txBody>
          <a:bodyPr/>
          <a:lstStyle/>
          <a:p>
            <a:r>
              <a:rPr lang="en-US"/>
              <a:t>Pieter Bruegel the Elder</a:t>
            </a:r>
          </a:p>
          <a:p>
            <a:pPr lvl="1"/>
            <a:r>
              <a:rPr lang="en-US"/>
              <a:t>Bruegel imitated the works of Hieronymus Bosch early in his career.</a:t>
            </a:r>
          </a:p>
          <a:p>
            <a:pPr lvl="1"/>
            <a:r>
              <a:rPr lang="en-US"/>
              <a:t>After having traveled Italy, he did not record the ruins of Rome but rather the landscapes of Alpine valleys.</a:t>
            </a:r>
          </a:p>
          <a:p>
            <a:pPr lvl="1"/>
            <a:r>
              <a:rPr lang="en-US"/>
              <a:t>His </a:t>
            </a:r>
            <a:r>
              <a:rPr lang="en-US" i="1"/>
              <a:t>Cycle of the Months </a:t>
            </a:r>
            <a:r>
              <a:rPr lang="en-US"/>
              <a:t>depicts nature in all seasons and moods.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1"/>
          <p:cNvSpPr>
            <a:spLocks noGrp="1"/>
          </p:cNvSpPr>
          <p:nvPr>
            <p:ph type="title"/>
          </p:nvPr>
        </p:nvSpPr>
        <p:spPr/>
        <p:txBody>
          <a:bodyPr/>
          <a:lstStyle/>
          <a:p>
            <a:r>
              <a:rPr lang="en-US"/>
              <a:t>Antwerp (5 of 5)</a:t>
            </a:r>
          </a:p>
        </p:txBody>
      </p:sp>
      <p:sp>
        <p:nvSpPr>
          <p:cNvPr id="102402" name="Content Placeholder 2"/>
          <p:cNvSpPr>
            <a:spLocks noGrp="1"/>
          </p:cNvSpPr>
          <p:nvPr>
            <p:ph idx="1"/>
          </p:nvPr>
        </p:nvSpPr>
        <p:spPr/>
        <p:txBody>
          <a:bodyPr/>
          <a:lstStyle/>
          <a:p>
            <a:r>
              <a:rPr lang="en-US"/>
              <a:t>Pieter Bruegel the Elder</a:t>
            </a:r>
          </a:p>
          <a:p>
            <a:pPr lvl="1"/>
            <a:r>
              <a:rPr lang="en-US" i="1"/>
              <a:t>Return of the Hunters </a:t>
            </a:r>
            <a:r>
              <a:rPr lang="en-US"/>
              <a:t>represents December and January with a bleak, snow-covered landscape.</a:t>
            </a:r>
          </a:p>
          <a:p>
            <a:pPr lvl="1"/>
            <a:r>
              <a:rPr lang="en-US"/>
              <a:t>In contrast, </a:t>
            </a:r>
            <a:r>
              <a:rPr lang="en-US" i="1"/>
              <a:t>The Harvesters </a:t>
            </a:r>
            <a:r>
              <a:rPr lang="en-US"/>
              <a:t>presents workers enjoying the good life on their break during August and September.</a:t>
            </a:r>
          </a:p>
          <a:p>
            <a:pPr lvl="1"/>
            <a:r>
              <a:rPr lang="en-US"/>
              <a:t>Both are tied by their use of trees in the foreground, and both invite comparison to medieval works.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3"/>
          <p:cNvSpPr>
            <a:spLocks noGrp="1"/>
          </p:cNvSpPr>
          <p:nvPr>
            <p:ph type="title"/>
          </p:nvPr>
        </p:nvSpPr>
        <p:spPr/>
        <p:txBody>
          <a:bodyPr>
            <a:normAutofit fontScale="90000"/>
          </a:bodyPr>
          <a:lstStyle/>
          <a:p>
            <a:r>
              <a:rPr lang="en-US" dirty="0"/>
              <a:t>Pieter Bruegel the Elder RETURN OF THE HUNTERS</a:t>
            </a:r>
            <a:br>
              <a:rPr lang="en-US" dirty="0"/>
            </a:br>
            <a:r>
              <a:rPr lang="en-US" dirty="0"/>
              <a:t>1565. Oil on wood panel, 3</a:t>
            </a:r>
            <a:r>
              <a:rPr lang="uk-UA" dirty="0"/>
              <a:t>'</a:t>
            </a:r>
            <a:r>
              <a:rPr lang="en-US" dirty="0"/>
              <a:t>10-1/2</a:t>
            </a:r>
            <a:r>
              <a:rPr lang="ru-RU" dirty="0"/>
              <a:t>"</a:t>
            </a:r>
            <a:r>
              <a:rPr lang="en-US" dirty="0"/>
              <a:t> × 5</a:t>
            </a:r>
            <a:r>
              <a:rPr lang="uk-UA" dirty="0"/>
              <a:t>'</a:t>
            </a:r>
            <a:r>
              <a:rPr lang="en-US" dirty="0"/>
              <a:t>3-3/4</a:t>
            </a:r>
            <a:r>
              <a:rPr lang="ru-RU" dirty="0"/>
              <a:t>"</a:t>
            </a:r>
            <a:r>
              <a:rPr lang="en-US" dirty="0"/>
              <a:t> (1.18 × 1.61 m).</a:t>
            </a:r>
            <a:br>
              <a:rPr lang="en-US" dirty="0"/>
            </a:br>
            <a:r>
              <a:rPr lang="en-US" dirty="0" err="1"/>
              <a:t>Kunsthistorisches</a:t>
            </a:r>
            <a:r>
              <a:rPr lang="en-US" dirty="0"/>
              <a:t> Museum, Vienna. © </a:t>
            </a:r>
            <a:r>
              <a:rPr lang="en-US" dirty="0" err="1"/>
              <a:t>akg</a:t>
            </a:r>
            <a:r>
              <a:rPr lang="en-US" dirty="0"/>
              <a:t>-images/Erich Lessing. </a:t>
            </a:r>
          </a:p>
        </p:txBody>
      </p:sp>
      <p:pic>
        <p:nvPicPr>
          <p:cNvPr id="2" name="Picture 1" descr="Hunters and their dogs return from the wilderness to a bustling, snowy village on the banks of a frozen riv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3"/>
          <p:cNvSpPr>
            <a:spLocks noGrp="1"/>
          </p:cNvSpPr>
          <p:nvPr>
            <p:ph type="title"/>
          </p:nvPr>
        </p:nvSpPr>
        <p:spPr/>
        <p:txBody>
          <a:bodyPr>
            <a:normAutofit fontScale="90000"/>
          </a:bodyPr>
          <a:lstStyle/>
          <a:p>
            <a:r>
              <a:rPr lang="en-US" dirty="0"/>
              <a:t>Pieter Bruegel the Elder THE HARVESTERS</a:t>
            </a:r>
            <a:br>
              <a:rPr lang="en-US" dirty="0"/>
            </a:br>
            <a:r>
              <a:rPr lang="en-US" dirty="0"/>
              <a:t>1565. Oil on wood panel, 46-7/8</a:t>
            </a:r>
            <a:r>
              <a:rPr lang="ru-RU" dirty="0"/>
              <a:t>"</a:t>
            </a:r>
            <a:r>
              <a:rPr lang="en-US" dirty="0"/>
              <a:t> × 63-3/4</a:t>
            </a:r>
            <a:r>
              <a:rPr lang="ru-RU" dirty="0"/>
              <a:t>"</a:t>
            </a:r>
            <a:r>
              <a:rPr lang="en-US" dirty="0"/>
              <a:t> (1.17 × 1.6 m).</a:t>
            </a:r>
            <a:br>
              <a:rPr lang="en-US" dirty="0"/>
            </a:br>
            <a:r>
              <a:rPr lang="en-US" dirty="0"/>
              <a:t>Metropolitan Museum of Art, New York. Rogers Fund, 1919. (19.164). © 2016. Image copyright The Metropolitan Museum of Art, New York/Art Resource, NY/Scala, Florence.</a:t>
            </a:r>
          </a:p>
        </p:txBody>
      </p:sp>
      <p:pic>
        <p:nvPicPr>
          <p:cNvPr id="2" name="Picture 1" descr="A crop of dense wheat growing on a gentle slope is harvested in shifts, with a few workers swinging scythes at the receding edge of the field while a larger group stops to eat in the shad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nvPr>
        </p:nvSpPr>
        <p:spPr/>
        <p:txBody>
          <a:bodyPr/>
          <a:lstStyle/>
          <a:p>
            <a:r>
              <a:rPr lang="en-US"/>
              <a:t>England</a:t>
            </a:r>
          </a:p>
        </p:txBody>
      </p:sp>
      <p:sp>
        <p:nvSpPr>
          <p:cNvPr id="107522" name="Content Placeholder 2"/>
          <p:cNvSpPr>
            <a:spLocks noGrp="1"/>
          </p:cNvSpPr>
          <p:nvPr>
            <p:ph idx="1"/>
          </p:nvPr>
        </p:nvSpPr>
        <p:spPr/>
        <p:txBody>
          <a:bodyPr/>
          <a:lstStyle/>
          <a:p>
            <a:r>
              <a:rPr lang="en-US"/>
              <a:t>Tudor England continued support of the arts despite the disruption of the Reformation.</a:t>
            </a:r>
          </a:p>
          <a:p>
            <a:r>
              <a:rPr lang="en-US"/>
              <a:t>After a brief Catholic period during Mary</a:t>
            </a:r>
            <a:r>
              <a:rPr lang="uk-UA"/>
              <a:t>'</a:t>
            </a:r>
            <a:r>
              <a:rPr lang="en-US"/>
              <a:t>s reign, England was claimed as a Protestant country when Elizabeth ascended to the throne in 1558.</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p:cNvSpPr>
            <a:spLocks noGrp="1"/>
          </p:cNvSpPr>
          <p:nvPr>
            <p:ph type="title"/>
          </p:nvPr>
        </p:nvSpPr>
        <p:spPr/>
        <p:txBody>
          <a:bodyPr/>
          <a:lstStyle/>
          <a:p>
            <a:r>
              <a:rPr lang="en-US"/>
              <a:t>Artists in the Tudor Court (1 of 3)</a:t>
            </a:r>
          </a:p>
        </p:txBody>
      </p:sp>
      <p:sp>
        <p:nvSpPr>
          <p:cNvPr id="108546" name="Content Placeholder 2"/>
          <p:cNvSpPr>
            <a:spLocks noGrp="1"/>
          </p:cNvSpPr>
          <p:nvPr>
            <p:ph idx="1"/>
          </p:nvPr>
        </p:nvSpPr>
        <p:spPr/>
        <p:txBody>
          <a:bodyPr/>
          <a:lstStyle/>
          <a:p>
            <a:r>
              <a:rPr lang="en-US"/>
              <a:t>Tudors favored Netherlandish and German artists for their portraits.</a:t>
            </a:r>
          </a:p>
          <a:p>
            <a:r>
              <a:rPr lang="en-US"/>
              <a:t>Hans Holbein</a:t>
            </a:r>
          </a:p>
          <a:p>
            <a:pPr lvl="1"/>
            <a:r>
              <a:rPr lang="en-US"/>
              <a:t>Holbein created a series of portraits of nobles and diplomats associated with the Tudor court.</a:t>
            </a:r>
          </a:p>
          <a:p>
            <a:pPr lvl="1"/>
            <a:r>
              <a:rPr lang="en-US"/>
              <a:t>Details in textures and the intellectual gifts displayed around these two men emphasizes Holbein</a:t>
            </a:r>
            <a:r>
              <a:rPr lang="uk-UA"/>
              <a:t>'</a:t>
            </a:r>
            <a:r>
              <a:rPr lang="en-US"/>
              <a:t>s technical skill.</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3"/>
          <p:cNvSpPr>
            <a:spLocks noGrp="1"/>
          </p:cNvSpPr>
          <p:nvPr>
            <p:ph type="title"/>
          </p:nvPr>
        </p:nvSpPr>
        <p:spPr/>
        <p:txBody>
          <a:bodyPr>
            <a:normAutofit fontScale="90000"/>
          </a:bodyPr>
          <a:lstStyle/>
          <a:p>
            <a:r>
              <a:rPr lang="en-US" dirty="0"/>
              <a:t>A CLOSER LOOK: The French Ambassadors by Hans Holbein the Younger</a:t>
            </a:r>
            <a:br>
              <a:rPr lang="en-US" dirty="0"/>
            </a:br>
            <a:r>
              <a:rPr lang="en-US" dirty="0"/>
              <a:t>1533. Oil on wood panel. 81-1/8</a:t>
            </a:r>
            <a:r>
              <a:rPr lang="ru-RU" dirty="0"/>
              <a:t>"</a:t>
            </a:r>
            <a:r>
              <a:rPr lang="en-US" dirty="0"/>
              <a:t> × 82-5/8</a:t>
            </a:r>
            <a:r>
              <a:rPr lang="ru-RU" dirty="0"/>
              <a:t>"</a:t>
            </a:r>
            <a:r>
              <a:rPr lang="en-US" dirty="0"/>
              <a:t> (2.07 × 2.1 m).</a:t>
            </a:r>
            <a:br>
              <a:rPr lang="en-US" dirty="0"/>
            </a:br>
            <a:r>
              <a:rPr lang="en-US" dirty="0"/>
              <a:t>National Gallery, London. © 2016. Copyright The National Gallery, London/Scala, Florence. </a:t>
            </a:r>
          </a:p>
        </p:txBody>
      </p:sp>
      <p:pic>
        <p:nvPicPr>
          <p:cNvPr id="2" name="Picture 1" descr="A diagram of a mysterious painting of two French ambassadors. Two young men in expensive attire flank a table and a shelf, each stacked with items. The man on the left holds a sheathed dagger. Embossing on its sheath tells us that the man, de Dinteville, is 29, while an inscription on the edge of the book under de Selve’s arm records that he is 25; the book in question may be a Bible. The globe perched on the shelf above the table the men flank has Polisy, the de Dinteville family estate, marked at the center. It was here that this painting was hung when the ambassador returned to France at the end of 1533. The objects on the top shelf were used to observe natural heavenly phenomena and chart the passage of time. The items displayed on the lower shelf relate more to terrestrial concerns. Music is a common symbol of harmony in this period, and the broken string on the lute set upon the table has been understood as an allusion to the discord crated by the sweep of Protestant reform across Europe. There is a Lutheran hymnal sitting next to the lute. The book was published in 1527 and lies open at one of Luther’s best-known compositions: Come, Holy Ghost, Our Souls Inspire. Neither of the men pictured was a Protestant, but some of de Selve’s contemporaries saw him as sympathetic to the cause of the reformers. The pavement the men stand upon is known as, Cosmati work, after the thirteenth-century Italian family that specialized in it. In this case, the floor is copied from that in Westminster Abbey, and may proclaim the ambassadors’ involvement in a holy enterprise of reconciliation. The artist signed the painting on the left edge of the floor: Johannes Holbein pingebat, 1533.” The image’s final feature is a bizarre, but prominently placed skull, suspended diagonally in the air above the floor and between the two men, at about the height of the table between them. They appear oblivious to it, but this skull, as well as the skull badge on de Dinteville’s cap, reminded viewers of their own mortality. The foreground skull, suspended between the men, is distorted by anamorphosis, in which images are stretched horizontally with the use of a trapezoidal grid so that they must be viewed from the side to appear correctly proportione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itle 1"/>
          <p:cNvSpPr>
            <a:spLocks noGrp="1"/>
          </p:cNvSpPr>
          <p:nvPr>
            <p:ph type="title"/>
          </p:nvPr>
        </p:nvSpPr>
        <p:spPr/>
        <p:txBody>
          <a:bodyPr/>
          <a:lstStyle/>
          <a:p>
            <a:r>
              <a:rPr lang="en-US"/>
              <a:t>Artists in the Tudor Court (2 of 3)</a:t>
            </a:r>
          </a:p>
        </p:txBody>
      </p:sp>
      <p:sp>
        <p:nvSpPr>
          <p:cNvPr id="111618" name="Content Placeholder 2"/>
          <p:cNvSpPr>
            <a:spLocks noGrp="1"/>
          </p:cNvSpPr>
          <p:nvPr>
            <p:ph idx="1"/>
          </p:nvPr>
        </p:nvSpPr>
        <p:spPr/>
        <p:txBody>
          <a:bodyPr/>
          <a:lstStyle/>
          <a:p>
            <a:r>
              <a:rPr lang="en-US"/>
              <a:t>Portraits of Elizabeth</a:t>
            </a:r>
          </a:p>
          <a:p>
            <a:pPr lvl="1"/>
            <a:r>
              <a:rPr lang="en-US"/>
              <a:t>The queen carefully controlled the way artists represented her in portraits.</a:t>
            </a:r>
          </a:p>
          <a:p>
            <a:pPr lvl="1"/>
            <a:r>
              <a:rPr lang="en-US"/>
              <a:t>The Ditchley Portrait by Marcus Gheeraerts emphasizes the look she was after.</a:t>
            </a:r>
          </a:p>
          <a:p>
            <a:pPr lvl="1"/>
            <a:r>
              <a:rPr lang="en-US"/>
              <a:t>The whiteness of her elaborate dress stands out against a passing storm, highlighting her virginal purity.</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3"/>
          <p:cNvSpPr>
            <a:spLocks noGrp="1"/>
          </p:cNvSpPr>
          <p:nvPr>
            <p:ph type="title"/>
          </p:nvPr>
        </p:nvSpPr>
        <p:spPr/>
        <p:txBody>
          <a:bodyPr>
            <a:normAutofit fontScale="90000"/>
          </a:bodyPr>
          <a:lstStyle/>
          <a:p>
            <a:r>
              <a:rPr lang="en-US" dirty="0"/>
              <a:t>Marcus </a:t>
            </a:r>
            <a:r>
              <a:rPr lang="en-US" dirty="0" err="1"/>
              <a:t>Gheeraerts</a:t>
            </a:r>
            <a:r>
              <a:rPr lang="en-US" dirty="0"/>
              <a:t> the Younger QUEEN ELIZABETH I (THE DITCHLEY PORTRAIT)</a:t>
            </a:r>
            <a:br>
              <a:rPr lang="en-US" dirty="0"/>
            </a:br>
            <a:r>
              <a:rPr lang="en-US" dirty="0"/>
              <a:t>c. 1592. Oil on canvas, 95</a:t>
            </a:r>
            <a:r>
              <a:rPr lang="ru-RU" dirty="0"/>
              <a:t>"</a:t>
            </a:r>
            <a:r>
              <a:rPr lang="en-US" dirty="0"/>
              <a:t> × 60</a:t>
            </a:r>
            <a:r>
              <a:rPr lang="ru-RU" dirty="0"/>
              <a:t>"</a:t>
            </a:r>
            <a:r>
              <a:rPr lang="en-US" dirty="0"/>
              <a:t> (2.4 × 1.5 m).</a:t>
            </a:r>
            <a:br>
              <a:rPr lang="en-US" dirty="0"/>
            </a:br>
            <a:r>
              <a:rPr lang="en-US" dirty="0"/>
              <a:t>National Portrait Gallery, London. Photo © Stefano </a:t>
            </a:r>
            <a:r>
              <a:rPr lang="en-US" dirty="0" err="1"/>
              <a:t>Baldini</a:t>
            </a:r>
            <a:r>
              <a:rPr lang="en-US" dirty="0"/>
              <a:t>/Bridgeman Images.</a:t>
            </a:r>
          </a:p>
        </p:txBody>
      </p:sp>
      <p:pic>
        <p:nvPicPr>
          <p:cNvPr id="2" name="Picture 1" descr="The queen’s stern expression and regal stance are enhanced by the simple size of her dress, with a wide hoop skirt and shoulder pads below an expansive lace neck cuff. Multiple strands of pearls hang from the queen’s neck to her wais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p:cNvSpPr>
            <a:spLocks noGrp="1"/>
          </p:cNvSpPr>
          <p:nvPr>
            <p:ph type="title"/>
          </p:nvPr>
        </p:nvSpPr>
        <p:spPr/>
        <p:txBody>
          <a:bodyPr/>
          <a:lstStyle/>
          <a:p>
            <a:r>
              <a:rPr lang="en-US"/>
              <a:t>Artists in the Tudor Court (3 of 3)</a:t>
            </a:r>
          </a:p>
        </p:txBody>
      </p:sp>
      <p:sp>
        <p:nvSpPr>
          <p:cNvPr id="114690" name="Content Placeholder 2"/>
          <p:cNvSpPr>
            <a:spLocks noGrp="1"/>
          </p:cNvSpPr>
          <p:nvPr>
            <p:ph idx="1"/>
          </p:nvPr>
        </p:nvSpPr>
        <p:spPr/>
        <p:txBody>
          <a:bodyPr/>
          <a:lstStyle/>
          <a:p>
            <a:r>
              <a:rPr lang="en-US"/>
              <a:t>Nicholas Hilliard</a:t>
            </a:r>
          </a:p>
          <a:p>
            <a:pPr lvl="1"/>
            <a:r>
              <a:rPr lang="en-US"/>
              <a:t>Hilliard never received a court appointment, despite creating miniature portraits of the queen and her court.</a:t>
            </a:r>
          </a:p>
          <a:p>
            <a:pPr lvl="1"/>
            <a:r>
              <a:rPr lang="en-US" i="1"/>
              <a:t>George Clifford</a:t>
            </a:r>
            <a:r>
              <a:rPr lang="uk-UA"/>
              <a:t>'</a:t>
            </a:r>
            <a:r>
              <a:rPr lang="en-US"/>
              <a:t>s portrait shows the earl of Bumberland in a richly engraved suit of armor.</a:t>
            </a:r>
          </a:p>
          <a:p>
            <a:pPr lvl="2"/>
            <a:r>
              <a:rPr lang="en-US"/>
              <a:t>He is humanized by his direct gaze and receding hairline.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itle 3"/>
          <p:cNvSpPr>
            <a:spLocks noGrp="1"/>
          </p:cNvSpPr>
          <p:nvPr>
            <p:ph type="title"/>
          </p:nvPr>
        </p:nvSpPr>
        <p:spPr/>
        <p:txBody>
          <a:bodyPr>
            <a:normAutofit fontScale="90000"/>
          </a:bodyPr>
          <a:lstStyle/>
          <a:p>
            <a:r>
              <a:rPr lang="en-US" dirty="0"/>
              <a:t>Nicholas Hilliard GEORGE CLIFFORD, THIRD EARL OF CUMBERLAND</a:t>
            </a:r>
            <a:br>
              <a:rPr lang="en-US" dirty="0"/>
            </a:br>
            <a:r>
              <a:rPr lang="en-US" dirty="0"/>
              <a:t>c. 1595. Watercolor on vellum on card, oval 2-3/4</a:t>
            </a:r>
            <a:r>
              <a:rPr lang="ru-RU" dirty="0"/>
              <a:t>"</a:t>
            </a:r>
            <a:r>
              <a:rPr lang="en-US" dirty="0"/>
              <a:t> × 2-3/16</a:t>
            </a:r>
            <a:r>
              <a:rPr lang="ru-RU" dirty="0"/>
              <a:t>"</a:t>
            </a:r>
            <a:r>
              <a:rPr lang="en-US" dirty="0"/>
              <a:t> (7.1 × 5.8 cm).</a:t>
            </a:r>
            <a:br>
              <a:rPr lang="en-US" dirty="0"/>
            </a:br>
            <a:r>
              <a:rPr lang="en-US" dirty="0"/>
              <a:t>The Nelson-Atkins Museum of Art, Kansas City, Missouri. Gift of Mr. and Mrs. John W. Starr through the Starr Foundation. F58-60/188</a:t>
            </a:r>
          </a:p>
        </p:txBody>
      </p:sp>
      <p:pic>
        <p:nvPicPr>
          <p:cNvPr id="2" name="Picture 1" descr="A portrait of a military man on a pendant. Storm clouds frame him, and his armor is intricately designe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p:cNvSpPr>
            <a:spLocks noGrp="1"/>
          </p:cNvSpPr>
          <p:nvPr>
            <p:ph type="title"/>
          </p:nvPr>
        </p:nvSpPr>
        <p:spPr/>
        <p:txBody>
          <a:bodyPr/>
          <a:lstStyle/>
          <a:p>
            <a:r>
              <a:rPr lang="en-US"/>
              <a:t>Architecture (1 of 2)</a:t>
            </a:r>
          </a:p>
        </p:txBody>
      </p:sp>
      <p:sp>
        <p:nvSpPr>
          <p:cNvPr id="117762" name="Content Placeholder 2"/>
          <p:cNvSpPr>
            <a:spLocks noGrp="1"/>
          </p:cNvSpPr>
          <p:nvPr>
            <p:ph idx="1"/>
          </p:nvPr>
        </p:nvSpPr>
        <p:spPr/>
        <p:txBody>
          <a:bodyPr/>
          <a:lstStyle/>
          <a:p>
            <a:r>
              <a:rPr lang="en-US"/>
              <a:t>Henry VIII granted titles to rich landowners, which incited them to display their wealth by constructing lavish country residences.</a:t>
            </a:r>
          </a:p>
          <a:p>
            <a:r>
              <a:rPr lang="en-US"/>
              <a:t>John Shute wrote the first architectural manual in 1563.</a:t>
            </a:r>
          </a:p>
          <a:p>
            <a:r>
              <a:rPr lang="en-US"/>
              <a:t>Italian architect Sebastiano Serlio also wrote influential treatises on architectural design.</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3"/>
          <p:cNvSpPr>
            <a:spLocks noGrp="1"/>
          </p:cNvSpPr>
          <p:nvPr>
            <p:ph type="title"/>
          </p:nvPr>
        </p:nvSpPr>
        <p:spPr/>
        <p:txBody>
          <a:bodyPr>
            <a:normAutofit fontScale="90000"/>
          </a:bodyPr>
          <a:lstStyle/>
          <a:p>
            <a:r>
              <a:rPr lang="en-US" dirty="0"/>
              <a:t>Robert Smythson HARDWICK HALL</a:t>
            </a:r>
            <a:br>
              <a:rPr lang="en-US" dirty="0"/>
            </a:br>
            <a:r>
              <a:rPr lang="en-US" dirty="0"/>
              <a:t>Derbyshire, England. 1591–1597.</a:t>
            </a:r>
            <a:br>
              <a:rPr lang="en-US" dirty="0"/>
            </a:br>
            <a:r>
              <a:rPr lang="en-US" dirty="0"/>
              <a:t>© Phil </a:t>
            </a:r>
            <a:r>
              <a:rPr lang="en-US" dirty="0" err="1"/>
              <a:t>MacD</a:t>
            </a:r>
            <a:r>
              <a:rPr lang="en-US" dirty="0"/>
              <a:t> Photography/Shutterstock. </a:t>
            </a:r>
          </a:p>
        </p:txBody>
      </p:sp>
      <p:pic>
        <p:nvPicPr>
          <p:cNvPr id="2" name="Picture 1" descr="Rectangular, four-storied towers rise at the corners of Hardwick House’s three-storied structure. The exterior walls feature grids of rectangular-paneled windows, resembling the outlines in coffered ceiling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p:cNvSpPr>
            <a:spLocks noGrp="1"/>
          </p:cNvSpPr>
          <p:nvPr>
            <p:ph type="title"/>
          </p:nvPr>
        </p:nvSpPr>
        <p:spPr/>
        <p:txBody>
          <a:bodyPr/>
          <a:lstStyle/>
          <a:p>
            <a:r>
              <a:rPr lang="en-US"/>
              <a:t>Art and Its Contexts:</a:t>
            </a:r>
            <a:br>
              <a:rPr lang="en-US"/>
            </a:br>
            <a:r>
              <a:rPr lang="en-US"/>
              <a:t>Armor of Royal Games</a:t>
            </a:r>
          </a:p>
        </p:txBody>
      </p:sp>
      <p:sp>
        <p:nvSpPr>
          <p:cNvPr id="120834" name="Content Placeholder 2"/>
          <p:cNvSpPr>
            <a:spLocks noGrp="1"/>
          </p:cNvSpPr>
          <p:nvPr>
            <p:ph idx="1"/>
          </p:nvPr>
        </p:nvSpPr>
        <p:spPr/>
        <p:txBody>
          <a:bodyPr/>
          <a:lstStyle/>
          <a:p>
            <a:r>
              <a:rPr lang="en-US"/>
              <a:t>Accession Day Tilts were popular festivals celebrating the anniversary of Elizabeth I</a:t>
            </a:r>
            <a:r>
              <a:rPr lang="uk-UA"/>
              <a:t>'</a:t>
            </a:r>
            <a:r>
              <a:rPr lang="en-US"/>
              <a:t>s coming to the throne.</a:t>
            </a:r>
          </a:p>
          <a:p>
            <a:r>
              <a:rPr lang="en-US"/>
              <a:t>Gentlemen held mock battles and wore elegant, finely-detailed armor.</a:t>
            </a:r>
          </a:p>
          <a:p>
            <a:r>
              <a:rPr lang="en-US"/>
              <a:t>Exchange pieces allowed the owner to vary his appearance by changing certain parts of the suit of armor as well as provided backups.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3"/>
          <p:cNvSpPr>
            <a:spLocks noGrp="1"/>
          </p:cNvSpPr>
          <p:nvPr>
            <p:ph type="title"/>
          </p:nvPr>
        </p:nvSpPr>
        <p:spPr/>
        <p:txBody>
          <a:bodyPr>
            <a:normAutofit fontScale="90000"/>
          </a:bodyPr>
          <a:lstStyle/>
          <a:p>
            <a:r>
              <a:rPr lang="en-US" dirty="0"/>
              <a:t>Jacob Halder ARMOR OF GEORGE CLIFFORD, THIRD EARL OF CUMBERLAND</a:t>
            </a:r>
            <a:br>
              <a:rPr lang="en-US" dirty="0"/>
            </a:br>
            <a:r>
              <a:rPr lang="en-US" dirty="0"/>
              <a:t>Made in the royal workshop at Greenwich, England. c. 1580–1583.</a:t>
            </a:r>
            <a:br>
              <a:rPr lang="en-US" dirty="0"/>
            </a:br>
            <a:r>
              <a:rPr lang="en-US" dirty="0"/>
              <a:t>Steel and gold, height 5</a:t>
            </a:r>
            <a:r>
              <a:rPr lang="uk-UA" dirty="0"/>
              <a:t>'</a:t>
            </a:r>
            <a:r>
              <a:rPr lang="en-US" dirty="0"/>
              <a:t>9-1/2</a:t>
            </a:r>
            <a:r>
              <a:rPr lang="ru-RU" dirty="0"/>
              <a:t>"</a:t>
            </a:r>
            <a:r>
              <a:rPr lang="en-US" dirty="0"/>
              <a:t> (1.77 m). Metropolitan Museum of Art, New York. Munsey Fund, 1932 (32.130.6). © 2016. Image copyright The Metropolitan Museum of Art/Art Resource/Scala, Florence. </a:t>
            </a:r>
          </a:p>
        </p:txBody>
      </p:sp>
      <p:pic>
        <p:nvPicPr>
          <p:cNvPr id="2" name="Picture 1" descr="A suit of black armor, decorated in gold inlay with fleurs de lis and swirling pattern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p:cNvSpPr>
            <a:spLocks noGrp="1"/>
          </p:cNvSpPr>
          <p:nvPr>
            <p:ph type="title"/>
          </p:nvPr>
        </p:nvSpPr>
        <p:spPr/>
        <p:txBody>
          <a:bodyPr/>
          <a:lstStyle/>
          <a:p>
            <a:r>
              <a:rPr lang="en-US"/>
              <a:t>Architecture (2 of 2)</a:t>
            </a:r>
          </a:p>
        </p:txBody>
      </p:sp>
      <p:sp>
        <p:nvSpPr>
          <p:cNvPr id="123906" name="Content Placeholder 2"/>
          <p:cNvSpPr>
            <a:spLocks noGrp="1"/>
          </p:cNvSpPr>
          <p:nvPr>
            <p:ph idx="1"/>
          </p:nvPr>
        </p:nvSpPr>
        <p:spPr/>
        <p:txBody>
          <a:bodyPr/>
          <a:lstStyle/>
          <a:p>
            <a:r>
              <a:rPr lang="en-US"/>
              <a:t>Hardwick Hall</a:t>
            </a:r>
          </a:p>
          <a:p>
            <a:pPr lvl="1"/>
            <a:r>
              <a:rPr lang="en-US"/>
              <a:t>The countess of Shrewsbury employed Robert Smythson to build Hardwick Hall from the riches accumulated from her four deceased husbands.</a:t>
            </a:r>
          </a:p>
          <a:p>
            <a:pPr lvl="1"/>
            <a:r>
              <a:rPr lang="en-US"/>
              <a:t>The High Great Chamber on the second floor featured an ornately carved fireplace.</a:t>
            </a:r>
          </a:p>
          <a:p>
            <a:pPr lvl="1"/>
            <a:r>
              <a:rPr lang="en-US"/>
              <a:t>High windows illuminated the interior.</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itle 3"/>
          <p:cNvSpPr>
            <a:spLocks noGrp="1"/>
          </p:cNvSpPr>
          <p:nvPr>
            <p:ph type="title"/>
          </p:nvPr>
        </p:nvSpPr>
        <p:spPr/>
        <p:txBody>
          <a:bodyPr>
            <a:normAutofit fontScale="90000"/>
          </a:bodyPr>
          <a:lstStyle/>
          <a:p>
            <a:r>
              <a:rPr lang="en-US" dirty="0"/>
              <a:t>Robert Smythson HIGH GREAT CHAMBER, HARDWICK HALL</a:t>
            </a:r>
            <a:br>
              <a:rPr lang="en-US" dirty="0"/>
            </a:br>
            <a:r>
              <a:rPr lang="en-US" dirty="0"/>
              <a:t>Derbyshire, England. 1591–1597.</a:t>
            </a:r>
            <a:br>
              <a:rPr lang="en-US" dirty="0"/>
            </a:br>
            <a:r>
              <a:rPr lang="en-US" dirty="0"/>
              <a:t>Brussels tapestries 1550s; painted plaster sculpture by Abraham Smith.</a:t>
            </a:r>
            <a:br>
              <a:rPr lang="en-US" dirty="0"/>
            </a:br>
            <a:r>
              <a:rPr lang="en-US" dirty="0"/>
              <a:t>National Trust Photographic Library/Andreas von </a:t>
            </a:r>
            <a:r>
              <a:rPr lang="en-US" dirty="0" err="1"/>
              <a:t>Einsiedel</a:t>
            </a:r>
            <a:r>
              <a:rPr lang="en-US" dirty="0"/>
              <a:t>/Bridgeman Images.</a:t>
            </a:r>
          </a:p>
        </p:txBody>
      </p:sp>
      <p:pic>
        <p:nvPicPr>
          <p:cNvPr id="2" name="Picture 1" descr="Large windows illuminate the mythical stories related in two registers along the interior walls of the High Great Chamber. A huge coat of arms interrupts the upper register above the room’s wide fireplac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Custom Desig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1701</TotalTime>
  <Words>6083</Words>
  <Application>Microsoft Office PowerPoint</Application>
  <PresentationFormat>On-screen Show (4:3)</PresentationFormat>
  <Paragraphs>309</Paragraphs>
  <Slides>79</Slides>
  <Notes>33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79</vt:i4>
      </vt:variant>
    </vt:vector>
  </HeadingPairs>
  <TitlesOfParts>
    <vt:vector size="84" baseType="lpstr">
      <vt:lpstr>Arial</vt:lpstr>
      <vt:lpstr>Verdana</vt:lpstr>
      <vt:lpstr>Wingdings</vt:lpstr>
      <vt:lpstr>508 Lecture</vt:lpstr>
      <vt:lpstr>Custom Design</vt:lpstr>
      <vt:lpstr>Chapter 18</vt:lpstr>
      <vt:lpstr>Learning Objectives</vt:lpstr>
      <vt:lpstr>Albrecht Dürer SELF-PORTRAIT 1500. Signed "Albrecht Dürer of Nuremberg…age 28." Oil on wood panel, 26-1/4" × 19-1/4" (66.3 × 49 cm). Alte Pinakothek, Munich. © 2016. Photo Scala, Florence/bpk, Bildagentur für Kunst, Kultur und Geschichte, Berlin. </vt:lpstr>
      <vt:lpstr>The Reformation and the Arts</vt:lpstr>
      <vt:lpstr>WESTERN EUROPE DURING THE REFORMATION, C. 1560 Sixteenth-century Europe remained largely Roman Catholic, except in Switzerland and the far north, where the impact of the Protestant Reformation was strongest. </vt:lpstr>
      <vt:lpstr>Technique: German Metalwork: A Collaborative Venture</vt:lpstr>
      <vt:lpstr>APPLE CUP c. 1510–1515. Gilt silver, height 8-1/2" (21.5 cm). Germanisches Nationalmuseum, Nuremberg. © 2016. Photo Scala, Florence. </vt:lpstr>
      <vt:lpstr>Germany</vt:lpstr>
      <vt:lpstr>Sculpture (1 of 3)</vt:lpstr>
      <vt:lpstr>Tilman Riemenschneider ALTARPIECE OF THE HOLY BLOOD (OPEN) Sankt Jakobskirche (church of St. James), Rothenburg ob der Tauber, Germany. Center, Last Supper. c. 1499–1505. Limewood, glass, height of tallest figure 39" (99.1 cm), height of altar 29'6" (9 m). © akg-images/Erich Lessing. </vt:lpstr>
      <vt:lpstr>Sculpture (2 of 3)</vt:lpstr>
      <vt:lpstr>Sculpture (3 of 3)</vt:lpstr>
      <vt:lpstr>Nikolaus Hagenauer (central panels and predella) and Matthias Grünewald (wings) ISENHEIM ALTARPIECE (OPEN) From the Community of St. Anthony, Isenheim, Alsace, France. Center panels and predella: St. Anthony Enthroned between SS. Augustine and Jerome, Christ and the Apostles, c. 1500. Painted and gilt limewood, center panel 9'9-1/2" × 10'9"  (2.97 × 3.28 m), predella 2'5-1/2" × 11'2" (0.75 × 3.4 m). Wings: SS. Anthony and Paul the Hermit (left); The Temptation of St. Anthony (right). 1510–1515. Oil on wood panel, 8'2-1/2" × 3'-1/2" (2.49 × 0.93 m).Musée d'Unterlinden, Colmar, France. Bridgeman Images</vt:lpstr>
      <vt:lpstr>Painting (1 of 10)</vt:lpstr>
      <vt:lpstr>Painting (2 of 10)</vt:lpstr>
      <vt:lpstr>Matthias Grünewald ISENHEIM ALTARPIECE (CLOSED) From the Community of St. Anthony, Isenheim, Alsace, France. Center panels: Crucifixion; predella: Lamentation; side panels: SS. Sebastian (left) and Anthony Abbot (right). c. 1510–1515. Date 1515 on ointment jar. Oil on wood panel, center panels 9'9-1/2" × 10'9" (2.97 × 3.28 m) overall, each wing 8'2-1/2" × 3'-1/2" (2.49 × 0.93 m), predella 2'5-1/2" × 11'2" (0.75 × 3.4 m). Musée d'Unterlinden, Colmar, France. Bridgeman Images. </vt:lpstr>
      <vt:lpstr>Painting (3 of 10)</vt:lpstr>
      <vt:lpstr>Matthias Grünewald ISENHEIM ALTARPIECE (FIRST OPENING) Left to right: Annunciation, Virgin and Child with Angels, Resurrection. c. 1510–1515. Oil on wood panel, center panel 9'9-1/2" × 10'9" (2.97 × 3.28 m) overall, each wing 8’10" × 4' 8" (2.69 × 1.42 m). Musée d'Unterlinden, Colmar, France. Bridgeman Images  </vt:lpstr>
      <vt:lpstr>Painting (4 of 10)</vt:lpstr>
      <vt:lpstr>Albrecht Dürer THE FOUR HORSEMEN OF THE APOCALYPSE From The Apocalypse. 1497–1498. 1511 edition. Woodcut, 15-1/2" × 11-1/16" (39.4 × 28.1 cm). ). Yale University Art Gallery, New Haven, Connecticut. Library transfer, Gift of Paul Mellon, B.A. 1929 (1956.16.3e). Image courtesy Yale University Art Gallery.  </vt:lpstr>
      <vt:lpstr>Painting (5 of 10)</vt:lpstr>
      <vt:lpstr>Albrecht Dürer ADAM AND EVE 1504. Engraving, 9-5/8" × 7-5/8" (244 × 19.3 cm). Yale University Art Gallery, New Haven, Connecticut. Fritz Achelis Memorial Collection, Gift of Frederic George Achelis, B.A. 1907; reacquired in 1972 with the Henry J. Heinz II, B.A. 1931, Fund; Everett V. Meeks, B.A. 1901, Fund; and Stephen Carlton Clark, B.A. 1903, Fund (1925.29). Image courtesy Yale University Art Gallery.</vt:lpstr>
      <vt:lpstr>Painting (6 of 10)</vt:lpstr>
      <vt:lpstr>Albrecht Dürer FOUR APOSTLES 1526. Oil on wood panel, each panel 7'-1/2" × 2'6" (2.15 × 0.76 m). Alte Pinakothek, Munich. Photo © Bayer@Mitko/ARTOTHEK. </vt:lpstr>
      <vt:lpstr>Painting (7 of 10)</vt:lpstr>
      <vt:lpstr>Painting (8 of 10)</vt:lpstr>
      <vt:lpstr>Lucas Cranach the Elder NYMPH OF THE SPRING c. 1537. Oil on panel, 19" × 28-1/2" (48.5 × 72.9 cm). National Gallery of Art, Washington, DC. Image courtesy the National Gallery of Art, Washington.</vt:lpstr>
      <vt:lpstr>Painting (9 of 10)</vt:lpstr>
      <vt:lpstr>Hans Baldung Grien DEATH AND THE MATRON c. 1520–1525. Oil on wood panel, 12-3/8" × 7-3/8" (31.3 × 18.7 cm). Öffentliche Kunstsammlung, Basel. Photo © Hans Hinz/ARTOTHEK. </vt:lpstr>
      <vt:lpstr>Painting (10 of 10)</vt:lpstr>
      <vt:lpstr>Albrecht Altdorfer DANUBE LANDSCAPE c. 1525. Oil on vellum on wood panel, 12" × 8-1/2" (30.5 × 22.2 cm). Alte Pinakothek, Munich. © 2016. Photo Scala, Florence/bpk, Bildagentur für Kunst, Kultur und Geschichte, Berlin. </vt:lpstr>
      <vt:lpstr>France</vt:lpstr>
      <vt:lpstr>Art and Its Contexts: The Castle of the Ladies</vt:lpstr>
      <vt:lpstr>A French Renaissasnce Under Francis I (1 of 2)</vt:lpstr>
      <vt:lpstr>A French Renaissasnce Under Francis I (2 of 2)</vt:lpstr>
      <vt:lpstr>Jean Clouet FRANCIS I 1525–1530. Oil and tempera on wood panel, 37-3/4" × 29-1/8" (95.9 × 74 cm). Musée du Louvre, Paris. © 2016. Photo Scala, Florence. </vt:lpstr>
      <vt:lpstr>Royal Residences (1 of 3)</vt:lpstr>
      <vt:lpstr>CHÂTEAU OF CHENONCEAU Touraine, France. Original building (at right) 1513–1521; gallery on bridge at left by Philibert de l'Orme, finished c. 1581. Wildman/Fotolia. </vt:lpstr>
      <vt:lpstr>Royal Residences (2 of 3)</vt:lpstr>
      <vt:lpstr>Primaticcio STUCCO AND WALL PAINTING, CHAMBER OF THE DUCHESS OF ÉTAMPES, CHÂTEAU OF FONTAINEBLEAU France. 1540s. Photo © RMN-Grand Palais (Château de Fontainebleau)/Jean-Pierre Lagiewski</vt:lpstr>
      <vt:lpstr>Royal Residences (3 of 3)</vt:lpstr>
      <vt:lpstr>Pierre Lescot and Jean Goujon WEST WING OF THE COUR CARRÉE, PALAIS DU LOUVRE, PARIS Begun 1546. © akg-images/Erich Lessing. </vt:lpstr>
      <vt:lpstr>Spain and Portugal</vt:lpstr>
      <vt:lpstr>Architecture</vt:lpstr>
      <vt:lpstr>Juan Bautista de Toledo and Juan de Herrera THE ESCORIAL Madrid. 1563–1584. Detail from an anonymous 17th-century painting. Oil on canvas,  30-1/4 × 35-7/8” (77 × 91 cm). Monasterio-Pintura, San Lorenzo Del Escorial, Madrid.   © akg-images/Album/Oronoz </vt:lpstr>
      <vt:lpstr>Sculpture</vt:lpstr>
      <vt:lpstr>Diogo de Arruda WEST WINDOW, CHURCH IN THE CONVENT OF CHRIST, TOMAR Portugal. c. 1510. Commissioned by King Manuel I of Portugal. Lemtal/Fotolia. </vt:lpstr>
      <vt:lpstr>Painting</vt:lpstr>
      <vt:lpstr>El Greco BURIAL OF COUNT ORGAZ Church of Santo Tomé, Toledo, Spain. 1586. Oil on canvas, 16' × 11'10" (4.88 × 3.61 m). Courtesy of Marilyn Stokstad. </vt:lpstr>
      <vt:lpstr>The Netherlands</vt:lpstr>
      <vt:lpstr>Painting for Aristocratic and Noble Patrons (1 of 4)</vt:lpstr>
      <vt:lpstr>Hieronymus Bosch GARDEN OF EARTHLY DELIGHTS (OPEN) c. 1505–1515. Oil on wood panel, center panel 7'2-1/2" × 6'4-3/4" (2.20 × 1.95 m), each wing 7'2-1/2" × 3'2" (2.20 × 0.97 m). Museo del Prado, Madrid. © 2016. Image copyright Museo Nacional del Prado. © Photo MNP/Scala, Florence.</vt:lpstr>
      <vt:lpstr>Painting for Aristocratic and Noble Patrons (2 of 4)</vt:lpstr>
      <vt:lpstr>Painting for Aristocratic and Noble Patrons (3 of 4)</vt:lpstr>
      <vt:lpstr>Hieronymus Bosch GARDEN OF EARTHLY DELIGHTS (CLOSED) © 2016. Photo Scala, Florence. </vt:lpstr>
      <vt:lpstr>Painting for Aristocratic and Noble Patrons (4 of 4)</vt:lpstr>
      <vt:lpstr>Jan Gossaert ST. LUKE DRAWING THE VIRGIN MARY 1520. Oil on panel, 43-3/8" × 32-1/4" (110.2 × 81.9 cm). Kunsthistorisches Museum, Vienna. © akg-images/Erich Lessing.</vt:lpstr>
      <vt:lpstr>Antwerp (1 of 5)</vt:lpstr>
      <vt:lpstr>Antwerp (2 of 5)</vt:lpstr>
      <vt:lpstr>Quentin Massys MONEY CHANGER AND HIS WIFE 1514. Oil on panel, 28" × 26-3/4" (71.2 × 68 cm). Kunsthistorisches Museum, Vienna. Photo © RMN-Grand Palais (Musée du Louvre)/Tony Querrec</vt:lpstr>
      <vt:lpstr>Antwerp (3 of 5)</vt:lpstr>
      <vt:lpstr>Caterina van Hemessen SELF-PORTRAIT 1548. Oil on wood panel, 12-1/4" × 9-1/4" (31.1 × 23.5 cm). Öffentliche Kunstsammlung, Basel. Photo: Martin Buhler/Kunstmuseum Basel. </vt:lpstr>
      <vt:lpstr>Antwerp (4 of 5)</vt:lpstr>
      <vt:lpstr>Antwerp (5 of 5)</vt:lpstr>
      <vt:lpstr>Pieter Bruegel the Elder RETURN OF THE HUNTERS 1565. Oil on wood panel, 3'10-1/2" × 5'3-3/4" (1.18 × 1.61 m). Kunsthistorisches Museum, Vienna. © akg-images/Erich Lessing. </vt:lpstr>
      <vt:lpstr>Pieter Bruegel the Elder THE HARVESTERS 1565. Oil on wood panel, 46-7/8" × 63-3/4" (1.17 × 1.6 m). Metropolitan Museum of Art, New York. Rogers Fund, 1919. (19.164). © 2016. Image copyright The Metropolitan Museum of Art, New York/Art Resource, NY/Scala, Florence.</vt:lpstr>
      <vt:lpstr>England</vt:lpstr>
      <vt:lpstr>Artists in the Tudor Court (1 of 3)</vt:lpstr>
      <vt:lpstr>A CLOSER LOOK: The French Ambassadors by Hans Holbein the Younger 1533. Oil on wood panel. 81-1/8" × 82-5/8" (2.07 × 2.1 m). National Gallery, London. © 2016. Copyright The National Gallery, London/Scala, Florence. </vt:lpstr>
      <vt:lpstr>Artists in the Tudor Court (2 of 3)</vt:lpstr>
      <vt:lpstr>Marcus Gheeraerts the Younger QUEEN ELIZABETH I (THE DITCHLEY PORTRAIT) c. 1592. Oil on canvas, 95" × 60" (2.4 × 1.5 m). National Portrait Gallery, London. Photo © Stefano Baldini/Bridgeman Images.</vt:lpstr>
      <vt:lpstr>Artists in the Tudor Court (3 of 3)</vt:lpstr>
      <vt:lpstr>Nicholas Hilliard GEORGE CLIFFORD, THIRD EARL OF CUMBERLAND c. 1595. Watercolor on vellum on card, oval 2-3/4" × 2-3/16" (7.1 × 5.8 cm). The Nelson-Atkins Museum of Art, Kansas City, Missouri. Gift of Mr. and Mrs. John W. Starr through the Starr Foundation. F58-60/188</vt:lpstr>
      <vt:lpstr>Architecture (1 of 2)</vt:lpstr>
      <vt:lpstr>Robert Smythson HARDWICK HALL Derbyshire, England. 1591–1597. © Phil MacD Photography/Shutterstock. </vt:lpstr>
      <vt:lpstr>Art and Its Contexts: Armor of Royal Games</vt:lpstr>
      <vt:lpstr>Jacob Halder ARMOR OF GEORGE CLIFFORD, THIRD EARL OF CUMBERLAND Made in the royal workshop at Greenwich, England. c. 1580–1583. Steel and gold, height 5'9-1/2" (1.77 m). Metropolitan Museum of Art, New York. Munsey Fund, 1932 (32.130.6). © 2016. Image copyright The Metropolitan Museum of Art/Art Resource/Scala, Florence. </vt:lpstr>
      <vt:lpstr>Architecture (2 of 2)</vt:lpstr>
      <vt:lpstr>Robert Smythson HIGH GREAT CHAMBER, HARDWICK HALL Derbyshire, England. 1591–1597. Brussels tapestries 1550s; painted plaster sculpture by Abraham Smith. National Trust Photographic Library/Andreas von Einsiedel/Bridgeman Images.</vt:lpstr>
    </vt:vector>
  </TitlesOfParts>
  <Company>echosvoice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Beverly Murphy</cp:lastModifiedBy>
  <cp:revision>194</cp:revision>
  <dcterms:created xsi:type="dcterms:W3CDTF">2016-12-02T17:30:18Z</dcterms:created>
  <dcterms:modified xsi:type="dcterms:W3CDTF">2020-06-19T21:05:40Z</dcterms:modified>
</cp:coreProperties>
</file>