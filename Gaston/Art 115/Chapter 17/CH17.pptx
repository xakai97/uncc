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55"/>
  </p:notesMasterIdLst>
  <p:handoutMasterIdLst>
    <p:handoutMasterId r:id="rId56"/>
  </p:handoutMasterIdLst>
  <p:sldIdLst>
    <p:sldId id="621" r:id="rId3"/>
    <p:sldId id="507" r:id="rId4"/>
    <p:sldId id="622" r:id="rId5"/>
    <p:sldId id="623" r:id="rId6"/>
    <p:sldId id="569" r:id="rId7"/>
    <p:sldId id="570" r:id="rId8"/>
    <p:sldId id="571" r:id="rId9"/>
    <p:sldId id="572" r:id="rId10"/>
    <p:sldId id="573" r:id="rId11"/>
    <p:sldId id="574" r:id="rId12"/>
    <p:sldId id="575" r:id="rId13"/>
    <p:sldId id="576" r:id="rId14"/>
    <p:sldId id="577" r:id="rId15"/>
    <p:sldId id="578" r:id="rId16"/>
    <p:sldId id="579" r:id="rId17"/>
    <p:sldId id="580" r:id="rId18"/>
    <p:sldId id="582" r:id="rId19"/>
    <p:sldId id="581" r:id="rId20"/>
    <p:sldId id="583" r:id="rId21"/>
    <p:sldId id="584" r:id="rId22"/>
    <p:sldId id="585" r:id="rId23"/>
    <p:sldId id="586" r:id="rId24"/>
    <p:sldId id="587" r:id="rId25"/>
    <p:sldId id="588" r:id="rId26"/>
    <p:sldId id="589" r:id="rId27"/>
    <p:sldId id="590" r:id="rId28"/>
    <p:sldId id="592" r:id="rId29"/>
    <p:sldId id="591" r:id="rId30"/>
    <p:sldId id="593" r:id="rId31"/>
    <p:sldId id="594" r:id="rId32"/>
    <p:sldId id="595" r:id="rId33"/>
    <p:sldId id="596" r:id="rId34"/>
    <p:sldId id="597" r:id="rId35"/>
    <p:sldId id="598" r:id="rId36"/>
    <p:sldId id="599" r:id="rId37"/>
    <p:sldId id="600" r:id="rId38"/>
    <p:sldId id="601" r:id="rId39"/>
    <p:sldId id="602" r:id="rId40"/>
    <p:sldId id="603" r:id="rId41"/>
    <p:sldId id="604" r:id="rId42"/>
    <p:sldId id="605" r:id="rId43"/>
    <p:sldId id="606" r:id="rId44"/>
    <p:sldId id="608" r:id="rId45"/>
    <p:sldId id="609" r:id="rId46"/>
    <p:sldId id="610" r:id="rId47"/>
    <p:sldId id="611" r:id="rId48"/>
    <p:sldId id="612" r:id="rId49"/>
    <p:sldId id="613" r:id="rId50"/>
    <p:sldId id="614" r:id="rId51"/>
    <p:sldId id="615" r:id="rId52"/>
    <p:sldId id="616" r:id="rId53"/>
    <p:sldId id="617"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980" autoAdjust="0"/>
    <p:restoredTop sz="86524" autoAdjust="0"/>
  </p:normalViewPr>
  <p:slideViewPr>
    <p:cSldViewPr>
      <p:cViewPr varScale="1">
        <p:scale>
          <a:sx n="89" d="100"/>
          <a:sy n="89" d="100"/>
        </p:scale>
        <p:origin x="813" y="51"/>
      </p:cViewPr>
      <p:guideLst>
        <p:guide orient="horz" pos="2160"/>
        <p:guide pos="2880"/>
      </p:guideLst>
    </p:cSldViewPr>
  </p:slideViewPr>
  <p:outlineViewPr>
    <p:cViewPr>
      <p:scale>
        <a:sx n="33" d="100"/>
        <a:sy n="33" d="100"/>
      </p:scale>
      <p:origin x="0" y="-63232"/>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6/19/2020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6/19/2020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Slide Image Placeholder 1"/>
          <p:cNvSpPr>
            <a:spLocks noGrp="1" noRot="1" noChangeAspect="1" noTextEdit="1"/>
          </p:cNvSpPr>
          <p:nvPr>
            <p:ph type="sldImg"/>
          </p:nvPr>
        </p:nvSpPr>
        <p:spPr bwMode="auto">
          <a:noFill/>
          <a:ln>
            <a:solidFill>
              <a:srgbClr val="000000"/>
            </a:solidFill>
            <a:miter lim="800000"/>
            <a:headEnd/>
            <a:tailEnd/>
          </a:ln>
        </p:spPr>
      </p:sp>
      <p:sp>
        <p:nvSpPr>
          <p:cNvPr id="103426" name="Notes Placeholder 2"/>
          <p:cNvSpPr>
            <a:spLocks noGrp="1"/>
          </p:cNvSpPr>
          <p:nvPr>
            <p:ph type="body" idx="1"/>
          </p:nvPr>
        </p:nvSpPr>
        <p:spPr bwMode="auto">
          <a:noFill/>
        </p:spPr>
        <p:txBody>
          <a:bodyPr/>
          <a:lstStyle/>
          <a:p>
            <a:pPr>
              <a:spcBef>
                <a:spcPct val="0"/>
              </a:spcBef>
            </a:pPr>
            <a:r>
              <a:rPr lang="en-US" dirty="0"/>
              <a:t>Titian PESARO MADONNA</a:t>
            </a:r>
            <a:br>
              <a:rPr lang="en-US" dirty="0"/>
            </a:br>
            <a:r>
              <a:rPr lang="en-US" dirty="0"/>
              <a:t>1519–1526. Oil on canvas, 16</a:t>
            </a:r>
            <a:r>
              <a:rPr lang="uk-UA" dirty="0"/>
              <a:t>'</a:t>
            </a:r>
            <a:r>
              <a:rPr lang="en-US" dirty="0"/>
              <a:t> × 8</a:t>
            </a:r>
            <a:r>
              <a:rPr lang="uk-UA" dirty="0"/>
              <a:t>'</a:t>
            </a:r>
            <a:r>
              <a:rPr lang="en-US" dirty="0"/>
              <a:t>10</a:t>
            </a:r>
            <a:r>
              <a:rPr lang="ru-RU" dirty="0"/>
              <a:t>"</a:t>
            </a:r>
            <a:r>
              <a:rPr lang="en-US" dirty="0"/>
              <a:t> (4.9 × 2.7 m).</a:t>
            </a:r>
            <a:br>
              <a:rPr lang="en-US" dirty="0"/>
            </a:br>
            <a:r>
              <a:rPr lang="en-US" dirty="0"/>
              <a:t>Side-aisle altarpiece, Santa Maria Gloriosa </a:t>
            </a:r>
            <a:r>
              <a:rPr lang="en-US" dirty="0" err="1"/>
              <a:t>dei</a:t>
            </a:r>
            <a:r>
              <a:rPr lang="en-US" dirty="0"/>
              <a:t> </a:t>
            </a:r>
            <a:r>
              <a:rPr lang="en-US" dirty="0" err="1"/>
              <a:t>Frari</a:t>
            </a:r>
            <a:r>
              <a:rPr lang="en-US" dirty="0"/>
              <a:t>, Venice. © </a:t>
            </a:r>
            <a:r>
              <a:rPr lang="en-US" dirty="0" err="1"/>
              <a:t>Cameraphoto</a:t>
            </a:r>
            <a:r>
              <a:rPr lang="en-US" dirty="0"/>
              <a:t> </a:t>
            </a:r>
            <a:r>
              <a:rPr lang="en-US" dirty="0" err="1"/>
              <a:t>Arte</a:t>
            </a:r>
            <a:r>
              <a:rPr lang="en-US" dirty="0"/>
              <a:t>, Venice. </a:t>
            </a:r>
          </a:p>
        </p:txBody>
      </p:sp>
      <p:sp>
        <p:nvSpPr>
          <p:cNvPr id="103427" name="Slide Number Placeholder 3"/>
          <p:cNvSpPr>
            <a:spLocks noGrp="1"/>
          </p:cNvSpPr>
          <p:nvPr>
            <p:ph type="sldNum" sz="quarter" idx="5"/>
          </p:nvPr>
        </p:nvSpPr>
        <p:spPr bwMode="auto">
          <a:noFill/>
          <a:ln>
            <a:miter lim="800000"/>
            <a:headEnd/>
            <a:tailEnd/>
          </a:ln>
        </p:spPr>
        <p:txBody>
          <a:bodyPr/>
          <a:lstStyle/>
          <a:p>
            <a:fld id="{DDFD4CDC-02E9-CB41-A914-109AC7E32887}" type="slidenum">
              <a:rPr lang="en-US"/>
              <a:pPr/>
              <a:t>6</a:t>
            </a:fld>
            <a:endParaRPr lang="en-US"/>
          </a:p>
        </p:txBody>
      </p:sp>
    </p:spTree>
    <p:extLst>
      <p:ext uri="{BB962C8B-B14F-4D97-AF65-F5344CB8AC3E}">
        <p14:creationId xmlns:p14="http://schemas.microsoft.com/office/powerpoint/2010/main" val="1646219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lide Image Placeholder 1"/>
          <p:cNvSpPr>
            <a:spLocks noGrp="1" noRot="1" noChangeAspect="1" noTextEdit="1"/>
          </p:cNvSpPr>
          <p:nvPr>
            <p:ph type="sldImg"/>
          </p:nvPr>
        </p:nvSpPr>
        <p:spPr bwMode="auto">
          <a:noFill/>
          <a:ln>
            <a:solidFill>
              <a:srgbClr val="000000"/>
            </a:solidFill>
            <a:miter lim="800000"/>
            <a:headEnd/>
            <a:tailEnd/>
          </a:ln>
        </p:spPr>
      </p:sp>
      <p:sp>
        <p:nvSpPr>
          <p:cNvPr id="106498" name="Notes Placeholder 2"/>
          <p:cNvSpPr>
            <a:spLocks noGrp="1"/>
          </p:cNvSpPr>
          <p:nvPr>
            <p:ph type="body" idx="1"/>
          </p:nvPr>
        </p:nvSpPr>
        <p:spPr bwMode="auto">
          <a:noFill/>
        </p:spPr>
        <p:txBody>
          <a:bodyPr/>
          <a:lstStyle/>
          <a:p>
            <a:pPr>
              <a:spcBef>
                <a:spcPct val="0"/>
              </a:spcBef>
            </a:pPr>
            <a:r>
              <a:rPr lang="en-US" dirty="0"/>
              <a:t>Titian ISABELLA D</a:t>
            </a:r>
            <a:r>
              <a:rPr lang="uk-UA" dirty="0"/>
              <a:t>'</a:t>
            </a:r>
            <a:r>
              <a:rPr lang="en-US" dirty="0"/>
              <a:t>ESTE</a:t>
            </a:r>
            <a:br>
              <a:rPr lang="en-US" dirty="0"/>
            </a:br>
            <a:r>
              <a:rPr lang="en-US" dirty="0"/>
              <a:t>1534–1536. Oil on canvas, 40-1/8</a:t>
            </a:r>
            <a:r>
              <a:rPr lang="ru-RU" dirty="0"/>
              <a:t>"</a:t>
            </a:r>
            <a:r>
              <a:rPr lang="en-US" dirty="0"/>
              <a:t> × 25-3/16</a:t>
            </a:r>
            <a:r>
              <a:rPr lang="ru-RU" dirty="0"/>
              <a:t>"</a:t>
            </a:r>
            <a:r>
              <a:rPr lang="en-US" dirty="0"/>
              <a:t> (102 × 64.1 cm).</a:t>
            </a:r>
            <a:br>
              <a:rPr lang="en-US" dirty="0"/>
            </a:br>
            <a:r>
              <a:rPr lang="en-US" dirty="0" err="1"/>
              <a:t>Kunsthistorisches</a:t>
            </a:r>
            <a:r>
              <a:rPr lang="en-US" dirty="0"/>
              <a:t> Museum, Vienna. © KHM-</a:t>
            </a:r>
            <a:r>
              <a:rPr lang="en-US" dirty="0" err="1"/>
              <a:t>Museumsverband</a:t>
            </a:r>
            <a:r>
              <a:rPr lang="en-US" dirty="0"/>
              <a:t>.</a:t>
            </a:r>
          </a:p>
        </p:txBody>
      </p:sp>
      <p:sp>
        <p:nvSpPr>
          <p:cNvPr id="106499" name="Slide Number Placeholder 3"/>
          <p:cNvSpPr>
            <a:spLocks noGrp="1"/>
          </p:cNvSpPr>
          <p:nvPr>
            <p:ph type="sldNum" sz="quarter" idx="5"/>
          </p:nvPr>
        </p:nvSpPr>
        <p:spPr bwMode="auto">
          <a:noFill/>
          <a:ln>
            <a:miter lim="800000"/>
            <a:headEnd/>
            <a:tailEnd/>
          </a:ln>
        </p:spPr>
        <p:txBody>
          <a:bodyPr/>
          <a:lstStyle/>
          <a:p>
            <a:fld id="{FDC77988-7644-4A40-897C-077FBA19BBB3}" type="slidenum">
              <a:rPr lang="en-US"/>
              <a:pPr/>
              <a:t>8</a:t>
            </a:fld>
            <a:endParaRPr lang="en-US"/>
          </a:p>
        </p:txBody>
      </p:sp>
    </p:spTree>
    <p:extLst>
      <p:ext uri="{BB962C8B-B14F-4D97-AF65-F5344CB8AC3E}">
        <p14:creationId xmlns:p14="http://schemas.microsoft.com/office/powerpoint/2010/main" val="3082310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lide Image Placeholder 1"/>
          <p:cNvSpPr>
            <a:spLocks noGrp="1" noRot="1" noChangeAspect="1" noTextEdit="1"/>
          </p:cNvSpPr>
          <p:nvPr>
            <p:ph type="sldImg"/>
          </p:nvPr>
        </p:nvSpPr>
        <p:spPr bwMode="auto">
          <a:noFill/>
          <a:ln>
            <a:solidFill>
              <a:srgbClr val="000000"/>
            </a:solidFill>
            <a:miter lim="800000"/>
            <a:headEnd/>
            <a:tailEnd/>
          </a:ln>
        </p:spPr>
      </p:sp>
      <p:sp>
        <p:nvSpPr>
          <p:cNvPr id="109570" name="Notes Placeholder 2"/>
          <p:cNvSpPr>
            <a:spLocks noGrp="1"/>
          </p:cNvSpPr>
          <p:nvPr>
            <p:ph type="body" idx="1"/>
          </p:nvPr>
        </p:nvSpPr>
        <p:spPr bwMode="auto">
          <a:noFill/>
        </p:spPr>
        <p:txBody>
          <a:bodyPr/>
          <a:lstStyle/>
          <a:p>
            <a:pPr>
              <a:spcBef>
                <a:spcPct val="0"/>
              </a:spcBef>
            </a:pPr>
            <a:r>
              <a:rPr lang="en-US" dirty="0"/>
              <a:t>Titian </a:t>
            </a:r>
            <a:r>
              <a:rPr lang="ru-RU" dirty="0"/>
              <a:t>"</a:t>
            </a:r>
            <a:r>
              <a:rPr lang="en-US" dirty="0"/>
              <a:t>VENUS</a:t>
            </a:r>
            <a:r>
              <a:rPr lang="ru-RU" dirty="0"/>
              <a:t>"</a:t>
            </a:r>
            <a:r>
              <a:rPr lang="en-US" dirty="0"/>
              <a:t> OF URBINO</a:t>
            </a:r>
            <a:br>
              <a:rPr lang="en-US" dirty="0"/>
            </a:br>
            <a:r>
              <a:rPr lang="en-US" dirty="0"/>
              <a:t>c. 1538. Oil on canvas, 3</a:t>
            </a:r>
            <a:r>
              <a:rPr lang="uk-UA" dirty="0"/>
              <a:t>'</a:t>
            </a:r>
            <a:r>
              <a:rPr lang="en-US" dirty="0"/>
              <a:t>11</a:t>
            </a:r>
            <a:r>
              <a:rPr lang="ru-RU" dirty="0"/>
              <a:t>"</a:t>
            </a:r>
            <a:r>
              <a:rPr lang="en-US" dirty="0"/>
              <a:t> × 5</a:t>
            </a:r>
            <a:r>
              <a:rPr lang="uk-UA" dirty="0"/>
              <a:t>'</a:t>
            </a:r>
            <a:r>
              <a:rPr lang="en-US" dirty="0"/>
              <a:t>5</a:t>
            </a:r>
            <a:r>
              <a:rPr lang="ru-RU" dirty="0"/>
              <a:t>"</a:t>
            </a:r>
            <a:r>
              <a:rPr lang="en-US" dirty="0"/>
              <a:t> (1.19 × 1.65 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a:t>
            </a:r>
          </a:p>
        </p:txBody>
      </p:sp>
      <p:sp>
        <p:nvSpPr>
          <p:cNvPr id="109571" name="Slide Number Placeholder 3"/>
          <p:cNvSpPr>
            <a:spLocks noGrp="1"/>
          </p:cNvSpPr>
          <p:nvPr>
            <p:ph type="sldNum" sz="quarter" idx="5"/>
          </p:nvPr>
        </p:nvSpPr>
        <p:spPr bwMode="auto">
          <a:noFill/>
          <a:ln>
            <a:miter lim="800000"/>
            <a:headEnd/>
            <a:tailEnd/>
          </a:ln>
        </p:spPr>
        <p:txBody>
          <a:bodyPr/>
          <a:lstStyle/>
          <a:p>
            <a:fld id="{391AE634-D3F6-D340-828E-46E935E8602A}" type="slidenum">
              <a:rPr lang="en-US"/>
              <a:pPr/>
              <a:t>10</a:t>
            </a:fld>
            <a:endParaRPr lang="en-US"/>
          </a:p>
        </p:txBody>
      </p:sp>
    </p:spTree>
    <p:extLst>
      <p:ext uri="{BB962C8B-B14F-4D97-AF65-F5344CB8AC3E}">
        <p14:creationId xmlns:p14="http://schemas.microsoft.com/office/powerpoint/2010/main" val="4110911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noTextEdit="1"/>
          </p:cNvSpPr>
          <p:nvPr>
            <p:ph type="sldImg"/>
          </p:nvPr>
        </p:nvSpPr>
        <p:spPr bwMode="auto">
          <a:noFill/>
          <a:ln>
            <a:solidFill>
              <a:srgbClr val="000000"/>
            </a:solidFill>
            <a:miter lim="800000"/>
            <a:headEnd/>
            <a:tailEnd/>
          </a:ln>
        </p:spPr>
      </p:sp>
      <p:sp>
        <p:nvSpPr>
          <p:cNvPr id="113666" name="Notes Placeholder 2"/>
          <p:cNvSpPr>
            <a:spLocks noGrp="1"/>
          </p:cNvSpPr>
          <p:nvPr>
            <p:ph type="body" idx="1"/>
          </p:nvPr>
        </p:nvSpPr>
        <p:spPr bwMode="auto">
          <a:noFill/>
        </p:spPr>
        <p:txBody>
          <a:bodyPr/>
          <a:lstStyle/>
          <a:p>
            <a:pPr>
              <a:spcBef>
                <a:spcPct val="0"/>
              </a:spcBef>
            </a:pPr>
            <a:r>
              <a:rPr lang="en-US" dirty="0">
                <a:latin typeface="Verdana" charset="0"/>
              </a:rPr>
              <a:t>Veronese FEAST IN THE HOUSE OF LEVI</a:t>
            </a:r>
            <a:br>
              <a:rPr lang="en-US" dirty="0">
                <a:latin typeface="Verdana" charset="0"/>
              </a:rPr>
            </a:br>
            <a:r>
              <a:rPr lang="en-US" dirty="0">
                <a:latin typeface="Verdana" charset="0"/>
              </a:rPr>
              <a:t>From the refectory of the monastery of SS. Giovanni e Paolo, Venice. 1573.</a:t>
            </a:r>
            <a:br>
              <a:rPr lang="en-US" dirty="0">
                <a:latin typeface="Verdana" charset="0"/>
              </a:rPr>
            </a:br>
            <a:r>
              <a:rPr lang="en-US" dirty="0">
                <a:latin typeface="Verdana" charset="0"/>
              </a:rPr>
              <a:t>Oil on canvas, 18</a:t>
            </a:r>
            <a:r>
              <a:rPr lang="uk-UA" dirty="0">
                <a:latin typeface="Verdana" charset="0"/>
              </a:rPr>
              <a:t>'</a:t>
            </a:r>
            <a:r>
              <a:rPr lang="en-US" dirty="0">
                <a:latin typeface="Verdana" charset="0"/>
              </a:rPr>
              <a:t>3</a:t>
            </a:r>
            <a:r>
              <a:rPr lang="ru-RU" dirty="0">
                <a:latin typeface="Verdana" charset="0"/>
              </a:rPr>
              <a:t>"</a:t>
            </a:r>
            <a:r>
              <a:rPr lang="en-US" dirty="0">
                <a:latin typeface="Verdana" charset="0"/>
              </a:rPr>
              <a:t> × 42</a:t>
            </a:r>
            <a:r>
              <a:rPr lang="uk-UA" dirty="0">
                <a:latin typeface="Verdana" charset="0"/>
              </a:rPr>
              <a:t>'</a:t>
            </a:r>
            <a:r>
              <a:rPr lang="en-US" dirty="0">
                <a:latin typeface="Verdana" charset="0"/>
              </a:rPr>
              <a:t> (5.56 × 12.8 m).</a:t>
            </a:r>
            <a:br>
              <a:rPr lang="en-US" dirty="0">
                <a:latin typeface="Verdana" charset="0"/>
              </a:rPr>
            </a:br>
            <a:r>
              <a:rPr lang="en-US" dirty="0">
                <a:latin typeface="Verdana" charset="0"/>
              </a:rPr>
              <a:t>Galleria dell</a:t>
            </a:r>
            <a:r>
              <a:rPr lang="uk-UA" dirty="0">
                <a:latin typeface="Verdana" charset="0"/>
              </a:rPr>
              <a:t>'</a:t>
            </a:r>
            <a:r>
              <a:rPr lang="en-US" dirty="0">
                <a:latin typeface="Verdana" charset="0"/>
              </a:rPr>
              <a:t>Accademia, Venice. © </a:t>
            </a:r>
            <a:r>
              <a:rPr lang="en-US" dirty="0" err="1">
                <a:latin typeface="Verdana" charset="0"/>
              </a:rPr>
              <a:t>Cameraphoto</a:t>
            </a:r>
            <a:r>
              <a:rPr lang="en-US" dirty="0">
                <a:latin typeface="Verdana" charset="0"/>
              </a:rPr>
              <a:t> </a:t>
            </a:r>
            <a:r>
              <a:rPr lang="en-US" dirty="0" err="1">
                <a:latin typeface="Verdana" charset="0"/>
              </a:rPr>
              <a:t>Arte</a:t>
            </a:r>
            <a:r>
              <a:rPr lang="en-US" dirty="0">
                <a:latin typeface="Verdana" charset="0"/>
              </a:rPr>
              <a:t>, Venice.</a:t>
            </a:r>
            <a:endParaRPr lang="en-US" dirty="0"/>
          </a:p>
        </p:txBody>
      </p:sp>
      <p:sp>
        <p:nvSpPr>
          <p:cNvPr id="113667" name="Slide Number Placeholder 3"/>
          <p:cNvSpPr>
            <a:spLocks noGrp="1"/>
          </p:cNvSpPr>
          <p:nvPr>
            <p:ph type="sldNum" sz="quarter" idx="5"/>
          </p:nvPr>
        </p:nvSpPr>
        <p:spPr bwMode="auto">
          <a:noFill/>
          <a:ln>
            <a:miter lim="800000"/>
            <a:headEnd/>
            <a:tailEnd/>
          </a:ln>
        </p:spPr>
        <p:txBody>
          <a:bodyPr/>
          <a:lstStyle/>
          <a:p>
            <a:fld id="{2F0904BC-8170-A14E-BE6D-2E18E9BB6BBD}" type="slidenum">
              <a:rPr lang="en-US"/>
              <a:pPr/>
              <a:t>13</a:t>
            </a:fld>
            <a:endParaRPr lang="en-US"/>
          </a:p>
        </p:txBody>
      </p:sp>
    </p:spTree>
    <p:extLst>
      <p:ext uri="{BB962C8B-B14F-4D97-AF65-F5344CB8AC3E}">
        <p14:creationId xmlns:p14="http://schemas.microsoft.com/office/powerpoint/2010/main" val="2189007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Slide Image Placeholder 1"/>
          <p:cNvSpPr>
            <a:spLocks noGrp="1" noRot="1" noChangeAspect="1" noTextEdit="1"/>
          </p:cNvSpPr>
          <p:nvPr>
            <p:ph type="sldImg"/>
          </p:nvPr>
        </p:nvSpPr>
        <p:spPr bwMode="auto">
          <a:noFill/>
          <a:ln>
            <a:solidFill>
              <a:srgbClr val="000000"/>
            </a:solidFill>
            <a:miter lim="800000"/>
            <a:headEnd/>
            <a:tailEnd/>
          </a:ln>
        </p:spPr>
      </p:sp>
      <p:sp>
        <p:nvSpPr>
          <p:cNvPr id="116738" name="Notes Placeholder 2"/>
          <p:cNvSpPr>
            <a:spLocks noGrp="1"/>
          </p:cNvSpPr>
          <p:nvPr>
            <p:ph type="body" idx="1"/>
          </p:nvPr>
        </p:nvSpPr>
        <p:spPr bwMode="auto">
          <a:noFill/>
        </p:spPr>
        <p:txBody>
          <a:bodyPr/>
          <a:lstStyle/>
          <a:p>
            <a:pPr>
              <a:spcBef>
                <a:spcPct val="0"/>
              </a:spcBef>
            </a:pPr>
            <a:r>
              <a:rPr lang="en-US" dirty="0"/>
              <a:t>Tintoretto THE LAST SUPPER</a:t>
            </a:r>
            <a:br>
              <a:rPr lang="en-US" dirty="0"/>
            </a:br>
            <a:r>
              <a:rPr lang="en-US" dirty="0"/>
              <a:t>Church of San Giorgio Maggiore, Venice. 1592–1594.</a:t>
            </a:r>
            <a:br>
              <a:rPr lang="en-US" dirty="0"/>
            </a:br>
            <a:r>
              <a:rPr lang="en-US" dirty="0"/>
              <a:t>Oil on canvas, 12</a:t>
            </a:r>
            <a:r>
              <a:rPr lang="uk-UA" dirty="0"/>
              <a:t>'</a:t>
            </a:r>
            <a:r>
              <a:rPr lang="en-US" dirty="0"/>
              <a:t> × 18</a:t>
            </a:r>
            <a:r>
              <a:rPr lang="uk-UA" dirty="0"/>
              <a:t>'</a:t>
            </a:r>
            <a:r>
              <a:rPr lang="en-US" dirty="0"/>
              <a:t>8</a:t>
            </a:r>
            <a:r>
              <a:rPr lang="ru-RU" dirty="0"/>
              <a:t>"</a:t>
            </a:r>
            <a:r>
              <a:rPr lang="en-US" dirty="0"/>
              <a:t> (3.7 × 5.7 m).</a:t>
            </a:r>
            <a:br>
              <a:rPr lang="en-US" dirty="0"/>
            </a:br>
            <a:r>
              <a:rPr lang="en-US" dirty="0"/>
              <a:t>© </a:t>
            </a:r>
            <a:r>
              <a:rPr lang="en-US" dirty="0" err="1"/>
              <a:t>Cameraphoto</a:t>
            </a:r>
            <a:r>
              <a:rPr lang="en-US" dirty="0"/>
              <a:t> </a:t>
            </a:r>
            <a:r>
              <a:rPr lang="en-US" dirty="0" err="1"/>
              <a:t>Arte</a:t>
            </a:r>
            <a:r>
              <a:rPr lang="en-US" dirty="0"/>
              <a:t>, Venice.</a:t>
            </a:r>
          </a:p>
        </p:txBody>
      </p:sp>
      <p:sp>
        <p:nvSpPr>
          <p:cNvPr id="116739" name="Slide Number Placeholder 3"/>
          <p:cNvSpPr>
            <a:spLocks noGrp="1"/>
          </p:cNvSpPr>
          <p:nvPr>
            <p:ph type="sldNum" sz="quarter" idx="5"/>
          </p:nvPr>
        </p:nvSpPr>
        <p:spPr bwMode="auto">
          <a:noFill/>
          <a:ln>
            <a:miter lim="800000"/>
            <a:headEnd/>
            <a:tailEnd/>
          </a:ln>
        </p:spPr>
        <p:txBody>
          <a:bodyPr/>
          <a:lstStyle/>
          <a:p>
            <a:fld id="{C423E18A-B707-8B4F-8A21-DADD0D759761}" type="slidenum">
              <a:rPr lang="en-US"/>
              <a:pPr/>
              <a:t>15</a:t>
            </a:fld>
            <a:endParaRPr lang="en-US"/>
          </a:p>
        </p:txBody>
      </p:sp>
    </p:spTree>
    <p:extLst>
      <p:ext uri="{BB962C8B-B14F-4D97-AF65-F5344CB8AC3E}">
        <p14:creationId xmlns:p14="http://schemas.microsoft.com/office/powerpoint/2010/main" val="577441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noTextEdit="1"/>
          </p:cNvSpPr>
          <p:nvPr>
            <p:ph type="sldImg"/>
          </p:nvPr>
        </p:nvSpPr>
        <p:spPr bwMode="auto">
          <a:noFill/>
          <a:ln>
            <a:solidFill>
              <a:srgbClr val="000000"/>
            </a:solidFill>
            <a:miter lim="800000"/>
            <a:headEnd/>
            <a:tailEnd/>
          </a:ln>
        </p:spPr>
      </p:sp>
      <p:sp>
        <p:nvSpPr>
          <p:cNvPr id="119810" name="Notes Placeholder 2"/>
          <p:cNvSpPr>
            <a:spLocks noGrp="1"/>
          </p:cNvSpPr>
          <p:nvPr>
            <p:ph type="body" idx="1"/>
          </p:nvPr>
        </p:nvSpPr>
        <p:spPr bwMode="auto">
          <a:noFill/>
        </p:spPr>
        <p:txBody>
          <a:bodyPr/>
          <a:lstStyle/>
          <a:p>
            <a:pPr>
              <a:spcBef>
                <a:spcPct val="0"/>
              </a:spcBef>
            </a:pPr>
            <a:r>
              <a:rPr lang="en-US" dirty="0"/>
              <a:t>Palladio CHURCH OF SAN GIORGIO MAGGIORE, VENICE</a:t>
            </a:r>
            <a:br>
              <a:rPr lang="en-US" dirty="0"/>
            </a:br>
            <a:r>
              <a:rPr lang="en-US" dirty="0"/>
              <a:t>Plan 1565; construction 1565–1580; façade 1597–1610; campanile 1791.</a:t>
            </a:r>
            <a:br>
              <a:rPr lang="en-US" dirty="0"/>
            </a:br>
            <a:r>
              <a:rPr lang="en-US" dirty="0"/>
              <a:t>Finished by Vincenzo </a:t>
            </a:r>
            <a:r>
              <a:rPr lang="en-US" dirty="0" err="1"/>
              <a:t>Scamozzi</a:t>
            </a:r>
            <a:r>
              <a:rPr lang="en-US" dirty="0"/>
              <a:t> following Palladio</a:t>
            </a:r>
            <a:r>
              <a:rPr lang="uk-UA" dirty="0"/>
              <a:t>'</a:t>
            </a:r>
            <a:r>
              <a:rPr lang="en-US" dirty="0"/>
              <a:t>s design. © </a:t>
            </a:r>
            <a:r>
              <a:rPr lang="en-US" dirty="0" err="1"/>
              <a:t>Cameraphoto</a:t>
            </a:r>
            <a:r>
              <a:rPr lang="en-US" dirty="0"/>
              <a:t> </a:t>
            </a:r>
            <a:r>
              <a:rPr lang="en-US" dirty="0" err="1"/>
              <a:t>Arte</a:t>
            </a:r>
            <a:r>
              <a:rPr lang="en-US" dirty="0"/>
              <a:t>, Venice.</a:t>
            </a:r>
          </a:p>
        </p:txBody>
      </p:sp>
      <p:sp>
        <p:nvSpPr>
          <p:cNvPr id="119811" name="Slide Number Placeholder 3"/>
          <p:cNvSpPr>
            <a:spLocks noGrp="1"/>
          </p:cNvSpPr>
          <p:nvPr>
            <p:ph type="sldNum" sz="quarter" idx="5"/>
          </p:nvPr>
        </p:nvSpPr>
        <p:spPr bwMode="auto">
          <a:noFill/>
          <a:ln>
            <a:miter lim="800000"/>
            <a:headEnd/>
            <a:tailEnd/>
          </a:ln>
        </p:spPr>
        <p:txBody>
          <a:bodyPr/>
          <a:lstStyle/>
          <a:p>
            <a:fld id="{7ED2B270-D946-5B44-A366-6CEE6D15BF51}" type="slidenum">
              <a:rPr lang="en-US"/>
              <a:pPr/>
              <a:t>18</a:t>
            </a:fld>
            <a:endParaRPr lang="en-US"/>
          </a:p>
        </p:txBody>
      </p:sp>
    </p:spTree>
    <p:extLst>
      <p:ext uri="{BB962C8B-B14F-4D97-AF65-F5344CB8AC3E}">
        <p14:creationId xmlns:p14="http://schemas.microsoft.com/office/powerpoint/2010/main" val="1389398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Slide Image Placeholder 1"/>
          <p:cNvSpPr>
            <a:spLocks noGrp="1" noRot="1" noChangeAspect="1" noTextEdit="1"/>
          </p:cNvSpPr>
          <p:nvPr>
            <p:ph type="sldImg"/>
          </p:nvPr>
        </p:nvSpPr>
        <p:spPr bwMode="auto">
          <a:noFill/>
          <a:ln>
            <a:solidFill>
              <a:srgbClr val="000000"/>
            </a:solidFill>
            <a:miter lim="800000"/>
            <a:headEnd/>
            <a:tailEnd/>
          </a:ln>
        </p:spPr>
      </p:sp>
      <p:sp>
        <p:nvSpPr>
          <p:cNvPr id="122882" name="Notes Placeholder 2"/>
          <p:cNvSpPr>
            <a:spLocks noGrp="1"/>
          </p:cNvSpPr>
          <p:nvPr>
            <p:ph type="body" idx="1"/>
          </p:nvPr>
        </p:nvSpPr>
        <p:spPr bwMode="auto">
          <a:noFill/>
        </p:spPr>
        <p:txBody>
          <a:bodyPr/>
          <a:lstStyle/>
          <a:p>
            <a:pPr>
              <a:spcBef>
                <a:spcPct val="0"/>
              </a:spcBef>
            </a:pPr>
            <a:r>
              <a:rPr lang="en-US" dirty="0"/>
              <a:t>NAVE, CHURCH OF SAN GIORGIO MAGGIORE, VENICE</a:t>
            </a:r>
            <a:br>
              <a:rPr lang="en-US" dirty="0"/>
            </a:br>
            <a:r>
              <a:rPr lang="en-US" dirty="0"/>
              <a:t>Begun 1566. Tintoretto’s </a:t>
            </a:r>
            <a:r>
              <a:rPr lang="en-US" i="1" dirty="0"/>
              <a:t>Last Supper</a:t>
            </a:r>
            <a:r>
              <a:rPr lang="en-US" dirty="0"/>
              <a:t> (not visible) hangs to the left of the altar. </a:t>
            </a:r>
            <a:br>
              <a:rPr lang="en-US" dirty="0"/>
            </a:br>
            <a:r>
              <a:rPr lang="en-US" dirty="0"/>
              <a:t> © </a:t>
            </a:r>
            <a:r>
              <a:rPr lang="en-US" dirty="0" err="1"/>
              <a:t>Cameraphoto</a:t>
            </a:r>
            <a:r>
              <a:rPr lang="en-US" dirty="0"/>
              <a:t> </a:t>
            </a:r>
            <a:r>
              <a:rPr lang="en-US" dirty="0" err="1"/>
              <a:t>Arte</a:t>
            </a:r>
            <a:r>
              <a:rPr lang="en-US" dirty="0"/>
              <a:t>, Venice.</a:t>
            </a:r>
          </a:p>
        </p:txBody>
      </p:sp>
      <p:sp>
        <p:nvSpPr>
          <p:cNvPr id="122883" name="Slide Number Placeholder 3"/>
          <p:cNvSpPr>
            <a:spLocks noGrp="1"/>
          </p:cNvSpPr>
          <p:nvPr>
            <p:ph type="sldNum" sz="quarter" idx="5"/>
          </p:nvPr>
        </p:nvSpPr>
        <p:spPr bwMode="auto">
          <a:noFill/>
          <a:ln>
            <a:miter lim="800000"/>
            <a:headEnd/>
            <a:tailEnd/>
          </a:ln>
        </p:spPr>
        <p:txBody>
          <a:bodyPr/>
          <a:lstStyle/>
          <a:p>
            <a:fld id="{1C66561D-C5DB-5948-929C-854775EA9674}" type="slidenum">
              <a:rPr lang="en-US"/>
              <a:pPr/>
              <a:t>19</a:t>
            </a:fld>
            <a:endParaRPr lang="en-US"/>
          </a:p>
        </p:txBody>
      </p:sp>
    </p:spTree>
    <p:extLst>
      <p:ext uri="{BB962C8B-B14F-4D97-AF65-F5344CB8AC3E}">
        <p14:creationId xmlns:p14="http://schemas.microsoft.com/office/powerpoint/2010/main" val="2571833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Slide Image Placeholder 1"/>
          <p:cNvSpPr>
            <a:spLocks noGrp="1" noRot="1" noChangeAspect="1" noTextEdit="1"/>
          </p:cNvSpPr>
          <p:nvPr>
            <p:ph type="sldImg"/>
          </p:nvPr>
        </p:nvSpPr>
        <p:spPr bwMode="auto">
          <a:noFill/>
          <a:ln>
            <a:solidFill>
              <a:srgbClr val="000000"/>
            </a:solidFill>
            <a:miter lim="800000"/>
            <a:headEnd/>
            <a:tailEnd/>
          </a:ln>
        </p:spPr>
      </p:sp>
      <p:sp>
        <p:nvSpPr>
          <p:cNvPr id="125954" name="Notes Placeholder 2"/>
          <p:cNvSpPr>
            <a:spLocks noGrp="1"/>
          </p:cNvSpPr>
          <p:nvPr>
            <p:ph type="body" idx="1"/>
          </p:nvPr>
        </p:nvSpPr>
        <p:spPr bwMode="auto">
          <a:noFill/>
        </p:spPr>
        <p:txBody>
          <a:bodyPr/>
          <a:lstStyle/>
          <a:p>
            <a:pPr>
              <a:spcBef>
                <a:spcPct val="0"/>
              </a:spcBef>
            </a:pPr>
            <a:r>
              <a:rPr lang="en-US" dirty="0">
                <a:solidFill>
                  <a:schemeClr val="bg1"/>
                </a:solidFill>
                <a:latin typeface="Verdana" charset="0"/>
              </a:rPr>
              <a:t>Palladio PLAN OF VILLA ROTONDA, VICENZA</a:t>
            </a:r>
            <a:br>
              <a:rPr lang="en-US" dirty="0">
                <a:solidFill>
                  <a:schemeClr val="bg1"/>
                </a:solidFill>
                <a:latin typeface="Verdana" charset="0"/>
              </a:rPr>
            </a:br>
            <a:r>
              <a:rPr lang="en-US" dirty="0">
                <a:solidFill>
                  <a:schemeClr val="bg1"/>
                </a:solidFill>
                <a:latin typeface="Verdana" charset="0"/>
              </a:rPr>
              <a:t>Italy. Begun 1560s.</a:t>
            </a:r>
            <a:endParaRPr lang="en-US" dirty="0"/>
          </a:p>
        </p:txBody>
      </p:sp>
      <p:sp>
        <p:nvSpPr>
          <p:cNvPr id="125955" name="Slide Number Placeholder 3"/>
          <p:cNvSpPr>
            <a:spLocks noGrp="1"/>
          </p:cNvSpPr>
          <p:nvPr>
            <p:ph type="sldNum" sz="quarter" idx="5"/>
          </p:nvPr>
        </p:nvSpPr>
        <p:spPr bwMode="auto">
          <a:noFill/>
          <a:ln>
            <a:miter lim="800000"/>
            <a:headEnd/>
            <a:tailEnd/>
          </a:ln>
        </p:spPr>
        <p:txBody>
          <a:bodyPr/>
          <a:lstStyle/>
          <a:p>
            <a:fld id="{042EF84C-51A2-E74C-8BCF-87E30A31BD7F}" type="slidenum">
              <a:rPr lang="en-US"/>
              <a:pPr/>
              <a:t>21</a:t>
            </a:fld>
            <a:endParaRPr lang="en-US"/>
          </a:p>
        </p:txBody>
      </p:sp>
    </p:spTree>
    <p:extLst>
      <p:ext uri="{BB962C8B-B14F-4D97-AF65-F5344CB8AC3E}">
        <p14:creationId xmlns:p14="http://schemas.microsoft.com/office/powerpoint/2010/main" val="3215848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Slide Image Placeholder 1"/>
          <p:cNvSpPr>
            <a:spLocks noGrp="1" noRot="1" noChangeAspect="1" noTextEdit="1"/>
          </p:cNvSpPr>
          <p:nvPr>
            <p:ph type="sldImg"/>
          </p:nvPr>
        </p:nvSpPr>
        <p:spPr bwMode="auto">
          <a:noFill/>
          <a:ln>
            <a:solidFill>
              <a:srgbClr val="000000"/>
            </a:solidFill>
            <a:miter lim="800000"/>
            <a:headEnd/>
            <a:tailEnd/>
          </a:ln>
        </p:spPr>
      </p:sp>
      <p:sp>
        <p:nvSpPr>
          <p:cNvPr id="128002" name="Notes Placeholder 2"/>
          <p:cNvSpPr>
            <a:spLocks noGrp="1"/>
          </p:cNvSpPr>
          <p:nvPr>
            <p:ph type="body" idx="1"/>
          </p:nvPr>
        </p:nvSpPr>
        <p:spPr bwMode="auto">
          <a:noFill/>
        </p:spPr>
        <p:txBody>
          <a:bodyPr/>
          <a:lstStyle/>
          <a:p>
            <a:pPr>
              <a:spcBef>
                <a:spcPct val="0"/>
              </a:spcBef>
            </a:pPr>
            <a:r>
              <a:rPr lang="en-US" dirty="0"/>
              <a:t>Palladio EXTERIOR VIEW OF VILLA ROTONDA, VICENZA</a:t>
            </a:r>
            <a:br>
              <a:rPr lang="en-US" dirty="0"/>
            </a:br>
            <a:r>
              <a:rPr lang="en-US" dirty="0"/>
              <a:t>After its purchase in 1591 by the Capra family, the Villa </a:t>
            </a:r>
            <a:r>
              <a:rPr lang="en-US" dirty="0" err="1"/>
              <a:t>Rotonda</a:t>
            </a:r>
            <a:r>
              <a:rPr lang="en-US" dirty="0"/>
              <a:t> became known as the Villa Capra. © </a:t>
            </a:r>
            <a:r>
              <a:rPr lang="en-US" dirty="0" err="1"/>
              <a:t>Cameraphoto</a:t>
            </a:r>
            <a:r>
              <a:rPr lang="en-US" dirty="0"/>
              <a:t> </a:t>
            </a:r>
            <a:r>
              <a:rPr lang="en-US" dirty="0" err="1"/>
              <a:t>Arte</a:t>
            </a:r>
            <a:r>
              <a:rPr lang="en-US" dirty="0"/>
              <a:t>, Venice. </a:t>
            </a:r>
          </a:p>
        </p:txBody>
      </p:sp>
      <p:sp>
        <p:nvSpPr>
          <p:cNvPr id="128003" name="Slide Number Placeholder 3"/>
          <p:cNvSpPr>
            <a:spLocks noGrp="1"/>
          </p:cNvSpPr>
          <p:nvPr>
            <p:ph type="sldNum" sz="quarter" idx="5"/>
          </p:nvPr>
        </p:nvSpPr>
        <p:spPr bwMode="auto">
          <a:noFill/>
          <a:ln>
            <a:miter lim="800000"/>
            <a:headEnd/>
            <a:tailEnd/>
          </a:ln>
        </p:spPr>
        <p:txBody>
          <a:bodyPr/>
          <a:lstStyle/>
          <a:p>
            <a:fld id="{8E74ED7F-F11D-B44B-916D-B01330DE9930}" type="slidenum">
              <a:rPr lang="en-US"/>
              <a:pPr/>
              <a:t>22</a:t>
            </a:fld>
            <a:endParaRPr lang="en-US"/>
          </a:p>
        </p:txBody>
      </p:sp>
    </p:spTree>
    <p:extLst>
      <p:ext uri="{BB962C8B-B14F-4D97-AF65-F5344CB8AC3E}">
        <p14:creationId xmlns:p14="http://schemas.microsoft.com/office/powerpoint/2010/main" val="3518367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Slide Image Placeholder 1"/>
          <p:cNvSpPr>
            <a:spLocks noGrp="1" noRot="1" noChangeAspect="1" noTextEdit="1"/>
          </p:cNvSpPr>
          <p:nvPr>
            <p:ph type="sldImg"/>
          </p:nvPr>
        </p:nvSpPr>
        <p:spPr bwMode="auto">
          <a:noFill/>
          <a:ln>
            <a:solidFill>
              <a:srgbClr val="000000"/>
            </a:solidFill>
            <a:miter lim="800000"/>
            <a:headEnd/>
            <a:tailEnd/>
          </a:ln>
        </p:spPr>
      </p:sp>
      <p:sp>
        <p:nvSpPr>
          <p:cNvPr id="133122" name="Notes Placeholder 2"/>
          <p:cNvSpPr>
            <a:spLocks noGrp="1"/>
          </p:cNvSpPr>
          <p:nvPr>
            <p:ph type="body" idx="1"/>
          </p:nvPr>
        </p:nvSpPr>
        <p:spPr bwMode="auto">
          <a:noFill/>
        </p:spPr>
        <p:txBody>
          <a:bodyPr/>
          <a:lstStyle/>
          <a:p>
            <a:pPr>
              <a:spcBef>
                <a:spcPct val="0"/>
              </a:spcBef>
            </a:pPr>
            <a:r>
              <a:rPr lang="en-US" dirty="0"/>
              <a:t>CAPPONI CHAPEL, CHURCH OF SANTA FELICITÀ, FLORENCE</a:t>
            </a:r>
            <a:br>
              <a:rPr lang="en-US" dirty="0"/>
            </a:br>
            <a:r>
              <a:rPr lang="en-US" dirty="0"/>
              <a:t>Chapel by Filippo Brunelleschi for the </a:t>
            </a:r>
            <a:r>
              <a:rPr lang="en-US" dirty="0" err="1"/>
              <a:t>Barbadori</a:t>
            </a:r>
            <a:r>
              <a:rPr lang="en-US" dirty="0"/>
              <a:t> family, 1419–1423; acquired by the </a:t>
            </a:r>
            <a:r>
              <a:rPr lang="en-US" dirty="0" err="1"/>
              <a:t>Capponi</a:t>
            </a:r>
            <a:r>
              <a:rPr lang="en-US" dirty="0"/>
              <a:t> family, who ordered paintings by </a:t>
            </a:r>
            <a:r>
              <a:rPr lang="en-US" dirty="0" err="1"/>
              <a:t>Pontormo</a:t>
            </a:r>
            <a:r>
              <a:rPr lang="en-US" dirty="0"/>
              <a:t>, 1525–1528.</a:t>
            </a:r>
            <a:br>
              <a:rPr lang="en-US" dirty="0"/>
            </a:br>
            <a:r>
              <a:rPr lang="en-US" dirty="0"/>
              <a:t>Index </a:t>
            </a:r>
            <a:r>
              <a:rPr lang="en-US" dirty="0" err="1"/>
              <a:t>Ricerca</a:t>
            </a:r>
            <a:r>
              <a:rPr lang="en-US" dirty="0"/>
              <a:t> </a:t>
            </a:r>
            <a:r>
              <a:rPr lang="en-US" dirty="0" err="1"/>
              <a:t>Iconografica</a:t>
            </a:r>
            <a:r>
              <a:rPr lang="en-US" dirty="0"/>
              <a:t>.</a:t>
            </a:r>
          </a:p>
        </p:txBody>
      </p:sp>
      <p:sp>
        <p:nvSpPr>
          <p:cNvPr id="133123" name="Slide Number Placeholder 3"/>
          <p:cNvSpPr>
            <a:spLocks noGrp="1"/>
          </p:cNvSpPr>
          <p:nvPr>
            <p:ph type="sldNum" sz="quarter" idx="5"/>
          </p:nvPr>
        </p:nvSpPr>
        <p:spPr bwMode="auto">
          <a:noFill/>
          <a:ln>
            <a:miter lim="800000"/>
            <a:headEnd/>
            <a:tailEnd/>
          </a:ln>
        </p:spPr>
        <p:txBody>
          <a:bodyPr/>
          <a:lstStyle/>
          <a:p>
            <a:fld id="{6051344F-D98C-5047-8089-FD390543DC8B}" type="slidenum">
              <a:rPr lang="en-US"/>
              <a:pPr/>
              <a:t>26</a:t>
            </a:fld>
            <a:endParaRPr lang="en-US"/>
          </a:p>
        </p:txBody>
      </p:sp>
    </p:spTree>
    <p:extLst>
      <p:ext uri="{BB962C8B-B14F-4D97-AF65-F5344CB8AC3E}">
        <p14:creationId xmlns:p14="http://schemas.microsoft.com/office/powerpoint/2010/main" val="1521370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Slide Image Placeholder 1"/>
          <p:cNvSpPr>
            <a:spLocks noGrp="1" noRot="1" noChangeAspect="1" noTextEdit="1"/>
          </p:cNvSpPr>
          <p:nvPr>
            <p:ph type="sldImg"/>
          </p:nvPr>
        </p:nvSpPr>
        <p:spPr bwMode="auto">
          <a:noFill/>
          <a:ln>
            <a:solidFill>
              <a:srgbClr val="000000"/>
            </a:solidFill>
            <a:miter lim="800000"/>
            <a:headEnd/>
            <a:tailEnd/>
          </a:ln>
        </p:spPr>
      </p:sp>
      <p:sp>
        <p:nvSpPr>
          <p:cNvPr id="136194" name="Notes Placeholder 2"/>
          <p:cNvSpPr>
            <a:spLocks noGrp="1"/>
          </p:cNvSpPr>
          <p:nvPr>
            <p:ph type="body" idx="1"/>
          </p:nvPr>
        </p:nvSpPr>
        <p:spPr bwMode="auto">
          <a:noFill/>
        </p:spPr>
        <p:txBody>
          <a:bodyPr/>
          <a:lstStyle/>
          <a:p>
            <a:pPr>
              <a:spcBef>
                <a:spcPct val="0"/>
              </a:spcBef>
            </a:pPr>
            <a:r>
              <a:rPr lang="en-US" dirty="0" err="1"/>
              <a:t>Pontormo</a:t>
            </a:r>
            <a:r>
              <a:rPr lang="en-US" dirty="0"/>
              <a:t> DEPOSITION</a:t>
            </a:r>
            <a:br>
              <a:rPr lang="en-US" dirty="0"/>
            </a:br>
            <a:r>
              <a:rPr lang="en-US" dirty="0"/>
              <a:t>Altarpiece in </a:t>
            </a:r>
            <a:r>
              <a:rPr lang="en-US" dirty="0" err="1"/>
              <a:t>Capponi</a:t>
            </a:r>
            <a:r>
              <a:rPr lang="en-US" dirty="0"/>
              <a:t> Chapel, church of Santa </a:t>
            </a:r>
            <a:r>
              <a:rPr lang="en-US" dirty="0" err="1"/>
              <a:t>Felicità</a:t>
            </a:r>
            <a:r>
              <a:rPr lang="en-US" dirty="0"/>
              <a:t>, Florence. 1525–1528.</a:t>
            </a:r>
            <a:br>
              <a:rPr lang="en-US" dirty="0"/>
            </a:br>
            <a:r>
              <a:rPr lang="en-US" dirty="0"/>
              <a:t>Oil and tempera on wood panel, 10</a:t>
            </a:r>
            <a:r>
              <a:rPr lang="uk-UA" dirty="0"/>
              <a:t>'</a:t>
            </a:r>
            <a:r>
              <a:rPr lang="en-US" dirty="0"/>
              <a:t>3</a:t>
            </a:r>
            <a:r>
              <a:rPr lang="ru-RU" dirty="0"/>
              <a:t>"</a:t>
            </a:r>
            <a:r>
              <a:rPr lang="en-US" dirty="0"/>
              <a:t> × 6</a:t>
            </a:r>
            <a:r>
              <a:rPr lang="uk-UA" dirty="0"/>
              <a:t>'</a:t>
            </a:r>
            <a:r>
              <a:rPr lang="en-US" dirty="0"/>
              <a:t>4</a:t>
            </a:r>
            <a:r>
              <a:rPr lang="ru-RU" dirty="0"/>
              <a:t>"</a:t>
            </a:r>
            <a:r>
              <a:rPr lang="en-US" dirty="0"/>
              <a:t> (3.1 × 1.9 m).</a:t>
            </a:r>
            <a:br>
              <a:rPr lang="en-US" dirty="0"/>
            </a:br>
            <a:r>
              <a:rPr lang="en-US" dirty="0"/>
              <a:t>© Studio </a:t>
            </a:r>
            <a:r>
              <a:rPr lang="en-US" dirty="0" err="1"/>
              <a:t>Fotografico</a:t>
            </a:r>
            <a:r>
              <a:rPr lang="en-US" dirty="0"/>
              <a:t> </a:t>
            </a:r>
            <a:r>
              <a:rPr lang="en-US" dirty="0" err="1"/>
              <a:t>Quattrone</a:t>
            </a:r>
            <a:r>
              <a:rPr lang="en-US" dirty="0"/>
              <a:t>, Florence</a:t>
            </a:r>
          </a:p>
        </p:txBody>
      </p:sp>
      <p:sp>
        <p:nvSpPr>
          <p:cNvPr id="136195" name="Slide Number Placeholder 3"/>
          <p:cNvSpPr>
            <a:spLocks noGrp="1"/>
          </p:cNvSpPr>
          <p:nvPr>
            <p:ph type="sldNum" sz="quarter" idx="5"/>
          </p:nvPr>
        </p:nvSpPr>
        <p:spPr bwMode="auto">
          <a:noFill/>
          <a:ln>
            <a:miter lim="800000"/>
            <a:headEnd/>
            <a:tailEnd/>
          </a:ln>
        </p:spPr>
        <p:txBody>
          <a:bodyPr/>
          <a:lstStyle/>
          <a:p>
            <a:fld id="{4E901CBE-13A0-A347-8943-005B9E861C2F}" type="slidenum">
              <a:rPr lang="en-US"/>
              <a:pPr/>
              <a:t>27</a:t>
            </a:fld>
            <a:endParaRPr lang="en-US"/>
          </a:p>
        </p:txBody>
      </p:sp>
    </p:spTree>
    <p:extLst>
      <p:ext uri="{BB962C8B-B14F-4D97-AF65-F5344CB8AC3E}">
        <p14:creationId xmlns:p14="http://schemas.microsoft.com/office/powerpoint/2010/main" val="1736381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Slide Image Placeholder 1"/>
          <p:cNvSpPr>
            <a:spLocks noGrp="1" noRot="1" noChangeAspect="1" noTextEdit="1"/>
          </p:cNvSpPr>
          <p:nvPr>
            <p:ph type="sldImg"/>
          </p:nvPr>
        </p:nvSpPr>
        <p:spPr bwMode="auto">
          <a:noFill/>
          <a:ln>
            <a:solidFill>
              <a:srgbClr val="000000"/>
            </a:solidFill>
            <a:miter lim="800000"/>
            <a:headEnd/>
            <a:tailEnd/>
          </a:ln>
        </p:spPr>
      </p:sp>
      <p:sp>
        <p:nvSpPr>
          <p:cNvPr id="139266" name="Notes Placeholder 2"/>
          <p:cNvSpPr>
            <a:spLocks noGrp="1"/>
          </p:cNvSpPr>
          <p:nvPr>
            <p:ph type="body" idx="1"/>
          </p:nvPr>
        </p:nvSpPr>
        <p:spPr bwMode="auto">
          <a:noFill/>
        </p:spPr>
        <p:txBody>
          <a:bodyPr/>
          <a:lstStyle/>
          <a:p>
            <a:pPr>
              <a:spcBef>
                <a:spcPct val="0"/>
              </a:spcBef>
            </a:pPr>
            <a:r>
              <a:rPr lang="en-US" dirty="0"/>
              <a:t>Parmigianino MADONNA OF THE LONG NECK</a:t>
            </a:r>
            <a:br>
              <a:rPr lang="en-US" dirty="0"/>
            </a:br>
            <a:r>
              <a:rPr lang="en-US" dirty="0"/>
              <a:t>1534–1540. Oil on wood panel, 7</a:t>
            </a:r>
            <a:r>
              <a:rPr lang="uk-UA" dirty="0"/>
              <a:t>'</a:t>
            </a:r>
            <a:r>
              <a:rPr lang="en-US" dirty="0"/>
              <a:t>1</a:t>
            </a:r>
            <a:r>
              <a:rPr lang="ru-RU" dirty="0"/>
              <a:t>"</a:t>
            </a:r>
            <a:r>
              <a:rPr lang="en-US" dirty="0"/>
              <a:t> × 4</a:t>
            </a:r>
            <a:r>
              <a:rPr lang="uk-UA" dirty="0"/>
              <a:t>'</a:t>
            </a:r>
            <a:r>
              <a:rPr lang="en-US" dirty="0"/>
              <a:t>4</a:t>
            </a:r>
            <a:r>
              <a:rPr lang="ru-RU" dirty="0"/>
              <a:t>"</a:t>
            </a:r>
            <a:r>
              <a:rPr lang="en-US" dirty="0"/>
              <a:t> (2.16 × 1.32 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 </a:t>
            </a:r>
          </a:p>
        </p:txBody>
      </p:sp>
      <p:sp>
        <p:nvSpPr>
          <p:cNvPr id="139267" name="Slide Number Placeholder 3"/>
          <p:cNvSpPr>
            <a:spLocks noGrp="1"/>
          </p:cNvSpPr>
          <p:nvPr>
            <p:ph type="sldNum" sz="quarter" idx="5"/>
          </p:nvPr>
        </p:nvSpPr>
        <p:spPr bwMode="auto">
          <a:noFill/>
          <a:ln>
            <a:miter lim="800000"/>
            <a:headEnd/>
            <a:tailEnd/>
          </a:ln>
        </p:spPr>
        <p:txBody>
          <a:bodyPr/>
          <a:lstStyle/>
          <a:p>
            <a:fld id="{8D0FBB59-BCF4-B04F-8DDB-40B315D3367B}" type="slidenum">
              <a:rPr lang="en-US"/>
              <a:pPr/>
              <a:t>30</a:t>
            </a:fld>
            <a:endParaRPr lang="en-US"/>
          </a:p>
        </p:txBody>
      </p:sp>
    </p:spTree>
    <p:extLst>
      <p:ext uri="{BB962C8B-B14F-4D97-AF65-F5344CB8AC3E}">
        <p14:creationId xmlns:p14="http://schemas.microsoft.com/office/powerpoint/2010/main" val="12075493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Slide Image Placeholder 1"/>
          <p:cNvSpPr>
            <a:spLocks noGrp="1" noRot="1" noChangeAspect="1" noTextEdit="1"/>
          </p:cNvSpPr>
          <p:nvPr>
            <p:ph type="sldImg"/>
          </p:nvPr>
        </p:nvSpPr>
        <p:spPr bwMode="auto">
          <a:noFill/>
          <a:ln>
            <a:solidFill>
              <a:srgbClr val="000000"/>
            </a:solidFill>
            <a:miter lim="800000"/>
            <a:headEnd/>
            <a:tailEnd/>
          </a:ln>
        </p:spPr>
      </p:sp>
      <p:sp>
        <p:nvSpPr>
          <p:cNvPr id="142338" name="Notes Placeholder 2"/>
          <p:cNvSpPr>
            <a:spLocks noGrp="1"/>
          </p:cNvSpPr>
          <p:nvPr>
            <p:ph type="body" idx="1"/>
          </p:nvPr>
        </p:nvSpPr>
        <p:spPr bwMode="auto">
          <a:noFill/>
        </p:spPr>
        <p:txBody>
          <a:bodyPr/>
          <a:lstStyle/>
          <a:p>
            <a:pPr>
              <a:spcBef>
                <a:spcPct val="0"/>
              </a:spcBef>
            </a:pPr>
            <a:r>
              <a:rPr lang="en-US" dirty="0" err="1"/>
              <a:t>Bronzino</a:t>
            </a:r>
            <a:r>
              <a:rPr lang="en-US" dirty="0"/>
              <a:t> PORTRAIT OF ELEONORA OF TOLEDO AND HER SON GIOVANNI DE</a:t>
            </a:r>
            <a:r>
              <a:rPr lang="uk-UA" dirty="0"/>
              <a:t>'</a:t>
            </a:r>
            <a:r>
              <a:rPr lang="en-US" dirty="0"/>
              <a:t> MEDICI</a:t>
            </a:r>
            <a:br>
              <a:rPr lang="en-US" dirty="0"/>
            </a:br>
            <a:r>
              <a:rPr lang="en-US" dirty="0"/>
              <a:t>1545. Oil on wood panel, 45-1/4 × 37-3/4</a:t>
            </a:r>
            <a:r>
              <a:rPr lang="ru-RU" dirty="0"/>
              <a:t>"</a:t>
            </a:r>
            <a:r>
              <a:rPr lang="en-US" dirty="0"/>
              <a:t> (115 × 96 cm).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a:t>
            </a:r>
          </a:p>
        </p:txBody>
      </p:sp>
      <p:sp>
        <p:nvSpPr>
          <p:cNvPr id="142339" name="Slide Number Placeholder 3"/>
          <p:cNvSpPr>
            <a:spLocks noGrp="1"/>
          </p:cNvSpPr>
          <p:nvPr>
            <p:ph type="sldNum" sz="quarter" idx="5"/>
          </p:nvPr>
        </p:nvSpPr>
        <p:spPr bwMode="auto">
          <a:noFill/>
          <a:ln>
            <a:miter lim="800000"/>
            <a:headEnd/>
            <a:tailEnd/>
          </a:ln>
        </p:spPr>
        <p:txBody>
          <a:bodyPr/>
          <a:lstStyle/>
          <a:p>
            <a:fld id="{89F2BDDE-1E0C-B042-8CF9-21125A9F6CAB}" type="slidenum">
              <a:rPr lang="en-US"/>
              <a:pPr/>
              <a:t>32</a:t>
            </a:fld>
            <a:endParaRPr lang="en-US"/>
          </a:p>
        </p:txBody>
      </p:sp>
    </p:spTree>
    <p:extLst>
      <p:ext uri="{BB962C8B-B14F-4D97-AF65-F5344CB8AC3E}">
        <p14:creationId xmlns:p14="http://schemas.microsoft.com/office/powerpoint/2010/main" val="15620159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Slide Image Placeholder 1"/>
          <p:cNvSpPr>
            <a:spLocks noGrp="1" noRot="1" noChangeAspect="1" noTextEdit="1"/>
          </p:cNvSpPr>
          <p:nvPr>
            <p:ph type="sldImg"/>
          </p:nvPr>
        </p:nvSpPr>
        <p:spPr bwMode="auto">
          <a:noFill/>
          <a:ln>
            <a:solidFill>
              <a:srgbClr val="000000"/>
            </a:solidFill>
            <a:miter lim="800000"/>
            <a:headEnd/>
            <a:tailEnd/>
          </a:ln>
        </p:spPr>
      </p:sp>
      <p:sp>
        <p:nvSpPr>
          <p:cNvPr id="145410" name="Notes Placeholder 2"/>
          <p:cNvSpPr>
            <a:spLocks noGrp="1"/>
          </p:cNvSpPr>
          <p:nvPr>
            <p:ph type="body" idx="1"/>
          </p:nvPr>
        </p:nvSpPr>
        <p:spPr bwMode="auto">
          <a:noFill/>
        </p:spPr>
        <p:txBody>
          <a:bodyPr/>
          <a:lstStyle/>
          <a:p>
            <a:pPr>
              <a:spcBef>
                <a:spcPct val="0"/>
              </a:spcBef>
            </a:pPr>
            <a:r>
              <a:rPr lang="en-US" dirty="0" err="1"/>
              <a:t>Bronzino</a:t>
            </a:r>
            <a:r>
              <a:rPr lang="en-US" dirty="0"/>
              <a:t> ALLEGORY WITH VENUS AND CUPID</a:t>
            </a:r>
            <a:br>
              <a:rPr lang="en-US" dirty="0"/>
            </a:br>
            <a:r>
              <a:rPr lang="en-US" dirty="0"/>
              <a:t>Mid 1540s. Oil on panel, 57-1/2 × 46</a:t>
            </a:r>
            <a:r>
              <a:rPr lang="ru-RU" dirty="0"/>
              <a:t>"</a:t>
            </a:r>
            <a:r>
              <a:rPr lang="en-US" dirty="0"/>
              <a:t> (1.46 × 1.16 m).</a:t>
            </a:r>
            <a:br>
              <a:rPr lang="en-US" dirty="0"/>
            </a:br>
            <a:r>
              <a:rPr lang="en-US" dirty="0"/>
              <a:t>National Gallery, London. © 2016. </a:t>
            </a:r>
            <a:r>
              <a:rPr lang="en-GB" dirty="0"/>
              <a:t>Copyright The National Gallery, London/Scala, Florence.</a:t>
            </a:r>
            <a:r>
              <a:rPr lang="en-US" dirty="0"/>
              <a:t> </a:t>
            </a:r>
          </a:p>
        </p:txBody>
      </p:sp>
      <p:sp>
        <p:nvSpPr>
          <p:cNvPr id="145411" name="Slide Number Placeholder 3"/>
          <p:cNvSpPr>
            <a:spLocks noGrp="1"/>
          </p:cNvSpPr>
          <p:nvPr>
            <p:ph type="sldNum" sz="quarter" idx="5"/>
          </p:nvPr>
        </p:nvSpPr>
        <p:spPr bwMode="auto">
          <a:noFill/>
          <a:ln>
            <a:miter lim="800000"/>
            <a:headEnd/>
            <a:tailEnd/>
          </a:ln>
        </p:spPr>
        <p:txBody>
          <a:bodyPr/>
          <a:lstStyle/>
          <a:p>
            <a:fld id="{A2727CAF-712F-AA4B-BB25-14EFFD5FF24D}" type="slidenum">
              <a:rPr lang="en-US"/>
              <a:pPr/>
              <a:t>34</a:t>
            </a:fld>
            <a:endParaRPr lang="en-US"/>
          </a:p>
        </p:txBody>
      </p:sp>
    </p:spTree>
    <p:extLst>
      <p:ext uri="{BB962C8B-B14F-4D97-AF65-F5344CB8AC3E}">
        <p14:creationId xmlns:p14="http://schemas.microsoft.com/office/powerpoint/2010/main" val="19616513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Slide Image Placeholder 1"/>
          <p:cNvSpPr>
            <a:spLocks noGrp="1" noRot="1" noChangeAspect="1" noTextEdit="1"/>
          </p:cNvSpPr>
          <p:nvPr>
            <p:ph type="sldImg"/>
          </p:nvPr>
        </p:nvSpPr>
        <p:spPr bwMode="auto">
          <a:noFill/>
          <a:ln>
            <a:solidFill>
              <a:srgbClr val="000000"/>
            </a:solidFill>
            <a:miter lim="800000"/>
            <a:headEnd/>
            <a:tailEnd/>
          </a:ln>
        </p:spPr>
      </p:sp>
      <p:sp>
        <p:nvSpPr>
          <p:cNvPr id="148482" name="Notes Placeholder 2"/>
          <p:cNvSpPr>
            <a:spLocks noGrp="1"/>
          </p:cNvSpPr>
          <p:nvPr>
            <p:ph type="body" idx="1"/>
          </p:nvPr>
        </p:nvSpPr>
        <p:spPr bwMode="auto">
          <a:noFill/>
        </p:spPr>
        <p:txBody>
          <a:bodyPr/>
          <a:lstStyle/>
          <a:p>
            <a:pPr>
              <a:spcBef>
                <a:spcPct val="0"/>
              </a:spcBef>
            </a:pPr>
            <a:r>
              <a:rPr lang="en-US" dirty="0" err="1"/>
              <a:t>Sofonisba</a:t>
            </a:r>
            <a:r>
              <a:rPr lang="en-US" dirty="0"/>
              <a:t> Anguissola SELF-PORTRAIT</a:t>
            </a:r>
            <a:br>
              <a:rPr lang="en-US" dirty="0"/>
            </a:br>
            <a:r>
              <a:rPr lang="en-US" dirty="0"/>
              <a:t>c. 1556. Varnished watercolor on parchment, 3-1/4</a:t>
            </a:r>
            <a:r>
              <a:rPr lang="ru-RU" dirty="0"/>
              <a:t>"</a:t>
            </a:r>
            <a:r>
              <a:rPr lang="en-US" dirty="0"/>
              <a:t> × 2-1/2</a:t>
            </a:r>
            <a:r>
              <a:rPr lang="ru-RU" dirty="0"/>
              <a:t>"</a:t>
            </a:r>
            <a:r>
              <a:rPr lang="en-US" dirty="0"/>
              <a:t> (8.3 × 6.4 cm).</a:t>
            </a:r>
            <a:br>
              <a:rPr lang="en-US" dirty="0"/>
            </a:br>
            <a:r>
              <a:rPr lang="en-US" dirty="0"/>
              <a:t>Museum of Fine Arts, Boston. Emma F. Munroe Fund 60.155. Photograph © 2017 Museum of Fine Arts, Boston. </a:t>
            </a:r>
          </a:p>
        </p:txBody>
      </p:sp>
      <p:sp>
        <p:nvSpPr>
          <p:cNvPr id="148483" name="Slide Number Placeholder 3"/>
          <p:cNvSpPr>
            <a:spLocks noGrp="1"/>
          </p:cNvSpPr>
          <p:nvPr>
            <p:ph type="sldNum" sz="quarter" idx="5"/>
          </p:nvPr>
        </p:nvSpPr>
        <p:spPr bwMode="auto">
          <a:noFill/>
          <a:ln>
            <a:miter lim="800000"/>
            <a:headEnd/>
            <a:tailEnd/>
          </a:ln>
        </p:spPr>
        <p:txBody>
          <a:bodyPr/>
          <a:lstStyle/>
          <a:p>
            <a:fld id="{FD09735C-4B6A-5947-AB9D-87A333C0FAAA}" type="slidenum">
              <a:rPr lang="en-US"/>
              <a:pPr/>
              <a:t>36</a:t>
            </a:fld>
            <a:endParaRPr lang="en-US"/>
          </a:p>
        </p:txBody>
      </p:sp>
    </p:spTree>
    <p:extLst>
      <p:ext uri="{BB962C8B-B14F-4D97-AF65-F5344CB8AC3E}">
        <p14:creationId xmlns:p14="http://schemas.microsoft.com/office/powerpoint/2010/main" val="13059461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Slide Image Placeholder 1"/>
          <p:cNvSpPr>
            <a:spLocks noGrp="1" noRot="1" noChangeAspect="1" noTextEdit="1"/>
          </p:cNvSpPr>
          <p:nvPr>
            <p:ph type="sldImg"/>
          </p:nvPr>
        </p:nvSpPr>
        <p:spPr bwMode="auto">
          <a:noFill/>
          <a:ln>
            <a:solidFill>
              <a:srgbClr val="000000"/>
            </a:solidFill>
            <a:miter lim="800000"/>
            <a:headEnd/>
            <a:tailEnd/>
          </a:ln>
        </p:spPr>
      </p:sp>
      <p:sp>
        <p:nvSpPr>
          <p:cNvPr id="151554" name="Notes Placeholder 2"/>
          <p:cNvSpPr>
            <a:spLocks noGrp="1"/>
          </p:cNvSpPr>
          <p:nvPr>
            <p:ph type="body" idx="1"/>
          </p:nvPr>
        </p:nvSpPr>
        <p:spPr bwMode="auto">
          <a:noFill/>
        </p:spPr>
        <p:txBody>
          <a:bodyPr/>
          <a:lstStyle/>
          <a:p>
            <a:pPr>
              <a:spcBef>
                <a:spcPct val="0"/>
              </a:spcBef>
            </a:pPr>
            <a:r>
              <a:rPr lang="en-US" dirty="0">
                <a:latin typeface="Verdana" charset="0"/>
              </a:rPr>
              <a:t>Lavinia Fontana NOLI ME TANGERE</a:t>
            </a:r>
            <a:br>
              <a:rPr lang="en-US" dirty="0">
                <a:latin typeface="Verdana" charset="0"/>
              </a:rPr>
            </a:br>
            <a:r>
              <a:rPr lang="en-US" dirty="0">
                <a:latin typeface="Verdana" charset="0"/>
              </a:rPr>
              <a:t>1581. Oil on canvas, 47-3/8</a:t>
            </a:r>
            <a:r>
              <a:rPr lang="ru-RU" dirty="0">
                <a:latin typeface="Verdana" charset="0"/>
              </a:rPr>
              <a:t>"</a:t>
            </a:r>
            <a:r>
              <a:rPr lang="en-US" dirty="0">
                <a:latin typeface="Verdana" charset="0"/>
              </a:rPr>
              <a:t> × 36-5/8</a:t>
            </a:r>
            <a:r>
              <a:rPr lang="ru-RU" dirty="0">
                <a:latin typeface="Verdana" charset="0"/>
              </a:rPr>
              <a:t>"</a:t>
            </a:r>
            <a:r>
              <a:rPr lang="en-US" dirty="0">
                <a:latin typeface="Verdana" charset="0"/>
              </a:rPr>
              <a:t> (120.3 × 93 cm).</a:t>
            </a:r>
            <a:br>
              <a:rPr lang="en-US" dirty="0">
                <a:latin typeface="Verdana" charset="0"/>
              </a:rPr>
            </a:br>
            <a:r>
              <a:rPr lang="en-US" dirty="0">
                <a:latin typeface="Verdana" charset="0"/>
              </a:rPr>
              <a:t>Galleria </a:t>
            </a:r>
            <a:r>
              <a:rPr lang="en-US" dirty="0" err="1">
                <a:latin typeface="Verdana" charset="0"/>
              </a:rPr>
              <a:t>degli</a:t>
            </a:r>
            <a:r>
              <a:rPr lang="en-US" dirty="0">
                <a:latin typeface="Verdana" charset="0"/>
              </a:rPr>
              <a:t> Uffizi, Florence. </a:t>
            </a:r>
            <a:r>
              <a:rPr lang="en-US" dirty="0" err="1">
                <a:latin typeface="Verdana" charset="0"/>
              </a:rPr>
              <a:t>Canali</a:t>
            </a:r>
            <a:r>
              <a:rPr lang="en-US" dirty="0">
                <a:latin typeface="Verdana" charset="0"/>
              </a:rPr>
              <a:t> Photobank, Milan, Italy. </a:t>
            </a:r>
            <a:endParaRPr lang="en-US" dirty="0"/>
          </a:p>
        </p:txBody>
      </p:sp>
      <p:sp>
        <p:nvSpPr>
          <p:cNvPr id="151555" name="Slide Number Placeholder 3"/>
          <p:cNvSpPr>
            <a:spLocks noGrp="1"/>
          </p:cNvSpPr>
          <p:nvPr>
            <p:ph type="sldNum" sz="quarter" idx="5"/>
          </p:nvPr>
        </p:nvSpPr>
        <p:spPr bwMode="auto">
          <a:noFill/>
          <a:ln>
            <a:miter lim="800000"/>
            <a:headEnd/>
            <a:tailEnd/>
          </a:ln>
        </p:spPr>
        <p:txBody>
          <a:bodyPr/>
          <a:lstStyle/>
          <a:p>
            <a:fld id="{1CBB2174-8155-3B45-9C9A-42A05B014498}" type="slidenum">
              <a:rPr lang="en-US"/>
              <a:pPr/>
              <a:t>38</a:t>
            </a:fld>
            <a:endParaRPr lang="en-US"/>
          </a:p>
        </p:txBody>
      </p:sp>
    </p:spTree>
    <p:extLst>
      <p:ext uri="{BB962C8B-B14F-4D97-AF65-F5344CB8AC3E}">
        <p14:creationId xmlns:p14="http://schemas.microsoft.com/office/powerpoint/2010/main" val="1754558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Slide Image Placeholder 1"/>
          <p:cNvSpPr>
            <a:spLocks noGrp="1" noRot="1" noChangeAspect="1" noTextEdit="1"/>
          </p:cNvSpPr>
          <p:nvPr>
            <p:ph type="sldImg"/>
          </p:nvPr>
        </p:nvSpPr>
        <p:spPr bwMode="auto">
          <a:noFill/>
          <a:ln>
            <a:solidFill>
              <a:srgbClr val="000000"/>
            </a:solidFill>
            <a:miter lim="800000"/>
            <a:headEnd/>
            <a:tailEnd/>
          </a:ln>
        </p:spPr>
      </p:sp>
      <p:sp>
        <p:nvSpPr>
          <p:cNvPr id="154626" name="Notes Placeholder 2"/>
          <p:cNvSpPr>
            <a:spLocks noGrp="1"/>
          </p:cNvSpPr>
          <p:nvPr>
            <p:ph type="body" idx="1"/>
          </p:nvPr>
        </p:nvSpPr>
        <p:spPr bwMode="auto">
          <a:noFill/>
        </p:spPr>
        <p:txBody>
          <a:bodyPr/>
          <a:lstStyle/>
          <a:p>
            <a:pPr>
              <a:spcBef>
                <a:spcPct val="0"/>
              </a:spcBef>
            </a:pPr>
            <a:r>
              <a:rPr lang="en-US" dirty="0"/>
              <a:t>Benvenuto Cellini SALTCELLAR OF KING FRANCIS I OF FRANCE</a:t>
            </a:r>
            <a:br>
              <a:rPr lang="en-US" dirty="0"/>
            </a:br>
            <a:r>
              <a:rPr lang="en-US" dirty="0"/>
              <a:t>1540–1543. Gold and enamel, 10-1/2</a:t>
            </a:r>
            <a:r>
              <a:rPr lang="ru-RU" dirty="0"/>
              <a:t>"</a:t>
            </a:r>
            <a:r>
              <a:rPr lang="en-US" dirty="0"/>
              <a:t> × 13-1/8</a:t>
            </a:r>
            <a:r>
              <a:rPr lang="ru-RU" dirty="0"/>
              <a:t>"</a:t>
            </a:r>
            <a:r>
              <a:rPr lang="en-US" dirty="0"/>
              <a:t> (26.67 × 33.34 cm).</a:t>
            </a:r>
            <a:br>
              <a:rPr lang="en-US" dirty="0"/>
            </a:br>
            <a:r>
              <a:rPr lang="en-US" dirty="0" err="1"/>
              <a:t>Kunsthistorisches</a:t>
            </a:r>
            <a:r>
              <a:rPr lang="en-US" dirty="0"/>
              <a:t> Museum, Vienna. © KHM-</a:t>
            </a:r>
            <a:r>
              <a:rPr lang="en-US" dirty="0" err="1"/>
              <a:t>Museumsverband</a:t>
            </a:r>
            <a:r>
              <a:rPr lang="en-US" dirty="0"/>
              <a:t>.</a:t>
            </a:r>
          </a:p>
        </p:txBody>
      </p:sp>
      <p:sp>
        <p:nvSpPr>
          <p:cNvPr id="154627" name="Slide Number Placeholder 3"/>
          <p:cNvSpPr>
            <a:spLocks noGrp="1"/>
          </p:cNvSpPr>
          <p:nvPr>
            <p:ph type="sldNum" sz="quarter" idx="5"/>
          </p:nvPr>
        </p:nvSpPr>
        <p:spPr bwMode="auto">
          <a:noFill/>
          <a:ln>
            <a:miter lim="800000"/>
            <a:headEnd/>
            <a:tailEnd/>
          </a:ln>
        </p:spPr>
        <p:txBody>
          <a:bodyPr/>
          <a:lstStyle/>
          <a:p>
            <a:fld id="{7CC77876-8191-6743-9D85-DB08C066FAFC}" type="slidenum">
              <a:rPr lang="en-US"/>
              <a:pPr/>
              <a:t>40</a:t>
            </a:fld>
            <a:endParaRPr lang="en-US"/>
          </a:p>
        </p:txBody>
      </p:sp>
    </p:spTree>
    <p:extLst>
      <p:ext uri="{BB962C8B-B14F-4D97-AF65-F5344CB8AC3E}">
        <p14:creationId xmlns:p14="http://schemas.microsoft.com/office/powerpoint/2010/main" val="1760248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Slide Image Placeholder 1"/>
          <p:cNvSpPr>
            <a:spLocks noGrp="1" noRot="1" noChangeAspect="1" noTextEdit="1"/>
          </p:cNvSpPr>
          <p:nvPr>
            <p:ph type="sldImg"/>
          </p:nvPr>
        </p:nvSpPr>
        <p:spPr bwMode="auto">
          <a:noFill/>
          <a:ln>
            <a:solidFill>
              <a:srgbClr val="000000"/>
            </a:solidFill>
            <a:miter lim="800000"/>
            <a:headEnd/>
            <a:tailEnd/>
          </a:ln>
        </p:spPr>
      </p:sp>
      <p:sp>
        <p:nvSpPr>
          <p:cNvPr id="157698" name="Notes Placeholder 2"/>
          <p:cNvSpPr>
            <a:spLocks noGrp="1"/>
          </p:cNvSpPr>
          <p:nvPr>
            <p:ph type="body" idx="1"/>
          </p:nvPr>
        </p:nvSpPr>
        <p:spPr bwMode="auto">
          <a:noFill/>
        </p:spPr>
        <p:txBody>
          <a:bodyPr/>
          <a:lstStyle/>
          <a:p>
            <a:pPr>
              <a:spcBef>
                <a:spcPct val="0"/>
              </a:spcBef>
            </a:pPr>
            <a:r>
              <a:rPr lang="en-US" dirty="0" err="1"/>
              <a:t>Giambologna</a:t>
            </a:r>
            <a:r>
              <a:rPr lang="en-US" dirty="0"/>
              <a:t> THE CAPTURE OF A SABINE WOMAN</a:t>
            </a:r>
            <a:br>
              <a:rPr lang="en-US" dirty="0"/>
            </a:br>
            <a:r>
              <a:rPr lang="en-US" dirty="0"/>
              <a:t>1581–1582. Marble, height 13</a:t>
            </a:r>
            <a:r>
              <a:rPr lang="uk-UA" dirty="0"/>
              <a:t>'</a:t>
            </a:r>
            <a:r>
              <a:rPr lang="en-US" dirty="0"/>
              <a:t>6</a:t>
            </a:r>
            <a:r>
              <a:rPr lang="ru-RU" dirty="0"/>
              <a:t>"</a:t>
            </a:r>
            <a:r>
              <a:rPr lang="en-US" dirty="0"/>
              <a:t> (4.1 m).</a:t>
            </a:r>
            <a:br>
              <a:rPr lang="en-US" dirty="0"/>
            </a:br>
            <a:r>
              <a:rPr lang="en-US" dirty="0"/>
              <a:t>Loggia </a:t>
            </a:r>
            <a:r>
              <a:rPr lang="en-US" dirty="0" err="1"/>
              <a:t>dei</a:t>
            </a:r>
            <a:r>
              <a:rPr lang="en-US" dirty="0"/>
              <a:t> </a:t>
            </a:r>
            <a:r>
              <a:rPr lang="en-US" dirty="0" err="1"/>
              <a:t>Lanzi</a:t>
            </a:r>
            <a:r>
              <a:rPr lang="en-US" dirty="0"/>
              <a:t>, Florence. © Studio </a:t>
            </a:r>
            <a:r>
              <a:rPr lang="en-US" dirty="0" err="1"/>
              <a:t>Fotografico</a:t>
            </a:r>
            <a:r>
              <a:rPr lang="en-US" dirty="0"/>
              <a:t> </a:t>
            </a:r>
            <a:r>
              <a:rPr lang="en-US" dirty="0" err="1"/>
              <a:t>Quattrone</a:t>
            </a:r>
            <a:r>
              <a:rPr lang="en-US" dirty="0"/>
              <a:t>, Florence. </a:t>
            </a:r>
          </a:p>
        </p:txBody>
      </p:sp>
      <p:sp>
        <p:nvSpPr>
          <p:cNvPr id="157699" name="Slide Number Placeholder 3"/>
          <p:cNvSpPr>
            <a:spLocks noGrp="1"/>
          </p:cNvSpPr>
          <p:nvPr>
            <p:ph type="sldNum" sz="quarter" idx="5"/>
          </p:nvPr>
        </p:nvSpPr>
        <p:spPr bwMode="auto">
          <a:noFill/>
          <a:ln>
            <a:miter lim="800000"/>
            <a:headEnd/>
            <a:tailEnd/>
          </a:ln>
        </p:spPr>
        <p:txBody>
          <a:bodyPr/>
          <a:lstStyle/>
          <a:p>
            <a:fld id="{B606BFC2-82F2-3043-B9F7-29D98A103161}" type="slidenum">
              <a:rPr lang="en-US"/>
              <a:pPr/>
              <a:t>42</a:t>
            </a:fld>
            <a:endParaRPr lang="en-US"/>
          </a:p>
        </p:txBody>
      </p:sp>
    </p:spTree>
    <p:extLst>
      <p:ext uri="{BB962C8B-B14F-4D97-AF65-F5344CB8AC3E}">
        <p14:creationId xmlns:p14="http://schemas.microsoft.com/office/powerpoint/2010/main" val="7573477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Slide Image Placeholder 1"/>
          <p:cNvSpPr>
            <a:spLocks noGrp="1" noRot="1" noChangeAspect="1" noTextEdit="1"/>
          </p:cNvSpPr>
          <p:nvPr>
            <p:ph type="sldImg"/>
          </p:nvPr>
        </p:nvSpPr>
        <p:spPr bwMode="auto">
          <a:noFill/>
          <a:ln>
            <a:solidFill>
              <a:srgbClr val="000000"/>
            </a:solidFill>
            <a:miter lim="800000"/>
            <a:headEnd/>
            <a:tailEnd/>
          </a:ln>
        </p:spPr>
      </p:sp>
      <p:sp>
        <p:nvSpPr>
          <p:cNvPr id="163842" name="Notes Placeholder 2"/>
          <p:cNvSpPr>
            <a:spLocks noGrp="1"/>
          </p:cNvSpPr>
          <p:nvPr>
            <p:ph type="body" idx="1"/>
          </p:nvPr>
        </p:nvSpPr>
        <p:spPr bwMode="auto">
          <a:noFill/>
        </p:spPr>
        <p:txBody>
          <a:bodyPr/>
          <a:lstStyle/>
          <a:p>
            <a:pPr>
              <a:spcBef>
                <a:spcPct val="0"/>
              </a:spcBef>
            </a:pPr>
            <a:r>
              <a:rPr lang="en-US" dirty="0"/>
              <a:t>Michelangelo LAST JUDGMENT, SISTINE CHAPEL</a:t>
            </a:r>
            <a:br>
              <a:rPr lang="en-US" dirty="0"/>
            </a:br>
            <a:r>
              <a:rPr lang="en-US" dirty="0"/>
              <a:t>1536–1541. Fresco, 48 × 44</a:t>
            </a:r>
            <a:r>
              <a:rPr lang="uk-UA" dirty="0"/>
              <a:t>'</a:t>
            </a:r>
            <a:r>
              <a:rPr lang="en-US" dirty="0"/>
              <a:t> (14.6 × 13.4 m). </a:t>
            </a:r>
            <a:br>
              <a:rPr lang="en-US" dirty="0"/>
            </a:br>
            <a:r>
              <a:rPr lang="en-US" dirty="0"/>
              <a:t>Photo: Vatican Museums/IKONA.</a:t>
            </a:r>
          </a:p>
        </p:txBody>
      </p:sp>
      <p:sp>
        <p:nvSpPr>
          <p:cNvPr id="163843" name="Slide Number Placeholder 3"/>
          <p:cNvSpPr>
            <a:spLocks noGrp="1"/>
          </p:cNvSpPr>
          <p:nvPr>
            <p:ph type="sldNum" sz="quarter" idx="5"/>
          </p:nvPr>
        </p:nvSpPr>
        <p:spPr bwMode="auto">
          <a:noFill/>
          <a:ln>
            <a:miter lim="800000"/>
            <a:headEnd/>
            <a:tailEnd/>
          </a:ln>
        </p:spPr>
        <p:txBody>
          <a:bodyPr/>
          <a:lstStyle/>
          <a:p>
            <a:fld id="{666AF831-8988-4549-85EB-B216C663DAE5}" type="slidenum">
              <a:rPr lang="en-US"/>
              <a:pPr/>
              <a:t>45</a:t>
            </a:fld>
            <a:endParaRPr lang="en-US"/>
          </a:p>
        </p:txBody>
      </p:sp>
    </p:spTree>
    <p:extLst>
      <p:ext uri="{BB962C8B-B14F-4D97-AF65-F5344CB8AC3E}">
        <p14:creationId xmlns:p14="http://schemas.microsoft.com/office/powerpoint/2010/main" val="21363344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Slide Image Placeholder 1"/>
          <p:cNvSpPr>
            <a:spLocks noGrp="1" noRot="1" noChangeAspect="1" noTextEdit="1"/>
          </p:cNvSpPr>
          <p:nvPr>
            <p:ph type="sldImg"/>
          </p:nvPr>
        </p:nvSpPr>
        <p:spPr bwMode="auto">
          <a:noFill/>
          <a:ln>
            <a:solidFill>
              <a:srgbClr val="000000"/>
            </a:solidFill>
            <a:miter lim="800000"/>
            <a:headEnd/>
            <a:tailEnd/>
          </a:ln>
        </p:spPr>
      </p:sp>
      <p:sp>
        <p:nvSpPr>
          <p:cNvPr id="166914" name="Notes Placeholder 2"/>
          <p:cNvSpPr>
            <a:spLocks noGrp="1"/>
          </p:cNvSpPr>
          <p:nvPr>
            <p:ph type="body" idx="1"/>
          </p:nvPr>
        </p:nvSpPr>
        <p:spPr bwMode="auto">
          <a:noFill/>
        </p:spPr>
        <p:txBody>
          <a:bodyPr/>
          <a:lstStyle/>
          <a:p>
            <a:pPr>
              <a:spcBef>
                <a:spcPct val="0"/>
              </a:spcBef>
            </a:pPr>
            <a:r>
              <a:rPr lang="en-US" dirty="0"/>
              <a:t>Michelangelo ST. PETER</a:t>
            </a:r>
            <a:r>
              <a:rPr lang="uk-UA" dirty="0"/>
              <a:t>'</a:t>
            </a:r>
            <a:r>
              <a:rPr lang="en-US" dirty="0"/>
              <a:t>S BASILICA, VATICAN</a:t>
            </a:r>
            <a:br>
              <a:rPr lang="en-US" dirty="0"/>
            </a:br>
            <a:r>
              <a:rPr lang="en-US" dirty="0"/>
              <a:t>c. 1546–1564; dome completed 1590 by Giacomo </a:t>
            </a:r>
            <a:r>
              <a:rPr lang="en-US" dirty="0" err="1"/>
              <a:t>della</a:t>
            </a:r>
            <a:r>
              <a:rPr lang="en-US" dirty="0"/>
              <a:t> Porta; lantern 1590–1593.</a:t>
            </a:r>
            <a:br>
              <a:rPr lang="en-US" dirty="0"/>
            </a:br>
            <a:r>
              <a:rPr lang="en-US" dirty="0"/>
              <a:t>View from the west. © James Morris, Ceredigion.</a:t>
            </a:r>
          </a:p>
        </p:txBody>
      </p:sp>
      <p:sp>
        <p:nvSpPr>
          <p:cNvPr id="166915" name="Slide Number Placeholder 3"/>
          <p:cNvSpPr>
            <a:spLocks noGrp="1"/>
          </p:cNvSpPr>
          <p:nvPr>
            <p:ph type="sldNum" sz="quarter" idx="5"/>
          </p:nvPr>
        </p:nvSpPr>
        <p:spPr bwMode="auto">
          <a:noFill/>
          <a:ln>
            <a:miter lim="800000"/>
            <a:headEnd/>
            <a:tailEnd/>
          </a:ln>
        </p:spPr>
        <p:txBody>
          <a:bodyPr/>
          <a:lstStyle/>
          <a:p>
            <a:fld id="{54082915-2774-FB4F-8573-F262FD814D0B}" type="slidenum">
              <a:rPr lang="en-US"/>
              <a:pPr/>
              <a:t>47</a:t>
            </a:fld>
            <a:endParaRPr lang="en-US"/>
          </a:p>
        </p:txBody>
      </p:sp>
    </p:spTree>
    <p:extLst>
      <p:ext uri="{BB962C8B-B14F-4D97-AF65-F5344CB8AC3E}">
        <p14:creationId xmlns:p14="http://schemas.microsoft.com/office/powerpoint/2010/main" val="15936876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Slide Image Placeholder 1"/>
          <p:cNvSpPr>
            <a:spLocks noGrp="1" noRot="1" noChangeAspect="1" noTextEdit="1"/>
          </p:cNvSpPr>
          <p:nvPr>
            <p:ph type="sldImg"/>
          </p:nvPr>
        </p:nvSpPr>
        <p:spPr bwMode="auto">
          <a:noFill/>
          <a:ln>
            <a:solidFill>
              <a:srgbClr val="000000"/>
            </a:solidFill>
            <a:miter lim="800000"/>
            <a:headEnd/>
            <a:tailEnd/>
          </a:ln>
        </p:spPr>
      </p:sp>
      <p:sp>
        <p:nvSpPr>
          <p:cNvPr id="169986" name="Notes Placeholder 2"/>
          <p:cNvSpPr>
            <a:spLocks noGrp="1"/>
          </p:cNvSpPr>
          <p:nvPr>
            <p:ph type="body" idx="1"/>
          </p:nvPr>
        </p:nvSpPr>
        <p:spPr bwMode="auto">
          <a:noFill/>
        </p:spPr>
        <p:txBody>
          <a:bodyPr/>
          <a:lstStyle/>
          <a:p>
            <a:pPr>
              <a:spcBef>
                <a:spcPct val="0"/>
              </a:spcBef>
            </a:pPr>
            <a:r>
              <a:rPr lang="en-US" dirty="0">
                <a:solidFill>
                  <a:schemeClr val="bg1"/>
                </a:solidFill>
                <a:latin typeface="Verdana" charset="0"/>
              </a:rPr>
              <a:t>ART AND ITS CONTEXTS: St. Peter</a:t>
            </a:r>
            <a:r>
              <a:rPr lang="uk-UA" dirty="0">
                <a:solidFill>
                  <a:schemeClr val="bg1"/>
                </a:solidFill>
                <a:latin typeface="Verdana" charset="0"/>
              </a:rPr>
              <a:t>'</a:t>
            </a:r>
            <a:r>
              <a:rPr lang="en-US">
                <a:solidFill>
                  <a:schemeClr val="bg1"/>
                </a:solidFill>
                <a:latin typeface="Verdana" charset="0"/>
              </a:rPr>
              <a:t>s Basilica</a:t>
            </a:r>
            <a:endParaRPr lang="en-US"/>
          </a:p>
        </p:txBody>
      </p:sp>
      <p:sp>
        <p:nvSpPr>
          <p:cNvPr id="169987" name="Slide Number Placeholder 3"/>
          <p:cNvSpPr>
            <a:spLocks noGrp="1"/>
          </p:cNvSpPr>
          <p:nvPr>
            <p:ph type="sldNum" sz="quarter" idx="5"/>
          </p:nvPr>
        </p:nvSpPr>
        <p:spPr bwMode="auto">
          <a:noFill/>
          <a:ln>
            <a:miter lim="800000"/>
            <a:headEnd/>
            <a:tailEnd/>
          </a:ln>
        </p:spPr>
        <p:txBody>
          <a:bodyPr/>
          <a:lstStyle/>
          <a:p>
            <a:fld id="{7784AC47-B254-AA44-BFD9-A98BD5D6BC73}" type="slidenum">
              <a:rPr lang="en-US"/>
              <a:pPr/>
              <a:t>49</a:t>
            </a:fld>
            <a:endParaRPr lang="en-US"/>
          </a:p>
        </p:txBody>
      </p:sp>
    </p:spTree>
    <p:extLst>
      <p:ext uri="{BB962C8B-B14F-4D97-AF65-F5344CB8AC3E}">
        <p14:creationId xmlns:p14="http://schemas.microsoft.com/office/powerpoint/2010/main" val="16918511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Slide Image Placeholder 1"/>
          <p:cNvSpPr>
            <a:spLocks noGrp="1" noRot="1" noChangeAspect="1" noTextEdit="1"/>
          </p:cNvSpPr>
          <p:nvPr>
            <p:ph type="sldImg"/>
          </p:nvPr>
        </p:nvSpPr>
        <p:spPr bwMode="auto">
          <a:noFill/>
          <a:ln>
            <a:solidFill>
              <a:srgbClr val="000000"/>
            </a:solidFill>
            <a:miter lim="800000"/>
            <a:headEnd/>
            <a:tailEnd/>
          </a:ln>
        </p:spPr>
      </p:sp>
      <p:sp>
        <p:nvSpPr>
          <p:cNvPr id="173058" name="Notes Placeholder 2"/>
          <p:cNvSpPr>
            <a:spLocks noGrp="1"/>
          </p:cNvSpPr>
          <p:nvPr>
            <p:ph type="body" idx="1"/>
          </p:nvPr>
        </p:nvSpPr>
        <p:spPr bwMode="auto">
          <a:noFill/>
        </p:spPr>
        <p:txBody>
          <a:bodyPr/>
          <a:lstStyle/>
          <a:p>
            <a:pPr>
              <a:spcBef>
                <a:spcPct val="0"/>
              </a:spcBef>
            </a:pPr>
            <a:r>
              <a:rPr lang="en-US" dirty="0"/>
              <a:t>Vignola and Giacomo </a:t>
            </a:r>
            <a:r>
              <a:rPr lang="en-US" dirty="0" err="1"/>
              <a:t>della</a:t>
            </a:r>
            <a:r>
              <a:rPr lang="en-US" dirty="0"/>
              <a:t> Porta FAÇADE OF THE CHURCH OF IL GESÙ, ROME</a:t>
            </a:r>
            <a:br>
              <a:rPr lang="en-US" dirty="0"/>
            </a:br>
            <a:r>
              <a:rPr lang="en-US" dirty="0"/>
              <a:t>c. 1568–1584.</a:t>
            </a:r>
            <a:br>
              <a:rPr lang="en-US" dirty="0"/>
            </a:br>
            <a:r>
              <a:rPr lang="en-US" dirty="0"/>
              <a:t>© 2016. Photo Scala, Florence.</a:t>
            </a:r>
          </a:p>
        </p:txBody>
      </p:sp>
      <p:sp>
        <p:nvSpPr>
          <p:cNvPr id="173059" name="Slide Number Placeholder 3"/>
          <p:cNvSpPr>
            <a:spLocks noGrp="1"/>
          </p:cNvSpPr>
          <p:nvPr>
            <p:ph type="sldNum" sz="quarter" idx="5"/>
          </p:nvPr>
        </p:nvSpPr>
        <p:spPr bwMode="auto">
          <a:noFill/>
          <a:ln>
            <a:miter lim="800000"/>
            <a:headEnd/>
            <a:tailEnd/>
          </a:ln>
        </p:spPr>
        <p:txBody>
          <a:bodyPr/>
          <a:lstStyle/>
          <a:p>
            <a:fld id="{928FE2B5-C32C-CC4D-ADCA-D2513E54EB04}" type="slidenum">
              <a:rPr lang="en-US"/>
              <a:pPr/>
              <a:t>51</a:t>
            </a:fld>
            <a:endParaRPr lang="en-US"/>
          </a:p>
        </p:txBody>
      </p:sp>
    </p:spTree>
    <p:extLst>
      <p:ext uri="{BB962C8B-B14F-4D97-AF65-F5344CB8AC3E}">
        <p14:creationId xmlns:p14="http://schemas.microsoft.com/office/powerpoint/2010/main" val="1118795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Slide Image Placeholder 1"/>
          <p:cNvSpPr>
            <a:spLocks noGrp="1" noRot="1" noChangeAspect="1" noTextEdit="1"/>
          </p:cNvSpPr>
          <p:nvPr>
            <p:ph type="sldImg"/>
          </p:nvPr>
        </p:nvSpPr>
        <p:spPr bwMode="auto">
          <a:noFill/>
          <a:ln>
            <a:solidFill>
              <a:srgbClr val="000000"/>
            </a:solidFill>
            <a:miter lim="800000"/>
            <a:headEnd/>
            <a:tailEnd/>
          </a:ln>
        </p:spPr>
      </p:sp>
      <p:sp>
        <p:nvSpPr>
          <p:cNvPr id="175106" name="Notes Placeholder 2"/>
          <p:cNvSpPr>
            <a:spLocks noGrp="1"/>
          </p:cNvSpPr>
          <p:nvPr>
            <p:ph type="body" idx="1"/>
          </p:nvPr>
        </p:nvSpPr>
        <p:spPr bwMode="auto">
          <a:noFill/>
        </p:spPr>
        <p:txBody>
          <a:bodyPr/>
          <a:lstStyle/>
          <a:p>
            <a:pPr>
              <a:spcBef>
                <a:spcPct val="0"/>
              </a:spcBef>
            </a:pPr>
            <a:r>
              <a:rPr lang="en-US" dirty="0"/>
              <a:t>Vignola and Giacomo </a:t>
            </a:r>
            <a:r>
              <a:rPr lang="en-US" dirty="0" err="1"/>
              <a:t>della</a:t>
            </a:r>
            <a:r>
              <a:rPr lang="en-US" dirty="0"/>
              <a:t> Porta PLAN OF THE CHURCH OF IL GESÙ, ROME</a:t>
            </a:r>
            <a:br>
              <a:rPr lang="en-US" dirty="0"/>
            </a:br>
            <a:r>
              <a:rPr lang="en-US" dirty="0"/>
              <a:t>c. 1568–1584</a:t>
            </a:r>
            <a:r>
              <a:rPr lang="en-US"/>
              <a:t>. </a:t>
            </a:r>
            <a:endParaRPr lang="en-US" dirty="0"/>
          </a:p>
        </p:txBody>
      </p:sp>
      <p:sp>
        <p:nvSpPr>
          <p:cNvPr id="175107" name="Slide Number Placeholder 3"/>
          <p:cNvSpPr>
            <a:spLocks noGrp="1"/>
          </p:cNvSpPr>
          <p:nvPr>
            <p:ph type="sldNum" sz="quarter" idx="5"/>
          </p:nvPr>
        </p:nvSpPr>
        <p:spPr bwMode="auto">
          <a:noFill/>
          <a:ln>
            <a:miter lim="800000"/>
            <a:headEnd/>
            <a:tailEnd/>
          </a:ln>
        </p:spPr>
        <p:txBody>
          <a:bodyPr/>
          <a:lstStyle/>
          <a:p>
            <a:fld id="{6B79776D-DAEF-4144-8804-B07DA47C6891}" type="slidenum">
              <a:rPr lang="en-US"/>
              <a:pPr/>
              <a:t>52</a:t>
            </a:fld>
            <a:endParaRPr lang="en-US"/>
          </a:p>
        </p:txBody>
      </p:sp>
    </p:spTree>
    <p:extLst>
      <p:ext uri="{BB962C8B-B14F-4D97-AF65-F5344CB8AC3E}">
        <p14:creationId xmlns:p14="http://schemas.microsoft.com/office/powerpoint/2010/main" val="1311590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457200" y="215372"/>
            <a:ext cx="8229600" cy="622828"/>
          </a:xfrm>
        </p:spPr>
        <p:txBody>
          <a:bodyPr anchor="t"/>
          <a:lstStyle/>
          <a:p>
            <a:r>
              <a:rPr lang="en-US" dirty="0"/>
              <a:t>Art History</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Sixth Edition</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62000" y="1739785"/>
            <a:ext cx="3217287" cy="411623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000">
                <a:latin typeface="Arial" charset="0"/>
                <a:ea typeface="Arial" charset="0"/>
                <a:cs typeface="Arial" charset="0"/>
              </a:defRPr>
            </a:lvl1pPr>
            <a:lvl2pPr>
              <a:buClr>
                <a:srgbClr val="007FA3"/>
              </a:buClr>
              <a:defRPr sz="2000">
                <a:latin typeface="Arial" charset="0"/>
                <a:ea typeface="Arial" charset="0"/>
                <a:cs typeface="Arial" charset="0"/>
              </a:defRPr>
            </a:lvl2pPr>
            <a:lvl3pPr>
              <a:buClr>
                <a:srgbClr val="007FA3"/>
              </a:buClr>
              <a:defRPr sz="2000">
                <a:latin typeface="Arial" charset="0"/>
                <a:ea typeface="Arial" charset="0"/>
                <a:cs typeface="Arial" charset="0"/>
              </a:defRPr>
            </a:lvl3pPr>
            <a:lvl4pPr>
              <a:buClr>
                <a:srgbClr val="007FA3"/>
              </a:buClr>
              <a:defRPr sz="2000">
                <a:latin typeface="Arial" charset="0"/>
                <a:ea typeface="Arial" charset="0"/>
                <a:cs typeface="Arial" charset="0"/>
              </a:defRPr>
            </a:lvl4pPr>
            <a:lvl5pPr>
              <a:buClr>
                <a:srgbClr val="007FA3"/>
              </a:buClr>
              <a:defRPr sz="2000">
                <a:latin typeface="Arial" charset="0"/>
                <a:ea typeface="Arial" charset="0"/>
                <a:cs typeface="Arial" charset="0"/>
              </a:defRPr>
            </a:lvl5pPr>
            <a:lvl6pPr>
              <a:buClr>
                <a:srgbClr val="007FA3"/>
              </a:buClr>
              <a:defRPr sz="2000">
                <a:latin typeface="Arial" charset="0"/>
                <a:ea typeface="Arial" charset="0"/>
                <a:cs typeface="Arial" charset="0"/>
              </a:defRPr>
            </a:lvl6pPr>
            <a:lvl7pPr>
              <a:buClr>
                <a:srgbClr val="007FA3"/>
              </a:buClr>
              <a:defRPr sz="2000">
                <a:latin typeface="Arial" charset="0"/>
                <a:ea typeface="Arial" charset="0"/>
                <a:cs typeface="Arial" charset="0"/>
              </a:defRPr>
            </a:lvl7pPr>
            <a:lvl8pPr>
              <a:buClr>
                <a:srgbClr val="007FA3"/>
              </a:buClr>
              <a:defRPr sz="2000">
                <a:latin typeface="Arial" charset="0"/>
                <a:ea typeface="Arial" charset="0"/>
                <a:cs typeface="Arial" charset="0"/>
              </a:defRPr>
            </a:lvl8pPr>
            <a:lvl9pPr>
              <a:buClr>
                <a:srgbClr val="007FA3"/>
              </a:buClr>
              <a:defRPr sz="2000">
                <a:latin typeface="Arial" charset="0"/>
                <a:ea typeface="Arial" charset="0"/>
                <a:cs typeface="Arial"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6/19/2020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marL="0" indent="0">
              <a:buClr>
                <a:srgbClr val="007FA3"/>
              </a:buClr>
              <a:buSzPct val="100000"/>
              <a:buFontTx/>
              <a:buNone/>
              <a:tabLst/>
              <a:defRPr sz="2000"/>
            </a:lvl1pPr>
            <a:lvl2pPr marL="569913" indent="-285750">
              <a:buClr>
                <a:srgbClr val="007FA3"/>
              </a:buClr>
              <a:defRPr sz="20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9" name="TextBox 8"/>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10" name="TextBox 9"/>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7_Title and Content">
    <p:spTree>
      <p:nvGrpSpPr>
        <p:cNvPr id="1" name=""/>
        <p:cNvGrpSpPr/>
        <p:nvPr/>
      </p:nvGrpSpPr>
      <p:grpSpPr>
        <a:xfrm>
          <a:off x="0" y="0"/>
          <a:ext cx="0" cy="0"/>
          <a:chOff x="0" y="0"/>
          <a:chExt cx="0" cy="0"/>
        </a:xfrm>
      </p:grpSpPr>
      <p:cxnSp>
        <p:nvCxnSpPr>
          <p:cNvPr id="4" name="Straight Connector 10"/>
          <p:cNvCxnSpPr>
            <a:cxnSpLocks noChangeShapeType="1"/>
          </p:cNvCxnSpPr>
          <p:nvPr userDrawn="1"/>
        </p:nvCxnSpPr>
        <p:spPr bwMode="auto">
          <a:xfrm>
            <a:off x="0" y="1371600"/>
            <a:ext cx="9144000" cy="0"/>
          </a:xfrm>
          <a:prstGeom prst="line">
            <a:avLst/>
          </a:prstGeom>
          <a:noFill/>
          <a:ln w="12700">
            <a:solidFill>
              <a:srgbClr val="008B5D"/>
            </a:solidFill>
            <a:round/>
            <a:headEnd/>
            <a:tailEnd/>
          </a:ln>
        </p:spPr>
      </p:cxnSp>
      <p:sp>
        <p:nvSpPr>
          <p:cNvPr id="2" name="Title 1"/>
          <p:cNvSpPr>
            <a:spLocks noGrp="1"/>
          </p:cNvSpPr>
          <p:nvPr>
            <p:ph type="title"/>
          </p:nvPr>
        </p:nvSpPr>
        <p:spPr>
          <a:noFill/>
          <a:ln>
            <a:noFill/>
          </a:ln>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advTm="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
        <p:nvSpPr>
          <p:cNvPr id="3" name="TextBox 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018901491"/>
      </p:ext>
    </p:extLst>
  </p:cSld>
  <p:clrMapOvr>
    <a:overrideClrMapping bg1="dk1" tx1="lt1" bg2="dk2" tx2="lt2" accent1="accent1" accent2="accent2" accent3="accent3" accent4="accent4" accent5="accent5" accent6="accent6" hlink="hlink" folHlink="folHlink"/>
  </p:clrMapOvr>
  <p:transition spd="slow" advT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dirty="0"/>
              <a:t>Click to edit Master title style</a:t>
            </a:r>
          </a:p>
        </p:txBody>
      </p:sp>
    </p:spTree>
    <p:extLst>
      <p:ext uri="{BB962C8B-B14F-4D97-AF65-F5344CB8AC3E}">
        <p14:creationId xmlns:p14="http://schemas.microsoft.com/office/powerpoint/2010/main" val="249327367"/>
      </p:ext>
    </p:extLst>
  </p:cSld>
  <p:clrMapOvr>
    <a:overrideClrMapping bg1="dk1" tx1="lt1" bg2="dk2" tx2="lt2" accent1="accent1" accent2="accent2" accent3="accent3" accent4="accent4" accent5="accent5" accent6="accent6" hlink="hlink" folHlink="folHlink"/>
  </p:clrMapOvr>
  <p:transition spd="slow" advT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3400" b="1" kern="1200">
          <a:solidFill>
            <a:srgbClr val="007FA3"/>
          </a:solidFill>
          <a:latin typeface="Arial" charset="0"/>
          <a:ea typeface="Arial" charset="0"/>
          <a:cs typeface="Arial"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D5F16-63E2-5A45-A9B7-E9956C8974A2}" type="datetimeFigureOut">
              <a:rPr lang="en-US"/>
              <a:pPr/>
              <a:t>6/19/2020</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33623-5977-3140-A7F1-DF5A0A44B763}" type="slidenum">
              <a:rPr/>
              <a:pPr/>
              <a:t>‹#›</a:t>
            </a:fld>
            <a:endParaRPr lang="en-US"/>
          </a:p>
        </p:txBody>
      </p:sp>
    </p:spTree>
    <p:extLst>
      <p:ext uri="{BB962C8B-B14F-4D97-AF65-F5344CB8AC3E}">
        <p14:creationId xmlns:p14="http://schemas.microsoft.com/office/powerpoint/2010/main" val="1022270744"/>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CCEEB-92FB-DA4B-B4C9-8B9EE268C786}"/>
              </a:ext>
            </a:extLst>
          </p:cNvPr>
          <p:cNvSpPr>
            <a:spLocks noGrp="1"/>
          </p:cNvSpPr>
          <p:nvPr>
            <p:ph type="ctrTitle"/>
          </p:nvPr>
        </p:nvSpPr>
        <p:spPr/>
        <p:txBody>
          <a:bodyPr/>
          <a:lstStyle/>
          <a:p>
            <a:r>
              <a:rPr lang="en-US" dirty="0"/>
              <a:t>Chapter 17</a:t>
            </a:r>
          </a:p>
        </p:txBody>
      </p:sp>
      <p:sp>
        <p:nvSpPr>
          <p:cNvPr id="3" name="Subtitle 2">
            <a:extLst>
              <a:ext uri="{FF2B5EF4-FFF2-40B4-BE49-F238E27FC236}">
                <a16:creationId xmlns:a16="http://schemas.microsoft.com/office/drawing/2014/main" id="{49962439-316A-3A4F-8648-7B5D1BAF91FE}"/>
              </a:ext>
            </a:extLst>
          </p:cNvPr>
          <p:cNvSpPr>
            <a:spLocks noGrp="1"/>
          </p:cNvSpPr>
          <p:nvPr>
            <p:ph type="subTitle" idx="1"/>
          </p:nvPr>
        </p:nvSpPr>
        <p:spPr/>
        <p:txBody>
          <a:bodyPr/>
          <a:lstStyle/>
          <a:p>
            <a:r>
              <a:rPr lang="en-US" dirty="0"/>
              <a:t>The Late Renaissance and Mannerism in Sixteenth-Century Italy </a:t>
            </a:r>
          </a:p>
        </p:txBody>
      </p:sp>
    </p:spTree>
    <p:extLst>
      <p:ext uri="{BB962C8B-B14F-4D97-AF65-F5344CB8AC3E}">
        <p14:creationId xmlns:p14="http://schemas.microsoft.com/office/powerpoint/2010/main" val="735508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p:txBody>
          <a:bodyPr/>
          <a:lstStyle/>
          <a:p>
            <a:r>
              <a:rPr lang="en-US" dirty="0"/>
              <a:t>Learning Objectives</a:t>
            </a:r>
          </a:p>
        </p:txBody>
      </p:sp>
      <p:sp>
        <p:nvSpPr>
          <p:cNvPr id="9218" name="Content Placeholder 2"/>
          <p:cNvSpPr>
            <a:spLocks noGrp="1"/>
          </p:cNvSpPr>
          <p:nvPr>
            <p:ph idx="1"/>
          </p:nvPr>
        </p:nvSpPr>
        <p:spPr/>
        <p:txBody>
          <a:bodyPr/>
          <a:lstStyle/>
          <a:p>
            <a:pPr marL="457200" lvl="0" indent="-457200" fontAlgn="base">
              <a:buFont typeface="+mj-lt"/>
              <a:buAutoNum type="arabicPeriod"/>
            </a:pPr>
            <a:r>
              <a:rPr lang="en-US" dirty="0"/>
              <a:t>Distinguish Mannerist works of art from earlier styles.</a:t>
            </a:r>
          </a:p>
          <a:p>
            <a:pPr marL="457200" lvl="0" indent="-457200" fontAlgn="base">
              <a:buFont typeface="+mj-lt"/>
              <a:buAutoNum type="arabicPeriod"/>
            </a:pPr>
            <a:r>
              <a:rPr lang="en-US" dirty="0"/>
              <a:t>Locate the origins of mannerism in the aristocratic courts.</a:t>
            </a:r>
          </a:p>
          <a:p>
            <a:pPr marL="457200" lvl="0" indent="-457200" fontAlgn="base">
              <a:buFont typeface="+mj-lt"/>
              <a:buAutoNum type="arabicPeriod"/>
            </a:pPr>
            <a:r>
              <a:rPr lang="en-US" dirty="0"/>
              <a:t>Trace the movements of artists and styles across the Italian peninsula.</a:t>
            </a:r>
          </a:p>
          <a:p>
            <a:pPr marL="457200" lvl="0" indent="-457200" fontAlgn="base">
              <a:buFont typeface="+mj-lt"/>
              <a:buAutoNum type="arabicPeriod"/>
            </a:pPr>
            <a:r>
              <a:rPr lang="en-US" dirty="0"/>
              <a:t>Compare the prevailing styles of Tuscany and Venice in the sixteenth century.</a:t>
            </a:r>
          </a:p>
          <a:p>
            <a:pPr marL="457200" lvl="0" indent="-457200" fontAlgn="base">
              <a:buFont typeface="+mj-lt"/>
              <a:buAutoNum type="arabicPeriod"/>
            </a:pPr>
            <a:r>
              <a:rPr lang="en-US" dirty="0"/>
              <a:t>Discover some of the world’s most influential buildings.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5EF6F-B75D-3847-A97D-4C889DE3D2B7}"/>
              </a:ext>
            </a:extLst>
          </p:cNvPr>
          <p:cNvSpPr>
            <a:spLocks noGrp="1"/>
          </p:cNvSpPr>
          <p:nvPr>
            <p:ph type="title"/>
          </p:nvPr>
        </p:nvSpPr>
        <p:spPr>
          <a:xfrm>
            <a:off x="457199" y="762000"/>
            <a:ext cx="8229600" cy="1097280"/>
          </a:xfrm>
        </p:spPr>
        <p:txBody>
          <a:bodyPr/>
          <a:lstStyle/>
          <a:p>
            <a:r>
              <a:rPr lang="en-US" altLang="en-US" sz="3600" dirty="0"/>
              <a:t>Giulio Romano. Courtyard of the Palazzo del </a:t>
            </a:r>
            <a:r>
              <a:rPr lang="en-US" altLang="en-US" sz="3600" dirty="0" err="1"/>
              <a:t>Te</a:t>
            </a:r>
            <a:r>
              <a:rPr lang="en-US" altLang="en-US" sz="3600" dirty="0"/>
              <a:t>, Mantua. ca. 1527–34</a:t>
            </a:r>
            <a:br>
              <a:rPr lang="en-US" altLang="en-US" sz="3600" dirty="0"/>
            </a:br>
            <a:endParaRPr lang="en-US" dirty="0"/>
          </a:p>
        </p:txBody>
      </p:sp>
      <p:pic>
        <p:nvPicPr>
          <p:cNvPr id="4" name="17-00.jpg" descr="17-00" title="Giulio Romano. Courtyard of the Palazzo del Te, Mantua. ca. 1527–34&#10;Giulio Romano. Courtyard of the Palazzo del Te, Mantua. ca. 1527–34&#10;">
            <a:extLst>
              <a:ext uri="{FF2B5EF4-FFF2-40B4-BE49-F238E27FC236}">
                <a16:creationId xmlns:a16="http://schemas.microsoft.com/office/drawing/2014/main" id="{6CFC1505-00D7-9D4B-BADE-3624789285F9}"/>
              </a:ext>
            </a:extLst>
          </p:cNvPr>
          <p:cNvPicPr>
            <a:picLocks noGrp="1" noChangeAspect="1" noChangeArrowheads="1"/>
          </p:cNvPicPr>
          <p:nvPr>
            <p:ph idx="1"/>
          </p:nvPr>
        </p:nvPicPr>
        <p:blipFill>
          <a:blip r:embed="rId2" cstate="email">
            <a:extLst>
              <a:ext uri="{28A0092B-C50C-407E-A947-70E740481C1C}">
                <a14:useLocalDpi xmlns:a14="http://schemas.microsoft.com/office/drawing/2010/main"/>
              </a:ext>
            </a:extLst>
          </a:blip>
          <a:srcRect/>
          <a:stretch>
            <a:fillRect/>
          </a:stretch>
        </p:blipFill>
        <p:spPr bwMode="auto">
          <a:xfrm>
            <a:off x="1554691" y="1600200"/>
            <a:ext cx="603461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6933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AB3AC-1009-7C40-9523-CA780880B67F}"/>
              </a:ext>
            </a:extLst>
          </p:cNvPr>
          <p:cNvSpPr>
            <a:spLocks noGrp="1"/>
          </p:cNvSpPr>
          <p:nvPr>
            <p:ph type="title"/>
          </p:nvPr>
        </p:nvSpPr>
        <p:spPr/>
        <p:txBody>
          <a:bodyPr/>
          <a:lstStyle/>
          <a:p>
            <a:r>
              <a:rPr lang="en-US" altLang="en-US" sz="3600" dirty="0"/>
              <a:t>Travels of some artists in sixteenth-century Italy</a:t>
            </a:r>
            <a:endParaRPr lang="en-US" dirty="0"/>
          </a:p>
        </p:txBody>
      </p:sp>
      <p:pic>
        <p:nvPicPr>
          <p:cNvPr id="4" name="Picture 2" descr="Travels of some artists in sixteenth-century Italy&#10;" title="Map of Italy">
            <a:extLst>
              <a:ext uri="{FF2B5EF4-FFF2-40B4-BE49-F238E27FC236}">
                <a16:creationId xmlns:a16="http://schemas.microsoft.com/office/drawing/2014/main" id="{C76C8DD2-AA81-A34D-8087-8D410134F633}"/>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rcRect/>
          <a:stretch>
            <a:fillRect/>
          </a:stretch>
        </p:blipFill>
        <p:spPr bwMode="auto">
          <a:xfrm>
            <a:off x="1554691" y="1600200"/>
            <a:ext cx="603461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9136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itle 1"/>
          <p:cNvSpPr>
            <a:spLocks noGrp="1"/>
          </p:cNvSpPr>
          <p:nvPr>
            <p:ph type="title"/>
          </p:nvPr>
        </p:nvSpPr>
        <p:spPr/>
        <p:txBody>
          <a:bodyPr/>
          <a:lstStyle/>
          <a:p>
            <a:r>
              <a:rPr lang="en-US" dirty="0"/>
              <a:t>Venice and the Veneto (5)</a:t>
            </a:r>
          </a:p>
        </p:txBody>
      </p:sp>
      <p:sp>
        <p:nvSpPr>
          <p:cNvPr id="101378" name="Content Placeholder 2"/>
          <p:cNvSpPr>
            <a:spLocks noGrp="1"/>
          </p:cNvSpPr>
          <p:nvPr>
            <p:ph idx="1"/>
          </p:nvPr>
        </p:nvSpPr>
        <p:spPr/>
        <p:txBody>
          <a:bodyPr/>
          <a:lstStyle/>
          <a:p>
            <a:r>
              <a:rPr lang="en-US"/>
              <a:t>Titian</a:t>
            </a:r>
          </a:p>
          <a:p>
            <a:pPr lvl="1"/>
            <a:r>
              <a:rPr lang="en-US"/>
              <a:t>The </a:t>
            </a:r>
            <a:r>
              <a:rPr lang="en-US" i="1"/>
              <a:t>Pesaro Madonna</a:t>
            </a:r>
            <a:r>
              <a:rPr lang="en-US"/>
              <a:t>, commissioned for an altar, shows grandeur in its massive columns and marble staircase.</a:t>
            </a:r>
          </a:p>
          <a:p>
            <a:pPr lvl="2"/>
            <a:r>
              <a:rPr lang="en-US"/>
              <a:t>Colors were built up in layers of red, white, black, and yellow.</a:t>
            </a:r>
          </a:p>
          <a:p>
            <a:pPr lvl="2"/>
            <a:r>
              <a:rPr lang="en-US"/>
              <a:t>Intersecting diagonals in the composition reach from Jacopo Pesaro to the off-center Virgin.</a:t>
            </a:r>
          </a:p>
        </p:txBody>
      </p:sp>
    </p:spTree>
    <p:extLst>
      <p:ext uri="{BB962C8B-B14F-4D97-AF65-F5344CB8AC3E}">
        <p14:creationId xmlns:p14="http://schemas.microsoft.com/office/powerpoint/2010/main" val="146014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Title 3"/>
          <p:cNvSpPr>
            <a:spLocks noGrp="1"/>
          </p:cNvSpPr>
          <p:nvPr>
            <p:ph type="title"/>
          </p:nvPr>
        </p:nvSpPr>
        <p:spPr/>
        <p:txBody>
          <a:bodyPr>
            <a:normAutofit fontScale="90000"/>
          </a:bodyPr>
          <a:lstStyle/>
          <a:p>
            <a:r>
              <a:rPr lang="en-US" dirty="0"/>
              <a:t>Titian PESARO MADONNA</a:t>
            </a:r>
            <a:br>
              <a:rPr lang="en-US" dirty="0"/>
            </a:br>
            <a:r>
              <a:rPr lang="en-US" dirty="0"/>
              <a:t>1519–1526. Oil on canvas, 16</a:t>
            </a:r>
            <a:r>
              <a:rPr lang="uk-UA" dirty="0"/>
              <a:t>'</a:t>
            </a:r>
            <a:r>
              <a:rPr lang="en-US" dirty="0"/>
              <a:t> × 8</a:t>
            </a:r>
            <a:r>
              <a:rPr lang="uk-UA" dirty="0"/>
              <a:t>'</a:t>
            </a:r>
            <a:r>
              <a:rPr lang="en-US" dirty="0"/>
              <a:t>10</a:t>
            </a:r>
            <a:r>
              <a:rPr lang="ru-RU" dirty="0"/>
              <a:t>"</a:t>
            </a:r>
            <a:r>
              <a:rPr lang="en-US" dirty="0"/>
              <a:t> (4.9 × 2.7 m).</a:t>
            </a:r>
            <a:br>
              <a:rPr lang="en-US" dirty="0"/>
            </a:br>
            <a:r>
              <a:rPr lang="en-US" dirty="0"/>
              <a:t>Side-aisle altarpiece, Santa Maria Gloriosa </a:t>
            </a:r>
            <a:r>
              <a:rPr lang="en-US" dirty="0" err="1"/>
              <a:t>dei</a:t>
            </a:r>
            <a:r>
              <a:rPr lang="en-US" dirty="0"/>
              <a:t> </a:t>
            </a:r>
            <a:r>
              <a:rPr lang="en-US" dirty="0" err="1"/>
              <a:t>Frari</a:t>
            </a:r>
            <a:r>
              <a:rPr lang="en-US" dirty="0"/>
              <a:t>, Venice. © </a:t>
            </a:r>
            <a:r>
              <a:rPr lang="en-US" dirty="0" err="1"/>
              <a:t>Cameraphoto</a:t>
            </a:r>
            <a:r>
              <a:rPr lang="en-US" dirty="0"/>
              <a:t> </a:t>
            </a:r>
            <a:r>
              <a:rPr lang="en-US" dirty="0" err="1"/>
              <a:t>Arte</a:t>
            </a:r>
            <a:r>
              <a:rPr lang="en-US" dirty="0"/>
              <a:t>, Venice. </a:t>
            </a:r>
          </a:p>
        </p:txBody>
      </p:sp>
      <p:pic>
        <p:nvPicPr>
          <p:cNvPr id="2" name="Picture 1" descr="Saint Peter leans toward the Virgin and child on their throne, with his identity suggested by his large book and the key at his feet. High above, cherubs on a puff of cloud hold up a cros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extLst>
      <p:ext uri="{BB962C8B-B14F-4D97-AF65-F5344CB8AC3E}">
        <p14:creationId xmlns:p14="http://schemas.microsoft.com/office/powerpoint/2010/main" val="592166097"/>
      </p:ext>
    </p:extLst>
  </p:cSld>
  <p:clrMapOvr>
    <a:masterClrMapping/>
  </p:clrMapOvr>
  <p:transition spd="slow" advTm="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p:cNvSpPr>
            <a:spLocks noGrp="1"/>
          </p:cNvSpPr>
          <p:nvPr>
            <p:ph type="title"/>
          </p:nvPr>
        </p:nvSpPr>
        <p:spPr/>
        <p:txBody>
          <a:bodyPr/>
          <a:lstStyle/>
          <a:p>
            <a:r>
              <a:rPr lang="en-US" dirty="0"/>
              <a:t>Venice and the Veneto (6)</a:t>
            </a:r>
          </a:p>
        </p:txBody>
      </p:sp>
      <p:sp>
        <p:nvSpPr>
          <p:cNvPr id="104450" name="Content Placeholder 2"/>
          <p:cNvSpPr>
            <a:spLocks noGrp="1"/>
          </p:cNvSpPr>
          <p:nvPr>
            <p:ph idx="1"/>
          </p:nvPr>
        </p:nvSpPr>
        <p:spPr/>
        <p:txBody>
          <a:bodyPr/>
          <a:lstStyle/>
          <a:p>
            <a:r>
              <a:rPr lang="en-US"/>
              <a:t>Titian</a:t>
            </a:r>
          </a:p>
          <a:p>
            <a:pPr lvl="1"/>
            <a:r>
              <a:rPr lang="en-US"/>
              <a:t>Isabella d</a:t>
            </a:r>
            <a:r>
              <a:rPr lang="uk-UA"/>
              <a:t>'</a:t>
            </a:r>
            <a:r>
              <a:rPr lang="en-US"/>
              <a:t>Este of Mantua became a true Renaissance woman, patronizing painters, musicians, writers, and collecting ancient art and objects.</a:t>
            </a:r>
          </a:p>
          <a:p>
            <a:pPr lvl="2"/>
            <a:r>
              <a:rPr lang="en-US"/>
              <a:t>Her portrait by Titian is a product of their long-standing professional relationship.</a:t>
            </a:r>
          </a:p>
        </p:txBody>
      </p:sp>
    </p:spTree>
    <p:extLst>
      <p:ext uri="{BB962C8B-B14F-4D97-AF65-F5344CB8AC3E}">
        <p14:creationId xmlns:p14="http://schemas.microsoft.com/office/powerpoint/2010/main" val="2685648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Title 3"/>
          <p:cNvSpPr>
            <a:spLocks noGrp="1"/>
          </p:cNvSpPr>
          <p:nvPr>
            <p:ph type="title"/>
          </p:nvPr>
        </p:nvSpPr>
        <p:spPr/>
        <p:txBody>
          <a:bodyPr>
            <a:normAutofit fontScale="90000"/>
          </a:bodyPr>
          <a:lstStyle/>
          <a:p>
            <a:r>
              <a:rPr lang="en-US" dirty="0"/>
              <a:t>Titian ISABELLA D</a:t>
            </a:r>
            <a:r>
              <a:rPr lang="uk-UA" dirty="0"/>
              <a:t>'</a:t>
            </a:r>
            <a:r>
              <a:rPr lang="en-US" dirty="0"/>
              <a:t>ESTE</a:t>
            </a:r>
            <a:br>
              <a:rPr lang="en-US" dirty="0"/>
            </a:br>
            <a:r>
              <a:rPr lang="en-US" dirty="0"/>
              <a:t>1534–1536. Oil on canvas, 40-1/8</a:t>
            </a:r>
            <a:r>
              <a:rPr lang="ru-RU" dirty="0"/>
              <a:t>"</a:t>
            </a:r>
            <a:r>
              <a:rPr lang="en-US" dirty="0"/>
              <a:t> × 25-3/16</a:t>
            </a:r>
            <a:r>
              <a:rPr lang="ru-RU" dirty="0"/>
              <a:t>"</a:t>
            </a:r>
            <a:r>
              <a:rPr lang="en-US" dirty="0"/>
              <a:t> (102 × 64.1 cm).</a:t>
            </a:r>
            <a:br>
              <a:rPr lang="en-US" dirty="0"/>
            </a:br>
            <a:r>
              <a:rPr lang="en-US" dirty="0" err="1"/>
              <a:t>Kunsthistorisches</a:t>
            </a:r>
            <a:r>
              <a:rPr lang="en-US" dirty="0"/>
              <a:t> Museum, Vienna. © KHM-</a:t>
            </a:r>
            <a:r>
              <a:rPr lang="en-US" dirty="0" err="1"/>
              <a:t>Museumsverband</a:t>
            </a:r>
            <a:r>
              <a:rPr lang="en-US" dirty="0"/>
              <a:t>.</a:t>
            </a:r>
          </a:p>
        </p:txBody>
      </p:sp>
      <p:pic>
        <p:nvPicPr>
          <p:cNvPr id="2" name="Picture 1" descr="A young woman with smooth skin and curly hair, wearing a black and silver brocade dres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extLst>
      <p:ext uri="{BB962C8B-B14F-4D97-AF65-F5344CB8AC3E}">
        <p14:creationId xmlns:p14="http://schemas.microsoft.com/office/powerpoint/2010/main" val="3748045079"/>
      </p:ext>
    </p:extLst>
  </p:cSld>
  <p:clrMapOvr>
    <a:masterClrMapping/>
  </p:clrMapOvr>
  <p:transition spd="slow" advTm="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p:cNvSpPr>
            <a:spLocks noGrp="1"/>
          </p:cNvSpPr>
          <p:nvPr>
            <p:ph type="title"/>
          </p:nvPr>
        </p:nvSpPr>
        <p:spPr/>
        <p:txBody>
          <a:bodyPr/>
          <a:lstStyle/>
          <a:p>
            <a:r>
              <a:rPr lang="en-US" dirty="0"/>
              <a:t>Venice and the Veneto (7)</a:t>
            </a:r>
          </a:p>
        </p:txBody>
      </p:sp>
      <p:sp>
        <p:nvSpPr>
          <p:cNvPr id="107522" name="Content Placeholder 2"/>
          <p:cNvSpPr>
            <a:spLocks noGrp="1"/>
          </p:cNvSpPr>
          <p:nvPr>
            <p:ph idx="1"/>
          </p:nvPr>
        </p:nvSpPr>
        <p:spPr/>
        <p:txBody>
          <a:bodyPr/>
          <a:lstStyle/>
          <a:p>
            <a:r>
              <a:rPr lang="en-US"/>
              <a:t>Titian</a:t>
            </a:r>
          </a:p>
          <a:p>
            <a:pPr lvl="1"/>
            <a:r>
              <a:rPr lang="en-US"/>
              <a:t>The </a:t>
            </a:r>
            <a:r>
              <a:rPr lang="ru-RU" i="1"/>
              <a:t>"</a:t>
            </a:r>
            <a:r>
              <a:rPr lang="en-US" i="1"/>
              <a:t>Venus</a:t>
            </a:r>
            <a:r>
              <a:rPr lang="ru-RU" i="1"/>
              <a:t>"</a:t>
            </a:r>
            <a:r>
              <a:rPr lang="en-US" i="1"/>
              <a:t> of Urbino</a:t>
            </a:r>
            <a:r>
              <a:rPr lang="en-US"/>
              <a:t>, contrary to its stark female nudity, may have been a reference to marriage.</a:t>
            </a:r>
          </a:p>
          <a:p>
            <a:pPr lvl="2"/>
            <a:r>
              <a:rPr lang="en-US"/>
              <a:t>The </a:t>
            </a:r>
            <a:r>
              <a:rPr lang="en-US" i="1"/>
              <a:t>cassoni</a:t>
            </a:r>
            <a:r>
              <a:rPr lang="en-US"/>
              <a:t> in the background and sleeping dog (symbol for fidelity) reveal that the work may have been associated with Guidobaldo della Rovere</a:t>
            </a:r>
            <a:r>
              <a:rPr lang="uk-UA"/>
              <a:t>'</a:t>
            </a:r>
            <a:r>
              <a:rPr lang="en-US"/>
              <a:t>s marriage.</a:t>
            </a:r>
          </a:p>
          <a:p>
            <a:pPr lvl="2"/>
            <a:r>
              <a:rPr lang="en-US"/>
              <a:t>Neither a goddess nor courtesan, the woman was possibly a wife.</a:t>
            </a:r>
          </a:p>
        </p:txBody>
      </p:sp>
    </p:spTree>
    <p:extLst>
      <p:ext uri="{BB962C8B-B14F-4D97-AF65-F5344CB8AC3E}">
        <p14:creationId xmlns:p14="http://schemas.microsoft.com/office/powerpoint/2010/main" val="2276560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3"/>
          <p:cNvSpPr>
            <a:spLocks noGrp="1"/>
          </p:cNvSpPr>
          <p:nvPr>
            <p:ph type="title"/>
          </p:nvPr>
        </p:nvSpPr>
        <p:spPr/>
        <p:txBody>
          <a:bodyPr>
            <a:normAutofit fontScale="90000"/>
          </a:bodyPr>
          <a:lstStyle/>
          <a:p>
            <a:r>
              <a:rPr lang="en-US" dirty="0"/>
              <a:t>Titian </a:t>
            </a:r>
            <a:r>
              <a:rPr lang="ru-RU" dirty="0"/>
              <a:t>"</a:t>
            </a:r>
            <a:r>
              <a:rPr lang="en-US" dirty="0"/>
              <a:t>VENUS</a:t>
            </a:r>
            <a:r>
              <a:rPr lang="ru-RU" dirty="0"/>
              <a:t>"</a:t>
            </a:r>
            <a:r>
              <a:rPr lang="en-US" dirty="0"/>
              <a:t> OF URBINO</a:t>
            </a:r>
            <a:br>
              <a:rPr lang="en-US" dirty="0"/>
            </a:br>
            <a:r>
              <a:rPr lang="en-US" dirty="0"/>
              <a:t>c. 1538. Oil on canvas, 3</a:t>
            </a:r>
            <a:r>
              <a:rPr lang="uk-UA" dirty="0"/>
              <a:t>'</a:t>
            </a:r>
            <a:r>
              <a:rPr lang="en-US" dirty="0"/>
              <a:t>11</a:t>
            </a:r>
            <a:r>
              <a:rPr lang="ru-RU" dirty="0"/>
              <a:t>"</a:t>
            </a:r>
            <a:r>
              <a:rPr lang="en-US" dirty="0"/>
              <a:t> × 5</a:t>
            </a:r>
            <a:r>
              <a:rPr lang="uk-UA" dirty="0"/>
              <a:t>'</a:t>
            </a:r>
            <a:r>
              <a:rPr lang="en-US" dirty="0"/>
              <a:t>5</a:t>
            </a:r>
            <a:r>
              <a:rPr lang="ru-RU" dirty="0"/>
              <a:t>"</a:t>
            </a:r>
            <a:r>
              <a:rPr lang="en-US" dirty="0"/>
              <a:t> (1.19 × 1.65 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a:t>
            </a:r>
          </a:p>
        </p:txBody>
      </p:sp>
      <p:pic>
        <p:nvPicPr>
          <p:cNvPr id="2" name="Picture 1" descr="A nude woman reclines in her private quarters, holding a bouquet of flowers in one hand and covering her genitalia with the other hand. A small dog curls near her feet to nap. Servant women perform chores in the backgroun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extLst>
      <p:ext uri="{BB962C8B-B14F-4D97-AF65-F5344CB8AC3E}">
        <p14:creationId xmlns:p14="http://schemas.microsoft.com/office/powerpoint/2010/main" val="254292220"/>
      </p:ext>
    </p:extLst>
  </p:cSld>
  <p:clrMapOvr>
    <a:masterClrMapping/>
  </p:clrMapOvr>
  <p:transition spd="slow" advTm="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p:txBody>
          <a:bodyPr/>
          <a:lstStyle/>
          <a:p>
            <a:r>
              <a:rPr lang="en-US" dirty="0"/>
              <a:t>Venice and the Veneto (8)</a:t>
            </a:r>
          </a:p>
        </p:txBody>
      </p:sp>
      <p:sp>
        <p:nvSpPr>
          <p:cNvPr id="110594" name="Content Placeholder 2"/>
          <p:cNvSpPr>
            <a:spLocks noGrp="1"/>
          </p:cNvSpPr>
          <p:nvPr>
            <p:ph idx="1"/>
          </p:nvPr>
        </p:nvSpPr>
        <p:spPr/>
        <p:txBody>
          <a:bodyPr/>
          <a:lstStyle/>
          <a:p>
            <a:r>
              <a:rPr lang="en-US"/>
              <a:t>Veronese and Tintoretto</a:t>
            </a:r>
          </a:p>
          <a:p>
            <a:pPr lvl="1"/>
            <a:r>
              <a:rPr lang="en-US"/>
              <a:t>Color, light, and expressively loose brushwork characterized Venetian painting.</a:t>
            </a:r>
          </a:p>
          <a:p>
            <a:pPr lvl="1"/>
            <a:r>
              <a:rPr lang="en-US"/>
              <a:t>One of Veronese</a:t>
            </a:r>
            <a:r>
              <a:rPr lang="uk-UA"/>
              <a:t>'</a:t>
            </a:r>
            <a:r>
              <a:rPr lang="en-US"/>
              <a:t>s most famous works is a </a:t>
            </a:r>
            <a:r>
              <a:rPr lang="en-US" i="1"/>
              <a:t>Last Supper</a:t>
            </a:r>
            <a:r>
              <a:rPr lang="en-US"/>
              <a:t>, later renamed </a:t>
            </a:r>
            <a:r>
              <a:rPr lang="en-US" i="1"/>
              <a:t>Feast in the House of Levi </a:t>
            </a:r>
            <a:r>
              <a:rPr lang="en-US"/>
              <a:t>for its controversial content.</a:t>
            </a:r>
          </a:p>
        </p:txBody>
      </p:sp>
    </p:spTree>
    <p:extLst>
      <p:ext uri="{BB962C8B-B14F-4D97-AF65-F5344CB8AC3E}">
        <p14:creationId xmlns:p14="http://schemas.microsoft.com/office/powerpoint/2010/main" val="177083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Title 1"/>
          <p:cNvSpPr>
            <a:spLocks noGrp="1"/>
          </p:cNvSpPr>
          <p:nvPr>
            <p:ph type="title"/>
          </p:nvPr>
        </p:nvSpPr>
        <p:spPr/>
        <p:txBody>
          <a:bodyPr/>
          <a:lstStyle/>
          <a:p>
            <a:r>
              <a:rPr lang="en-US" dirty="0"/>
              <a:t>Venice and the Veneto (9)</a:t>
            </a:r>
          </a:p>
        </p:txBody>
      </p:sp>
      <p:sp>
        <p:nvSpPr>
          <p:cNvPr id="111618" name="Content Placeholder 2"/>
          <p:cNvSpPr>
            <a:spLocks noGrp="1"/>
          </p:cNvSpPr>
          <p:nvPr>
            <p:ph idx="1"/>
          </p:nvPr>
        </p:nvSpPr>
        <p:spPr/>
        <p:txBody>
          <a:bodyPr/>
          <a:lstStyle/>
          <a:p>
            <a:r>
              <a:rPr lang="en-US"/>
              <a:t>Veronese and Tintoretto</a:t>
            </a:r>
          </a:p>
          <a:p>
            <a:pPr lvl="1"/>
            <a:r>
              <a:rPr lang="en-US"/>
              <a:t>Veronese shocked patrons with his painting later called </a:t>
            </a:r>
            <a:r>
              <a:rPr lang="en-US" i="1"/>
              <a:t>Feast in the House of Levi</a:t>
            </a:r>
            <a:r>
              <a:rPr lang="en-US"/>
              <a:t>.</a:t>
            </a:r>
          </a:p>
          <a:p>
            <a:pPr lvl="2"/>
            <a:r>
              <a:rPr lang="en-US"/>
              <a:t>The scene contained pageantry, scruffy dogs, and foreign soldiers, overall offending viewers and removing it from a typical </a:t>
            </a:r>
            <a:r>
              <a:rPr lang="en-US" i="1"/>
              <a:t>Last Supper </a:t>
            </a:r>
            <a:r>
              <a:rPr lang="en-US"/>
              <a:t>scene.</a:t>
            </a:r>
          </a:p>
          <a:p>
            <a:pPr lvl="1"/>
            <a:r>
              <a:rPr lang="en-US"/>
              <a:t>The Inquisition ordered an explanation and subsequent renaming.</a:t>
            </a:r>
          </a:p>
        </p:txBody>
      </p:sp>
    </p:spTree>
    <p:extLst>
      <p:ext uri="{BB962C8B-B14F-4D97-AF65-F5344CB8AC3E}">
        <p14:creationId xmlns:p14="http://schemas.microsoft.com/office/powerpoint/2010/main" val="4275407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3"/>
          <p:cNvSpPr>
            <a:spLocks noGrp="1"/>
          </p:cNvSpPr>
          <p:nvPr>
            <p:ph type="title"/>
          </p:nvPr>
        </p:nvSpPr>
        <p:spPr/>
        <p:txBody>
          <a:bodyPr>
            <a:normAutofit fontScale="90000"/>
          </a:bodyPr>
          <a:lstStyle/>
          <a:p>
            <a:r>
              <a:rPr lang="en-US" dirty="0"/>
              <a:t>Veronese FEAST IN THE HOUSE OF LEVI</a:t>
            </a:r>
            <a:br>
              <a:rPr lang="en-US" dirty="0"/>
            </a:br>
            <a:r>
              <a:rPr lang="en-US" dirty="0"/>
              <a:t>From the refectory of the monastery of SS. Giovanni e Paolo, Venice. 1573.</a:t>
            </a:r>
            <a:br>
              <a:rPr lang="en-US" dirty="0"/>
            </a:br>
            <a:r>
              <a:rPr lang="en-US" dirty="0"/>
              <a:t>Oil on canvas, 18</a:t>
            </a:r>
            <a:r>
              <a:rPr lang="uk-UA" dirty="0"/>
              <a:t>'</a:t>
            </a:r>
            <a:r>
              <a:rPr lang="en-US" dirty="0"/>
              <a:t>3</a:t>
            </a:r>
            <a:r>
              <a:rPr lang="ru-RU" dirty="0"/>
              <a:t>"</a:t>
            </a:r>
            <a:r>
              <a:rPr lang="en-US" dirty="0"/>
              <a:t> × 42</a:t>
            </a:r>
            <a:r>
              <a:rPr lang="uk-UA" dirty="0"/>
              <a:t>'</a:t>
            </a:r>
            <a:r>
              <a:rPr lang="en-US" dirty="0"/>
              <a:t> (5.56 × 12.8 m).</a:t>
            </a:r>
            <a:br>
              <a:rPr lang="en-US" dirty="0"/>
            </a:br>
            <a:r>
              <a:rPr lang="en-US" dirty="0"/>
              <a:t>Galleria dell</a:t>
            </a:r>
            <a:r>
              <a:rPr lang="uk-UA" dirty="0"/>
              <a:t>'</a:t>
            </a:r>
            <a:r>
              <a:rPr lang="en-US" dirty="0"/>
              <a:t>Accademia, Venice. © </a:t>
            </a:r>
            <a:r>
              <a:rPr lang="en-US" dirty="0" err="1"/>
              <a:t>Cameraphoto</a:t>
            </a:r>
            <a:r>
              <a:rPr lang="en-US" dirty="0"/>
              <a:t> </a:t>
            </a:r>
            <a:r>
              <a:rPr lang="en-US" dirty="0" err="1"/>
              <a:t>Arte</a:t>
            </a:r>
            <a:r>
              <a:rPr lang="en-US" dirty="0"/>
              <a:t>, Venice. </a:t>
            </a:r>
          </a:p>
        </p:txBody>
      </p:sp>
      <p:pic>
        <p:nvPicPr>
          <p:cNvPr id="2" name="Picture 1" descr="The scene of Christ’s last supper is reimagined in a loggia at the top of two wide marble staircases, with a city in the background, visible through the expansive, round archways in front of, and behind, the dinner tabl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extLst>
      <p:ext uri="{BB962C8B-B14F-4D97-AF65-F5344CB8AC3E}">
        <p14:creationId xmlns:p14="http://schemas.microsoft.com/office/powerpoint/2010/main" val="3486228891"/>
      </p:ext>
    </p:extLst>
  </p:cSld>
  <p:clrMapOvr>
    <a:masterClrMapping/>
  </p:clrMapOvr>
  <p:transition spd="slow" advTm="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p:cNvSpPr>
            <a:spLocks noGrp="1"/>
          </p:cNvSpPr>
          <p:nvPr>
            <p:ph type="title"/>
          </p:nvPr>
        </p:nvSpPr>
        <p:spPr/>
        <p:txBody>
          <a:bodyPr/>
          <a:lstStyle/>
          <a:p>
            <a:r>
              <a:rPr lang="en-US" dirty="0"/>
              <a:t>Venice and the Veneto (10)</a:t>
            </a:r>
          </a:p>
        </p:txBody>
      </p:sp>
      <p:sp>
        <p:nvSpPr>
          <p:cNvPr id="114690" name="Content Placeholder 2"/>
          <p:cNvSpPr>
            <a:spLocks noGrp="1"/>
          </p:cNvSpPr>
          <p:nvPr>
            <p:ph idx="1"/>
          </p:nvPr>
        </p:nvSpPr>
        <p:spPr/>
        <p:txBody>
          <a:bodyPr/>
          <a:lstStyle/>
          <a:p>
            <a:r>
              <a:rPr lang="en-US"/>
              <a:t>Veronese and Tintoretto</a:t>
            </a:r>
          </a:p>
          <a:p>
            <a:pPr lvl="1"/>
            <a:r>
              <a:rPr lang="en-US"/>
              <a:t>Tintoretto sought to combine Titian</a:t>
            </a:r>
            <a:r>
              <a:rPr lang="uk-UA"/>
              <a:t>'</a:t>
            </a:r>
            <a:r>
              <a:rPr lang="en-US"/>
              <a:t>s coloring with the drawing of Michelangelo.</a:t>
            </a:r>
          </a:p>
          <a:p>
            <a:pPr lvl="1"/>
            <a:r>
              <a:rPr lang="en-US"/>
              <a:t>His </a:t>
            </a:r>
            <a:r>
              <a:rPr lang="en-US" i="1"/>
              <a:t>The Last Supper </a:t>
            </a:r>
            <a:r>
              <a:rPr lang="en-US"/>
              <a:t>differs from da Vinci</a:t>
            </a:r>
            <a:r>
              <a:rPr lang="uk-UA"/>
              <a:t>'</a:t>
            </a:r>
            <a:r>
              <a:rPr lang="en-US"/>
              <a:t>s.</a:t>
            </a:r>
          </a:p>
          <a:p>
            <a:pPr lvl="2"/>
            <a:r>
              <a:rPr lang="en-US"/>
              <a:t>The scene is viewed from a corner and features two light sources.</a:t>
            </a:r>
          </a:p>
          <a:p>
            <a:pPr lvl="1"/>
            <a:r>
              <a:rPr lang="en-US"/>
              <a:t>The speed of his work was especially noted.</a:t>
            </a:r>
          </a:p>
        </p:txBody>
      </p:sp>
    </p:spTree>
    <p:extLst>
      <p:ext uri="{BB962C8B-B14F-4D97-AF65-F5344CB8AC3E}">
        <p14:creationId xmlns:p14="http://schemas.microsoft.com/office/powerpoint/2010/main" val="3084099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itle 3"/>
          <p:cNvSpPr>
            <a:spLocks noGrp="1"/>
          </p:cNvSpPr>
          <p:nvPr>
            <p:ph type="title"/>
          </p:nvPr>
        </p:nvSpPr>
        <p:spPr/>
        <p:txBody>
          <a:bodyPr>
            <a:normAutofit fontScale="90000"/>
          </a:bodyPr>
          <a:lstStyle/>
          <a:p>
            <a:r>
              <a:rPr lang="en-US" dirty="0"/>
              <a:t>Tintoretto THE LAST SUPPER</a:t>
            </a:r>
            <a:br>
              <a:rPr lang="en-US" dirty="0"/>
            </a:br>
            <a:r>
              <a:rPr lang="en-US" dirty="0"/>
              <a:t>Church of San Giorgio Maggiore, Venice. 1592–1594.</a:t>
            </a:r>
            <a:br>
              <a:rPr lang="en-US" dirty="0"/>
            </a:br>
            <a:r>
              <a:rPr lang="en-US" dirty="0"/>
              <a:t>Oil on canvas, 12</a:t>
            </a:r>
            <a:r>
              <a:rPr lang="uk-UA" dirty="0"/>
              <a:t>'</a:t>
            </a:r>
            <a:r>
              <a:rPr lang="en-US" dirty="0"/>
              <a:t> × 18</a:t>
            </a:r>
            <a:r>
              <a:rPr lang="uk-UA" dirty="0"/>
              <a:t>'</a:t>
            </a:r>
            <a:r>
              <a:rPr lang="en-US" dirty="0"/>
              <a:t>8</a:t>
            </a:r>
            <a:r>
              <a:rPr lang="ru-RU" dirty="0"/>
              <a:t>"</a:t>
            </a:r>
            <a:r>
              <a:rPr lang="en-US" dirty="0"/>
              <a:t> (3.7 × 5.7 m).</a:t>
            </a:r>
            <a:br>
              <a:rPr lang="en-US" dirty="0"/>
            </a:br>
            <a:r>
              <a:rPr lang="en-US" dirty="0"/>
              <a:t>© </a:t>
            </a:r>
            <a:r>
              <a:rPr lang="en-US" dirty="0" err="1"/>
              <a:t>Cameraphoto</a:t>
            </a:r>
            <a:r>
              <a:rPr lang="en-US" dirty="0"/>
              <a:t> </a:t>
            </a:r>
            <a:r>
              <a:rPr lang="en-US" dirty="0" err="1"/>
              <a:t>Arte</a:t>
            </a:r>
            <a:r>
              <a:rPr lang="en-US" dirty="0"/>
              <a:t>, Venice. </a:t>
            </a:r>
          </a:p>
        </p:txBody>
      </p:sp>
      <p:pic>
        <p:nvPicPr>
          <p:cNvPr id="2" name="Picture 1" descr="This depiction of the last supper takes place in a darkened room, with the events illuminated starkly by a bright oil lamp and by Jesus’s sun-like halo. Angelic figures hang in the air like smok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extLst>
      <p:ext uri="{BB962C8B-B14F-4D97-AF65-F5344CB8AC3E}">
        <p14:creationId xmlns:p14="http://schemas.microsoft.com/office/powerpoint/2010/main" val="283342179"/>
      </p:ext>
    </p:extLst>
  </p:cSld>
  <p:clrMapOvr>
    <a:masterClrMapping/>
  </p:clrMapOvr>
  <p:transition spd="slow" advTm="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p:cNvSpPr>
            <a:spLocks noGrp="1"/>
          </p:cNvSpPr>
          <p:nvPr>
            <p:ph type="title"/>
          </p:nvPr>
        </p:nvSpPr>
        <p:spPr/>
        <p:txBody>
          <a:bodyPr/>
          <a:lstStyle/>
          <a:p>
            <a:r>
              <a:rPr lang="en-US"/>
              <a:t>The Architecture of Palladio (1 of 3)</a:t>
            </a:r>
          </a:p>
        </p:txBody>
      </p:sp>
      <p:sp>
        <p:nvSpPr>
          <p:cNvPr id="117762" name="Content Placeholder 2"/>
          <p:cNvSpPr>
            <a:spLocks noGrp="1"/>
          </p:cNvSpPr>
          <p:nvPr>
            <p:ph idx="1"/>
          </p:nvPr>
        </p:nvSpPr>
        <p:spPr/>
        <p:txBody>
          <a:bodyPr/>
          <a:lstStyle/>
          <a:p>
            <a:r>
              <a:rPr lang="en-US"/>
              <a:t>Andrea Palladio dominated architecture with characteristics of harmonious symmetry and controlled ornamentation.</a:t>
            </a:r>
          </a:p>
          <a:p>
            <a:r>
              <a:rPr lang="en-US"/>
              <a:t>He became involved in publishing books on architecture that would become tenets for future architects.</a:t>
            </a:r>
          </a:p>
          <a:p>
            <a:pPr lvl="1"/>
            <a:r>
              <a:rPr lang="en-US" i="1"/>
              <a:t>Four Books of Architecture </a:t>
            </a:r>
            <a:r>
              <a:rPr lang="en-US"/>
              <a:t>was a staple in the libraries of educated people.</a:t>
            </a:r>
          </a:p>
        </p:txBody>
      </p:sp>
    </p:spTree>
    <p:extLst>
      <p:ext uri="{BB962C8B-B14F-4D97-AF65-F5344CB8AC3E}">
        <p14:creationId xmlns:p14="http://schemas.microsoft.com/office/powerpoint/2010/main" val="445195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p:cNvSpPr>
            <a:spLocks noGrp="1"/>
          </p:cNvSpPr>
          <p:nvPr>
            <p:ph type="title"/>
          </p:nvPr>
        </p:nvSpPr>
        <p:spPr/>
        <p:txBody>
          <a:bodyPr/>
          <a:lstStyle/>
          <a:p>
            <a:r>
              <a:rPr lang="en-US"/>
              <a:t>The Architecture of Palladio (2 of 3)</a:t>
            </a:r>
          </a:p>
        </p:txBody>
      </p:sp>
      <p:sp>
        <p:nvSpPr>
          <p:cNvPr id="120834" name="Content Placeholder 2"/>
          <p:cNvSpPr>
            <a:spLocks noGrp="1"/>
          </p:cNvSpPr>
          <p:nvPr>
            <p:ph idx="1"/>
          </p:nvPr>
        </p:nvSpPr>
        <p:spPr/>
        <p:txBody>
          <a:bodyPr/>
          <a:lstStyle/>
          <a:p>
            <a:r>
              <a:rPr lang="en-US"/>
              <a:t>San Giorgio Maggiore</a:t>
            </a:r>
          </a:p>
          <a:p>
            <a:pPr lvl="1"/>
            <a:r>
              <a:rPr lang="en-US"/>
              <a:t>This monastery church featured a variation on the traditional Renaissance façade for a basilica.</a:t>
            </a:r>
          </a:p>
          <a:p>
            <a:pPr lvl="1"/>
            <a:r>
              <a:rPr lang="en-US"/>
              <a:t>The interior includes finely balanced geometry, evidenced by engaged columns and short pilasters echoing the two levels of orders on the façade.</a:t>
            </a:r>
          </a:p>
        </p:txBody>
      </p:sp>
    </p:spTree>
    <p:extLst>
      <p:ext uri="{BB962C8B-B14F-4D97-AF65-F5344CB8AC3E}">
        <p14:creationId xmlns:p14="http://schemas.microsoft.com/office/powerpoint/2010/main" val="1377504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3"/>
          <p:cNvSpPr>
            <a:spLocks noGrp="1"/>
          </p:cNvSpPr>
          <p:nvPr>
            <p:ph type="title"/>
          </p:nvPr>
        </p:nvSpPr>
        <p:spPr/>
        <p:txBody>
          <a:bodyPr>
            <a:normAutofit fontScale="90000"/>
          </a:bodyPr>
          <a:lstStyle/>
          <a:p>
            <a:r>
              <a:rPr lang="en-US" dirty="0"/>
              <a:t>Palladio CHURCH OF SAN GIORGIO MAGGIORE, VENICE</a:t>
            </a:r>
            <a:br>
              <a:rPr lang="en-US" dirty="0"/>
            </a:br>
            <a:r>
              <a:rPr lang="en-US" dirty="0"/>
              <a:t>Plan 1565; construction 1565–1580; façade 1597–1610; campanile 1791.</a:t>
            </a:r>
            <a:br>
              <a:rPr lang="en-US" dirty="0"/>
            </a:br>
            <a:r>
              <a:rPr lang="en-US" dirty="0"/>
              <a:t>Finished by Vincenzo </a:t>
            </a:r>
            <a:r>
              <a:rPr lang="en-US" dirty="0" err="1"/>
              <a:t>Scamozzi</a:t>
            </a:r>
            <a:r>
              <a:rPr lang="en-US" dirty="0"/>
              <a:t> following Palladio</a:t>
            </a:r>
            <a:r>
              <a:rPr lang="uk-UA" dirty="0"/>
              <a:t>'</a:t>
            </a:r>
            <a:r>
              <a:rPr lang="en-US" dirty="0"/>
              <a:t>s design. © </a:t>
            </a:r>
            <a:r>
              <a:rPr lang="en-US" dirty="0" err="1"/>
              <a:t>Cameraphoto</a:t>
            </a:r>
            <a:r>
              <a:rPr lang="en-US" dirty="0"/>
              <a:t> </a:t>
            </a:r>
            <a:r>
              <a:rPr lang="en-US" dirty="0" err="1"/>
              <a:t>Arte</a:t>
            </a:r>
            <a:r>
              <a:rPr lang="en-US" dirty="0"/>
              <a:t>, Venice. </a:t>
            </a:r>
          </a:p>
        </p:txBody>
      </p:sp>
      <p:pic>
        <p:nvPicPr>
          <p:cNvPr id="2" name="Picture 1" descr="The church’s façade opens directly on a canal, contrasting the blue water with sits bright white exterio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extLst>
      <p:ext uri="{BB962C8B-B14F-4D97-AF65-F5344CB8AC3E}">
        <p14:creationId xmlns:p14="http://schemas.microsoft.com/office/powerpoint/2010/main" val="3738283271"/>
      </p:ext>
    </p:extLst>
  </p:cSld>
  <p:clrMapOvr>
    <a:masterClrMapping/>
  </p:clrMapOvr>
  <p:transition spd="slow" advTm="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Title 3"/>
          <p:cNvSpPr>
            <a:spLocks noGrp="1"/>
          </p:cNvSpPr>
          <p:nvPr>
            <p:ph type="title"/>
          </p:nvPr>
        </p:nvSpPr>
        <p:spPr/>
        <p:txBody>
          <a:bodyPr>
            <a:normAutofit fontScale="90000"/>
          </a:bodyPr>
          <a:lstStyle/>
          <a:p>
            <a:r>
              <a:rPr lang="en-US" dirty="0"/>
              <a:t>NAVE, CHURCH OF SAN GIORGIO MAGGIORE, VENICE</a:t>
            </a:r>
            <a:br>
              <a:rPr lang="en-US" dirty="0"/>
            </a:br>
            <a:r>
              <a:rPr lang="en-US" dirty="0"/>
              <a:t>Begun 1566. Tintoretto’s </a:t>
            </a:r>
            <a:r>
              <a:rPr lang="en-US" i="1" dirty="0"/>
              <a:t>Last Supper</a:t>
            </a:r>
            <a:r>
              <a:rPr lang="en-US" dirty="0"/>
              <a:t> (not visible) hangs to the left of the altar. </a:t>
            </a:r>
            <a:br>
              <a:rPr lang="en-US" dirty="0"/>
            </a:br>
            <a:r>
              <a:rPr lang="en-US" dirty="0"/>
              <a:t> © </a:t>
            </a:r>
            <a:r>
              <a:rPr lang="en-US" dirty="0" err="1"/>
              <a:t>Cameraphoto</a:t>
            </a:r>
            <a:r>
              <a:rPr lang="en-US" dirty="0"/>
              <a:t> </a:t>
            </a:r>
            <a:r>
              <a:rPr lang="en-US" dirty="0" err="1"/>
              <a:t>Arte</a:t>
            </a:r>
            <a:r>
              <a:rPr lang="en-US" dirty="0"/>
              <a:t>, Venice. </a:t>
            </a:r>
          </a:p>
        </p:txBody>
      </p:sp>
      <p:pic>
        <p:nvPicPr>
          <p:cNvPr id="2" name="Picture 1" descr="Two rows of wooden pews line the sanctuary floor, illuminated by clerestory windows in the drum high abov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extLst>
      <p:ext uri="{BB962C8B-B14F-4D97-AF65-F5344CB8AC3E}">
        <p14:creationId xmlns:p14="http://schemas.microsoft.com/office/powerpoint/2010/main" val="4285487370"/>
      </p:ext>
    </p:extLst>
  </p:cSld>
  <p:clrMapOvr>
    <a:masterClrMapping/>
  </p:clrMapOvr>
  <p:transition spd="slow" advTm="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
          <p:cNvSpPr>
            <a:spLocks noGrp="1"/>
          </p:cNvSpPr>
          <p:nvPr>
            <p:ph type="title"/>
          </p:nvPr>
        </p:nvSpPr>
        <p:spPr/>
        <p:txBody>
          <a:bodyPr/>
          <a:lstStyle/>
          <a:p>
            <a:r>
              <a:rPr lang="en-US"/>
              <a:t>The Architecture of Palladio (3 of 3)</a:t>
            </a:r>
          </a:p>
        </p:txBody>
      </p:sp>
      <p:sp>
        <p:nvSpPr>
          <p:cNvPr id="123906" name="Content Placeholder 2"/>
          <p:cNvSpPr>
            <a:spLocks noGrp="1"/>
          </p:cNvSpPr>
          <p:nvPr>
            <p:ph idx="1"/>
          </p:nvPr>
        </p:nvSpPr>
        <p:spPr/>
        <p:txBody>
          <a:bodyPr/>
          <a:lstStyle/>
          <a:p>
            <a:r>
              <a:rPr lang="en-US"/>
              <a:t>The Villa Rotunda</a:t>
            </a:r>
          </a:p>
          <a:p>
            <a:pPr lvl="1"/>
            <a:r>
              <a:rPr lang="en-US"/>
              <a:t>This villa outside Vicenza was designed as a party house and meant to have a spectacular view of the countryside.</a:t>
            </a:r>
          </a:p>
          <a:p>
            <a:pPr lvl="2"/>
            <a:r>
              <a:rPr lang="en-US"/>
              <a:t>It secularized the dome.</a:t>
            </a:r>
          </a:p>
          <a:p>
            <a:pPr lvl="2"/>
            <a:r>
              <a:rPr lang="en-US"/>
              <a:t>Its plan consisted of a circle inscribed within symmetrical squares.</a:t>
            </a:r>
          </a:p>
        </p:txBody>
      </p:sp>
    </p:spTree>
    <p:extLst>
      <p:ext uri="{BB962C8B-B14F-4D97-AF65-F5344CB8AC3E}">
        <p14:creationId xmlns:p14="http://schemas.microsoft.com/office/powerpoint/2010/main" val="4175485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3"/>
          <p:cNvSpPr>
            <a:spLocks noGrp="1"/>
          </p:cNvSpPr>
          <p:nvPr>
            <p:ph type="title"/>
          </p:nvPr>
        </p:nvSpPr>
        <p:spPr/>
        <p:txBody>
          <a:bodyPr/>
          <a:lstStyle/>
          <a:p>
            <a:r>
              <a:rPr lang="en-US" dirty="0"/>
              <a:t>Palladio PLAN OF VILLA ROTONDA, VICENZA</a:t>
            </a:r>
            <a:br>
              <a:rPr lang="en-US" dirty="0"/>
            </a:br>
            <a:r>
              <a:rPr lang="en-US" dirty="0"/>
              <a:t>Italy. Begun 1560s. </a:t>
            </a:r>
          </a:p>
        </p:txBody>
      </p:sp>
      <p:pic>
        <p:nvPicPr>
          <p:cNvPr id="2" name="Picture 1" descr="The Villa Rotonda’s plan is symmetrical, with a dome situated atop a rectangular building, accessible from each side by a wide, projecting staircase.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extLst>
      <p:ext uri="{BB962C8B-B14F-4D97-AF65-F5344CB8AC3E}">
        <p14:creationId xmlns:p14="http://schemas.microsoft.com/office/powerpoint/2010/main" val="1358177296"/>
      </p:ext>
    </p:extLst>
  </p:cSld>
  <p:clrMapOvr>
    <a:masterClrMapping/>
  </p:clrMapOvr>
  <p:transition spd="slow" advTm="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3"/>
          <p:cNvSpPr>
            <a:spLocks noGrp="1"/>
          </p:cNvSpPr>
          <p:nvPr>
            <p:ph type="title"/>
          </p:nvPr>
        </p:nvSpPr>
        <p:spPr/>
        <p:txBody>
          <a:bodyPr>
            <a:normAutofit fontScale="90000"/>
          </a:bodyPr>
          <a:lstStyle/>
          <a:p>
            <a:r>
              <a:rPr lang="en-US" dirty="0"/>
              <a:t>Palladio EXTERIOR VIEW OF VILLA ROTONDA, VICENZA</a:t>
            </a:r>
            <a:br>
              <a:rPr lang="en-US" dirty="0"/>
            </a:br>
            <a:r>
              <a:rPr lang="en-US" dirty="0"/>
              <a:t>After its purchase in 1591 by the Capra family, the Villa </a:t>
            </a:r>
            <a:r>
              <a:rPr lang="en-US" dirty="0" err="1"/>
              <a:t>Rotonda</a:t>
            </a:r>
            <a:r>
              <a:rPr lang="en-US" dirty="0"/>
              <a:t> became known as the Villa Capra. © </a:t>
            </a:r>
            <a:r>
              <a:rPr lang="en-US" dirty="0" err="1"/>
              <a:t>Cameraphoto</a:t>
            </a:r>
            <a:r>
              <a:rPr lang="en-US" dirty="0"/>
              <a:t> </a:t>
            </a:r>
            <a:r>
              <a:rPr lang="en-US" dirty="0" err="1"/>
              <a:t>Arte</a:t>
            </a:r>
            <a:r>
              <a:rPr lang="en-US" dirty="0"/>
              <a:t>, Venice. </a:t>
            </a:r>
          </a:p>
        </p:txBody>
      </p:sp>
      <p:pic>
        <p:nvPicPr>
          <p:cNvPr id="2" name="Picture 1" descr="Statues decorate the bastions flanking the stairs leading up to the villa’s four cardinally placed doors. Each of these doors has its own gabled porch, decorated by statues at the peak and the eav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extLst>
      <p:ext uri="{BB962C8B-B14F-4D97-AF65-F5344CB8AC3E}">
        <p14:creationId xmlns:p14="http://schemas.microsoft.com/office/powerpoint/2010/main" val="3906198916"/>
      </p:ext>
    </p:extLst>
  </p:cSld>
  <p:clrMapOvr>
    <a:masterClrMapping/>
  </p:clrMapOvr>
  <p:transition spd="slow" advTm="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p:cNvSpPr>
            <a:spLocks noGrp="1"/>
          </p:cNvSpPr>
          <p:nvPr>
            <p:ph type="title"/>
          </p:nvPr>
        </p:nvSpPr>
        <p:spPr/>
        <p:txBody>
          <a:bodyPr/>
          <a:lstStyle/>
          <a:p>
            <a:r>
              <a:rPr lang="en-US"/>
              <a:t>Mannerism</a:t>
            </a:r>
          </a:p>
        </p:txBody>
      </p:sp>
      <p:sp>
        <p:nvSpPr>
          <p:cNvPr id="129026" name="Content Placeholder 2"/>
          <p:cNvSpPr>
            <a:spLocks noGrp="1"/>
          </p:cNvSpPr>
          <p:nvPr>
            <p:ph idx="1"/>
          </p:nvPr>
        </p:nvSpPr>
        <p:spPr/>
        <p:txBody>
          <a:bodyPr/>
          <a:lstStyle/>
          <a:p>
            <a:r>
              <a:rPr lang="en-US"/>
              <a:t>This style developed into an anti-Classical movement in which artificiality, grace, and elegance took priority over lifelike references.</a:t>
            </a:r>
          </a:p>
          <a:p>
            <a:r>
              <a:rPr lang="en-US"/>
              <a:t>Patrons favored esoteric subjects.</a:t>
            </a:r>
          </a:p>
          <a:p>
            <a:r>
              <a:rPr lang="en-US"/>
              <a:t>Painters and sculptors quoted other works with self-conscious playfulness.</a:t>
            </a:r>
          </a:p>
          <a:p>
            <a:r>
              <a:rPr lang="en-US"/>
              <a:t>Architects used Classical orders in unconventional ways.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Title 1"/>
          <p:cNvSpPr>
            <a:spLocks noGrp="1"/>
          </p:cNvSpPr>
          <p:nvPr>
            <p:ph type="title"/>
          </p:nvPr>
        </p:nvSpPr>
        <p:spPr/>
        <p:txBody>
          <a:bodyPr/>
          <a:lstStyle/>
          <a:p>
            <a:r>
              <a:rPr lang="en-US"/>
              <a:t>Pontormo, Parmigianino, and Bronzino</a:t>
            </a:r>
            <a:br>
              <a:rPr lang="en-US"/>
            </a:br>
            <a:r>
              <a:rPr lang="en-US"/>
              <a:t>(1 of 6)</a:t>
            </a:r>
          </a:p>
        </p:txBody>
      </p:sp>
      <p:sp>
        <p:nvSpPr>
          <p:cNvPr id="130050" name="Content Placeholder 2"/>
          <p:cNvSpPr>
            <a:spLocks noGrp="1"/>
          </p:cNvSpPr>
          <p:nvPr>
            <p:ph idx="1"/>
          </p:nvPr>
        </p:nvSpPr>
        <p:spPr/>
        <p:txBody>
          <a:bodyPr/>
          <a:lstStyle/>
          <a:p>
            <a:r>
              <a:rPr lang="en-US"/>
              <a:t>This movement was characterized by artificiality, grace, and elegance over ordered balance.</a:t>
            </a:r>
          </a:p>
          <a:p>
            <a:pPr lvl="1"/>
            <a:r>
              <a:rPr lang="en-US"/>
              <a:t>Artists distorted conventions and created contrived, enigmatic forms.</a:t>
            </a:r>
          </a:p>
          <a:p>
            <a:r>
              <a:rPr lang="en-US"/>
              <a:t>Carucci</a:t>
            </a:r>
            <a:r>
              <a:rPr lang="uk-UA"/>
              <a:t>'</a:t>
            </a:r>
            <a:r>
              <a:rPr lang="en-US"/>
              <a:t>s Deposition shows an ambiguous composition with a dreamy atmosphere and odd poses.</a:t>
            </a:r>
          </a:p>
          <a:p>
            <a:pPr lvl="1"/>
            <a:r>
              <a:rPr lang="en-US"/>
              <a:t>Jarring colors are juxtaposed.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Title 1"/>
          <p:cNvSpPr>
            <a:spLocks noGrp="1"/>
          </p:cNvSpPr>
          <p:nvPr>
            <p:ph type="title"/>
          </p:nvPr>
        </p:nvSpPr>
        <p:spPr/>
        <p:txBody>
          <a:bodyPr/>
          <a:lstStyle/>
          <a:p>
            <a:r>
              <a:rPr lang="en-US"/>
              <a:t>Pontormo, Parmigianino, and Bronzino</a:t>
            </a:r>
            <a:br>
              <a:rPr lang="en-US"/>
            </a:br>
            <a:r>
              <a:rPr lang="en-US"/>
              <a:t>(2 of 6)</a:t>
            </a:r>
          </a:p>
        </p:txBody>
      </p:sp>
      <p:sp>
        <p:nvSpPr>
          <p:cNvPr id="131074" name="Content Placeholder 2"/>
          <p:cNvSpPr>
            <a:spLocks noGrp="1"/>
          </p:cNvSpPr>
          <p:nvPr>
            <p:ph idx="1"/>
          </p:nvPr>
        </p:nvSpPr>
        <p:spPr/>
        <p:txBody>
          <a:bodyPr/>
          <a:lstStyle/>
          <a:p>
            <a:r>
              <a:rPr lang="en-US"/>
              <a:t>Painters created contrived compositions and irrational spatial environments, full of quoted references to predecessors</a:t>
            </a:r>
            <a:r>
              <a:rPr lang="uk-UA"/>
              <a:t>'</a:t>
            </a:r>
            <a:r>
              <a:rPr lang="en-US"/>
              <a:t> works.</a:t>
            </a:r>
          </a:p>
          <a:p>
            <a:r>
              <a:rPr lang="en-US"/>
              <a:t>Pontormo</a:t>
            </a:r>
          </a:p>
          <a:p>
            <a:pPr lvl="1"/>
            <a:r>
              <a:rPr lang="en-US"/>
              <a:t>Jacopo Carucci da Pontormo created frescoes for the Capponi Chapel.</a:t>
            </a:r>
          </a:p>
          <a:p>
            <a:pPr lvl="1"/>
            <a:r>
              <a:rPr lang="en-US" i="1"/>
              <a:t>Deposition</a:t>
            </a:r>
            <a:r>
              <a:rPr lang="uk-UA"/>
              <a:t>'</a:t>
            </a:r>
            <a:r>
              <a:rPr lang="en-US"/>
              <a:t>s ambiguous composition gives a visionary feeling to the piece.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Title 3"/>
          <p:cNvSpPr>
            <a:spLocks noGrp="1"/>
          </p:cNvSpPr>
          <p:nvPr>
            <p:ph type="title"/>
          </p:nvPr>
        </p:nvSpPr>
        <p:spPr/>
        <p:txBody>
          <a:bodyPr>
            <a:normAutofit fontScale="90000"/>
          </a:bodyPr>
          <a:lstStyle/>
          <a:p>
            <a:r>
              <a:rPr lang="en-US" dirty="0"/>
              <a:t>CAPPONI CHAPEL, CHURCH OF SANTA FELICITÀ, FLORENCE</a:t>
            </a:r>
            <a:br>
              <a:rPr lang="en-US" dirty="0"/>
            </a:br>
            <a:r>
              <a:rPr lang="en-US" dirty="0"/>
              <a:t>Chapel by Filippo Brunelleschi for the </a:t>
            </a:r>
            <a:r>
              <a:rPr lang="en-US" dirty="0" err="1"/>
              <a:t>Barbadori</a:t>
            </a:r>
            <a:r>
              <a:rPr lang="en-US" dirty="0"/>
              <a:t> family, 1419–1423; acquired by the </a:t>
            </a:r>
            <a:r>
              <a:rPr lang="en-US" dirty="0" err="1"/>
              <a:t>Capponi</a:t>
            </a:r>
            <a:r>
              <a:rPr lang="en-US" dirty="0"/>
              <a:t> family, who ordered paintings by </a:t>
            </a:r>
            <a:r>
              <a:rPr lang="en-US" dirty="0" err="1"/>
              <a:t>Pontormo</a:t>
            </a:r>
            <a:r>
              <a:rPr lang="en-US" dirty="0"/>
              <a:t>, 1525–1528.</a:t>
            </a:r>
            <a:br>
              <a:rPr lang="en-US" dirty="0"/>
            </a:br>
            <a:r>
              <a:rPr lang="en-US" dirty="0"/>
              <a:t>Index </a:t>
            </a:r>
            <a:r>
              <a:rPr lang="en-US" dirty="0" err="1"/>
              <a:t>Ricerca</a:t>
            </a:r>
            <a:r>
              <a:rPr lang="en-US" dirty="0"/>
              <a:t> </a:t>
            </a:r>
            <a:r>
              <a:rPr lang="en-US" dirty="0" err="1"/>
              <a:t>Iconografica</a:t>
            </a:r>
            <a:r>
              <a:rPr lang="en-US" dirty="0"/>
              <a:t>. </a:t>
            </a:r>
          </a:p>
        </p:txBody>
      </p:sp>
      <p:pic>
        <p:nvPicPr>
          <p:cNvPr id="2" name="Picture 1" descr="A metal railing encloses an open archway that looks into a bay decorated by paintings under round arches, with circular medallions in the triangular molding between arches and the circular ring around the ceiling.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Title 3"/>
          <p:cNvSpPr>
            <a:spLocks noGrp="1"/>
          </p:cNvSpPr>
          <p:nvPr>
            <p:ph type="title"/>
          </p:nvPr>
        </p:nvSpPr>
        <p:spPr/>
        <p:txBody>
          <a:bodyPr>
            <a:normAutofit fontScale="90000"/>
          </a:bodyPr>
          <a:lstStyle/>
          <a:p>
            <a:r>
              <a:rPr lang="en-US" dirty="0" err="1"/>
              <a:t>Pontormo</a:t>
            </a:r>
            <a:r>
              <a:rPr lang="en-US" dirty="0"/>
              <a:t> DEPOSITION</a:t>
            </a:r>
            <a:br>
              <a:rPr lang="en-US" dirty="0"/>
            </a:br>
            <a:r>
              <a:rPr lang="en-US" dirty="0"/>
              <a:t>Altarpiece in </a:t>
            </a:r>
            <a:r>
              <a:rPr lang="en-US" dirty="0" err="1"/>
              <a:t>Capponi</a:t>
            </a:r>
            <a:r>
              <a:rPr lang="en-US" dirty="0"/>
              <a:t> Chapel, church of Santa </a:t>
            </a:r>
            <a:r>
              <a:rPr lang="en-US" dirty="0" err="1"/>
              <a:t>Felicità</a:t>
            </a:r>
            <a:r>
              <a:rPr lang="en-US" dirty="0"/>
              <a:t>, Florence. 1525–1528.</a:t>
            </a:r>
            <a:br>
              <a:rPr lang="en-US" dirty="0"/>
            </a:br>
            <a:r>
              <a:rPr lang="en-US" dirty="0"/>
              <a:t>Oil and tempera on wood panel, 10</a:t>
            </a:r>
            <a:r>
              <a:rPr lang="uk-UA" dirty="0"/>
              <a:t>'</a:t>
            </a:r>
            <a:r>
              <a:rPr lang="en-US" dirty="0"/>
              <a:t>3</a:t>
            </a:r>
            <a:r>
              <a:rPr lang="ru-RU" dirty="0"/>
              <a:t>"</a:t>
            </a:r>
            <a:r>
              <a:rPr lang="en-US" dirty="0"/>
              <a:t> × 6</a:t>
            </a:r>
            <a:r>
              <a:rPr lang="uk-UA" dirty="0"/>
              <a:t>'</a:t>
            </a:r>
            <a:r>
              <a:rPr lang="en-US" dirty="0"/>
              <a:t>4</a:t>
            </a:r>
            <a:r>
              <a:rPr lang="ru-RU" dirty="0"/>
              <a:t>"</a:t>
            </a:r>
            <a:r>
              <a:rPr lang="en-US" dirty="0"/>
              <a:t> (3.1 × 1.9 m).</a:t>
            </a:r>
            <a:br>
              <a:rPr lang="en-US" dirty="0"/>
            </a:br>
            <a:r>
              <a:rPr lang="en-US" dirty="0"/>
              <a:t>© Studio </a:t>
            </a:r>
            <a:r>
              <a:rPr lang="en-US" dirty="0" err="1"/>
              <a:t>Fotografico</a:t>
            </a:r>
            <a:r>
              <a:rPr lang="en-US" dirty="0"/>
              <a:t> </a:t>
            </a:r>
            <a:r>
              <a:rPr lang="en-US" dirty="0" err="1"/>
              <a:t>Quattrone</a:t>
            </a:r>
            <a:r>
              <a:rPr lang="en-US" dirty="0"/>
              <a:t>, Florence. </a:t>
            </a:r>
          </a:p>
        </p:txBody>
      </p:sp>
      <p:pic>
        <p:nvPicPr>
          <p:cNvPr id="2" name="Picture 1" descr="Distraught youths in colorful drapery lower Jesus’s lifeless body from the place of his crucifixion, while Mary is unable to follow, attended by a few youths who remain behin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itle 1"/>
          <p:cNvSpPr>
            <a:spLocks noGrp="1"/>
          </p:cNvSpPr>
          <p:nvPr>
            <p:ph type="title"/>
          </p:nvPr>
        </p:nvSpPr>
        <p:spPr/>
        <p:txBody>
          <a:bodyPr/>
          <a:lstStyle/>
          <a:p>
            <a:r>
              <a:rPr lang="en-US"/>
              <a:t>Pontormo, Parmigianino, and Bronzino</a:t>
            </a:r>
            <a:br>
              <a:rPr lang="en-US"/>
            </a:br>
            <a:r>
              <a:rPr lang="en-US"/>
              <a:t>(3 of 6)</a:t>
            </a:r>
          </a:p>
        </p:txBody>
      </p:sp>
      <p:sp>
        <p:nvSpPr>
          <p:cNvPr id="134146" name="Content Placeholder 2"/>
          <p:cNvSpPr>
            <a:spLocks noGrp="1"/>
          </p:cNvSpPr>
          <p:nvPr>
            <p:ph idx="1"/>
          </p:nvPr>
        </p:nvSpPr>
        <p:spPr/>
        <p:txBody>
          <a:bodyPr/>
          <a:lstStyle/>
          <a:p>
            <a:r>
              <a:rPr lang="en-US"/>
              <a:t>Pontormo</a:t>
            </a:r>
          </a:p>
          <a:p>
            <a:pPr lvl="1"/>
            <a:r>
              <a:rPr lang="en-US" i="1"/>
              <a:t>Deposition</a:t>
            </a:r>
            <a:r>
              <a:rPr lang="uk-UA"/>
              <a:t>'</a:t>
            </a:r>
            <a:r>
              <a:rPr lang="en-US"/>
              <a:t>s ambiguous composition gives a visionary feeling to the piece.</a:t>
            </a:r>
          </a:p>
          <a:p>
            <a:pPr lvl="2"/>
            <a:r>
              <a:rPr lang="en-US"/>
              <a:t>Some figures press into the viewer</a:t>
            </a:r>
            <a:r>
              <a:rPr lang="uk-UA"/>
              <a:t>'</a:t>
            </a:r>
            <a:r>
              <a:rPr lang="en-US"/>
              <a:t>s space while others stand on tiptoe, creating odd poses.</a:t>
            </a:r>
          </a:p>
          <a:p>
            <a:pPr lvl="2"/>
            <a:r>
              <a:rPr lang="en-US"/>
              <a:t>The most striking oddity of this altarpiece is the choice of colors with bizarre juxtapositions.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Title 1"/>
          <p:cNvSpPr>
            <a:spLocks noGrp="1"/>
          </p:cNvSpPr>
          <p:nvPr>
            <p:ph type="title"/>
          </p:nvPr>
        </p:nvSpPr>
        <p:spPr/>
        <p:txBody>
          <a:bodyPr/>
          <a:lstStyle/>
          <a:p>
            <a:r>
              <a:rPr lang="en-US"/>
              <a:t>Pontormo, Parmigianino, and Bronzino</a:t>
            </a:r>
            <a:br>
              <a:rPr lang="en-US"/>
            </a:br>
            <a:r>
              <a:rPr lang="en-US"/>
              <a:t>(4 of 6)</a:t>
            </a:r>
          </a:p>
        </p:txBody>
      </p:sp>
      <p:sp>
        <p:nvSpPr>
          <p:cNvPr id="137218" name="Content Placeholder 2"/>
          <p:cNvSpPr>
            <a:spLocks noGrp="1"/>
          </p:cNvSpPr>
          <p:nvPr>
            <p:ph idx="1"/>
          </p:nvPr>
        </p:nvSpPr>
        <p:spPr/>
        <p:txBody>
          <a:bodyPr/>
          <a:lstStyle/>
          <a:p>
            <a:r>
              <a:rPr lang="en-US"/>
              <a:t>Parmigianino</a:t>
            </a:r>
          </a:p>
          <a:p>
            <a:pPr lvl="1"/>
            <a:r>
              <a:rPr lang="en-US"/>
              <a:t>Left unfinished at the time of the artist</a:t>
            </a:r>
            <a:r>
              <a:rPr lang="uk-UA"/>
              <a:t>'</a:t>
            </a:r>
            <a:r>
              <a:rPr lang="en-US"/>
              <a:t>s early death is the </a:t>
            </a:r>
            <a:r>
              <a:rPr lang="en-US" i="1"/>
              <a:t>Madonna of the Long Neck</a:t>
            </a:r>
            <a:r>
              <a:rPr lang="en-US"/>
              <a:t>.</a:t>
            </a:r>
          </a:p>
          <a:p>
            <a:pPr lvl="1"/>
            <a:r>
              <a:rPr lang="en-US"/>
              <a:t>Mary</a:t>
            </a:r>
            <a:r>
              <a:rPr lang="uk-UA"/>
              <a:t>'</a:t>
            </a:r>
            <a:r>
              <a:rPr lang="en-US"/>
              <a:t>s proportions are unnatural, with her massive legs contrasting narrow shoulders and long neck and fingers.</a:t>
            </a:r>
          </a:p>
          <a:p>
            <a:pPr lvl="1"/>
            <a:r>
              <a:rPr lang="en-US"/>
              <a:t>The well-known scene is presented in a manner intended to intrigue viewers.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Title 3"/>
          <p:cNvSpPr>
            <a:spLocks noGrp="1"/>
          </p:cNvSpPr>
          <p:nvPr>
            <p:ph type="title"/>
          </p:nvPr>
        </p:nvSpPr>
        <p:spPr/>
        <p:txBody>
          <a:bodyPr>
            <a:normAutofit fontScale="90000"/>
          </a:bodyPr>
          <a:lstStyle/>
          <a:p>
            <a:r>
              <a:rPr lang="en-US" dirty="0"/>
              <a:t>Parmigianino MADONNA OF THE LONG NECK</a:t>
            </a:r>
            <a:br>
              <a:rPr lang="en-US" dirty="0"/>
            </a:br>
            <a:r>
              <a:rPr lang="en-US" dirty="0"/>
              <a:t>1534–1540. Oil on wood panel, 7</a:t>
            </a:r>
            <a:r>
              <a:rPr lang="uk-UA" dirty="0"/>
              <a:t>'</a:t>
            </a:r>
            <a:r>
              <a:rPr lang="en-US" dirty="0"/>
              <a:t>1</a:t>
            </a:r>
            <a:r>
              <a:rPr lang="ru-RU" dirty="0"/>
              <a:t>"</a:t>
            </a:r>
            <a:r>
              <a:rPr lang="en-US" dirty="0"/>
              <a:t> × 4</a:t>
            </a:r>
            <a:r>
              <a:rPr lang="uk-UA" dirty="0"/>
              <a:t>'</a:t>
            </a:r>
            <a:r>
              <a:rPr lang="en-US" dirty="0"/>
              <a:t>4</a:t>
            </a:r>
            <a:r>
              <a:rPr lang="ru-RU" dirty="0"/>
              <a:t>"</a:t>
            </a:r>
            <a:r>
              <a:rPr lang="en-US" dirty="0"/>
              <a:t> (2.16 × 1.32 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 </a:t>
            </a:r>
          </a:p>
        </p:txBody>
      </p:sp>
      <p:pic>
        <p:nvPicPr>
          <p:cNvPr id="2" name="Picture 1" descr="Youths in scant clothing approach a version of the Madonna as she holds the nude Jesus. Jesus sprawls across Mary’s lap, his body oddly long, as is his mother’s body. Her drapery leaves her body in clear outline underneath, but its ratios are unnatural.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Title 1"/>
          <p:cNvSpPr>
            <a:spLocks noGrp="1"/>
          </p:cNvSpPr>
          <p:nvPr>
            <p:ph type="title"/>
          </p:nvPr>
        </p:nvSpPr>
        <p:spPr/>
        <p:txBody>
          <a:bodyPr/>
          <a:lstStyle/>
          <a:p>
            <a:r>
              <a:rPr lang="en-US"/>
              <a:t>Pontormo, Parmigianino, and Bronzino</a:t>
            </a:r>
            <a:br>
              <a:rPr lang="en-US"/>
            </a:br>
            <a:r>
              <a:rPr lang="en-US"/>
              <a:t>(5 of 6)</a:t>
            </a:r>
          </a:p>
        </p:txBody>
      </p:sp>
      <p:sp>
        <p:nvSpPr>
          <p:cNvPr id="140290" name="Content Placeholder 2"/>
          <p:cNvSpPr>
            <a:spLocks noGrp="1"/>
          </p:cNvSpPr>
          <p:nvPr>
            <p:ph idx="1"/>
          </p:nvPr>
        </p:nvSpPr>
        <p:spPr/>
        <p:txBody>
          <a:bodyPr/>
          <a:lstStyle/>
          <a:p>
            <a:r>
              <a:rPr lang="en-US"/>
              <a:t>Bronzino</a:t>
            </a:r>
          </a:p>
          <a:p>
            <a:pPr lvl="1"/>
            <a:r>
              <a:rPr lang="en-US"/>
              <a:t>The portrait of </a:t>
            </a:r>
            <a:r>
              <a:rPr lang="en-US" i="1"/>
              <a:t>Eleonora of Toledo </a:t>
            </a:r>
            <a:r>
              <a:rPr lang="en-US"/>
              <a:t>shows the mother and her second son in a haughty, self-assured way.</a:t>
            </a:r>
          </a:p>
          <a:p>
            <a:pPr lvl="2"/>
            <a:r>
              <a:rPr lang="en-US"/>
              <a:t>It is an embodiment of dynastic power and an assurance of Medici succession.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Title 3"/>
          <p:cNvSpPr>
            <a:spLocks noGrp="1"/>
          </p:cNvSpPr>
          <p:nvPr>
            <p:ph type="title"/>
          </p:nvPr>
        </p:nvSpPr>
        <p:spPr/>
        <p:txBody>
          <a:bodyPr>
            <a:normAutofit fontScale="90000"/>
          </a:bodyPr>
          <a:lstStyle/>
          <a:p>
            <a:r>
              <a:rPr lang="en-US" dirty="0" err="1"/>
              <a:t>Bronzino</a:t>
            </a:r>
            <a:r>
              <a:rPr lang="en-US" dirty="0"/>
              <a:t> PORTRAIT OF ELEONORA OF TOLEDO AND HER SON GIOVANNI DE</a:t>
            </a:r>
            <a:r>
              <a:rPr lang="uk-UA" dirty="0"/>
              <a:t>'</a:t>
            </a:r>
            <a:r>
              <a:rPr lang="en-US" dirty="0"/>
              <a:t> MEDICI</a:t>
            </a:r>
            <a:br>
              <a:rPr lang="en-US" dirty="0"/>
            </a:br>
            <a:r>
              <a:rPr lang="en-US" dirty="0"/>
              <a:t>1545. Oil on wood panel, 45-1/4 × 37-3/4</a:t>
            </a:r>
            <a:r>
              <a:rPr lang="ru-RU" dirty="0"/>
              <a:t>"</a:t>
            </a:r>
            <a:r>
              <a:rPr lang="en-US" dirty="0"/>
              <a:t> (115 × 96 cm).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 </a:t>
            </a:r>
          </a:p>
        </p:txBody>
      </p:sp>
      <p:pic>
        <p:nvPicPr>
          <p:cNvPr id="2" name="Picture 1" descr="A woman sits in a comfortable, domestic setting, with her arm around her young child’s shoulders. The boy wears a collared shirt, while his mother wears an intricately decorated dress and strings of pearl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Title 1"/>
          <p:cNvSpPr>
            <a:spLocks noGrp="1"/>
          </p:cNvSpPr>
          <p:nvPr>
            <p:ph type="title"/>
          </p:nvPr>
        </p:nvSpPr>
        <p:spPr/>
        <p:txBody>
          <a:bodyPr/>
          <a:lstStyle/>
          <a:p>
            <a:r>
              <a:rPr lang="en-US"/>
              <a:t>Pontormo, Parmigianino, and Bronzino</a:t>
            </a:r>
            <a:br>
              <a:rPr lang="en-US"/>
            </a:br>
            <a:r>
              <a:rPr lang="en-US"/>
              <a:t>(6 of 6)</a:t>
            </a:r>
          </a:p>
        </p:txBody>
      </p:sp>
      <p:sp>
        <p:nvSpPr>
          <p:cNvPr id="143362" name="Content Placeholder 2"/>
          <p:cNvSpPr>
            <a:spLocks noGrp="1"/>
          </p:cNvSpPr>
          <p:nvPr>
            <p:ph idx="1"/>
          </p:nvPr>
        </p:nvSpPr>
        <p:spPr/>
        <p:txBody>
          <a:bodyPr/>
          <a:lstStyle/>
          <a:p>
            <a:r>
              <a:rPr lang="en-US"/>
              <a:t>Bronzino</a:t>
            </a:r>
          </a:p>
          <a:p>
            <a:pPr lvl="1"/>
            <a:r>
              <a:rPr lang="en-US"/>
              <a:t>Bronzino</a:t>
            </a:r>
            <a:r>
              <a:rPr lang="uk-UA"/>
              <a:t>'</a:t>
            </a:r>
            <a:r>
              <a:rPr lang="en-US"/>
              <a:t>s </a:t>
            </a:r>
            <a:r>
              <a:rPr lang="en-US" i="1"/>
              <a:t>Allegory with Venus and Cupid </a:t>
            </a:r>
            <a:r>
              <a:rPr lang="en-US"/>
              <a:t>is one of the strangest paintings of the sixteenth century.</a:t>
            </a:r>
          </a:p>
          <a:p>
            <a:pPr lvl="1"/>
            <a:r>
              <a:rPr lang="en-US"/>
              <a:t>Complex interweaving of seven figures, three masks, and a dove press into the foreground.</a:t>
            </a:r>
          </a:p>
          <a:p>
            <a:pPr lvl="1"/>
            <a:r>
              <a:rPr lang="en-US"/>
              <a:t>Venus and her son Cupid engage in unsettlingly erotic actions while Chronos pulls back a curtain to expose them.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Title 3"/>
          <p:cNvSpPr>
            <a:spLocks noGrp="1"/>
          </p:cNvSpPr>
          <p:nvPr>
            <p:ph type="title"/>
          </p:nvPr>
        </p:nvSpPr>
        <p:spPr/>
        <p:txBody>
          <a:bodyPr>
            <a:normAutofit fontScale="90000"/>
          </a:bodyPr>
          <a:lstStyle/>
          <a:p>
            <a:r>
              <a:rPr lang="en-US" dirty="0" err="1"/>
              <a:t>Bronzino</a:t>
            </a:r>
            <a:r>
              <a:rPr lang="en-US" dirty="0"/>
              <a:t> ALLEGORY WITH VENUS AND CUPID</a:t>
            </a:r>
            <a:br>
              <a:rPr lang="en-US" dirty="0"/>
            </a:br>
            <a:r>
              <a:rPr lang="en-US" dirty="0"/>
              <a:t>Mid 1540s. Oil on panel, 57-1/2 × 46</a:t>
            </a:r>
            <a:r>
              <a:rPr lang="ru-RU" dirty="0"/>
              <a:t>"</a:t>
            </a:r>
            <a:r>
              <a:rPr lang="en-US" dirty="0"/>
              <a:t> (1.46 × 1.16 m).</a:t>
            </a:r>
            <a:br>
              <a:rPr lang="en-US" dirty="0"/>
            </a:br>
            <a:r>
              <a:rPr lang="en-US" dirty="0"/>
              <a:t>National Gallery, London. © 2016. </a:t>
            </a:r>
            <a:r>
              <a:rPr lang="en-GB" dirty="0"/>
              <a:t>Copyright The National Gallery, London/Scala, Florence.</a:t>
            </a:r>
            <a:r>
              <a:rPr lang="en-US" dirty="0"/>
              <a:t> </a:t>
            </a:r>
          </a:p>
        </p:txBody>
      </p:sp>
      <p:pic>
        <p:nvPicPr>
          <p:cNvPr id="2" name="Picture 1" descr="A collection of iconic figures gather around the nude depictions of Venus, as a young woman, and Cupid, as an even younger boy, embracing and kissing as if they are lover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Title 1"/>
          <p:cNvSpPr>
            <a:spLocks noGrp="1"/>
          </p:cNvSpPr>
          <p:nvPr>
            <p:ph type="title"/>
          </p:nvPr>
        </p:nvSpPr>
        <p:spPr/>
        <p:txBody>
          <a:bodyPr/>
          <a:lstStyle/>
          <a:p>
            <a:r>
              <a:rPr lang="en-US"/>
              <a:t>Anguissola and Fontana (1 of 2)</a:t>
            </a:r>
          </a:p>
        </p:txBody>
      </p:sp>
      <p:sp>
        <p:nvSpPr>
          <p:cNvPr id="146434" name="Content Placeholder 2"/>
          <p:cNvSpPr>
            <a:spLocks noGrp="1"/>
          </p:cNvSpPr>
          <p:nvPr>
            <p:ph idx="1"/>
          </p:nvPr>
        </p:nvSpPr>
        <p:spPr/>
        <p:txBody>
          <a:bodyPr/>
          <a:lstStyle/>
          <a:p>
            <a:r>
              <a:rPr lang="en-US"/>
              <a:t>Sofonisba Anguissola (c. 1532–1625) was a skilled miniaturist.</a:t>
            </a:r>
          </a:p>
          <a:p>
            <a:r>
              <a:rPr lang="en-US"/>
              <a:t>She worked as court painter to the queen of Spain from 1560, but her works were lost in a palace fire.</a:t>
            </a:r>
          </a:p>
          <a:p>
            <a:r>
              <a:rPr lang="en-US"/>
              <a:t>Anthony van Dyck sketched her portrait in 1624 when she was 96 years old.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Title 3"/>
          <p:cNvSpPr>
            <a:spLocks noGrp="1"/>
          </p:cNvSpPr>
          <p:nvPr>
            <p:ph type="title"/>
          </p:nvPr>
        </p:nvSpPr>
        <p:spPr/>
        <p:txBody>
          <a:bodyPr>
            <a:normAutofit fontScale="90000"/>
          </a:bodyPr>
          <a:lstStyle/>
          <a:p>
            <a:r>
              <a:rPr lang="en-US" dirty="0" err="1"/>
              <a:t>Sofonisba</a:t>
            </a:r>
            <a:r>
              <a:rPr lang="en-US" dirty="0"/>
              <a:t> Anguissola SELF-PORTRAIT</a:t>
            </a:r>
            <a:br>
              <a:rPr lang="en-US" dirty="0"/>
            </a:br>
            <a:r>
              <a:rPr lang="en-US" dirty="0"/>
              <a:t>c. 1556. Varnished watercolor on parchment, 3-1/4</a:t>
            </a:r>
            <a:r>
              <a:rPr lang="ru-RU" dirty="0"/>
              <a:t>"</a:t>
            </a:r>
            <a:r>
              <a:rPr lang="en-US" dirty="0"/>
              <a:t> × 2-1/2</a:t>
            </a:r>
            <a:r>
              <a:rPr lang="ru-RU" dirty="0"/>
              <a:t>"</a:t>
            </a:r>
            <a:r>
              <a:rPr lang="en-US" dirty="0"/>
              <a:t> (8.3 × 6.4 cm).</a:t>
            </a:r>
            <a:br>
              <a:rPr lang="en-US" dirty="0"/>
            </a:br>
            <a:r>
              <a:rPr lang="en-US" dirty="0"/>
              <a:t>Museum of Fine Arts, Boston. Emma F. Munroe Fund 60.155. Photograph © 2017 Museum of Fine Arts, Boston. </a:t>
            </a:r>
          </a:p>
        </p:txBody>
      </p:sp>
      <p:pic>
        <p:nvPicPr>
          <p:cNvPr id="2" name="Picture 1" descr="A young woman holds a large, circular medallion with writing around its circumference, framing a complex symbol that combines the shapes of several capital letter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Title 1"/>
          <p:cNvSpPr>
            <a:spLocks noGrp="1"/>
          </p:cNvSpPr>
          <p:nvPr>
            <p:ph type="title"/>
          </p:nvPr>
        </p:nvSpPr>
        <p:spPr/>
        <p:txBody>
          <a:bodyPr/>
          <a:lstStyle/>
          <a:p>
            <a:r>
              <a:rPr lang="en-US"/>
              <a:t>Anguissola and Fontana (2 of 2)</a:t>
            </a:r>
          </a:p>
        </p:txBody>
      </p:sp>
      <p:sp>
        <p:nvSpPr>
          <p:cNvPr id="149506" name="Content Placeholder 2"/>
          <p:cNvSpPr>
            <a:spLocks noGrp="1"/>
          </p:cNvSpPr>
          <p:nvPr>
            <p:ph idx="1"/>
          </p:nvPr>
        </p:nvSpPr>
        <p:spPr/>
        <p:txBody>
          <a:bodyPr/>
          <a:lstStyle/>
          <a:p>
            <a:r>
              <a:rPr lang="en-US"/>
              <a:t>Lavinia Fontana (1552–1614) found a successful career in Bologna that would later boast her to position of papal court painter in 1603.</a:t>
            </a:r>
          </a:p>
          <a:p>
            <a:r>
              <a:rPr lang="en-US" i="1"/>
              <a:t>Noli Me Tangere </a:t>
            </a:r>
            <a:r>
              <a:rPr lang="en-US"/>
              <a:t>shows Christ revealing himself to Mary Magdalen following his resurrection.</a:t>
            </a:r>
          </a:p>
          <a:p>
            <a:pPr lvl="1"/>
            <a:r>
              <a:rPr lang="en-US"/>
              <a:t>Its unsettling diagonal plunge into depth is characteristic of the Mannerist style.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Title 3"/>
          <p:cNvSpPr>
            <a:spLocks noGrp="1"/>
          </p:cNvSpPr>
          <p:nvPr>
            <p:ph type="title"/>
          </p:nvPr>
        </p:nvSpPr>
        <p:spPr/>
        <p:txBody>
          <a:bodyPr>
            <a:normAutofit fontScale="90000"/>
          </a:bodyPr>
          <a:lstStyle/>
          <a:p>
            <a:r>
              <a:rPr lang="en-US" dirty="0"/>
              <a:t>Lavinia Fontana NOLI ME TANGERE</a:t>
            </a:r>
            <a:br>
              <a:rPr lang="en-US" dirty="0"/>
            </a:br>
            <a:r>
              <a:rPr lang="en-US" dirty="0"/>
              <a:t>1581. Oil on canvas, 47-3/8</a:t>
            </a:r>
            <a:r>
              <a:rPr lang="ru-RU" dirty="0"/>
              <a:t>"</a:t>
            </a:r>
            <a:r>
              <a:rPr lang="en-US" dirty="0"/>
              <a:t> × 36-5/8</a:t>
            </a:r>
            <a:r>
              <a:rPr lang="ru-RU" dirty="0"/>
              <a:t>"</a:t>
            </a:r>
            <a:r>
              <a:rPr lang="en-US" dirty="0"/>
              <a:t> (120.3 × 93 cm).</a:t>
            </a:r>
            <a:br>
              <a:rPr lang="en-US" dirty="0"/>
            </a:br>
            <a:r>
              <a:rPr lang="en-US" dirty="0"/>
              <a:t>Galleria </a:t>
            </a:r>
            <a:r>
              <a:rPr lang="en-US" dirty="0" err="1"/>
              <a:t>degli</a:t>
            </a:r>
            <a:r>
              <a:rPr lang="en-US" dirty="0"/>
              <a:t> Uffizi, Florence. </a:t>
            </a:r>
            <a:r>
              <a:rPr lang="en-US" dirty="0" err="1"/>
              <a:t>Canali</a:t>
            </a:r>
            <a:r>
              <a:rPr lang="en-US" dirty="0"/>
              <a:t> Photobank, Milan, Italy. </a:t>
            </a:r>
          </a:p>
        </p:txBody>
      </p:sp>
      <p:pic>
        <p:nvPicPr>
          <p:cNvPr id="2" name="Picture 1" descr="Two scenes play out at once. In the foreground, Jesus appears to Mary Magdalene as a farmer, with a shovel and a wide hat. In the background, two women approach Christ’s opened tomb, where an angel sits on his empty sarcophagu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Title 1"/>
          <p:cNvSpPr>
            <a:spLocks noGrp="1"/>
          </p:cNvSpPr>
          <p:nvPr>
            <p:ph type="title"/>
          </p:nvPr>
        </p:nvSpPr>
        <p:spPr/>
        <p:txBody>
          <a:bodyPr/>
          <a:lstStyle/>
          <a:p>
            <a:r>
              <a:rPr lang="en-US"/>
              <a:t>Sculpture (1 of 2)</a:t>
            </a:r>
          </a:p>
        </p:txBody>
      </p:sp>
      <p:sp>
        <p:nvSpPr>
          <p:cNvPr id="152578" name="Content Placeholder 2"/>
          <p:cNvSpPr>
            <a:spLocks noGrp="1"/>
          </p:cNvSpPr>
          <p:nvPr>
            <p:ph idx="1"/>
          </p:nvPr>
        </p:nvSpPr>
        <p:spPr/>
        <p:txBody>
          <a:bodyPr/>
          <a:lstStyle/>
          <a:p>
            <a:r>
              <a:rPr lang="en-US"/>
              <a:t>Mannerist sculpture stylizes body forms and foregrounds. </a:t>
            </a:r>
          </a:p>
          <a:p>
            <a:r>
              <a:rPr lang="en-US"/>
              <a:t>Cellini</a:t>
            </a:r>
          </a:p>
          <a:p>
            <a:pPr lvl="1"/>
            <a:r>
              <a:rPr lang="en-US"/>
              <a:t>At Fontainebleau, Benvenuto Cellini created the </a:t>
            </a:r>
            <a:r>
              <a:rPr lang="en-US" i="1"/>
              <a:t>Salt-Cellar of King Francis I</a:t>
            </a:r>
            <a:r>
              <a:rPr lang="en-US"/>
              <a:t>.</a:t>
            </a:r>
          </a:p>
          <a:p>
            <a:pPr lvl="2"/>
            <a:r>
              <a:rPr lang="en-US"/>
              <a:t>Figures representing the land and the sea lean back at impossible angles.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Title 3"/>
          <p:cNvSpPr>
            <a:spLocks noGrp="1"/>
          </p:cNvSpPr>
          <p:nvPr>
            <p:ph type="title"/>
          </p:nvPr>
        </p:nvSpPr>
        <p:spPr/>
        <p:txBody>
          <a:bodyPr>
            <a:normAutofit fontScale="90000"/>
          </a:bodyPr>
          <a:lstStyle/>
          <a:p>
            <a:r>
              <a:rPr lang="en-US" dirty="0"/>
              <a:t>Benvenuto Cellini SALTCELLAR OF KING FRANCIS I OF FRANCE</a:t>
            </a:r>
            <a:br>
              <a:rPr lang="en-US" dirty="0"/>
            </a:br>
            <a:r>
              <a:rPr lang="en-US" dirty="0"/>
              <a:t>1540–1543. Gold and enamel, 10-1/2</a:t>
            </a:r>
            <a:r>
              <a:rPr lang="ru-RU" dirty="0"/>
              <a:t>"</a:t>
            </a:r>
            <a:r>
              <a:rPr lang="en-US" dirty="0"/>
              <a:t> × 13-1/8</a:t>
            </a:r>
            <a:r>
              <a:rPr lang="ru-RU" dirty="0"/>
              <a:t>"</a:t>
            </a:r>
            <a:r>
              <a:rPr lang="en-US" dirty="0"/>
              <a:t> (26.67 × 33.34 cm).</a:t>
            </a:r>
            <a:br>
              <a:rPr lang="en-US" dirty="0"/>
            </a:br>
            <a:r>
              <a:rPr lang="en-US" dirty="0" err="1"/>
              <a:t>Kunsthistorisches</a:t>
            </a:r>
            <a:r>
              <a:rPr lang="en-US" dirty="0"/>
              <a:t> Museum, Vienna. © KHM-</a:t>
            </a:r>
            <a:r>
              <a:rPr lang="en-US" dirty="0" err="1"/>
              <a:t>Museumsverband</a:t>
            </a:r>
            <a:r>
              <a:rPr lang="en-US" dirty="0"/>
              <a:t>. </a:t>
            </a:r>
          </a:p>
        </p:txBody>
      </p:sp>
      <p:pic>
        <p:nvPicPr>
          <p:cNvPr id="2" name="Picture 1" descr="A nude man and woman recline on a cushion, leaning away but facing each other. The man holds a trident in a phallic posture, while the woman pinches one of her nipple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p:txBody>
          <a:bodyPr/>
          <a:lstStyle/>
          <a:p>
            <a:r>
              <a:rPr lang="en-US"/>
              <a:t>Sculpture (2 of 2)</a:t>
            </a:r>
          </a:p>
        </p:txBody>
      </p:sp>
      <p:sp>
        <p:nvSpPr>
          <p:cNvPr id="155650" name="Content Placeholder 2"/>
          <p:cNvSpPr>
            <a:spLocks noGrp="1"/>
          </p:cNvSpPr>
          <p:nvPr>
            <p:ph idx="1"/>
          </p:nvPr>
        </p:nvSpPr>
        <p:spPr/>
        <p:txBody>
          <a:bodyPr/>
          <a:lstStyle/>
          <a:p>
            <a:r>
              <a:rPr lang="en-US"/>
              <a:t>Giambologna</a:t>
            </a:r>
          </a:p>
          <a:p>
            <a:pPr lvl="1"/>
            <a:r>
              <a:rPr lang="en-US"/>
              <a:t>Sculptor Giambologna</a:t>
            </a:r>
            <a:r>
              <a:rPr lang="uk-UA"/>
              <a:t>'</a:t>
            </a:r>
            <a:r>
              <a:rPr lang="en-US"/>
              <a:t>s artistic output included fountains and works in bronze.</a:t>
            </a:r>
          </a:p>
          <a:p>
            <a:pPr lvl="1"/>
            <a:r>
              <a:rPr lang="en-US" i="1"/>
              <a:t>The Capture of a Sabine Woman </a:t>
            </a:r>
            <a:r>
              <a:rPr lang="en-US"/>
              <a:t>is his most famous sculpture.</a:t>
            </a:r>
          </a:p>
          <a:p>
            <a:pPr lvl="2"/>
            <a:r>
              <a:rPr lang="en-US"/>
              <a:t>This piece was carved from a single block of marble despite its deep undercutting and projecting gestures.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Title 3"/>
          <p:cNvSpPr>
            <a:spLocks noGrp="1"/>
          </p:cNvSpPr>
          <p:nvPr>
            <p:ph type="title"/>
          </p:nvPr>
        </p:nvSpPr>
        <p:spPr/>
        <p:txBody>
          <a:bodyPr>
            <a:normAutofit fontScale="90000"/>
          </a:bodyPr>
          <a:lstStyle/>
          <a:p>
            <a:r>
              <a:rPr lang="en-US" dirty="0" err="1"/>
              <a:t>Giambologna</a:t>
            </a:r>
            <a:r>
              <a:rPr lang="en-US" dirty="0"/>
              <a:t> THE CAPTURE OF A SABINE WOMAN</a:t>
            </a:r>
            <a:br>
              <a:rPr lang="en-US" dirty="0"/>
            </a:br>
            <a:r>
              <a:rPr lang="en-US" dirty="0"/>
              <a:t>1581–1582. Marble, height 13</a:t>
            </a:r>
            <a:r>
              <a:rPr lang="uk-UA" dirty="0"/>
              <a:t>'</a:t>
            </a:r>
            <a:r>
              <a:rPr lang="en-US" dirty="0"/>
              <a:t>6</a:t>
            </a:r>
            <a:r>
              <a:rPr lang="ru-RU" dirty="0"/>
              <a:t>"</a:t>
            </a:r>
            <a:r>
              <a:rPr lang="en-US" dirty="0"/>
              <a:t> (4.1 m).</a:t>
            </a:r>
            <a:br>
              <a:rPr lang="en-US" dirty="0"/>
            </a:br>
            <a:r>
              <a:rPr lang="en-US" dirty="0"/>
              <a:t>Loggia </a:t>
            </a:r>
            <a:r>
              <a:rPr lang="en-US" dirty="0" err="1"/>
              <a:t>dei</a:t>
            </a:r>
            <a:r>
              <a:rPr lang="en-US" dirty="0"/>
              <a:t> </a:t>
            </a:r>
            <a:r>
              <a:rPr lang="en-US" dirty="0" err="1"/>
              <a:t>Lanzi</a:t>
            </a:r>
            <a:r>
              <a:rPr lang="en-US" dirty="0"/>
              <a:t>, Florence. © Studio </a:t>
            </a:r>
            <a:r>
              <a:rPr lang="en-US" dirty="0" err="1"/>
              <a:t>Fotografico</a:t>
            </a:r>
            <a:r>
              <a:rPr lang="en-US" dirty="0"/>
              <a:t> </a:t>
            </a:r>
            <a:r>
              <a:rPr lang="en-US" dirty="0" err="1"/>
              <a:t>Quattrone</a:t>
            </a:r>
            <a:r>
              <a:rPr lang="en-US" dirty="0"/>
              <a:t>, Florence.</a:t>
            </a:r>
          </a:p>
        </p:txBody>
      </p:sp>
      <p:pic>
        <p:nvPicPr>
          <p:cNvPr id="2" name="Picture 1" descr="Two images show different views of the same sculpture, which depicts three nude forms in three-hundred and sixty degrees of detail. One man straddles another man’s torso, clutching a woman as if from the air itself."/>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Title 1"/>
          <p:cNvSpPr>
            <a:spLocks noGrp="1"/>
          </p:cNvSpPr>
          <p:nvPr>
            <p:ph type="title"/>
          </p:nvPr>
        </p:nvSpPr>
        <p:spPr/>
        <p:txBody>
          <a:bodyPr/>
          <a:lstStyle/>
          <a:p>
            <a:r>
              <a:rPr lang="en-US"/>
              <a:t>Art and the Counter-Reformation</a:t>
            </a:r>
          </a:p>
        </p:txBody>
      </p:sp>
      <p:sp>
        <p:nvSpPr>
          <p:cNvPr id="160770" name="Content Placeholder 2"/>
          <p:cNvSpPr>
            <a:spLocks noGrp="1"/>
          </p:cNvSpPr>
          <p:nvPr>
            <p:ph idx="1"/>
          </p:nvPr>
        </p:nvSpPr>
        <p:spPr/>
        <p:txBody>
          <a:bodyPr/>
          <a:lstStyle/>
          <a:p>
            <a:r>
              <a:rPr lang="en-US"/>
              <a:t>Paul III was the first pope to pursue Church reform in response to Protestantism. </a:t>
            </a:r>
          </a:p>
          <a:p>
            <a:pPr lvl="1"/>
            <a:r>
              <a:rPr lang="en-US"/>
              <a:t>He founded the Inquisition, an office that sought out heretics.</a:t>
            </a:r>
          </a:p>
          <a:p>
            <a:r>
              <a:rPr lang="en-US"/>
              <a:t>Art became a powerful weapon of propaganda, especially in the Society of Jesus founded by Ignatius of Loyola.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Title 1"/>
          <p:cNvSpPr>
            <a:spLocks noGrp="1"/>
          </p:cNvSpPr>
          <p:nvPr>
            <p:ph type="title"/>
          </p:nvPr>
        </p:nvSpPr>
        <p:spPr/>
        <p:txBody>
          <a:bodyPr/>
          <a:lstStyle/>
          <a:p>
            <a:r>
              <a:rPr lang="en-US"/>
              <a:t>Rome and the Vatican (1 of 3)</a:t>
            </a:r>
          </a:p>
        </p:txBody>
      </p:sp>
      <p:sp>
        <p:nvSpPr>
          <p:cNvPr id="161794" name="Content Placeholder 2"/>
          <p:cNvSpPr>
            <a:spLocks noGrp="1"/>
          </p:cNvSpPr>
          <p:nvPr>
            <p:ph idx="1"/>
          </p:nvPr>
        </p:nvSpPr>
        <p:spPr/>
        <p:txBody>
          <a:bodyPr/>
          <a:lstStyle/>
          <a:p>
            <a:r>
              <a:rPr lang="en-US"/>
              <a:t>Paul III commissioned Michelangelo for the Sistine Chapel on Capitoline Hill.</a:t>
            </a:r>
          </a:p>
          <a:p>
            <a:r>
              <a:rPr lang="en-US"/>
              <a:t>Michelangelo</a:t>
            </a:r>
            <a:r>
              <a:rPr lang="uk-UA"/>
              <a:t>'</a:t>
            </a:r>
            <a:r>
              <a:rPr lang="en-US"/>
              <a:t>s Late Work</a:t>
            </a:r>
          </a:p>
          <a:p>
            <a:pPr lvl="1"/>
            <a:r>
              <a:rPr lang="en-US"/>
              <a:t>The </a:t>
            </a:r>
            <a:r>
              <a:rPr lang="en-US" i="1"/>
              <a:t>Last Judgment </a:t>
            </a:r>
            <a:r>
              <a:rPr lang="en-US"/>
              <a:t>scene abandoned medieval conception and showed a swarm of resurrected humans pushing upward.</a:t>
            </a:r>
          </a:p>
          <a:p>
            <a:pPr lvl="2"/>
            <a:r>
              <a:rPr lang="en-US"/>
              <a:t>On the right, the damned are plunged into hell.</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Title 3"/>
          <p:cNvSpPr>
            <a:spLocks noGrp="1"/>
          </p:cNvSpPr>
          <p:nvPr>
            <p:ph type="title"/>
          </p:nvPr>
        </p:nvSpPr>
        <p:spPr/>
        <p:txBody>
          <a:bodyPr>
            <a:normAutofit fontScale="90000"/>
          </a:bodyPr>
          <a:lstStyle/>
          <a:p>
            <a:r>
              <a:rPr lang="en-US" dirty="0"/>
              <a:t>Michelangelo LAST JUDGMENT, SISTINE CHAPEL</a:t>
            </a:r>
            <a:br>
              <a:rPr lang="en-US" dirty="0"/>
            </a:br>
            <a:r>
              <a:rPr lang="en-US" dirty="0"/>
              <a:t>1536–1541. Fresco, 48 × 44</a:t>
            </a:r>
            <a:r>
              <a:rPr lang="uk-UA" dirty="0"/>
              <a:t>'</a:t>
            </a:r>
            <a:r>
              <a:rPr lang="en-US" dirty="0"/>
              <a:t> (14.6 × 13.4 m). </a:t>
            </a:r>
            <a:br>
              <a:rPr lang="en-US" dirty="0"/>
            </a:br>
            <a:r>
              <a:rPr lang="en-US" dirty="0"/>
              <a:t>Photo: Vatican Museums/IKONA.</a:t>
            </a:r>
          </a:p>
        </p:txBody>
      </p:sp>
      <p:pic>
        <p:nvPicPr>
          <p:cNvPr id="2" name="Picture 1" descr="Many nude or scantily clad figures radiate float in the sky, radiating outward from Christ. The figures closest to him are identifiably from the things they hold, like a flayed skin, or a ladd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Title 1"/>
          <p:cNvSpPr>
            <a:spLocks noGrp="1"/>
          </p:cNvSpPr>
          <p:nvPr>
            <p:ph type="title"/>
          </p:nvPr>
        </p:nvSpPr>
        <p:spPr/>
        <p:txBody>
          <a:bodyPr/>
          <a:lstStyle/>
          <a:p>
            <a:r>
              <a:rPr lang="en-US"/>
              <a:t>Rome and the Vatican (2 of 3)</a:t>
            </a:r>
          </a:p>
        </p:txBody>
      </p:sp>
      <p:sp>
        <p:nvSpPr>
          <p:cNvPr id="164866" name="Content Placeholder 2"/>
          <p:cNvSpPr>
            <a:spLocks noGrp="1"/>
          </p:cNvSpPr>
          <p:nvPr>
            <p:ph idx="1"/>
          </p:nvPr>
        </p:nvSpPr>
        <p:spPr/>
        <p:txBody>
          <a:bodyPr/>
          <a:lstStyle/>
          <a:p>
            <a:r>
              <a:rPr lang="en-US"/>
              <a:t>Michelangelo</a:t>
            </a:r>
            <a:r>
              <a:rPr lang="uk-UA"/>
              <a:t>'</a:t>
            </a:r>
            <a:r>
              <a:rPr lang="en-US"/>
              <a:t>s Late Work</a:t>
            </a:r>
          </a:p>
          <a:p>
            <a:pPr lvl="1"/>
            <a:r>
              <a:rPr lang="en-US"/>
              <a:t>The completion of St. Peter</a:t>
            </a:r>
            <a:r>
              <a:rPr lang="uk-UA"/>
              <a:t>'</a:t>
            </a:r>
            <a:r>
              <a:rPr lang="en-US"/>
              <a:t>s Basilica also fell to Michelangelo.</a:t>
            </a:r>
          </a:p>
          <a:p>
            <a:pPr lvl="2"/>
            <a:r>
              <a:rPr lang="en-US"/>
              <a:t>He undid parts of Sangallo</a:t>
            </a:r>
            <a:r>
              <a:rPr lang="uk-UA"/>
              <a:t>'</a:t>
            </a:r>
            <a:r>
              <a:rPr lang="en-US"/>
              <a:t>s design in order to strengthen Bramante</a:t>
            </a:r>
            <a:r>
              <a:rPr lang="uk-UA"/>
              <a:t>'</a:t>
            </a:r>
            <a:r>
              <a:rPr lang="en-US"/>
              <a:t>s central plan.</a:t>
            </a:r>
          </a:p>
          <a:p>
            <a:pPr lvl="2"/>
            <a:r>
              <a:rPr lang="en-US"/>
              <a:t>Three surviving hemicycles show his work, and the current dome retains his basic design.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Title 3"/>
          <p:cNvSpPr>
            <a:spLocks noGrp="1"/>
          </p:cNvSpPr>
          <p:nvPr>
            <p:ph type="title"/>
          </p:nvPr>
        </p:nvSpPr>
        <p:spPr/>
        <p:txBody>
          <a:bodyPr>
            <a:normAutofit fontScale="90000"/>
          </a:bodyPr>
          <a:lstStyle/>
          <a:p>
            <a:r>
              <a:rPr lang="en-US" dirty="0"/>
              <a:t>Michelangelo ST. PETER</a:t>
            </a:r>
            <a:r>
              <a:rPr lang="uk-UA" dirty="0"/>
              <a:t>'</a:t>
            </a:r>
            <a:r>
              <a:rPr lang="en-US" dirty="0"/>
              <a:t>S BASILICA, VATICAN</a:t>
            </a:r>
            <a:br>
              <a:rPr lang="en-US" dirty="0"/>
            </a:br>
            <a:r>
              <a:rPr lang="en-US" dirty="0"/>
              <a:t>c. 1546–1564; dome completed 1590 by Giacomo </a:t>
            </a:r>
            <a:r>
              <a:rPr lang="en-US" dirty="0" err="1"/>
              <a:t>della</a:t>
            </a:r>
            <a:r>
              <a:rPr lang="en-US" dirty="0"/>
              <a:t> Porta; lantern 1590–1593.</a:t>
            </a:r>
            <a:br>
              <a:rPr lang="en-US" dirty="0"/>
            </a:br>
            <a:r>
              <a:rPr lang="en-US" dirty="0"/>
              <a:t>View from the west. © James Morris, Ceredigion.</a:t>
            </a:r>
          </a:p>
        </p:txBody>
      </p:sp>
      <p:pic>
        <p:nvPicPr>
          <p:cNvPr id="2" name="Picture 1" descr="The dome of Saint Peter’s Basilica, added after the rest of the structure, is decorated by eternal ribs that bear stylistic similarity to the ridges decorating the exterior of the original, lower portions of the structure.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Title 1"/>
          <p:cNvSpPr>
            <a:spLocks noGrp="1"/>
          </p:cNvSpPr>
          <p:nvPr>
            <p:ph type="title"/>
          </p:nvPr>
        </p:nvSpPr>
        <p:spPr/>
        <p:txBody>
          <a:bodyPr/>
          <a:lstStyle/>
          <a:p>
            <a:r>
              <a:rPr lang="en-US"/>
              <a:t>Art and Its Contexts: St. Peter</a:t>
            </a:r>
            <a:r>
              <a:rPr lang="uk-UA"/>
              <a:t>'</a:t>
            </a:r>
            <a:r>
              <a:rPr lang="en-US"/>
              <a:t>s Basilica</a:t>
            </a:r>
          </a:p>
        </p:txBody>
      </p:sp>
      <p:sp>
        <p:nvSpPr>
          <p:cNvPr id="167938" name="Content Placeholder 2"/>
          <p:cNvSpPr>
            <a:spLocks noGrp="1"/>
          </p:cNvSpPr>
          <p:nvPr>
            <p:ph idx="1"/>
          </p:nvPr>
        </p:nvSpPr>
        <p:spPr/>
        <p:txBody>
          <a:bodyPr/>
          <a:lstStyle/>
          <a:p>
            <a:r>
              <a:rPr lang="en-US"/>
              <a:t>Donato Bramante undertook the task of rebuilding St. Peter</a:t>
            </a:r>
            <a:r>
              <a:rPr lang="uk-UA"/>
              <a:t>'</a:t>
            </a:r>
            <a:r>
              <a:rPr lang="en-US"/>
              <a:t>s Basilica.</a:t>
            </a:r>
          </a:p>
          <a:p>
            <a:pPr lvl="1"/>
            <a:r>
              <a:rPr lang="en-US"/>
              <a:t>It was built with a central plan, possibly referring to the tradition of Christian martyria.</a:t>
            </a:r>
          </a:p>
          <a:p>
            <a:pPr lvl="1"/>
            <a:r>
              <a:rPr lang="en-US"/>
              <a:t>Ultimately, Michelangelo transformed St. Peter</a:t>
            </a:r>
            <a:r>
              <a:rPr lang="uk-UA"/>
              <a:t>'</a:t>
            </a:r>
            <a:r>
              <a:rPr lang="en-US"/>
              <a:t>s into a building of magnificent proportion.</a:t>
            </a:r>
          </a:p>
          <a:p>
            <a:pPr lvl="2"/>
            <a:r>
              <a:rPr lang="en-US" b="1"/>
              <a:t>Hemicycles</a:t>
            </a:r>
            <a:r>
              <a:rPr lang="en-US"/>
              <a:t> and </a:t>
            </a:r>
            <a:r>
              <a:rPr lang="en-US" b="1"/>
              <a:t>blind</a:t>
            </a:r>
            <a:r>
              <a:rPr lang="en-US"/>
              <a:t> </a:t>
            </a:r>
            <a:r>
              <a:rPr lang="en-US" b="1"/>
              <a:t>windows</a:t>
            </a:r>
            <a:r>
              <a:rPr lang="en-US"/>
              <a:t> remain today from his design.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Title 3"/>
          <p:cNvSpPr>
            <a:spLocks noGrp="1"/>
          </p:cNvSpPr>
          <p:nvPr>
            <p:ph type="title"/>
          </p:nvPr>
        </p:nvSpPr>
        <p:spPr/>
        <p:txBody>
          <a:bodyPr/>
          <a:lstStyle/>
          <a:p>
            <a:r>
              <a:rPr lang="en-US" dirty="0"/>
              <a:t>ART AND ITS CONTEXTS: St. Peter</a:t>
            </a:r>
            <a:r>
              <a:rPr lang="uk-UA" dirty="0"/>
              <a:t>'</a:t>
            </a:r>
            <a:r>
              <a:rPr lang="en-US" dirty="0"/>
              <a:t>s Basilica</a:t>
            </a:r>
          </a:p>
        </p:txBody>
      </p:sp>
      <p:pic>
        <p:nvPicPr>
          <p:cNvPr id="2" name="Picture 1" descr="Four plans for the church standing at Saint Peter’s in Rome. The plan for Old Saint Peter’s, from the fourth century, was a long rectangle. The design changed drastically when the church was demolished and replaced: the design more closely resembled a rotunda-style shrine with a dome above, except that the structure’s exterior was square, with an apse in the center of each side, and with groin vaults between its short transepts instead of a circular ambulatory. But over time, with additions under Michelangelo in the middle of the fifteen-hundreds and then by Maderno in the early sixteen-hundreds, the nave space expanded twice, giving the plan of New Saint Peter’s Basilica a more typical, longer approach through the nave to the domed sanctuary."/>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Title 1"/>
          <p:cNvSpPr>
            <a:spLocks noGrp="1"/>
          </p:cNvSpPr>
          <p:nvPr>
            <p:ph type="title"/>
          </p:nvPr>
        </p:nvSpPr>
        <p:spPr/>
        <p:txBody>
          <a:bodyPr/>
          <a:lstStyle/>
          <a:p>
            <a:r>
              <a:rPr lang="en-US"/>
              <a:t>Rome and the Vatican (3 of 3)</a:t>
            </a:r>
          </a:p>
        </p:txBody>
      </p:sp>
      <p:sp>
        <p:nvSpPr>
          <p:cNvPr id="171010" name="Content Placeholder 2"/>
          <p:cNvSpPr>
            <a:spLocks noGrp="1"/>
          </p:cNvSpPr>
          <p:nvPr>
            <p:ph idx="1"/>
          </p:nvPr>
        </p:nvSpPr>
        <p:spPr/>
        <p:txBody>
          <a:bodyPr/>
          <a:lstStyle/>
          <a:p>
            <a:r>
              <a:rPr lang="en-US"/>
              <a:t>Vignola</a:t>
            </a:r>
          </a:p>
          <a:p>
            <a:pPr lvl="1"/>
            <a:r>
              <a:rPr lang="en-US"/>
              <a:t>Ignatius of Loyola commissioned Il Gesù to be the Jesuit headquarters in Rome.</a:t>
            </a:r>
          </a:p>
          <a:p>
            <a:pPr lvl="1"/>
            <a:r>
              <a:rPr lang="en-US"/>
              <a:t>Vignola designed it with a wide, barrel-vaulted nave and no aisles.</a:t>
            </a:r>
          </a:p>
          <a:p>
            <a:pPr lvl="1"/>
            <a:r>
              <a:rPr lang="en-US"/>
              <a:t>The symmetrical façade emphasized a central portal with Classical pilasters, engaged columns, and volutes linking the tall section with lower sides.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Title 3"/>
          <p:cNvSpPr>
            <a:spLocks noGrp="1"/>
          </p:cNvSpPr>
          <p:nvPr>
            <p:ph type="title"/>
          </p:nvPr>
        </p:nvSpPr>
        <p:spPr/>
        <p:txBody>
          <a:bodyPr>
            <a:normAutofit fontScale="90000"/>
          </a:bodyPr>
          <a:lstStyle/>
          <a:p>
            <a:r>
              <a:rPr lang="en-US" dirty="0"/>
              <a:t>Vignola and Giacomo </a:t>
            </a:r>
            <a:r>
              <a:rPr lang="en-US" dirty="0" err="1"/>
              <a:t>della</a:t>
            </a:r>
            <a:r>
              <a:rPr lang="en-US" dirty="0"/>
              <a:t> Porta FAÇADE OF THE CHURCH OF IL GESÙ, ROME</a:t>
            </a:r>
            <a:br>
              <a:rPr lang="en-US" dirty="0"/>
            </a:br>
            <a:r>
              <a:rPr lang="en-US" dirty="0"/>
              <a:t>c. 1568–1584.</a:t>
            </a:r>
            <a:br>
              <a:rPr lang="en-US" dirty="0"/>
            </a:br>
            <a:r>
              <a:rPr lang="en-US" dirty="0"/>
              <a:t>© 2016. Photo Scala, Florence. </a:t>
            </a:r>
          </a:p>
        </p:txBody>
      </p:sp>
      <p:pic>
        <p:nvPicPr>
          <p:cNvPr id="2" name="Picture 1" descr="Il Gesu’s façade is bright white. The lower structure has three central portals, with sculptures above the smaller left and right doors. These portals correspond to an arched window, flanked by blind, arched windows in the building’s upper ti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Title 3"/>
          <p:cNvSpPr>
            <a:spLocks noGrp="1"/>
          </p:cNvSpPr>
          <p:nvPr>
            <p:ph type="title"/>
          </p:nvPr>
        </p:nvSpPr>
        <p:spPr/>
        <p:txBody>
          <a:bodyPr/>
          <a:lstStyle/>
          <a:p>
            <a:r>
              <a:rPr lang="en-US" dirty="0"/>
              <a:t>Vignola and Giacomo </a:t>
            </a:r>
            <a:r>
              <a:rPr lang="en-US" dirty="0" err="1"/>
              <a:t>della</a:t>
            </a:r>
            <a:r>
              <a:rPr lang="en-US" dirty="0"/>
              <a:t> Porta PLAN OF THE CHURCH OF IL GESÙ, ROME</a:t>
            </a:r>
            <a:br>
              <a:rPr lang="en-US" dirty="0"/>
            </a:br>
            <a:r>
              <a:rPr lang="en-US" dirty="0"/>
              <a:t>c. 1568–1584. </a:t>
            </a:r>
          </a:p>
        </p:txBody>
      </p:sp>
      <p:pic>
        <p:nvPicPr>
          <p:cNvPr id="2" name="Picture 1" descr="Il Gesu’s overhead plan reveals that although the building’s exterior is rectangular, its interior accommodates very shallow transepts off its central crossing, achieved by keeping the back walls of the transepts flush with those of the chapels along the nav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Custom Desig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1803</TotalTime>
  <Words>3181</Words>
  <Application>Microsoft Office PowerPoint</Application>
  <PresentationFormat>On-screen Show (4:3)</PresentationFormat>
  <Paragraphs>197</Paragraphs>
  <Slides>52</Slides>
  <Notes>23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52</vt:i4>
      </vt:variant>
    </vt:vector>
  </HeadingPairs>
  <TitlesOfParts>
    <vt:vector size="57" baseType="lpstr">
      <vt:lpstr>Arial</vt:lpstr>
      <vt:lpstr>Verdana</vt:lpstr>
      <vt:lpstr>Wingdings</vt:lpstr>
      <vt:lpstr>508 Lecture</vt:lpstr>
      <vt:lpstr>Custom Design</vt:lpstr>
      <vt:lpstr>Chapter 17</vt:lpstr>
      <vt:lpstr>Learning Objectives</vt:lpstr>
      <vt:lpstr>Giulio Romano. Courtyard of the Palazzo del Te, Mantua. ca. 1527–34 </vt:lpstr>
      <vt:lpstr>Travels of some artists in sixteenth-century Italy</vt:lpstr>
      <vt:lpstr>Venice and the Veneto (5)</vt:lpstr>
      <vt:lpstr>Titian PESARO MADONNA 1519–1526. Oil on canvas, 16' × 8'10" (4.9 × 2.7 m). Side-aisle altarpiece, Santa Maria Gloriosa dei Frari, Venice. © Cameraphoto Arte, Venice. </vt:lpstr>
      <vt:lpstr>Venice and the Veneto (6)</vt:lpstr>
      <vt:lpstr>Titian ISABELLA D'ESTE 1534–1536. Oil on canvas, 40-1/8" × 25-3/16" (102 × 64.1 cm). Kunsthistorisches Museum, Vienna. © KHM-Museumsverband.</vt:lpstr>
      <vt:lpstr>Venice and the Veneto (7)</vt:lpstr>
      <vt:lpstr>Titian "VENUS" OF URBINO c. 1538. Oil on canvas, 3'11" × 5'5" (1.19 × 1.65 m). Galleria degli Uffizi, Florence. © Studio Fotografico Quattrone, Florence.</vt:lpstr>
      <vt:lpstr>Venice and the Veneto (8)</vt:lpstr>
      <vt:lpstr>Venice and the Veneto (9)</vt:lpstr>
      <vt:lpstr>Veronese FEAST IN THE HOUSE OF LEVI From the refectory of the monastery of SS. Giovanni e Paolo, Venice. 1573. Oil on canvas, 18'3" × 42' (5.56 × 12.8 m). Galleria dell'Accademia, Venice. © Cameraphoto Arte, Venice. </vt:lpstr>
      <vt:lpstr>Venice and the Veneto (10)</vt:lpstr>
      <vt:lpstr>Tintoretto THE LAST SUPPER Church of San Giorgio Maggiore, Venice. 1592–1594. Oil on canvas, 12' × 18'8" (3.7 × 5.7 m). © Cameraphoto Arte, Venice. </vt:lpstr>
      <vt:lpstr>The Architecture of Palladio (1 of 3)</vt:lpstr>
      <vt:lpstr>The Architecture of Palladio (2 of 3)</vt:lpstr>
      <vt:lpstr>Palladio CHURCH OF SAN GIORGIO MAGGIORE, VENICE Plan 1565; construction 1565–1580; façade 1597–1610; campanile 1791. Finished by Vincenzo Scamozzi following Palladio's design. © Cameraphoto Arte, Venice. </vt:lpstr>
      <vt:lpstr>NAVE, CHURCH OF SAN GIORGIO MAGGIORE, VENICE Begun 1566. Tintoretto’s Last Supper (not visible) hangs to the left of the altar.   © Cameraphoto Arte, Venice. </vt:lpstr>
      <vt:lpstr>The Architecture of Palladio (3 of 3)</vt:lpstr>
      <vt:lpstr>Palladio PLAN OF VILLA ROTONDA, VICENZA Italy. Begun 1560s. </vt:lpstr>
      <vt:lpstr>Palladio EXTERIOR VIEW OF VILLA ROTONDA, VICENZA After its purchase in 1591 by the Capra family, the Villa Rotonda became known as the Villa Capra. © Cameraphoto Arte, Venice. </vt:lpstr>
      <vt:lpstr>Mannerism</vt:lpstr>
      <vt:lpstr>Pontormo, Parmigianino, and Bronzino (1 of 6)</vt:lpstr>
      <vt:lpstr>Pontormo, Parmigianino, and Bronzino (2 of 6)</vt:lpstr>
      <vt:lpstr>CAPPONI CHAPEL, CHURCH OF SANTA FELICITÀ, FLORENCE Chapel by Filippo Brunelleschi for the Barbadori family, 1419–1423; acquired by the Capponi family, who ordered paintings by Pontormo, 1525–1528. Index Ricerca Iconografica. </vt:lpstr>
      <vt:lpstr>Pontormo DEPOSITION Altarpiece in Capponi Chapel, church of Santa Felicità, Florence. 1525–1528. Oil and tempera on wood panel, 10'3" × 6'4" (3.1 × 1.9 m). © Studio Fotografico Quattrone, Florence. </vt:lpstr>
      <vt:lpstr>Pontormo, Parmigianino, and Bronzino (3 of 6)</vt:lpstr>
      <vt:lpstr>Pontormo, Parmigianino, and Bronzino (4 of 6)</vt:lpstr>
      <vt:lpstr>Parmigianino MADONNA OF THE LONG NECK 1534–1540. Oil on wood panel, 7'1" × 4'4" (2.16 × 1.32 m). Galleria degli Uffizi, Florence. © Studio Fotografico Quattrone, Florence. </vt:lpstr>
      <vt:lpstr>Pontormo, Parmigianino, and Bronzino (5 of 6)</vt:lpstr>
      <vt:lpstr>Bronzino PORTRAIT OF ELEONORA OF TOLEDO AND HER SON GIOVANNI DE' MEDICI 1545. Oil on wood panel, 45-1/4 × 37-3/4" (115 × 96 cm). Galleria degli Uffizi, Florence. © Studio Fotografico Quattrone, Florence. </vt:lpstr>
      <vt:lpstr>Pontormo, Parmigianino, and Bronzino (6 of 6)</vt:lpstr>
      <vt:lpstr>Bronzino ALLEGORY WITH VENUS AND CUPID Mid 1540s. Oil on panel, 57-1/2 × 46" (1.46 × 1.16 m). National Gallery, London. © 2016. Copyright The National Gallery, London/Scala, Florence. </vt:lpstr>
      <vt:lpstr>Anguissola and Fontana (1 of 2)</vt:lpstr>
      <vt:lpstr>Sofonisba Anguissola SELF-PORTRAIT c. 1556. Varnished watercolor on parchment, 3-1/4" × 2-1/2" (8.3 × 6.4 cm). Museum of Fine Arts, Boston. Emma F. Munroe Fund 60.155. Photograph © 2017 Museum of Fine Arts, Boston. </vt:lpstr>
      <vt:lpstr>Anguissola and Fontana (2 of 2)</vt:lpstr>
      <vt:lpstr>Lavinia Fontana NOLI ME TANGERE 1581. Oil on canvas, 47-3/8" × 36-5/8" (120.3 × 93 cm). Galleria degli Uffizi, Florence. Canali Photobank, Milan, Italy. </vt:lpstr>
      <vt:lpstr>Sculpture (1 of 2)</vt:lpstr>
      <vt:lpstr>Benvenuto Cellini SALTCELLAR OF KING FRANCIS I OF FRANCE 1540–1543. Gold and enamel, 10-1/2" × 13-1/8" (26.67 × 33.34 cm). Kunsthistorisches Museum, Vienna. © KHM-Museumsverband. </vt:lpstr>
      <vt:lpstr>Sculpture (2 of 2)</vt:lpstr>
      <vt:lpstr>Giambologna THE CAPTURE OF A SABINE WOMAN 1581–1582. Marble, height 13'6" (4.1 m). Loggia dei Lanzi, Florence. © Studio Fotografico Quattrone, Florence.</vt:lpstr>
      <vt:lpstr>Art and the Counter-Reformation</vt:lpstr>
      <vt:lpstr>Rome and the Vatican (1 of 3)</vt:lpstr>
      <vt:lpstr>Michelangelo LAST JUDGMENT, SISTINE CHAPEL 1536–1541. Fresco, 48 × 44' (14.6 × 13.4 m).  Photo: Vatican Museums/IKONA.</vt:lpstr>
      <vt:lpstr>Rome and the Vatican (2 of 3)</vt:lpstr>
      <vt:lpstr>Michelangelo ST. PETER'S BASILICA, VATICAN c. 1546–1564; dome completed 1590 by Giacomo della Porta; lantern 1590–1593. View from the west. © James Morris, Ceredigion.</vt:lpstr>
      <vt:lpstr>Art and Its Contexts: St. Peter's Basilica</vt:lpstr>
      <vt:lpstr>ART AND ITS CONTEXTS: St. Peter's Basilica</vt:lpstr>
      <vt:lpstr>Rome and the Vatican (3 of 3)</vt:lpstr>
      <vt:lpstr>Vignola and Giacomo della Porta FAÇADE OF THE CHURCH OF IL GESÙ, ROME c. 1568–1584. © 2016. Photo Scala, Florence. </vt:lpstr>
      <vt:lpstr>Vignola and Giacomo della Porta PLAN OF THE CHURCH OF IL GESÙ, ROME c. 1568–1584. </vt:lpstr>
    </vt:vector>
  </TitlesOfParts>
  <Company>echosvoice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Beverly Murphy</cp:lastModifiedBy>
  <cp:revision>207</cp:revision>
  <dcterms:created xsi:type="dcterms:W3CDTF">2016-12-02T15:58:04Z</dcterms:created>
  <dcterms:modified xsi:type="dcterms:W3CDTF">2020-06-19T21:04:21Z</dcterms:modified>
</cp:coreProperties>
</file>