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8"/>
  </p:notesMasterIdLst>
  <p:handoutMasterIdLst>
    <p:handoutMasterId r:id="rId69"/>
  </p:handoutMasterIdLst>
  <p:sldIdLst>
    <p:sldId id="653" r:id="rId3"/>
    <p:sldId id="507" r:id="rId4"/>
    <p:sldId id="512" r:id="rId5"/>
    <p:sldId id="513" r:id="rId6"/>
    <p:sldId id="514" r:id="rId7"/>
    <p:sldId id="515" r:id="rId8"/>
    <p:sldId id="516" r:id="rId9"/>
    <p:sldId id="517" r:id="rId10"/>
    <p:sldId id="518" r:id="rId11"/>
    <p:sldId id="519" r:id="rId12"/>
    <p:sldId id="520" r:id="rId13"/>
    <p:sldId id="521" r:id="rId14"/>
    <p:sldId id="522" r:id="rId15"/>
    <p:sldId id="523" r:id="rId16"/>
    <p:sldId id="524" r:id="rId17"/>
    <p:sldId id="525" r:id="rId18"/>
    <p:sldId id="539" r:id="rId19"/>
    <p:sldId id="540" r:id="rId20"/>
    <p:sldId id="541" r:id="rId21"/>
    <p:sldId id="542" r:id="rId22"/>
    <p:sldId id="543" r:id="rId23"/>
    <p:sldId id="544" r:id="rId24"/>
    <p:sldId id="545" r:id="rId25"/>
    <p:sldId id="546" r:id="rId26"/>
    <p:sldId id="547" r:id="rId27"/>
    <p:sldId id="548" r:id="rId28"/>
    <p:sldId id="549" r:id="rId29"/>
    <p:sldId id="550" r:id="rId30"/>
    <p:sldId id="551" r:id="rId31"/>
    <p:sldId id="552" r:id="rId32"/>
    <p:sldId id="553" r:id="rId33"/>
    <p:sldId id="554" r:id="rId34"/>
    <p:sldId id="555" r:id="rId35"/>
    <p:sldId id="556" r:id="rId36"/>
    <p:sldId id="557" r:id="rId37"/>
    <p:sldId id="558" r:id="rId38"/>
    <p:sldId id="559" r:id="rId39"/>
    <p:sldId id="560" r:id="rId40"/>
    <p:sldId id="561" r:id="rId41"/>
    <p:sldId id="562" r:id="rId42"/>
    <p:sldId id="563" r:id="rId43"/>
    <p:sldId id="564" r:id="rId44"/>
    <p:sldId id="565" r:id="rId45"/>
    <p:sldId id="566" r:id="rId46"/>
    <p:sldId id="567" r:id="rId47"/>
    <p:sldId id="568" r:id="rId48"/>
    <p:sldId id="569" r:id="rId49"/>
    <p:sldId id="570" r:id="rId50"/>
    <p:sldId id="571" r:id="rId51"/>
    <p:sldId id="572" r:id="rId52"/>
    <p:sldId id="573" r:id="rId53"/>
    <p:sldId id="574" r:id="rId54"/>
    <p:sldId id="575" r:id="rId55"/>
    <p:sldId id="576" r:id="rId56"/>
    <p:sldId id="577" r:id="rId57"/>
    <p:sldId id="578" r:id="rId58"/>
    <p:sldId id="579" r:id="rId59"/>
    <p:sldId id="580" r:id="rId60"/>
    <p:sldId id="581" r:id="rId61"/>
    <p:sldId id="582" r:id="rId62"/>
    <p:sldId id="583" r:id="rId63"/>
    <p:sldId id="584" r:id="rId64"/>
    <p:sldId id="585" r:id="rId65"/>
    <p:sldId id="586" r:id="rId66"/>
    <p:sldId id="587"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86559" autoAdjust="0"/>
  </p:normalViewPr>
  <p:slideViewPr>
    <p:cSldViewPr>
      <p:cViewPr varScale="1">
        <p:scale>
          <a:sx n="89" d="100"/>
          <a:sy n="89" d="100"/>
        </p:scale>
        <p:origin x="1164" y="69"/>
      </p:cViewPr>
      <p:guideLst>
        <p:guide orient="horz" pos="2160"/>
        <p:guide pos="2880"/>
      </p:guideLst>
    </p:cSldViewPr>
  </p:slideViewPr>
  <p:outlineViewPr>
    <p:cViewPr>
      <p:scale>
        <a:sx n="33" d="100"/>
        <a:sy n="33" d="100"/>
      </p:scale>
      <p:origin x="0" y="-82656"/>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6/22/2020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6/22/2020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a:lstStyle/>
          <a:p>
            <a:pPr>
              <a:spcBef>
                <a:spcPct val="0"/>
              </a:spcBef>
            </a:pPr>
            <a:r>
              <a:rPr lang="en-US" dirty="0"/>
              <a:t>Gustave Eiffel EIFFEL TOWER, PARIS</a:t>
            </a:r>
            <a:br>
              <a:rPr lang="en-US" dirty="0"/>
            </a:br>
            <a:r>
              <a:rPr lang="en-US" dirty="0"/>
              <a:t>1889 (also the date of this photograph). Height 984</a:t>
            </a:r>
            <a:r>
              <a:rPr lang="uk-UA" dirty="0"/>
              <a:t>'</a:t>
            </a:r>
            <a:r>
              <a:rPr lang="en-US" dirty="0"/>
              <a:t> (300 m).</a:t>
            </a:r>
            <a:br>
              <a:rPr lang="en-US" dirty="0"/>
            </a:br>
            <a:r>
              <a:rPr lang="en-US" dirty="0"/>
              <a:t>Courtesy the Library of Congress. </a:t>
            </a:r>
          </a:p>
        </p:txBody>
      </p:sp>
      <p:sp>
        <p:nvSpPr>
          <p:cNvPr id="15363" name="Slide Number Placeholder 3"/>
          <p:cNvSpPr>
            <a:spLocks noGrp="1"/>
          </p:cNvSpPr>
          <p:nvPr>
            <p:ph type="sldNum" sz="quarter" idx="5"/>
          </p:nvPr>
        </p:nvSpPr>
        <p:spPr bwMode="auto">
          <a:noFill/>
          <a:ln>
            <a:miter lim="800000"/>
            <a:headEnd/>
            <a:tailEnd/>
          </a:ln>
        </p:spPr>
        <p:txBody>
          <a:bodyPr/>
          <a:lstStyle/>
          <a:p>
            <a:fld id="{A979118D-D1FC-114C-B156-9598D117B24E}" type="slidenum">
              <a:rPr lang="en-US"/>
              <a:pPr/>
              <a:t>3</a:t>
            </a:fld>
            <a:endParaRPr lang="en-US"/>
          </a:p>
        </p:txBody>
      </p:sp>
    </p:spTree>
    <p:extLst>
      <p:ext uri="{BB962C8B-B14F-4D97-AF65-F5344CB8AC3E}">
        <p14:creationId xmlns:p14="http://schemas.microsoft.com/office/powerpoint/2010/main" val="374365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noTextEdit="1"/>
          </p:cNvSpPr>
          <p:nvPr>
            <p:ph type="sldImg"/>
          </p:nvPr>
        </p:nvSpPr>
        <p:spPr bwMode="auto">
          <a:noFill/>
          <a:ln>
            <a:solidFill>
              <a:srgbClr val="000000"/>
            </a:solidFill>
            <a:miter lim="800000"/>
            <a:headEnd/>
            <a:tailEnd/>
          </a:ln>
        </p:spPr>
      </p:sp>
      <p:sp>
        <p:nvSpPr>
          <p:cNvPr id="19458" name="Notes Placeholder 2"/>
          <p:cNvSpPr>
            <a:spLocks noGrp="1"/>
          </p:cNvSpPr>
          <p:nvPr>
            <p:ph type="body" idx="1"/>
          </p:nvPr>
        </p:nvSpPr>
        <p:spPr bwMode="auto">
          <a:noFill/>
        </p:spPr>
        <p:txBody>
          <a:bodyPr/>
          <a:lstStyle/>
          <a:p>
            <a:pPr>
              <a:spcBef>
                <a:spcPct val="0"/>
              </a:spcBef>
            </a:pPr>
            <a:r>
              <a:rPr lang="en-US" dirty="0"/>
              <a:t>EUROPE AND THE UNITED STATES IN THE NINETEENTH CENTURY</a:t>
            </a:r>
            <a:br>
              <a:rPr lang="en-US" dirty="0"/>
            </a:br>
            <a:r>
              <a:rPr lang="en-US" dirty="0"/>
              <a:t>In the nineteenth century, Europe and the United States became increasingly industrialized, and many European nations established colonial possessions around the world. Paris was firmly established as the center of the Western art world</a:t>
            </a:r>
          </a:p>
        </p:txBody>
      </p:sp>
      <p:sp>
        <p:nvSpPr>
          <p:cNvPr id="19459" name="Slide Number Placeholder 3"/>
          <p:cNvSpPr>
            <a:spLocks noGrp="1"/>
          </p:cNvSpPr>
          <p:nvPr>
            <p:ph type="sldNum" sz="quarter" idx="5"/>
          </p:nvPr>
        </p:nvSpPr>
        <p:spPr bwMode="auto">
          <a:noFill/>
          <a:ln>
            <a:miter lim="800000"/>
            <a:headEnd/>
            <a:tailEnd/>
          </a:ln>
        </p:spPr>
        <p:txBody>
          <a:bodyPr/>
          <a:lstStyle/>
          <a:p>
            <a:fld id="{3A5D2C66-FA4E-4640-82F7-572D32630255}" type="slidenum">
              <a:rPr lang="en-US"/>
              <a:pPr/>
              <a:t>6</a:t>
            </a:fld>
            <a:endParaRPr lang="en-US"/>
          </a:p>
        </p:txBody>
      </p:sp>
    </p:spTree>
    <p:extLst>
      <p:ext uri="{BB962C8B-B14F-4D97-AF65-F5344CB8AC3E}">
        <p14:creationId xmlns:p14="http://schemas.microsoft.com/office/powerpoint/2010/main" val="163444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a:lstStyle/>
          <a:p>
            <a:pPr>
              <a:spcBef>
                <a:spcPct val="0"/>
              </a:spcBef>
            </a:pPr>
            <a:r>
              <a:rPr lang="en-US" dirty="0"/>
              <a:t>Jean-Léon </a:t>
            </a:r>
            <a:r>
              <a:rPr lang="en-US" dirty="0" err="1"/>
              <a:t>Gérôme</a:t>
            </a:r>
            <a:r>
              <a:rPr lang="en-US" dirty="0"/>
              <a:t> THE SNAKE CHARMER</a:t>
            </a:r>
            <a:br>
              <a:rPr lang="en-US" dirty="0"/>
            </a:br>
            <a:r>
              <a:rPr lang="en-US" dirty="0"/>
              <a:t>c. 1870. Oil on canvas, 33</a:t>
            </a:r>
            <a:r>
              <a:rPr lang="ru-RU" dirty="0"/>
              <a:t>"</a:t>
            </a:r>
            <a:r>
              <a:rPr lang="en-US" dirty="0"/>
              <a:t> × 48-1/8</a:t>
            </a:r>
            <a:r>
              <a:rPr lang="ru-RU" dirty="0"/>
              <a:t>"</a:t>
            </a:r>
            <a:r>
              <a:rPr lang="en-US" dirty="0"/>
              <a:t> (83.8 × 122.1 cm).</a:t>
            </a:r>
            <a:br>
              <a:rPr lang="en-US" dirty="0"/>
            </a:br>
            <a:r>
              <a:rPr lang="en-US" dirty="0"/>
              <a:t>Clark Art Institute, Williamstown, Massachusetts. Acquired by Sterling and Francine Clark, 1942. (1955.51). Bridgeman Images. </a:t>
            </a:r>
          </a:p>
        </p:txBody>
      </p:sp>
      <p:sp>
        <p:nvSpPr>
          <p:cNvPr id="23555" name="Slide Number Placeholder 3"/>
          <p:cNvSpPr>
            <a:spLocks noGrp="1"/>
          </p:cNvSpPr>
          <p:nvPr>
            <p:ph type="sldNum" sz="quarter" idx="5"/>
          </p:nvPr>
        </p:nvSpPr>
        <p:spPr bwMode="auto">
          <a:noFill/>
          <a:ln>
            <a:miter lim="800000"/>
            <a:headEnd/>
            <a:tailEnd/>
          </a:ln>
        </p:spPr>
        <p:txBody>
          <a:bodyPr/>
          <a:lstStyle/>
          <a:p>
            <a:fld id="{246B119B-2DF7-BE40-B325-913D1B8A8CF1}" type="slidenum">
              <a:rPr lang="en-US"/>
              <a:pPr/>
              <a:t>9</a:t>
            </a:fld>
            <a:endParaRPr lang="en-US"/>
          </a:p>
        </p:txBody>
      </p:sp>
    </p:spTree>
    <p:extLst>
      <p:ext uri="{BB962C8B-B14F-4D97-AF65-F5344CB8AC3E}">
        <p14:creationId xmlns:p14="http://schemas.microsoft.com/office/powerpoint/2010/main" val="374597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a:lstStyle/>
          <a:p>
            <a:pPr>
              <a:spcBef>
                <a:spcPct val="0"/>
              </a:spcBef>
            </a:pPr>
            <a:r>
              <a:rPr lang="en-US" dirty="0"/>
              <a:t>Charles Garnier OPÉRA, PARIS</a:t>
            </a:r>
            <a:br>
              <a:rPr lang="en-US" dirty="0"/>
            </a:br>
            <a:r>
              <a:rPr lang="en-US" dirty="0"/>
              <a:t>1861–1874.</a:t>
            </a:r>
            <a:br>
              <a:rPr lang="en-US" dirty="0"/>
            </a:br>
            <a:r>
              <a:rPr lang="en-US" dirty="0"/>
              <a:t>© </a:t>
            </a:r>
            <a:r>
              <a:rPr lang="en-US" dirty="0" err="1"/>
              <a:t>akg</a:t>
            </a:r>
            <a:r>
              <a:rPr lang="en-US" dirty="0"/>
              <a:t>-images. </a:t>
            </a:r>
          </a:p>
        </p:txBody>
      </p:sp>
      <p:sp>
        <p:nvSpPr>
          <p:cNvPr id="26627" name="Slide Number Placeholder 3"/>
          <p:cNvSpPr>
            <a:spLocks noGrp="1"/>
          </p:cNvSpPr>
          <p:nvPr>
            <p:ph type="sldNum" sz="quarter" idx="5"/>
          </p:nvPr>
        </p:nvSpPr>
        <p:spPr bwMode="auto">
          <a:noFill/>
          <a:ln>
            <a:miter lim="800000"/>
            <a:headEnd/>
            <a:tailEnd/>
          </a:ln>
        </p:spPr>
        <p:txBody>
          <a:bodyPr/>
          <a:lstStyle/>
          <a:p>
            <a:fld id="{6C7B7001-A7E6-9741-BDB8-48F5E87A8F97}" type="slidenum">
              <a:rPr lang="en-US"/>
              <a:pPr/>
              <a:t>11</a:t>
            </a:fld>
            <a:endParaRPr lang="en-US"/>
          </a:p>
        </p:txBody>
      </p:sp>
    </p:spTree>
    <p:extLst>
      <p:ext uri="{BB962C8B-B14F-4D97-AF65-F5344CB8AC3E}">
        <p14:creationId xmlns:p14="http://schemas.microsoft.com/office/powerpoint/2010/main" val="1585344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a:lstStyle/>
          <a:p>
            <a:pPr>
              <a:spcBef>
                <a:spcPct val="0"/>
              </a:spcBef>
            </a:pPr>
            <a:r>
              <a:rPr lang="en-US" dirty="0">
                <a:latin typeface="Verdana" charset="0"/>
              </a:rPr>
              <a:t>GRAND STAIRCASE, OPÉRA</a:t>
            </a:r>
            <a:br>
              <a:rPr lang="en-US" dirty="0">
                <a:latin typeface="Verdana" charset="0"/>
              </a:rPr>
            </a:br>
            <a:r>
              <a:rPr lang="en-US" dirty="0">
                <a:latin typeface="Verdana" charset="0"/>
              </a:rPr>
              <a:t>© John Kellerman/</a:t>
            </a:r>
            <a:r>
              <a:rPr lang="en-US" dirty="0" err="1">
                <a:latin typeface="Verdana" charset="0"/>
              </a:rPr>
              <a:t>Alamy</a:t>
            </a:r>
            <a:r>
              <a:rPr lang="en-US" dirty="0">
                <a:latin typeface="Verdana" charset="0"/>
              </a:rPr>
              <a:t> Stock Photo.</a:t>
            </a:r>
            <a:endParaRPr lang="en-US" dirty="0"/>
          </a:p>
        </p:txBody>
      </p:sp>
      <p:sp>
        <p:nvSpPr>
          <p:cNvPr id="28675" name="Slide Number Placeholder 3"/>
          <p:cNvSpPr>
            <a:spLocks noGrp="1"/>
          </p:cNvSpPr>
          <p:nvPr>
            <p:ph type="sldNum" sz="quarter" idx="5"/>
          </p:nvPr>
        </p:nvSpPr>
        <p:spPr bwMode="auto">
          <a:noFill/>
          <a:ln>
            <a:miter lim="800000"/>
            <a:headEnd/>
            <a:tailEnd/>
          </a:ln>
        </p:spPr>
        <p:txBody>
          <a:bodyPr/>
          <a:lstStyle/>
          <a:p>
            <a:fld id="{F459A685-64D5-A645-93DD-CAE18DF667AF}" type="slidenum">
              <a:rPr lang="en-US"/>
              <a:pPr/>
              <a:t>12</a:t>
            </a:fld>
            <a:endParaRPr lang="en-US"/>
          </a:p>
        </p:txBody>
      </p:sp>
    </p:spTree>
    <p:extLst>
      <p:ext uri="{BB962C8B-B14F-4D97-AF65-F5344CB8AC3E}">
        <p14:creationId xmlns:p14="http://schemas.microsoft.com/office/powerpoint/2010/main" val="1050882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bwMode="auto">
          <a:noFill/>
          <a:ln>
            <a:solidFill>
              <a:srgbClr val="000000"/>
            </a:solidFill>
            <a:miter lim="800000"/>
            <a:headEnd/>
            <a:tailEnd/>
          </a:ln>
        </p:spPr>
      </p:sp>
      <p:sp>
        <p:nvSpPr>
          <p:cNvPr id="31746" name="Notes Placeholder 2"/>
          <p:cNvSpPr>
            <a:spLocks noGrp="1"/>
          </p:cNvSpPr>
          <p:nvPr>
            <p:ph type="body" idx="1"/>
          </p:nvPr>
        </p:nvSpPr>
        <p:spPr bwMode="auto">
          <a:noFill/>
        </p:spPr>
        <p:txBody>
          <a:bodyPr/>
          <a:lstStyle/>
          <a:p>
            <a:pPr>
              <a:spcBef>
                <a:spcPct val="0"/>
              </a:spcBef>
            </a:pPr>
            <a:r>
              <a:rPr lang="en-US" dirty="0"/>
              <a:t>Alexandre </a:t>
            </a:r>
            <a:r>
              <a:rPr lang="en-US" dirty="0" err="1"/>
              <a:t>Cabanel</a:t>
            </a:r>
            <a:r>
              <a:rPr lang="en-US" dirty="0"/>
              <a:t> THE BIRTH OF VENUS</a:t>
            </a:r>
            <a:br>
              <a:rPr lang="en-US" dirty="0"/>
            </a:br>
            <a:r>
              <a:rPr lang="en-US" dirty="0"/>
              <a:t>1863. Oil on canvas, 52</a:t>
            </a:r>
            <a:r>
              <a:rPr lang="ru-RU" dirty="0"/>
              <a:t>"</a:t>
            </a:r>
            <a:r>
              <a:rPr lang="en-US" dirty="0"/>
              <a:t> × 90</a:t>
            </a:r>
            <a:r>
              <a:rPr lang="ru-RU" dirty="0"/>
              <a:t>"</a:t>
            </a:r>
            <a:r>
              <a:rPr lang="en-US" dirty="0"/>
              <a:t> (1.35 × 2.29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a:t>
            </a:r>
          </a:p>
        </p:txBody>
      </p:sp>
      <p:sp>
        <p:nvSpPr>
          <p:cNvPr id="31747" name="Slide Number Placeholder 3"/>
          <p:cNvSpPr>
            <a:spLocks noGrp="1"/>
          </p:cNvSpPr>
          <p:nvPr>
            <p:ph type="sldNum" sz="quarter" idx="5"/>
          </p:nvPr>
        </p:nvSpPr>
        <p:spPr bwMode="auto">
          <a:noFill/>
          <a:ln>
            <a:miter lim="800000"/>
            <a:headEnd/>
            <a:tailEnd/>
          </a:ln>
        </p:spPr>
        <p:txBody>
          <a:bodyPr/>
          <a:lstStyle/>
          <a:p>
            <a:fld id="{6F99ECE1-4C4A-8344-BF44-FD1260F39A73}" type="slidenum">
              <a:rPr lang="en-US"/>
              <a:pPr/>
              <a:t>14</a:t>
            </a:fld>
            <a:endParaRPr lang="en-US"/>
          </a:p>
        </p:txBody>
      </p:sp>
    </p:spTree>
    <p:extLst>
      <p:ext uri="{BB962C8B-B14F-4D97-AF65-F5344CB8AC3E}">
        <p14:creationId xmlns:p14="http://schemas.microsoft.com/office/powerpoint/2010/main" val="1269740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a:lstStyle/>
          <a:p>
            <a:pPr>
              <a:spcBef>
                <a:spcPct val="0"/>
              </a:spcBef>
            </a:pPr>
            <a:r>
              <a:rPr lang="en-US" dirty="0"/>
              <a:t>Jean-Baptiste Carpeaux THE DANCE</a:t>
            </a:r>
            <a:br>
              <a:rPr lang="en-US" dirty="0"/>
            </a:br>
            <a:r>
              <a:rPr lang="en-US" dirty="0"/>
              <a:t>1867–1868. Plaster, height approx. 15</a:t>
            </a:r>
            <a:r>
              <a:rPr lang="uk-UA" dirty="0"/>
              <a:t>'</a:t>
            </a:r>
            <a:r>
              <a:rPr lang="en-US" dirty="0"/>
              <a:t> (4.6 m).</a:t>
            </a:r>
            <a:br>
              <a:rPr lang="en-US" dirty="0"/>
            </a:br>
            <a:r>
              <a:rPr lang="en-US" dirty="0" err="1"/>
              <a:t>Musée</a:t>
            </a:r>
            <a:r>
              <a:rPr lang="en-US" dirty="0"/>
              <a:t> d</a:t>
            </a:r>
            <a:r>
              <a:rPr lang="uk-UA" dirty="0"/>
              <a:t>'</a:t>
            </a:r>
            <a:r>
              <a:rPr lang="en-US" dirty="0"/>
              <a:t>Orsay, Paris. © </a:t>
            </a:r>
            <a:r>
              <a:rPr lang="en-US" dirty="0" err="1"/>
              <a:t>akg</a:t>
            </a:r>
            <a:r>
              <a:rPr lang="en-US" dirty="0"/>
              <a:t>-images/Erich Lessing.</a:t>
            </a:r>
          </a:p>
        </p:txBody>
      </p:sp>
      <p:sp>
        <p:nvSpPr>
          <p:cNvPr id="34819" name="Slide Number Placeholder 3"/>
          <p:cNvSpPr>
            <a:spLocks noGrp="1"/>
          </p:cNvSpPr>
          <p:nvPr>
            <p:ph type="sldNum" sz="quarter" idx="5"/>
          </p:nvPr>
        </p:nvSpPr>
        <p:spPr bwMode="auto">
          <a:noFill/>
          <a:ln>
            <a:miter lim="800000"/>
            <a:headEnd/>
            <a:tailEnd/>
          </a:ln>
        </p:spPr>
        <p:txBody>
          <a:bodyPr/>
          <a:lstStyle/>
          <a:p>
            <a:fld id="{10BEE3FB-E060-1343-A40F-7821B8716DD1}" type="slidenum">
              <a:rPr lang="en-US"/>
              <a:pPr/>
              <a:t>16</a:t>
            </a:fld>
            <a:endParaRPr lang="en-US"/>
          </a:p>
        </p:txBody>
      </p:sp>
    </p:spTree>
    <p:extLst>
      <p:ext uri="{BB962C8B-B14F-4D97-AF65-F5344CB8AC3E}">
        <p14:creationId xmlns:p14="http://schemas.microsoft.com/office/powerpoint/2010/main" val="976658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p:spPr>
      </p:sp>
      <p:sp>
        <p:nvSpPr>
          <p:cNvPr id="59394" name="Notes Placeholder 2"/>
          <p:cNvSpPr>
            <a:spLocks noGrp="1"/>
          </p:cNvSpPr>
          <p:nvPr>
            <p:ph type="body" idx="1"/>
          </p:nvPr>
        </p:nvSpPr>
        <p:spPr bwMode="auto">
          <a:noFill/>
        </p:spPr>
        <p:txBody>
          <a:bodyPr/>
          <a:lstStyle/>
          <a:p>
            <a:pPr>
              <a:spcBef>
                <a:spcPct val="0"/>
              </a:spcBef>
            </a:pPr>
            <a:r>
              <a:rPr lang="en-US" dirty="0">
                <a:latin typeface="Verdana" charset="0"/>
              </a:rPr>
              <a:t>Gustave Courbet THE STONE BREAKERS</a:t>
            </a:r>
            <a:br>
              <a:rPr lang="en-US" dirty="0">
                <a:latin typeface="Verdana" charset="0"/>
              </a:rPr>
            </a:br>
            <a:r>
              <a:rPr lang="en-US" dirty="0">
                <a:latin typeface="Verdana" charset="0"/>
              </a:rPr>
              <a:t>1849. Oil on canvas, 5</a:t>
            </a:r>
            <a:r>
              <a:rPr lang="uk-UA" dirty="0">
                <a:latin typeface="Verdana" charset="0"/>
              </a:rPr>
              <a:t>'</a:t>
            </a:r>
            <a:r>
              <a:rPr lang="en-US" dirty="0">
                <a:latin typeface="Verdana" charset="0"/>
              </a:rPr>
              <a:t>3</a:t>
            </a:r>
            <a:r>
              <a:rPr lang="ru-RU" dirty="0">
                <a:latin typeface="Verdana" charset="0"/>
              </a:rPr>
              <a:t>"</a:t>
            </a:r>
            <a:r>
              <a:rPr lang="en-US" dirty="0">
                <a:latin typeface="Verdana" charset="0"/>
              </a:rPr>
              <a:t> × 8</a:t>
            </a:r>
            <a:r>
              <a:rPr lang="uk-UA" dirty="0">
                <a:latin typeface="Verdana" charset="0"/>
              </a:rPr>
              <a:t>'</a:t>
            </a:r>
            <a:r>
              <a:rPr lang="en-US" dirty="0">
                <a:latin typeface="Verdana" charset="0"/>
              </a:rPr>
              <a:t>6</a:t>
            </a:r>
            <a:r>
              <a:rPr lang="ru-RU" dirty="0">
                <a:latin typeface="Verdana" charset="0"/>
              </a:rPr>
              <a:t>"</a:t>
            </a:r>
            <a:r>
              <a:rPr lang="en-US" dirty="0">
                <a:latin typeface="Verdana" charset="0"/>
              </a:rPr>
              <a:t> (1.6 × 2.59 m).</a:t>
            </a:r>
            <a:br>
              <a:rPr lang="en-US" dirty="0">
                <a:latin typeface="Verdana" charset="0"/>
              </a:rPr>
            </a:br>
            <a:r>
              <a:rPr lang="en-US" dirty="0">
                <a:latin typeface="Verdana" charset="0"/>
              </a:rPr>
              <a:t>Formerly </a:t>
            </a:r>
            <a:r>
              <a:rPr lang="en-US" dirty="0" err="1">
                <a:latin typeface="Verdana" charset="0"/>
              </a:rPr>
              <a:t>Gemäldegalerie</a:t>
            </a:r>
            <a:r>
              <a:rPr lang="en-US" dirty="0">
                <a:latin typeface="Verdana" charset="0"/>
              </a:rPr>
              <a:t>, Dresden; destroyed in World War II. © Staatliche </a:t>
            </a:r>
            <a:r>
              <a:rPr lang="en-US" dirty="0" err="1">
                <a:latin typeface="Verdana" charset="0"/>
              </a:rPr>
              <a:t>Kunstsammlungen</a:t>
            </a:r>
            <a:r>
              <a:rPr lang="en-US" dirty="0">
                <a:latin typeface="Verdana" charset="0"/>
              </a:rPr>
              <a:t> Dresden/Bridgeman Images. </a:t>
            </a:r>
            <a:endParaRPr lang="en-US" dirty="0"/>
          </a:p>
        </p:txBody>
      </p:sp>
      <p:sp>
        <p:nvSpPr>
          <p:cNvPr id="59395" name="Slide Number Placeholder 3"/>
          <p:cNvSpPr>
            <a:spLocks noGrp="1"/>
          </p:cNvSpPr>
          <p:nvPr>
            <p:ph type="sldNum" sz="quarter" idx="5"/>
          </p:nvPr>
        </p:nvSpPr>
        <p:spPr bwMode="auto">
          <a:noFill/>
          <a:ln>
            <a:miter lim="800000"/>
            <a:headEnd/>
            <a:tailEnd/>
          </a:ln>
        </p:spPr>
        <p:txBody>
          <a:bodyPr/>
          <a:lstStyle/>
          <a:p>
            <a:fld id="{2D9BFF7E-D61F-AF46-85FD-977B4AA59A1F}" type="slidenum">
              <a:rPr lang="en-US"/>
              <a:pPr/>
              <a:t>20</a:t>
            </a:fld>
            <a:endParaRPr lang="en-US"/>
          </a:p>
        </p:txBody>
      </p:sp>
    </p:spTree>
    <p:extLst>
      <p:ext uri="{BB962C8B-B14F-4D97-AF65-F5344CB8AC3E}">
        <p14:creationId xmlns:p14="http://schemas.microsoft.com/office/powerpoint/2010/main" val="722573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a:lstStyle/>
          <a:p>
            <a:pPr>
              <a:spcBef>
                <a:spcPct val="0"/>
              </a:spcBef>
            </a:pPr>
            <a:r>
              <a:rPr lang="en-US" dirty="0"/>
              <a:t>Gustave Courbet A BURIAL AT ORNANS</a:t>
            </a:r>
            <a:br>
              <a:rPr lang="en-US" dirty="0"/>
            </a:br>
            <a:r>
              <a:rPr lang="en-US" dirty="0"/>
              <a:t>1849. Oil on canvas, 10</a:t>
            </a:r>
            <a:r>
              <a:rPr lang="uk-UA" dirty="0"/>
              <a:t>'</a:t>
            </a:r>
            <a:r>
              <a:rPr lang="en-US" dirty="0"/>
              <a:t>3-1/2</a:t>
            </a:r>
            <a:r>
              <a:rPr lang="ru-RU" dirty="0"/>
              <a:t>"</a:t>
            </a:r>
            <a:r>
              <a:rPr lang="en-US" dirty="0"/>
              <a:t> × 21</a:t>
            </a:r>
            <a:r>
              <a:rPr lang="uk-UA" dirty="0"/>
              <a:t>'</a:t>
            </a:r>
            <a:r>
              <a:rPr lang="en-US" dirty="0"/>
              <a:t>9</a:t>
            </a:r>
            <a:r>
              <a:rPr lang="ru-RU" dirty="0"/>
              <a:t>"</a:t>
            </a:r>
            <a:r>
              <a:rPr lang="en-US" dirty="0"/>
              <a:t> (3.1 × 6.6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d'Orsay)/Gérard Blot/</a:t>
            </a:r>
            <a:r>
              <a:rPr lang="en-US" dirty="0" err="1"/>
              <a:t>Hervé</a:t>
            </a:r>
            <a:r>
              <a:rPr lang="en-US" dirty="0"/>
              <a:t> Lewandowski. </a:t>
            </a:r>
          </a:p>
        </p:txBody>
      </p:sp>
      <p:sp>
        <p:nvSpPr>
          <p:cNvPr id="62467" name="Slide Number Placeholder 3"/>
          <p:cNvSpPr>
            <a:spLocks noGrp="1"/>
          </p:cNvSpPr>
          <p:nvPr>
            <p:ph type="sldNum" sz="quarter" idx="5"/>
          </p:nvPr>
        </p:nvSpPr>
        <p:spPr bwMode="auto">
          <a:noFill/>
          <a:ln>
            <a:miter lim="800000"/>
            <a:headEnd/>
            <a:tailEnd/>
          </a:ln>
        </p:spPr>
        <p:txBody>
          <a:bodyPr/>
          <a:lstStyle/>
          <a:p>
            <a:fld id="{56BAC26A-3A10-0B40-9B07-2596F0CA94AB}" type="slidenum">
              <a:rPr lang="en-US"/>
              <a:pPr/>
              <a:t>22</a:t>
            </a:fld>
            <a:endParaRPr lang="en-US"/>
          </a:p>
        </p:txBody>
      </p:sp>
    </p:spTree>
    <p:extLst>
      <p:ext uri="{BB962C8B-B14F-4D97-AF65-F5344CB8AC3E}">
        <p14:creationId xmlns:p14="http://schemas.microsoft.com/office/powerpoint/2010/main" val="268572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a:lstStyle/>
          <a:p>
            <a:pPr>
              <a:spcBef>
                <a:spcPct val="0"/>
              </a:spcBef>
            </a:pPr>
            <a:r>
              <a:rPr lang="en-US" dirty="0"/>
              <a:t>Jean-François Millet THE GLEANERS</a:t>
            </a:r>
            <a:br>
              <a:rPr lang="en-US" dirty="0"/>
            </a:br>
            <a:r>
              <a:rPr lang="en-US" dirty="0"/>
              <a:t>1857. Oil on canvas, 33</a:t>
            </a:r>
            <a:r>
              <a:rPr lang="ru-RU" dirty="0"/>
              <a:t>"</a:t>
            </a:r>
            <a:r>
              <a:rPr lang="en-US" dirty="0"/>
              <a:t> × 44</a:t>
            </a:r>
            <a:r>
              <a:rPr lang="ru-RU" dirty="0"/>
              <a:t>"</a:t>
            </a:r>
            <a:r>
              <a:rPr lang="en-US" dirty="0"/>
              <a:t> (83.8 × 111.8 cm).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d'Orsay)/Jean </a:t>
            </a:r>
            <a:r>
              <a:rPr lang="en-US" dirty="0" err="1"/>
              <a:t>Schormans</a:t>
            </a:r>
            <a:r>
              <a:rPr lang="en-US" dirty="0"/>
              <a:t>. </a:t>
            </a:r>
          </a:p>
        </p:txBody>
      </p:sp>
      <p:sp>
        <p:nvSpPr>
          <p:cNvPr id="65539" name="Slide Number Placeholder 3"/>
          <p:cNvSpPr>
            <a:spLocks noGrp="1"/>
          </p:cNvSpPr>
          <p:nvPr>
            <p:ph type="sldNum" sz="quarter" idx="5"/>
          </p:nvPr>
        </p:nvSpPr>
        <p:spPr bwMode="auto">
          <a:noFill/>
          <a:ln>
            <a:miter lim="800000"/>
            <a:headEnd/>
            <a:tailEnd/>
          </a:ln>
        </p:spPr>
        <p:txBody>
          <a:bodyPr/>
          <a:lstStyle/>
          <a:p>
            <a:fld id="{1DB85289-469E-924D-B205-A7D07BF72D15}" type="slidenum">
              <a:rPr lang="en-US"/>
              <a:pPr/>
              <a:t>24</a:t>
            </a:fld>
            <a:endParaRPr lang="en-US"/>
          </a:p>
        </p:txBody>
      </p:sp>
    </p:spTree>
    <p:extLst>
      <p:ext uri="{BB962C8B-B14F-4D97-AF65-F5344CB8AC3E}">
        <p14:creationId xmlns:p14="http://schemas.microsoft.com/office/powerpoint/2010/main" val="2029117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bwMode="auto">
          <a:noFill/>
          <a:ln>
            <a:solidFill>
              <a:srgbClr val="000000"/>
            </a:solidFill>
            <a:miter lim="800000"/>
            <a:headEnd/>
            <a:tailEnd/>
          </a:ln>
        </p:spPr>
      </p:sp>
      <p:sp>
        <p:nvSpPr>
          <p:cNvPr id="68610" name="Notes Placeholder 2"/>
          <p:cNvSpPr>
            <a:spLocks noGrp="1"/>
          </p:cNvSpPr>
          <p:nvPr>
            <p:ph type="body" idx="1"/>
          </p:nvPr>
        </p:nvSpPr>
        <p:spPr bwMode="auto">
          <a:noFill/>
        </p:spPr>
        <p:txBody>
          <a:bodyPr/>
          <a:lstStyle/>
          <a:p>
            <a:pPr>
              <a:spcBef>
                <a:spcPct val="0"/>
              </a:spcBef>
            </a:pPr>
            <a:r>
              <a:rPr lang="en-US" dirty="0"/>
              <a:t>Jean-Baptiste-Camille Corot FIRST LEAVES, NEAR MANTES</a:t>
            </a:r>
            <a:br>
              <a:rPr lang="en-US" dirty="0"/>
            </a:br>
            <a:r>
              <a:rPr lang="en-US" dirty="0"/>
              <a:t>c. 1855. Oil on canvas, 13-3/8</a:t>
            </a:r>
            <a:r>
              <a:rPr lang="ru-RU" dirty="0"/>
              <a:t>"</a:t>
            </a:r>
            <a:r>
              <a:rPr lang="en-US" dirty="0"/>
              <a:t> × 18-1/8</a:t>
            </a:r>
            <a:r>
              <a:rPr lang="ru-RU" dirty="0"/>
              <a:t>"</a:t>
            </a:r>
            <a:r>
              <a:rPr lang="en-US" dirty="0"/>
              <a:t> (34 × 46 cm).</a:t>
            </a:r>
            <a:br>
              <a:rPr lang="en-US" dirty="0"/>
            </a:br>
            <a:r>
              <a:rPr lang="en-US" dirty="0"/>
              <a:t>Carnegie Museum of Art, Pittsburgh, Pennsylvania. Photograph © 2016 Carnegie Museum of Art, Pittsburgh. Photo: Richard Stoner. </a:t>
            </a:r>
          </a:p>
        </p:txBody>
      </p:sp>
      <p:sp>
        <p:nvSpPr>
          <p:cNvPr id="68611" name="Slide Number Placeholder 3"/>
          <p:cNvSpPr>
            <a:spLocks noGrp="1"/>
          </p:cNvSpPr>
          <p:nvPr>
            <p:ph type="sldNum" sz="quarter" idx="5"/>
          </p:nvPr>
        </p:nvSpPr>
        <p:spPr bwMode="auto">
          <a:noFill/>
          <a:ln>
            <a:miter lim="800000"/>
            <a:headEnd/>
            <a:tailEnd/>
          </a:ln>
        </p:spPr>
        <p:txBody>
          <a:bodyPr/>
          <a:lstStyle/>
          <a:p>
            <a:fld id="{EA6B5190-1BFB-3948-BBD3-547A0A99C5A3}" type="slidenum">
              <a:rPr lang="en-US"/>
              <a:pPr/>
              <a:t>26</a:t>
            </a:fld>
            <a:endParaRPr lang="en-US"/>
          </a:p>
        </p:txBody>
      </p:sp>
    </p:spTree>
    <p:extLst>
      <p:ext uri="{BB962C8B-B14F-4D97-AF65-F5344CB8AC3E}">
        <p14:creationId xmlns:p14="http://schemas.microsoft.com/office/powerpoint/2010/main" val="1331776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a:lstStyle/>
          <a:p>
            <a:pPr>
              <a:spcBef>
                <a:spcPct val="0"/>
              </a:spcBef>
            </a:pPr>
            <a:r>
              <a:rPr lang="en-US" dirty="0"/>
              <a:t>Rosa Bonheur THE HORSE FAIR</a:t>
            </a:r>
            <a:br>
              <a:rPr lang="en-US" dirty="0"/>
            </a:br>
            <a:r>
              <a:rPr lang="en-US" dirty="0"/>
              <a:t>1853–1855. Oil on canvas, 8</a:t>
            </a:r>
            <a:r>
              <a:rPr lang="uk-UA" dirty="0"/>
              <a:t>'</a:t>
            </a:r>
            <a:r>
              <a:rPr lang="en-US" dirty="0"/>
              <a:t>-1/4</a:t>
            </a:r>
            <a:r>
              <a:rPr lang="ru-RU" dirty="0"/>
              <a:t>"</a:t>
            </a:r>
            <a:r>
              <a:rPr lang="en-US" dirty="0"/>
              <a:t> × 16</a:t>
            </a:r>
            <a:r>
              <a:rPr lang="uk-UA" dirty="0"/>
              <a:t>'</a:t>
            </a:r>
            <a:r>
              <a:rPr lang="en-US" dirty="0"/>
              <a:t>7-1/2</a:t>
            </a:r>
            <a:r>
              <a:rPr lang="ru-RU" dirty="0"/>
              <a:t>"</a:t>
            </a:r>
            <a:r>
              <a:rPr lang="en-US" dirty="0"/>
              <a:t> (2.45 × 5.07 m).</a:t>
            </a:r>
            <a:br>
              <a:rPr lang="en-US" dirty="0"/>
            </a:br>
            <a:r>
              <a:rPr lang="en-US" dirty="0"/>
              <a:t>Metropolitan Museum of Art, New York. © 2016. Image copyright The Metropolitan Museum of Art/Art Resource, NY/ Scala, Florence.</a:t>
            </a:r>
          </a:p>
        </p:txBody>
      </p:sp>
      <p:sp>
        <p:nvSpPr>
          <p:cNvPr id="71683" name="Slide Number Placeholder 3"/>
          <p:cNvSpPr>
            <a:spLocks noGrp="1"/>
          </p:cNvSpPr>
          <p:nvPr>
            <p:ph type="sldNum" sz="quarter" idx="5"/>
          </p:nvPr>
        </p:nvSpPr>
        <p:spPr bwMode="auto">
          <a:noFill/>
          <a:ln>
            <a:miter lim="800000"/>
            <a:headEnd/>
            <a:tailEnd/>
          </a:ln>
        </p:spPr>
        <p:txBody>
          <a:bodyPr/>
          <a:lstStyle/>
          <a:p>
            <a:fld id="{F5BEE7DC-5C18-6642-829E-9C86F652881C}" type="slidenum">
              <a:rPr lang="en-US"/>
              <a:pPr/>
              <a:t>28</a:t>
            </a:fld>
            <a:endParaRPr lang="en-US"/>
          </a:p>
        </p:txBody>
      </p:sp>
    </p:spTree>
    <p:extLst>
      <p:ext uri="{BB962C8B-B14F-4D97-AF65-F5344CB8AC3E}">
        <p14:creationId xmlns:p14="http://schemas.microsoft.com/office/powerpoint/2010/main" val="2100680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a:lstStyle/>
          <a:p>
            <a:pPr>
              <a:spcBef>
                <a:spcPct val="0"/>
              </a:spcBef>
            </a:pPr>
            <a:r>
              <a:rPr lang="en-US" dirty="0"/>
              <a:t>Édouard Manet THE LUNCHEON ON THE GRASS/LE DÉJEUNER SUR L</a:t>
            </a:r>
            <a:r>
              <a:rPr lang="uk-UA" dirty="0"/>
              <a:t>'</a:t>
            </a:r>
            <a:r>
              <a:rPr lang="en-US" dirty="0"/>
              <a:t>HERBE </a:t>
            </a:r>
            <a:br>
              <a:rPr lang="en-US" dirty="0"/>
            </a:br>
            <a:r>
              <a:rPr lang="en-US" dirty="0"/>
              <a:t>1863. Oil on canvas, 7</a:t>
            </a:r>
            <a:r>
              <a:rPr lang="uk-UA" dirty="0"/>
              <a:t>'</a:t>
            </a:r>
            <a:r>
              <a:rPr lang="en-US" dirty="0"/>
              <a:t> × 8</a:t>
            </a:r>
            <a:r>
              <a:rPr lang="uk-UA" dirty="0"/>
              <a:t>'</a:t>
            </a:r>
            <a:r>
              <a:rPr lang="en-US" dirty="0"/>
              <a:t>8</a:t>
            </a:r>
            <a:r>
              <a:rPr lang="ru-RU" dirty="0"/>
              <a:t>"</a:t>
            </a:r>
            <a:r>
              <a:rPr lang="en-US" dirty="0"/>
              <a:t> (2.13 × 2.64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 </a:t>
            </a:r>
          </a:p>
        </p:txBody>
      </p:sp>
      <p:sp>
        <p:nvSpPr>
          <p:cNvPr id="75779" name="Slide Number Placeholder 3"/>
          <p:cNvSpPr>
            <a:spLocks noGrp="1"/>
          </p:cNvSpPr>
          <p:nvPr>
            <p:ph type="sldNum" sz="quarter" idx="5"/>
          </p:nvPr>
        </p:nvSpPr>
        <p:spPr bwMode="auto">
          <a:noFill/>
          <a:ln>
            <a:miter lim="800000"/>
            <a:headEnd/>
            <a:tailEnd/>
          </a:ln>
        </p:spPr>
        <p:txBody>
          <a:bodyPr/>
          <a:lstStyle/>
          <a:p>
            <a:fld id="{3FE5A7F2-3377-D340-83A4-C5E669309D41}" type="slidenum">
              <a:rPr lang="en-US"/>
              <a:pPr/>
              <a:t>31</a:t>
            </a:fld>
            <a:endParaRPr lang="en-US"/>
          </a:p>
        </p:txBody>
      </p:sp>
    </p:spTree>
    <p:extLst>
      <p:ext uri="{BB962C8B-B14F-4D97-AF65-F5344CB8AC3E}">
        <p14:creationId xmlns:p14="http://schemas.microsoft.com/office/powerpoint/2010/main" val="1498225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noTextEdit="1"/>
          </p:cNvSpPr>
          <p:nvPr>
            <p:ph type="sldImg"/>
          </p:nvPr>
        </p:nvSpPr>
        <p:spPr bwMode="auto">
          <a:noFill/>
          <a:ln>
            <a:solidFill>
              <a:srgbClr val="000000"/>
            </a:solidFill>
            <a:miter lim="800000"/>
            <a:headEnd/>
            <a:tailEnd/>
          </a:ln>
        </p:spPr>
      </p:sp>
      <p:sp>
        <p:nvSpPr>
          <p:cNvPr id="78850" name="Notes Placeholder 2"/>
          <p:cNvSpPr>
            <a:spLocks noGrp="1"/>
          </p:cNvSpPr>
          <p:nvPr>
            <p:ph type="body" idx="1"/>
          </p:nvPr>
        </p:nvSpPr>
        <p:spPr bwMode="auto">
          <a:noFill/>
        </p:spPr>
        <p:txBody>
          <a:bodyPr/>
          <a:lstStyle/>
          <a:p>
            <a:pPr>
              <a:spcBef>
                <a:spcPct val="0"/>
              </a:spcBef>
            </a:pPr>
            <a:r>
              <a:rPr lang="en-US" dirty="0"/>
              <a:t>Édouard Manet OLYMPIA</a:t>
            </a:r>
            <a:br>
              <a:rPr lang="en-US" dirty="0"/>
            </a:br>
            <a:r>
              <a:rPr lang="en-US" dirty="0"/>
              <a:t>1863. Oil on canvas, 4</a:t>
            </a:r>
            <a:r>
              <a:rPr lang="uk-UA" dirty="0"/>
              <a:t>'</a:t>
            </a:r>
            <a:r>
              <a:rPr lang="en-US" dirty="0"/>
              <a:t>3</a:t>
            </a:r>
            <a:r>
              <a:rPr lang="ru-RU" dirty="0"/>
              <a:t>"</a:t>
            </a:r>
            <a:r>
              <a:rPr lang="en-US" dirty="0"/>
              <a:t> × 6</a:t>
            </a:r>
            <a:r>
              <a:rPr lang="uk-UA" dirty="0"/>
              <a:t>'</a:t>
            </a:r>
            <a:r>
              <a:rPr lang="en-US" dirty="0"/>
              <a:t>2-1/4</a:t>
            </a:r>
            <a:r>
              <a:rPr lang="ru-RU" dirty="0"/>
              <a:t>"</a:t>
            </a:r>
            <a:r>
              <a:rPr lang="en-US" dirty="0"/>
              <a:t> (1.31 × 1.91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p>
        </p:txBody>
      </p:sp>
      <p:sp>
        <p:nvSpPr>
          <p:cNvPr id="78851" name="Slide Number Placeholder 3"/>
          <p:cNvSpPr>
            <a:spLocks noGrp="1"/>
          </p:cNvSpPr>
          <p:nvPr>
            <p:ph type="sldNum" sz="quarter" idx="5"/>
          </p:nvPr>
        </p:nvSpPr>
        <p:spPr bwMode="auto">
          <a:noFill/>
          <a:ln>
            <a:miter lim="800000"/>
            <a:headEnd/>
            <a:tailEnd/>
          </a:ln>
        </p:spPr>
        <p:txBody>
          <a:bodyPr/>
          <a:lstStyle/>
          <a:p>
            <a:fld id="{E4FA43C4-7183-EC47-A580-1756FCC1D4CD}" type="slidenum">
              <a:rPr lang="en-US"/>
              <a:pPr/>
              <a:t>33</a:t>
            </a:fld>
            <a:endParaRPr lang="en-US"/>
          </a:p>
        </p:txBody>
      </p:sp>
    </p:spTree>
    <p:extLst>
      <p:ext uri="{BB962C8B-B14F-4D97-AF65-F5344CB8AC3E}">
        <p14:creationId xmlns:p14="http://schemas.microsoft.com/office/powerpoint/2010/main" val="1424822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noTextEdit="1"/>
          </p:cNvSpPr>
          <p:nvPr>
            <p:ph type="sldImg"/>
          </p:nvPr>
        </p:nvSpPr>
        <p:spPr bwMode="auto">
          <a:noFill/>
          <a:ln>
            <a:solidFill>
              <a:srgbClr val="000000"/>
            </a:solidFill>
            <a:miter lim="800000"/>
            <a:headEnd/>
            <a:tailEnd/>
          </a:ln>
        </p:spPr>
      </p:sp>
      <p:sp>
        <p:nvSpPr>
          <p:cNvPr id="81922" name="Notes Placeholder 2"/>
          <p:cNvSpPr>
            <a:spLocks noGrp="1"/>
          </p:cNvSpPr>
          <p:nvPr>
            <p:ph type="body" idx="1"/>
          </p:nvPr>
        </p:nvSpPr>
        <p:spPr bwMode="auto">
          <a:noFill/>
        </p:spPr>
        <p:txBody>
          <a:bodyPr/>
          <a:lstStyle/>
          <a:p>
            <a:pPr>
              <a:spcBef>
                <a:spcPct val="0"/>
              </a:spcBef>
            </a:pPr>
            <a:r>
              <a:rPr lang="en-US" dirty="0"/>
              <a:t>Édouard Manet A BAR AT THE FOLIES-BERGÈRE</a:t>
            </a:r>
            <a:br>
              <a:rPr lang="en-US" dirty="0"/>
            </a:br>
            <a:r>
              <a:rPr lang="en-US" dirty="0"/>
              <a:t>1881–1882. Oil on canvas. 37-3/4</a:t>
            </a:r>
            <a:r>
              <a:rPr lang="ru-RU" dirty="0"/>
              <a:t>"</a:t>
            </a:r>
            <a:r>
              <a:rPr lang="en-US" dirty="0"/>
              <a:t> × 51-1/4</a:t>
            </a:r>
            <a:r>
              <a:rPr lang="ru-RU" dirty="0"/>
              <a:t>"</a:t>
            </a:r>
            <a:r>
              <a:rPr lang="en-US" dirty="0"/>
              <a:t> (95.9 × 130 cm).</a:t>
            </a:r>
            <a:br>
              <a:rPr lang="en-US" dirty="0"/>
            </a:br>
            <a:r>
              <a:rPr lang="en-US" dirty="0"/>
              <a:t>The Samuel </a:t>
            </a:r>
            <a:r>
              <a:rPr lang="en-US" dirty="0" err="1"/>
              <a:t>Courtauld</a:t>
            </a:r>
            <a:r>
              <a:rPr lang="en-US" dirty="0"/>
              <a:t> Trust, The </a:t>
            </a:r>
            <a:r>
              <a:rPr lang="en-US" dirty="0" err="1"/>
              <a:t>Courtauld</a:t>
            </a:r>
            <a:r>
              <a:rPr lang="en-US" dirty="0"/>
              <a:t> Gallery, London. (P.1934.SC.234).</a:t>
            </a:r>
            <a:br>
              <a:rPr lang="en-US" dirty="0"/>
            </a:br>
            <a:r>
              <a:rPr lang="en-US" dirty="0"/>
              <a:t>© Samuel </a:t>
            </a:r>
            <a:r>
              <a:rPr lang="en-US" dirty="0" err="1"/>
              <a:t>Courtauld</a:t>
            </a:r>
            <a:r>
              <a:rPr lang="en-US" dirty="0"/>
              <a:t> Trust, The </a:t>
            </a:r>
            <a:r>
              <a:rPr lang="en-US" dirty="0" err="1"/>
              <a:t>Courtauld</a:t>
            </a:r>
            <a:r>
              <a:rPr lang="en-US" dirty="0"/>
              <a:t> Gallery, London, UK/Bridgeman Images.</a:t>
            </a:r>
          </a:p>
        </p:txBody>
      </p:sp>
      <p:sp>
        <p:nvSpPr>
          <p:cNvPr id="81923" name="Slide Number Placeholder 3"/>
          <p:cNvSpPr>
            <a:spLocks noGrp="1"/>
          </p:cNvSpPr>
          <p:nvPr>
            <p:ph type="sldNum" sz="quarter" idx="5"/>
          </p:nvPr>
        </p:nvSpPr>
        <p:spPr bwMode="auto">
          <a:noFill/>
          <a:ln>
            <a:miter lim="800000"/>
            <a:headEnd/>
            <a:tailEnd/>
          </a:ln>
        </p:spPr>
        <p:txBody>
          <a:bodyPr/>
          <a:lstStyle/>
          <a:p>
            <a:fld id="{100B9C4F-EB27-4241-85AF-8CF39291604C}" type="slidenum">
              <a:rPr lang="en-US"/>
              <a:pPr/>
              <a:t>35</a:t>
            </a:fld>
            <a:endParaRPr lang="en-US"/>
          </a:p>
        </p:txBody>
      </p:sp>
    </p:spTree>
    <p:extLst>
      <p:ext uri="{BB962C8B-B14F-4D97-AF65-F5344CB8AC3E}">
        <p14:creationId xmlns:p14="http://schemas.microsoft.com/office/powerpoint/2010/main" val="399559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1325191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p:spPr>
      </p:sp>
      <p:sp>
        <p:nvSpPr>
          <p:cNvPr id="86018" name="Notes Placeholder 2"/>
          <p:cNvSpPr>
            <a:spLocks noGrp="1"/>
          </p:cNvSpPr>
          <p:nvPr>
            <p:ph type="body" idx="1"/>
          </p:nvPr>
        </p:nvSpPr>
        <p:spPr bwMode="auto">
          <a:noFill/>
        </p:spPr>
        <p:txBody>
          <a:bodyPr/>
          <a:lstStyle/>
          <a:p>
            <a:pPr>
              <a:spcBef>
                <a:spcPct val="0"/>
              </a:spcBef>
            </a:pPr>
            <a:r>
              <a:rPr lang="en-US" dirty="0"/>
              <a:t>Ilya </a:t>
            </a:r>
            <a:r>
              <a:rPr lang="en-US" dirty="0" err="1"/>
              <a:t>Repin</a:t>
            </a:r>
            <a:r>
              <a:rPr lang="en-US" dirty="0"/>
              <a:t> BARGEHAULERS ON THE VOLGA</a:t>
            </a:r>
            <a:br>
              <a:rPr lang="en-US" dirty="0"/>
            </a:br>
            <a:r>
              <a:rPr lang="en-US" dirty="0"/>
              <a:t>1870–1873. Oil on canvas, 4</a:t>
            </a:r>
            <a:r>
              <a:rPr lang="uk-UA" dirty="0"/>
              <a:t>'</a:t>
            </a:r>
            <a:r>
              <a:rPr lang="en-US" dirty="0"/>
              <a:t>3-3/4</a:t>
            </a:r>
            <a:r>
              <a:rPr lang="ru-RU" dirty="0"/>
              <a:t>"</a:t>
            </a:r>
            <a:r>
              <a:rPr lang="en-US" dirty="0"/>
              <a:t> × 9</a:t>
            </a:r>
            <a:r>
              <a:rPr lang="uk-UA" dirty="0"/>
              <a:t>'</a:t>
            </a:r>
            <a:r>
              <a:rPr lang="en-US" dirty="0"/>
              <a:t>3</a:t>
            </a:r>
            <a:r>
              <a:rPr lang="ru-RU" dirty="0"/>
              <a:t>"</a:t>
            </a:r>
            <a:r>
              <a:rPr lang="en-US" dirty="0"/>
              <a:t> (1.3 × 2.81 m).</a:t>
            </a:r>
            <a:br>
              <a:rPr lang="en-US" dirty="0"/>
            </a:br>
            <a:r>
              <a:rPr lang="en-US" dirty="0"/>
              <a:t>State Russian Museum, St. Petersburg. © </a:t>
            </a:r>
            <a:r>
              <a:rPr lang="en-US" dirty="0" err="1"/>
              <a:t>akg</a:t>
            </a:r>
            <a:r>
              <a:rPr lang="en-US" dirty="0"/>
              <a:t>-images.</a:t>
            </a:r>
          </a:p>
        </p:txBody>
      </p:sp>
      <p:sp>
        <p:nvSpPr>
          <p:cNvPr id="86019" name="Slide Number Placeholder 3"/>
          <p:cNvSpPr>
            <a:spLocks noGrp="1"/>
          </p:cNvSpPr>
          <p:nvPr>
            <p:ph type="sldNum" sz="quarter" idx="5"/>
          </p:nvPr>
        </p:nvSpPr>
        <p:spPr bwMode="auto">
          <a:noFill/>
          <a:ln>
            <a:miter lim="800000"/>
            <a:headEnd/>
            <a:tailEnd/>
          </a:ln>
        </p:spPr>
        <p:txBody>
          <a:bodyPr/>
          <a:lstStyle/>
          <a:p>
            <a:fld id="{8689B749-A6C5-6F4E-88CD-D7190C5B86E4}" type="slidenum">
              <a:rPr lang="en-US"/>
              <a:pPr/>
              <a:t>38</a:t>
            </a:fld>
            <a:endParaRPr lang="en-US"/>
          </a:p>
        </p:txBody>
      </p:sp>
    </p:spTree>
    <p:extLst>
      <p:ext uri="{BB962C8B-B14F-4D97-AF65-F5344CB8AC3E}">
        <p14:creationId xmlns:p14="http://schemas.microsoft.com/office/powerpoint/2010/main" val="212614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noTextEdit="1"/>
          </p:cNvSpPr>
          <p:nvPr>
            <p:ph type="sldImg"/>
          </p:nvPr>
        </p:nvSpPr>
        <p:spPr bwMode="auto">
          <a:noFill/>
          <a:ln>
            <a:solidFill>
              <a:srgbClr val="000000"/>
            </a:solidFill>
            <a:miter lim="800000"/>
            <a:headEnd/>
            <a:tailEnd/>
          </a:ln>
        </p:spPr>
      </p:sp>
      <p:sp>
        <p:nvSpPr>
          <p:cNvPr id="89090" name="Notes Placeholder 2"/>
          <p:cNvSpPr>
            <a:spLocks noGrp="1"/>
          </p:cNvSpPr>
          <p:nvPr>
            <p:ph type="body" idx="1"/>
          </p:nvPr>
        </p:nvSpPr>
        <p:spPr bwMode="auto">
          <a:noFill/>
        </p:spPr>
        <p:txBody>
          <a:bodyPr/>
          <a:lstStyle/>
          <a:p>
            <a:pPr>
              <a:spcBef>
                <a:spcPct val="0"/>
              </a:spcBef>
            </a:pPr>
            <a:r>
              <a:rPr lang="en-US" dirty="0"/>
              <a:t>Thomas Eakins THE GROSS CLINIC</a:t>
            </a:r>
            <a:br>
              <a:rPr lang="en-US" dirty="0"/>
            </a:br>
            <a:r>
              <a:rPr lang="en-US" dirty="0"/>
              <a:t>1875. Oil on canvas, 8</a:t>
            </a:r>
            <a:r>
              <a:rPr lang="uk-UA" dirty="0"/>
              <a:t>'</a:t>
            </a:r>
            <a:r>
              <a:rPr lang="en-US" dirty="0"/>
              <a:t> × 6</a:t>
            </a:r>
            <a:r>
              <a:rPr lang="uk-UA" dirty="0"/>
              <a:t>'</a:t>
            </a:r>
            <a:r>
              <a:rPr lang="en-US" dirty="0"/>
              <a:t>5</a:t>
            </a:r>
            <a:r>
              <a:rPr lang="ru-RU" dirty="0"/>
              <a:t>"</a:t>
            </a:r>
            <a:r>
              <a:rPr lang="en-US" dirty="0"/>
              <a:t> (2.44 × 1.98 m).</a:t>
            </a:r>
            <a:br>
              <a:rPr lang="en-US" dirty="0"/>
            </a:br>
            <a:r>
              <a:rPr lang="en-US" dirty="0"/>
              <a:t>Philadelphia Museum of Art, Pennsylvania. Gift of the Alumni Association to Jefferson Medical College in 1878 and purchased by the Pennsylvania Academy of the Fine Arts and the Philadelphia Museum of Art in 2007. © 2016. Photo The Philadelphia Museum of Art/Art Resource/Scala, Florence. </a:t>
            </a:r>
          </a:p>
        </p:txBody>
      </p:sp>
      <p:sp>
        <p:nvSpPr>
          <p:cNvPr id="89091" name="Slide Number Placeholder 3"/>
          <p:cNvSpPr>
            <a:spLocks noGrp="1"/>
          </p:cNvSpPr>
          <p:nvPr>
            <p:ph type="sldNum" sz="quarter" idx="5"/>
          </p:nvPr>
        </p:nvSpPr>
        <p:spPr bwMode="auto">
          <a:noFill/>
          <a:ln>
            <a:miter lim="800000"/>
            <a:headEnd/>
            <a:tailEnd/>
          </a:ln>
        </p:spPr>
        <p:txBody>
          <a:bodyPr/>
          <a:lstStyle/>
          <a:p>
            <a:fld id="{73F8F94B-7F63-0640-A936-59B16BE61275}" type="slidenum">
              <a:rPr lang="en-US"/>
              <a:pPr/>
              <a:t>40</a:t>
            </a:fld>
            <a:endParaRPr lang="en-US"/>
          </a:p>
        </p:txBody>
      </p:sp>
    </p:spTree>
    <p:extLst>
      <p:ext uri="{BB962C8B-B14F-4D97-AF65-F5344CB8AC3E}">
        <p14:creationId xmlns:p14="http://schemas.microsoft.com/office/powerpoint/2010/main" val="2146159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noTextEdit="1"/>
          </p:cNvSpPr>
          <p:nvPr>
            <p:ph type="sldImg"/>
          </p:nvPr>
        </p:nvSpPr>
        <p:spPr bwMode="auto">
          <a:noFill/>
          <a:ln>
            <a:solidFill>
              <a:srgbClr val="000000"/>
            </a:solidFill>
            <a:miter lim="800000"/>
            <a:headEnd/>
            <a:tailEnd/>
          </a:ln>
        </p:spPr>
      </p:sp>
      <p:sp>
        <p:nvSpPr>
          <p:cNvPr id="92162" name="Notes Placeholder 2"/>
          <p:cNvSpPr>
            <a:spLocks noGrp="1"/>
          </p:cNvSpPr>
          <p:nvPr>
            <p:ph type="body" idx="1"/>
          </p:nvPr>
        </p:nvSpPr>
        <p:spPr bwMode="auto">
          <a:noFill/>
        </p:spPr>
        <p:txBody>
          <a:bodyPr/>
          <a:lstStyle/>
          <a:p>
            <a:pPr>
              <a:spcBef>
                <a:spcPct val="0"/>
              </a:spcBef>
            </a:pPr>
            <a:r>
              <a:rPr lang="en-US" dirty="0"/>
              <a:t>Winslow Homer THE LIFE LINE</a:t>
            </a:r>
            <a:br>
              <a:rPr lang="en-US" dirty="0"/>
            </a:br>
            <a:r>
              <a:rPr lang="en-US" dirty="0"/>
              <a:t>1884. Oil on canvas, 28-3/4</a:t>
            </a:r>
            <a:r>
              <a:rPr lang="ru-RU" dirty="0"/>
              <a:t>"</a:t>
            </a:r>
            <a:r>
              <a:rPr lang="en-US" dirty="0"/>
              <a:t> × 44-5/8</a:t>
            </a:r>
            <a:r>
              <a:rPr lang="ru-RU" dirty="0"/>
              <a:t>"</a:t>
            </a:r>
            <a:r>
              <a:rPr lang="en-US" dirty="0"/>
              <a:t> (73 × 113.3 cm).</a:t>
            </a:r>
            <a:br>
              <a:rPr lang="en-US" dirty="0"/>
            </a:br>
            <a:r>
              <a:rPr lang="en-US" dirty="0"/>
              <a:t>Philadelphia Museum of Art, Pennsylvania. The George W. Elkins Collection, 1924.</a:t>
            </a:r>
            <a:br>
              <a:rPr lang="en-US" dirty="0"/>
            </a:br>
            <a:r>
              <a:rPr lang="en-US" dirty="0"/>
              <a:t>© 2016. Photo The Philadelphia Museum of Art/Art Resource/Scala, Florence.</a:t>
            </a:r>
          </a:p>
        </p:txBody>
      </p:sp>
      <p:sp>
        <p:nvSpPr>
          <p:cNvPr id="92163" name="Slide Number Placeholder 3"/>
          <p:cNvSpPr>
            <a:spLocks noGrp="1"/>
          </p:cNvSpPr>
          <p:nvPr>
            <p:ph type="sldNum" sz="quarter" idx="5"/>
          </p:nvPr>
        </p:nvSpPr>
        <p:spPr bwMode="auto">
          <a:noFill/>
          <a:ln>
            <a:miter lim="800000"/>
            <a:headEnd/>
            <a:tailEnd/>
          </a:ln>
        </p:spPr>
        <p:txBody>
          <a:bodyPr/>
          <a:lstStyle/>
          <a:p>
            <a:fld id="{1B580BC0-F6EB-2843-A07C-0245747B7D38}" type="slidenum">
              <a:rPr lang="en-US"/>
              <a:pPr/>
              <a:t>42</a:t>
            </a:fld>
            <a:endParaRPr lang="en-US"/>
          </a:p>
        </p:txBody>
      </p:sp>
    </p:spTree>
    <p:extLst>
      <p:ext uri="{BB962C8B-B14F-4D97-AF65-F5344CB8AC3E}">
        <p14:creationId xmlns:p14="http://schemas.microsoft.com/office/powerpoint/2010/main" val="13683394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noTextEdit="1"/>
          </p:cNvSpPr>
          <p:nvPr>
            <p:ph type="sldImg"/>
          </p:nvPr>
        </p:nvSpPr>
        <p:spPr bwMode="auto">
          <a:noFill/>
          <a:ln>
            <a:solidFill>
              <a:srgbClr val="000000"/>
            </a:solidFill>
            <a:miter lim="800000"/>
            <a:headEnd/>
            <a:tailEnd/>
          </a:ln>
        </p:spPr>
      </p:sp>
      <p:sp>
        <p:nvSpPr>
          <p:cNvPr id="95234" name="Notes Placeholder 2"/>
          <p:cNvSpPr>
            <a:spLocks noGrp="1"/>
          </p:cNvSpPr>
          <p:nvPr>
            <p:ph type="body" idx="1"/>
          </p:nvPr>
        </p:nvSpPr>
        <p:spPr bwMode="auto">
          <a:noFill/>
        </p:spPr>
        <p:txBody>
          <a:bodyPr/>
          <a:lstStyle/>
          <a:p>
            <a:pPr>
              <a:spcBef>
                <a:spcPct val="0"/>
              </a:spcBef>
            </a:pPr>
            <a:r>
              <a:rPr lang="en-US" dirty="0" err="1"/>
              <a:t>Edmonia</a:t>
            </a:r>
            <a:r>
              <a:rPr lang="en-US" dirty="0"/>
              <a:t> Lewis FOREVER FREE</a:t>
            </a:r>
            <a:br>
              <a:rPr lang="en-US" dirty="0"/>
            </a:br>
            <a:r>
              <a:rPr lang="en-US" dirty="0"/>
              <a:t>1867. Marble, 41-1/4 × 22 × 17</a:t>
            </a:r>
            <a:r>
              <a:rPr lang="ru-RU" dirty="0"/>
              <a:t>"</a:t>
            </a:r>
            <a:r>
              <a:rPr lang="en-US" dirty="0"/>
              <a:t> (104.8 × 55 × 43.2 cm).</a:t>
            </a:r>
            <a:br>
              <a:rPr lang="en-US" dirty="0"/>
            </a:br>
            <a:r>
              <a:rPr lang="en-US" dirty="0"/>
              <a:t>Howard University Gallery of Art, Washington, DC. </a:t>
            </a:r>
          </a:p>
        </p:txBody>
      </p:sp>
      <p:sp>
        <p:nvSpPr>
          <p:cNvPr id="95235" name="Slide Number Placeholder 3"/>
          <p:cNvSpPr>
            <a:spLocks noGrp="1"/>
          </p:cNvSpPr>
          <p:nvPr>
            <p:ph type="sldNum" sz="quarter" idx="5"/>
          </p:nvPr>
        </p:nvSpPr>
        <p:spPr bwMode="auto">
          <a:noFill/>
          <a:ln>
            <a:miter lim="800000"/>
            <a:headEnd/>
            <a:tailEnd/>
          </a:ln>
        </p:spPr>
        <p:txBody>
          <a:bodyPr/>
          <a:lstStyle/>
          <a:p>
            <a:fld id="{EDE2B591-C6BB-5B42-8D03-B695434A9E92}" type="slidenum">
              <a:rPr lang="en-US"/>
              <a:pPr/>
              <a:t>44</a:t>
            </a:fld>
            <a:endParaRPr lang="en-US"/>
          </a:p>
        </p:txBody>
      </p:sp>
    </p:spTree>
    <p:extLst>
      <p:ext uri="{BB962C8B-B14F-4D97-AF65-F5344CB8AC3E}">
        <p14:creationId xmlns:p14="http://schemas.microsoft.com/office/powerpoint/2010/main" val="279382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p:cNvSpPr>
            <a:spLocks noGrp="1" noRot="1" noChangeAspect="1" noTextEdit="1"/>
          </p:cNvSpPr>
          <p:nvPr>
            <p:ph type="sldImg"/>
          </p:nvPr>
        </p:nvSpPr>
        <p:spPr bwMode="auto">
          <a:noFill/>
          <a:ln>
            <a:solidFill>
              <a:srgbClr val="000000"/>
            </a:solidFill>
            <a:miter lim="800000"/>
            <a:headEnd/>
            <a:tailEnd/>
          </a:ln>
        </p:spPr>
      </p:sp>
      <p:sp>
        <p:nvSpPr>
          <p:cNvPr id="98306" name="Notes Placeholder 2"/>
          <p:cNvSpPr>
            <a:spLocks noGrp="1"/>
          </p:cNvSpPr>
          <p:nvPr>
            <p:ph type="body" idx="1"/>
          </p:nvPr>
        </p:nvSpPr>
        <p:spPr bwMode="auto">
          <a:noFill/>
        </p:spPr>
        <p:txBody>
          <a:bodyPr/>
          <a:lstStyle/>
          <a:p>
            <a:pPr>
              <a:spcBef>
                <a:spcPct val="0"/>
              </a:spcBef>
            </a:pPr>
            <a:r>
              <a:rPr lang="en-US" dirty="0"/>
              <a:t>Henry </a:t>
            </a:r>
            <a:r>
              <a:rPr lang="en-US" dirty="0" err="1"/>
              <a:t>Ossawa</a:t>
            </a:r>
            <a:r>
              <a:rPr lang="en-US" dirty="0"/>
              <a:t> Tanner THE BANJO LESSON</a:t>
            </a:r>
            <a:br>
              <a:rPr lang="en-US" dirty="0"/>
            </a:br>
            <a:r>
              <a:rPr lang="en-US" dirty="0"/>
              <a:t>1893. Oil on canvas, 49 × 35-1/2</a:t>
            </a:r>
            <a:r>
              <a:rPr lang="ru-RU" dirty="0"/>
              <a:t>"</a:t>
            </a:r>
            <a:r>
              <a:rPr lang="en-US" dirty="0"/>
              <a:t> (124.4 × 90 cm).</a:t>
            </a:r>
            <a:br>
              <a:rPr lang="en-US" dirty="0"/>
            </a:br>
            <a:r>
              <a:rPr lang="en-US" dirty="0"/>
              <a:t>Hampton University Museum, Virginia. Hampton University’s Archival and Museum Collection Hampton University.</a:t>
            </a:r>
          </a:p>
        </p:txBody>
      </p:sp>
      <p:sp>
        <p:nvSpPr>
          <p:cNvPr id="98307" name="Slide Number Placeholder 3"/>
          <p:cNvSpPr>
            <a:spLocks noGrp="1"/>
          </p:cNvSpPr>
          <p:nvPr>
            <p:ph type="sldNum" sz="quarter" idx="5"/>
          </p:nvPr>
        </p:nvSpPr>
        <p:spPr bwMode="auto">
          <a:noFill/>
          <a:ln>
            <a:miter lim="800000"/>
            <a:headEnd/>
            <a:tailEnd/>
          </a:ln>
        </p:spPr>
        <p:txBody>
          <a:bodyPr/>
          <a:lstStyle/>
          <a:p>
            <a:fld id="{D0BDA773-0DC7-0846-AA8B-34BA82B10ADE}" type="slidenum">
              <a:rPr lang="en-US"/>
              <a:pPr/>
              <a:t>46</a:t>
            </a:fld>
            <a:endParaRPr lang="en-US"/>
          </a:p>
        </p:txBody>
      </p:sp>
    </p:spTree>
    <p:extLst>
      <p:ext uri="{BB962C8B-B14F-4D97-AF65-F5344CB8AC3E}">
        <p14:creationId xmlns:p14="http://schemas.microsoft.com/office/powerpoint/2010/main" val="1178828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8" name="Notes Placeholder 2"/>
          <p:cNvSpPr>
            <a:spLocks noGrp="1"/>
          </p:cNvSpPr>
          <p:nvPr>
            <p:ph type="body" idx="1"/>
          </p:nvPr>
        </p:nvSpPr>
        <p:spPr bwMode="auto">
          <a:noFill/>
        </p:spPr>
        <p:txBody>
          <a:bodyPr/>
          <a:lstStyle/>
          <a:p>
            <a:pPr>
              <a:spcBef>
                <a:spcPct val="0"/>
              </a:spcBef>
            </a:pPr>
            <a:r>
              <a:rPr lang="en-US" dirty="0"/>
              <a:t>Dante Gabriel Rossetti LA PIA DE</a:t>
            </a:r>
            <a:r>
              <a:rPr lang="uk-UA" dirty="0"/>
              <a:t>'</a:t>
            </a:r>
            <a:r>
              <a:rPr lang="en-US" dirty="0"/>
              <a:t> TOLOMEI</a:t>
            </a:r>
            <a:br>
              <a:rPr lang="en-US" dirty="0"/>
            </a:br>
            <a:r>
              <a:rPr lang="en-US" dirty="0"/>
              <a:t>1868–1869. Oil on canvas, 41-1/2</a:t>
            </a:r>
            <a:r>
              <a:rPr lang="ru-RU" dirty="0"/>
              <a:t>"</a:t>
            </a:r>
            <a:r>
              <a:rPr lang="en-US" dirty="0"/>
              <a:t> × 47-1/2</a:t>
            </a:r>
            <a:r>
              <a:rPr lang="ru-RU" dirty="0"/>
              <a:t>"</a:t>
            </a:r>
            <a:r>
              <a:rPr lang="en-US" dirty="0"/>
              <a:t> (105.4 × 119.4 cm).</a:t>
            </a:r>
            <a:br>
              <a:rPr lang="en-US" dirty="0"/>
            </a:br>
            <a:r>
              <a:rPr lang="en-US" dirty="0"/>
              <a:t>Spencer Museum of Art, The University of Kansas. (1956.0031)</a:t>
            </a:r>
          </a:p>
        </p:txBody>
      </p:sp>
      <p:sp>
        <p:nvSpPr>
          <p:cNvPr id="101379" name="Slide Number Placeholder 3"/>
          <p:cNvSpPr>
            <a:spLocks noGrp="1"/>
          </p:cNvSpPr>
          <p:nvPr>
            <p:ph type="sldNum" sz="quarter" idx="5"/>
          </p:nvPr>
        </p:nvSpPr>
        <p:spPr bwMode="auto">
          <a:noFill/>
          <a:ln>
            <a:miter lim="800000"/>
            <a:headEnd/>
            <a:tailEnd/>
          </a:ln>
        </p:spPr>
        <p:txBody>
          <a:bodyPr/>
          <a:lstStyle/>
          <a:p>
            <a:fld id="{CA546128-E60F-E248-9990-55288F9482C3}" type="slidenum">
              <a:rPr lang="en-US"/>
              <a:pPr/>
              <a:t>48</a:t>
            </a:fld>
            <a:endParaRPr lang="en-US"/>
          </a:p>
        </p:txBody>
      </p:sp>
    </p:spTree>
    <p:extLst>
      <p:ext uri="{BB962C8B-B14F-4D97-AF65-F5344CB8AC3E}">
        <p14:creationId xmlns:p14="http://schemas.microsoft.com/office/powerpoint/2010/main" val="20332836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0" name="Notes Placeholder 2"/>
          <p:cNvSpPr>
            <a:spLocks noGrp="1"/>
          </p:cNvSpPr>
          <p:nvPr>
            <p:ph type="body" idx="1"/>
          </p:nvPr>
        </p:nvSpPr>
        <p:spPr bwMode="auto">
          <a:noFill/>
        </p:spPr>
        <p:txBody>
          <a:bodyPr/>
          <a:lstStyle/>
          <a:p>
            <a:pPr eaLnBrk="1" hangingPunct="1">
              <a:spcBef>
                <a:spcPct val="0"/>
              </a:spcBef>
            </a:pPr>
            <a:r>
              <a:rPr lang="en-US" dirty="0"/>
              <a:t>Philip Webb and William Morris </a:t>
            </a:r>
            <a:r>
              <a:rPr lang="ru-RU" dirty="0"/>
              <a:t>"</a:t>
            </a:r>
            <a:r>
              <a:rPr lang="en-US" dirty="0"/>
              <a:t>SUSSEX</a:t>
            </a:r>
            <a:r>
              <a:rPr lang="ru-RU" dirty="0"/>
              <a:t>"</a:t>
            </a:r>
            <a:r>
              <a:rPr lang="en-US" dirty="0"/>
              <a:t> CHAIR and </a:t>
            </a:r>
            <a:r>
              <a:rPr lang="ru-RU" dirty="0"/>
              <a:t>"</a:t>
            </a:r>
            <a:r>
              <a:rPr lang="en-US" dirty="0"/>
              <a:t>PEACOCK AND DRAGON</a:t>
            </a:r>
            <a:r>
              <a:rPr lang="ru-RU" dirty="0"/>
              <a:t>"</a:t>
            </a:r>
            <a:r>
              <a:rPr lang="en-US" dirty="0"/>
              <a:t> CURTAIN</a:t>
            </a:r>
            <a:br>
              <a:rPr lang="en-US" dirty="0"/>
            </a:br>
            <a:r>
              <a:rPr lang="en-US" dirty="0"/>
              <a:t>Chair (by Webb): In production from c. 1865.</a:t>
            </a:r>
            <a:br>
              <a:rPr lang="en-US" dirty="0"/>
            </a:br>
            <a:r>
              <a:rPr lang="en-US" dirty="0"/>
              <a:t>Ebonized wood with rush seat, 33</a:t>
            </a:r>
            <a:r>
              <a:rPr lang="ru-RU" dirty="0"/>
              <a:t>"</a:t>
            </a:r>
            <a:r>
              <a:rPr lang="en-US" dirty="0"/>
              <a:t> × 16 1/2</a:t>
            </a:r>
            <a:r>
              <a:rPr lang="ru-RU" dirty="0"/>
              <a:t>"</a:t>
            </a:r>
            <a:r>
              <a:rPr lang="en-US" dirty="0"/>
              <a:t> × 14</a:t>
            </a:r>
            <a:r>
              <a:rPr lang="ru-RU" dirty="0"/>
              <a:t>"</a:t>
            </a:r>
            <a:r>
              <a:rPr lang="en-US" dirty="0"/>
              <a:t> (83.8 × 42 × 35.6 cm).</a:t>
            </a:r>
            <a:br>
              <a:rPr lang="en-US" dirty="0"/>
            </a:br>
            <a:r>
              <a:rPr lang="en-US" dirty="0"/>
              <a:t>Curtain (by Morris): 1878. Handloomed jacquard-woven woolen twill, 12</a:t>
            </a:r>
            <a:r>
              <a:rPr lang="uk-UA" dirty="0"/>
              <a:t>'</a:t>
            </a:r>
            <a:r>
              <a:rPr lang="en-US" dirty="0"/>
              <a:t>10-1/2</a:t>
            </a:r>
            <a:r>
              <a:rPr lang="ru-RU" dirty="0"/>
              <a:t>"</a:t>
            </a:r>
            <a:r>
              <a:rPr lang="en-US" dirty="0"/>
              <a:t> × 11</a:t>
            </a:r>
            <a:r>
              <a:rPr lang="uk-UA" dirty="0"/>
              <a:t>'</a:t>
            </a:r>
            <a:r>
              <a:rPr lang="en-US" dirty="0"/>
              <a:t>5-5/8</a:t>
            </a:r>
            <a:r>
              <a:rPr lang="ru-RU" dirty="0"/>
              <a:t>"</a:t>
            </a:r>
            <a:r>
              <a:rPr lang="en-US" dirty="0"/>
              <a:t> (3.96 × 3.53 m). Chair and curtain manufactured by Morris &amp; Company. The William Morris Gallery, London Borough of Waltham Forest. The William Morris Gallery, London, E17, England.</a:t>
            </a:r>
          </a:p>
        </p:txBody>
      </p:sp>
      <p:sp>
        <p:nvSpPr>
          <p:cNvPr id="104451" name="Slide Number Placeholder 3"/>
          <p:cNvSpPr>
            <a:spLocks noGrp="1"/>
          </p:cNvSpPr>
          <p:nvPr>
            <p:ph type="sldNum" sz="quarter" idx="5"/>
          </p:nvPr>
        </p:nvSpPr>
        <p:spPr bwMode="auto">
          <a:noFill/>
          <a:ln>
            <a:miter lim="800000"/>
            <a:headEnd/>
            <a:tailEnd/>
          </a:ln>
        </p:spPr>
        <p:txBody>
          <a:bodyPr/>
          <a:lstStyle/>
          <a:p>
            <a:fld id="{D62A7472-2DCC-F74B-8D38-C8DE118B0278}" type="slidenum">
              <a:rPr lang="en-US"/>
              <a:pPr/>
              <a:t>50</a:t>
            </a:fld>
            <a:endParaRPr lang="en-US"/>
          </a:p>
        </p:txBody>
      </p:sp>
    </p:spTree>
    <p:extLst>
      <p:ext uri="{BB962C8B-B14F-4D97-AF65-F5344CB8AC3E}">
        <p14:creationId xmlns:p14="http://schemas.microsoft.com/office/powerpoint/2010/main" val="4909468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2" name="Notes Placeholder 2"/>
          <p:cNvSpPr>
            <a:spLocks noGrp="1"/>
          </p:cNvSpPr>
          <p:nvPr>
            <p:ph type="body" idx="1"/>
          </p:nvPr>
        </p:nvSpPr>
        <p:spPr bwMode="auto">
          <a:noFill/>
        </p:spPr>
        <p:txBody>
          <a:bodyPr/>
          <a:lstStyle/>
          <a:p>
            <a:pPr>
              <a:spcBef>
                <a:spcPct val="0"/>
              </a:spcBef>
            </a:pPr>
            <a:r>
              <a:rPr lang="en-US" dirty="0"/>
              <a:t>James Abbott McNeill Whistler NOCTURNE IN BLACK AND GOLD, THE FALLING ROCKET</a:t>
            </a:r>
            <a:br>
              <a:rPr lang="en-US" dirty="0"/>
            </a:br>
            <a:r>
              <a:rPr lang="en-US" dirty="0"/>
              <a:t>1875. Oil on panel, 23-3/4</a:t>
            </a:r>
            <a:r>
              <a:rPr lang="ru-RU" dirty="0"/>
              <a:t>"</a:t>
            </a:r>
            <a:r>
              <a:rPr lang="en-US" dirty="0"/>
              <a:t> × 18-3/8</a:t>
            </a:r>
            <a:r>
              <a:rPr lang="ru-RU" dirty="0"/>
              <a:t>"</a:t>
            </a:r>
            <a:r>
              <a:rPr lang="en-US" dirty="0"/>
              <a:t> (60.2 × 46.7 cm).</a:t>
            </a:r>
            <a:br>
              <a:rPr lang="en-US" dirty="0"/>
            </a:br>
            <a:r>
              <a:rPr lang="en-US" dirty="0"/>
              <a:t>The Detroit Institute of Arts. Gift of Dexter M. Ferry Jr. (46.309).</a:t>
            </a:r>
            <a:br>
              <a:rPr lang="en-US" dirty="0"/>
            </a:br>
            <a:r>
              <a:rPr lang="en-US" dirty="0"/>
              <a:t>Bridgeman Images.</a:t>
            </a:r>
          </a:p>
        </p:txBody>
      </p:sp>
      <p:sp>
        <p:nvSpPr>
          <p:cNvPr id="107523" name="Slide Number Placeholder 3"/>
          <p:cNvSpPr>
            <a:spLocks noGrp="1"/>
          </p:cNvSpPr>
          <p:nvPr>
            <p:ph type="sldNum" sz="quarter" idx="5"/>
          </p:nvPr>
        </p:nvSpPr>
        <p:spPr bwMode="auto">
          <a:noFill/>
          <a:ln>
            <a:miter lim="800000"/>
            <a:headEnd/>
            <a:tailEnd/>
          </a:ln>
        </p:spPr>
        <p:txBody>
          <a:bodyPr/>
          <a:lstStyle/>
          <a:p>
            <a:fld id="{A2FECF08-700E-CA45-855B-02014D841131}" type="slidenum">
              <a:rPr lang="en-US"/>
              <a:pPr/>
              <a:t>52</a:t>
            </a:fld>
            <a:endParaRPr lang="en-US"/>
          </a:p>
        </p:txBody>
      </p:sp>
    </p:spTree>
    <p:extLst>
      <p:ext uri="{BB962C8B-B14F-4D97-AF65-F5344CB8AC3E}">
        <p14:creationId xmlns:p14="http://schemas.microsoft.com/office/powerpoint/2010/main" val="7107630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6" name="Notes Placeholder 2"/>
          <p:cNvSpPr>
            <a:spLocks noGrp="1"/>
          </p:cNvSpPr>
          <p:nvPr>
            <p:ph type="body" idx="1"/>
          </p:nvPr>
        </p:nvSpPr>
        <p:spPr bwMode="auto">
          <a:noFill/>
        </p:spPr>
        <p:txBody>
          <a:bodyPr/>
          <a:lstStyle/>
          <a:p>
            <a:pPr>
              <a:spcBef>
                <a:spcPct val="0"/>
              </a:spcBef>
            </a:pPr>
            <a:r>
              <a:rPr lang="en-US" dirty="0">
                <a:latin typeface="Verdana" charset="0"/>
              </a:rPr>
              <a:t>Claude Monet IMPRESSION: SUNRISE</a:t>
            </a:r>
            <a:br>
              <a:rPr lang="en-US" dirty="0">
                <a:latin typeface="Verdana" charset="0"/>
              </a:rPr>
            </a:br>
            <a:r>
              <a:rPr lang="en-US" dirty="0">
                <a:latin typeface="Verdana" charset="0"/>
              </a:rPr>
              <a:t>1872. Oil on canvas, 19</a:t>
            </a:r>
            <a:r>
              <a:rPr lang="ru-RU" dirty="0">
                <a:latin typeface="Verdana" charset="0"/>
              </a:rPr>
              <a:t>"</a:t>
            </a:r>
            <a:r>
              <a:rPr lang="en-US" dirty="0">
                <a:latin typeface="Verdana" charset="0"/>
              </a:rPr>
              <a:t> × 24-3/8</a:t>
            </a:r>
            <a:r>
              <a:rPr lang="ru-RU" dirty="0">
                <a:latin typeface="Verdana" charset="0"/>
              </a:rPr>
              <a:t>"</a:t>
            </a:r>
            <a:r>
              <a:rPr lang="en-US" dirty="0">
                <a:latin typeface="Verdana" charset="0"/>
              </a:rPr>
              <a:t> (48 × 63 cm).</a:t>
            </a:r>
            <a:br>
              <a:rPr lang="en-US" dirty="0">
                <a:latin typeface="Verdana" charset="0"/>
              </a:rPr>
            </a:br>
            <a:r>
              <a:rPr lang="en-US" dirty="0" err="1">
                <a:latin typeface="Verdana" charset="0"/>
              </a:rPr>
              <a:t>Musée</a:t>
            </a:r>
            <a:r>
              <a:rPr lang="en-US" dirty="0">
                <a:latin typeface="Verdana" charset="0"/>
              </a:rPr>
              <a:t> </a:t>
            </a:r>
            <a:r>
              <a:rPr lang="en-US" dirty="0" err="1">
                <a:latin typeface="Verdana" charset="0"/>
              </a:rPr>
              <a:t>Marmottan</a:t>
            </a:r>
            <a:r>
              <a:rPr lang="en-US" dirty="0">
                <a:latin typeface="Verdana" charset="0"/>
              </a:rPr>
              <a:t>, Paris. Bridgeman Images.</a:t>
            </a:r>
            <a:endParaRPr lang="en-US" dirty="0"/>
          </a:p>
        </p:txBody>
      </p:sp>
      <p:sp>
        <p:nvSpPr>
          <p:cNvPr id="113667" name="Slide Number Placeholder 3"/>
          <p:cNvSpPr>
            <a:spLocks noGrp="1"/>
          </p:cNvSpPr>
          <p:nvPr>
            <p:ph type="sldNum" sz="quarter" idx="5"/>
          </p:nvPr>
        </p:nvSpPr>
        <p:spPr bwMode="auto">
          <a:noFill/>
          <a:ln>
            <a:miter lim="800000"/>
            <a:headEnd/>
            <a:tailEnd/>
          </a:ln>
        </p:spPr>
        <p:txBody>
          <a:bodyPr/>
          <a:lstStyle/>
          <a:p>
            <a:fld id="{34FDF96B-31FB-8842-8276-009C14E8FD51}" type="slidenum">
              <a:rPr lang="en-US"/>
              <a:pPr/>
              <a:t>57</a:t>
            </a:fld>
            <a:endParaRPr lang="en-US"/>
          </a:p>
        </p:txBody>
      </p:sp>
    </p:spTree>
    <p:extLst>
      <p:ext uri="{BB962C8B-B14F-4D97-AF65-F5344CB8AC3E}">
        <p14:creationId xmlns:p14="http://schemas.microsoft.com/office/powerpoint/2010/main" val="36597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a:lstStyle/>
          <a:p>
            <a:pPr>
              <a:spcBef>
                <a:spcPct val="0"/>
              </a:spcBef>
            </a:pPr>
            <a:r>
              <a:rPr lang="en-US" dirty="0"/>
              <a:t>Claude Monet ROUEN CATHEDRAL, WEST FAÇADE, SUNLIGHT</a:t>
            </a:r>
            <a:br>
              <a:rPr lang="en-US" dirty="0"/>
            </a:br>
            <a:r>
              <a:rPr lang="en-US" dirty="0"/>
              <a:t>1894. Oil on canvas, 39-3/8 × 25-7/8</a:t>
            </a:r>
            <a:r>
              <a:rPr lang="ru-RU" dirty="0"/>
              <a:t>"</a:t>
            </a:r>
            <a:r>
              <a:rPr lang="en-US" dirty="0"/>
              <a:t> (100.1 × 65.8 cm).</a:t>
            </a:r>
            <a:br>
              <a:rPr lang="en-US" dirty="0"/>
            </a:br>
            <a:r>
              <a:rPr lang="en-US" dirty="0"/>
              <a:t>National Gallery of Art, Washington, D.C., Chester Dale Collection (1963.10.179). </a:t>
            </a:r>
            <a:br>
              <a:rPr lang="en-US" dirty="0"/>
            </a:br>
            <a:r>
              <a:rPr lang="en-US" dirty="0"/>
              <a:t>Image courtesy the National Gallery of Art, Washington. </a:t>
            </a:r>
          </a:p>
        </p:txBody>
      </p:sp>
      <p:sp>
        <p:nvSpPr>
          <p:cNvPr id="116739" name="Slide Number Placeholder 3"/>
          <p:cNvSpPr>
            <a:spLocks noGrp="1"/>
          </p:cNvSpPr>
          <p:nvPr>
            <p:ph type="sldNum" sz="quarter" idx="5"/>
          </p:nvPr>
        </p:nvSpPr>
        <p:spPr bwMode="auto">
          <a:noFill/>
          <a:ln>
            <a:miter lim="800000"/>
            <a:headEnd/>
            <a:tailEnd/>
          </a:ln>
        </p:spPr>
        <p:txBody>
          <a:bodyPr/>
          <a:lstStyle/>
          <a:p>
            <a:fld id="{978310A1-AEED-2648-BDF3-15047A2880A2}" type="slidenum">
              <a:rPr lang="en-US"/>
              <a:pPr/>
              <a:t>59</a:t>
            </a:fld>
            <a:endParaRPr lang="en-US"/>
          </a:p>
        </p:txBody>
      </p:sp>
    </p:spTree>
    <p:extLst>
      <p:ext uri="{BB962C8B-B14F-4D97-AF65-F5344CB8AC3E}">
        <p14:creationId xmlns:p14="http://schemas.microsoft.com/office/powerpoint/2010/main" val="906229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0" name="Notes Placeholder 2"/>
          <p:cNvSpPr>
            <a:spLocks noGrp="1"/>
          </p:cNvSpPr>
          <p:nvPr>
            <p:ph type="body" idx="1"/>
          </p:nvPr>
        </p:nvSpPr>
        <p:spPr bwMode="auto">
          <a:noFill/>
        </p:spPr>
        <p:txBody>
          <a:bodyPr/>
          <a:lstStyle/>
          <a:p>
            <a:pPr>
              <a:spcBef>
                <a:spcPct val="0"/>
              </a:spcBef>
            </a:pPr>
            <a:r>
              <a:rPr lang="en-US" dirty="0"/>
              <a:t>Camille Pissarro WOODED LANDSCAPE AT L</a:t>
            </a:r>
            <a:r>
              <a:rPr lang="uk-UA" dirty="0"/>
              <a:t>'</a:t>
            </a:r>
            <a:r>
              <a:rPr lang="en-US" dirty="0"/>
              <a:t>HERMITAGE, PONTOISE</a:t>
            </a:r>
            <a:br>
              <a:rPr lang="en-US" dirty="0"/>
            </a:br>
            <a:r>
              <a:rPr lang="en-US" dirty="0"/>
              <a:t>1878. Oil on canvas, 18-5/16</a:t>
            </a:r>
            <a:r>
              <a:rPr lang="ru-RU" dirty="0"/>
              <a:t>"</a:t>
            </a:r>
            <a:r>
              <a:rPr lang="en-US" dirty="0"/>
              <a:t> × 22-1/16</a:t>
            </a:r>
            <a:r>
              <a:rPr lang="ru-RU" dirty="0"/>
              <a:t>"</a:t>
            </a:r>
            <a:r>
              <a:rPr lang="en-US" dirty="0"/>
              <a:t> (46.5 × 56 cm).</a:t>
            </a:r>
            <a:br>
              <a:rPr lang="en-US" dirty="0"/>
            </a:br>
            <a:r>
              <a:rPr lang="en-US" dirty="0"/>
              <a:t>The Nelson-Atkins Museum of Art, Kansas City, Missouri. Gift of Dr. and Mrs. Nicholas S. Pickard.</a:t>
            </a:r>
          </a:p>
        </p:txBody>
      </p:sp>
      <p:sp>
        <p:nvSpPr>
          <p:cNvPr id="119811" name="Slide Number Placeholder 3"/>
          <p:cNvSpPr>
            <a:spLocks noGrp="1"/>
          </p:cNvSpPr>
          <p:nvPr>
            <p:ph type="sldNum" sz="quarter" idx="5"/>
          </p:nvPr>
        </p:nvSpPr>
        <p:spPr bwMode="auto">
          <a:noFill/>
          <a:ln>
            <a:miter lim="800000"/>
            <a:headEnd/>
            <a:tailEnd/>
          </a:ln>
        </p:spPr>
        <p:txBody>
          <a:bodyPr/>
          <a:lstStyle/>
          <a:p>
            <a:fld id="{B553D811-8538-824F-84BD-154574A8A679}" type="slidenum">
              <a:rPr lang="en-US"/>
              <a:pPr/>
              <a:t>61</a:t>
            </a:fld>
            <a:endParaRPr lang="en-US"/>
          </a:p>
        </p:txBody>
      </p:sp>
    </p:spTree>
    <p:extLst>
      <p:ext uri="{BB962C8B-B14F-4D97-AF65-F5344CB8AC3E}">
        <p14:creationId xmlns:p14="http://schemas.microsoft.com/office/powerpoint/2010/main" val="1038123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2" name="Notes Placeholder 2"/>
          <p:cNvSpPr>
            <a:spLocks noGrp="1"/>
          </p:cNvSpPr>
          <p:nvPr>
            <p:ph type="body" idx="1"/>
          </p:nvPr>
        </p:nvSpPr>
        <p:spPr bwMode="auto">
          <a:noFill/>
        </p:spPr>
        <p:txBody>
          <a:bodyPr/>
          <a:lstStyle/>
          <a:p>
            <a:pPr>
              <a:spcBef>
                <a:spcPct val="0"/>
              </a:spcBef>
            </a:pPr>
            <a:r>
              <a:rPr lang="en-US" dirty="0"/>
              <a:t>Pierre-Auguste Renoir MOULIN DE LA GALETTE</a:t>
            </a:r>
            <a:br>
              <a:rPr lang="en-US" dirty="0"/>
            </a:br>
            <a:r>
              <a:rPr lang="en-US" dirty="0"/>
              <a:t>1876. Oil on canvas, 4</a:t>
            </a:r>
            <a:r>
              <a:rPr lang="uk-UA" dirty="0"/>
              <a:t>'</a:t>
            </a:r>
            <a:r>
              <a:rPr lang="en-US" dirty="0"/>
              <a:t>3-1/2</a:t>
            </a:r>
            <a:r>
              <a:rPr lang="ru-RU" dirty="0"/>
              <a:t>"</a:t>
            </a:r>
            <a:r>
              <a:rPr lang="en-US" dirty="0"/>
              <a:t> × 5</a:t>
            </a:r>
            <a:r>
              <a:rPr lang="uk-UA" dirty="0"/>
              <a:t>'</a:t>
            </a:r>
            <a:r>
              <a:rPr lang="en-US" dirty="0"/>
              <a:t>9</a:t>
            </a:r>
            <a:r>
              <a:rPr lang="ru-RU" dirty="0"/>
              <a:t>"</a:t>
            </a:r>
            <a:r>
              <a:rPr lang="en-US" dirty="0"/>
              <a:t> (1.31 × 1.75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 </a:t>
            </a:r>
          </a:p>
        </p:txBody>
      </p:sp>
      <p:sp>
        <p:nvSpPr>
          <p:cNvPr id="122883" name="Slide Number Placeholder 3"/>
          <p:cNvSpPr>
            <a:spLocks noGrp="1"/>
          </p:cNvSpPr>
          <p:nvPr>
            <p:ph type="sldNum" sz="quarter" idx="5"/>
          </p:nvPr>
        </p:nvSpPr>
        <p:spPr bwMode="auto">
          <a:noFill/>
          <a:ln>
            <a:miter lim="800000"/>
            <a:headEnd/>
            <a:tailEnd/>
          </a:ln>
        </p:spPr>
        <p:txBody>
          <a:bodyPr/>
          <a:lstStyle/>
          <a:p>
            <a:fld id="{810FF084-865F-E941-8B7B-78F60CE156C2}" type="slidenum">
              <a:rPr lang="en-US"/>
              <a:pPr/>
              <a:t>63</a:t>
            </a:fld>
            <a:endParaRPr lang="en-US"/>
          </a:p>
        </p:txBody>
      </p:sp>
    </p:spTree>
    <p:extLst>
      <p:ext uri="{BB962C8B-B14F-4D97-AF65-F5344CB8AC3E}">
        <p14:creationId xmlns:p14="http://schemas.microsoft.com/office/powerpoint/2010/main" val="15767178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4" name="Notes Placeholder 2"/>
          <p:cNvSpPr>
            <a:spLocks noGrp="1"/>
          </p:cNvSpPr>
          <p:nvPr>
            <p:ph type="body" idx="1"/>
          </p:nvPr>
        </p:nvSpPr>
        <p:spPr bwMode="auto">
          <a:noFill/>
        </p:spPr>
        <p:txBody>
          <a:bodyPr/>
          <a:lstStyle/>
          <a:p>
            <a:pPr>
              <a:spcBef>
                <a:spcPct val="0"/>
              </a:spcBef>
            </a:pPr>
            <a:r>
              <a:rPr lang="en-US" dirty="0"/>
              <a:t>Berthe Morisot SUMMER</a:t>
            </a:r>
            <a:r>
              <a:rPr lang="uk-UA" dirty="0"/>
              <a:t>'</a:t>
            </a:r>
            <a:r>
              <a:rPr lang="en-US" dirty="0"/>
              <a:t>S DAY</a:t>
            </a:r>
            <a:br>
              <a:rPr lang="en-US" dirty="0"/>
            </a:br>
            <a:r>
              <a:rPr lang="en-US" dirty="0"/>
              <a:t>1879. Oil on canvas, 17-13/16</a:t>
            </a:r>
            <a:r>
              <a:rPr lang="ru-RU" dirty="0"/>
              <a:t>"</a:t>
            </a:r>
            <a:r>
              <a:rPr lang="en-US" dirty="0"/>
              <a:t> × 29-5/16</a:t>
            </a:r>
            <a:r>
              <a:rPr lang="ru-RU" dirty="0"/>
              <a:t>"</a:t>
            </a:r>
            <a:r>
              <a:rPr lang="en-US" dirty="0"/>
              <a:t> (45.7 × 75.2 cm).</a:t>
            </a:r>
            <a:br>
              <a:rPr lang="en-US" dirty="0"/>
            </a:br>
            <a:r>
              <a:rPr lang="en-US" dirty="0"/>
              <a:t>National Gallery, London. Lane Bequest, 1917. © 2016. Copyright The National Gallery, London/Scala, Florence</a:t>
            </a:r>
            <a:r>
              <a:rPr lang="en-US"/>
              <a:t>. </a:t>
            </a:r>
            <a:endParaRPr lang="en-US" dirty="0"/>
          </a:p>
        </p:txBody>
      </p:sp>
      <p:sp>
        <p:nvSpPr>
          <p:cNvPr id="125955" name="Slide Number Placeholder 3"/>
          <p:cNvSpPr>
            <a:spLocks noGrp="1"/>
          </p:cNvSpPr>
          <p:nvPr>
            <p:ph type="sldNum" sz="quarter" idx="5"/>
          </p:nvPr>
        </p:nvSpPr>
        <p:spPr bwMode="auto">
          <a:noFill/>
          <a:ln>
            <a:miter lim="800000"/>
            <a:headEnd/>
            <a:tailEnd/>
          </a:ln>
        </p:spPr>
        <p:txBody>
          <a:bodyPr/>
          <a:lstStyle/>
          <a:p>
            <a:fld id="{7B0E7669-3A99-1E47-A104-21C6347E79F0}" type="slidenum">
              <a:rPr lang="en-US"/>
              <a:pPr/>
              <a:t>65</a:t>
            </a:fld>
            <a:endParaRPr lang="en-US"/>
          </a:p>
        </p:txBody>
      </p:sp>
    </p:spTree>
    <p:extLst>
      <p:ext uri="{BB962C8B-B14F-4D97-AF65-F5344CB8AC3E}">
        <p14:creationId xmlns:p14="http://schemas.microsoft.com/office/powerpoint/2010/main" val="2095747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6/22/2020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6/22/2020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6/22/2020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6/22/2020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38291-3D39-7E47-8E85-B96370396557}"/>
              </a:ext>
            </a:extLst>
          </p:cNvPr>
          <p:cNvSpPr>
            <a:spLocks noGrp="1"/>
          </p:cNvSpPr>
          <p:nvPr>
            <p:ph type="ctrTitle"/>
          </p:nvPr>
        </p:nvSpPr>
        <p:spPr/>
        <p:txBody>
          <a:bodyPr/>
          <a:lstStyle/>
          <a:p>
            <a:r>
              <a:rPr lang="en-US" dirty="0"/>
              <a:t>Chapter 25</a:t>
            </a:r>
          </a:p>
        </p:txBody>
      </p:sp>
      <p:sp>
        <p:nvSpPr>
          <p:cNvPr id="3" name="Subtitle 2">
            <a:extLst>
              <a:ext uri="{FF2B5EF4-FFF2-40B4-BE49-F238E27FC236}">
                <a16:creationId xmlns:a16="http://schemas.microsoft.com/office/drawing/2014/main" id="{0392EE4D-153E-2B49-9ED9-278B2FA8FD8D}"/>
              </a:ext>
            </a:extLst>
          </p:cNvPr>
          <p:cNvSpPr>
            <a:spLocks noGrp="1"/>
          </p:cNvSpPr>
          <p:nvPr>
            <p:ph type="subTitle" idx="1"/>
          </p:nvPr>
        </p:nvSpPr>
        <p:spPr/>
        <p:txBody>
          <a:bodyPr/>
          <a:lstStyle/>
          <a:p>
            <a:r>
              <a:rPr lang="en-US" dirty="0"/>
              <a:t>The Age of Positivism: Realism, Impressionism, and the</a:t>
            </a:r>
            <a:br>
              <a:rPr lang="en-US" dirty="0"/>
            </a:br>
            <a:r>
              <a:rPr lang="en-US" dirty="0"/>
              <a:t>Pre-Raphaelites, 1848–1885 </a:t>
            </a:r>
          </a:p>
        </p:txBody>
      </p:sp>
    </p:spTree>
    <p:extLst>
      <p:ext uri="{BB962C8B-B14F-4D97-AF65-F5344CB8AC3E}">
        <p14:creationId xmlns:p14="http://schemas.microsoft.com/office/powerpoint/2010/main" val="3244566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76200"/>
            <a:ext cx="8229600" cy="1097280"/>
          </a:xfrm>
        </p:spPr>
        <p:txBody>
          <a:bodyPr/>
          <a:lstStyle/>
          <a:p>
            <a:r>
              <a:rPr lang="en-US" dirty="0"/>
              <a:t>Learning Objectives </a:t>
            </a:r>
          </a:p>
        </p:txBody>
      </p:sp>
      <p:sp>
        <p:nvSpPr>
          <p:cNvPr id="9218" name="Content Placeholder 2"/>
          <p:cNvSpPr>
            <a:spLocks noGrp="1"/>
          </p:cNvSpPr>
          <p:nvPr>
            <p:ph idx="1"/>
          </p:nvPr>
        </p:nvSpPr>
        <p:spPr>
          <a:xfrm>
            <a:off x="457200" y="1308628"/>
            <a:ext cx="8229600" cy="4525963"/>
          </a:xfrm>
        </p:spPr>
        <p:txBody>
          <a:bodyPr/>
          <a:lstStyle/>
          <a:p>
            <a:pPr marL="457200" lvl="0" indent="-457200" fontAlgn="base">
              <a:buFont typeface="+mj-lt"/>
              <a:buAutoNum type="arabicPeriod"/>
            </a:pPr>
            <a:r>
              <a:rPr lang="en-US" dirty="0"/>
              <a:t>Define the word positivism, and describe how the rise of positivism, as well as the study of sociology, reflect the dramatic changes occurring in Western Civilization.</a:t>
            </a:r>
          </a:p>
          <a:p>
            <a:pPr marL="457200" lvl="0" indent="-457200" fontAlgn="base">
              <a:buFont typeface="+mj-lt"/>
              <a:buAutoNum type="arabicPeriod"/>
            </a:pPr>
            <a:r>
              <a:rPr lang="en-US" dirty="0"/>
              <a:t>Assess the differing responses found in English and French art to the social transformations brought about by the Industrial Revolution toward 1850.</a:t>
            </a:r>
          </a:p>
          <a:p>
            <a:pPr marL="457200" lvl="0" indent="-457200" fontAlgn="base">
              <a:buFont typeface="+mj-lt"/>
              <a:buAutoNum type="arabicPeriod"/>
            </a:pPr>
            <a:r>
              <a:rPr lang="en-US" dirty="0"/>
              <a:t>Track how French Realism changed as it developed from Gustav Courbet to Edouard Manet and Edgar Degas, and lastly to Claude Monet.</a:t>
            </a:r>
          </a:p>
          <a:p>
            <a:pPr marL="457200" lvl="0" indent="-457200" fontAlgn="base">
              <a:buFont typeface="+mj-lt"/>
              <a:buAutoNum type="arabicPeriod"/>
            </a:pPr>
            <a:r>
              <a:rPr lang="en-US" dirty="0"/>
              <a:t>Describe the different attitudes toward the new medium of photography that surfaced in the 1840s, both by artists and the public in general, and how, in some respects, photography was the perfect visual medium for Age of Positivism.</a:t>
            </a:r>
          </a:p>
          <a:p>
            <a:pPr marL="457200" lvl="0" indent="-457200" fontAlgn="base">
              <a:buFont typeface="+mj-lt"/>
              <a:buAutoNum type="arabicPeriod"/>
            </a:pPr>
            <a:r>
              <a:rPr lang="en-US" dirty="0"/>
              <a:t>Identify the period’s attitude toward the use of iron in architecture.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3"/>
          <p:cNvSpPr>
            <a:spLocks noGrp="1"/>
          </p:cNvSpPr>
          <p:nvPr>
            <p:ph type="title"/>
          </p:nvPr>
        </p:nvSpPr>
        <p:spPr/>
        <p:txBody>
          <a:bodyPr>
            <a:normAutofit fontScale="90000"/>
          </a:bodyPr>
          <a:lstStyle/>
          <a:p>
            <a:r>
              <a:rPr lang="en-US" dirty="0"/>
              <a:t>Gustave Eiffel EIFFEL TOWER, PARIS</a:t>
            </a:r>
            <a:br>
              <a:rPr lang="en-US" dirty="0"/>
            </a:br>
            <a:r>
              <a:rPr lang="en-US" dirty="0"/>
              <a:t>1889 (also the date of this photograph). Height 984</a:t>
            </a:r>
            <a:r>
              <a:rPr lang="uk-UA" dirty="0"/>
              <a:t>'</a:t>
            </a:r>
            <a:r>
              <a:rPr lang="en-US" dirty="0"/>
              <a:t> (300 m).</a:t>
            </a:r>
            <a:br>
              <a:rPr lang="en-US" dirty="0"/>
            </a:br>
            <a:r>
              <a:rPr lang="en-US" dirty="0"/>
              <a:t>Courtesy the Library of Congress. </a:t>
            </a:r>
          </a:p>
        </p:txBody>
      </p:sp>
      <p:pic>
        <p:nvPicPr>
          <p:cNvPr id="2" name="Picture 1" descr="The Eiffel Tower’s sides slope steeply downward from the observation deck at the top, flaring outward gracefully near the ground to form a base similar to a groin-vaulted bay over a public squa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72527"/>
            <a:ext cx="8107680" cy="5031232"/>
          </a:xfrm>
          <a:prstGeom prst="rect">
            <a:avLst/>
          </a:prstGeom>
        </p:spPr>
      </p:pic>
    </p:spTree>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9"/>
          <p:cNvSpPr>
            <a:spLocks noGrp="1"/>
          </p:cNvSpPr>
          <p:nvPr>
            <p:ph type="title"/>
          </p:nvPr>
        </p:nvSpPr>
        <p:spPr/>
        <p:txBody>
          <a:bodyPr/>
          <a:lstStyle/>
          <a:p>
            <a:r>
              <a:rPr lang="en-US"/>
              <a:t>Europe and the United States in the Mid to Late Nineteenth Century (1 of 2)</a:t>
            </a:r>
          </a:p>
        </p:txBody>
      </p:sp>
      <p:sp>
        <p:nvSpPr>
          <p:cNvPr id="16386" name="Content Placeholder 20"/>
          <p:cNvSpPr>
            <a:spLocks noGrp="1"/>
          </p:cNvSpPr>
          <p:nvPr>
            <p:ph idx="1"/>
          </p:nvPr>
        </p:nvSpPr>
        <p:spPr/>
        <p:txBody>
          <a:bodyPr/>
          <a:lstStyle/>
          <a:p>
            <a:r>
              <a:rPr lang="en-US"/>
              <a:t>Advances in manufacturing, transportation, and communications created new products and wealth.</a:t>
            </a:r>
          </a:p>
          <a:p>
            <a:pPr lvl="1"/>
            <a:r>
              <a:rPr lang="en-US"/>
              <a:t>However, industrial laborers and owners of cottage industries suffered extensively.</a:t>
            </a:r>
          </a:p>
          <a:p>
            <a:r>
              <a:rPr lang="en-US"/>
              <a:t>Women demanded suffrage (only achieved in 1920) and many suffragists were also slavery abolitionists.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9"/>
          <p:cNvSpPr>
            <a:spLocks noGrp="1"/>
          </p:cNvSpPr>
          <p:nvPr>
            <p:ph type="title"/>
          </p:nvPr>
        </p:nvSpPr>
        <p:spPr/>
        <p:txBody>
          <a:bodyPr/>
          <a:lstStyle/>
          <a:p>
            <a:r>
              <a:rPr lang="en-US"/>
              <a:t>Europe and the United States in the Mid to Late Nineteenth Century (2 of 2)</a:t>
            </a:r>
          </a:p>
        </p:txBody>
      </p:sp>
      <p:sp>
        <p:nvSpPr>
          <p:cNvPr id="17410" name="Content Placeholder 20"/>
          <p:cNvSpPr>
            <a:spLocks noGrp="1"/>
          </p:cNvSpPr>
          <p:nvPr>
            <p:ph idx="1"/>
          </p:nvPr>
        </p:nvSpPr>
        <p:spPr/>
        <p:txBody>
          <a:bodyPr/>
          <a:lstStyle/>
          <a:p>
            <a:r>
              <a:rPr lang="en-US"/>
              <a:t>The second half of the nineteenth century has been called the </a:t>
            </a:r>
            <a:r>
              <a:rPr lang="ru-RU"/>
              <a:t>"</a:t>
            </a:r>
            <a:r>
              <a:rPr lang="en-US"/>
              <a:t>positivist age</a:t>
            </a:r>
            <a:r>
              <a:rPr lang="ru-RU"/>
              <a:t>"</a:t>
            </a:r>
            <a:r>
              <a:rPr lang="en-US"/>
              <a:t> due to its faith in science.</a:t>
            </a:r>
          </a:p>
          <a:p>
            <a:pPr lvl="1"/>
            <a:r>
              <a:rPr lang="en-US"/>
              <a:t>The development of the telephone, radio, electrical lighting, vaccines, and disinfectant occurred.</a:t>
            </a:r>
          </a:p>
          <a:p>
            <a:pPr lvl="1"/>
            <a:r>
              <a:rPr lang="en-US"/>
              <a:t>Charles Darwin challenged Creation.</a:t>
            </a:r>
          </a:p>
          <a:p>
            <a:r>
              <a:rPr lang="en-US"/>
              <a:t>This paralleled the changes in art, but later abstract expression emerged.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3"/>
          <p:cNvSpPr>
            <a:spLocks noGrp="1"/>
          </p:cNvSpPr>
          <p:nvPr>
            <p:ph type="title"/>
          </p:nvPr>
        </p:nvSpPr>
        <p:spPr/>
        <p:txBody>
          <a:bodyPr>
            <a:normAutofit fontScale="90000"/>
          </a:bodyPr>
          <a:lstStyle/>
          <a:p>
            <a:r>
              <a:rPr lang="en-US" dirty="0"/>
              <a:t>EUROPE AND THE UNITED STATES IN THE NINETEENTH CENTURY</a:t>
            </a:r>
            <a:br>
              <a:rPr lang="en-US" dirty="0"/>
            </a:br>
            <a:r>
              <a:rPr lang="en-US" dirty="0"/>
              <a:t>In the nineteenth century, Europe and the United States became increasingly industrialized, and many European nations established colonial possessions around the world. Paris was firmly established as the center of the Western art world.</a:t>
            </a:r>
            <a:br>
              <a:rPr lang="en-US" dirty="0"/>
            </a:br>
            <a:endParaRPr lang="en-US" dirty="0"/>
          </a:p>
        </p:txBody>
      </p:sp>
      <p:pic>
        <p:nvPicPr>
          <p:cNvPr id="2" name="Picture 1" descr="A map centered on the Atlantic Ocean marks the locations of major European and North American cities. The map reveals that, with very few exceptions, the western world’s major cities were established close to oceans or rivers. This still held true as Europeans expanded across the new world, with most colonial settlements made along the coast, and post-colonial settlements made along the Great Lakes, or at points along major rivers. For example, Saint Louis was built where the Missouri River joins the Mississippi River, making it a major crossroad in an era dominated by water transportation. The map’s inset highlights eleven cities established in an area extending southward from the North Sea to the Loire River, and eastward from the Irish Sea to the Rhine River. The Hague and Antwerp were established on the coast, northeast of the English Channel and near the mouth of the Rhine River, with Ghent and Brussels less than thirty miles inland from Antwerp. Near the same latitude, London was established a short distance upriver from the mouth of the Thames. The remaining six cities were established in France, either along the Seine River or near it. Moving upriver from the English Channel, these cities include Le Havre, Rouen, Mantes, Paris, Barbizon, and Ornans, the furthest inland, approximately 50 miles west of the Rhin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9"/>
          <p:cNvSpPr>
            <a:spLocks noGrp="1"/>
          </p:cNvSpPr>
          <p:nvPr>
            <p:ph type="title"/>
          </p:nvPr>
        </p:nvSpPr>
        <p:spPr/>
        <p:txBody>
          <a:bodyPr/>
          <a:lstStyle/>
          <a:p>
            <a:r>
              <a:rPr lang="en-US"/>
              <a:t>French Academic Architecture and Art</a:t>
            </a:r>
          </a:p>
        </p:txBody>
      </p:sp>
      <p:sp>
        <p:nvSpPr>
          <p:cNvPr id="20482" name="Content Placeholder 20"/>
          <p:cNvSpPr>
            <a:spLocks noGrp="1"/>
          </p:cNvSpPr>
          <p:nvPr>
            <p:ph idx="1"/>
          </p:nvPr>
        </p:nvSpPr>
        <p:spPr/>
        <p:txBody>
          <a:bodyPr/>
          <a:lstStyle/>
          <a:p>
            <a:r>
              <a:rPr lang="en-US"/>
              <a:t>Public works were decorated with motifs drawn from historic </a:t>
            </a:r>
            <a:r>
              <a:rPr lang="en-US" b="1"/>
              <a:t>models—historicism</a:t>
            </a:r>
            <a:r>
              <a:rPr lang="en-US"/>
              <a:t>.</a:t>
            </a:r>
          </a:p>
          <a:p>
            <a:r>
              <a:rPr lang="en-US"/>
              <a:t>Historicists often combined allusions to other different historical periods in a single work.</a:t>
            </a:r>
          </a:p>
          <a:p>
            <a:r>
              <a:rPr lang="en-US"/>
              <a:t>Orientalist paintings arose, combining Egyptian, Turkish, and Indian cultures through symbolism.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9"/>
          <p:cNvSpPr>
            <a:spLocks noGrp="1"/>
          </p:cNvSpPr>
          <p:nvPr>
            <p:ph type="title"/>
          </p:nvPr>
        </p:nvSpPr>
        <p:spPr/>
        <p:txBody>
          <a:bodyPr/>
          <a:lstStyle/>
          <a:p>
            <a:r>
              <a:rPr lang="en-US"/>
              <a:t>Art and Its Contexts: Orientalism</a:t>
            </a:r>
          </a:p>
        </p:txBody>
      </p:sp>
      <p:sp>
        <p:nvSpPr>
          <p:cNvPr id="21506" name="Content Placeholder 20"/>
          <p:cNvSpPr>
            <a:spLocks noGrp="1"/>
          </p:cNvSpPr>
          <p:nvPr>
            <p:ph idx="1"/>
          </p:nvPr>
        </p:nvSpPr>
        <p:spPr/>
        <p:txBody>
          <a:bodyPr/>
          <a:lstStyle/>
          <a:p>
            <a:r>
              <a:rPr lang="en-US"/>
              <a:t>The Snake Charmer by Jean-León Gérôme mixes Egyptian, Turkish, and Indian cultures in a fantastical and erotic work.</a:t>
            </a:r>
          </a:p>
          <a:p>
            <a:r>
              <a:rPr lang="en-US"/>
              <a:t>Edward Said describes Orientalism as the colonial gaze in which the Orient is viewed as something to possess, an </a:t>
            </a:r>
            <a:r>
              <a:rPr lang="ru-RU"/>
              <a:t>"</a:t>
            </a:r>
            <a:r>
              <a:rPr lang="en-US"/>
              <a:t>exotic</a:t>
            </a:r>
            <a:r>
              <a:rPr lang="ru-RU"/>
              <a:t>"</a:t>
            </a:r>
            <a:r>
              <a:rPr lang="en-US"/>
              <a:t> playground for the </a:t>
            </a:r>
            <a:r>
              <a:rPr lang="ru-RU"/>
              <a:t>"</a:t>
            </a:r>
            <a:r>
              <a:rPr lang="en-US"/>
              <a:t>civilized</a:t>
            </a:r>
            <a:r>
              <a:rPr lang="ru-RU"/>
              <a:t>"</a:t>
            </a:r>
            <a:r>
              <a:rPr lang="en-US"/>
              <a:t> European visitor.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3"/>
          <p:cNvSpPr>
            <a:spLocks noGrp="1"/>
          </p:cNvSpPr>
          <p:nvPr>
            <p:ph type="title"/>
          </p:nvPr>
        </p:nvSpPr>
        <p:spPr/>
        <p:txBody>
          <a:bodyPr>
            <a:normAutofit fontScale="90000"/>
          </a:bodyPr>
          <a:lstStyle/>
          <a:p>
            <a:r>
              <a:rPr lang="en-US" dirty="0"/>
              <a:t>Jean-Léon </a:t>
            </a:r>
            <a:r>
              <a:rPr lang="en-US" dirty="0" err="1"/>
              <a:t>Gérôme</a:t>
            </a:r>
            <a:r>
              <a:rPr lang="en-US" dirty="0"/>
              <a:t> THE SNAKE CHARMER</a:t>
            </a:r>
            <a:br>
              <a:rPr lang="en-US" dirty="0"/>
            </a:br>
            <a:r>
              <a:rPr lang="en-US" dirty="0"/>
              <a:t>c. 1870. Oil on canvas, 33</a:t>
            </a:r>
            <a:r>
              <a:rPr lang="ru-RU" dirty="0"/>
              <a:t>"</a:t>
            </a:r>
            <a:r>
              <a:rPr lang="en-US" dirty="0"/>
              <a:t> × 48-1/8</a:t>
            </a:r>
            <a:r>
              <a:rPr lang="ru-RU" dirty="0"/>
              <a:t>"</a:t>
            </a:r>
            <a:r>
              <a:rPr lang="en-US" dirty="0"/>
              <a:t> (83.8 × 122.1 cm).</a:t>
            </a:r>
            <a:br>
              <a:rPr lang="en-US" dirty="0"/>
            </a:br>
            <a:r>
              <a:rPr lang="en-US" dirty="0"/>
              <a:t>Clark Art Institute, Williamstown, Massachusetts. Acquired by Sterling and Francine Clark, 1942. (1955.51). Bridgeman Images</a:t>
            </a:r>
          </a:p>
        </p:txBody>
      </p:sp>
      <p:pic>
        <p:nvPicPr>
          <p:cNvPr id="2" name="Picture 1" descr="As an old man plays a flute, a nude boy stands with a thick-bodied python draped around his torso. Nine adults of different ages watch and listen, huddled against a wall decorated by images of pointed arches under Arabic calligraph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9"/>
          <p:cNvSpPr>
            <a:spLocks noGrp="1"/>
          </p:cNvSpPr>
          <p:nvPr>
            <p:ph type="title"/>
          </p:nvPr>
        </p:nvSpPr>
        <p:spPr/>
        <p:txBody>
          <a:bodyPr/>
          <a:lstStyle/>
          <a:p>
            <a:r>
              <a:rPr lang="en-US"/>
              <a:t>Academic Architecture</a:t>
            </a:r>
          </a:p>
        </p:txBody>
      </p:sp>
      <p:sp>
        <p:nvSpPr>
          <p:cNvPr id="24578" name="Content Placeholder 20"/>
          <p:cNvSpPr>
            <a:spLocks noGrp="1"/>
          </p:cNvSpPr>
          <p:nvPr>
            <p:ph idx="1"/>
          </p:nvPr>
        </p:nvSpPr>
        <p:spPr/>
        <p:txBody>
          <a:bodyPr/>
          <a:lstStyle/>
          <a:p>
            <a:r>
              <a:rPr lang="en-US"/>
              <a:t>Charles Garnier constructed the Paris Opéra (opera house) with a cast-iron frame overlaid with nonstructural </a:t>
            </a:r>
            <a:r>
              <a:rPr lang="ru-RU"/>
              <a:t>"</a:t>
            </a:r>
            <a:r>
              <a:rPr lang="en-US"/>
              <a:t>neo-Baroque</a:t>
            </a:r>
            <a:r>
              <a:rPr lang="ru-RU"/>
              <a:t>"</a:t>
            </a:r>
            <a:r>
              <a:rPr lang="en-US"/>
              <a:t> decoration.</a:t>
            </a:r>
          </a:p>
          <a:p>
            <a:r>
              <a:rPr lang="en-US"/>
              <a:t>The opulent foyer staircase served as a stage for nobility.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3"/>
          <p:cNvSpPr>
            <a:spLocks noGrp="1"/>
          </p:cNvSpPr>
          <p:nvPr>
            <p:ph type="title"/>
          </p:nvPr>
        </p:nvSpPr>
        <p:spPr/>
        <p:txBody>
          <a:bodyPr>
            <a:normAutofit fontScale="90000"/>
          </a:bodyPr>
          <a:lstStyle/>
          <a:p>
            <a:r>
              <a:rPr lang="en-US" dirty="0"/>
              <a:t>Charles Garnier OPÉRA, PARIS</a:t>
            </a:r>
            <a:br>
              <a:rPr lang="en-US" dirty="0"/>
            </a:br>
            <a:r>
              <a:rPr lang="en-US" dirty="0"/>
              <a:t>1861–1874.</a:t>
            </a:r>
            <a:br>
              <a:rPr lang="en-US" dirty="0"/>
            </a:br>
            <a:r>
              <a:rPr lang="en-US" dirty="0"/>
              <a:t>© </a:t>
            </a:r>
            <a:r>
              <a:rPr lang="en-US" dirty="0" err="1"/>
              <a:t>akg</a:t>
            </a:r>
            <a:r>
              <a:rPr lang="en-US" dirty="0"/>
              <a:t>-images. </a:t>
            </a:r>
          </a:p>
        </p:txBody>
      </p:sp>
      <p:pic>
        <p:nvPicPr>
          <p:cNvPr id="2" name="Picture 1" descr="An aerial view of the Paris Opera House shows its positioning as a rectangular building, flanked by domed towers in the center of its long sides and positioned with its central axis along the diagonal of a square city bloc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3"/>
          <p:cNvSpPr>
            <a:spLocks noGrp="1"/>
          </p:cNvSpPr>
          <p:nvPr>
            <p:ph type="title"/>
          </p:nvPr>
        </p:nvSpPr>
        <p:spPr/>
        <p:txBody>
          <a:bodyPr/>
          <a:lstStyle/>
          <a:p>
            <a:r>
              <a:rPr lang="en-US" dirty="0"/>
              <a:t>GRAND STAIRCASE, OPÉRA</a:t>
            </a:r>
            <a:br>
              <a:rPr lang="en-US" dirty="0"/>
            </a:br>
            <a:r>
              <a:rPr lang="en-US" dirty="0"/>
              <a:t>© John Kellerman/</a:t>
            </a:r>
            <a:r>
              <a:rPr lang="en-US" dirty="0" err="1"/>
              <a:t>Alamy</a:t>
            </a:r>
            <a:r>
              <a:rPr lang="en-US" dirty="0"/>
              <a:t> Stock Photo. </a:t>
            </a:r>
          </a:p>
        </p:txBody>
      </p:sp>
      <p:pic>
        <p:nvPicPr>
          <p:cNvPr id="2" name="Picture 1" descr="A wide, marble staircase ascends to a landing, from which Opera attendants may pass through a door flanked by columnar statues, straight ahead, or turn left or right to climb the branched stairs to either side of the entranceway’s upper arca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9"/>
          <p:cNvSpPr>
            <a:spLocks noGrp="1"/>
          </p:cNvSpPr>
          <p:nvPr>
            <p:ph type="title"/>
          </p:nvPr>
        </p:nvSpPr>
        <p:spPr/>
        <p:txBody>
          <a:bodyPr/>
          <a:lstStyle/>
          <a:p>
            <a:r>
              <a:rPr lang="en-US"/>
              <a:t>Painting and Sculpture (1 of 2)</a:t>
            </a:r>
          </a:p>
        </p:txBody>
      </p:sp>
      <p:sp>
        <p:nvSpPr>
          <p:cNvPr id="29698" name="Content Placeholder 20"/>
          <p:cNvSpPr>
            <a:spLocks noGrp="1"/>
          </p:cNvSpPr>
          <p:nvPr>
            <p:ph idx="1"/>
          </p:nvPr>
        </p:nvSpPr>
        <p:spPr/>
        <p:txBody>
          <a:bodyPr/>
          <a:lstStyle/>
          <a:p>
            <a:r>
              <a:rPr lang="en-US" i="1"/>
              <a:t>The Birth of Venus </a:t>
            </a:r>
            <a:r>
              <a:rPr lang="en-US"/>
              <a:t>by Alexandre Cabanel represents the taste of the Académie des Beaux-Arts at the mid nineteenth century.</a:t>
            </a:r>
          </a:p>
          <a:p>
            <a:pPr lvl="1"/>
            <a:r>
              <a:rPr lang="en-US"/>
              <a:t>A combination of popular mythology and sexual allure characterizes this piece.</a:t>
            </a:r>
          </a:p>
          <a:p>
            <a:pPr lvl="1"/>
            <a:r>
              <a:rPr lang="en-US"/>
              <a:t>The won the Prix de Rome and went on to garner three-time top honors at the Salon.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3"/>
          <p:cNvSpPr>
            <a:spLocks noGrp="1"/>
          </p:cNvSpPr>
          <p:nvPr>
            <p:ph type="title"/>
          </p:nvPr>
        </p:nvSpPr>
        <p:spPr/>
        <p:txBody>
          <a:bodyPr>
            <a:normAutofit fontScale="90000"/>
          </a:bodyPr>
          <a:lstStyle/>
          <a:p>
            <a:r>
              <a:rPr lang="en-US" dirty="0"/>
              <a:t>Alexandre </a:t>
            </a:r>
            <a:r>
              <a:rPr lang="en-US" dirty="0" err="1"/>
              <a:t>Cabanel</a:t>
            </a:r>
            <a:r>
              <a:rPr lang="en-US" dirty="0"/>
              <a:t> THE BIRTH OF VENUS</a:t>
            </a:r>
            <a:br>
              <a:rPr lang="en-US" dirty="0"/>
            </a:br>
            <a:r>
              <a:rPr lang="en-US" dirty="0"/>
              <a:t>1863. Oil on canvas, 52</a:t>
            </a:r>
            <a:r>
              <a:rPr lang="ru-RU" dirty="0"/>
              <a:t>"</a:t>
            </a:r>
            <a:r>
              <a:rPr lang="en-US" dirty="0"/>
              <a:t> × 90</a:t>
            </a:r>
            <a:r>
              <a:rPr lang="ru-RU" dirty="0"/>
              <a:t>"</a:t>
            </a:r>
            <a:r>
              <a:rPr lang="en-US" dirty="0"/>
              <a:t> (1.35 × 2.29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a:t>
            </a:r>
          </a:p>
        </p:txBody>
      </p:sp>
      <p:pic>
        <p:nvPicPr>
          <p:cNvPr id="2" name="Picture 1" descr="Venus’s nude, curvy form reclines across an ocean wave as if it were a bed, with frothy whitecaps topping the wave as it flows from under her torso. Her long, blond hair lays under her outstretched arm and along her body, framing her hips and thigh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9"/>
          <p:cNvSpPr>
            <a:spLocks noGrp="1"/>
          </p:cNvSpPr>
          <p:nvPr>
            <p:ph type="title"/>
          </p:nvPr>
        </p:nvSpPr>
        <p:spPr/>
        <p:txBody>
          <a:bodyPr/>
          <a:lstStyle/>
          <a:p>
            <a:r>
              <a:rPr lang="en-US"/>
              <a:t>Painting and Sculpture (2 of 2)</a:t>
            </a:r>
          </a:p>
        </p:txBody>
      </p:sp>
      <p:sp>
        <p:nvSpPr>
          <p:cNvPr id="32770" name="Content Placeholder 20"/>
          <p:cNvSpPr>
            <a:spLocks noGrp="1"/>
          </p:cNvSpPr>
          <p:nvPr>
            <p:ph idx="1"/>
          </p:nvPr>
        </p:nvSpPr>
        <p:spPr/>
        <p:txBody>
          <a:bodyPr/>
          <a:lstStyle/>
          <a:p>
            <a:r>
              <a:rPr lang="en-US"/>
              <a:t>The works of Jean-Baptiste Carpeaux explore the deviations within the academy.</a:t>
            </a:r>
          </a:p>
          <a:p>
            <a:pPr lvl="1"/>
            <a:r>
              <a:rPr lang="en-US" i="1"/>
              <a:t>The Dance </a:t>
            </a:r>
            <a:r>
              <a:rPr lang="en-US"/>
              <a:t>portrays a group of nude dancers in a somewhat spontaneous arrangement.</a:t>
            </a:r>
          </a:p>
          <a:p>
            <a:pPr lvl="1"/>
            <a:r>
              <a:rPr lang="en-US"/>
              <a:t>Unlike Neoclassical art, this piece contains figures that are more naturalistic than idealized.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3"/>
          <p:cNvSpPr>
            <a:spLocks noGrp="1"/>
          </p:cNvSpPr>
          <p:nvPr>
            <p:ph type="title"/>
          </p:nvPr>
        </p:nvSpPr>
        <p:spPr/>
        <p:txBody>
          <a:bodyPr>
            <a:normAutofit fontScale="90000"/>
          </a:bodyPr>
          <a:lstStyle/>
          <a:p>
            <a:r>
              <a:rPr lang="en-US" dirty="0"/>
              <a:t>Jean-Baptiste Carpeaux THE DANCE</a:t>
            </a:r>
            <a:br>
              <a:rPr lang="en-US" dirty="0"/>
            </a:br>
            <a:r>
              <a:rPr lang="en-US" dirty="0"/>
              <a:t>1867–1868. Plaster, height approx. 15</a:t>
            </a:r>
            <a:r>
              <a:rPr lang="uk-UA" dirty="0"/>
              <a:t>'</a:t>
            </a:r>
            <a:r>
              <a:rPr lang="en-US" dirty="0"/>
              <a:t> (4.6 m).</a:t>
            </a:r>
            <a:br>
              <a:rPr lang="en-US" dirty="0"/>
            </a:br>
            <a:r>
              <a:rPr lang="en-US" dirty="0" err="1"/>
              <a:t>Musée</a:t>
            </a:r>
            <a:r>
              <a:rPr lang="en-US" dirty="0"/>
              <a:t> d</a:t>
            </a:r>
            <a:r>
              <a:rPr lang="uk-UA" dirty="0"/>
              <a:t>'</a:t>
            </a:r>
            <a:r>
              <a:rPr lang="en-US" dirty="0"/>
              <a:t>Orsay, Paris. © </a:t>
            </a:r>
            <a:r>
              <a:rPr lang="en-US" dirty="0" err="1"/>
              <a:t>akg</a:t>
            </a:r>
            <a:r>
              <a:rPr lang="en-US" dirty="0"/>
              <a:t>-images/Erich Lessing. </a:t>
            </a:r>
          </a:p>
        </p:txBody>
      </p:sp>
      <p:pic>
        <p:nvPicPr>
          <p:cNvPr id="2" name="Picture 1" descr="A winged, male figure raises his arms above his head as women dance around him, forming a circle with their linked hands. The central figure holds a tambourine in one of his hands. A putti reclines on the ground near the center of the circl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9"/>
          <p:cNvSpPr>
            <a:spLocks noGrp="1"/>
          </p:cNvSpPr>
          <p:nvPr>
            <p:ph type="title"/>
          </p:nvPr>
        </p:nvSpPr>
        <p:spPr/>
        <p:txBody>
          <a:bodyPr/>
          <a:lstStyle/>
          <a:p>
            <a:r>
              <a:rPr lang="en-US"/>
              <a:t>Realism and the Avant-Garde</a:t>
            </a:r>
          </a:p>
        </p:txBody>
      </p:sp>
      <p:sp>
        <p:nvSpPr>
          <p:cNvPr id="55298" name="Content Placeholder 20"/>
          <p:cNvSpPr>
            <a:spLocks noGrp="1"/>
          </p:cNvSpPr>
          <p:nvPr>
            <p:ph idx="1"/>
          </p:nvPr>
        </p:nvSpPr>
        <p:spPr/>
        <p:txBody>
          <a:bodyPr/>
          <a:lstStyle/>
          <a:p>
            <a:r>
              <a:rPr lang="en-US"/>
              <a:t>The </a:t>
            </a:r>
            <a:r>
              <a:rPr lang="en-US" b="1"/>
              <a:t>avant-garde</a:t>
            </a:r>
            <a:r>
              <a:rPr lang="en-US"/>
              <a:t>, </a:t>
            </a:r>
            <a:r>
              <a:rPr lang="ru-RU"/>
              <a:t>"</a:t>
            </a:r>
            <a:r>
              <a:rPr lang="en-US"/>
              <a:t>advance guard,</a:t>
            </a:r>
            <a:r>
              <a:rPr lang="ru-RU"/>
              <a:t>"</a:t>
            </a:r>
            <a:r>
              <a:rPr lang="en-US"/>
              <a:t> was created in reaction to rigid academy training.</a:t>
            </a:r>
          </a:p>
          <a:p>
            <a:r>
              <a:rPr lang="en-US"/>
              <a:t>Artists gathered to transform modern industrialized and bourgeois society into an ideal state through radical art.</a:t>
            </a:r>
          </a:p>
          <a:p>
            <a:pPr lvl="1"/>
            <a:r>
              <a:rPr lang="en-US"/>
              <a:t>Architect Viollet-le-Duc believed that this would sacrifice reputations and reduce sales.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9"/>
          <p:cNvSpPr>
            <a:spLocks noGrp="1"/>
          </p:cNvSpPr>
          <p:nvPr>
            <p:ph type="title"/>
          </p:nvPr>
        </p:nvSpPr>
        <p:spPr/>
        <p:txBody>
          <a:bodyPr/>
          <a:lstStyle/>
          <a:p>
            <a:r>
              <a:rPr lang="en-US"/>
              <a:t>Realism and Revolution (1 of 6)</a:t>
            </a:r>
          </a:p>
        </p:txBody>
      </p:sp>
      <p:sp>
        <p:nvSpPr>
          <p:cNvPr id="56322" name="Content Placeholder 20"/>
          <p:cNvSpPr>
            <a:spLocks noGrp="1"/>
          </p:cNvSpPr>
          <p:nvPr>
            <p:ph idx="1"/>
          </p:nvPr>
        </p:nvSpPr>
        <p:spPr/>
        <p:txBody>
          <a:bodyPr/>
          <a:lstStyle/>
          <a:p>
            <a:r>
              <a:rPr lang="en-US"/>
              <a:t>The Revolution of 1848 saw the overthrow of the monarchy and establishment of the Second Republic.</a:t>
            </a:r>
          </a:p>
          <a:p>
            <a:pPr lvl="1"/>
            <a:r>
              <a:rPr lang="en-US"/>
              <a:t>Conflicts among reformers led to the deaths of over 10,000 working poor.</a:t>
            </a:r>
          </a:p>
          <a:p>
            <a:r>
              <a:rPr lang="en-US"/>
              <a:t>Realism is less of a style and more of a commitment to paint the brutalities of the modern world with honesty.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9"/>
          <p:cNvSpPr>
            <a:spLocks noGrp="1"/>
          </p:cNvSpPr>
          <p:nvPr>
            <p:ph type="title"/>
          </p:nvPr>
        </p:nvSpPr>
        <p:spPr/>
        <p:txBody>
          <a:bodyPr/>
          <a:lstStyle/>
          <a:p>
            <a:r>
              <a:rPr lang="en-US"/>
              <a:t>Realism and Revolution (2 of 6)</a:t>
            </a:r>
          </a:p>
        </p:txBody>
      </p:sp>
      <p:sp>
        <p:nvSpPr>
          <p:cNvPr id="57346" name="Content Placeholder 20"/>
          <p:cNvSpPr>
            <a:spLocks noGrp="1"/>
          </p:cNvSpPr>
          <p:nvPr>
            <p:ph idx="1"/>
          </p:nvPr>
        </p:nvSpPr>
        <p:spPr/>
        <p:txBody>
          <a:bodyPr/>
          <a:lstStyle/>
          <a:p>
            <a:r>
              <a:rPr lang="en-US"/>
              <a:t>Courbet</a:t>
            </a:r>
          </a:p>
          <a:p>
            <a:pPr lvl="1"/>
            <a:r>
              <a:rPr lang="en-US"/>
              <a:t>Gustave Courbet (1819–1877) turned to painting poor and ordinary people.</a:t>
            </a:r>
          </a:p>
          <a:p>
            <a:pPr lvl="1"/>
            <a:r>
              <a:rPr lang="en-US" i="1"/>
              <a:t>The Stone Breakers</a:t>
            </a:r>
            <a:r>
              <a:rPr lang="en-US"/>
              <a:t>, destroyed in World War II, depicts a young boy and an old man crushing rocks.</a:t>
            </a:r>
          </a:p>
          <a:p>
            <a:pPr lvl="2"/>
            <a:r>
              <a:rPr lang="en-US"/>
              <a:t>The figures represent both an obsolete past and a grim future.</a:t>
            </a:r>
          </a:p>
          <a:p>
            <a:pPr lvl="2"/>
            <a:r>
              <a:rPr lang="en-US"/>
              <a:t>The work itself was the scale of a history painting.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3"/>
          <p:cNvSpPr>
            <a:spLocks noGrp="1"/>
          </p:cNvSpPr>
          <p:nvPr>
            <p:ph type="title"/>
          </p:nvPr>
        </p:nvSpPr>
        <p:spPr/>
        <p:txBody>
          <a:bodyPr>
            <a:normAutofit fontScale="90000"/>
          </a:bodyPr>
          <a:lstStyle/>
          <a:p>
            <a:r>
              <a:rPr lang="en-US" dirty="0"/>
              <a:t>Gustave Courbet THE STONE BREAKERS</a:t>
            </a:r>
            <a:br>
              <a:rPr lang="en-US" dirty="0"/>
            </a:br>
            <a:r>
              <a:rPr lang="en-US" dirty="0"/>
              <a:t>1849. Oil on canvas, 5</a:t>
            </a:r>
            <a:r>
              <a:rPr lang="uk-UA" dirty="0"/>
              <a:t>'</a:t>
            </a:r>
            <a:r>
              <a:rPr lang="en-US" dirty="0"/>
              <a:t>3</a:t>
            </a:r>
            <a:r>
              <a:rPr lang="ru-RU" dirty="0"/>
              <a:t>"</a:t>
            </a:r>
            <a:r>
              <a:rPr lang="en-US" dirty="0"/>
              <a:t> × 8</a:t>
            </a:r>
            <a:r>
              <a:rPr lang="uk-UA" dirty="0"/>
              <a:t>'</a:t>
            </a:r>
            <a:r>
              <a:rPr lang="en-US" dirty="0"/>
              <a:t>6</a:t>
            </a:r>
            <a:r>
              <a:rPr lang="ru-RU" dirty="0"/>
              <a:t>"</a:t>
            </a:r>
            <a:r>
              <a:rPr lang="en-US" dirty="0"/>
              <a:t> (1.6 × 2.59 m).</a:t>
            </a:r>
            <a:br>
              <a:rPr lang="en-US" dirty="0"/>
            </a:br>
            <a:r>
              <a:rPr lang="en-US" dirty="0"/>
              <a:t>Formerly </a:t>
            </a:r>
            <a:r>
              <a:rPr lang="en-US" dirty="0" err="1"/>
              <a:t>Gemäldegalerie</a:t>
            </a:r>
            <a:r>
              <a:rPr lang="en-US" dirty="0"/>
              <a:t>, Dresden; destroyed in World War II. © Staatliche </a:t>
            </a:r>
            <a:r>
              <a:rPr lang="en-US" dirty="0" err="1"/>
              <a:t>Kunstsammlungen</a:t>
            </a:r>
            <a:r>
              <a:rPr lang="en-US" dirty="0"/>
              <a:t> Dresden/Bridgeman Images. </a:t>
            </a:r>
          </a:p>
        </p:txBody>
      </p:sp>
      <p:pic>
        <p:nvPicPr>
          <p:cNvPr id="2" name="Picture 1" descr="A boy and a middle-aged man work in the ditch along the side of a road, breaking stones with hammers and pickaxes, then moving the fresh gavel in baskets. A satchel and a cooking pot sit to the side, on a blanke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9"/>
          <p:cNvSpPr>
            <a:spLocks noGrp="1"/>
          </p:cNvSpPr>
          <p:nvPr>
            <p:ph type="title"/>
          </p:nvPr>
        </p:nvSpPr>
        <p:spPr/>
        <p:txBody>
          <a:bodyPr/>
          <a:lstStyle/>
          <a:p>
            <a:r>
              <a:rPr lang="en-US"/>
              <a:t>Realism and Revolution (3 of 6)</a:t>
            </a:r>
          </a:p>
        </p:txBody>
      </p:sp>
      <p:sp>
        <p:nvSpPr>
          <p:cNvPr id="60418" name="Content Placeholder 20"/>
          <p:cNvSpPr>
            <a:spLocks noGrp="1"/>
          </p:cNvSpPr>
          <p:nvPr>
            <p:ph idx="1"/>
          </p:nvPr>
        </p:nvSpPr>
        <p:spPr/>
        <p:txBody>
          <a:bodyPr/>
          <a:lstStyle/>
          <a:p>
            <a:r>
              <a:rPr lang="en-US"/>
              <a:t>Courbet</a:t>
            </a:r>
          </a:p>
          <a:p>
            <a:pPr lvl="1"/>
            <a:r>
              <a:rPr lang="en-US" i="1"/>
              <a:t>A Burial at Ornans </a:t>
            </a:r>
            <a:r>
              <a:rPr lang="en-US"/>
              <a:t>commemorates the funeral of Courbet</a:t>
            </a:r>
            <a:r>
              <a:rPr lang="uk-UA"/>
              <a:t>'</a:t>
            </a:r>
            <a:r>
              <a:rPr lang="en-US"/>
              <a:t>s grandfather.</a:t>
            </a:r>
          </a:p>
          <a:p>
            <a:pPr lvl="2"/>
            <a:r>
              <a:rPr lang="en-US"/>
              <a:t>Genuine sorry of mourners is contrasted by indifference of two Church officials.</a:t>
            </a:r>
          </a:p>
          <a:p>
            <a:pPr lvl="2"/>
            <a:r>
              <a:rPr lang="en-US"/>
              <a:t>The painting captures the physical reality of a funeral with awkward numbness.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3"/>
          <p:cNvSpPr>
            <a:spLocks noGrp="1"/>
          </p:cNvSpPr>
          <p:nvPr>
            <p:ph type="title"/>
          </p:nvPr>
        </p:nvSpPr>
        <p:spPr/>
        <p:txBody>
          <a:bodyPr>
            <a:normAutofit fontScale="90000"/>
          </a:bodyPr>
          <a:lstStyle/>
          <a:p>
            <a:r>
              <a:rPr lang="en-US" dirty="0"/>
              <a:t>Gustave Courbet A BURIAL AT ORNANS</a:t>
            </a:r>
            <a:br>
              <a:rPr lang="en-US" dirty="0"/>
            </a:br>
            <a:r>
              <a:rPr lang="en-US" dirty="0"/>
              <a:t>1849. Oil on canvas, 10</a:t>
            </a:r>
            <a:r>
              <a:rPr lang="uk-UA" dirty="0"/>
              <a:t>'</a:t>
            </a:r>
            <a:r>
              <a:rPr lang="en-US" dirty="0"/>
              <a:t>3-1/2</a:t>
            </a:r>
            <a:r>
              <a:rPr lang="ru-RU" dirty="0"/>
              <a:t>"</a:t>
            </a:r>
            <a:r>
              <a:rPr lang="en-US" dirty="0"/>
              <a:t> × 21</a:t>
            </a:r>
            <a:r>
              <a:rPr lang="uk-UA" dirty="0"/>
              <a:t>'</a:t>
            </a:r>
            <a:r>
              <a:rPr lang="en-US" dirty="0"/>
              <a:t>9</a:t>
            </a:r>
            <a:r>
              <a:rPr lang="ru-RU" dirty="0"/>
              <a:t>"</a:t>
            </a:r>
            <a:r>
              <a:rPr lang="en-US" dirty="0"/>
              <a:t> (3.1 × 6.6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d'Orsay)/Gérard Blot/</a:t>
            </a:r>
            <a:r>
              <a:rPr lang="en-US" dirty="0" err="1"/>
              <a:t>Hervé</a:t>
            </a:r>
            <a:r>
              <a:rPr lang="en-US" dirty="0"/>
              <a:t> Lewandowski. </a:t>
            </a:r>
          </a:p>
        </p:txBody>
      </p:sp>
      <p:pic>
        <p:nvPicPr>
          <p:cNvPr id="2" name="Picture 1" descr="A wide painting depicts a well-attended funeral in the country, with gently rolling hills in the background. The two men closest to the grave stand out in older and more colorful clothes than the black-clad mourners behind them.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9"/>
          <p:cNvSpPr>
            <a:spLocks noGrp="1"/>
          </p:cNvSpPr>
          <p:nvPr>
            <p:ph type="title"/>
          </p:nvPr>
        </p:nvSpPr>
        <p:spPr/>
        <p:txBody>
          <a:bodyPr/>
          <a:lstStyle/>
          <a:p>
            <a:r>
              <a:rPr lang="en-US"/>
              <a:t>Realism and Revolution (4 of 6)</a:t>
            </a:r>
          </a:p>
        </p:txBody>
      </p:sp>
      <p:sp>
        <p:nvSpPr>
          <p:cNvPr id="63490" name="Content Placeholder 20"/>
          <p:cNvSpPr>
            <a:spLocks noGrp="1"/>
          </p:cNvSpPr>
          <p:nvPr>
            <p:ph idx="1"/>
          </p:nvPr>
        </p:nvSpPr>
        <p:spPr/>
        <p:txBody>
          <a:bodyPr/>
          <a:lstStyle/>
          <a:p>
            <a:r>
              <a:rPr lang="en-US"/>
              <a:t>Millet</a:t>
            </a:r>
          </a:p>
          <a:p>
            <a:pPr lvl="1"/>
            <a:r>
              <a:rPr lang="en-US"/>
              <a:t>Accusations of political radicalism were leveled against Courbet, and later against Jean-François Millet for his paintings</a:t>
            </a:r>
            <a:r>
              <a:rPr lang="uk-UA"/>
              <a:t>'</a:t>
            </a:r>
            <a:r>
              <a:rPr lang="en-US"/>
              <a:t> focus on rural life.</a:t>
            </a:r>
          </a:p>
          <a:p>
            <a:pPr lvl="2"/>
            <a:r>
              <a:rPr lang="en-US" i="1"/>
              <a:t>The Gleaners </a:t>
            </a:r>
            <a:r>
              <a:rPr lang="en-US"/>
              <a:t>shows three women gathering left-over grain after harvest in a scene where warm colors contrast extreme poverty.</a:t>
            </a:r>
          </a:p>
          <a:p>
            <a:pPr lvl="2"/>
            <a:r>
              <a:rPr lang="en-US"/>
              <a:t>Millet would deny social criticism.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3"/>
          <p:cNvSpPr>
            <a:spLocks noGrp="1"/>
          </p:cNvSpPr>
          <p:nvPr>
            <p:ph type="title"/>
          </p:nvPr>
        </p:nvSpPr>
        <p:spPr/>
        <p:txBody>
          <a:bodyPr>
            <a:normAutofit fontScale="90000"/>
          </a:bodyPr>
          <a:lstStyle/>
          <a:p>
            <a:r>
              <a:rPr lang="en-US" dirty="0"/>
              <a:t>Jean-François Millet THE GLEANERS</a:t>
            </a:r>
            <a:br>
              <a:rPr lang="en-US" dirty="0"/>
            </a:br>
            <a:r>
              <a:rPr lang="en-US" dirty="0"/>
              <a:t>1857. Oil on canvas, 33</a:t>
            </a:r>
            <a:r>
              <a:rPr lang="ru-RU" dirty="0"/>
              <a:t>"</a:t>
            </a:r>
            <a:r>
              <a:rPr lang="en-US" dirty="0"/>
              <a:t> × 44</a:t>
            </a:r>
            <a:r>
              <a:rPr lang="ru-RU" dirty="0"/>
              <a:t>"</a:t>
            </a:r>
            <a:r>
              <a:rPr lang="en-US" dirty="0"/>
              <a:t> (83.8 × 111.8 cm).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d'Orsay)/Jean </a:t>
            </a:r>
            <a:r>
              <a:rPr lang="en-US" dirty="0" err="1"/>
              <a:t>Schormans</a:t>
            </a:r>
            <a:r>
              <a:rPr lang="en-US" dirty="0"/>
              <a:t>. </a:t>
            </a:r>
          </a:p>
        </p:txBody>
      </p:sp>
      <p:pic>
        <p:nvPicPr>
          <p:cNvPr id="2" name="Picture 1" descr="While a farmer overseeing the harvest of a field near the horizon, three women in colorful but simple dresses scan a wheat field that has already been harvested, picking up the few pieces still large enough to use for foo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9"/>
          <p:cNvSpPr>
            <a:spLocks noGrp="1"/>
          </p:cNvSpPr>
          <p:nvPr>
            <p:ph type="title"/>
          </p:nvPr>
        </p:nvSpPr>
        <p:spPr/>
        <p:txBody>
          <a:bodyPr/>
          <a:lstStyle/>
          <a:p>
            <a:r>
              <a:rPr lang="en-US"/>
              <a:t>Realism and Revolution (5 of 6)</a:t>
            </a:r>
          </a:p>
        </p:txBody>
      </p:sp>
      <p:sp>
        <p:nvSpPr>
          <p:cNvPr id="66562" name="Content Placeholder 20"/>
          <p:cNvSpPr>
            <a:spLocks noGrp="1"/>
          </p:cNvSpPr>
          <p:nvPr>
            <p:ph idx="1"/>
          </p:nvPr>
        </p:nvSpPr>
        <p:spPr/>
        <p:txBody>
          <a:bodyPr/>
          <a:lstStyle/>
          <a:p>
            <a:r>
              <a:rPr lang="en-US"/>
              <a:t>Corot</a:t>
            </a:r>
          </a:p>
          <a:p>
            <a:pPr lvl="1"/>
            <a:r>
              <a:rPr lang="en-US"/>
              <a:t>Through a more romantic approach, Corot painted intimate scenes of rural France like </a:t>
            </a:r>
            <a:r>
              <a:rPr lang="en-US" i="1"/>
              <a:t>First Leaves, Near Mantes</a:t>
            </a:r>
            <a:r>
              <a:rPr lang="en-US"/>
              <a:t>.</a:t>
            </a:r>
          </a:p>
          <a:p>
            <a:pPr lvl="1"/>
            <a:r>
              <a:rPr lang="en-US"/>
              <a:t>Images of peaceful country life held appeal for Parisians sick of the crowded and chaotic metropolis.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3"/>
          <p:cNvSpPr>
            <a:spLocks noGrp="1"/>
          </p:cNvSpPr>
          <p:nvPr>
            <p:ph type="title"/>
          </p:nvPr>
        </p:nvSpPr>
        <p:spPr/>
        <p:txBody>
          <a:bodyPr>
            <a:normAutofit fontScale="90000"/>
          </a:bodyPr>
          <a:lstStyle/>
          <a:p>
            <a:r>
              <a:rPr lang="en-US" dirty="0"/>
              <a:t>Jean-Baptiste-Camille Corot FIRST LEAVES, NEAR MANTES</a:t>
            </a:r>
            <a:br>
              <a:rPr lang="en-US" dirty="0"/>
            </a:br>
            <a:r>
              <a:rPr lang="en-US" dirty="0"/>
              <a:t>c. 1855. Oil on canvas, 13-3/8</a:t>
            </a:r>
            <a:r>
              <a:rPr lang="ru-RU" dirty="0"/>
              <a:t>"</a:t>
            </a:r>
            <a:r>
              <a:rPr lang="en-US" dirty="0"/>
              <a:t> × 18-1/8</a:t>
            </a:r>
            <a:r>
              <a:rPr lang="ru-RU" dirty="0"/>
              <a:t>"</a:t>
            </a:r>
            <a:r>
              <a:rPr lang="en-US" dirty="0"/>
              <a:t> (34 × 46 cm).</a:t>
            </a:r>
            <a:br>
              <a:rPr lang="en-US" dirty="0"/>
            </a:br>
            <a:r>
              <a:rPr lang="en-US" dirty="0"/>
              <a:t>Carnegie Museum of Art, Pittsburgh, Pennsylvania. Photograph © 2016 Carnegie Museum of Art, Pittsburgh. Photo: Richard Stoner.</a:t>
            </a:r>
          </a:p>
        </p:txBody>
      </p:sp>
      <p:pic>
        <p:nvPicPr>
          <p:cNvPr id="2" name="Picture 1" descr="Two figures walk down a winding country road together, shown from behind and from a point of view a few yards off the road, through a loose stand of tre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9"/>
          <p:cNvSpPr>
            <a:spLocks noGrp="1"/>
          </p:cNvSpPr>
          <p:nvPr>
            <p:ph type="title"/>
          </p:nvPr>
        </p:nvSpPr>
        <p:spPr/>
        <p:txBody>
          <a:bodyPr/>
          <a:lstStyle/>
          <a:p>
            <a:r>
              <a:rPr lang="en-US"/>
              <a:t>Realism and Revolution (6 of 6)</a:t>
            </a:r>
          </a:p>
        </p:txBody>
      </p:sp>
      <p:sp>
        <p:nvSpPr>
          <p:cNvPr id="69634" name="Content Placeholder 20"/>
          <p:cNvSpPr>
            <a:spLocks noGrp="1"/>
          </p:cNvSpPr>
          <p:nvPr>
            <p:ph idx="1"/>
          </p:nvPr>
        </p:nvSpPr>
        <p:spPr/>
        <p:txBody>
          <a:bodyPr/>
          <a:lstStyle/>
          <a:p>
            <a:r>
              <a:rPr lang="en-US"/>
              <a:t>Bonheur</a:t>
            </a:r>
          </a:p>
          <a:p>
            <a:pPr lvl="1"/>
            <a:r>
              <a:rPr lang="en-US"/>
              <a:t>Rosa Bonheur was a popular painter of French farm life.</a:t>
            </a:r>
          </a:p>
          <a:p>
            <a:pPr lvl="2"/>
            <a:r>
              <a:rPr lang="en-US"/>
              <a:t>She had to dress in men</a:t>
            </a:r>
            <a:r>
              <a:rPr lang="uk-UA"/>
              <a:t>'</a:t>
            </a:r>
            <a:r>
              <a:rPr lang="en-US"/>
              <a:t>s clothing (with police permission) to make detailed studies in stockyards and slaughterhouses.</a:t>
            </a:r>
          </a:p>
          <a:p>
            <a:pPr lvl="2"/>
            <a:r>
              <a:rPr lang="en-US" i="1"/>
              <a:t>The Horse Fair </a:t>
            </a:r>
            <a:r>
              <a:rPr lang="en-US"/>
              <a:t>was highly praised at the 1853 Salon, which was unusual for a painting of farm animals.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3"/>
          <p:cNvSpPr>
            <a:spLocks noGrp="1"/>
          </p:cNvSpPr>
          <p:nvPr>
            <p:ph type="title"/>
          </p:nvPr>
        </p:nvSpPr>
        <p:spPr/>
        <p:txBody>
          <a:bodyPr>
            <a:normAutofit fontScale="90000"/>
          </a:bodyPr>
          <a:lstStyle/>
          <a:p>
            <a:r>
              <a:rPr lang="en-US" dirty="0"/>
              <a:t>Rosa Bonheur THE HORSE FAIR</a:t>
            </a:r>
            <a:br>
              <a:rPr lang="en-US" dirty="0"/>
            </a:br>
            <a:r>
              <a:rPr lang="en-US" dirty="0"/>
              <a:t>1853–1855. Oil on canvas, 8</a:t>
            </a:r>
            <a:r>
              <a:rPr lang="uk-UA" dirty="0"/>
              <a:t>'</a:t>
            </a:r>
            <a:r>
              <a:rPr lang="en-US" dirty="0"/>
              <a:t>-1/4</a:t>
            </a:r>
            <a:r>
              <a:rPr lang="ru-RU" dirty="0"/>
              <a:t>"</a:t>
            </a:r>
            <a:r>
              <a:rPr lang="en-US" dirty="0"/>
              <a:t> × 16</a:t>
            </a:r>
            <a:r>
              <a:rPr lang="uk-UA" dirty="0"/>
              <a:t>'</a:t>
            </a:r>
            <a:r>
              <a:rPr lang="en-US" dirty="0"/>
              <a:t>7-1/2</a:t>
            </a:r>
            <a:r>
              <a:rPr lang="ru-RU" dirty="0"/>
              <a:t>"</a:t>
            </a:r>
            <a:r>
              <a:rPr lang="en-US" dirty="0"/>
              <a:t> (2.45 × 5.07 m).</a:t>
            </a:r>
            <a:br>
              <a:rPr lang="en-US" dirty="0"/>
            </a:br>
            <a:r>
              <a:rPr lang="en-US" dirty="0"/>
              <a:t>Metropolitan Museum of Art, New York. © 2016. Image copyright The Metropolitan Museum of Art/Art Resource, NY/ Scala, Florence.</a:t>
            </a:r>
          </a:p>
        </p:txBody>
      </p:sp>
      <p:pic>
        <p:nvPicPr>
          <p:cNvPr id="2" name="Picture 1" descr="A few spectators watch from a hillside, under a canopy of trees, while in the foreground, riders lead a dozen or more horses around an ovoid track. Near the center, a black horse rears violently, his rider struggling to stay mount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9"/>
          <p:cNvSpPr>
            <a:spLocks noGrp="1"/>
          </p:cNvSpPr>
          <p:nvPr>
            <p:ph type="title"/>
          </p:nvPr>
        </p:nvSpPr>
        <p:spPr/>
        <p:txBody>
          <a:bodyPr/>
          <a:lstStyle/>
          <a:p>
            <a:r>
              <a:rPr lang="en-US"/>
              <a:t>Manet: </a:t>
            </a:r>
            <a:r>
              <a:rPr lang="ru-RU"/>
              <a:t>"</a:t>
            </a:r>
            <a:r>
              <a:rPr lang="en-US"/>
              <a:t>The Painter of Modern Life</a:t>
            </a:r>
            <a:r>
              <a:rPr lang="ru-RU"/>
              <a:t>"</a:t>
            </a:r>
            <a:br>
              <a:rPr lang="en-US"/>
            </a:br>
            <a:r>
              <a:rPr lang="en-US"/>
              <a:t>(1 of 4)</a:t>
            </a:r>
          </a:p>
        </p:txBody>
      </p:sp>
      <p:sp>
        <p:nvSpPr>
          <p:cNvPr id="72706" name="Content Placeholder 20"/>
          <p:cNvSpPr>
            <a:spLocks noGrp="1"/>
          </p:cNvSpPr>
          <p:nvPr>
            <p:ph idx="1"/>
          </p:nvPr>
        </p:nvSpPr>
        <p:spPr/>
        <p:txBody>
          <a:bodyPr/>
          <a:lstStyle/>
          <a:p>
            <a:r>
              <a:rPr lang="en-US"/>
              <a:t>Themes of the modern city and politics are key to understanding the trends that developed in Paris at this time.</a:t>
            </a:r>
          </a:p>
          <a:p>
            <a:r>
              <a:rPr lang="en-US"/>
              <a:t>Édouard Manet became the unofficial leader of a group of artists and writers who pushed the French Realist tradition into new territory.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9"/>
          <p:cNvSpPr>
            <a:spLocks noGrp="1"/>
          </p:cNvSpPr>
          <p:nvPr>
            <p:ph type="title"/>
          </p:nvPr>
        </p:nvSpPr>
        <p:spPr/>
        <p:txBody>
          <a:bodyPr/>
          <a:lstStyle/>
          <a:p>
            <a:r>
              <a:rPr lang="en-US"/>
              <a:t>Manet: </a:t>
            </a:r>
            <a:r>
              <a:rPr lang="ru-RU"/>
              <a:t>"</a:t>
            </a:r>
            <a:r>
              <a:rPr lang="en-US"/>
              <a:t>The Painter of Modern Life</a:t>
            </a:r>
            <a:r>
              <a:rPr lang="ru-RU"/>
              <a:t>"</a:t>
            </a:r>
            <a:br>
              <a:rPr lang="en-US"/>
            </a:br>
            <a:r>
              <a:rPr lang="en-US"/>
              <a:t>(2 of 4)</a:t>
            </a:r>
          </a:p>
        </p:txBody>
      </p:sp>
      <p:sp>
        <p:nvSpPr>
          <p:cNvPr id="73730" name="Content Placeholder 20"/>
          <p:cNvSpPr>
            <a:spLocks noGrp="1"/>
          </p:cNvSpPr>
          <p:nvPr>
            <p:ph idx="1"/>
          </p:nvPr>
        </p:nvSpPr>
        <p:spPr/>
        <p:txBody>
          <a:bodyPr/>
          <a:lstStyle/>
          <a:p>
            <a:r>
              <a:rPr lang="en-US" i="1"/>
              <a:t>Luncheon on the Grass</a:t>
            </a:r>
          </a:p>
          <a:p>
            <a:pPr lvl="1"/>
            <a:r>
              <a:rPr lang="en-US"/>
              <a:t>Manet offered flat, sharply outlined, and starkly lit figures who stand out against their setting.</a:t>
            </a:r>
          </a:p>
          <a:p>
            <a:pPr lvl="2"/>
            <a:r>
              <a:rPr lang="en-US"/>
              <a:t>In a nod to Titian</a:t>
            </a:r>
            <a:r>
              <a:rPr lang="uk-UA"/>
              <a:t>'</a:t>
            </a:r>
            <a:r>
              <a:rPr lang="en-US"/>
              <a:t>s </a:t>
            </a:r>
            <a:r>
              <a:rPr lang="en-US" i="1"/>
              <a:t>Pastoral Concert</a:t>
            </a:r>
            <a:r>
              <a:rPr lang="en-US"/>
              <a:t>, a completely naked woman is seated next to two fully clothed bourgeois men.</a:t>
            </a:r>
          </a:p>
          <a:p>
            <a:pPr lvl="3"/>
            <a:r>
              <a:rPr lang="en-US"/>
              <a:t>This nudity was scandalous as it was not part of mythological or historical narrative, but within contemporary life.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3"/>
          <p:cNvSpPr>
            <a:spLocks noGrp="1"/>
          </p:cNvSpPr>
          <p:nvPr>
            <p:ph type="title"/>
          </p:nvPr>
        </p:nvSpPr>
        <p:spPr/>
        <p:txBody>
          <a:bodyPr>
            <a:normAutofit fontScale="90000"/>
          </a:bodyPr>
          <a:lstStyle/>
          <a:p>
            <a:r>
              <a:rPr lang="en-US" dirty="0"/>
              <a:t>Édouard Manet THE LUNCHEON ON THE GRASS/LE DÉJEUNER SUR L</a:t>
            </a:r>
            <a:r>
              <a:rPr lang="uk-UA" dirty="0"/>
              <a:t>'</a:t>
            </a:r>
            <a:r>
              <a:rPr lang="en-US" dirty="0"/>
              <a:t>HERBE </a:t>
            </a:r>
            <a:br>
              <a:rPr lang="en-US" dirty="0"/>
            </a:br>
            <a:r>
              <a:rPr lang="en-US" dirty="0"/>
              <a:t>1863. Oil on canvas, 7</a:t>
            </a:r>
            <a:r>
              <a:rPr lang="uk-UA" dirty="0"/>
              <a:t>'</a:t>
            </a:r>
            <a:r>
              <a:rPr lang="en-US" dirty="0"/>
              <a:t> × 8</a:t>
            </a:r>
            <a:r>
              <a:rPr lang="uk-UA" dirty="0"/>
              <a:t>'</a:t>
            </a:r>
            <a:r>
              <a:rPr lang="en-US" dirty="0"/>
              <a:t>8</a:t>
            </a:r>
            <a:r>
              <a:rPr lang="ru-RU" dirty="0"/>
              <a:t>"</a:t>
            </a:r>
            <a:r>
              <a:rPr lang="en-US" dirty="0"/>
              <a:t> (2.13 × 2.64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 </a:t>
            </a:r>
          </a:p>
        </p:txBody>
      </p:sp>
      <p:pic>
        <p:nvPicPr>
          <p:cNvPr id="2" name="Picture 1" descr="Two men in stylish suits sit in a forest clearing with a nude woman, who faces the viewer directly, with her genital hidden behind her thigh but most of her breast left visible. Another woman bathes in a nearby stream, her white drape turning translucen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9"/>
          <p:cNvSpPr>
            <a:spLocks noGrp="1"/>
          </p:cNvSpPr>
          <p:nvPr>
            <p:ph type="title"/>
          </p:nvPr>
        </p:nvSpPr>
        <p:spPr/>
        <p:txBody>
          <a:bodyPr/>
          <a:lstStyle/>
          <a:p>
            <a:r>
              <a:rPr lang="en-US"/>
              <a:t>Manet: </a:t>
            </a:r>
            <a:r>
              <a:rPr lang="ru-RU"/>
              <a:t>"</a:t>
            </a:r>
            <a:r>
              <a:rPr lang="en-US"/>
              <a:t>The Painter of Modern Life</a:t>
            </a:r>
            <a:r>
              <a:rPr lang="ru-RU"/>
              <a:t>"</a:t>
            </a:r>
            <a:br>
              <a:rPr lang="en-US"/>
            </a:br>
            <a:r>
              <a:rPr lang="en-US"/>
              <a:t>(3 of 4)</a:t>
            </a:r>
          </a:p>
        </p:txBody>
      </p:sp>
      <p:sp>
        <p:nvSpPr>
          <p:cNvPr id="76802" name="Content Placeholder 20"/>
          <p:cNvSpPr>
            <a:spLocks noGrp="1"/>
          </p:cNvSpPr>
          <p:nvPr>
            <p:ph idx="1"/>
          </p:nvPr>
        </p:nvSpPr>
        <p:spPr/>
        <p:txBody>
          <a:bodyPr/>
          <a:lstStyle/>
          <a:p>
            <a:r>
              <a:rPr lang="en-US" i="1"/>
              <a:t>Olympia</a:t>
            </a:r>
          </a:p>
          <a:p>
            <a:pPr lvl="1"/>
            <a:r>
              <a:rPr lang="en-US"/>
              <a:t>The title alludes to a socially ambitious prostitute of the same name in a novel and play by Alexandre Dumas </a:t>
            </a:r>
            <a:r>
              <a:rPr lang="en-US" i="1"/>
              <a:t>fils</a:t>
            </a:r>
            <a:r>
              <a:rPr lang="en-US"/>
              <a:t>.</a:t>
            </a:r>
          </a:p>
          <a:p>
            <a:pPr lvl="2"/>
            <a:r>
              <a:rPr lang="en-US"/>
              <a:t>It is based on Titian</a:t>
            </a:r>
            <a:r>
              <a:rPr lang="uk-UA"/>
              <a:t>'</a:t>
            </a:r>
            <a:r>
              <a:rPr lang="en-US"/>
              <a:t>s </a:t>
            </a:r>
            <a:r>
              <a:rPr lang="ru-RU" i="1"/>
              <a:t>"</a:t>
            </a:r>
            <a:r>
              <a:rPr lang="en-US" i="1"/>
              <a:t>Venus</a:t>
            </a:r>
            <a:r>
              <a:rPr lang="ru-RU" i="1"/>
              <a:t>"</a:t>
            </a:r>
            <a:r>
              <a:rPr lang="en-US" i="1"/>
              <a:t> of Urbino</a:t>
            </a:r>
            <a:r>
              <a:rPr lang="en-US"/>
              <a:t>, but instead of a curvaceous and round nude, Manet</a:t>
            </a:r>
            <a:r>
              <a:rPr lang="uk-UA"/>
              <a:t>'</a:t>
            </a:r>
            <a:r>
              <a:rPr lang="en-US"/>
              <a:t>s subject is angular and flattened.</a:t>
            </a:r>
          </a:p>
          <a:p>
            <a:pPr lvl="3"/>
            <a:r>
              <a:rPr lang="en-US"/>
              <a:t>The tradition of the accommodating female nude is subverted by her gaze.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3"/>
          <p:cNvSpPr>
            <a:spLocks noGrp="1"/>
          </p:cNvSpPr>
          <p:nvPr>
            <p:ph type="title"/>
          </p:nvPr>
        </p:nvSpPr>
        <p:spPr/>
        <p:txBody>
          <a:bodyPr>
            <a:normAutofit fontScale="90000"/>
          </a:bodyPr>
          <a:lstStyle/>
          <a:p>
            <a:r>
              <a:rPr lang="en-US" dirty="0"/>
              <a:t>Édouard Manet OLYMPIA</a:t>
            </a:r>
            <a:br>
              <a:rPr lang="en-US" dirty="0"/>
            </a:br>
            <a:r>
              <a:rPr lang="en-US" dirty="0"/>
              <a:t>1863. Oil on canvas, 4</a:t>
            </a:r>
            <a:r>
              <a:rPr lang="uk-UA" dirty="0"/>
              <a:t>'</a:t>
            </a:r>
            <a:r>
              <a:rPr lang="en-US" dirty="0"/>
              <a:t>3</a:t>
            </a:r>
            <a:r>
              <a:rPr lang="ru-RU" dirty="0"/>
              <a:t>"</a:t>
            </a:r>
            <a:r>
              <a:rPr lang="en-US" dirty="0"/>
              <a:t> × 6</a:t>
            </a:r>
            <a:r>
              <a:rPr lang="uk-UA" dirty="0"/>
              <a:t>'</a:t>
            </a:r>
            <a:r>
              <a:rPr lang="en-US" dirty="0"/>
              <a:t>2-1/4</a:t>
            </a:r>
            <a:r>
              <a:rPr lang="ru-RU" dirty="0"/>
              <a:t>"</a:t>
            </a:r>
            <a:r>
              <a:rPr lang="en-US" dirty="0"/>
              <a:t> (1.31 × 1.91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 </a:t>
            </a:r>
          </a:p>
        </p:txBody>
      </p:sp>
      <p:pic>
        <p:nvPicPr>
          <p:cNvPr id="2" name="Picture 1" descr="A nude woman reclines on a bed, still wearing her shoes, ankles crossed, one hand over her lap. Her posture obscures the shape of her body, except her breasts. Her servant seems surprised at the display, but her cat is more surprised by the viewe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9"/>
          <p:cNvSpPr>
            <a:spLocks noGrp="1"/>
          </p:cNvSpPr>
          <p:nvPr>
            <p:ph type="title"/>
          </p:nvPr>
        </p:nvSpPr>
        <p:spPr/>
        <p:txBody>
          <a:bodyPr/>
          <a:lstStyle/>
          <a:p>
            <a:r>
              <a:rPr lang="en-US"/>
              <a:t>Manet: </a:t>
            </a:r>
            <a:r>
              <a:rPr lang="ru-RU"/>
              <a:t>"</a:t>
            </a:r>
            <a:r>
              <a:rPr lang="en-US"/>
              <a:t>The Painter of Modern Life</a:t>
            </a:r>
            <a:r>
              <a:rPr lang="ru-RU"/>
              <a:t>"</a:t>
            </a:r>
            <a:br>
              <a:rPr lang="en-US"/>
            </a:br>
            <a:r>
              <a:rPr lang="en-US"/>
              <a:t>(4 of 4)</a:t>
            </a:r>
          </a:p>
        </p:txBody>
      </p:sp>
      <p:sp>
        <p:nvSpPr>
          <p:cNvPr id="79874" name="Content Placeholder 20"/>
          <p:cNvSpPr>
            <a:spLocks noGrp="1"/>
          </p:cNvSpPr>
          <p:nvPr>
            <p:ph idx="1"/>
          </p:nvPr>
        </p:nvSpPr>
        <p:spPr/>
        <p:txBody>
          <a:bodyPr/>
          <a:lstStyle/>
          <a:p>
            <a:r>
              <a:rPr lang="en-US"/>
              <a:t>Later Works</a:t>
            </a:r>
          </a:p>
          <a:p>
            <a:pPr lvl="1"/>
            <a:r>
              <a:rPr lang="en-US" i="1"/>
              <a:t>A Bar at the Folies-Bergère </a:t>
            </a:r>
            <a:r>
              <a:rPr lang="en-US"/>
              <a:t>portrays a girl hard at work in a bar, maintaining Manet</a:t>
            </a:r>
            <a:r>
              <a:rPr lang="uk-UA"/>
              <a:t>'</a:t>
            </a:r>
            <a:r>
              <a:rPr lang="en-US"/>
              <a:t>s dedication to painting modern urban life.</a:t>
            </a:r>
          </a:p>
          <a:p>
            <a:pPr lvl="2"/>
            <a:r>
              <a:rPr lang="en-US"/>
              <a:t>The piece acknowledges both her class and gender; both she and the products she sells appear to be available for purchase.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3"/>
          <p:cNvSpPr>
            <a:spLocks noGrp="1"/>
          </p:cNvSpPr>
          <p:nvPr>
            <p:ph type="title"/>
          </p:nvPr>
        </p:nvSpPr>
        <p:spPr/>
        <p:txBody>
          <a:bodyPr>
            <a:normAutofit fontScale="90000"/>
          </a:bodyPr>
          <a:lstStyle/>
          <a:p>
            <a:r>
              <a:rPr lang="en-US" dirty="0"/>
              <a:t>Édouard Manet A BAR AT THE FOLIES-BERGÈRE</a:t>
            </a:r>
            <a:br>
              <a:rPr lang="en-US" dirty="0"/>
            </a:br>
            <a:r>
              <a:rPr lang="en-US" dirty="0"/>
              <a:t>1881–1882. Oil on canvas. 37-3/4</a:t>
            </a:r>
            <a:r>
              <a:rPr lang="ru-RU" dirty="0"/>
              <a:t>"</a:t>
            </a:r>
            <a:r>
              <a:rPr lang="en-US" dirty="0"/>
              <a:t> × 51-1/4</a:t>
            </a:r>
            <a:r>
              <a:rPr lang="ru-RU" dirty="0"/>
              <a:t>"</a:t>
            </a:r>
            <a:r>
              <a:rPr lang="en-US" dirty="0"/>
              <a:t> (95.9 × 130 cm).</a:t>
            </a:r>
            <a:br>
              <a:rPr lang="en-US" dirty="0"/>
            </a:br>
            <a:r>
              <a:rPr lang="en-US" dirty="0"/>
              <a:t>The Samuel </a:t>
            </a:r>
            <a:r>
              <a:rPr lang="en-US" dirty="0" err="1"/>
              <a:t>Courtauld</a:t>
            </a:r>
            <a:r>
              <a:rPr lang="en-US" dirty="0"/>
              <a:t> Trust, The </a:t>
            </a:r>
            <a:r>
              <a:rPr lang="en-US" dirty="0" err="1"/>
              <a:t>Courtauld</a:t>
            </a:r>
            <a:r>
              <a:rPr lang="en-US" dirty="0"/>
              <a:t> Gallery, London. (P.1934.SC.234).</a:t>
            </a:r>
            <a:br>
              <a:rPr lang="en-US" dirty="0"/>
            </a:br>
            <a:r>
              <a:rPr lang="en-US" dirty="0"/>
              <a:t>© Samuel </a:t>
            </a:r>
            <a:r>
              <a:rPr lang="en-US" dirty="0" err="1"/>
              <a:t>Courtauld</a:t>
            </a:r>
            <a:r>
              <a:rPr lang="en-US" dirty="0"/>
              <a:t> Trust, The </a:t>
            </a:r>
            <a:r>
              <a:rPr lang="en-US" dirty="0" err="1"/>
              <a:t>Courtauld</a:t>
            </a:r>
            <a:r>
              <a:rPr lang="en-US" dirty="0"/>
              <a:t> Gallery, London, UK/Bridgeman Images.</a:t>
            </a:r>
            <a:br>
              <a:rPr lang="en-US" dirty="0"/>
            </a:br>
            <a:endParaRPr lang="en-US" dirty="0"/>
          </a:p>
        </p:txBody>
      </p:sp>
      <p:pic>
        <p:nvPicPr>
          <p:cNvPr id="2" name="Picture 1" descr="The barmaid’s tightly buttoned bodice is trimmed with lace at its low neckline, and decorated by a small bouquet of flowers at her cleavage, but her posture is confrontational, leaning against the bar with an impatient expression, eyebrows rais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9"/>
          <p:cNvSpPr>
            <a:spLocks noGrp="1"/>
          </p:cNvSpPr>
          <p:nvPr>
            <p:ph type="title"/>
          </p:nvPr>
        </p:nvSpPr>
        <p:spPr/>
        <p:txBody>
          <a:bodyPr/>
          <a:lstStyle/>
          <a:p>
            <a:r>
              <a:rPr lang="en-US"/>
              <a:t>Responses to Realism Beyond France</a:t>
            </a:r>
            <a:br>
              <a:rPr lang="en-US"/>
            </a:br>
            <a:r>
              <a:rPr lang="en-US"/>
              <a:t>(1 of 9)</a:t>
            </a:r>
          </a:p>
        </p:txBody>
      </p:sp>
      <p:sp>
        <p:nvSpPr>
          <p:cNvPr id="82946" name="Content Placeholder 20"/>
          <p:cNvSpPr>
            <a:spLocks noGrp="1"/>
          </p:cNvSpPr>
          <p:nvPr>
            <p:ph idx="1"/>
          </p:nvPr>
        </p:nvSpPr>
        <p:spPr/>
        <p:txBody>
          <a:bodyPr/>
          <a:lstStyle/>
          <a:p>
            <a:r>
              <a:rPr lang="en-US"/>
              <a:t>Social effects of urbanization and industrialization in other countries led to movements of art not labeled </a:t>
            </a:r>
            <a:r>
              <a:rPr lang="ru-RU"/>
              <a:t>"</a:t>
            </a:r>
            <a:r>
              <a:rPr lang="en-US"/>
              <a:t>Realism,</a:t>
            </a:r>
            <a:r>
              <a:rPr lang="ru-RU"/>
              <a:t>"</a:t>
            </a:r>
            <a:r>
              <a:rPr lang="en-US"/>
              <a:t> but called the same manner of attention to the same bleak reality the working poor experienced.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9"/>
          <p:cNvSpPr>
            <a:spLocks noGrp="1"/>
          </p:cNvSpPr>
          <p:nvPr>
            <p:ph type="title"/>
          </p:nvPr>
        </p:nvSpPr>
        <p:spPr/>
        <p:txBody>
          <a:bodyPr/>
          <a:lstStyle/>
          <a:p>
            <a:r>
              <a:rPr lang="en-US"/>
              <a:t>Responses to Realism Beyond France</a:t>
            </a:r>
            <a:br>
              <a:rPr lang="en-US"/>
            </a:br>
            <a:r>
              <a:rPr lang="en-US"/>
              <a:t>(2 of 9)</a:t>
            </a:r>
          </a:p>
        </p:txBody>
      </p:sp>
      <p:sp>
        <p:nvSpPr>
          <p:cNvPr id="83970" name="Content Placeholder 20"/>
          <p:cNvSpPr>
            <a:spLocks noGrp="1"/>
          </p:cNvSpPr>
          <p:nvPr>
            <p:ph idx="1"/>
          </p:nvPr>
        </p:nvSpPr>
        <p:spPr/>
        <p:txBody>
          <a:bodyPr/>
          <a:lstStyle/>
          <a:p>
            <a:r>
              <a:rPr lang="en-US"/>
              <a:t>Realism in Russia: The Wanderers</a:t>
            </a:r>
          </a:p>
          <a:p>
            <a:pPr lvl="1"/>
            <a:r>
              <a:rPr lang="en-US"/>
              <a:t>Reacting against escapist aesthetics of the St. Petersburg Academy of Art, a group of artists reasserted what they called authentic Russian culture.</a:t>
            </a:r>
          </a:p>
          <a:p>
            <a:pPr lvl="1"/>
            <a:r>
              <a:rPr lang="en-US" i="1"/>
              <a:t>Bargehaulers on the Volga </a:t>
            </a:r>
            <a:r>
              <a:rPr lang="en-US"/>
              <a:t>evoked sympathy for a group of peasants in a call to action against the labor practices on the Volga River.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3"/>
          <p:cNvSpPr>
            <a:spLocks noGrp="1"/>
          </p:cNvSpPr>
          <p:nvPr>
            <p:ph type="title"/>
          </p:nvPr>
        </p:nvSpPr>
        <p:spPr/>
        <p:txBody>
          <a:bodyPr>
            <a:normAutofit fontScale="90000"/>
          </a:bodyPr>
          <a:lstStyle/>
          <a:p>
            <a:r>
              <a:rPr lang="en-US" dirty="0"/>
              <a:t>Ilya </a:t>
            </a:r>
            <a:r>
              <a:rPr lang="en-US" dirty="0" err="1"/>
              <a:t>Repin</a:t>
            </a:r>
            <a:r>
              <a:rPr lang="en-US" dirty="0"/>
              <a:t> BARGEHAULERS ON THE VOLGA</a:t>
            </a:r>
            <a:br>
              <a:rPr lang="en-US" dirty="0"/>
            </a:br>
            <a:r>
              <a:rPr lang="en-US" dirty="0"/>
              <a:t>1870–1873. Oil on canvas, 4</a:t>
            </a:r>
            <a:r>
              <a:rPr lang="uk-UA" dirty="0"/>
              <a:t>'</a:t>
            </a:r>
            <a:r>
              <a:rPr lang="en-US" dirty="0"/>
              <a:t>3-3/4</a:t>
            </a:r>
            <a:r>
              <a:rPr lang="ru-RU" dirty="0"/>
              <a:t>"</a:t>
            </a:r>
            <a:r>
              <a:rPr lang="en-US" dirty="0"/>
              <a:t> × 9</a:t>
            </a:r>
            <a:r>
              <a:rPr lang="uk-UA" dirty="0"/>
              <a:t>'</a:t>
            </a:r>
            <a:r>
              <a:rPr lang="en-US" dirty="0"/>
              <a:t>3</a:t>
            </a:r>
            <a:r>
              <a:rPr lang="ru-RU" dirty="0"/>
              <a:t>"</a:t>
            </a:r>
            <a:r>
              <a:rPr lang="en-US" dirty="0"/>
              <a:t> (1.3 × 2.81 m).</a:t>
            </a:r>
            <a:br>
              <a:rPr lang="en-US" dirty="0"/>
            </a:br>
            <a:r>
              <a:rPr lang="en-US" dirty="0"/>
              <a:t>State Russian Museum, St. Petersburg. © </a:t>
            </a:r>
            <a:r>
              <a:rPr lang="en-US" dirty="0" err="1"/>
              <a:t>akg</a:t>
            </a:r>
            <a:r>
              <a:rPr lang="en-US" dirty="0"/>
              <a:t>-images. </a:t>
            </a:r>
          </a:p>
        </p:txBody>
      </p:sp>
      <p:pic>
        <p:nvPicPr>
          <p:cNvPr id="2" name="Picture 1" descr="Approximately a dozen men with leathery skin and ragged clothing pull a large ship up a shallow river, across an arid, desolate landscape, by trudging up the riverbank in a team, leaning into harnesses strapped across their chests and shoulde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9"/>
          <p:cNvSpPr>
            <a:spLocks noGrp="1"/>
          </p:cNvSpPr>
          <p:nvPr>
            <p:ph type="title"/>
          </p:nvPr>
        </p:nvSpPr>
        <p:spPr/>
        <p:txBody>
          <a:bodyPr/>
          <a:lstStyle/>
          <a:p>
            <a:r>
              <a:rPr lang="en-US"/>
              <a:t>Responses to Realism Beyond France</a:t>
            </a:r>
            <a:br>
              <a:rPr lang="en-US"/>
            </a:br>
            <a:r>
              <a:rPr lang="en-US"/>
              <a:t>(3 of 9)</a:t>
            </a:r>
          </a:p>
        </p:txBody>
      </p:sp>
      <p:sp>
        <p:nvSpPr>
          <p:cNvPr id="87042" name="Content Placeholder 20"/>
          <p:cNvSpPr>
            <a:spLocks noGrp="1"/>
          </p:cNvSpPr>
          <p:nvPr>
            <p:ph idx="1"/>
          </p:nvPr>
        </p:nvSpPr>
        <p:spPr/>
        <p:txBody>
          <a:bodyPr/>
          <a:lstStyle/>
          <a:p>
            <a:r>
              <a:rPr lang="en-US"/>
              <a:t>Realism in the United States: A Continuing Tradition</a:t>
            </a:r>
          </a:p>
          <a:p>
            <a:pPr lvl="1"/>
            <a:r>
              <a:rPr lang="en-US"/>
              <a:t>Realism was unbroken in American painting as far back as Colonial portrait painters.</a:t>
            </a:r>
          </a:p>
          <a:p>
            <a:pPr lvl="1"/>
            <a:r>
              <a:rPr lang="en-US"/>
              <a:t>Philadelphia artist Thomas Eakins specialized in frank portraits.</a:t>
            </a:r>
          </a:p>
          <a:p>
            <a:pPr lvl="2"/>
            <a:r>
              <a:rPr lang="en-US" i="1"/>
              <a:t>The Gross Clinic </a:t>
            </a:r>
            <a:r>
              <a:rPr lang="en-US"/>
              <a:t>was controversial because surgery was deemed an unfit subject for art.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3"/>
          <p:cNvSpPr>
            <a:spLocks noGrp="1"/>
          </p:cNvSpPr>
          <p:nvPr>
            <p:ph type="title"/>
          </p:nvPr>
        </p:nvSpPr>
        <p:spPr>
          <a:xfrm>
            <a:off x="457200" y="5715000"/>
            <a:ext cx="8229600" cy="685800"/>
          </a:xfrm>
        </p:spPr>
        <p:txBody>
          <a:bodyPr>
            <a:normAutofit fontScale="90000"/>
          </a:bodyPr>
          <a:lstStyle/>
          <a:p>
            <a:r>
              <a:rPr lang="en-US" dirty="0"/>
              <a:t>Thomas Eakins THE GROSS CLINIC</a:t>
            </a:r>
            <a:br>
              <a:rPr lang="en-US" dirty="0"/>
            </a:br>
            <a:r>
              <a:rPr lang="en-US" dirty="0"/>
              <a:t>1875. Oil on canvas, 8</a:t>
            </a:r>
            <a:r>
              <a:rPr lang="uk-UA" dirty="0"/>
              <a:t>'</a:t>
            </a:r>
            <a:r>
              <a:rPr lang="en-US" dirty="0"/>
              <a:t> × 6</a:t>
            </a:r>
            <a:r>
              <a:rPr lang="uk-UA" dirty="0"/>
              <a:t>'</a:t>
            </a:r>
            <a:r>
              <a:rPr lang="en-US" dirty="0"/>
              <a:t>5</a:t>
            </a:r>
            <a:r>
              <a:rPr lang="ru-RU" dirty="0"/>
              <a:t>"</a:t>
            </a:r>
            <a:r>
              <a:rPr lang="en-US" dirty="0"/>
              <a:t> (2.44 × 1.98 m).</a:t>
            </a:r>
            <a:br>
              <a:rPr lang="en-US" dirty="0"/>
            </a:br>
            <a:r>
              <a:rPr lang="en-US" dirty="0"/>
              <a:t>Philadelphia Museum of Art, Pennsylvania. Gift of the Alumni Association to Jefferson Medical College in 1878 and purchased by the Pennsylvania Academy of the Fine Arts and the Philadelphia Museum of Art in 2007. © 2016. Photo The Philadelphia Museum of Art/Art Resource/Scala, Florence.</a:t>
            </a:r>
          </a:p>
        </p:txBody>
      </p:sp>
      <p:pic>
        <p:nvPicPr>
          <p:cNvPr id="2" name="Picture 1" descr="A balding, white-haired man in a black suit looks up from his operating table in a surgical theater, speaking to the students seated above and around. As he speaks, his four assistants continue to work on the patient’s body, cutting open the thigh.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152400"/>
            <a:ext cx="8107680" cy="5031232"/>
          </a:xfrm>
          <a:prstGeom prst="rect">
            <a:avLst/>
          </a:prstGeom>
        </p:spPr>
      </p:pic>
    </p:spTree>
  </p:cSld>
  <p:clrMapOvr>
    <a:masterClrMapping/>
  </p:clrMapOvr>
  <p:transition spd="slow"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9"/>
          <p:cNvSpPr>
            <a:spLocks noGrp="1"/>
          </p:cNvSpPr>
          <p:nvPr>
            <p:ph type="title"/>
          </p:nvPr>
        </p:nvSpPr>
        <p:spPr/>
        <p:txBody>
          <a:bodyPr/>
          <a:lstStyle/>
          <a:p>
            <a:r>
              <a:rPr lang="en-US"/>
              <a:t>Responses to Realism Beyond France</a:t>
            </a:r>
            <a:br>
              <a:rPr lang="en-US"/>
            </a:br>
            <a:r>
              <a:rPr lang="en-US"/>
              <a:t>(4 of 9)</a:t>
            </a:r>
          </a:p>
        </p:txBody>
      </p:sp>
      <p:sp>
        <p:nvSpPr>
          <p:cNvPr id="90114" name="Content Placeholder 20"/>
          <p:cNvSpPr>
            <a:spLocks noGrp="1"/>
          </p:cNvSpPr>
          <p:nvPr>
            <p:ph idx="1"/>
          </p:nvPr>
        </p:nvSpPr>
        <p:spPr/>
        <p:txBody>
          <a:bodyPr/>
          <a:lstStyle/>
          <a:p>
            <a:r>
              <a:rPr lang="en-US"/>
              <a:t>Realism in the United States: A Continuing Tradition</a:t>
            </a:r>
          </a:p>
          <a:p>
            <a:pPr lvl="1"/>
            <a:r>
              <a:rPr lang="en-US"/>
              <a:t>Winslow Homer was a reporter and illustrator for </a:t>
            </a:r>
            <a:r>
              <a:rPr lang="en-US" i="1"/>
              <a:t>Harper</a:t>
            </a:r>
            <a:r>
              <a:rPr lang="uk-UA" i="1"/>
              <a:t>'</a:t>
            </a:r>
            <a:r>
              <a:rPr lang="en-US" i="1"/>
              <a:t>s Weekly</a:t>
            </a:r>
            <a:r>
              <a:rPr lang="en-US"/>
              <a:t>, producing works of the Civil War.</a:t>
            </a:r>
          </a:p>
          <a:p>
            <a:pPr lvl="2"/>
            <a:r>
              <a:rPr lang="en-US"/>
              <a:t>Later, he created </a:t>
            </a:r>
            <a:r>
              <a:rPr lang="en-US" i="1"/>
              <a:t>The Life Line</a:t>
            </a:r>
            <a:r>
              <a:rPr lang="en-US"/>
              <a:t>, depicting a coast guard saving a shipwrecked woman with a breeches buoy.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3"/>
          <p:cNvSpPr>
            <a:spLocks noGrp="1"/>
          </p:cNvSpPr>
          <p:nvPr>
            <p:ph type="title"/>
          </p:nvPr>
        </p:nvSpPr>
        <p:spPr/>
        <p:txBody>
          <a:bodyPr>
            <a:normAutofit fontScale="90000"/>
          </a:bodyPr>
          <a:lstStyle/>
          <a:p>
            <a:r>
              <a:rPr lang="en-US" dirty="0"/>
              <a:t>Winslow Homer THE LIFE LINE</a:t>
            </a:r>
            <a:br>
              <a:rPr lang="en-US" dirty="0"/>
            </a:br>
            <a:r>
              <a:rPr lang="en-US" dirty="0"/>
              <a:t>1884. Oil on canvas, 28-3/4</a:t>
            </a:r>
            <a:r>
              <a:rPr lang="ru-RU" dirty="0"/>
              <a:t>"</a:t>
            </a:r>
            <a:r>
              <a:rPr lang="en-US" dirty="0"/>
              <a:t> × 44-5/8</a:t>
            </a:r>
            <a:r>
              <a:rPr lang="ru-RU" dirty="0"/>
              <a:t>"</a:t>
            </a:r>
            <a:r>
              <a:rPr lang="en-US" dirty="0"/>
              <a:t> (73 × 113.3 cm).</a:t>
            </a:r>
            <a:br>
              <a:rPr lang="en-US" dirty="0"/>
            </a:br>
            <a:r>
              <a:rPr lang="en-US" dirty="0"/>
              <a:t>Philadelphia Museum of Art, Pennsylvania. The George W. Elkins Collection, 1924.</a:t>
            </a:r>
            <a:br>
              <a:rPr lang="en-US" dirty="0"/>
            </a:br>
            <a:r>
              <a:rPr lang="en-US" dirty="0"/>
              <a:t>© 2016. Photo The Philadelphia Museum of Art/Art Resource/Scala, Florence. </a:t>
            </a:r>
          </a:p>
        </p:txBody>
      </p:sp>
      <p:pic>
        <p:nvPicPr>
          <p:cNvPr id="2" name="Picture 1" descr="A rope is strung across the top of the frame, with crashing ocean waves below. At center, a small, square platform hangs from the rope and is pulled to the right, away from a shipwreck. On the platform, a man holds the body of an unconscious woman.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9"/>
          <p:cNvSpPr>
            <a:spLocks noGrp="1"/>
          </p:cNvSpPr>
          <p:nvPr>
            <p:ph type="title"/>
          </p:nvPr>
        </p:nvSpPr>
        <p:spPr/>
        <p:txBody>
          <a:bodyPr/>
          <a:lstStyle/>
          <a:p>
            <a:r>
              <a:rPr lang="en-US"/>
              <a:t>Responses to Realism Beyond France</a:t>
            </a:r>
            <a:br>
              <a:rPr lang="en-US"/>
            </a:br>
            <a:r>
              <a:rPr lang="en-US"/>
              <a:t>(5 of 9)</a:t>
            </a:r>
          </a:p>
        </p:txBody>
      </p:sp>
      <p:sp>
        <p:nvSpPr>
          <p:cNvPr id="93186" name="Content Placeholder 20"/>
          <p:cNvSpPr>
            <a:spLocks noGrp="1"/>
          </p:cNvSpPr>
          <p:nvPr>
            <p:ph idx="1"/>
          </p:nvPr>
        </p:nvSpPr>
        <p:spPr/>
        <p:txBody>
          <a:bodyPr/>
          <a:lstStyle/>
          <a:p>
            <a:r>
              <a:rPr lang="en-US"/>
              <a:t>Realism in the United States: A Continuing Tradition</a:t>
            </a:r>
          </a:p>
          <a:p>
            <a:pPr lvl="1"/>
            <a:r>
              <a:rPr lang="en-US"/>
              <a:t>Edmonia Lewis created highly successful busts and medallions of abolitionist leaders and Civil War heroes.</a:t>
            </a:r>
          </a:p>
          <a:p>
            <a:pPr lvl="2"/>
            <a:r>
              <a:rPr lang="en-US"/>
              <a:t>Inspired by the struggle of recently freed slaves for equality, she created </a:t>
            </a:r>
            <a:r>
              <a:rPr lang="en-US" i="1"/>
              <a:t>Forever Free </a:t>
            </a:r>
            <a:r>
              <a:rPr lang="en-US"/>
              <a:t>to commemorate the Emancipation Proclamation.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3"/>
          <p:cNvSpPr>
            <a:spLocks noGrp="1"/>
          </p:cNvSpPr>
          <p:nvPr>
            <p:ph type="title"/>
          </p:nvPr>
        </p:nvSpPr>
        <p:spPr/>
        <p:txBody>
          <a:bodyPr>
            <a:normAutofit fontScale="90000"/>
          </a:bodyPr>
          <a:lstStyle/>
          <a:p>
            <a:r>
              <a:rPr lang="en-US" dirty="0" err="1"/>
              <a:t>Edmonia</a:t>
            </a:r>
            <a:r>
              <a:rPr lang="en-US" dirty="0"/>
              <a:t> Lewis FOREVER FREE</a:t>
            </a:r>
            <a:br>
              <a:rPr lang="en-US" dirty="0"/>
            </a:br>
            <a:r>
              <a:rPr lang="en-US" dirty="0"/>
              <a:t>1867. Marble, 41-1/4 × 22 × 17</a:t>
            </a:r>
            <a:r>
              <a:rPr lang="ru-RU" dirty="0"/>
              <a:t>"</a:t>
            </a:r>
            <a:r>
              <a:rPr lang="en-US" dirty="0"/>
              <a:t> (104.8 × 55 × 43.2 cm).</a:t>
            </a:r>
            <a:br>
              <a:rPr lang="en-US" dirty="0"/>
            </a:br>
            <a:r>
              <a:rPr lang="en-US" dirty="0"/>
              <a:t>Howard University Gallery of Art, Washington, DC. </a:t>
            </a:r>
          </a:p>
        </p:txBody>
      </p:sp>
      <p:pic>
        <p:nvPicPr>
          <p:cNvPr id="2" name="Picture 1" descr="Other than his cut shackles, the liberated slave wears nothing but a pair of short pants, resembling modern boxer shorts. He places his hand on the shoulder of the woman kneeling next to him, who wears a simple dres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9"/>
          <p:cNvSpPr>
            <a:spLocks noGrp="1"/>
          </p:cNvSpPr>
          <p:nvPr>
            <p:ph type="title"/>
          </p:nvPr>
        </p:nvSpPr>
        <p:spPr/>
        <p:txBody>
          <a:bodyPr/>
          <a:lstStyle/>
          <a:p>
            <a:r>
              <a:rPr lang="en-US"/>
              <a:t>Responses to Realism Beyond France</a:t>
            </a:r>
            <a:br>
              <a:rPr lang="en-US"/>
            </a:br>
            <a:r>
              <a:rPr lang="en-US"/>
              <a:t>(6 of 9)</a:t>
            </a:r>
          </a:p>
        </p:txBody>
      </p:sp>
      <p:sp>
        <p:nvSpPr>
          <p:cNvPr id="96258" name="Content Placeholder 20"/>
          <p:cNvSpPr>
            <a:spLocks noGrp="1"/>
          </p:cNvSpPr>
          <p:nvPr>
            <p:ph idx="1"/>
          </p:nvPr>
        </p:nvSpPr>
        <p:spPr/>
        <p:txBody>
          <a:bodyPr/>
          <a:lstStyle/>
          <a:p>
            <a:r>
              <a:rPr lang="en-US"/>
              <a:t>Realism in the United States: A Continuing Tradition</a:t>
            </a:r>
          </a:p>
          <a:p>
            <a:pPr lvl="1"/>
            <a:r>
              <a:rPr lang="en-US"/>
              <a:t>Henry Ossawa Tanner</a:t>
            </a:r>
            <a:r>
              <a:rPr lang="uk-UA"/>
              <a:t>'</a:t>
            </a:r>
            <a:r>
              <a:rPr lang="en-US"/>
              <a:t>s painting received favorable critical attention after he moved from Atlanta to Paris.</a:t>
            </a:r>
          </a:p>
          <a:p>
            <a:pPr lvl="2"/>
            <a:r>
              <a:rPr lang="en-US" i="1"/>
              <a:t>The Banjo Lesson </a:t>
            </a:r>
            <a:r>
              <a:rPr lang="en-US"/>
              <a:t>is a humanizing image of African-American life, where an elderly man teaches a young boy with serious concentration.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3"/>
          <p:cNvSpPr>
            <a:spLocks noGrp="1"/>
          </p:cNvSpPr>
          <p:nvPr>
            <p:ph type="title"/>
          </p:nvPr>
        </p:nvSpPr>
        <p:spPr/>
        <p:txBody>
          <a:bodyPr>
            <a:normAutofit fontScale="90000"/>
          </a:bodyPr>
          <a:lstStyle/>
          <a:p>
            <a:r>
              <a:rPr lang="en-US" dirty="0"/>
              <a:t>Henry </a:t>
            </a:r>
            <a:r>
              <a:rPr lang="en-US" dirty="0" err="1"/>
              <a:t>Ossawa</a:t>
            </a:r>
            <a:r>
              <a:rPr lang="en-US" dirty="0"/>
              <a:t> Tanner THE BANJO LESSON</a:t>
            </a:r>
            <a:br>
              <a:rPr lang="en-US" dirty="0"/>
            </a:br>
            <a:r>
              <a:rPr lang="en-US" dirty="0"/>
              <a:t>1893. Oil on canvas, 49 × 35-1/2</a:t>
            </a:r>
            <a:r>
              <a:rPr lang="ru-RU" dirty="0"/>
              <a:t>"</a:t>
            </a:r>
            <a:r>
              <a:rPr lang="en-US" dirty="0"/>
              <a:t> (124.4 × 90 cm).</a:t>
            </a:r>
            <a:br>
              <a:rPr lang="en-US" dirty="0"/>
            </a:br>
            <a:r>
              <a:rPr lang="en-US" dirty="0"/>
              <a:t>Hampton University Museum, Virginia. Hampton University’s Archival and Museum Collection Hampton University. </a:t>
            </a:r>
          </a:p>
        </p:txBody>
      </p:sp>
      <p:pic>
        <p:nvPicPr>
          <p:cNvPr id="2" name="Picture 1" descr="A white-bearded African American man sits in a chair in the middle of a household kitchen, with an African-American boy on his lap, holding a banjo. The man places his hand on the banjo’s neck to help the boy play the correct notes as he strums the string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9"/>
          <p:cNvSpPr>
            <a:spLocks noGrp="1"/>
          </p:cNvSpPr>
          <p:nvPr>
            <p:ph type="title"/>
          </p:nvPr>
        </p:nvSpPr>
        <p:spPr/>
        <p:txBody>
          <a:bodyPr/>
          <a:lstStyle/>
          <a:p>
            <a:r>
              <a:rPr lang="en-US"/>
              <a:t>Responses to Realism Beyond France</a:t>
            </a:r>
            <a:br>
              <a:rPr lang="en-US"/>
            </a:br>
            <a:r>
              <a:rPr lang="en-US"/>
              <a:t>(7 of 9)</a:t>
            </a:r>
          </a:p>
        </p:txBody>
      </p:sp>
      <p:sp>
        <p:nvSpPr>
          <p:cNvPr id="99330" name="Content Placeholder 20"/>
          <p:cNvSpPr>
            <a:spLocks noGrp="1"/>
          </p:cNvSpPr>
          <p:nvPr>
            <p:ph idx="1"/>
          </p:nvPr>
        </p:nvSpPr>
        <p:spPr/>
        <p:txBody>
          <a:bodyPr/>
          <a:lstStyle/>
          <a:p>
            <a:r>
              <a:rPr lang="en-US"/>
              <a:t>Developments in Britain</a:t>
            </a:r>
          </a:p>
          <a:p>
            <a:pPr lvl="1"/>
            <a:r>
              <a:rPr lang="en-US"/>
              <a:t>In England, artists looked to art of the Middle Ages and Early Renaissance for beauty, naturalism, and moralizing spirituality they found was lacking.</a:t>
            </a:r>
          </a:p>
          <a:p>
            <a:pPr lvl="1"/>
            <a:r>
              <a:rPr lang="en-US"/>
              <a:t>Rossetti</a:t>
            </a:r>
            <a:r>
              <a:rPr lang="uk-UA"/>
              <a:t>'</a:t>
            </a:r>
            <a:r>
              <a:rPr lang="en-US"/>
              <a:t>s </a:t>
            </a:r>
            <a:r>
              <a:rPr lang="en-US" i="1"/>
              <a:t>La Pia de</a:t>
            </a:r>
            <a:r>
              <a:rPr lang="uk-UA" i="1"/>
              <a:t>'</a:t>
            </a:r>
            <a:r>
              <a:rPr lang="en-US" i="1"/>
              <a:t> Tolomei </a:t>
            </a:r>
            <a:r>
              <a:rPr lang="en-US"/>
              <a:t>illustrates a story from Dante</a:t>
            </a:r>
            <a:r>
              <a:rPr lang="uk-UA"/>
              <a:t>'</a:t>
            </a:r>
            <a:r>
              <a:rPr lang="en-US"/>
              <a:t>s </a:t>
            </a:r>
            <a:r>
              <a:rPr lang="en-US" i="1"/>
              <a:t>Purgatory</a:t>
            </a:r>
            <a:r>
              <a:rPr lang="en-US"/>
              <a:t>.</a:t>
            </a:r>
          </a:p>
          <a:p>
            <a:pPr lvl="2"/>
            <a:r>
              <a:rPr lang="en-US"/>
              <a:t>It is rich with symbolism, implying that La Pia (the pious one) is a captive within her marriage.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3"/>
          <p:cNvSpPr>
            <a:spLocks noGrp="1"/>
          </p:cNvSpPr>
          <p:nvPr>
            <p:ph type="title"/>
          </p:nvPr>
        </p:nvSpPr>
        <p:spPr/>
        <p:txBody>
          <a:bodyPr>
            <a:normAutofit fontScale="90000"/>
          </a:bodyPr>
          <a:lstStyle/>
          <a:p>
            <a:r>
              <a:rPr lang="en-US" dirty="0"/>
              <a:t>Dante Gabriel Rossetti LA PIA DE</a:t>
            </a:r>
            <a:r>
              <a:rPr lang="uk-UA" dirty="0"/>
              <a:t>'</a:t>
            </a:r>
            <a:r>
              <a:rPr lang="en-US" dirty="0"/>
              <a:t> TOLOMEI</a:t>
            </a:r>
            <a:br>
              <a:rPr lang="en-US" dirty="0"/>
            </a:br>
            <a:r>
              <a:rPr lang="en-US" dirty="0"/>
              <a:t>1868–1869. Oil on canvas, 41-1/2</a:t>
            </a:r>
            <a:r>
              <a:rPr lang="ru-RU" dirty="0"/>
              <a:t>"</a:t>
            </a:r>
            <a:r>
              <a:rPr lang="en-US" dirty="0"/>
              <a:t> × 47-1/2</a:t>
            </a:r>
            <a:r>
              <a:rPr lang="ru-RU" dirty="0"/>
              <a:t>"</a:t>
            </a:r>
            <a:r>
              <a:rPr lang="en-US" dirty="0"/>
              <a:t> (105.4 × 119.4 cm).</a:t>
            </a:r>
            <a:br>
              <a:rPr lang="en-US" dirty="0"/>
            </a:br>
            <a:r>
              <a:rPr lang="en-US" dirty="0"/>
              <a:t>Spencer Museum of Art, The University of Kansas. (1956.0031) </a:t>
            </a:r>
          </a:p>
        </p:txBody>
      </p:sp>
      <p:pic>
        <p:nvPicPr>
          <p:cNvPr id="2" name="Picture 1" descr="The curly-haired woman known as, La Pia, sits in contemplation high in a castle, twisting her wedding ring on her finger. A bundle of long-shafted spears lie behind the crenellations at the edge of the wal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9"/>
          <p:cNvSpPr>
            <a:spLocks noGrp="1"/>
          </p:cNvSpPr>
          <p:nvPr>
            <p:ph type="title"/>
          </p:nvPr>
        </p:nvSpPr>
        <p:spPr/>
        <p:txBody>
          <a:bodyPr/>
          <a:lstStyle/>
          <a:p>
            <a:r>
              <a:rPr lang="en-US"/>
              <a:t>Responses to Realism Beyond France</a:t>
            </a:r>
            <a:br>
              <a:rPr lang="en-US"/>
            </a:br>
            <a:r>
              <a:rPr lang="en-US"/>
              <a:t>(8 of 9)</a:t>
            </a:r>
          </a:p>
        </p:txBody>
      </p:sp>
      <p:sp>
        <p:nvSpPr>
          <p:cNvPr id="102402" name="Content Placeholder 20"/>
          <p:cNvSpPr>
            <a:spLocks noGrp="1"/>
          </p:cNvSpPr>
          <p:nvPr>
            <p:ph idx="1"/>
          </p:nvPr>
        </p:nvSpPr>
        <p:spPr/>
        <p:txBody>
          <a:bodyPr/>
          <a:lstStyle/>
          <a:p>
            <a:r>
              <a:rPr lang="en-US"/>
              <a:t>Developments in Britain</a:t>
            </a:r>
          </a:p>
          <a:p>
            <a:pPr lvl="1"/>
            <a:r>
              <a:rPr lang="en-US"/>
              <a:t>William Morris argued for handcrafted objects over gaudy and shoddy industrially-produced goods.</a:t>
            </a:r>
          </a:p>
          <a:p>
            <a:pPr lvl="2"/>
            <a:r>
              <a:rPr lang="en-US"/>
              <a:t>He founded a decorating firm to produce a full range of domestic products.</a:t>
            </a:r>
          </a:p>
          <a:p>
            <a:pPr lvl="2"/>
            <a:r>
              <a:rPr lang="en-US"/>
              <a:t>Some products were relatively affordable, such as the rush-seated </a:t>
            </a:r>
            <a:r>
              <a:rPr lang="en-US" i="1"/>
              <a:t>Chair</a:t>
            </a:r>
            <a:r>
              <a:rPr lang="en-US"/>
              <a:t> shown on the next slide.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3"/>
          <p:cNvSpPr>
            <a:spLocks noGrp="1"/>
          </p:cNvSpPr>
          <p:nvPr>
            <p:ph type="title"/>
          </p:nvPr>
        </p:nvSpPr>
        <p:spPr>
          <a:xfrm>
            <a:off x="457200" y="5486400"/>
            <a:ext cx="8229600" cy="685800"/>
          </a:xfrm>
        </p:spPr>
        <p:txBody>
          <a:bodyPr>
            <a:normAutofit fontScale="90000"/>
          </a:bodyPr>
          <a:lstStyle/>
          <a:p>
            <a:r>
              <a:rPr lang="en-US" dirty="0"/>
              <a:t>Philip Webb and William Morris </a:t>
            </a:r>
            <a:r>
              <a:rPr lang="ru-RU" dirty="0"/>
              <a:t>"</a:t>
            </a:r>
            <a:r>
              <a:rPr lang="en-US" dirty="0"/>
              <a:t>SUSSEX</a:t>
            </a:r>
            <a:r>
              <a:rPr lang="ru-RU" dirty="0"/>
              <a:t>"</a:t>
            </a:r>
            <a:r>
              <a:rPr lang="en-US" dirty="0"/>
              <a:t> CHAIR and </a:t>
            </a:r>
            <a:r>
              <a:rPr lang="ru-RU" dirty="0"/>
              <a:t>"</a:t>
            </a:r>
            <a:r>
              <a:rPr lang="en-US" dirty="0"/>
              <a:t>PEACOCK AND DRAGON</a:t>
            </a:r>
            <a:r>
              <a:rPr lang="ru-RU" dirty="0"/>
              <a:t>"</a:t>
            </a:r>
            <a:r>
              <a:rPr lang="en-US" dirty="0"/>
              <a:t> CURTAIN</a:t>
            </a:r>
            <a:br>
              <a:rPr lang="en-US" dirty="0"/>
            </a:br>
            <a:r>
              <a:rPr lang="en-US" dirty="0"/>
              <a:t>Chair (by Webb): In production from c. 1865.</a:t>
            </a:r>
            <a:br>
              <a:rPr lang="en-US" dirty="0"/>
            </a:br>
            <a:r>
              <a:rPr lang="en-US" dirty="0"/>
              <a:t>Ebonized wood with rush seat, 33</a:t>
            </a:r>
            <a:r>
              <a:rPr lang="ru-RU" dirty="0"/>
              <a:t>"</a:t>
            </a:r>
            <a:r>
              <a:rPr lang="en-US" dirty="0"/>
              <a:t> × 16 1/2</a:t>
            </a:r>
            <a:r>
              <a:rPr lang="ru-RU" dirty="0"/>
              <a:t>"</a:t>
            </a:r>
            <a:r>
              <a:rPr lang="en-US" dirty="0"/>
              <a:t> × 14</a:t>
            </a:r>
            <a:r>
              <a:rPr lang="ru-RU" dirty="0"/>
              <a:t>"</a:t>
            </a:r>
            <a:r>
              <a:rPr lang="en-US" dirty="0"/>
              <a:t> (83.8 × 42 × 35.6 cm).</a:t>
            </a:r>
            <a:br>
              <a:rPr lang="en-US" dirty="0"/>
            </a:br>
            <a:r>
              <a:rPr lang="en-US" dirty="0"/>
              <a:t>Curtain (by Morris): 1878. Handloomed jacquard-woven woolen twill, 12</a:t>
            </a:r>
            <a:r>
              <a:rPr lang="uk-UA" dirty="0"/>
              <a:t>'</a:t>
            </a:r>
            <a:r>
              <a:rPr lang="en-US" dirty="0"/>
              <a:t>10-1/2</a:t>
            </a:r>
            <a:r>
              <a:rPr lang="ru-RU" dirty="0"/>
              <a:t>"</a:t>
            </a:r>
            <a:r>
              <a:rPr lang="en-US" dirty="0"/>
              <a:t> × 11</a:t>
            </a:r>
            <a:r>
              <a:rPr lang="uk-UA" dirty="0"/>
              <a:t>'</a:t>
            </a:r>
            <a:r>
              <a:rPr lang="en-US" dirty="0"/>
              <a:t>5-5/8</a:t>
            </a:r>
            <a:r>
              <a:rPr lang="ru-RU" dirty="0"/>
              <a:t>"</a:t>
            </a:r>
            <a:r>
              <a:rPr lang="en-US" dirty="0"/>
              <a:t> (3.96 × 3.53 m). Chair and curtain manufactured by Morris &amp; Company. The William Morris Gallery, London Borough of Waltham Forest. The William Morris Gallery, London, E17, England. </a:t>
            </a:r>
          </a:p>
        </p:txBody>
      </p:sp>
      <p:pic>
        <p:nvPicPr>
          <p:cNvPr id="2" name="Picture 1" descr="A black chair sits on a polished wooden floor, in front of a curtain patterned with natural designs in blue and peach hues. The chair is constructed from black dowels, with a square seat woven from reed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179" y="228600"/>
            <a:ext cx="7367641" cy="4572000"/>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9"/>
          <p:cNvSpPr>
            <a:spLocks noGrp="1"/>
          </p:cNvSpPr>
          <p:nvPr>
            <p:ph type="title"/>
          </p:nvPr>
        </p:nvSpPr>
        <p:spPr/>
        <p:txBody>
          <a:bodyPr/>
          <a:lstStyle/>
          <a:p>
            <a:r>
              <a:rPr lang="en-US"/>
              <a:t>Responses to Realism Beyond France</a:t>
            </a:r>
            <a:br>
              <a:rPr lang="en-US"/>
            </a:br>
            <a:r>
              <a:rPr lang="en-US"/>
              <a:t>(9 of 9)</a:t>
            </a:r>
          </a:p>
        </p:txBody>
      </p:sp>
      <p:sp>
        <p:nvSpPr>
          <p:cNvPr id="105474" name="Content Placeholder 20"/>
          <p:cNvSpPr>
            <a:spLocks noGrp="1"/>
          </p:cNvSpPr>
          <p:nvPr>
            <p:ph idx="1"/>
          </p:nvPr>
        </p:nvSpPr>
        <p:spPr/>
        <p:txBody>
          <a:bodyPr/>
          <a:lstStyle/>
          <a:p>
            <a:r>
              <a:rPr lang="en-US"/>
              <a:t>Developments in Britain</a:t>
            </a:r>
          </a:p>
          <a:p>
            <a:pPr lvl="1"/>
            <a:r>
              <a:rPr lang="en-US"/>
              <a:t>James Abbott McNeill Whistler sought to satisfy an elitist taste for pure beauty.</a:t>
            </a:r>
          </a:p>
          <a:p>
            <a:pPr lvl="2"/>
            <a:r>
              <a:rPr lang="en-US"/>
              <a:t>His art was of pure aesthetic value.</a:t>
            </a:r>
          </a:p>
          <a:p>
            <a:pPr lvl="2"/>
            <a:r>
              <a:rPr lang="en-US" i="1"/>
              <a:t>Nocturne in Black and Gold, the Falling Rocket </a:t>
            </a:r>
            <a:r>
              <a:rPr lang="en-US"/>
              <a:t>depicts a fireworks show with several observers in the foreground.</a:t>
            </a:r>
          </a:p>
          <a:p>
            <a:pPr lvl="3"/>
            <a:r>
              <a:rPr lang="en-US"/>
              <a:t>It was criticized as unfinished, or as flinging paint in the audience</a:t>
            </a:r>
            <a:r>
              <a:rPr lang="uk-UA"/>
              <a:t>'</a:t>
            </a:r>
            <a:r>
              <a:rPr lang="en-US"/>
              <a:t>s face.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3"/>
          <p:cNvSpPr>
            <a:spLocks noGrp="1"/>
          </p:cNvSpPr>
          <p:nvPr>
            <p:ph type="title"/>
          </p:nvPr>
        </p:nvSpPr>
        <p:spPr/>
        <p:txBody>
          <a:bodyPr>
            <a:normAutofit fontScale="90000"/>
          </a:bodyPr>
          <a:lstStyle/>
          <a:p>
            <a:r>
              <a:rPr lang="en-US" dirty="0"/>
              <a:t>James Abbott McNeill Whistler NOCTURNE IN BLACK AND GOLD, THE FALLING ROCKET</a:t>
            </a:r>
            <a:br>
              <a:rPr lang="en-US" dirty="0"/>
            </a:br>
            <a:r>
              <a:rPr lang="en-US" dirty="0"/>
              <a:t>1875. Oil on panel, 23-3/4</a:t>
            </a:r>
            <a:r>
              <a:rPr lang="ru-RU" dirty="0"/>
              <a:t>"</a:t>
            </a:r>
            <a:r>
              <a:rPr lang="en-US" dirty="0"/>
              <a:t> × 18-3/8</a:t>
            </a:r>
            <a:r>
              <a:rPr lang="ru-RU" dirty="0"/>
              <a:t>"</a:t>
            </a:r>
            <a:r>
              <a:rPr lang="en-US" dirty="0"/>
              <a:t> (60.2 × 46.7 cm).</a:t>
            </a:r>
            <a:br>
              <a:rPr lang="en-US" dirty="0"/>
            </a:br>
            <a:r>
              <a:rPr lang="en-US" dirty="0"/>
              <a:t>The Detroit Institute of Arts. Gift of Dexter M. Ferry Jr. (46.309).</a:t>
            </a:r>
            <a:br>
              <a:rPr lang="en-US" dirty="0"/>
            </a:br>
            <a:r>
              <a:rPr lang="en-US" dirty="0"/>
              <a:t>Bridgeman Images.</a:t>
            </a:r>
          </a:p>
        </p:txBody>
      </p:sp>
      <p:pic>
        <p:nvPicPr>
          <p:cNvPr id="2" name="Picture 1" descr="Speckles of colorful light shine in the night sky, over a dim cityscape, obscured by smok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9"/>
          <p:cNvSpPr>
            <a:spLocks noGrp="1"/>
          </p:cNvSpPr>
          <p:nvPr>
            <p:ph type="title"/>
          </p:nvPr>
        </p:nvSpPr>
        <p:spPr/>
        <p:txBody>
          <a:bodyPr/>
          <a:lstStyle/>
          <a:p>
            <a:r>
              <a:rPr lang="en-US"/>
              <a:t>Art and Its Contexts: Art on Trial in 1877</a:t>
            </a:r>
          </a:p>
        </p:txBody>
      </p:sp>
      <p:sp>
        <p:nvSpPr>
          <p:cNvPr id="108546" name="Content Placeholder 20"/>
          <p:cNvSpPr>
            <a:spLocks noGrp="1"/>
          </p:cNvSpPr>
          <p:nvPr>
            <p:ph idx="1"/>
          </p:nvPr>
        </p:nvSpPr>
        <p:spPr/>
        <p:txBody>
          <a:bodyPr/>
          <a:lstStyle/>
          <a:p>
            <a:r>
              <a:rPr lang="en-US"/>
              <a:t>The trial that James Abbott McNeill Whistler initiated against critic John Ruskin ended in favor of the artist, whom Ruskin had libeled.</a:t>
            </a:r>
          </a:p>
          <a:p>
            <a:r>
              <a:rPr lang="en-US"/>
              <a:t>However, in those days, the person who brought the suit had to pay all court costs; this bankrupted the artist.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9"/>
          <p:cNvSpPr>
            <a:spLocks noGrp="1"/>
          </p:cNvSpPr>
          <p:nvPr>
            <p:ph type="title"/>
          </p:nvPr>
        </p:nvSpPr>
        <p:spPr/>
        <p:txBody>
          <a:bodyPr/>
          <a:lstStyle/>
          <a:p>
            <a:r>
              <a:rPr lang="en-US"/>
              <a:t>Impressionism</a:t>
            </a:r>
          </a:p>
        </p:txBody>
      </p:sp>
      <p:sp>
        <p:nvSpPr>
          <p:cNvPr id="109570" name="Content Placeholder 20"/>
          <p:cNvSpPr>
            <a:spLocks noGrp="1"/>
          </p:cNvSpPr>
          <p:nvPr>
            <p:ph idx="1"/>
          </p:nvPr>
        </p:nvSpPr>
        <p:spPr/>
        <p:txBody>
          <a:bodyPr/>
          <a:lstStyle/>
          <a:p>
            <a:r>
              <a:rPr lang="en-US"/>
              <a:t>Artists began to paint outdoors, </a:t>
            </a:r>
            <a:r>
              <a:rPr lang="en-US" b="1" i="1"/>
              <a:t>en plein air </a:t>
            </a:r>
            <a:r>
              <a:rPr lang="en-US"/>
              <a:t>in an effort to record fleeting effects of light and atmosphere.</a:t>
            </a:r>
          </a:p>
          <a:p>
            <a:r>
              <a:rPr lang="en-US"/>
              <a:t>A group under the organization of Camille Pissarro urged artists to band into grass-roots organizations rather than rely on state-sanctioned institutions.</a:t>
            </a:r>
          </a:p>
          <a:p>
            <a:pPr lvl="1"/>
            <a:r>
              <a:rPr lang="en-US"/>
              <a:t>Their exhibitions drew relative success.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9"/>
          <p:cNvSpPr>
            <a:spLocks noGrp="1"/>
          </p:cNvSpPr>
          <p:nvPr>
            <p:ph type="title"/>
          </p:nvPr>
        </p:nvSpPr>
        <p:spPr/>
        <p:txBody>
          <a:bodyPr/>
          <a:lstStyle/>
          <a:p>
            <a:r>
              <a:rPr lang="en-US"/>
              <a:t>Landscape and Leisure (1 of 6)</a:t>
            </a:r>
          </a:p>
        </p:txBody>
      </p:sp>
      <p:sp>
        <p:nvSpPr>
          <p:cNvPr id="110594" name="Content Placeholder 20"/>
          <p:cNvSpPr>
            <a:spLocks noGrp="1"/>
          </p:cNvSpPr>
          <p:nvPr>
            <p:ph idx="1"/>
          </p:nvPr>
        </p:nvSpPr>
        <p:spPr/>
        <p:txBody>
          <a:bodyPr/>
          <a:lstStyle/>
          <a:p>
            <a:r>
              <a:rPr lang="en-US"/>
              <a:t>The Franco–Prussian War of 1870 and the deaths of over 20,000 people rocked Paris and led to the diminishment of political commentary in French art. </a:t>
            </a:r>
          </a:p>
          <a:p>
            <a:r>
              <a:rPr lang="en-US"/>
              <a:t>Impressionists sought to celebrate semirural outings afforded by the Paris train system.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9"/>
          <p:cNvSpPr>
            <a:spLocks noGrp="1"/>
          </p:cNvSpPr>
          <p:nvPr>
            <p:ph type="title"/>
          </p:nvPr>
        </p:nvSpPr>
        <p:spPr/>
        <p:txBody>
          <a:bodyPr/>
          <a:lstStyle/>
          <a:p>
            <a:r>
              <a:rPr lang="en-US"/>
              <a:t>Landscape and Leisure (2 of 6)</a:t>
            </a:r>
          </a:p>
        </p:txBody>
      </p:sp>
      <p:sp>
        <p:nvSpPr>
          <p:cNvPr id="111618" name="Content Placeholder 20"/>
          <p:cNvSpPr>
            <a:spLocks noGrp="1"/>
          </p:cNvSpPr>
          <p:nvPr>
            <p:ph idx="1"/>
          </p:nvPr>
        </p:nvSpPr>
        <p:spPr/>
        <p:txBody>
          <a:bodyPr/>
          <a:lstStyle/>
          <a:p>
            <a:r>
              <a:rPr lang="en-US"/>
              <a:t>Monet</a:t>
            </a:r>
            <a:r>
              <a:rPr lang="uk-UA"/>
              <a:t>'</a:t>
            </a:r>
            <a:r>
              <a:rPr lang="en-US"/>
              <a:t>s painting</a:t>
            </a:r>
            <a:r>
              <a:rPr lang="en-US" i="1"/>
              <a:t>, Impression, Sunrise</a:t>
            </a:r>
            <a:r>
              <a:rPr lang="en-US"/>
              <a:t>, was how the Impressionist movement was named.</a:t>
            </a:r>
          </a:p>
          <a:p>
            <a:pPr lvl="1"/>
            <a:r>
              <a:rPr lang="en-US"/>
              <a:t>A critic meant for it to mock the open brushstrokes and unfinished look, but Monet and his colleagues felt it aptly described their aim of depicting a fleeting moment.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3"/>
          <p:cNvSpPr>
            <a:spLocks noGrp="1"/>
          </p:cNvSpPr>
          <p:nvPr>
            <p:ph type="title"/>
          </p:nvPr>
        </p:nvSpPr>
        <p:spPr/>
        <p:txBody>
          <a:bodyPr>
            <a:normAutofit fontScale="90000"/>
          </a:bodyPr>
          <a:lstStyle/>
          <a:p>
            <a:r>
              <a:rPr lang="en-US" dirty="0"/>
              <a:t>Claude Monet IMPRESSION: SUNRISE</a:t>
            </a:r>
            <a:br>
              <a:rPr lang="en-US" dirty="0"/>
            </a:br>
            <a:r>
              <a:rPr lang="en-US" dirty="0"/>
              <a:t>1872. Oil on canvas, 19</a:t>
            </a:r>
            <a:r>
              <a:rPr lang="ru-RU" dirty="0"/>
              <a:t>"</a:t>
            </a:r>
            <a:r>
              <a:rPr lang="en-US" dirty="0"/>
              <a:t> × 24-3/8</a:t>
            </a:r>
            <a:r>
              <a:rPr lang="ru-RU" dirty="0"/>
              <a:t>"</a:t>
            </a:r>
            <a:r>
              <a:rPr lang="en-US" dirty="0"/>
              <a:t> (48 × 63 cm).</a:t>
            </a:r>
            <a:br>
              <a:rPr lang="en-US" dirty="0"/>
            </a:br>
            <a:r>
              <a:rPr lang="en-US" dirty="0" err="1"/>
              <a:t>Musée</a:t>
            </a:r>
            <a:r>
              <a:rPr lang="en-US" dirty="0"/>
              <a:t> </a:t>
            </a:r>
            <a:r>
              <a:rPr lang="en-US" dirty="0" err="1"/>
              <a:t>Marmottan</a:t>
            </a:r>
            <a:r>
              <a:rPr lang="en-US" dirty="0"/>
              <a:t>, Paris. Bridgeman Images.</a:t>
            </a:r>
          </a:p>
        </p:txBody>
      </p:sp>
      <p:pic>
        <p:nvPicPr>
          <p:cNvPr id="2" name="Picture 1" descr="An orange sun stands out against a hazy blue horizon of water and air, its color mirrored by a thin reflection across the bay, and by a wide swath of clouds higher in the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9"/>
          <p:cNvSpPr>
            <a:spLocks noGrp="1"/>
          </p:cNvSpPr>
          <p:nvPr>
            <p:ph type="title"/>
          </p:nvPr>
        </p:nvSpPr>
        <p:spPr/>
        <p:txBody>
          <a:bodyPr/>
          <a:lstStyle/>
          <a:p>
            <a:r>
              <a:rPr lang="en-US"/>
              <a:t>Landscape and Leisure (3 of 6)</a:t>
            </a:r>
          </a:p>
        </p:txBody>
      </p:sp>
      <p:sp>
        <p:nvSpPr>
          <p:cNvPr id="114690" name="Content Placeholder 20"/>
          <p:cNvSpPr>
            <a:spLocks noGrp="1"/>
          </p:cNvSpPr>
          <p:nvPr>
            <p:ph idx="1"/>
          </p:nvPr>
        </p:nvSpPr>
        <p:spPr/>
        <p:txBody>
          <a:bodyPr/>
          <a:lstStyle/>
          <a:p>
            <a:r>
              <a:rPr lang="en-US"/>
              <a:t>Monet painted the façade of the Rouen Cathedral on over 30 canvases.</a:t>
            </a:r>
          </a:p>
          <a:p>
            <a:pPr lvl="1"/>
            <a:r>
              <a:rPr lang="en-US"/>
              <a:t>Rather than for religious reasons, Monet</a:t>
            </a:r>
            <a:r>
              <a:rPr lang="uk-UA"/>
              <a:t>'</a:t>
            </a:r>
            <a:r>
              <a:rPr lang="en-US"/>
              <a:t>s fascination with this particular cathedral involved the way the light changed the façade constantly.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3"/>
          <p:cNvSpPr>
            <a:spLocks noGrp="1"/>
          </p:cNvSpPr>
          <p:nvPr>
            <p:ph type="title"/>
          </p:nvPr>
        </p:nvSpPr>
        <p:spPr/>
        <p:txBody>
          <a:bodyPr>
            <a:normAutofit fontScale="90000"/>
          </a:bodyPr>
          <a:lstStyle/>
          <a:p>
            <a:r>
              <a:rPr lang="en-US" dirty="0"/>
              <a:t>Claude Monet ROUEN CATHEDRAL, WEST FAÇADE, SUNLIGHT</a:t>
            </a:r>
            <a:br>
              <a:rPr lang="en-US" dirty="0"/>
            </a:br>
            <a:r>
              <a:rPr lang="en-US" dirty="0"/>
              <a:t>1894. Oil on canvas, 39-3/8 × 25-7/8</a:t>
            </a:r>
            <a:r>
              <a:rPr lang="ru-RU" dirty="0"/>
              <a:t>"</a:t>
            </a:r>
            <a:r>
              <a:rPr lang="en-US" dirty="0"/>
              <a:t> (100.1 × 65.8 cm).</a:t>
            </a:r>
            <a:br>
              <a:rPr lang="en-US" dirty="0"/>
            </a:br>
            <a:r>
              <a:rPr lang="en-US" dirty="0"/>
              <a:t>National Gallery of Art, Washington, D.C., Chester Dale Collection (1963.10.179). </a:t>
            </a:r>
            <a:br>
              <a:rPr lang="en-US" dirty="0"/>
            </a:br>
            <a:r>
              <a:rPr lang="en-US" dirty="0"/>
              <a:t>Image courtesy the National Gallery of Art, Washington. </a:t>
            </a:r>
          </a:p>
        </p:txBody>
      </p:sp>
      <p:pic>
        <p:nvPicPr>
          <p:cNvPr id="2" name="Picture 1" descr="Monet’s impressionist style does not capture the fine details of the Rouen façade’s architecture and decorations, but it accurately records the areas of shadow scattered across the irregular surface, and subtle shifts in hu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9"/>
          <p:cNvSpPr>
            <a:spLocks noGrp="1"/>
          </p:cNvSpPr>
          <p:nvPr>
            <p:ph type="title"/>
          </p:nvPr>
        </p:nvSpPr>
        <p:spPr/>
        <p:txBody>
          <a:bodyPr/>
          <a:lstStyle/>
          <a:p>
            <a:r>
              <a:rPr lang="en-US"/>
              <a:t>Landscape and Leisure (4 of 6)</a:t>
            </a:r>
          </a:p>
        </p:txBody>
      </p:sp>
      <p:sp>
        <p:nvSpPr>
          <p:cNvPr id="117762" name="Content Placeholder 20"/>
          <p:cNvSpPr>
            <a:spLocks noGrp="1"/>
          </p:cNvSpPr>
          <p:nvPr>
            <p:ph idx="1"/>
          </p:nvPr>
        </p:nvSpPr>
        <p:spPr/>
        <p:txBody>
          <a:bodyPr/>
          <a:lstStyle/>
          <a:p>
            <a:r>
              <a:rPr lang="en-US"/>
              <a:t>Camille Pissarro painted scenes where urban visitors were embedded within a rural countryside.</a:t>
            </a:r>
          </a:p>
          <a:p>
            <a:pPr lvl="1"/>
            <a:r>
              <a:rPr lang="en-US" i="1"/>
              <a:t>Wooded Landscape at L</a:t>
            </a:r>
            <a:r>
              <a:rPr lang="uk-UA" i="1"/>
              <a:t>'</a:t>
            </a:r>
            <a:r>
              <a:rPr lang="en-US" i="1"/>
              <a:t>Hermitage, Pontoise </a:t>
            </a:r>
            <a:r>
              <a:rPr lang="en-US"/>
              <a:t>is composed of a village shrouded in a screen of trees.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3"/>
          <p:cNvSpPr>
            <a:spLocks noGrp="1"/>
          </p:cNvSpPr>
          <p:nvPr>
            <p:ph type="title"/>
          </p:nvPr>
        </p:nvSpPr>
        <p:spPr/>
        <p:txBody>
          <a:bodyPr>
            <a:normAutofit fontScale="90000"/>
          </a:bodyPr>
          <a:lstStyle/>
          <a:p>
            <a:r>
              <a:rPr lang="en-US" dirty="0"/>
              <a:t>Camille Pissarro WOODED LANDSCAPE AT L</a:t>
            </a:r>
            <a:r>
              <a:rPr lang="uk-UA" dirty="0"/>
              <a:t>'</a:t>
            </a:r>
            <a:r>
              <a:rPr lang="en-US" dirty="0"/>
              <a:t>HERMITAGE, PONTOISE</a:t>
            </a:r>
            <a:br>
              <a:rPr lang="en-US" dirty="0"/>
            </a:br>
            <a:r>
              <a:rPr lang="en-US" dirty="0"/>
              <a:t>1878. Oil on canvas, 18-5/16</a:t>
            </a:r>
            <a:r>
              <a:rPr lang="ru-RU" dirty="0"/>
              <a:t>"</a:t>
            </a:r>
            <a:r>
              <a:rPr lang="en-US" dirty="0"/>
              <a:t> × 22-1/16</a:t>
            </a:r>
            <a:r>
              <a:rPr lang="ru-RU" dirty="0"/>
              <a:t>"</a:t>
            </a:r>
            <a:r>
              <a:rPr lang="en-US" dirty="0"/>
              <a:t> (46.5 × 56 cm).</a:t>
            </a:r>
            <a:br>
              <a:rPr lang="en-US" dirty="0"/>
            </a:br>
            <a:r>
              <a:rPr lang="en-US" dirty="0"/>
              <a:t>The Nelson-Atkins Museum of Art, Kansas City, Missouri. Gift of Dr. and Mrs. Nicholas S. Pickard. </a:t>
            </a:r>
          </a:p>
        </p:txBody>
      </p:sp>
      <p:pic>
        <p:nvPicPr>
          <p:cNvPr id="2" name="Picture 1" descr="When viewed as a whole, the artist’s many small, redirecting brush strokes, made with slightly different colors, create the impression of sunlight refracting off the many leaves in the foreground’s trees and bushes, as if a breeze is blow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9"/>
          <p:cNvSpPr>
            <a:spLocks noGrp="1"/>
          </p:cNvSpPr>
          <p:nvPr>
            <p:ph type="title"/>
          </p:nvPr>
        </p:nvSpPr>
        <p:spPr/>
        <p:txBody>
          <a:bodyPr/>
          <a:lstStyle/>
          <a:p>
            <a:r>
              <a:rPr lang="en-US"/>
              <a:t>Landscape and Leisure (5 of 6)</a:t>
            </a:r>
          </a:p>
        </p:txBody>
      </p:sp>
      <p:sp>
        <p:nvSpPr>
          <p:cNvPr id="120834" name="Content Placeholder 20"/>
          <p:cNvSpPr>
            <a:spLocks noGrp="1"/>
          </p:cNvSpPr>
          <p:nvPr>
            <p:ph idx="1"/>
          </p:nvPr>
        </p:nvSpPr>
        <p:spPr/>
        <p:txBody>
          <a:bodyPr/>
          <a:lstStyle/>
          <a:p>
            <a:r>
              <a:rPr lang="en-US"/>
              <a:t>Pierre-Auguste Renoir focused his attention on depicting the middle class at leisure.</a:t>
            </a:r>
          </a:p>
          <a:p>
            <a:pPr lvl="1"/>
            <a:r>
              <a:rPr lang="en-US" i="1"/>
              <a:t>Moulin de la Galette </a:t>
            </a:r>
            <a:r>
              <a:rPr lang="en-US"/>
              <a:t>shows the relaxed and informal crowd at a dance hall.</a:t>
            </a:r>
          </a:p>
          <a:p>
            <a:pPr lvl="1"/>
            <a:r>
              <a:rPr lang="en-US"/>
              <a:t>The artist sought to capture a carefree life, a paradise removed from the real world.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3"/>
          <p:cNvSpPr>
            <a:spLocks noGrp="1"/>
          </p:cNvSpPr>
          <p:nvPr>
            <p:ph type="title"/>
          </p:nvPr>
        </p:nvSpPr>
        <p:spPr/>
        <p:txBody>
          <a:bodyPr>
            <a:normAutofit fontScale="90000"/>
          </a:bodyPr>
          <a:lstStyle/>
          <a:p>
            <a:r>
              <a:rPr lang="en-US" dirty="0"/>
              <a:t>Pierre-Auguste Renoir MOULIN DE LA GALETTE</a:t>
            </a:r>
            <a:br>
              <a:rPr lang="en-US" dirty="0"/>
            </a:br>
            <a:r>
              <a:rPr lang="en-US" dirty="0"/>
              <a:t>1876. Oil on canvas, 4</a:t>
            </a:r>
            <a:r>
              <a:rPr lang="uk-UA" dirty="0"/>
              <a:t>'</a:t>
            </a:r>
            <a:r>
              <a:rPr lang="en-US" dirty="0"/>
              <a:t>3-1/2</a:t>
            </a:r>
            <a:r>
              <a:rPr lang="ru-RU" dirty="0"/>
              <a:t>"</a:t>
            </a:r>
            <a:r>
              <a:rPr lang="en-US" dirty="0"/>
              <a:t> × 5</a:t>
            </a:r>
            <a:r>
              <a:rPr lang="uk-UA" dirty="0"/>
              <a:t>'</a:t>
            </a:r>
            <a:r>
              <a:rPr lang="en-US" dirty="0"/>
              <a:t>9</a:t>
            </a:r>
            <a:r>
              <a:rPr lang="ru-RU" dirty="0"/>
              <a:t>"</a:t>
            </a:r>
            <a:r>
              <a:rPr lang="en-US" dirty="0"/>
              <a:t> (1.31 × 1.75 m).</a:t>
            </a:r>
            <a:br>
              <a:rPr lang="en-US" dirty="0"/>
            </a:br>
            <a:r>
              <a:rPr lang="en-US" dirty="0" err="1"/>
              <a:t>Musée</a:t>
            </a:r>
            <a:r>
              <a:rPr lang="en-US" dirty="0"/>
              <a:t> d</a:t>
            </a:r>
            <a:r>
              <a:rPr lang="uk-UA" dirty="0"/>
              <a:t>'</a:t>
            </a:r>
            <a:r>
              <a:rPr lang="en-US" dirty="0"/>
              <a:t>Orsay, Paris. Photo © RMN-Grand Palais (</a:t>
            </a:r>
            <a:r>
              <a:rPr lang="en-US" dirty="0" err="1"/>
              <a:t>musée</a:t>
            </a:r>
            <a:r>
              <a:rPr lang="en-US" dirty="0"/>
              <a:t> d'Orsay)/</a:t>
            </a:r>
            <a:r>
              <a:rPr lang="en-US" dirty="0" err="1"/>
              <a:t>Hervé</a:t>
            </a:r>
            <a:r>
              <a:rPr lang="en-US" dirty="0"/>
              <a:t> Lewandowski.</a:t>
            </a:r>
          </a:p>
        </p:txBody>
      </p:sp>
      <p:pic>
        <p:nvPicPr>
          <p:cNvPr id="2" name="Picture 1" descr="A restaurant’s large inner courtyard bustles with activity. Well-dressed members of the middle class move in pairs on the central dance floor, and many more sit at small tables, shaded by tre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9"/>
          <p:cNvSpPr>
            <a:spLocks noGrp="1"/>
          </p:cNvSpPr>
          <p:nvPr>
            <p:ph type="title"/>
          </p:nvPr>
        </p:nvSpPr>
        <p:spPr/>
        <p:txBody>
          <a:bodyPr/>
          <a:lstStyle/>
          <a:p>
            <a:r>
              <a:rPr lang="en-US"/>
              <a:t>Landscape and Leisure (6 of 6)</a:t>
            </a:r>
          </a:p>
        </p:txBody>
      </p:sp>
      <p:sp>
        <p:nvSpPr>
          <p:cNvPr id="123906" name="Content Placeholder 20"/>
          <p:cNvSpPr>
            <a:spLocks noGrp="1"/>
          </p:cNvSpPr>
          <p:nvPr>
            <p:ph idx="1"/>
          </p:nvPr>
        </p:nvSpPr>
        <p:spPr/>
        <p:txBody>
          <a:bodyPr/>
          <a:lstStyle/>
          <a:p>
            <a:r>
              <a:rPr lang="en-US"/>
              <a:t>Berthe Morisot married Edouard Manet</a:t>
            </a:r>
            <a:r>
              <a:rPr lang="uk-UA"/>
              <a:t>'</a:t>
            </a:r>
            <a:r>
              <a:rPr lang="en-US"/>
              <a:t>s brother and continued painting even after the birth of her daughter.</a:t>
            </a:r>
          </a:p>
          <a:p>
            <a:pPr lvl="1"/>
            <a:r>
              <a:rPr lang="en-US"/>
              <a:t>Her art was dedicated to the lives of bourgeois women, such as in </a:t>
            </a:r>
            <a:r>
              <a:rPr lang="en-US" i="1"/>
              <a:t>Summer</a:t>
            </a:r>
            <a:r>
              <a:rPr lang="uk-UA" i="1"/>
              <a:t>'</a:t>
            </a:r>
            <a:r>
              <a:rPr lang="en-US" i="1"/>
              <a:t>s Day</a:t>
            </a:r>
            <a:r>
              <a:rPr lang="en-US"/>
              <a:t>.</a:t>
            </a:r>
          </a:p>
          <a:p>
            <a:pPr lvl="2"/>
            <a:r>
              <a:rPr lang="en-US"/>
              <a:t>This painting exemplifies the emphasis on formal features in Impressionist painting.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3"/>
          <p:cNvSpPr>
            <a:spLocks noGrp="1"/>
          </p:cNvSpPr>
          <p:nvPr>
            <p:ph type="title"/>
          </p:nvPr>
        </p:nvSpPr>
        <p:spPr/>
        <p:txBody>
          <a:bodyPr>
            <a:normAutofit fontScale="90000"/>
          </a:bodyPr>
          <a:lstStyle/>
          <a:p>
            <a:r>
              <a:rPr lang="en-US" dirty="0"/>
              <a:t>Berthe Morisot SUMMER</a:t>
            </a:r>
            <a:r>
              <a:rPr lang="uk-UA" dirty="0"/>
              <a:t>'</a:t>
            </a:r>
            <a:r>
              <a:rPr lang="en-US" dirty="0"/>
              <a:t>S DAY</a:t>
            </a:r>
            <a:br>
              <a:rPr lang="en-US" dirty="0"/>
            </a:br>
            <a:r>
              <a:rPr lang="en-US" dirty="0"/>
              <a:t>1879. Oil on canvas, 17-13/16</a:t>
            </a:r>
            <a:r>
              <a:rPr lang="ru-RU" dirty="0"/>
              <a:t>"</a:t>
            </a:r>
            <a:r>
              <a:rPr lang="en-US" dirty="0"/>
              <a:t> × 29-5/16</a:t>
            </a:r>
            <a:r>
              <a:rPr lang="ru-RU" dirty="0"/>
              <a:t>"</a:t>
            </a:r>
            <a:r>
              <a:rPr lang="en-US" dirty="0"/>
              <a:t> (45.7 × 75.2 cm).</a:t>
            </a:r>
            <a:br>
              <a:rPr lang="en-US" dirty="0"/>
            </a:br>
            <a:r>
              <a:rPr lang="en-US" dirty="0"/>
              <a:t>National Gallery, London. Lane Bequest, 1917. © 2016. Copyright The National Gallery, London/Scala, Florence. </a:t>
            </a:r>
          </a:p>
        </p:txBody>
      </p:sp>
      <p:pic>
        <p:nvPicPr>
          <p:cNvPr id="2" name="Picture 1" descr="Two well-dressed women sit in a boat, floating on a lake surrounded by greenery. One of the women turns to look at a group of three geese paddling along beside the boat, while the other woman looks at the viewer with a relaxed expressio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1834</TotalTime>
  <Words>4861</Words>
  <Application>Microsoft Office PowerPoint</Application>
  <PresentationFormat>On-screen Show (4:3)</PresentationFormat>
  <Paragraphs>236</Paragraphs>
  <Slides>65</Slides>
  <Notes>29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65</vt:i4>
      </vt:variant>
    </vt:vector>
  </HeadingPairs>
  <TitlesOfParts>
    <vt:vector size="70" baseType="lpstr">
      <vt:lpstr>Arial</vt:lpstr>
      <vt:lpstr>Verdana</vt:lpstr>
      <vt:lpstr>Wingdings</vt:lpstr>
      <vt:lpstr>508 Lecture</vt:lpstr>
      <vt:lpstr>Custom Design</vt:lpstr>
      <vt:lpstr>Chapter 25</vt:lpstr>
      <vt:lpstr>Learning Objectives </vt:lpstr>
      <vt:lpstr>Gustave Eiffel EIFFEL TOWER, PARIS 1889 (also the date of this photograph). Height 984' (300 m). Courtesy the Library of Congress. </vt:lpstr>
      <vt:lpstr>Europe and the United States in the Mid to Late Nineteenth Century (1 of 2)</vt:lpstr>
      <vt:lpstr>Europe and the United States in the Mid to Late Nineteenth Century (2 of 2)</vt:lpstr>
      <vt:lpstr>EUROPE AND THE UNITED STATES IN THE NINETEENTH CENTURY In the nineteenth century, Europe and the United States became increasingly industrialized, and many European nations established colonial possessions around the world. Paris was firmly established as the center of the Western art world. </vt:lpstr>
      <vt:lpstr>French Academic Architecture and Art</vt:lpstr>
      <vt:lpstr>Art and Its Contexts: Orientalism</vt:lpstr>
      <vt:lpstr>Jean-Léon Gérôme THE SNAKE CHARMER c. 1870. Oil on canvas, 33" × 48-1/8" (83.8 × 122.1 cm). Clark Art Institute, Williamstown, Massachusetts. Acquired by Sterling and Francine Clark, 1942. (1955.51). Bridgeman Images</vt:lpstr>
      <vt:lpstr>Academic Architecture</vt:lpstr>
      <vt:lpstr>Charles Garnier OPÉRA, PARIS 1861–1874. © akg-images. </vt:lpstr>
      <vt:lpstr>GRAND STAIRCASE, OPÉRA © John Kellerman/Alamy Stock Photo. </vt:lpstr>
      <vt:lpstr>Painting and Sculpture (1 of 2)</vt:lpstr>
      <vt:lpstr>Alexandre Cabanel THE BIRTH OF VENUS 1863. Oil on canvas, 52" × 90" (1.35 × 2.29 m). Musée d'Orsay, Paris. Photo © RMN-Grand Palais (musée d'Orsay)/Hervé Lewandowski.</vt:lpstr>
      <vt:lpstr>Painting and Sculpture (2 of 2)</vt:lpstr>
      <vt:lpstr>Jean-Baptiste Carpeaux THE DANCE 1867–1868. Plaster, height approx. 15' (4.6 m). Musée d'Orsay, Paris. © akg-images/Erich Lessing. </vt:lpstr>
      <vt:lpstr>Realism and the Avant-Garde</vt:lpstr>
      <vt:lpstr>Realism and Revolution (1 of 6)</vt:lpstr>
      <vt:lpstr>Realism and Revolution (2 of 6)</vt:lpstr>
      <vt:lpstr>Gustave Courbet THE STONE BREAKERS 1849. Oil on canvas, 5'3" × 8'6" (1.6 × 2.59 m). Formerly Gemäldegalerie, Dresden; destroyed in World War II. © Staatliche Kunstsammlungen Dresden/Bridgeman Images. </vt:lpstr>
      <vt:lpstr>Realism and Revolution (3 of 6)</vt:lpstr>
      <vt:lpstr>Gustave Courbet A BURIAL AT ORNANS 1849. Oil on canvas, 10'3-1/2" × 21'9" (3.1 × 6.6 m). Musée d'Orsay, Paris. Photo © RMN-Grand Palais (musée d'Orsay)/Gérard Blot/Hervé Lewandowski. </vt:lpstr>
      <vt:lpstr>Realism and Revolution (4 of 6)</vt:lpstr>
      <vt:lpstr>Jean-François Millet THE GLEANERS 1857. Oil on canvas, 33" × 44" (83.8 × 111.8 cm). Musée d'Orsay, Paris. Photo © RMN-Grand Palais (musée d'Orsay)/Jean Schormans. </vt:lpstr>
      <vt:lpstr>Realism and Revolution (5 of 6)</vt:lpstr>
      <vt:lpstr>Jean-Baptiste-Camille Corot FIRST LEAVES, NEAR MANTES c. 1855. Oil on canvas, 13-3/8" × 18-1/8" (34 × 46 cm). Carnegie Museum of Art, Pittsburgh, Pennsylvania. Photograph © 2016 Carnegie Museum of Art, Pittsburgh. Photo: Richard Stoner.</vt:lpstr>
      <vt:lpstr>Realism and Revolution (6 of 6)</vt:lpstr>
      <vt:lpstr>Rosa Bonheur THE HORSE FAIR 1853–1855. Oil on canvas, 8'-1/4" × 16'7-1/2" (2.45 × 5.07 m). Metropolitan Museum of Art, New York. © 2016. Image copyright The Metropolitan Museum of Art/Art Resource, NY/ Scala, Florence.</vt:lpstr>
      <vt:lpstr>Manet: "The Painter of Modern Life" (1 of 4)</vt:lpstr>
      <vt:lpstr>Manet: "The Painter of Modern Life" (2 of 4)</vt:lpstr>
      <vt:lpstr>Édouard Manet THE LUNCHEON ON THE GRASS/LE DÉJEUNER SUR L'HERBE  1863. Oil on canvas, 7' × 8'8" (2.13 × 2.64 m). Musée d'Orsay, Paris. Photo © RMN-Grand Palais (musée d'Orsay)/Hervé Lewandowski. </vt:lpstr>
      <vt:lpstr>Manet: "The Painter of Modern Life" (3 of 4)</vt:lpstr>
      <vt:lpstr>Édouard Manet OLYMPIA 1863. Oil on canvas, 4'3" × 6'2-1/4" (1.31 × 1.91 m). Musée d'Orsay, Paris. Photo © RMN-Grand Palais (musée d'Orsay). </vt:lpstr>
      <vt:lpstr>Manet: "The Painter of Modern Life" (4 of 4)</vt:lpstr>
      <vt:lpstr>Édouard Manet A BAR AT THE FOLIES-BERGÈRE 1881–1882. Oil on canvas. 37-3/4" × 51-1/4" (95.9 × 130 cm). The Samuel Courtauld Trust, The Courtauld Gallery, London. (P.1934.SC.234). © Samuel Courtauld Trust, The Courtauld Gallery, London, UK/Bridgeman Images. </vt:lpstr>
      <vt:lpstr>Responses to Realism Beyond France (1 of 9)</vt:lpstr>
      <vt:lpstr>Responses to Realism Beyond France (2 of 9)</vt:lpstr>
      <vt:lpstr>Ilya Repin BARGEHAULERS ON THE VOLGA 1870–1873. Oil on canvas, 4'3-3/4" × 9'3" (1.3 × 2.81 m). State Russian Museum, St. Petersburg. © akg-images. </vt:lpstr>
      <vt:lpstr>Responses to Realism Beyond France (3 of 9)</vt:lpstr>
      <vt:lpstr>Thomas Eakins THE GROSS CLINIC 1875. Oil on canvas, 8' × 6'5" (2.44 × 1.98 m). Philadelphia Museum of Art, Pennsylvania. Gift of the Alumni Association to Jefferson Medical College in 1878 and purchased by the Pennsylvania Academy of the Fine Arts and the Philadelphia Museum of Art in 2007. © 2016. Photo The Philadelphia Museum of Art/Art Resource/Scala, Florence.</vt:lpstr>
      <vt:lpstr>Responses to Realism Beyond France (4 of 9)</vt:lpstr>
      <vt:lpstr>Winslow Homer THE LIFE LINE 1884. Oil on canvas, 28-3/4" × 44-5/8" (73 × 113.3 cm). Philadelphia Museum of Art, Pennsylvania. The George W. Elkins Collection, 1924. © 2016. Photo The Philadelphia Museum of Art/Art Resource/Scala, Florence. </vt:lpstr>
      <vt:lpstr>Responses to Realism Beyond France (5 of 9)</vt:lpstr>
      <vt:lpstr>Edmonia Lewis FOREVER FREE 1867. Marble, 41-1/4 × 22 × 17" (104.8 × 55 × 43.2 cm). Howard University Gallery of Art, Washington, DC. </vt:lpstr>
      <vt:lpstr>Responses to Realism Beyond France (6 of 9)</vt:lpstr>
      <vt:lpstr>Henry Ossawa Tanner THE BANJO LESSON 1893. Oil on canvas, 49 × 35-1/2" (124.4 × 90 cm). Hampton University Museum, Virginia. Hampton University’s Archival and Museum Collection Hampton University. </vt:lpstr>
      <vt:lpstr>Responses to Realism Beyond France (7 of 9)</vt:lpstr>
      <vt:lpstr>Dante Gabriel Rossetti LA PIA DE' TOLOMEI 1868–1869. Oil on canvas, 41-1/2" × 47-1/2" (105.4 × 119.4 cm). Spencer Museum of Art, The University of Kansas. (1956.0031) </vt:lpstr>
      <vt:lpstr>Responses to Realism Beyond France (8 of 9)</vt:lpstr>
      <vt:lpstr>Philip Webb and William Morris "SUSSEX" CHAIR and "PEACOCK AND DRAGON" CURTAIN Chair (by Webb): In production from c. 1865. Ebonized wood with rush seat, 33" × 16 1/2" × 14" (83.8 × 42 × 35.6 cm). Curtain (by Morris): 1878. Handloomed jacquard-woven woolen twill, 12'10-1/2" × 11'5-5/8" (3.96 × 3.53 m). Chair and curtain manufactured by Morris &amp; Company. The William Morris Gallery, London Borough of Waltham Forest. The William Morris Gallery, London, E17, England. </vt:lpstr>
      <vt:lpstr>Responses to Realism Beyond France (9 of 9)</vt:lpstr>
      <vt:lpstr>James Abbott McNeill Whistler NOCTURNE IN BLACK AND GOLD, THE FALLING ROCKET 1875. Oil on panel, 23-3/4" × 18-3/8" (60.2 × 46.7 cm). The Detroit Institute of Arts. Gift of Dexter M. Ferry Jr. (46.309). Bridgeman Images.</vt:lpstr>
      <vt:lpstr>Art and Its Contexts: Art on Trial in 1877</vt:lpstr>
      <vt:lpstr>Impressionism</vt:lpstr>
      <vt:lpstr>Landscape and Leisure (1 of 6)</vt:lpstr>
      <vt:lpstr>Landscape and Leisure (2 of 6)</vt:lpstr>
      <vt:lpstr>Claude Monet IMPRESSION: SUNRISE 1872. Oil on canvas, 19" × 24-3/8" (48 × 63 cm). Musée Marmottan, Paris. Bridgeman Images.</vt:lpstr>
      <vt:lpstr>Landscape and Leisure (3 of 6)</vt:lpstr>
      <vt:lpstr>Claude Monet ROUEN CATHEDRAL, WEST FAÇADE, SUNLIGHT 1894. Oil on canvas, 39-3/8 × 25-7/8" (100.1 × 65.8 cm). National Gallery of Art, Washington, D.C., Chester Dale Collection (1963.10.179).  Image courtesy the National Gallery of Art, Washington. </vt:lpstr>
      <vt:lpstr>Landscape and Leisure (4 of 6)</vt:lpstr>
      <vt:lpstr>Camille Pissarro WOODED LANDSCAPE AT L'HERMITAGE, PONTOISE 1878. Oil on canvas, 18-5/16" × 22-1/16" (46.5 × 56 cm). The Nelson-Atkins Museum of Art, Kansas City, Missouri. Gift of Dr. and Mrs. Nicholas S. Pickard. </vt:lpstr>
      <vt:lpstr>Landscape and Leisure (5 of 6)</vt:lpstr>
      <vt:lpstr>Pierre-Auguste Renoir MOULIN DE LA GALETTE 1876. Oil on canvas, 4'3-1/2" × 5'9" (1.31 × 1.75 m). Musée d'Orsay, Paris. Photo © RMN-Grand Palais (musée d'Orsay)/Hervé Lewandowski.</vt:lpstr>
      <vt:lpstr>Landscape and Leisure (6 of 6)</vt:lpstr>
      <vt:lpstr>Berthe Morisot SUMMER'S DAY 1879. Oil on canvas, 17-13/16" × 29-5/16" (45.7 × 75.2 cm). National Gallery, London. Lane Bequest, 1917. © 2016. Copyright The National Gallery, London/Scala, Florence. </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205</cp:revision>
  <dcterms:created xsi:type="dcterms:W3CDTF">2016-12-06T20:09:47Z</dcterms:created>
  <dcterms:modified xsi:type="dcterms:W3CDTF">2020-06-22T09:45:04Z</dcterms:modified>
</cp:coreProperties>
</file>