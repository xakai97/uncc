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60"/>
  </p:notesMasterIdLst>
  <p:handoutMasterIdLst>
    <p:handoutMasterId r:id="rId61"/>
  </p:handoutMasterIdLst>
  <p:sldIdLst>
    <p:sldId id="650" r:id="rId3"/>
    <p:sldId id="507" r:id="rId4"/>
    <p:sldId id="511" r:id="rId5"/>
    <p:sldId id="512" r:id="rId6"/>
    <p:sldId id="513" r:id="rId7"/>
    <p:sldId id="514" r:id="rId8"/>
    <p:sldId id="515" r:id="rId9"/>
    <p:sldId id="516" r:id="rId10"/>
    <p:sldId id="517" r:id="rId11"/>
    <p:sldId id="518" r:id="rId12"/>
    <p:sldId id="519" r:id="rId13"/>
    <p:sldId id="520" r:id="rId14"/>
    <p:sldId id="521" r:id="rId15"/>
    <p:sldId id="522" r:id="rId16"/>
    <p:sldId id="523" r:id="rId17"/>
    <p:sldId id="524" r:id="rId18"/>
    <p:sldId id="525" r:id="rId19"/>
    <p:sldId id="526" r:id="rId20"/>
    <p:sldId id="527" r:id="rId21"/>
    <p:sldId id="528" r:id="rId22"/>
    <p:sldId id="529" r:id="rId23"/>
    <p:sldId id="530" r:id="rId24"/>
    <p:sldId id="531" r:id="rId25"/>
    <p:sldId id="532" r:id="rId26"/>
    <p:sldId id="533" r:id="rId27"/>
    <p:sldId id="534" r:id="rId28"/>
    <p:sldId id="535" r:id="rId29"/>
    <p:sldId id="536" r:id="rId30"/>
    <p:sldId id="537" r:id="rId31"/>
    <p:sldId id="538" r:id="rId32"/>
    <p:sldId id="539" r:id="rId33"/>
    <p:sldId id="540" r:id="rId34"/>
    <p:sldId id="541" r:id="rId35"/>
    <p:sldId id="542" r:id="rId36"/>
    <p:sldId id="543" r:id="rId37"/>
    <p:sldId id="544" r:id="rId38"/>
    <p:sldId id="545" r:id="rId39"/>
    <p:sldId id="546" r:id="rId40"/>
    <p:sldId id="547" r:id="rId41"/>
    <p:sldId id="548" r:id="rId42"/>
    <p:sldId id="549" r:id="rId43"/>
    <p:sldId id="550" r:id="rId44"/>
    <p:sldId id="551" r:id="rId45"/>
    <p:sldId id="552" r:id="rId46"/>
    <p:sldId id="553" r:id="rId47"/>
    <p:sldId id="554" r:id="rId48"/>
    <p:sldId id="555" r:id="rId49"/>
    <p:sldId id="556" r:id="rId50"/>
    <p:sldId id="557" r:id="rId51"/>
    <p:sldId id="558" r:id="rId52"/>
    <p:sldId id="559" r:id="rId53"/>
    <p:sldId id="560" r:id="rId54"/>
    <p:sldId id="561" r:id="rId55"/>
    <p:sldId id="562" r:id="rId56"/>
    <p:sldId id="563" r:id="rId57"/>
    <p:sldId id="565" r:id="rId58"/>
    <p:sldId id="564"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76" autoAdjust="0"/>
    <p:restoredTop sz="86524" autoAdjust="0"/>
  </p:normalViewPr>
  <p:slideViewPr>
    <p:cSldViewPr>
      <p:cViewPr varScale="1">
        <p:scale>
          <a:sx n="89" d="100"/>
          <a:sy n="89" d="100"/>
        </p:scale>
        <p:origin x="1179" y="66"/>
      </p:cViewPr>
      <p:guideLst>
        <p:guide orient="horz" pos="2160"/>
        <p:guide pos="2880"/>
      </p:guideLst>
    </p:cSldViewPr>
  </p:slideViewPr>
  <p:outlineViewPr>
    <p:cViewPr>
      <p:scale>
        <a:sx n="33" d="100"/>
        <a:sy n="33" d="100"/>
      </p:scale>
      <p:origin x="0" y="-8084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6/19/2020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6/19/2020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noFill/>
          <a:ln>
            <a:solidFill>
              <a:srgbClr val="000000"/>
            </a:solidFill>
            <a:miter lim="800000"/>
            <a:headEnd/>
            <a:tailEnd/>
          </a:ln>
        </p:spPr>
      </p:sp>
      <p:sp>
        <p:nvSpPr>
          <p:cNvPr id="14338" name="Notes Placeholder 2"/>
          <p:cNvSpPr>
            <a:spLocks noGrp="1"/>
          </p:cNvSpPr>
          <p:nvPr>
            <p:ph type="body" idx="1"/>
          </p:nvPr>
        </p:nvSpPr>
        <p:spPr bwMode="auto">
          <a:noFill/>
        </p:spPr>
        <p:txBody>
          <a:bodyPr/>
          <a:lstStyle/>
          <a:p>
            <a:pPr>
              <a:spcBef>
                <a:spcPct val="0"/>
              </a:spcBef>
            </a:pPr>
            <a:r>
              <a:rPr lang="en-US" dirty="0" err="1"/>
              <a:t>Gianlorenzo</a:t>
            </a:r>
            <a:r>
              <a:rPr lang="en-US" dirty="0"/>
              <a:t> Bernini ST. TERESA OF ÁVILA IN ECSTASY</a:t>
            </a:r>
            <a:br>
              <a:rPr lang="en-US" dirty="0"/>
            </a:br>
            <a:r>
              <a:rPr lang="en-US" dirty="0" err="1"/>
              <a:t>Cornaro</a:t>
            </a:r>
            <a:r>
              <a:rPr lang="en-US" dirty="0"/>
              <a:t> Chapel, church of Santa Maria </a:t>
            </a:r>
            <a:r>
              <a:rPr lang="en-US" dirty="0" err="1"/>
              <a:t>della</a:t>
            </a:r>
            <a:r>
              <a:rPr lang="en-US" dirty="0"/>
              <a:t> Vittoria, Rome. 1645–1652.</a:t>
            </a:r>
            <a:br>
              <a:rPr lang="en-US" dirty="0"/>
            </a:br>
            <a:r>
              <a:rPr lang="en-US" dirty="0"/>
              <a:t>Marble, height of the group 11</a:t>
            </a:r>
            <a:r>
              <a:rPr lang="uk-UA" dirty="0"/>
              <a:t>'</a:t>
            </a:r>
            <a:r>
              <a:rPr lang="en-US" dirty="0"/>
              <a:t>6</a:t>
            </a:r>
            <a:r>
              <a:rPr lang="ru-RU" dirty="0"/>
              <a:t>"</a:t>
            </a:r>
            <a:r>
              <a:rPr lang="en-US" dirty="0"/>
              <a:t> (3.5 m).</a:t>
            </a:r>
            <a:br>
              <a:rPr lang="en-US" dirty="0"/>
            </a:br>
            <a:r>
              <a:rPr lang="en-US" dirty="0"/>
              <a:t>© 2016. Photo Scala, Florence/</a:t>
            </a:r>
            <a:r>
              <a:rPr lang="en-US" dirty="0" err="1"/>
              <a:t>Fondo</a:t>
            </a:r>
            <a:r>
              <a:rPr lang="en-US" dirty="0"/>
              <a:t> </a:t>
            </a:r>
            <a:r>
              <a:rPr lang="en-US" dirty="0" err="1"/>
              <a:t>Edifici</a:t>
            </a:r>
            <a:r>
              <a:rPr lang="en-US" dirty="0"/>
              <a:t> di </a:t>
            </a:r>
            <a:r>
              <a:rPr lang="en-US" dirty="0" err="1"/>
              <a:t>Culto</a:t>
            </a:r>
            <a:r>
              <a:rPr lang="en-US" dirty="0"/>
              <a:t> – Min. dell</a:t>
            </a:r>
            <a:r>
              <a:rPr lang="uk-UA" dirty="0"/>
              <a:t>'</a:t>
            </a:r>
            <a:r>
              <a:rPr lang="en-US" dirty="0" err="1"/>
              <a:t>Interno</a:t>
            </a:r>
            <a:r>
              <a:rPr lang="en-US" dirty="0"/>
              <a:t>. </a:t>
            </a:r>
          </a:p>
        </p:txBody>
      </p:sp>
      <p:sp>
        <p:nvSpPr>
          <p:cNvPr id="14339" name="Slide Number Placeholder 3"/>
          <p:cNvSpPr>
            <a:spLocks noGrp="1"/>
          </p:cNvSpPr>
          <p:nvPr>
            <p:ph type="sldNum" sz="quarter" idx="5"/>
          </p:nvPr>
        </p:nvSpPr>
        <p:spPr bwMode="auto">
          <a:noFill/>
          <a:ln>
            <a:miter lim="800000"/>
            <a:headEnd/>
            <a:tailEnd/>
          </a:ln>
        </p:spPr>
        <p:txBody>
          <a:bodyPr/>
          <a:lstStyle/>
          <a:p>
            <a:fld id="{F86AE72C-8D33-A143-B8A9-42C4296F200E}" type="slidenum">
              <a:rPr lang="en-US"/>
              <a:pPr/>
              <a:t>3</a:t>
            </a:fld>
            <a:endParaRPr lang="en-US"/>
          </a:p>
        </p:txBody>
      </p:sp>
    </p:spTree>
    <p:extLst>
      <p:ext uri="{BB962C8B-B14F-4D97-AF65-F5344CB8AC3E}">
        <p14:creationId xmlns:p14="http://schemas.microsoft.com/office/powerpoint/2010/main" val="1112257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noFill/>
          <a:ln>
            <a:solidFill>
              <a:srgbClr val="000000"/>
            </a:solidFill>
            <a:miter lim="800000"/>
            <a:headEnd/>
            <a:tailEnd/>
          </a:ln>
        </p:spPr>
      </p:sp>
      <p:sp>
        <p:nvSpPr>
          <p:cNvPr id="18434" name="Notes Placeholder 2"/>
          <p:cNvSpPr>
            <a:spLocks noGrp="1"/>
          </p:cNvSpPr>
          <p:nvPr>
            <p:ph type="body" idx="1"/>
          </p:nvPr>
        </p:nvSpPr>
        <p:spPr bwMode="auto">
          <a:noFill/>
        </p:spPr>
        <p:txBody>
          <a:bodyPr/>
          <a:lstStyle/>
          <a:p>
            <a:pPr>
              <a:spcBef>
                <a:spcPct val="0"/>
              </a:spcBef>
            </a:pPr>
            <a:r>
              <a:rPr lang="en-US" dirty="0"/>
              <a:t>SEVENTEENTH-CENTURY EUROPE</a:t>
            </a:r>
            <a:br>
              <a:rPr lang="en-US" dirty="0"/>
            </a:br>
            <a:r>
              <a:rPr lang="en-US" dirty="0"/>
              <a:t>Protestantism still dominated northern Europe, while in the south Roman Catholicism remained strong after the Counter-Reformation. The Habsburg empire was now divided into two parts, under separate rulers.</a:t>
            </a:r>
          </a:p>
        </p:txBody>
      </p:sp>
      <p:sp>
        <p:nvSpPr>
          <p:cNvPr id="18435" name="Slide Number Placeholder 3"/>
          <p:cNvSpPr>
            <a:spLocks noGrp="1"/>
          </p:cNvSpPr>
          <p:nvPr>
            <p:ph type="sldNum" sz="quarter" idx="5"/>
          </p:nvPr>
        </p:nvSpPr>
        <p:spPr bwMode="auto">
          <a:noFill/>
          <a:ln>
            <a:miter lim="800000"/>
            <a:headEnd/>
            <a:tailEnd/>
          </a:ln>
        </p:spPr>
        <p:txBody>
          <a:bodyPr/>
          <a:lstStyle/>
          <a:p>
            <a:fld id="{C2470792-E61F-5E45-A7D6-DD8BF4034469}" type="slidenum">
              <a:rPr lang="en-US"/>
              <a:pPr/>
              <a:t>6</a:t>
            </a:fld>
            <a:endParaRPr lang="en-US"/>
          </a:p>
        </p:txBody>
      </p:sp>
    </p:spTree>
    <p:extLst>
      <p:ext uri="{BB962C8B-B14F-4D97-AF65-F5344CB8AC3E}">
        <p14:creationId xmlns:p14="http://schemas.microsoft.com/office/powerpoint/2010/main" val="461570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noTextEdit="1"/>
          </p:cNvSpPr>
          <p:nvPr>
            <p:ph type="sldImg"/>
          </p:nvPr>
        </p:nvSpPr>
        <p:spPr bwMode="auto">
          <a:noFill/>
          <a:ln>
            <a:solidFill>
              <a:srgbClr val="000000"/>
            </a:solidFill>
            <a:miter lim="800000"/>
            <a:headEnd/>
            <a:tailEnd/>
          </a:ln>
        </p:spPr>
      </p:sp>
      <p:sp>
        <p:nvSpPr>
          <p:cNvPr id="23554" name="Notes Placeholder 2"/>
          <p:cNvSpPr>
            <a:spLocks noGrp="1"/>
          </p:cNvSpPr>
          <p:nvPr>
            <p:ph type="body" idx="1"/>
          </p:nvPr>
        </p:nvSpPr>
        <p:spPr bwMode="auto">
          <a:noFill/>
        </p:spPr>
        <p:txBody>
          <a:bodyPr/>
          <a:lstStyle/>
          <a:p>
            <a:pPr>
              <a:spcBef>
                <a:spcPct val="0"/>
              </a:spcBef>
            </a:pPr>
            <a:r>
              <a:rPr lang="en-US" dirty="0"/>
              <a:t>Carlo Maderno and </a:t>
            </a:r>
            <a:r>
              <a:rPr lang="en-US" dirty="0" err="1"/>
              <a:t>Gianlorenzo</a:t>
            </a:r>
            <a:r>
              <a:rPr lang="en-US" dirty="0"/>
              <a:t> Bernini ST. PETER</a:t>
            </a:r>
            <a:r>
              <a:rPr lang="uk-UA" dirty="0"/>
              <a:t>'</a:t>
            </a:r>
            <a:r>
              <a:rPr lang="en-US" dirty="0"/>
              <a:t>S BASILICA AND PIAZZA,</a:t>
            </a:r>
            <a:br>
              <a:rPr lang="en-US" dirty="0"/>
            </a:br>
            <a:r>
              <a:rPr lang="en-US" dirty="0"/>
              <a:t>VATICAN, ROME</a:t>
            </a:r>
            <a:br>
              <a:rPr lang="en-US" dirty="0"/>
            </a:br>
            <a:r>
              <a:rPr lang="en-US" dirty="0"/>
              <a:t>Maderno, façade, 1607–1626; Bernini, piazza design, c. 1656–1657.</a:t>
            </a:r>
            <a:br>
              <a:rPr lang="en-US" dirty="0"/>
            </a:br>
            <a:r>
              <a:rPr lang="en-US" dirty="0"/>
              <a:t>© </a:t>
            </a:r>
            <a:r>
              <a:rPr lang="en-US" dirty="0" err="1"/>
              <a:t>Alinari</a:t>
            </a:r>
            <a:r>
              <a:rPr lang="en-US" dirty="0"/>
              <a:t> Archives/Corbis. </a:t>
            </a:r>
          </a:p>
        </p:txBody>
      </p:sp>
      <p:sp>
        <p:nvSpPr>
          <p:cNvPr id="23555" name="Slide Number Placeholder 3"/>
          <p:cNvSpPr>
            <a:spLocks noGrp="1"/>
          </p:cNvSpPr>
          <p:nvPr>
            <p:ph type="sldNum" sz="quarter" idx="5"/>
          </p:nvPr>
        </p:nvSpPr>
        <p:spPr bwMode="auto">
          <a:noFill/>
          <a:ln>
            <a:miter lim="800000"/>
            <a:headEnd/>
            <a:tailEnd/>
          </a:ln>
        </p:spPr>
        <p:txBody>
          <a:bodyPr/>
          <a:lstStyle/>
          <a:p>
            <a:fld id="{B3DEE930-373D-754E-8A04-AAA61A47D4D2}" type="slidenum">
              <a:rPr lang="en-US"/>
              <a:pPr/>
              <a:t>10</a:t>
            </a:fld>
            <a:endParaRPr lang="en-US"/>
          </a:p>
        </p:txBody>
      </p:sp>
    </p:spTree>
    <p:extLst>
      <p:ext uri="{BB962C8B-B14F-4D97-AF65-F5344CB8AC3E}">
        <p14:creationId xmlns:p14="http://schemas.microsoft.com/office/powerpoint/2010/main" val="912443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a:lstStyle/>
          <a:p>
            <a:pPr>
              <a:spcBef>
                <a:spcPct val="0"/>
              </a:spcBef>
            </a:pPr>
            <a:r>
              <a:rPr lang="en-US" dirty="0" err="1"/>
              <a:t>Gianlorenzo</a:t>
            </a:r>
            <a:r>
              <a:rPr lang="en-US" dirty="0"/>
              <a:t> Bernini BALDACCHINO</a:t>
            </a:r>
            <a:br>
              <a:rPr lang="en-US" dirty="0"/>
            </a:br>
            <a:r>
              <a:rPr lang="en-US" dirty="0"/>
              <a:t>St. Peter</a:t>
            </a:r>
            <a:r>
              <a:rPr lang="uk-UA" dirty="0"/>
              <a:t>'</a:t>
            </a:r>
            <a:r>
              <a:rPr lang="en-US" dirty="0"/>
              <a:t>s Basilica, Vatican, Rome. 1624–1633.</a:t>
            </a:r>
            <a:br>
              <a:rPr lang="en-US" dirty="0"/>
            </a:br>
            <a:r>
              <a:rPr lang="en-US" dirty="0"/>
              <a:t>Gilt bronze, height approx. 100</a:t>
            </a:r>
            <a:r>
              <a:rPr lang="uk-UA" dirty="0"/>
              <a:t>'</a:t>
            </a:r>
            <a:r>
              <a:rPr lang="en-US" dirty="0"/>
              <a:t> (30.48 m). Chair of Peter shrine, 1657–1666; gilt bronze, marble, stucco, and glass. Pier decorations, 1627–1641; gilt bronze and marble. © </a:t>
            </a:r>
            <a:r>
              <a:rPr lang="en-US" dirty="0" err="1"/>
              <a:t>akg</a:t>
            </a:r>
            <a:r>
              <a:rPr lang="en-US" dirty="0"/>
              <a:t>-images/</a:t>
            </a:r>
            <a:r>
              <a:rPr lang="en-US" dirty="0" err="1"/>
              <a:t>Bildarchiv</a:t>
            </a:r>
            <a:r>
              <a:rPr lang="en-US" dirty="0"/>
              <a:t> </a:t>
            </a:r>
            <a:r>
              <a:rPr lang="en-US" dirty="0" err="1"/>
              <a:t>Monheim</a:t>
            </a:r>
            <a:r>
              <a:rPr lang="en-US" dirty="0"/>
              <a:t>. </a:t>
            </a:r>
          </a:p>
        </p:txBody>
      </p:sp>
      <p:sp>
        <p:nvSpPr>
          <p:cNvPr id="26627" name="Slide Number Placeholder 3"/>
          <p:cNvSpPr>
            <a:spLocks noGrp="1"/>
          </p:cNvSpPr>
          <p:nvPr>
            <p:ph type="sldNum" sz="quarter" idx="5"/>
          </p:nvPr>
        </p:nvSpPr>
        <p:spPr bwMode="auto">
          <a:noFill/>
          <a:ln>
            <a:miter lim="800000"/>
            <a:headEnd/>
            <a:tailEnd/>
          </a:ln>
        </p:spPr>
        <p:txBody>
          <a:bodyPr/>
          <a:lstStyle/>
          <a:p>
            <a:fld id="{C432D76D-B29E-4944-9106-0C03FDFB6E90}" type="slidenum">
              <a:rPr lang="en-US"/>
              <a:pPr/>
              <a:t>12</a:t>
            </a:fld>
            <a:endParaRPr lang="en-US"/>
          </a:p>
        </p:txBody>
      </p:sp>
    </p:spTree>
    <p:extLst>
      <p:ext uri="{BB962C8B-B14F-4D97-AF65-F5344CB8AC3E}">
        <p14:creationId xmlns:p14="http://schemas.microsoft.com/office/powerpoint/2010/main" val="263248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noTextEdit="1"/>
          </p:cNvSpPr>
          <p:nvPr>
            <p:ph type="sldImg"/>
          </p:nvPr>
        </p:nvSpPr>
        <p:spPr bwMode="auto">
          <a:noFill/>
          <a:ln>
            <a:solidFill>
              <a:srgbClr val="000000"/>
            </a:solidFill>
            <a:miter lim="800000"/>
            <a:headEnd/>
            <a:tailEnd/>
          </a:ln>
        </p:spPr>
      </p:sp>
      <p:sp>
        <p:nvSpPr>
          <p:cNvPr id="29698" name="Notes Placeholder 2"/>
          <p:cNvSpPr>
            <a:spLocks noGrp="1"/>
          </p:cNvSpPr>
          <p:nvPr>
            <p:ph type="body" idx="1"/>
          </p:nvPr>
        </p:nvSpPr>
        <p:spPr bwMode="auto">
          <a:noFill/>
        </p:spPr>
        <p:txBody>
          <a:bodyPr/>
          <a:lstStyle/>
          <a:p>
            <a:pPr>
              <a:spcBef>
                <a:spcPct val="0"/>
              </a:spcBef>
            </a:pPr>
            <a:r>
              <a:rPr lang="en-US" dirty="0" err="1">
                <a:latin typeface="Verdana" charset="0"/>
              </a:rPr>
              <a:t>Gianlorenzo</a:t>
            </a:r>
            <a:r>
              <a:rPr lang="en-US" dirty="0">
                <a:latin typeface="Verdana" charset="0"/>
              </a:rPr>
              <a:t> Bernini DAVID</a:t>
            </a:r>
            <a:br>
              <a:rPr lang="en-US" dirty="0">
                <a:latin typeface="Verdana" charset="0"/>
              </a:rPr>
            </a:br>
            <a:r>
              <a:rPr lang="en-US" dirty="0">
                <a:latin typeface="Verdana" charset="0"/>
              </a:rPr>
              <a:t>1623. Marble, height 5</a:t>
            </a:r>
            <a:r>
              <a:rPr lang="uk-UA" dirty="0">
                <a:latin typeface="Verdana" charset="0"/>
              </a:rPr>
              <a:t>'</a:t>
            </a:r>
            <a:r>
              <a:rPr lang="en-US" dirty="0">
                <a:latin typeface="Verdana" charset="0"/>
              </a:rPr>
              <a:t>7</a:t>
            </a:r>
            <a:r>
              <a:rPr lang="ru-RU" dirty="0">
                <a:latin typeface="Verdana" charset="0"/>
              </a:rPr>
              <a:t>"</a:t>
            </a:r>
            <a:r>
              <a:rPr lang="en-US" dirty="0">
                <a:latin typeface="Verdana" charset="0"/>
              </a:rPr>
              <a:t> (1.7 m).</a:t>
            </a:r>
            <a:br>
              <a:rPr lang="en-US" dirty="0">
                <a:latin typeface="Verdana" charset="0"/>
              </a:rPr>
            </a:br>
            <a:r>
              <a:rPr lang="en-US" dirty="0">
                <a:latin typeface="Verdana" charset="0"/>
              </a:rPr>
              <a:t>Galleria Borghese, Rome. © Per </a:t>
            </a:r>
            <a:r>
              <a:rPr lang="en-US" dirty="0" err="1">
                <a:latin typeface="Verdana" charset="0"/>
              </a:rPr>
              <a:t>concessione</a:t>
            </a:r>
            <a:r>
              <a:rPr lang="en-US" dirty="0">
                <a:latin typeface="Verdana" charset="0"/>
              </a:rPr>
              <a:t> del </a:t>
            </a:r>
            <a:r>
              <a:rPr lang="en-US" dirty="0" err="1">
                <a:latin typeface="Verdana" charset="0"/>
              </a:rPr>
              <a:t>Ministero</a:t>
            </a:r>
            <a:r>
              <a:rPr lang="en-US" dirty="0">
                <a:latin typeface="Verdana" charset="0"/>
              </a:rPr>
              <a:t> per </a:t>
            </a:r>
            <a:r>
              <a:rPr lang="en-US" dirty="0" err="1">
                <a:latin typeface="Verdana" charset="0"/>
              </a:rPr>
              <a:t>i</a:t>
            </a:r>
            <a:r>
              <a:rPr lang="en-US" dirty="0">
                <a:latin typeface="Verdana" charset="0"/>
              </a:rPr>
              <a:t> Beni e le </a:t>
            </a:r>
            <a:r>
              <a:rPr lang="en-US" dirty="0" err="1">
                <a:latin typeface="Verdana" charset="0"/>
              </a:rPr>
              <a:t>Attività</a:t>
            </a:r>
            <a:r>
              <a:rPr lang="en-US" dirty="0">
                <a:latin typeface="Verdana" charset="0"/>
              </a:rPr>
              <a:t> </a:t>
            </a:r>
            <a:r>
              <a:rPr lang="en-US" dirty="0" err="1">
                <a:latin typeface="Verdana" charset="0"/>
              </a:rPr>
              <a:t>Culturali</a:t>
            </a:r>
            <a:r>
              <a:rPr lang="en-US" dirty="0">
                <a:latin typeface="Verdana" charset="0"/>
              </a:rPr>
              <a:t>/</a:t>
            </a:r>
            <a:r>
              <a:rPr lang="en-US" dirty="0" err="1">
                <a:latin typeface="Verdana" charset="0"/>
              </a:rPr>
              <a:t>Archivi</a:t>
            </a:r>
            <a:r>
              <a:rPr lang="en-US" dirty="0">
                <a:latin typeface="Verdana" charset="0"/>
              </a:rPr>
              <a:t> </a:t>
            </a:r>
            <a:r>
              <a:rPr lang="en-US" dirty="0" err="1">
                <a:latin typeface="Verdana" charset="0"/>
              </a:rPr>
              <a:t>Alinari</a:t>
            </a:r>
            <a:r>
              <a:rPr lang="en-US" dirty="0">
                <a:latin typeface="Verdana" charset="0"/>
              </a:rPr>
              <a:t>, Firenze.</a:t>
            </a:r>
            <a:endParaRPr lang="en-US" dirty="0"/>
          </a:p>
        </p:txBody>
      </p:sp>
      <p:sp>
        <p:nvSpPr>
          <p:cNvPr id="29699" name="Slide Number Placeholder 3"/>
          <p:cNvSpPr>
            <a:spLocks noGrp="1"/>
          </p:cNvSpPr>
          <p:nvPr>
            <p:ph type="sldNum" sz="quarter" idx="5"/>
          </p:nvPr>
        </p:nvSpPr>
        <p:spPr bwMode="auto">
          <a:noFill/>
          <a:ln>
            <a:miter lim="800000"/>
            <a:headEnd/>
            <a:tailEnd/>
          </a:ln>
        </p:spPr>
        <p:txBody>
          <a:bodyPr/>
          <a:lstStyle/>
          <a:p>
            <a:fld id="{A42A3230-AA21-D34B-BDFA-FCB1496634B0}" type="slidenum">
              <a:rPr lang="en-US"/>
              <a:pPr/>
              <a:t>14</a:t>
            </a:fld>
            <a:endParaRPr lang="en-US"/>
          </a:p>
        </p:txBody>
      </p:sp>
    </p:spTree>
    <p:extLst>
      <p:ext uri="{BB962C8B-B14F-4D97-AF65-F5344CB8AC3E}">
        <p14:creationId xmlns:p14="http://schemas.microsoft.com/office/powerpoint/2010/main" val="602907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a:lstStyle/>
          <a:p>
            <a:pPr>
              <a:spcBef>
                <a:spcPct val="0"/>
              </a:spcBef>
            </a:pPr>
            <a:r>
              <a:rPr lang="en-US" dirty="0" err="1"/>
              <a:t>Gianlorenzo</a:t>
            </a:r>
            <a:r>
              <a:rPr lang="en-US" dirty="0"/>
              <a:t> Bernini CORNARO CHAPEL, CHURCH OF SANTA MARIA DELLA VITTORIA, ROME</a:t>
            </a:r>
            <a:br>
              <a:rPr lang="en-US" dirty="0"/>
            </a:br>
            <a:r>
              <a:rPr lang="en-US" dirty="0"/>
              <a:t>1642–1652.</a:t>
            </a:r>
            <a:br>
              <a:rPr lang="en-US" dirty="0"/>
            </a:br>
            <a:r>
              <a:rPr lang="en-US" dirty="0"/>
              <a:t>© Vincenzo </a:t>
            </a:r>
            <a:r>
              <a:rPr lang="en-US" dirty="0" err="1"/>
              <a:t>Pirozzi</a:t>
            </a:r>
            <a:r>
              <a:rPr lang="en-US" dirty="0"/>
              <a:t>, Rome. </a:t>
            </a:r>
          </a:p>
        </p:txBody>
      </p:sp>
      <p:sp>
        <p:nvSpPr>
          <p:cNvPr id="32771" name="Slide Number Placeholder 3"/>
          <p:cNvSpPr>
            <a:spLocks noGrp="1"/>
          </p:cNvSpPr>
          <p:nvPr>
            <p:ph type="sldNum" sz="quarter" idx="5"/>
          </p:nvPr>
        </p:nvSpPr>
        <p:spPr bwMode="auto">
          <a:noFill/>
          <a:ln>
            <a:miter lim="800000"/>
            <a:headEnd/>
            <a:tailEnd/>
          </a:ln>
        </p:spPr>
        <p:txBody>
          <a:bodyPr/>
          <a:lstStyle/>
          <a:p>
            <a:fld id="{0F27E2DD-E002-B74A-A500-504563953D4E}" type="slidenum">
              <a:rPr lang="en-US"/>
              <a:pPr/>
              <a:t>16</a:t>
            </a:fld>
            <a:endParaRPr lang="en-US"/>
          </a:p>
        </p:txBody>
      </p:sp>
    </p:spTree>
    <p:extLst>
      <p:ext uri="{BB962C8B-B14F-4D97-AF65-F5344CB8AC3E}">
        <p14:creationId xmlns:p14="http://schemas.microsoft.com/office/powerpoint/2010/main" val="1236489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a:lstStyle/>
          <a:p>
            <a:pPr>
              <a:spcBef>
                <a:spcPct val="0"/>
              </a:spcBef>
            </a:pPr>
            <a:r>
              <a:rPr lang="en-US" dirty="0"/>
              <a:t>Francesco Borromini FAÇADE OF THE CHURCH OF SAN CARLO ALLE QUATTRO FONTANE</a:t>
            </a:r>
            <a:br>
              <a:rPr lang="en-US" dirty="0"/>
            </a:br>
            <a:r>
              <a:rPr lang="en-US" dirty="0"/>
              <a:t>Rome. 1638–1667.</a:t>
            </a:r>
            <a:br>
              <a:rPr lang="en-US" dirty="0"/>
            </a:br>
            <a:r>
              <a:rPr lang="en-US" dirty="0"/>
              <a:t> © 2016. Photo Scala, Florence.</a:t>
            </a:r>
          </a:p>
        </p:txBody>
      </p:sp>
      <p:sp>
        <p:nvSpPr>
          <p:cNvPr id="36867" name="Slide Number Placeholder 3"/>
          <p:cNvSpPr>
            <a:spLocks noGrp="1"/>
          </p:cNvSpPr>
          <p:nvPr>
            <p:ph type="sldNum" sz="quarter" idx="5"/>
          </p:nvPr>
        </p:nvSpPr>
        <p:spPr bwMode="auto">
          <a:noFill/>
          <a:ln>
            <a:miter lim="800000"/>
            <a:headEnd/>
            <a:tailEnd/>
          </a:ln>
        </p:spPr>
        <p:txBody>
          <a:bodyPr/>
          <a:lstStyle/>
          <a:p>
            <a:fld id="{56A3BDEA-B5D0-2344-8349-0AEAFF981F57}" type="slidenum">
              <a:rPr lang="en-US"/>
              <a:pPr/>
              <a:t>19</a:t>
            </a:fld>
            <a:endParaRPr lang="en-US"/>
          </a:p>
        </p:txBody>
      </p:sp>
    </p:spTree>
    <p:extLst>
      <p:ext uri="{BB962C8B-B14F-4D97-AF65-F5344CB8AC3E}">
        <p14:creationId xmlns:p14="http://schemas.microsoft.com/office/powerpoint/2010/main" val="473286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a:lstStyle/>
          <a:p>
            <a:pPr>
              <a:spcBef>
                <a:spcPct val="0"/>
              </a:spcBef>
            </a:pPr>
            <a:r>
              <a:rPr lang="en-US" dirty="0"/>
              <a:t>Francesco Borromini PLAN OF THE CHURCH OF SAN CARLO ALLE QUATTRO FONTANE</a:t>
            </a:r>
            <a:br>
              <a:rPr lang="en-US" dirty="0"/>
            </a:br>
            <a:r>
              <a:rPr lang="en-US" dirty="0"/>
              <a:t>Rome. 1638–1667. </a:t>
            </a:r>
          </a:p>
        </p:txBody>
      </p:sp>
      <p:sp>
        <p:nvSpPr>
          <p:cNvPr id="38915" name="Slide Number Placeholder 3"/>
          <p:cNvSpPr>
            <a:spLocks noGrp="1"/>
          </p:cNvSpPr>
          <p:nvPr>
            <p:ph type="sldNum" sz="quarter" idx="5"/>
          </p:nvPr>
        </p:nvSpPr>
        <p:spPr bwMode="auto">
          <a:noFill/>
          <a:ln>
            <a:miter lim="800000"/>
            <a:headEnd/>
            <a:tailEnd/>
          </a:ln>
        </p:spPr>
        <p:txBody>
          <a:bodyPr/>
          <a:lstStyle/>
          <a:p>
            <a:fld id="{D3A9FCAA-EF6E-B341-A426-3622CA95919E}" type="slidenum">
              <a:rPr lang="en-US"/>
              <a:pPr/>
              <a:t>20</a:t>
            </a:fld>
            <a:endParaRPr lang="en-US"/>
          </a:p>
        </p:txBody>
      </p:sp>
    </p:spTree>
    <p:extLst>
      <p:ext uri="{BB962C8B-B14F-4D97-AF65-F5344CB8AC3E}">
        <p14:creationId xmlns:p14="http://schemas.microsoft.com/office/powerpoint/2010/main" val="254827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p:spPr>
      </p:sp>
      <p:sp>
        <p:nvSpPr>
          <p:cNvPr id="40962" name="Notes Placeholder 2"/>
          <p:cNvSpPr>
            <a:spLocks noGrp="1"/>
          </p:cNvSpPr>
          <p:nvPr>
            <p:ph type="body" idx="1"/>
          </p:nvPr>
        </p:nvSpPr>
        <p:spPr bwMode="auto">
          <a:noFill/>
        </p:spPr>
        <p:txBody>
          <a:bodyPr/>
          <a:lstStyle/>
          <a:p>
            <a:pPr>
              <a:spcBef>
                <a:spcPct val="0"/>
              </a:spcBef>
            </a:pPr>
            <a:r>
              <a:rPr lang="en-US" dirty="0"/>
              <a:t>Francesco Borromini VIEW INTO THE DOME OF THE CHURCH OF SAN CARLO ALLE QUATTRO FONTANE</a:t>
            </a:r>
            <a:br>
              <a:rPr lang="en-US" dirty="0"/>
            </a:br>
            <a:r>
              <a:rPr lang="en-US" dirty="0"/>
              <a:t>Rome. 1638–1667.</a:t>
            </a:r>
            <a:br>
              <a:rPr lang="en-US" dirty="0"/>
            </a:br>
            <a:r>
              <a:rPr lang="en-US" dirty="0"/>
              <a:t>© View Pictures Ltd/</a:t>
            </a:r>
            <a:r>
              <a:rPr lang="en-US" dirty="0" err="1"/>
              <a:t>Alamy</a:t>
            </a:r>
            <a:r>
              <a:rPr lang="en-US" dirty="0"/>
              <a:t> Stock Photo.</a:t>
            </a:r>
          </a:p>
        </p:txBody>
      </p:sp>
      <p:sp>
        <p:nvSpPr>
          <p:cNvPr id="40963" name="Slide Number Placeholder 3"/>
          <p:cNvSpPr>
            <a:spLocks noGrp="1"/>
          </p:cNvSpPr>
          <p:nvPr>
            <p:ph type="sldNum" sz="quarter" idx="5"/>
          </p:nvPr>
        </p:nvSpPr>
        <p:spPr bwMode="auto">
          <a:noFill/>
          <a:ln>
            <a:miter lim="800000"/>
            <a:headEnd/>
            <a:tailEnd/>
          </a:ln>
        </p:spPr>
        <p:txBody>
          <a:bodyPr/>
          <a:lstStyle/>
          <a:p>
            <a:fld id="{0BFF5DAB-1B8F-E043-A69F-776B7745C74C}" type="slidenum">
              <a:rPr lang="en-US"/>
              <a:pPr/>
              <a:t>21</a:t>
            </a:fld>
            <a:endParaRPr lang="en-US"/>
          </a:p>
        </p:txBody>
      </p:sp>
    </p:spTree>
    <p:extLst>
      <p:ext uri="{BB962C8B-B14F-4D97-AF65-F5344CB8AC3E}">
        <p14:creationId xmlns:p14="http://schemas.microsoft.com/office/powerpoint/2010/main" val="804492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p:spPr>
      </p:sp>
      <p:sp>
        <p:nvSpPr>
          <p:cNvPr id="45058" name="Notes Placeholder 2"/>
          <p:cNvSpPr>
            <a:spLocks noGrp="1"/>
          </p:cNvSpPr>
          <p:nvPr>
            <p:ph type="body" idx="1"/>
          </p:nvPr>
        </p:nvSpPr>
        <p:spPr bwMode="auto">
          <a:noFill/>
        </p:spPr>
        <p:txBody>
          <a:bodyPr/>
          <a:lstStyle/>
          <a:p>
            <a:pPr>
              <a:spcBef>
                <a:spcPct val="0"/>
              </a:spcBef>
            </a:pPr>
            <a:r>
              <a:rPr lang="en-US" dirty="0" err="1"/>
              <a:t>Annibale</a:t>
            </a:r>
            <a:r>
              <a:rPr lang="en-US" dirty="0"/>
              <a:t> Carracci CEILING OF GALLERY, PALAZZO FARNESE</a:t>
            </a:r>
            <a:br>
              <a:rPr lang="en-US" dirty="0"/>
            </a:br>
            <a:r>
              <a:rPr lang="en-US" dirty="0"/>
              <a:t>Rome. 1597–1601.</a:t>
            </a:r>
            <a:br>
              <a:rPr lang="en-US" dirty="0"/>
            </a:br>
            <a:r>
              <a:rPr lang="en-US" dirty="0"/>
              <a:t>Fresco, approx. 68</a:t>
            </a:r>
            <a:r>
              <a:rPr lang="uk-UA" dirty="0"/>
              <a:t>'</a:t>
            </a:r>
            <a:r>
              <a:rPr lang="en-US" dirty="0"/>
              <a:t> × 21</a:t>
            </a:r>
            <a:r>
              <a:rPr lang="uk-UA" dirty="0"/>
              <a:t>'</a:t>
            </a:r>
            <a:r>
              <a:rPr lang="en-US" dirty="0"/>
              <a:t> (20.7 × 6.4 m).</a:t>
            </a:r>
            <a:br>
              <a:rPr lang="en-US" dirty="0"/>
            </a:br>
            <a:r>
              <a:rPr lang="en-US" dirty="0" err="1"/>
              <a:t>Canali</a:t>
            </a:r>
            <a:r>
              <a:rPr lang="en-US" dirty="0"/>
              <a:t> Photobank, Milan, Italy. </a:t>
            </a:r>
          </a:p>
        </p:txBody>
      </p:sp>
      <p:sp>
        <p:nvSpPr>
          <p:cNvPr id="45059" name="Slide Number Placeholder 3"/>
          <p:cNvSpPr>
            <a:spLocks noGrp="1"/>
          </p:cNvSpPr>
          <p:nvPr>
            <p:ph type="sldNum" sz="quarter" idx="5"/>
          </p:nvPr>
        </p:nvSpPr>
        <p:spPr bwMode="auto">
          <a:noFill/>
          <a:ln>
            <a:miter lim="800000"/>
            <a:headEnd/>
            <a:tailEnd/>
          </a:ln>
        </p:spPr>
        <p:txBody>
          <a:bodyPr/>
          <a:lstStyle/>
          <a:p>
            <a:fld id="{4E01C054-51AE-1D4C-9552-EACF541C199A}" type="slidenum">
              <a:rPr lang="en-US"/>
              <a:pPr/>
              <a:t>24</a:t>
            </a:fld>
            <a:endParaRPr lang="en-US"/>
          </a:p>
        </p:txBody>
      </p:sp>
    </p:spTree>
    <p:extLst>
      <p:ext uri="{BB962C8B-B14F-4D97-AF65-F5344CB8AC3E}">
        <p14:creationId xmlns:p14="http://schemas.microsoft.com/office/powerpoint/2010/main" val="554069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p:cNvSpPr>
            <a:spLocks noGrp="1" noRot="1" noChangeAspect="1" noTextEdit="1"/>
          </p:cNvSpPr>
          <p:nvPr>
            <p:ph type="sldImg"/>
          </p:nvPr>
        </p:nvSpPr>
        <p:spPr bwMode="auto">
          <a:noFill/>
          <a:ln>
            <a:solidFill>
              <a:srgbClr val="000000"/>
            </a:solidFill>
            <a:miter lim="800000"/>
            <a:headEnd/>
            <a:tailEnd/>
          </a:ln>
        </p:spPr>
      </p:sp>
      <p:sp>
        <p:nvSpPr>
          <p:cNvPr id="48130" name="Notes Placeholder 2"/>
          <p:cNvSpPr>
            <a:spLocks noGrp="1"/>
          </p:cNvSpPr>
          <p:nvPr>
            <p:ph type="body" idx="1"/>
          </p:nvPr>
        </p:nvSpPr>
        <p:spPr bwMode="auto">
          <a:noFill/>
        </p:spPr>
        <p:txBody>
          <a:bodyPr/>
          <a:lstStyle/>
          <a:p>
            <a:pPr>
              <a:spcBef>
                <a:spcPct val="0"/>
              </a:spcBef>
            </a:pPr>
            <a:r>
              <a:rPr lang="en-US" dirty="0"/>
              <a:t>Caravaggio BACCHUS</a:t>
            </a:r>
            <a:br>
              <a:rPr lang="en-US" dirty="0"/>
            </a:br>
            <a:r>
              <a:rPr lang="en-US" dirty="0"/>
              <a:t>1595–1596. Oil on canvas, 37 × 33-1/2</a:t>
            </a:r>
            <a:r>
              <a:rPr lang="ru-RU" dirty="0"/>
              <a:t>"</a:t>
            </a:r>
            <a:r>
              <a:rPr lang="en-US" dirty="0"/>
              <a:t> (94 × 85.1 cm).</a:t>
            </a:r>
            <a:br>
              <a:rPr lang="en-US" dirty="0"/>
            </a:br>
            <a:r>
              <a:rPr lang="en-US" dirty="0"/>
              <a:t>Galleria </a:t>
            </a:r>
            <a:r>
              <a:rPr lang="en-US" dirty="0" err="1"/>
              <a:t>degli</a:t>
            </a:r>
            <a:r>
              <a:rPr lang="en-US" dirty="0"/>
              <a:t> Uffizi, Florence. © </a:t>
            </a:r>
            <a:r>
              <a:rPr lang="en-US" dirty="0" err="1"/>
              <a:t>Quattrone</a:t>
            </a:r>
            <a:r>
              <a:rPr lang="en-US" dirty="0"/>
              <a:t>, Florence.</a:t>
            </a:r>
          </a:p>
        </p:txBody>
      </p:sp>
      <p:sp>
        <p:nvSpPr>
          <p:cNvPr id="48131" name="Slide Number Placeholder 3"/>
          <p:cNvSpPr>
            <a:spLocks noGrp="1"/>
          </p:cNvSpPr>
          <p:nvPr>
            <p:ph type="sldNum" sz="quarter" idx="5"/>
          </p:nvPr>
        </p:nvSpPr>
        <p:spPr bwMode="auto">
          <a:noFill/>
          <a:ln>
            <a:miter lim="800000"/>
            <a:headEnd/>
            <a:tailEnd/>
          </a:ln>
        </p:spPr>
        <p:txBody>
          <a:bodyPr/>
          <a:lstStyle/>
          <a:p>
            <a:fld id="{E87CC1BD-CB89-0C42-9611-7DF5BA9592DA}" type="slidenum">
              <a:rPr lang="en-US"/>
              <a:pPr/>
              <a:t>26</a:t>
            </a:fld>
            <a:endParaRPr lang="en-US"/>
          </a:p>
        </p:txBody>
      </p:sp>
    </p:spTree>
    <p:extLst>
      <p:ext uri="{BB962C8B-B14F-4D97-AF65-F5344CB8AC3E}">
        <p14:creationId xmlns:p14="http://schemas.microsoft.com/office/powerpoint/2010/main" val="7645058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Image Placeholder 1"/>
          <p:cNvSpPr>
            <a:spLocks noGrp="1" noRot="1" noChangeAspect="1" noTextEdit="1"/>
          </p:cNvSpPr>
          <p:nvPr>
            <p:ph type="sldImg"/>
          </p:nvPr>
        </p:nvSpPr>
        <p:spPr bwMode="auto">
          <a:noFill/>
          <a:ln>
            <a:solidFill>
              <a:srgbClr val="000000"/>
            </a:solidFill>
            <a:miter lim="800000"/>
            <a:headEnd/>
            <a:tailEnd/>
          </a:ln>
        </p:spPr>
      </p:sp>
      <p:sp>
        <p:nvSpPr>
          <p:cNvPr id="52226" name="Notes Placeholder 2"/>
          <p:cNvSpPr>
            <a:spLocks noGrp="1"/>
          </p:cNvSpPr>
          <p:nvPr>
            <p:ph type="body" idx="1"/>
          </p:nvPr>
        </p:nvSpPr>
        <p:spPr bwMode="auto">
          <a:noFill/>
        </p:spPr>
        <p:txBody>
          <a:bodyPr/>
          <a:lstStyle/>
          <a:p>
            <a:pPr>
              <a:spcBef>
                <a:spcPct val="0"/>
              </a:spcBef>
            </a:pPr>
            <a:r>
              <a:rPr lang="en-US" dirty="0"/>
              <a:t>CONTARELLI CHAPEL, SAN LUIGI DEI FRANCESI</a:t>
            </a:r>
            <a:br>
              <a:rPr lang="en-US" dirty="0"/>
            </a:br>
            <a:r>
              <a:rPr lang="en-US" dirty="0"/>
              <a:t>Rome. Paintings by Caravaggio 1599–1600.</a:t>
            </a:r>
            <a:br>
              <a:rPr lang="en-US" dirty="0"/>
            </a:br>
            <a:r>
              <a:rPr lang="en-US" dirty="0"/>
              <a:t> © 2016. Photo Scala, Florence. </a:t>
            </a:r>
          </a:p>
        </p:txBody>
      </p:sp>
      <p:sp>
        <p:nvSpPr>
          <p:cNvPr id="52227" name="Slide Number Placeholder 3"/>
          <p:cNvSpPr>
            <a:spLocks noGrp="1"/>
          </p:cNvSpPr>
          <p:nvPr>
            <p:ph type="sldNum" sz="quarter" idx="5"/>
          </p:nvPr>
        </p:nvSpPr>
        <p:spPr bwMode="auto">
          <a:noFill/>
          <a:ln>
            <a:miter lim="800000"/>
            <a:headEnd/>
            <a:tailEnd/>
          </a:ln>
        </p:spPr>
        <p:txBody>
          <a:bodyPr/>
          <a:lstStyle/>
          <a:p>
            <a:fld id="{42F7C7B7-4223-174C-AB09-DAE518DD1B12}" type="slidenum">
              <a:rPr lang="en-US"/>
              <a:pPr/>
              <a:t>29</a:t>
            </a:fld>
            <a:endParaRPr lang="en-US"/>
          </a:p>
        </p:txBody>
      </p:sp>
    </p:spTree>
    <p:extLst>
      <p:ext uri="{BB962C8B-B14F-4D97-AF65-F5344CB8AC3E}">
        <p14:creationId xmlns:p14="http://schemas.microsoft.com/office/powerpoint/2010/main" val="654942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p:cNvSpPr>
            <a:spLocks noGrp="1" noRot="1" noChangeAspect="1" noTextEdit="1"/>
          </p:cNvSpPr>
          <p:nvPr>
            <p:ph type="sldImg"/>
          </p:nvPr>
        </p:nvSpPr>
        <p:spPr bwMode="auto">
          <a:noFill/>
          <a:ln>
            <a:solidFill>
              <a:srgbClr val="000000"/>
            </a:solidFill>
            <a:miter lim="800000"/>
            <a:headEnd/>
            <a:tailEnd/>
          </a:ln>
        </p:spPr>
      </p:sp>
      <p:sp>
        <p:nvSpPr>
          <p:cNvPr id="54274" name="Notes Placeholder 2"/>
          <p:cNvSpPr>
            <a:spLocks noGrp="1"/>
          </p:cNvSpPr>
          <p:nvPr>
            <p:ph type="body" idx="1"/>
          </p:nvPr>
        </p:nvSpPr>
        <p:spPr bwMode="auto">
          <a:noFill/>
        </p:spPr>
        <p:txBody>
          <a:bodyPr/>
          <a:lstStyle/>
          <a:p>
            <a:pPr>
              <a:spcBef>
                <a:spcPct val="0"/>
              </a:spcBef>
            </a:pPr>
            <a:r>
              <a:rPr lang="en-US" dirty="0"/>
              <a:t>Caravaggio THE CALLING OF ST. MATTHEW</a:t>
            </a:r>
            <a:br>
              <a:rPr lang="en-US" dirty="0"/>
            </a:br>
            <a:r>
              <a:rPr lang="en-US" dirty="0" err="1"/>
              <a:t>Contarelli</a:t>
            </a:r>
            <a:r>
              <a:rPr lang="en-US" dirty="0"/>
              <a:t> Chapel, church of San Luigi </a:t>
            </a:r>
            <a:r>
              <a:rPr lang="en-US" dirty="0" err="1"/>
              <a:t>dei</a:t>
            </a:r>
            <a:r>
              <a:rPr lang="en-US" dirty="0"/>
              <a:t> </a:t>
            </a:r>
            <a:r>
              <a:rPr lang="en-US" dirty="0" err="1"/>
              <a:t>Francesi</a:t>
            </a:r>
            <a:r>
              <a:rPr lang="en-US" dirty="0"/>
              <a:t>, Rome. 1599–1600.</a:t>
            </a:r>
            <a:br>
              <a:rPr lang="en-US" dirty="0"/>
            </a:br>
            <a:r>
              <a:rPr lang="en-US" dirty="0"/>
              <a:t>Oil on canvas, 10</a:t>
            </a:r>
            <a:r>
              <a:rPr lang="uk-UA" dirty="0"/>
              <a:t>'</a:t>
            </a:r>
            <a:r>
              <a:rPr lang="en-US" dirty="0"/>
              <a:t>7-1/2</a:t>
            </a:r>
            <a:r>
              <a:rPr lang="ru-RU" dirty="0"/>
              <a:t>"</a:t>
            </a:r>
            <a:r>
              <a:rPr lang="en-US" dirty="0"/>
              <a:t> × 11</a:t>
            </a:r>
            <a:r>
              <a:rPr lang="uk-UA" dirty="0"/>
              <a:t>'</a:t>
            </a:r>
            <a:r>
              <a:rPr lang="en-US" dirty="0"/>
              <a:t>2</a:t>
            </a:r>
            <a:r>
              <a:rPr lang="ru-RU" dirty="0"/>
              <a:t>"</a:t>
            </a:r>
            <a:r>
              <a:rPr lang="en-US" dirty="0"/>
              <a:t> (3.24 × 3.4 m).</a:t>
            </a:r>
            <a:br>
              <a:rPr lang="en-US" dirty="0"/>
            </a:br>
            <a:r>
              <a:rPr lang="en-US" dirty="0"/>
              <a:t>© </a:t>
            </a:r>
            <a:r>
              <a:rPr lang="en-US" dirty="0" err="1"/>
              <a:t>Quattrone</a:t>
            </a:r>
            <a:r>
              <a:rPr lang="en-US" dirty="0"/>
              <a:t>, Florence. </a:t>
            </a:r>
          </a:p>
        </p:txBody>
      </p:sp>
      <p:sp>
        <p:nvSpPr>
          <p:cNvPr id="54275" name="Slide Number Placeholder 3"/>
          <p:cNvSpPr>
            <a:spLocks noGrp="1"/>
          </p:cNvSpPr>
          <p:nvPr>
            <p:ph type="sldNum" sz="quarter" idx="5"/>
          </p:nvPr>
        </p:nvSpPr>
        <p:spPr bwMode="auto">
          <a:noFill/>
          <a:ln>
            <a:miter lim="800000"/>
            <a:headEnd/>
            <a:tailEnd/>
          </a:ln>
        </p:spPr>
        <p:txBody>
          <a:bodyPr/>
          <a:lstStyle/>
          <a:p>
            <a:fld id="{B58B36FE-6CBA-1E4D-8A6D-F0B5EC967CBE}" type="slidenum">
              <a:rPr lang="en-US"/>
              <a:pPr/>
              <a:t>30</a:t>
            </a:fld>
            <a:endParaRPr lang="en-US"/>
          </a:p>
        </p:txBody>
      </p:sp>
    </p:spTree>
    <p:extLst>
      <p:ext uri="{BB962C8B-B14F-4D97-AF65-F5344CB8AC3E}">
        <p14:creationId xmlns:p14="http://schemas.microsoft.com/office/powerpoint/2010/main" val="1764200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p:spPr>
      </p:sp>
      <p:sp>
        <p:nvSpPr>
          <p:cNvPr id="57346" name="Notes Placeholder 2"/>
          <p:cNvSpPr>
            <a:spLocks noGrp="1"/>
          </p:cNvSpPr>
          <p:nvPr>
            <p:ph type="body" idx="1"/>
          </p:nvPr>
        </p:nvSpPr>
        <p:spPr bwMode="auto">
          <a:noFill/>
        </p:spPr>
        <p:txBody>
          <a:bodyPr/>
          <a:lstStyle/>
          <a:p>
            <a:pPr>
              <a:spcBef>
                <a:spcPct val="0"/>
              </a:spcBef>
            </a:pPr>
            <a:r>
              <a:rPr lang="en-US" dirty="0">
                <a:latin typeface="Verdana" charset="0"/>
              </a:rPr>
              <a:t>Caravaggio THE CONVERSION OF ST. PAUL</a:t>
            </a:r>
            <a:br>
              <a:rPr lang="en-US" dirty="0">
                <a:latin typeface="Verdana" charset="0"/>
              </a:rPr>
            </a:br>
            <a:r>
              <a:rPr lang="en-US" dirty="0" err="1">
                <a:latin typeface="Verdana" charset="0"/>
              </a:rPr>
              <a:t>Cerasi</a:t>
            </a:r>
            <a:r>
              <a:rPr lang="en-US" dirty="0">
                <a:latin typeface="Verdana" charset="0"/>
              </a:rPr>
              <a:t> Chapel, Santa Maria del </a:t>
            </a:r>
            <a:r>
              <a:rPr lang="en-US" dirty="0" err="1">
                <a:latin typeface="Verdana" charset="0"/>
              </a:rPr>
              <a:t>Popolo</a:t>
            </a:r>
            <a:r>
              <a:rPr lang="en-US" dirty="0">
                <a:latin typeface="Verdana" charset="0"/>
              </a:rPr>
              <a:t>, Rome. c. 1601.</a:t>
            </a:r>
            <a:br>
              <a:rPr lang="en-US" dirty="0">
                <a:latin typeface="Verdana" charset="0"/>
              </a:rPr>
            </a:br>
            <a:r>
              <a:rPr lang="en-US" dirty="0">
                <a:latin typeface="Verdana" charset="0"/>
              </a:rPr>
              <a:t>Oil on canvas, 7</a:t>
            </a:r>
            <a:r>
              <a:rPr lang="uk-UA" dirty="0">
                <a:latin typeface="Verdana" charset="0"/>
              </a:rPr>
              <a:t>'</a:t>
            </a:r>
            <a:r>
              <a:rPr lang="en-US" dirty="0">
                <a:latin typeface="Verdana" charset="0"/>
              </a:rPr>
              <a:t>6</a:t>
            </a:r>
            <a:r>
              <a:rPr lang="ru-RU" dirty="0">
                <a:latin typeface="Verdana" charset="0"/>
              </a:rPr>
              <a:t>"</a:t>
            </a:r>
            <a:r>
              <a:rPr lang="en-US" dirty="0">
                <a:latin typeface="Verdana" charset="0"/>
              </a:rPr>
              <a:t> × 5</a:t>
            </a:r>
            <a:r>
              <a:rPr lang="uk-UA" dirty="0">
                <a:latin typeface="Verdana" charset="0"/>
              </a:rPr>
              <a:t>'</a:t>
            </a:r>
            <a:r>
              <a:rPr lang="en-US" dirty="0">
                <a:latin typeface="Verdana" charset="0"/>
              </a:rPr>
              <a:t>8</a:t>
            </a:r>
            <a:r>
              <a:rPr lang="ru-RU" dirty="0">
                <a:latin typeface="Verdana" charset="0"/>
              </a:rPr>
              <a:t>"</a:t>
            </a:r>
            <a:r>
              <a:rPr lang="en-US" dirty="0">
                <a:latin typeface="Verdana" charset="0"/>
              </a:rPr>
              <a:t> (2.3 × 1.75 m).</a:t>
            </a:r>
            <a:br>
              <a:rPr lang="en-US" dirty="0">
                <a:latin typeface="Verdana" charset="0"/>
              </a:rPr>
            </a:br>
            <a:r>
              <a:rPr lang="en-US" dirty="0">
                <a:latin typeface="Verdana" charset="0"/>
              </a:rPr>
              <a:t>© Vincenzo </a:t>
            </a:r>
            <a:r>
              <a:rPr lang="en-US" dirty="0" err="1">
                <a:latin typeface="Verdana" charset="0"/>
              </a:rPr>
              <a:t>Pirozzi</a:t>
            </a:r>
            <a:r>
              <a:rPr lang="en-US" dirty="0">
                <a:latin typeface="Verdana" charset="0"/>
              </a:rPr>
              <a:t>, Rome.</a:t>
            </a:r>
            <a:endParaRPr lang="en-US" dirty="0"/>
          </a:p>
        </p:txBody>
      </p:sp>
      <p:sp>
        <p:nvSpPr>
          <p:cNvPr id="57347" name="Slide Number Placeholder 3"/>
          <p:cNvSpPr>
            <a:spLocks noGrp="1"/>
          </p:cNvSpPr>
          <p:nvPr>
            <p:ph type="sldNum" sz="quarter" idx="5"/>
          </p:nvPr>
        </p:nvSpPr>
        <p:spPr bwMode="auto">
          <a:noFill/>
          <a:ln>
            <a:miter lim="800000"/>
            <a:headEnd/>
            <a:tailEnd/>
          </a:ln>
        </p:spPr>
        <p:txBody>
          <a:bodyPr/>
          <a:lstStyle/>
          <a:p>
            <a:fld id="{CA28CE6D-CAAA-694D-B9F9-A4ED0FA47718}" type="slidenum">
              <a:rPr lang="en-US"/>
              <a:pPr/>
              <a:t>32</a:t>
            </a:fld>
            <a:endParaRPr lang="en-US"/>
          </a:p>
        </p:txBody>
      </p:sp>
    </p:spTree>
    <p:extLst>
      <p:ext uri="{BB962C8B-B14F-4D97-AF65-F5344CB8AC3E}">
        <p14:creationId xmlns:p14="http://schemas.microsoft.com/office/powerpoint/2010/main" val="614971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p:cNvSpPr>
            <a:spLocks noGrp="1" noRot="1" noChangeAspect="1" noTextEdit="1"/>
          </p:cNvSpPr>
          <p:nvPr>
            <p:ph type="sldImg"/>
          </p:nvPr>
        </p:nvSpPr>
        <p:spPr bwMode="auto">
          <a:noFill/>
          <a:ln>
            <a:solidFill>
              <a:srgbClr val="000000"/>
            </a:solidFill>
            <a:miter lim="800000"/>
            <a:headEnd/>
            <a:tailEnd/>
          </a:ln>
        </p:spPr>
      </p:sp>
      <p:sp>
        <p:nvSpPr>
          <p:cNvPr id="60418" name="Notes Placeholder 2"/>
          <p:cNvSpPr>
            <a:spLocks noGrp="1"/>
          </p:cNvSpPr>
          <p:nvPr>
            <p:ph type="body" idx="1"/>
          </p:nvPr>
        </p:nvSpPr>
        <p:spPr bwMode="auto">
          <a:noFill/>
        </p:spPr>
        <p:txBody>
          <a:bodyPr/>
          <a:lstStyle/>
          <a:p>
            <a:pPr>
              <a:spcBef>
                <a:spcPct val="0"/>
              </a:spcBef>
            </a:pPr>
            <a:r>
              <a:rPr lang="en-US" dirty="0"/>
              <a:t>Artemisia Gentileschi JUDITH BEHEADING HOLOFERNES</a:t>
            </a:r>
            <a:br>
              <a:rPr lang="en-US" dirty="0"/>
            </a:br>
            <a:r>
              <a:rPr lang="en-US" dirty="0"/>
              <a:t>c. 1619–20. Oil on canvas, 6</a:t>
            </a:r>
            <a:r>
              <a:rPr lang="uk-UA" dirty="0"/>
              <a:t>'</a:t>
            </a:r>
            <a:r>
              <a:rPr lang="en-US" dirty="0"/>
              <a:t>6-3/8</a:t>
            </a:r>
            <a:r>
              <a:rPr lang="ru-RU" dirty="0"/>
              <a:t>"</a:t>
            </a:r>
            <a:r>
              <a:rPr lang="en-US" dirty="0"/>
              <a:t> × 5</a:t>
            </a:r>
            <a:r>
              <a:rPr lang="uk-UA" dirty="0"/>
              <a:t>'</a:t>
            </a:r>
            <a:r>
              <a:rPr lang="en-US" dirty="0"/>
              <a:t>4</a:t>
            </a:r>
            <a:r>
              <a:rPr lang="ru-RU" dirty="0"/>
              <a:t>"</a:t>
            </a:r>
            <a:r>
              <a:rPr lang="en-US" dirty="0"/>
              <a:t> (1.99 × 1.63 m).</a:t>
            </a:r>
            <a:br>
              <a:rPr lang="en-US" dirty="0"/>
            </a:br>
            <a:r>
              <a:rPr lang="en-US" dirty="0"/>
              <a:t>Galleria </a:t>
            </a:r>
            <a:r>
              <a:rPr lang="en-US" dirty="0" err="1"/>
              <a:t>degli</a:t>
            </a:r>
            <a:r>
              <a:rPr lang="en-US" dirty="0"/>
              <a:t> Uffizi, Florence. © </a:t>
            </a:r>
            <a:r>
              <a:rPr lang="en-US" dirty="0" err="1"/>
              <a:t>Quattrone</a:t>
            </a:r>
            <a:r>
              <a:rPr lang="en-US" dirty="0"/>
              <a:t>, Florence - courtesy of the </a:t>
            </a:r>
            <a:r>
              <a:rPr lang="en-US" dirty="0" err="1"/>
              <a:t>Ministero</a:t>
            </a:r>
            <a:r>
              <a:rPr lang="en-US" dirty="0"/>
              <a:t> Beni e Att. </a:t>
            </a:r>
            <a:r>
              <a:rPr lang="en-US" dirty="0" err="1"/>
              <a:t>Culturali</a:t>
            </a:r>
            <a:r>
              <a:rPr lang="en-US" dirty="0"/>
              <a:t>. </a:t>
            </a:r>
          </a:p>
        </p:txBody>
      </p:sp>
      <p:sp>
        <p:nvSpPr>
          <p:cNvPr id="60419" name="Slide Number Placeholder 3"/>
          <p:cNvSpPr>
            <a:spLocks noGrp="1"/>
          </p:cNvSpPr>
          <p:nvPr>
            <p:ph type="sldNum" sz="quarter" idx="5"/>
          </p:nvPr>
        </p:nvSpPr>
        <p:spPr bwMode="auto">
          <a:noFill/>
          <a:ln>
            <a:miter lim="800000"/>
            <a:headEnd/>
            <a:tailEnd/>
          </a:ln>
        </p:spPr>
        <p:txBody>
          <a:bodyPr/>
          <a:lstStyle/>
          <a:p>
            <a:fld id="{FB10327C-739F-864A-A028-B7081843AEAB}" type="slidenum">
              <a:rPr lang="en-US"/>
              <a:pPr/>
              <a:t>34</a:t>
            </a:fld>
            <a:endParaRPr lang="en-US"/>
          </a:p>
        </p:txBody>
      </p:sp>
    </p:spTree>
    <p:extLst>
      <p:ext uri="{BB962C8B-B14F-4D97-AF65-F5344CB8AC3E}">
        <p14:creationId xmlns:p14="http://schemas.microsoft.com/office/powerpoint/2010/main" val="2139531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p:spPr>
      </p:sp>
      <p:sp>
        <p:nvSpPr>
          <p:cNvPr id="63490" name="Notes Placeholder 2"/>
          <p:cNvSpPr>
            <a:spLocks noGrp="1"/>
          </p:cNvSpPr>
          <p:nvPr>
            <p:ph type="body" idx="1"/>
          </p:nvPr>
        </p:nvSpPr>
        <p:spPr bwMode="auto">
          <a:noFill/>
        </p:spPr>
        <p:txBody>
          <a:bodyPr/>
          <a:lstStyle/>
          <a:p>
            <a:pPr>
              <a:spcBef>
                <a:spcPct val="0"/>
              </a:spcBef>
            </a:pPr>
            <a:r>
              <a:rPr lang="en-US" dirty="0"/>
              <a:t>Pietro da Cortona THE GLORIFICATION OF THE PAPACY OF URBAN VIII</a:t>
            </a:r>
            <a:br>
              <a:rPr lang="en-US" dirty="0"/>
            </a:br>
            <a:r>
              <a:rPr lang="en-US" dirty="0"/>
              <a:t>Ceiling in the Gran Salone, Palazzo </a:t>
            </a:r>
            <a:r>
              <a:rPr lang="en-US" dirty="0" err="1"/>
              <a:t>Barberini</a:t>
            </a:r>
            <a:r>
              <a:rPr lang="en-US" dirty="0"/>
              <a:t>, Rome. 1632–1639.</a:t>
            </a:r>
            <a:br>
              <a:rPr lang="en-US" dirty="0"/>
            </a:br>
            <a:r>
              <a:rPr lang="en-US" dirty="0"/>
              <a:t>Fresco. Palazzo </a:t>
            </a:r>
            <a:r>
              <a:rPr lang="en-US" dirty="0" err="1"/>
              <a:t>Barberini</a:t>
            </a:r>
            <a:r>
              <a:rPr lang="en-US" dirty="0"/>
              <a:t>, Italy/</a:t>
            </a:r>
            <a:r>
              <a:rPr lang="en-US" dirty="0" err="1"/>
              <a:t>Canali</a:t>
            </a:r>
            <a:r>
              <a:rPr lang="en-US" dirty="0"/>
              <a:t> Photobank, Milan, Italy.</a:t>
            </a:r>
          </a:p>
        </p:txBody>
      </p:sp>
      <p:sp>
        <p:nvSpPr>
          <p:cNvPr id="63491" name="Slide Number Placeholder 3"/>
          <p:cNvSpPr>
            <a:spLocks noGrp="1"/>
          </p:cNvSpPr>
          <p:nvPr>
            <p:ph type="sldNum" sz="quarter" idx="5"/>
          </p:nvPr>
        </p:nvSpPr>
        <p:spPr bwMode="auto">
          <a:noFill/>
          <a:ln>
            <a:miter lim="800000"/>
            <a:headEnd/>
            <a:tailEnd/>
          </a:ln>
        </p:spPr>
        <p:txBody>
          <a:bodyPr/>
          <a:lstStyle/>
          <a:p>
            <a:fld id="{46EC9EA5-A30A-5E4B-9D9A-6B99EA1E75EA}" type="slidenum">
              <a:rPr lang="en-US"/>
              <a:pPr/>
              <a:t>36</a:t>
            </a:fld>
            <a:endParaRPr lang="en-US"/>
          </a:p>
        </p:txBody>
      </p:sp>
    </p:spTree>
    <p:extLst>
      <p:ext uri="{BB962C8B-B14F-4D97-AF65-F5344CB8AC3E}">
        <p14:creationId xmlns:p14="http://schemas.microsoft.com/office/powerpoint/2010/main" val="1640609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noTextEdit="1"/>
          </p:cNvSpPr>
          <p:nvPr>
            <p:ph type="sldImg"/>
          </p:nvPr>
        </p:nvSpPr>
        <p:spPr bwMode="auto">
          <a:noFill/>
          <a:ln>
            <a:solidFill>
              <a:srgbClr val="000000"/>
            </a:solidFill>
            <a:miter lim="800000"/>
            <a:headEnd/>
            <a:tailEnd/>
          </a:ln>
        </p:spPr>
      </p:sp>
      <p:sp>
        <p:nvSpPr>
          <p:cNvPr id="66562" name="Notes Placeholder 2"/>
          <p:cNvSpPr>
            <a:spLocks noGrp="1"/>
          </p:cNvSpPr>
          <p:nvPr>
            <p:ph type="body" idx="1"/>
          </p:nvPr>
        </p:nvSpPr>
        <p:spPr bwMode="auto">
          <a:noFill/>
        </p:spPr>
        <p:txBody>
          <a:bodyPr/>
          <a:lstStyle/>
          <a:p>
            <a:pPr>
              <a:spcBef>
                <a:spcPct val="0"/>
              </a:spcBef>
            </a:pPr>
            <a:r>
              <a:rPr lang="en-US" dirty="0"/>
              <a:t>Giovanni Battista </a:t>
            </a:r>
            <a:r>
              <a:rPr lang="en-US" dirty="0" err="1"/>
              <a:t>Gaulli</a:t>
            </a:r>
            <a:r>
              <a:rPr lang="en-US" dirty="0"/>
              <a:t> THE TRIUMPH OF THE NAME OF JESUS AND</a:t>
            </a:r>
            <a:br>
              <a:rPr lang="en-US" dirty="0"/>
            </a:br>
            <a:r>
              <a:rPr lang="en-US" dirty="0"/>
              <a:t>FALL OF THE DAMNED</a:t>
            </a:r>
            <a:br>
              <a:rPr lang="en-US" dirty="0"/>
            </a:br>
            <a:r>
              <a:rPr lang="en-US" dirty="0"/>
              <a:t>Vault of the church of Il </a:t>
            </a:r>
            <a:r>
              <a:rPr lang="en-US" dirty="0" err="1"/>
              <a:t>Gesù</a:t>
            </a:r>
            <a:r>
              <a:rPr lang="en-US" dirty="0"/>
              <a:t>, Rome. 1672–1685.</a:t>
            </a:r>
            <a:br>
              <a:rPr lang="en-US" dirty="0"/>
            </a:br>
            <a:r>
              <a:rPr lang="en-US" dirty="0"/>
              <a:t>Fresco with stucco figures.</a:t>
            </a:r>
            <a:br>
              <a:rPr lang="en-US" dirty="0"/>
            </a:br>
            <a:r>
              <a:rPr lang="en-US" dirty="0"/>
              <a:t>© Vincenzo </a:t>
            </a:r>
            <a:r>
              <a:rPr lang="en-US" dirty="0" err="1"/>
              <a:t>Pirozzi</a:t>
            </a:r>
            <a:r>
              <a:rPr lang="en-US" dirty="0"/>
              <a:t>, Rome</a:t>
            </a:r>
          </a:p>
        </p:txBody>
      </p:sp>
      <p:sp>
        <p:nvSpPr>
          <p:cNvPr id="66563" name="Slide Number Placeholder 3"/>
          <p:cNvSpPr>
            <a:spLocks noGrp="1"/>
          </p:cNvSpPr>
          <p:nvPr>
            <p:ph type="sldNum" sz="quarter" idx="5"/>
          </p:nvPr>
        </p:nvSpPr>
        <p:spPr bwMode="auto">
          <a:noFill/>
          <a:ln>
            <a:miter lim="800000"/>
            <a:headEnd/>
            <a:tailEnd/>
          </a:ln>
        </p:spPr>
        <p:txBody>
          <a:bodyPr/>
          <a:lstStyle/>
          <a:p>
            <a:fld id="{91BA699A-F5C4-E045-B6C3-39C6B44976EF}" type="slidenum">
              <a:rPr lang="en-US"/>
              <a:pPr/>
              <a:t>38</a:t>
            </a:fld>
            <a:endParaRPr lang="en-US"/>
          </a:p>
        </p:txBody>
      </p:sp>
    </p:spTree>
    <p:extLst>
      <p:ext uri="{BB962C8B-B14F-4D97-AF65-F5344CB8AC3E}">
        <p14:creationId xmlns:p14="http://schemas.microsoft.com/office/powerpoint/2010/main" val="27048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bwMode="auto">
          <a:noFill/>
          <a:ln>
            <a:solidFill>
              <a:srgbClr val="000000"/>
            </a:solidFill>
            <a:miter lim="800000"/>
            <a:headEnd/>
            <a:tailEnd/>
          </a:ln>
        </p:spPr>
      </p:sp>
      <p:sp>
        <p:nvSpPr>
          <p:cNvPr id="71682" name="Notes Placeholder 2"/>
          <p:cNvSpPr>
            <a:spLocks noGrp="1"/>
          </p:cNvSpPr>
          <p:nvPr>
            <p:ph type="body" idx="1"/>
          </p:nvPr>
        </p:nvSpPr>
        <p:spPr bwMode="auto">
          <a:noFill/>
        </p:spPr>
        <p:txBody>
          <a:bodyPr/>
          <a:lstStyle/>
          <a:p>
            <a:pPr>
              <a:spcBef>
                <a:spcPct val="0"/>
              </a:spcBef>
            </a:pPr>
            <a:r>
              <a:rPr lang="en-US" dirty="0">
                <a:latin typeface="Verdana" charset="0"/>
              </a:rPr>
              <a:t>Juan Sánchez </a:t>
            </a:r>
            <a:r>
              <a:rPr lang="en-US" dirty="0" err="1">
                <a:latin typeface="Verdana" charset="0"/>
              </a:rPr>
              <a:t>Cotán</a:t>
            </a:r>
            <a:r>
              <a:rPr lang="en-US" dirty="0">
                <a:latin typeface="Verdana" charset="0"/>
              </a:rPr>
              <a:t> STILL LIFE WITH QUINCE, CABBAGE, MELON, AND CUCUMBER</a:t>
            </a:r>
            <a:br>
              <a:rPr lang="en-US" dirty="0">
                <a:latin typeface="Verdana" charset="0"/>
              </a:rPr>
            </a:br>
            <a:r>
              <a:rPr lang="en-US" dirty="0">
                <a:latin typeface="Verdana" charset="0"/>
              </a:rPr>
              <a:t>c. 1602. Oil on canvas, 27-1/8</a:t>
            </a:r>
            <a:r>
              <a:rPr lang="ru-RU" dirty="0">
                <a:latin typeface="Verdana" charset="0"/>
              </a:rPr>
              <a:t>"</a:t>
            </a:r>
            <a:r>
              <a:rPr lang="en-US" dirty="0">
                <a:latin typeface="Verdana" charset="0"/>
              </a:rPr>
              <a:t> × 33-1/4</a:t>
            </a:r>
            <a:r>
              <a:rPr lang="ru-RU" dirty="0">
                <a:latin typeface="Verdana" charset="0"/>
              </a:rPr>
              <a:t>"</a:t>
            </a:r>
            <a:r>
              <a:rPr lang="en-US" dirty="0">
                <a:latin typeface="Verdana" charset="0"/>
              </a:rPr>
              <a:t> (68.8 × 84.4 cm).</a:t>
            </a:r>
            <a:br>
              <a:rPr lang="en-US" dirty="0">
                <a:latin typeface="Verdana" charset="0"/>
              </a:rPr>
            </a:br>
            <a:r>
              <a:rPr lang="en-US" dirty="0">
                <a:latin typeface="Verdana" charset="0"/>
              </a:rPr>
              <a:t>San Diego Museum of Art. Gift of Anne R. and Amy Putnam. © </a:t>
            </a:r>
            <a:r>
              <a:rPr lang="en-US" dirty="0" err="1">
                <a:latin typeface="Verdana" charset="0"/>
              </a:rPr>
              <a:t>akg</a:t>
            </a:r>
            <a:r>
              <a:rPr lang="en-US" dirty="0">
                <a:latin typeface="Verdana" charset="0"/>
              </a:rPr>
              <a:t>-images/De Agostini Picture Lib. [Fig. 23-16]</a:t>
            </a:r>
            <a:endParaRPr lang="en-US" dirty="0"/>
          </a:p>
        </p:txBody>
      </p:sp>
      <p:sp>
        <p:nvSpPr>
          <p:cNvPr id="71683" name="Slide Number Placeholder 3"/>
          <p:cNvSpPr>
            <a:spLocks noGrp="1"/>
          </p:cNvSpPr>
          <p:nvPr>
            <p:ph type="sldNum" sz="quarter" idx="5"/>
          </p:nvPr>
        </p:nvSpPr>
        <p:spPr bwMode="auto">
          <a:noFill/>
          <a:ln>
            <a:miter lim="800000"/>
            <a:headEnd/>
            <a:tailEnd/>
          </a:ln>
        </p:spPr>
        <p:txBody>
          <a:bodyPr/>
          <a:lstStyle/>
          <a:p>
            <a:fld id="{5E009C66-02AA-CE47-A931-B7A70F989069}" type="slidenum">
              <a:rPr lang="en-US"/>
              <a:pPr/>
              <a:t>42</a:t>
            </a:fld>
            <a:endParaRPr lang="en-US"/>
          </a:p>
        </p:txBody>
      </p:sp>
    </p:spTree>
    <p:extLst>
      <p:ext uri="{BB962C8B-B14F-4D97-AF65-F5344CB8AC3E}">
        <p14:creationId xmlns:p14="http://schemas.microsoft.com/office/powerpoint/2010/main" val="14933590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Image Placeholder 1"/>
          <p:cNvSpPr>
            <a:spLocks noGrp="1" noRot="1" noChangeAspect="1" noTextEdit="1"/>
          </p:cNvSpPr>
          <p:nvPr>
            <p:ph type="sldImg"/>
          </p:nvPr>
        </p:nvSpPr>
        <p:spPr bwMode="auto">
          <a:noFill/>
          <a:ln>
            <a:solidFill>
              <a:srgbClr val="000000"/>
            </a:solidFill>
            <a:miter lim="800000"/>
            <a:headEnd/>
            <a:tailEnd/>
          </a:ln>
        </p:spPr>
      </p:sp>
      <p:sp>
        <p:nvSpPr>
          <p:cNvPr id="74754" name="Notes Placeholder 2"/>
          <p:cNvSpPr>
            <a:spLocks noGrp="1"/>
          </p:cNvSpPr>
          <p:nvPr>
            <p:ph type="body" idx="1"/>
          </p:nvPr>
        </p:nvSpPr>
        <p:spPr bwMode="auto">
          <a:noFill/>
        </p:spPr>
        <p:txBody>
          <a:bodyPr/>
          <a:lstStyle/>
          <a:p>
            <a:pPr>
              <a:spcBef>
                <a:spcPct val="0"/>
              </a:spcBef>
            </a:pPr>
            <a:r>
              <a:rPr lang="en-US" dirty="0" err="1">
                <a:latin typeface="Verdana" charset="0"/>
              </a:rPr>
              <a:t>Jusepe</a:t>
            </a:r>
            <a:r>
              <a:rPr lang="en-US" dirty="0">
                <a:latin typeface="Verdana" charset="0"/>
              </a:rPr>
              <a:t> de Ribera MARTYRDOM OF ST. BARTHOLOMEW</a:t>
            </a:r>
            <a:br>
              <a:rPr lang="en-US" dirty="0">
                <a:latin typeface="Verdana" charset="0"/>
              </a:rPr>
            </a:br>
            <a:r>
              <a:rPr lang="en-US" dirty="0">
                <a:latin typeface="Verdana" charset="0"/>
              </a:rPr>
              <a:t>1634. Oil on canvas, 41-1/4</a:t>
            </a:r>
            <a:r>
              <a:rPr lang="ru-RU" dirty="0">
                <a:latin typeface="Verdana" charset="0"/>
              </a:rPr>
              <a:t>"</a:t>
            </a:r>
            <a:r>
              <a:rPr lang="en-US" dirty="0">
                <a:latin typeface="Verdana" charset="0"/>
              </a:rPr>
              <a:t> × 44-7/8</a:t>
            </a:r>
            <a:r>
              <a:rPr lang="ru-RU" dirty="0">
                <a:latin typeface="Verdana" charset="0"/>
              </a:rPr>
              <a:t>"</a:t>
            </a:r>
            <a:r>
              <a:rPr lang="en-US" dirty="0">
                <a:latin typeface="Verdana" charset="0"/>
              </a:rPr>
              <a:t> (1.05 × 1.14 m).</a:t>
            </a:r>
            <a:br>
              <a:rPr lang="en-US" dirty="0">
                <a:latin typeface="Verdana" charset="0"/>
              </a:rPr>
            </a:br>
            <a:r>
              <a:rPr lang="en-US" dirty="0">
                <a:latin typeface="Verdana" charset="0"/>
              </a:rPr>
              <a:t>National Gallery of Art, Washington, DC. Rosenwald Collection (1950.14.744). Image courtesy the National Gallery of Art, Washington. </a:t>
            </a:r>
            <a:endParaRPr lang="en-US" dirty="0"/>
          </a:p>
        </p:txBody>
      </p:sp>
      <p:sp>
        <p:nvSpPr>
          <p:cNvPr id="74755" name="Slide Number Placeholder 3"/>
          <p:cNvSpPr>
            <a:spLocks noGrp="1"/>
          </p:cNvSpPr>
          <p:nvPr>
            <p:ph type="sldNum" sz="quarter" idx="5"/>
          </p:nvPr>
        </p:nvSpPr>
        <p:spPr bwMode="auto">
          <a:noFill/>
          <a:ln>
            <a:miter lim="800000"/>
            <a:headEnd/>
            <a:tailEnd/>
          </a:ln>
        </p:spPr>
        <p:txBody>
          <a:bodyPr/>
          <a:lstStyle/>
          <a:p>
            <a:fld id="{2D57BB64-CF7D-0941-A353-022F9461CCC5}" type="slidenum">
              <a:rPr lang="en-US"/>
              <a:pPr/>
              <a:t>44</a:t>
            </a:fld>
            <a:endParaRPr lang="en-US"/>
          </a:p>
        </p:txBody>
      </p:sp>
    </p:spTree>
    <p:extLst>
      <p:ext uri="{BB962C8B-B14F-4D97-AF65-F5344CB8AC3E}">
        <p14:creationId xmlns:p14="http://schemas.microsoft.com/office/powerpoint/2010/main" val="12437843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p:cNvSpPr>
            <a:spLocks noGrp="1" noRot="1" noChangeAspect="1" noTextEdit="1"/>
          </p:cNvSpPr>
          <p:nvPr>
            <p:ph type="sldImg"/>
          </p:nvPr>
        </p:nvSpPr>
        <p:spPr bwMode="auto">
          <a:noFill/>
          <a:ln>
            <a:solidFill>
              <a:srgbClr val="000000"/>
            </a:solidFill>
            <a:miter lim="800000"/>
            <a:headEnd/>
            <a:tailEnd/>
          </a:ln>
        </p:spPr>
      </p:sp>
      <p:sp>
        <p:nvSpPr>
          <p:cNvPr id="77826" name="Notes Placeholder 2"/>
          <p:cNvSpPr>
            <a:spLocks noGrp="1"/>
          </p:cNvSpPr>
          <p:nvPr>
            <p:ph type="body" idx="1"/>
          </p:nvPr>
        </p:nvSpPr>
        <p:spPr bwMode="auto">
          <a:noFill/>
        </p:spPr>
        <p:txBody>
          <a:bodyPr/>
          <a:lstStyle/>
          <a:p>
            <a:pPr>
              <a:spcBef>
                <a:spcPct val="0"/>
              </a:spcBef>
            </a:pPr>
            <a:r>
              <a:rPr lang="en-US" dirty="0"/>
              <a:t>Francisco de </a:t>
            </a:r>
            <a:r>
              <a:rPr lang="en-US" dirty="0" err="1"/>
              <a:t>Zurbarán</a:t>
            </a:r>
            <a:r>
              <a:rPr lang="en-US" dirty="0"/>
              <a:t> ST. SERAPION</a:t>
            </a:r>
            <a:br>
              <a:rPr lang="en-US" dirty="0"/>
            </a:br>
            <a:r>
              <a:rPr lang="en-US" dirty="0"/>
              <a:t>1628. Oil on canvas, 47-1/2 × 40-3/4</a:t>
            </a:r>
            <a:r>
              <a:rPr lang="ru-RU" dirty="0"/>
              <a:t>"</a:t>
            </a:r>
            <a:r>
              <a:rPr lang="en-US" dirty="0"/>
              <a:t> (120.7 × 103.5 cm).</a:t>
            </a:r>
            <a:br>
              <a:rPr lang="en-US" dirty="0"/>
            </a:br>
            <a:r>
              <a:rPr lang="en-US" dirty="0"/>
              <a:t>Wadsworth </a:t>
            </a:r>
            <a:r>
              <a:rPr lang="en-US" dirty="0" err="1"/>
              <a:t>Atheneum</a:t>
            </a:r>
            <a:r>
              <a:rPr lang="en-US" dirty="0"/>
              <a:t>, Hartford, Connecticut. Ella Gallup Sumner and Mary Catlin Sumner Collection Fund. Wadsworth </a:t>
            </a:r>
            <a:r>
              <a:rPr lang="en-US" dirty="0" err="1"/>
              <a:t>Atheneum</a:t>
            </a:r>
            <a:r>
              <a:rPr lang="en-US" dirty="0"/>
              <a:t>, Photo: Allen Phillips.</a:t>
            </a:r>
          </a:p>
        </p:txBody>
      </p:sp>
      <p:sp>
        <p:nvSpPr>
          <p:cNvPr id="77827" name="Slide Number Placeholder 3"/>
          <p:cNvSpPr>
            <a:spLocks noGrp="1"/>
          </p:cNvSpPr>
          <p:nvPr>
            <p:ph type="sldNum" sz="quarter" idx="5"/>
          </p:nvPr>
        </p:nvSpPr>
        <p:spPr bwMode="auto">
          <a:noFill/>
          <a:ln>
            <a:miter lim="800000"/>
            <a:headEnd/>
            <a:tailEnd/>
          </a:ln>
        </p:spPr>
        <p:txBody>
          <a:bodyPr/>
          <a:lstStyle/>
          <a:p>
            <a:fld id="{D0FD2690-15B4-7F45-A0A8-CCF6E5BBE959}" type="slidenum">
              <a:rPr lang="en-US"/>
              <a:pPr/>
              <a:t>46</a:t>
            </a:fld>
            <a:endParaRPr lang="en-US"/>
          </a:p>
        </p:txBody>
      </p:sp>
    </p:spTree>
    <p:extLst>
      <p:ext uri="{BB962C8B-B14F-4D97-AF65-F5344CB8AC3E}">
        <p14:creationId xmlns:p14="http://schemas.microsoft.com/office/powerpoint/2010/main" val="676910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p:cNvSpPr>
            <a:spLocks noGrp="1" noRot="1" noChangeAspect="1" noTextEdit="1"/>
          </p:cNvSpPr>
          <p:nvPr>
            <p:ph type="sldImg"/>
          </p:nvPr>
        </p:nvSpPr>
        <p:spPr bwMode="auto">
          <a:noFill/>
          <a:ln>
            <a:solidFill>
              <a:srgbClr val="000000"/>
            </a:solidFill>
            <a:miter lim="800000"/>
            <a:headEnd/>
            <a:tailEnd/>
          </a:ln>
        </p:spPr>
      </p:sp>
      <p:sp>
        <p:nvSpPr>
          <p:cNvPr id="80898" name="Notes Placeholder 2"/>
          <p:cNvSpPr>
            <a:spLocks noGrp="1"/>
          </p:cNvSpPr>
          <p:nvPr>
            <p:ph type="body" idx="1"/>
          </p:nvPr>
        </p:nvSpPr>
        <p:spPr bwMode="auto">
          <a:noFill/>
        </p:spPr>
        <p:txBody>
          <a:bodyPr/>
          <a:lstStyle/>
          <a:p>
            <a:pPr>
              <a:spcBef>
                <a:spcPct val="0"/>
              </a:spcBef>
            </a:pPr>
            <a:r>
              <a:rPr lang="en-US" dirty="0"/>
              <a:t>Diego Velázquez WATER CARRIER OF SEVILLE</a:t>
            </a:r>
            <a:br>
              <a:rPr lang="en-US" dirty="0"/>
            </a:br>
            <a:r>
              <a:rPr lang="en-US" dirty="0"/>
              <a:t>c. 1619. Oil on canvas, 41-1/2</a:t>
            </a:r>
            <a:r>
              <a:rPr lang="ru-RU" dirty="0"/>
              <a:t>"</a:t>
            </a:r>
            <a:r>
              <a:rPr lang="en-US" dirty="0"/>
              <a:t> × 31-1/2</a:t>
            </a:r>
            <a:r>
              <a:rPr lang="ru-RU" dirty="0"/>
              <a:t>"</a:t>
            </a:r>
            <a:r>
              <a:rPr lang="en-US" dirty="0"/>
              <a:t> (105.3 × 80 cm).</a:t>
            </a:r>
            <a:br>
              <a:rPr lang="en-US" dirty="0"/>
            </a:br>
            <a:r>
              <a:rPr lang="en-US" dirty="0"/>
              <a:t>Victoria &amp; Albert Museum, London. V&amp;A Images/Victoria and Albert Museum. </a:t>
            </a:r>
          </a:p>
        </p:txBody>
      </p:sp>
      <p:sp>
        <p:nvSpPr>
          <p:cNvPr id="80899" name="Slide Number Placeholder 3"/>
          <p:cNvSpPr>
            <a:spLocks noGrp="1"/>
          </p:cNvSpPr>
          <p:nvPr>
            <p:ph type="sldNum" sz="quarter" idx="5"/>
          </p:nvPr>
        </p:nvSpPr>
        <p:spPr bwMode="auto">
          <a:noFill/>
          <a:ln>
            <a:miter lim="800000"/>
            <a:headEnd/>
            <a:tailEnd/>
          </a:ln>
        </p:spPr>
        <p:txBody>
          <a:bodyPr/>
          <a:lstStyle/>
          <a:p>
            <a:fld id="{27467DD6-06BE-E343-BCEC-2C114FCCD6F5}" type="slidenum">
              <a:rPr lang="en-US"/>
              <a:pPr/>
              <a:t>48</a:t>
            </a:fld>
            <a:endParaRPr lang="en-US"/>
          </a:p>
        </p:txBody>
      </p:sp>
    </p:spTree>
    <p:extLst>
      <p:ext uri="{BB962C8B-B14F-4D97-AF65-F5344CB8AC3E}">
        <p14:creationId xmlns:p14="http://schemas.microsoft.com/office/powerpoint/2010/main" val="16088868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p:cNvSpPr>
            <a:spLocks noGrp="1" noRot="1" noChangeAspect="1" noTextEdit="1"/>
          </p:cNvSpPr>
          <p:nvPr>
            <p:ph type="sldImg"/>
          </p:nvPr>
        </p:nvSpPr>
        <p:spPr bwMode="auto">
          <a:noFill/>
          <a:ln>
            <a:solidFill>
              <a:srgbClr val="000000"/>
            </a:solidFill>
            <a:miter lim="800000"/>
            <a:headEnd/>
            <a:tailEnd/>
          </a:ln>
        </p:spPr>
      </p:sp>
      <p:sp>
        <p:nvSpPr>
          <p:cNvPr id="83970" name="Notes Placeholder 2"/>
          <p:cNvSpPr>
            <a:spLocks noGrp="1"/>
          </p:cNvSpPr>
          <p:nvPr>
            <p:ph type="body" idx="1"/>
          </p:nvPr>
        </p:nvSpPr>
        <p:spPr bwMode="auto">
          <a:noFill/>
        </p:spPr>
        <p:txBody>
          <a:bodyPr/>
          <a:lstStyle/>
          <a:p>
            <a:pPr>
              <a:spcBef>
                <a:spcPct val="0"/>
              </a:spcBef>
            </a:pPr>
            <a:r>
              <a:rPr lang="en-US" dirty="0"/>
              <a:t>Diego Velázquez THE SURRENDER AT BREDA (THE LANCES)</a:t>
            </a:r>
            <a:br>
              <a:rPr lang="en-US" dirty="0"/>
            </a:br>
            <a:r>
              <a:rPr lang="en-US" dirty="0"/>
              <a:t>1634–1635. Oil on canvas, 10</a:t>
            </a:r>
            <a:r>
              <a:rPr lang="uk-UA" dirty="0"/>
              <a:t>'</a:t>
            </a:r>
            <a:r>
              <a:rPr lang="en-US" dirty="0"/>
              <a:t>-7/8</a:t>
            </a:r>
            <a:r>
              <a:rPr lang="ru-RU" dirty="0"/>
              <a:t>"</a:t>
            </a:r>
            <a:r>
              <a:rPr lang="en-US" dirty="0"/>
              <a:t> × 12</a:t>
            </a:r>
            <a:r>
              <a:rPr lang="uk-UA" dirty="0"/>
              <a:t>’</a:t>
            </a:r>
            <a:r>
              <a:rPr lang="en-US" dirty="0"/>
              <a:t>-1/2</a:t>
            </a:r>
            <a:r>
              <a:rPr lang="ru-RU" dirty="0"/>
              <a:t>"</a:t>
            </a:r>
            <a:r>
              <a:rPr lang="en-US" dirty="0"/>
              <a:t> (3.07 × 3.67 m).</a:t>
            </a:r>
            <a:br>
              <a:rPr lang="en-US" dirty="0"/>
            </a:br>
            <a:r>
              <a:rPr lang="en-US" dirty="0"/>
              <a:t>Museo del Prado, Madrid. © 2016. Image Copyright Museo Nacional del Prado. © Photo MNP/Scala, Florence. </a:t>
            </a:r>
          </a:p>
        </p:txBody>
      </p:sp>
      <p:sp>
        <p:nvSpPr>
          <p:cNvPr id="83971" name="Slide Number Placeholder 3"/>
          <p:cNvSpPr>
            <a:spLocks noGrp="1"/>
          </p:cNvSpPr>
          <p:nvPr>
            <p:ph type="sldNum" sz="quarter" idx="5"/>
          </p:nvPr>
        </p:nvSpPr>
        <p:spPr bwMode="auto">
          <a:noFill/>
          <a:ln>
            <a:miter lim="800000"/>
            <a:headEnd/>
            <a:tailEnd/>
          </a:ln>
        </p:spPr>
        <p:txBody>
          <a:bodyPr/>
          <a:lstStyle/>
          <a:p>
            <a:fld id="{0B690A7F-1F6A-F44C-8921-316B162F0EDB}" type="slidenum">
              <a:rPr lang="en-US"/>
              <a:pPr/>
              <a:t>50</a:t>
            </a:fld>
            <a:endParaRPr lang="en-US"/>
          </a:p>
        </p:txBody>
      </p:sp>
    </p:spTree>
    <p:extLst>
      <p:ext uri="{BB962C8B-B14F-4D97-AF65-F5344CB8AC3E}">
        <p14:creationId xmlns:p14="http://schemas.microsoft.com/office/powerpoint/2010/main" val="15947726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p:cNvSpPr>
            <a:spLocks noGrp="1" noRot="1" noChangeAspect="1" noTextEdit="1"/>
          </p:cNvSpPr>
          <p:nvPr>
            <p:ph type="sldImg"/>
          </p:nvPr>
        </p:nvSpPr>
        <p:spPr bwMode="auto">
          <a:noFill/>
          <a:ln>
            <a:solidFill>
              <a:srgbClr val="000000"/>
            </a:solidFill>
            <a:miter lim="800000"/>
            <a:headEnd/>
            <a:tailEnd/>
          </a:ln>
        </p:spPr>
      </p:sp>
      <p:sp>
        <p:nvSpPr>
          <p:cNvPr id="87042" name="Notes Placeholder 2"/>
          <p:cNvSpPr>
            <a:spLocks noGrp="1"/>
          </p:cNvSpPr>
          <p:nvPr>
            <p:ph type="body" idx="1"/>
          </p:nvPr>
        </p:nvSpPr>
        <p:spPr bwMode="auto">
          <a:noFill/>
        </p:spPr>
        <p:txBody>
          <a:bodyPr/>
          <a:lstStyle/>
          <a:p>
            <a:pPr>
              <a:spcBef>
                <a:spcPct val="0"/>
              </a:spcBef>
            </a:pPr>
            <a:r>
              <a:rPr lang="en-US" dirty="0"/>
              <a:t>Diego Velázquez LAS MENINAS (THE MAIDS OF HONOR)</a:t>
            </a:r>
            <a:br>
              <a:rPr lang="en-US" dirty="0"/>
            </a:br>
            <a:r>
              <a:rPr lang="en-US" dirty="0"/>
              <a:t>1656. Oil on canvas, 10</a:t>
            </a:r>
            <a:r>
              <a:rPr lang="uk-UA" dirty="0"/>
              <a:t>'</a:t>
            </a:r>
            <a:r>
              <a:rPr lang="en-US" dirty="0"/>
              <a:t>5</a:t>
            </a:r>
            <a:r>
              <a:rPr lang="ru-RU" dirty="0"/>
              <a:t>"</a:t>
            </a:r>
            <a:r>
              <a:rPr lang="en-US" dirty="0"/>
              <a:t> × 9</a:t>
            </a:r>
            <a:r>
              <a:rPr lang="uk-UA" dirty="0"/>
              <a:t>’</a:t>
            </a:r>
            <a:r>
              <a:rPr lang="en-US" dirty="0"/>
              <a:t>-1/2</a:t>
            </a:r>
            <a:r>
              <a:rPr lang="ru-RU" dirty="0"/>
              <a:t>"</a:t>
            </a:r>
            <a:r>
              <a:rPr lang="en-US" dirty="0"/>
              <a:t> (3.18 × 2.76 m).</a:t>
            </a:r>
            <a:br>
              <a:rPr lang="en-US" dirty="0"/>
            </a:br>
            <a:r>
              <a:rPr lang="en-US" dirty="0"/>
              <a:t>Museo del Prado, Madrid. © 2016. Photo Scala, Florence</a:t>
            </a:r>
          </a:p>
        </p:txBody>
      </p:sp>
      <p:sp>
        <p:nvSpPr>
          <p:cNvPr id="87043" name="Slide Number Placeholder 3"/>
          <p:cNvSpPr>
            <a:spLocks noGrp="1"/>
          </p:cNvSpPr>
          <p:nvPr>
            <p:ph type="sldNum" sz="quarter" idx="5"/>
          </p:nvPr>
        </p:nvSpPr>
        <p:spPr bwMode="auto">
          <a:noFill/>
          <a:ln>
            <a:miter lim="800000"/>
            <a:headEnd/>
            <a:tailEnd/>
          </a:ln>
        </p:spPr>
        <p:txBody>
          <a:bodyPr/>
          <a:lstStyle/>
          <a:p>
            <a:fld id="{9413FC03-B20F-F54D-8955-F9613D83D4AF}" type="slidenum">
              <a:rPr lang="en-US"/>
              <a:pPr/>
              <a:t>52</a:t>
            </a:fld>
            <a:endParaRPr lang="en-US"/>
          </a:p>
        </p:txBody>
      </p:sp>
    </p:spTree>
    <p:extLst>
      <p:ext uri="{BB962C8B-B14F-4D97-AF65-F5344CB8AC3E}">
        <p14:creationId xmlns:p14="http://schemas.microsoft.com/office/powerpoint/2010/main" val="5998244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noTextEdit="1"/>
          </p:cNvSpPr>
          <p:nvPr>
            <p:ph type="sldImg"/>
          </p:nvPr>
        </p:nvSpPr>
        <p:spPr bwMode="auto">
          <a:noFill/>
          <a:ln>
            <a:solidFill>
              <a:srgbClr val="000000"/>
            </a:solidFill>
            <a:miter lim="800000"/>
            <a:headEnd/>
            <a:tailEnd/>
          </a:ln>
        </p:spPr>
      </p:sp>
      <p:sp>
        <p:nvSpPr>
          <p:cNvPr id="90114" name="Notes Placeholder 2"/>
          <p:cNvSpPr>
            <a:spLocks noGrp="1"/>
          </p:cNvSpPr>
          <p:nvPr>
            <p:ph type="body" idx="1"/>
          </p:nvPr>
        </p:nvSpPr>
        <p:spPr bwMode="auto">
          <a:noFill/>
        </p:spPr>
        <p:txBody>
          <a:bodyPr/>
          <a:lstStyle/>
          <a:p>
            <a:pPr>
              <a:spcBef>
                <a:spcPct val="0"/>
              </a:spcBef>
            </a:pPr>
            <a:r>
              <a:rPr lang="en-US" dirty="0"/>
              <a:t>Bartolomé Esteban Murillo THE IMMACULATE CONCEPTION</a:t>
            </a:r>
            <a:br>
              <a:rPr lang="en-US" dirty="0"/>
            </a:br>
            <a:r>
              <a:rPr lang="en-US" dirty="0"/>
              <a:t>c. 1660–1665. Oil on canvas, 81-1/8</a:t>
            </a:r>
            <a:r>
              <a:rPr lang="ru-RU" dirty="0"/>
              <a:t>"</a:t>
            </a:r>
            <a:r>
              <a:rPr lang="en-US" dirty="0"/>
              <a:t> × 56-5/8</a:t>
            </a:r>
            <a:r>
              <a:rPr lang="ru-RU" dirty="0"/>
              <a:t>"</a:t>
            </a:r>
            <a:r>
              <a:rPr lang="en-US" dirty="0"/>
              <a:t> (2.06 × 1.44 m).</a:t>
            </a:r>
            <a:br>
              <a:rPr lang="en-US" dirty="0"/>
            </a:br>
            <a:r>
              <a:rPr lang="en-US" dirty="0"/>
              <a:t>Museo del Prado, Madrid. © 2016. Image Copyright Museo Nacional del Prado. © Photo MNP/Scala, Florence. </a:t>
            </a:r>
          </a:p>
        </p:txBody>
      </p:sp>
      <p:sp>
        <p:nvSpPr>
          <p:cNvPr id="90115" name="Slide Number Placeholder 3"/>
          <p:cNvSpPr>
            <a:spLocks noGrp="1"/>
          </p:cNvSpPr>
          <p:nvPr>
            <p:ph type="sldNum" sz="quarter" idx="5"/>
          </p:nvPr>
        </p:nvSpPr>
        <p:spPr bwMode="auto">
          <a:noFill/>
          <a:ln>
            <a:miter lim="800000"/>
            <a:headEnd/>
            <a:tailEnd/>
          </a:ln>
        </p:spPr>
        <p:txBody>
          <a:bodyPr/>
          <a:lstStyle/>
          <a:p>
            <a:fld id="{3FB87E0D-27F1-3A49-9371-E2DADD6F60ED}" type="slidenum">
              <a:rPr lang="en-US"/>
              <a:pPr/>
              <a:t>54</a:t>
            </a:fld>
            <a:endParaRPr lang="en-US"/>
          </a:p>
        </p:txBody>
      </p:sp>
    </p:spTree>
    <p:extLst>
      <p:ext uri="{BB962C8B-B14F-4D97-AF65-F5344CB8AC3E}">
        <p14:creationId xmlns:p14="http://schemas.microsoft.com/office/powerpoint/2010/main" val="9612753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Image Placeholder 1"/>
          <p:cNvSpPr>
            <a:spLocks noGrp="1" noRot="1" noChangeAspect="1" noTextEdit="1"/>
          </p:cNvSpPr>
          <p:nvPr>
            <p:ph type="sldImg"/>
          </p:nvPr>
        </p:nvSpPr>
        <p:spPr bwMode="auto">
          <a:noFill/>
          <a:ln>
            <a:solidFill>
              <a:srgbClr val="000000"/>
            </a:solidFill>
            <a:miter lim="800000"/>
            <a:headEnd/>
            <a:tailEnd/>
          </a:ln>
        </p:spPr>
      </p:sp>
      <p:sp>
        <p:nvSpPr>
          <p:cNvPr id="93186" name="Notes Placeholder 2"/>
          <p:cNvSpPr>
            <a:spLocks noGrp="1"/>
          </p:cNvSpPr>
          <p:nvPr>
            <p:ph type="body" idx="1"/>
          </p:nvPr>
        </p:nvSpPr>
        <p:spPr bwMode="auto">
          <a:noFill/>
        </p:spPr>
        <p:txBody>
          <a:bodyPr/>
          <a:lstStyle/>
          <a:p>
            <a:pPr>
              <a:spcBef>
                <a:spcPct val="0"/>
              </a:spcBef>
            </a:pPr>
            <a:r>
              <a:rPr lang="en-US" dirty="0"/>
              <a:t>WEST FAÇADE, CATHEDRAL OF ST. JAMES, SANTIAGO DE COMPOSTELA, SPAIN</a:t>
            </a:r>
            <a:br>
              <a:rPr lang="en-US" dirty="0"/>
            </a:br>
            <a:r>
              <a:rPr lang="en-US" dirty="0"/>
              <a:t>South tower 1667–1680; north tower and central block finished mid 18th century by Fernando de Casas y </a:t>
            </a:r>
            <a:r>
              <a:rPr lang="en-US" dirty="0" err="1"/>
              <a:t>Nóvoas</a:t>
            </a:r>
            <a:r>
              <a:rPr lang="en-US" dirty="0"/>
              <a:t>. © Bartosz </a:t>
            </a:r>
            <a:r>
              <a:rPr lang="en-US" dirty="0" err="1"/>
              <a:t>Turek</a:t>
            </a:r>
            <a:r>
              <a:rPr lang="en-US" dirty="0"/>
              <a:t>/Shutterstock. [Fig. 23-23]</a:t>
            </a:r>
          </a:p>
        </p:txBody>
      </p:sp>
      <p:sp>
        <p:nvSpPr>
          <p:cNvPr id="93187" name="Slide Number Placeholder 3"/>
          <p:cNvSpPr>
            <a:spLocks noGrp="1"/>
          </p:cNvSpPr>
          <p:nvPr>
            <p:ph type="sldNum" sz="quarter" idx="5"/>
          </p:nvPr>
        </p:nvSpPr>
        <p:spPr bwMode="auto">
          <a:noFill/>
          <a:ln>
            <a:miter lim="800000"/>
            <a:headEnd/>
            <a:tailEnd/>
          </a:ln>
        </p:spPr>
        <p:txBody>
          <a:bodyPr/>
          <a:lstStyle/>
          <a:p>
            <a:fld id="{41ADAF64-8547-3448-B8B1-E5E4BF7EA85A}" type="slidenum">
              <a:rPr lang="en-US"/>
              <a:pPr/>
              <a:t>57</a:t>
            </a:fld>
            <a:endParaRPr lang="en-US"/>
          </a:p>
        </p:txBody>
      </p:sp>
    </p:spTree>
    <p:extLst>
      <p:ext uri="{BB962C8B-B14F-4D97-AF65-F5344CB8AC3E}">
        <p14:creationId xmlns:p14="http://schemas.microsoft.com/office/powerpoint/2010/main" val="634910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6/19/2020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Tree>
    <p:extLst>
      <p:ext uri="{BB962C8B-B14F-4D97-AF65-F5344CB8AC3E}">
        <p14:creationId xmlns:p14="http://schemas.microsoft.com/office/powerpoint/2010/main" val="249327367"/>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6/19/2020</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C049C-C809-2D4D-BBA6-601081C74059}"/>
              </a:ext>
            </a:extLst>
          </p:cNvPr>
          <p:cNvSpPr>
            <a:spLocks noGrp="1"/>
          </p:cNvSpPr>
          <p:nvPr>
            <p:ph type="ctrTitle"/>
          </p:nvPr>
        </p:nvSpPr>
        <p:spPr/>
        <p:txBody>
          <a:bodyPr/>
          <a:lstStyle/>
          <a:p>
            <a:r>
              <a:rPr lang="en-US" dirty="0"/>
              <a:t>Chapter 19</a:t>
            </a:r>
          </a:p>
        </p:txBody>
      </p:sp>
      <p:sp>
        <p:nvSpPr>
          <p:cNvPr id="3" name="Subtitle 2">
            <a:extLst>
              <a:ext uri="{FF2B5EF4-FFF2-40B4-BE49-F238E27FC236}">
                <a16:creationId xmlns:a16="http://schemas.microsoft.com/office/drawing/2014/main" id="{0AB8D2AD-9A88-E541-ACF8-0D0091634EC0}"/>
              </a:ext>
            </a:extLst>
          </p:cNvPr>
          <p:cNvSpPr>
            <a:spLocks noGrp="1"/>
          </p:cNvSpPr>
          <p:nvPr>
            <p:ph type="subTitle" idx="1"/>
          </p:nvPr>
        </p:nvSpPr>
        <p:spPr/>
        <p:txBody>
          <a:bodyPr/>
          <a:lstStyle/>
          <a:p>
            <a:r>
              <a:rPr lang="en-US" dirty="0"/>
              <a:t>The Baroque in Italy and Spain </a:t>
            </a:r>
          </a:p>
        </p:txBody>
      </p:sp>
    </p:spTree>
    <p:extLst>
      <p:ext uri="{BB962C8B-B14F-4D97-AF65-F5344CB8AC3E}">
        <p14:creationId xmlns:p14="http://schemas.microsoft.com/office/powerpoint/2010/main" val="1659876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p:txBody>
          <a:bodyPr/>
          <a:lstStyle/>
          <a:p>
            <a:r>
              <a:rPr lang="en-US" dirty="0"/>
              <a:t>Learning Objectives</a:t>
            </a:r>
          </a:p>
        </p:txBody>
      </p:sp>
      <p:sp>
        <p:nvSpPr>
          <p:cNvPr id="9218" name="Content Placeholder 2"/>
          <p:cNvSpPr>
            <a:spLocks noGrp="1"/>
          </p:cNvSpPr>
          <p:nvPr>
            <p:ph idx="1"/>
          </p:nvPr>
        </p:nvSpPr>
        <p:spPr/>
        <p:txBody>
          <a:bodyPr/>
          <a:lstStyle/>
          <a:p>
            <a:pPr marL="457200" lvl="0" indent="-457200" fontAlgn="base">
              <a:buFont typeface="+mj-lt"/>
              <a:buAutoNum type="arabicPeriod"/>
            </a:pPr>
            <a:r>
              <a:rPr lang="en-US" dirty="0"/>
              <a:t>Understand the characteristics of the Baroque style.</a:t>
            </a:r>
          </a:p>
          <a:p>
            <a:pPr marL="457200" lvl="0" indent="-457200" fontAlgn="base">
              <a:buFont typeface="+mj-lt"/>
              <a:buAutoNum type="arabicPeriod"/>
            </a:pPr>
            <a:r>
              <a:rPr lang="en-US" dirty="0"/>
              <a:t>Consider how Baroque religious architecture in Rome reflects the values of the Counter-Reformation.</a:t>
            </a:r>
          </a:p>
          <a:p>
            <a:pPr marL="457200" lvl="0" indent="-457200" fontAlgn="base">
              <a:buFont typeface="+mj-lt"/>
              <a:buAutoNum type="arabicPeriod"/>
            </a:pPr>
            <a:r>
              <a:rPr lang="en-US" dirty="0"/>
              <a:t>Investigate the evolution of ceiling painting.</a:t>
            </a:r>
          </a:p>
          <a:p>
            <a:pPr marL="457200" lvl="0" indent="-457200" fontAlgn="base">
              <a:buFont typeface="+mj-lt"/>
              <a:buAutoNum type="arabicPeriod"/>
            </a:pPr>
            <a:r>
              <a:rPr lang="en-US" dirty="0"/>
              <a:t>Evaluate the Baroque concept of the “unification” of the arts.</a:t>
            </a:r>
          </a:p>
          <a:p>
            <a:pPr marL="457200" lvl="0" indent="-457200" fontAlgn="base">
              <a:buFont typeface="+mj-lt"/>
              <a:buAutoNum type="arabicPeriod"/>
            </a:pPr>
            <a:r>
              <a:rPr lang="en-US" dirty="0"/>
              <a:t>Consider the qualities and innovations of Spanish seventeenth-century art.</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3"/>
          <p:cNvSpPr>
            <a:spLocks noGrp="1"/>
          </p:cNvSpPr>
          <p:nvPr>
            <p:ph type="title"/>
          </p:nvPr>
        </p:nvSpPr>
        <p:spPr/>
        <p:txBody>
          <a:bodyPr>
            <a:normAutofit fontScale="90000"/>
          </a:bodyPr>
          <a:lstStyle/>
          <a:p>
            <a:r>
              <a:rPr lang="en-US" dirty="0" err="1"/>
              <a:t>Gianlorenzo</a:t>
            </a:r>
            <a:r>
              <a:rPr lang="en-US" dirty="0"/>
              <a:t> Bernini ST. TERESA OF ÁVILA IN ECSTASY</a:t>
            </a:r>
            <a:br>
              <a:rPr lang="en-US" dirty="0"/>
            </a:br>
            <a:r>
              <a:rPr lang="en-US" dirty="0" err="1"/>
              <a:t>Cornaro</a:t>
            </a:r>
            <a:r>
              <a:rPr lang="en-US" dirty="0"/>
              <a:t> Chapel, church of Santa Maria </a:t>
            </a:r>
            <a:r>
              <a:rPr lang="en-US" dirty="0" err="1"/>
              <a:t>della</a:t>
            </a:r>
            <a:r>
              <a:rPr lang="en-US" dirty="0"/>
              <a:t> Vittoria, Rome. 1645–1652.</a:t>
            </a:r>
            <a:br>
              <a:rPr lang="en-US" dirty="0"/>
            </a:br>
            <a:r>
              <a:rPr lang="en-US" dirty="0"/>
              <a:t>Marble, height of the group 11</a:t>
            </a:r>
            <a:r>
              <a:rPr lang="uk-UA" dirty="0"/>
              <a:t>'</a:t>
            </a:r>
            <a:r>
              <a:rPr lang="en-US" dirty="0"/>
              <a:t>6</a:t>
            </a:r>
            <a:r>
              <a:rPr lang="ru-RU" dirty="0"/>
              <a:t>"</a:t>
            </a:r>
            <a:r>
              <a:rPr lang="en-US" dirty="0"/>
              <a:t> (3.5 m).</a:t>
            </a:r>
            <a:br>
              <a:rPr lang="en-US" dirty="0"/>
            </a:br>
            <a:r>
              <a:rPr lang="en-US" dirty="0"/>
              <a:t>© 2016. Photo Scala, Florence/</a:t>
            </a:r>
            <a:r>
              <a:rPr lang="en-US" dirty="0" err="1"/>
              <a:t>Fondo</a:t>
            </a:r>
            <a:r>
              <a:rPr lang="en-US" dirty="0"/>
              <a:t> </a:t>
            </a:r>
            <a:r>
              <a:rPr lang="en-US" dirty="0" err="1"/>
              <a:t>Edifici</a:t>
            </a:r>
            <a:r>
              <a:rPr lang="en-US" dirty="0"/>
              <a:t> di </a:t>
            </a:r>
            <a:r>
              <a:rPr lang="en-US" dirty="0" err="1"/>
              <a:t>Culto</a:t>
            </a:r>
            <a:r>
              <a:rPr lang="en-US" dirty="0"/>
              <a:t> – Min. dell</a:t>
            </a:r>
            <a:r>
              <a:rPr lang="uk-UA" dirty="0"/>
              <a:t>'</a:t>
            </a:r>
            <a:r>
              <a:rPr lang="en-US" dirty="0" err="1"/>
              <a:t>Interno</a:t>
            </a:r>
            <a:r>
              <a:rPr lang="en-US" dirty="0"/>
              <a:t>. </a:t>
            </a:r>
          </a:p>
        </p:txBody>
      </p:sp>
      <p:pic>
        <p:nvPicPr>
          <p:cNvPr id="2" name="Picture 1" descr="A woman in a billowing drapery reclines upon an abstracted surface of stone with her eyes closed, swooning, as a smiling angel prepares to plunge an arrow into her body.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54106"/>
            <a:ext cx="8107680" cy="5031232"/>
          </a:xfrm>
          <a:prstGeom prst="rect">
            <a:avLst/>
          </a:prstGeom>
        </p:spPr>
      </p:pic>
    </p:spTree>
  </p:cSld>
  <p:clrMapOvr>
    <a:masterClrMapping/>
  </p:clrMapOvr>
  <p:transition spd="slow" advTm="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r>
              <a:rPr lang="ru-RU"/>
              <a:t>"</a:t>
            </a:r>
            <a:r>
              <a:rPr lang="en-US"/>
              <a:t>Baroque</a:t>
            </a:r>
            <a:r>
              <a:rPr lang="ru-RU"/>
              <a:t>"</a:t>
            </a:r>
            <a:r>
              <a:rPr lang="en-US"/>
              <a:t> (1 of 2)</a:t>
            </a:r>
          </a:p>
        </p:txBody>
      </p:sp>
      <p:sp>
        <p:nvSpPr>
          <p:cNvPr id="15362" name="Content Placeholder 2"/>
          <p:cNvSpPr>
            <a:spLocks noGrp="1"/>
          </p:cNvSpPr>
          <p:nvPr>
            <p:ph idx="1"/>
          </p:nvPr>
        </p:nvSpPr>
        <p:spPr/>
        <p:txBody>
          <a:bodyPr/>
          <a:lstStyle/>
          <a:p>
            <a:r>
              <a:rPr lang="en-US"/>
              <a:t>As rulers</a:t>
            </a:r>
            <a:r>
              <a:rPr lang="uk-UA"/>
              <a:t>'</a:t>
            </a:r>
            <a:r>
              <a:rPr lang="en-US"/>
              <a:t> economic strength slipped away, artists found patrons in the Church and prosperous middle class.</a:t>
            </a:r>
          </a:p>
          <a:p>
            <a:r>
              <a:rPr lang="en-US"/>
              <a:t>Baroque art was meant to evoke intense emotional responses from viewers.</a:t>
            </a:r>
          </a:p>
          <a:p>
            <a:r>
              <a:rPr lang="en-US"/>
              <a:t>Many artists sought lifelike depiction in their portraiture, </a:t>
            </a:r>
            <a:r>
              <a:rPr lang="en-US" b="1"/>
              <a:t>genre</a:t>
            </a:r>
            <a:r>
              <a:rPr lang="en-US"/>
              <a:t> </a:t>
            </a:r>
            <a:r>
              <a:rPr lang="en-US" b="1"/>
              <a:t>paintings</a:t>
            </a:r>
            <a:r>
              <a:rPr lang="en-US"/>
              <a:t>, still life, and religious scenes.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r>
              <a:rPr lang="ru-RU"/>
              <a:t>"</a:t>
            </a:r>
            <a:r>
              <a:rPr lang="en-US"/>
              <a:t>Baroque</a:t>
            </a:r>
            <a:r>
              <a:rPr lang="ru-RU"/>
              <a:t>"</a:t>
            </a:r>
            <a:r>
              <a:rPr lang="en-US"/>
              <a:t> (2 of 2)</a:t>
            </a:r>
          </a:p>
        </p:txBody>
      </p:sp>
      <p:sp>
        <p:nvSpPr>
          <p:cNvPr id="16386" name="Content Placeholder 2"/>
          <p:cNvSpPr>
            <a:spLocks noGrp="1"/>
          </p:cNvSpPr>
          <p:nvPr>
            <p:ph idx="1"/>
          </p:nvPr>
        </p:nvSpPr>
        <p:spPr/>
        <p:txBody>
          <a:bodyPr/>
          <a:lstStyle/>
          <a:p>
            <a:r>
              <a:rPr lang="en-US"/>
              <a:t>The role of viewer changed in the time of the seventeenth century.</a:t>
            </a:r>
          </a:p>
          <a:p>
            <a:pPr lvl="1"/>
            <a:r>
              <a:rPr lang="en-US"/>
              <a:t>Masters sought to engage viewers as participants in the artwork, reaching beyond the frame.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3"/>
          <p:cNvSpPr>
            <a:spLocks noGrp="1"/>
          </p:cNvSpPr>
          <p:nvPr>
            <p:ph type="title"/>
          </p:nvPr>
        </p:nvSpPr>
        <p:spPr/>
        <p:txBody>
          <a:bodyPr>
            <a:normAutofit fontScale="90000"/>
          </a:bodyPr>
          <a:lstStyle/>
          <a:p>
            <a:r>
              <a:rPr lang="en-US" dirty="0"/>
              <a:t>SEVENTEENTH-CENTURY EUROPE</a:t>
            </a:r>
            <a:br>
              <a:rPr lang="en-US" dirty="0"/>
            </a:br>
            <a:r>
              <a:rPr lang="en-US" dirty="0"/>
              <a:t>Protestantism still dominated northern Europe, while in the south Roman Catholicism remained strong after the Counter-Reformation. The Habsburg empire was now divided into two parts, under separate rulers.</a:t>
            </a:r>
          </a:p>
        </p:txBody>
      </p:sp>
      <p:pic>
        <p:nvPicPr>
          <p:cNvPr id="2" name="Picture 1" descr="A map highlights populations centers in seventeenth-century Europe. The map highlights three clusters of important cities at this time. The first cluster is formed by eight cities lying within a span of approximately 130 miles, from the newly-formed Dutch Republic to Flanders. North to south, these cities included Haarlem, Amsterdam, Utrecht, Leiden, Delft, Breda, Antwerp, and Brussels. The second cluster is formed by three cities in central Spain—Avila, El Escorial, and Madrid, west to east. Seville is also marked, approximately 200 miles south west of Avila. The third cluster is spread across northern and western-coastal Italy. North to south, these cities include Trent, Milan, Caravaggio, Venice, Mantua, Parma, Bologna, Genoa, Florence, Cortona, Rome, and Napl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r>
              <a:rPr lang="en-US"/>
              <a:t>Italy</a:t>
            </a:r>
          </a:p>
        </p:txBody>
      </p:sp>
      <p:sp>
        <p:nvSpPr>
          <p:cNvPr id="19458" name="Content Placeholder 2"/>
          <p:cNvSpPr>
            <a:spLocks noGrp="1"/>
          </p:cNvSpPr>
          <p:nvPr>
            <p:ph idx="1"/>
          </p:nvPr>
        </p:nvSpPr>
        <p:spPr/>
        <p:txBody>
          <a:bodyPr/>
          <a:lstStyle/>
          <a:p>
            <a:r>
              <a:rPr lang="en-US"/>
              <a:t>Seventeenth-century Italy remained divided.</a:t>
            </a:r>
          </a:p>
          <a:p>
            <a:r>
              <a:rPr lang="en-US"/>
              <a:t>Art was used to inspire the revitalization of the Roman Catholic Church.</a:t>
            </a:r>
          </a:p>
          <a:p>
            <a:pPr lvl="1"/>
            <a:r>
              <a:rPr lang="en-US"/>
              <a:t>Guidelines set by the Council of Trent went against the lascivious trends exploited by Mannerism.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r>
              <a:rPr lang="en-US"/>
              <a:t>Maderno and Bernini at St. Peter</a:t>
            </a:r>
            <a:r>
              <a:rPr lang="uk-UA"/>
              <a:t>'</a:t>
            </a:r>
            <a:r>
              <a:rPr lang="en-US"/>
              <a:t>s </a:t>
            </a:r>
            <a:br>
              <a:rPr lang="en-US"/>
            </a:br>
            <a:r>
              <a:rPr lang="en-US"/>
              <a:t>(1 of 3)</a:t>
            </a:r>
          </a:p>
        </p:txBody>
      </p:sp>
      <p:sp>
        <p:nvSpPr>
          <p:cNvPr id="20482" name="Content Placeholder 2"/>
          <p:cNvSpPr>
            <a:spLocks noGrp="1"/>
          </p:cNvSpPr>
          <p:nvPr>
            <p:ph idx="1"/>
          </p:nvPr>
        </p:nvSpPr>
        <p:spPr/>
        <p:txBody>
          <a:bodyPr/>
          <a:lstStyle/>
          <a:p>
            <a:r>
              <a:rPr lang="en-US"/>
              <a:t>The Counter-Reformation sought to embellish the church and its settings properly.</a:t>
            </a:r>
          </a:p>
          <a:p>
            <a:r>
              <a:rPr lang="en-US"/>
              <a:t>Pope Sixtus ordered open spaces to be cleared in front of major churches in Rome. </a:t>
            </a:r>
          </a:p>
          <a:p>
            <a:r>
              <a:rPr lang="en-US"/>
              <a:t>Building programs nearly bankrupted the Church.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a:t>Maderno and Bernini at St. Peter</a:t>
            </a:r>
            <a:r>
              <a:rPr lang="uk-UA"/>
              <a:t>'</a:t>
            </a:r>
            <a:r>
              <a:rPr lang="en-US"/>
              <a:t>s</a:t>
            </a:r>
            <a:br>
              <a:rPr lang="en-US"/>
            </a:br>
            <a:r>
              <a:rPr lang="en-US"/>
              <a:t>(2 of 3)</a:t>
            </a:r>
          </a:p>
        </p:txBody>
      </p:sp>
      <p:sp>
        <p:nvSpPr>
          <p:cNvPr id="21506" name="Content Placeholder 2"/>
          <p:cNvSpPr>
            <a:spLocks noGrp="1"/>
          </p:cNvSpPr>
          <p:nvPr>
            <p:ph idx="1"/>
          </p:nvPr>
        </p:nvSpPr>
        <p:spPr/>
        <p:txBody>
          <a:bodyPr/>
          <a:lstStyle/>
          <a:p>
            <a:r>
              <a:rPr lang="en-US"/>
              <a:t>Bernini supervised the design and building of a colonnade to enclose the double piazza in front of the church, which already contained an Egyptian obelisk and a fountain.</a:t>
            </a:r>
          </a:p>
          <a:p>
            <a:pPr lvl="1"/>
            <a:r>
              <a:rPr lang="en-US"/>
              <a:t>He characterized the design as the </a:t>
            </a:r>
            <a:r>
              <a:rPr lang="ru-RU"/>
              <a:t>"</a:t>
            </a:r>
            <a:r>
              <a:rPr lang="en-US"/>
              <a:t>motherly arms of the church.</a:t>
            </a:r>
            <a:r>
              <a:rPr lang="ru-RU"/>
              <a:t>"</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3"/>
          <p:cNvSpPr>
            <a:spLocks noGrp="1"/>
          </p:cNvSpPr>
          <p:nvPr>
            <p:ph type="title"/>
          </p:nvPr>
        </p:nvSpPr>
        <p:spPr/>
        <p:txBody>
          <a:bodyPr>
            <a:normAutofit fontScale="90000"/>
          </a:bodyPr>
          <a:lstStyle/>
          <a:p>
            <a:r>
              <a:rPr lang="en-US" dirty="0"/>
              <a:t>Carlo Maderno and </a:t>
            </a:r>
            <a:r>
              <a:rPr lang="en-US" dirty="0" err="1"/>
              <a:t>Gianlorenzo</a:t>
            </a:r>
            <a:r>
              <a:rPr lang="en-US" dirty="0"/>
              <a:t> Bernini ST. PETER</a:t>
            </a:r>
            <a:r>
              <a:rPr lang="uk-UA" dirty="0"/>
              <a:t>'</a:t>
            </a:r>
            <a:r>
              <a:rPr lang="en-US" dirty="0"/>
              <a:t>S BASILICA AND PIAZZA,</a:t>
            </a:r>
            <a:br>
              <a:rPr lang="en-US" dirty="0"/>
            </a:br>
            <a:r>
              <a:rPr lang="en-US" dirty="0"/>
              <a:t>VATICAN, ROME</a:t>
            </a:r>
            <a:br>
              <a:rPr lang="en-US" dirty="0"/>
            </a:br>
            <a:r>
              <a:rPr lang="en-US" dirty="0"/>
              <a:t>Maderno, façade, 1607–1626; Bernini, piazza design, c. 1656–1657.</a:t>
            </a:r>
            <a:br>
              <a:rPr lang="en-US" dirty="0"/>
            </a:br>
            <a:r>
              <a:rPr lang="en-US" dirty="0"/>
              <a:t>© </a:t>
            </a:r>
            <a:r>
              <a:rPr lang="en-US" dirty="0" err="1"/>
              <a:t>Alinari</a:t>
            </a:r>
            <a:r>
              <a:rPr lang="en-US" dirty="0"/>
              <a:t> Archives/Corbis. </a:t>
            </a:r>
          </a:p>
        </p:txBody>
      </p:sp>
      <p:pic>
        <p:nvPicPr>
          <p:cNvPr id="2" name="Picture 1" descr="The area in front of Saint Peter’s Basilica is a paved, open plaza that narrows as one moves further away from the church’s portal, but then widens into an oval, enclosed on the left and right by curving, gable-roofed arcade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r>
              <a:rPr lang="en-US"/>
              <a:t>Maderno and Bernini at St. Peter</a:t>
            </a:r>
            <a:r>
              <a:rPr lang="uk-UA"/>
              <a:t>'</a:t>
            </a:r>
            <a:r>
              <a:rPr lang="en-US"/>
              <a:t>s</a:t>
            </a:r>
            <a:br>
              <a:rPr lang="en-US"/>
            </a:br>
            <a:r>
              <a:rPr lang="en-US"/>
              <a:t>(3 of 3)</a:t>
            </a:r>
          </a:p>
        </p:txBody>
      </p:sp>
      <p:sp>
        <p:nvSpPr>
          <p:cNvPr id="24578" name="Content Placeholder 2"/>
          <p:cNvSpPr>
            <a:spLocks noGrp="1"/>
          </p:cNvSpPr>
          <p:nvPr>
            <p:ph idx="1"/>
          </p:nvPr>
        </p:nvSpPr>
        <p:spPr/>
        <p:txBody>
          <a:bodyPr/>
          <a:lstStyle/>
          <a:p>
            <a:r>
              <a:rPr lang="en-US"/>
              <a:t>Pope Urban VIII gave Bernini the task of designing the bronze baldacchino (canopy) over the altar of St. Peter</a:t>
            </a:r>
            <a:r>
              <a:rPr lang="uk-UA"/>
              <a:t>'</a:t>
            </a:r>
            <a:r>
              <a:rPr lang="en-US"/>
              <a:t>s.</a:t>
            </a:r>
          </a:p>
          <a:p>
            <a:r>
              <a:rPr lang="en-US"/>
              <a:t>He chose a form of winding grapevines to encircle copies of columns from Solomon</a:t>
            </a:r>
            <a:r>
              <a:rPr lang="uk-UA"/>
              <a:t>'</a:t>
            </a:r>
            <a:r>
              <a:rPr lang="en-US"/>
              <a:t>s Temple in Jerusalem.</a:t>
            </a:r>
          </a:p>
          <a:p>
            <a:r>
              <a:rPr lang="en-US"/>
              <a:t>Emblems of honeybees, suns, and laurel leaves—signifying the Barbarini family—are also prominent in the design.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3"/>
          <p:cNvSpPr>
            <a:spLocks noGrp="1"/>
          </p:cNvSpPr>
          <p:nvPr>
            <p:ph type="title"/>
          </p:nvPr>
        </p:nvSpPr>
        <p:spPr/>
        <p:txBody>
          <a:bodyPr>
            <a:normAutofit fontScale="90000"/>
          </a:bodyPr>
          <a:lstStyle/>
          <a:p>
            <a:r>
              <a:rPr lang="en-US" dirty="0" err="1"/>
              <a:t>Gianlorenzo</a:t>
            </a:r>
            <a:r>
              <a:rPr lang="en-US" dirty="0"/>
              <a:t> Bernini BALDACCHINO</a:t>
            </a:r>
            <a:br>
              <a:rPr lang="en-US" dirty="0"/>
            </a:br>
            <a:r>
              <a:rPr lang="en-US" dirty="0"/>
              <a:t>St. Peter</a:t>
            </a:r>
            <a:r>
              <a:rPr lang="uk-UA" dirty="0"/>
              <a:t>'</a:t>
            </a:r>
            <a:r>
              <a:rPr lang="en-US" dirty="0"/>
              <a:t>s Basilica, Vatican, Rome. 1624–1633.</a:t>
            </a:r>
            <a:br>
              <a:rPr lang="en-US" dirty="0"/>
            </a:br>
            <a:r>
              <a:rPr lang="en-US" dirty="0"/>
              <a:t>Gilt bronze, height approx. 100</a:t>
            </a:r>
            <a:r>
              <a:rPr lang="uk-UA" dirty="0"/>
              <a:t>'</a:t>
            </a:r>
            <a:r>
              <a:rPr lang="en-US" dirty="0"/>
              <a:t> (30.48 m). Chair of Peter shrine, 1657–1666; gilt bronze, marble, stucco, and glass. Pier decorations, 1627–1641; gilt bronze and marble. © </a:t>
            </a:r>
            <a:r>
              <a:rPr lang="en-US" dirty="0" err="1"/>
              <a:t>akg</a:t>
            </a:r>
            <a:r>
              <a:rPr lang="en-US" dirty="0"/>
              <a:t>-images/</a:t>
            </a:r>
            <a:r>
              <a:rPr lang="en-US" dirty="0" err="1"/>
              <a:t>Bildarchiv</a:t>
            </a:r>
            <a:r>
              <a:rPr lang="en-US" dirty="0"/>
              <a:t> </a:t>
            </a:r>
            <a:r>
              <a:rPr lang="en-US" dirty="0" err="1"/>
              <a:t>Monheim</a:t>
            </a:r>
            <a:r>
              <a:rPr lang="en-US" dirty="0"/>
              <a:t>.</a:t>
            </a:r>
          </a:p>
        </p:txBody>
      </p:sp>
      <p:pic>
        <p:nvPicPr>
          <p:cNvPr id="2" name="Picture 1" descr="The baldacchino is a freestanding, four-posted canopy erected inside the vaulted sanctuary of Saint Peter’s Basilica. The plinths supporting each thick, twisting column are as high as the altar that they surrou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r>
              <a:rPr lang="en-US"/>
              <a:t>Bernini as Sculptor (1 of 2)</a:t>
            </a:r>
          </a:p>
        </p:txBody>
      </p:sp>
      <p:sp>
        <p:nvSpPr>
          <p:cNvPr id="27650" name="Content Placeholder 2"/>
          <p:cNvSpPr>
            <a:spLocks noGrp="1"/>
          </p:cNvSpPr>
          <p:nvPr>
            <p:ph idx="1"/>
          </p:nvPr>
        </p:nvSpPr>
        <p:spPr/>
        <p:txBody>
          <a:bodyPr/>
          <a:lstStyle/>
          <a:p>
            <a:r>
              <a:rPr lang="en-US"/>
              <a:t>Bernini</a:t>
            </a:r>
            <a:r>
              <a:rPr lang="uk-UA"/>
              <a:t>'</a:t>
            </a:r>
            <a:r>
              <a:rPr lang="en-US"/>
              <a:t>s statue of </a:t>
            </a:r>
            <a:r>
              <a:rPr lang="en-US" i="1"/>
              <a:t>David</a:t>
            </a:r>
            <a:r>
              <a:rPr lang="en-US"/>
              <a:t> introduced a new type of three-dimensional composition that interacts with the space around the viewer.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3"/>
          <p:cNvSpPr>
            <a:spLocks noGrp="1"/>
          </p:cNvSpPr>
          <p:nvPr>
            <p:ph type="title"/>
          </p:nvPr>
        </p:nvSpPr>
        <p:spPr/>
        <p:txBody>
          <a:bodyPr>
            <a:normAutofit fontScale="90000"/>
          </a:bodyPr>
          <a:lstStyle/>
          <a:p>
            <a:r>
              <a:rPr lang="en-US" dirty="0" err="1"/>
              <a:t>Gianlorenzo</a:t>
            </a:r>
            <a:r>
              <a:rPr lang="en-US" dirty="0"/>
              <a:t> Bernini DAVID</a:t>
            </a:r>
            <a:br>
              <a:rPr lang="en-US" dirty="0"/>
            </a:br>
            <a:r>
              <a:rPr lang="en-US" dirty="0"/>
              <a:t>1623. Marble, height 5</a:t>
            </a:r>
            <a:r>
              <a:rPr lang="uk-UA" dirty="0"/>
              <a:t>'</a:t>
            </a:r>
            <a:r>
              <a:rPr lang="en-US" dirty="0"/>
              <a:t>7</a:t>
            </a:r>
            <a:r>
              <a:rPr lang="ru-RU" dirty="0"/>
              <a:t>"</a:t>
            </a:r>
            <a:r>
              <a:rPr lang="en-US" dirty="0"/>
              <a:t> (1.7 m).</a:t>
            </a:r>
            <a:br>
              <a:rPr lang="en-US" dirty="0"/>
            </a:br>
            <a:r>
              <a:rPr lang="en-US" dirty="0"/>
              <a:t>Galleria Borghese, Rome. © Per </a:t>
            </a:r>
            <a:r>
              <a:rPr lang="en-US" dirty="0" err="1"/>
              <a:t>concessione</a:t>
            </a:r>
            <a:r>
              <a:rPr lang="en-US" dirty="0"/>
              <a:t> del </a:t>
            </a:r>
            <a:r>
              <a:rPr lang="en-US" dirty="0" err="1"/>
              <a:t>Ministero</a:t>
            </a:r>
            <a:r>
              <a:rPr lang="en-US" dirty="0"/>
              <a:t> per </a:t>
            </a:r>
            <a:r>
              <a:rPr lang="en-US" dirty="0" err="1"/>
              <a:t>i</a:t>
            </a:r>
            <a:r>
              <a:rPr lang="en-US" dirty="0"/>
              <a:t> Beni e le </a:t>
            </a:r>
            <a:r>
              <a:rPr lang="en-US" dirty="0" err="1"/>
              <a:t>Attività</a:t>
            </a:r>
            <a:r>
              <a:rPr lang="en-US" dirty="0"/>
              <a:t> </a:t>
            </a:r>
            <a:r>
              <a:rPr lang="en-US" dirty="0" err="1"/>
              <a:t>Culturali</a:t>
            </a:r>
            <a:r>
              <a:rPr lang="en-US" dirty="0"/>
              <a:t>/</a:t>
            </a:r>
            <a:r>
              <a:rPr lang="en-US" dirty="0" err="1"/>
              <a:t>Archivi</a:t>
            </a:r>
            <a:r>
              <a:rPr lang="en-US" dirty="0"/>
              <a:t> </a:t>
            </a:r>
            <a:r>
              <a:rPr lang="en-US" dirty="0" err="1"/>
              <a:t>Alinari</a:t>
            </a:r>
            <a:r>
              <a:rPr lang="en-US" dirty="0"/>
              <a:t>, Firenze. </a:t>
            </a:r>
          </a:p>
        </p:txBody>
      </p:sp>
      <p:pic>
        <p:nvPicPr>
          <p:cNvPr id="2" name="Picture 1" descr="Bernini’s version of David twists his shoulders far to his right, coiling his body like a baseball pitcher before launching his attack.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p:txBody>
          <a:bodyPr/>
          <a:lstStyle/>
          <a:p>
            <a:r>
              <a:rPr lang="en-US"/>
              <a:t>Bernini as Sculptor (2 of 2)</a:t>
            </a:r>
          </a:p>
        </p:txBody>
      </p:sp>
      <p:sp>
        <p:nvSpPr>
          <p:cNvPr id="30722" name="Content Placeholder 2"/>
          <p:cNvSpPr>
            <a:spLocks noGrp="1"/>
          </p:cNvSpPr>
          <p:nvPr>
            <p:ph idx="1"/>
          </p:nvPr>
        </p:nvSpPr>
        <p:spPr/>
        <p:txBody>
          <a:bodyPr/>
          <a:lstStyle/>
          <a:p>
            <a:r>
              <a:rPr lang="en-US"/>
              <a:t>Bernini was later commissioned to create the sculptural tableau </a:t>
            </a:r>
            <a:r>
              <a:rPr lang="en-US" i="1"/>
              <a:t>St. Teresa of Ávila in Ecstasy </a:t>
            </a:r>
            <a:r>
              <a:rPr lang="en-US"/>
              <a:t>for the funeral chapel of cardinal Federigo Cornaro.</a:t>
            </a:r>
          </a:p>
          <a:p>
            <a:r>
              <a:rPr lang="en-US"/>
              <a:t>The complex, theatrical interplay dissolves into the painting above.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3"/>
          <p:cNvSpPr>
            <a:spLocks noGrp="1"/>
          </p:cNvSpPr>
          <p:nvPr>
            <p:ph type="title"/>
          </p:nvPr>
        </p:nvSpPr>
        <p:spPr/>
        <p:txBody>
          <a:bodyPr>
            <a:normAutofit fontScale="90000"/>
          </a:bodyPr>
          <a:lstStyle/>
          <a:p>
            <a:r>
              <a:rPr lang="en-US" dirty="0" err="1"/>
              <a:t>Gianlorenzo</a:t>
            </a:r>
            <a:r>
              <a:rPr lang="en-US" dirty="0"/>
              <a:t> Bernini CORNARO CHAPEL, CHURCH OF SANTA MARIA DELLA VITTORIA, ROME</a:t>
            </a:r>
            <a:br>
              <a:rPr lang="en-US" dirty="0"/>
            </a:br>
            <a:r>
              <a:rPr lang="en-US" dirty="0"/>
              <a:t>1642–1652.</a:t>
            </a:r>
            <a:br>
              <a:rPr lang="en-US" dirty="0"/>
            </a:br>
            <a:r>
              <a:rPr lang="en-US" dirty="0"/>
              <a:t>© Vincenzo </a:t>
            </a:r>
            <a:r>
              <a:rPr lang="en-US" dirty="0" err="1"/>
              <a:t>Pirozzi</a:t>
            </a:r>
            <a:r>
              <a:rPr lang="en-US" dirty="0"/>
              <a:t>, Rome</a:t>
            </a:r>
            <a:r>
              <a:rPr lang="en-US"/>
              <a:t>. </a:t>
            </a:r>
            <a:endParaRPr lang="en-US" dirty="0"/>
          </a:p>
        </p:txBody>
      </p:sp>
      <p:pic>
        <p:nvPicPr>
          <p:cNvPr id="2" name="Picture 1" descr="The columns and wall panels in the Cornaro Chapel are cur from a green stone with ribbons of tan, matching the lighter colors used in the décor to the sides, and the metallic, beams of light, projecting from abov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r>
              <a:rPr lang="en-US"/>
              <a:t>Borromini (1 of 2)</a:t>
            </a:r>
          </a:p>
        </p:txBody>
      </p:sp>
      <p:sp>
        <p:nvSpPr>
          <p:cNvPr id="33794" name="Content Placeholder 2"/>
          <p:cNvSpPr>
            <a:spLocks noGrp="1"/>
          </p:cNvSpPr>
          <p:nvPr>
            <p:ph idx="1"/>
          </p:nvPr>
        </p:nvSpPr>
        <p:spPr/>
        <p:txBody>
          <a:bodyPr/>
          <a:lstStyle/>
          <a:p>
            <a:r>
              <a:rPr lang="en-US"/>
              <a:t>Church of San Carlo</a:t>
            </a:r>
          </a:p>
          <a:p>
            <a:pPr lvl="1"/>
            <a:r>
              <a:rPr lang="en-US"/>
              <a:t>Francesco Borromini (1599–1667) designed the Church of San Carlo alle Quattro Fontane on an irregular plot at an intersection.</a:t>
            </a:r>
          </a:p>
          <a:p>
            <a:pPr lvl="1"/>
            <a:r>
              <a:rPr lang="en-US"/>
              <a:t>The interior space is marked with an oval dome, a honeycomb of crosses and polygons, and a geometric approach instead of a traditional 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r>
              <a:rPr lang="en-US"/>
              <a:t>Borromini (2 of 2)</a:t>
            </a:r>
          </a:p>
        </p:txBody>
      </p:sp>
      <p:sp>
        <p:nvSpPr>
          <p:cNvPr id="34818" name="Content Placeholder 2"/>
          <p:cNvSpPr>
            <a:spLocks noGrp="1"/>
          </p:cNvSpPr>
          <p:nvPr>
            <p:ph idx="1"/>
          </p:nvPr>
        </p:nvSpPr>
        <p:spPr/>
        <p:txBody>
          <a:bodyPr/>
          <a:lstStyle/>
          <a:p>
            <a:r>
              <a:rPr lang="en-US"/>
              <a:t>Church of San Carlo</a:t>
            </a:r>
          </a:p>
          <a:p>
            <a:pPr lvl="1"/>
            <a:r>
              <a:rPr lang="en-US"/>
              <a:t>The façade of the church is filled with sculpture, including a forward-leaning cartouche held up by high-relief angels.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3"/>
          <p:cNvSpPr>
            <a:spLocks noGrp="1"/>
          </p:cNvSpPr>
          <p:nvPr>
            <p:ph type="title"/>
          </p:nvPr>
        </p:nvSpPr>
        <p:spPr/>
        <p:txBody>
          <a:bodyPr>
            <a:normAutofit fontScale="90000"/>
          </a:bodyPr>
          <a:lstStyle/>
          <a:p>
            <a:r>
              <a:rPr lang="en-US" dirty="0"/>
              <a:t>Francesco Borromini FAÇADE OF THE CHURCH OF SAN CARLO ALLE QUATTRO FONTANE</a:t>
            </a:r>
            <a:br>
              <a:rPr lang="en-US" dirty="0"/>
            </a:br>
            <a:r>
              <a:rPr lang="en-US" dirty="0"/>
              <a:t>Rome. 1638–1667.</a:t>
            </a:r>
            <a:br>
              <a:rPr lang="en-US" dirty="0"/>
            </a:br>
            <a:r>
              <a:rPr lang="en-US" dirty="0"/>
              <a:t> © 2016. Photo Scala, Florence. </a:t>
            </a:r>
          </a:p>
        </p:txBody>
      </p:sp>
      <p:pic>
        <p:nvPicPr>
          <p:cNvPr id="2" name="Picture 1" descr="The church’s cut-off corner is to the left of the façade, presenting a flat surface from which project a semicircular fountain, and a statue of a reclining figur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3"/>
          <p:cNvSpPr>
            <a:spLocks noGrp="1"/>
          </p:cNvSpPr>
          <p:nvPr>
            <p:ph type="title"/>
          </p:nvPr>
        </p:nvSpPr>
        <p:spPr/>
        <p:txBody>
          <a:bodyPr>
            <a:normAutofit fontScale="90000"/>
          </a:bodyPr>
          <a:lstStyle/>
          <a:p>
            <a:r>
              <a:rPr lang="en-US" dirty="0"/>
              <a:t>Francesco Borromini PLAN OF THE CHURCH OF SAN CARLO ALLE QUATTRO FONTANE</a:t>
            </a:r>
            <a:br>
              <a:rPr lang="en-US" dirty="0"/>
            </a:br>
            <a:r>
              <a:rPr lang="en-US" dirty="0"/>
              <a:t>Rome. 1638–1667. </a:t>
            </a:r>
          </a:p>
        </p:txBody>
      </p:sp>
      <p:pic>
        <p:nvPicPr>
          <p:cNvPr id="2" name="Picture 1" descr="The church’s cloister was built parallel to the oval-domed sanctuary, and could be accessed from the same street as the main entrance, or from side doors near the altar or the rear stairwell."/>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3"/>
          <p:cNvSpPr>
            <a:spLocks noGrp="1"/>
          </p:cNvSpPr>
          <p:nvPr>
            <p:ph type="title"/>
          </p:nvPr>
        </p:nvSpPr>
        <p:spPr/>
        <p:txBody>
          <a:bodyPr>
            <a:normAutofit fontScale="90000"/>
          </a:bodyPr>
          <a:lstStyle/>
          <a:p>
            <a:r>
              <a:rPr lang="en-US" dirty="0"/>
              <a:t>Francesco Borromini VIEW INTO THE DOME OF THE CHURCH OF SAN CARLO ALLE QUATTRO FONTANE</a:t>
            </a:r>
            <a:br>
              <a:rPr lang="en-US" dirty="0"/>
            </a:br>
            <a:r>
              <a:rPr lang="en-US" dirty="0"/>
              <a:t>Rome. 1638–1667.</a:t>
            </a:r>
            <a:br>
              <a:rPr lang="en-US" dirty="0"/>
            </a:br>
            <a:r>
              <a:rPr lang="en-US" dirty="0"/>
              <a:t>© View Pictures Ltd/</a:t>
            </a:r>
            <a:r>
              <a:rPr lang="en-US" dirty="0" err="1"/>
              <a:t>Alamy</a:t>
            </a:r>
            <a:r>
              <a:rPr lang="en-US" dirty="0"/>
              <a:t> Stock Photo. </a:t>
            </a:r>
          </a:p>
        </p:txBody>
      </p:sp>
      <p:pic>
        <p:nvPicPr>
          <p:cNvPr id="2" name="Picture 1" descr="Bright light pours into the dome from the trinity-decorated lantern, sharply defining the dome’s patterned surfaces and casting a multitude of small shadows within the coffer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r>
              <a:rPr lang="en-US"/>
              <a:t>Painting (1 of 9)</a:t>
            </a:r>
          </a:p>
        </p:txBody>
      </p:sp>
      <p:sp>
        <p:nvSpPr>
          <p:cNvPr id="41986" name="Content Placeholder 2"/>
          <p:cNvSpPr>
            <a:spLocks noGrp="1"/>
          </p:cNvSpPr>
          <p:nvPr>
            <p:ph idx="1"/>
          </p:nvPr>
        </p:nvSpPr>
        <p:spPr/>
        <p:txBody>
          <a:bodyPr/>
          <a:lstStyle/>
          <a:p>
            <a:r>
              <a:rPr lang="en-US"/>
              <a:t>The ordered Classicism of the Caracci rejected the artifice of the Mannerist style and focused on line, compositional structure, and figural solidity.</a:t>
            </a:r>
          </a:p>
          <a:p>
            <a:r>
              <a:rPr lang="en-US"/>
              <a:t>The dramatic naturalism of Caravaggio, in contrast, developed powerful realism with subjects as gritty as the lowlife of Rome.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p:txBody>
          <a:bodyPr/>
          <a:lstStyle/>
          <a:p>
            <a:r>
              <a:rPr lang="en-US"/>
              <a:t>Painting (2 of 9)</a:t>
            </a:r>
          </a:p>
        </p:txBody>
      </p:sp>
      <p:sp>
        <p:nvSpPr>
          <p:cNvPr id="43010" name="Content Placeholder 2"/>
          <p:cNvSpPr>
            <a:spLocks noGrp="1"/>
          </p:cNvSpPr>
          <p:nvPr>
            <p:ph idx="1"/>
          </p:nvPr>
        </p:nvSpPr>
        <p:spPr/>
        <p:txBody>
          <a:bodyPr/>
          <a:lstStyle/>
          <a:p>
            <a:r>
              <a:rPr lang="en-US"/>
              <a:t>The Carracci</a:t>
            </a:r>
          </a:p>
          <a:p>
            <a:pPr lvl="1"/>
            <a:r>
              <a:rPr lang="en-US"/>
              <a:t>Brothers Agostino and Annibale with their cousin Ludovico re-evaluated High Renaissance masters.</a:t>
            </a:r>
          </a:p>
          <a:p>
            <a:pPr lvl="1"/>
            <a:r>
              <a:rPr lang="en-US"/>
              <a:t>Annibale was hired to decorate principal rooms in Cardinal Odoardo Farnese</a:t>
            </a:r>
            <a:r>
              <a:rPr lang="uk-UA"/>
              <a:t>'</a:t>
            </a:r>
            <a:r>
              <a:rPr lang="en-US"/>
              <a:t>s palace.</a:t>
            </a:r>
          </a:p>
          <a:p>
            <a:pPr lvl="2"/>
            <a:r>
              <a:rPr lang="en-US"/>
              <a:t>Complex figural scenes are based on Ovid</a:t>
            </a:r>
            <a:r>
              <a:rPr lang="uk-UA"/>
              <a:t>'</a:t>
            </a:r>
            <a:r>
              <a:rPr lang="en-US"/>
              <a:t>s </a:t>
            </a:r>
            <a:r>
              <a:rPr lang="en-US" i="1"/>
              <a:t>Metamorphoses</a:t>
            </a:r>
            <a:r>
              <a:rPr lang="en-US"/>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3"/>
          <p:cNvSpPr>
            <a:spLocks noGrp="1"/>
          </p:cNvSpPr>
          <p:nvPr>
            <p:ph type="title"/>
          </p:nvPr>
        </p:nvSpPr>
        <p:spPr/>
        <p:txBody>
          <a:bodyPr>
            <a:normAutofit fontScale="90000"/>
          </a:bodyPr>
          <a:lstStyle/>
          <a:p>
            <a:r>
              <a:rPr lang="en-US" dirty="0" err="1"/>
              <a:t>Annibale</a:t>
            </a:r>
            <a:r>
              <a:rPr lang="en-US" dirty="0"/>
              <a:t> Carracci CEILING OF GALLERY, PALAZZO FARNESE</a:t>
            </a:r>
            <a:br>
              <a:rPr lang="en-US" dirty="0"/>
            </a:br>
            <a:r>
              <a:rPr lang="en-US" dirty="0"/>
              <a:t>Rome. 1597–1601.</a:t>
            </a:r>
            <a:br>
              <a:rPr lang="en-US" dirty="0"/>
            </a:br>
            <a:r>
              <a:rPr lang="en-US" dirty="0"/>
              <a:t>Fresco, approx. 68</a:t>
            </a:r>
            <a:r>
              <a:rPr lang="uk-UA" dirty="0"/>
              <a:t>'</a:t>
            </a:r>
            <a:r>
              <a:rPr lang="en-US" dirty="0"/>
              <a:t> × 21</a:t>
            </a:r>
            <a:r>
              <a:rPr lang="uk-UA" dirty="0"/>
              <a:t>'</a:t>
            </a:r>
            <a:r>
              <a:rPr lang="en-US" dirty="0"/>
              <a:t> (20.7 × 6.4 m).</a:t>
            </a:r>
            <a:br>
              <a:rPr lang="en-US" dirty="0"/>
            </a:br>
            <a:r>
              <a:rPr lang="en-US" dirty="0" err="1"/>
              <a:t>Canali</a:t>
            </a:r>
            <a:r>
              <a:rPr lang="en-US" dirty="0"/>
              <a:t> Photobank, Milan, Italy. </a:t>
            </a:r>
          </a:p>
        </p:txBody>
      </p:sp>
      <p:pic>
        <p:nvPicPr>
          <p:cNvPr id="2" name="Picture 1" descr="A barrel-vaulted ceiling rises above a lavish entablature and cornice. The curving vault is divided into framed scenes of different siz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r>
              <a:rPr lang="en-US"/>
              <a:t>Painting (3 of 9)</a:t>
            </a:r>
          </a:p>
        </p:txBody>
      </p:sp>
      <p:sp>
        <p:nvSpPr>
          <p:cNvPr id="46082" name="Content Placeholder 2"/>
          <p:cNvSpPr>
            <a:spLocks noGrp="1"/>
          </p:cNvSpPr>
          <p:nvPr>
            <p:ph idx="1"/>
          </p:nvPr>
        </p:nvSpPr>
        <p:spPr/>
        <p:txBody>
          <a:bodyPr/>
          <a:lstStyle/>
          <a:p>
            <a:r>
              <a:rPr lang="en-US"/>
              <a:t>Caravaggio</a:t>
            </a:r>
          </a:p>
          <a:p>
            <a:pPr lvl="1"/>
            <a:r>
              <a:rPr lang="en-US"/>
              <a:t>The subjects of Caravaggio (1571–1610) in the 1590s include still lifes and scenes of young men dressed as mythological figures.</a:t>
            </a:r>
          </a:p>
          <a:p>
            <a:pPr lvl="1"/>
            <a:r>
              <a:rPr lang="en-US" i="1"/>
              <a:t>Bacchus</a:t>
            </a:r>
            <a:r>
              <a:rPr lang="en-US"/>
              <a:t> may represent an erotic invitation or an actor in the role of the god of wine, an ambiguity made more striking by the juxtaposition with rotting fruit.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3"/>
          <p:cNvSpPr>
            <a:spLocks noGrp="1"/>
          </p:cNvSpPr>
          <p:nvPr>
            <p:ph type="title"/>
          </p:nvPr>
        </p:nvSpPr>
        <p:spPr/>
        <p:txBody>
          <a:bodyPr>
            <a:normAutofit fontScale="90000"/>
          </a:bodyPr>
          <a:lstStyle/>
          <a:p>
            <a:r>
              <a:rPr lang="en-US" dirty="0"/>
              <a:t>Caravaggio BACCHUS</a:t>
            </a:r>
            <a:br>
              <a:rPr lang="en-US" dirty="0"/>
            </a:br>
            <a:r>
              <a:rPr lang="en-US" dirty="0"/>
              <a:t>1595–1596. Oil on canvas, 37 × 33-1/2</a:t>
            </a:r>
            <a:r>
              <a:rPr lang="ru-RU" dirty="0"/>
              <a:t>"</a:t>
            </a:r>
            <a:r>
              <a:rPr lang="en-US" dirty="0"/>
              <a:t> (94 × 85.1 cm).</a:t>
            </a:r>
            <a:br>
              <a:rPr lang="en-US" dirty="0"/>
            </a:br>
            <a:r>
              <a:rPr lang="en-US" dirty="0"/>
              <a:t>Galleria </a:t>
            </a:r>
            <a:r>
              <a:rPr lang="en-US" dirty="0" err="1"/>
              <a:t>degli</a:t>
            </a:r>
            <a:r>
              <a:rPr lang="en-US" dirty="0"/>
              <a:t> Uffizi, Florence. © </a:t>
            </a:r>
            <a:r>
              <a:rPr lang="en-US" dirty="0" err="1"/>
              <a:t>Quattrone</a:t>
            </a:r>
            <a:r>
              <a:rPr lang="en-US" dirty="0"/>
              <a:t>, Florence. </a:t>
            </a:r>
          </a:p>
        </p:txBody>
      </p:sp>
      <p:pic>
        <p:nvPicPr>
          <p:cNvPr id="2" name="Picture 1" descr="A young man in a provocative pose, wearing a large headdress decorated with leaves and grape bunches, offers the viewer a wide-bowled goblet of red wine. The decanter sits on a table, still mostly full, next to a dish of rotting fruit.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p:txBody>
          <a:bodyPr/>
          <a:lstStyle/>
          <a:p>
            <a:r>
              <a:rPr lang="en-US"/>
              <a:t>Painting (4 of 9)</a:t>
            </a:r>
          </a:p>
        </p:txBody>
      </p:sp>
      <p:sp>
        <p:nvSpPr>
          <p:cNvPr id="49154" name="Content Placeholder 2"/>
          <p:cNvSpPr>
            <a:spLocks noGrp="1"/>
          </p:cNvSpPr>
          <p:nvPr>
            <p:ph idx="1"/>
          </p:nvPr>
        </p:nvSpPr>
        <p:spPr/>
        <p:txBody>
          <a:bodyPr/>
          <a:lstStyle/>
          <a:p>
            <a:r>
              <a:rPr lang="en-US"/>
              <a:t>Caravaggio</a:t>
            </a:r>
          </a:p>
          <a:p>
            <a:pPr lvl="1"/>
            <a:r>
              <a:rPr lang="en-US"/>
              <a:t>The technique created by Caravaggio known as </a:t>
            </a:r>
            <a:r>
              <a:rPr lang="en-US" b="1"/>
              <a:t>tenebrism</a:t>
            </a:r>
            <a:r>
              <a:rPr lang="en-US"/>
              <a:t> involved figures emerging from a dark background into a strong light that falls from a single source, like a theatrical spotlight.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r>
              <a:rPr lang="en-US"/>
              <a:t>Painting (5 of 9)</a:t>
            </a:r>
          </a:p>
        </p:txBody>
      </p:sp>
      <p:sp>
        <p:nvSpPr>
          <p:cNvPr id="50178" name="Content Placeholder 2"/>
          <p:cNvSpPr>
            <a:spLocks noGrp="1"/>
          </p:cNvSpPr>
          <p:nvPr>
            <p:ph idx="1"/>
          </p:nvPr>
        </p:nvSpPr>
        <p:spPr/>
        <p:txBody>
          <a:bodyPr/>
          <a:lstStyle/>
          <a:p>
            <a:r>
              <a:rPr lang="en-US"/>
              <a:t>Caravaggio</a:t>
            </a:r>
          </a:p>
          <a:p>
            <a:pPr lvl="1"/>
            <a:r>
              <a:rPr lang="en-US"/>
              <a:t>Caravaggio</a:t>
            </a:r>
            <a:r>
              <a:rPr lang="uk-UA"/>
              <a:t>'</a:t>
            </a:r>
            <a:r>
              <a:rPr lang="en-US"/>
              <a:t>s commissions after 1600 were for religious art.</a:t>
            </a:r>
          </a:p>
          <a:p>
            <a:pPr lvl="2"/>
            <a:r>
              <a:rPr lang="en-US"/>
              <a:t>In the Contarelli Chapel, three large oil paintings on the subject of St. Matthew were produced in a studio instead of directly applied to the wall in fresco.</a:t>
            </a:r>
          </a:p>
          <a:p>
            <a:pPr lvl="2"/>
            <a:r>
              <a:rPr lang="en-US" i="1"/>
              <a:t>The Calling of St. Matthew </a:t>
            </a:r>
            <a:r>
              <a:rPr lang="en-US"/>
              <a:t>features particularly stark contrast between the dark interior and the spotlight on the surprised saint.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3"/>
          <p:cNvSpPr>
            <a:spLocks noGrp="1"/>
          </p:cNvSpPr>
          <p:nvPr>
            <p:ph type="title"/>
          </p:nvPr>
        </p:nvSpPr>
        <p:spPr/>
        <p:txBody>
          <a:bodyPr>
            <a:normAutofit fontScale="90000"/>
          </a:bodyPr>
          <a:lstStyle/>
          <a:p>
            <a:r>
              <a:rPr lang="en-US" dirty="0"/>
              <a:t>CONTARELLI CHAPEL, SAN LUIGI DEI FRANCESI</a:t>
            </a:r>
            <a:br>
              <a:rPr lang="en-US" dirty="0"/>
            </a:br>
            <a:r>
              <a:rPr lang="en-US" dirty="0"/>
              <a:t>Rome. Paintings by Caravaggio 1599–1600.</a:t>
            </a:r>
            <a:br>
              <a:rPr lang="en-US" dirty="0"/>
            </a:br>
            <a:r>
              <a:rPr lang="en-US" dirty="0"/>
              <a:t> © 2016. Photo Scala, Florence. </a:t>
            </a:r>
          </a:p>
        </p:txBody>
      </p:sp>
      <p:pic>
        <p:nvPicPr>
          <p:cNvPr id="2" name="Picture 1" descr="The chapel’s central painting depicts Saint Matthew hunched over a writing desk, listening to an angel suspended in the air above hi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3"/>
          <p:cNvSpPr>
            <a:spLocks noGrp="1"/>
          </p:cNvSpPr>
          <p:nvPr>
            <p:ph type="title"/>
          </p:nvPr>
        </p:nvSpPr>
        <p:spPr/>
        <p:txBody>
          <a:bodyPr>
            <a:normAutofit fontScale="90000"/>
          </a:bodyPr>
          <a:lstStyle/>
          <a:p>
            <a:r>
              <a:rPr lang="en-US" dirty="0"/>
              <a:t>Caravaggio THE CALLING OF ST. MATTHEW</a:t>
            </a:r>
            <a:br>
              <a:rPr lang="en-US" dirty="0"/>
            </a:br>
            <a:r>
              <a:rPr lang="en-US" dirty="0" err="1"/>
              <a:t>Contarelli</a:t>
            </a:r>
            <a:r>
              <a:rPr lang="en-US" dirty="0"/>
              <a:t> Chapel, church of San Luigi </a:t>
            </a:r>
            <a:r>
              <a:rPr lang="en-US" dirty="0" err="1"/>
              <a:t>dei</a:t>
            </a:r>
            <a:r>
              <a:rPr lang="en-US" dirty="0"/>
              <a:t> </a:t>
            </a:r>
            <a:r>
              <a:rPr lang="en-US" dirty="0" err="1"/>
              <a:t>Francesi</a:t>
            </a:r>
            <a:r>
              <a:rPr lang="en-US" dirty="0"/>
              <a:t>, Rome. 1599–1600.</a:t>
            </a:r>
            <a:br>
              <a:rPr lang="en-US" dirty="0"/>
            </a:br>
            <a:r>
              <a:rPr lang="en-US" dirty="0"/>
              <a:t>Oil on canvas, 10</a:t>
            </a:r>
            <a:r>
              <a:rPr lang="uk-UA" dirty="0"/>
              <a:t>'</a:t>
            </a:r>
            <a:r>
              <a:rPr lang="en-US" dirty="0"/>
              <a:t>7-1/2</a:t>
            </a:r>
            <a:r>
              <a:rPr lang="ru-RU" dirty="0"/>
              <a:t>"</a:t>
            </a:r>
            <a:r>
              <a:rPr lang="en-US" dirty="0"/>
              <a:t> × 11</a:t>
            </a:r>
            <a:r>
              <a:rPr lang="uk-UA" dirty="0"/>
              <a:t>'</a:t>
            </a:r>
            <a:r>
              <a:rPr lang="en-US" dirty="0"/>
              <a:t>2</a:t>
            </a:r>
            <a:r>
              <a:rPr lang="ru-RU" dirty="0"/>
              <a:t>"</a:t>
            </a:r>
            <a:r>
              <a:rPr lang="en-US" dirty="0"/>
              <a:t> (3.24 × 3.4 m).</a:t>
            </a:r>
            <a:br>
              <a:rPr lang="en-US" dirty="0"/>
            </a:br>
            <a:r>
              <a:rPr lang="en-US" dirty="0"/>
              <a:t>© </a:t>
            </a:r>
            <a:r>
              <a:rPr lang="en-US" dirty="0" err="1"/>
              <a:t>Quattrone</a:t>
            </a:r>
            <a:r>
              <a:rPr lang="en-US" dirty="0"/>
              <a:t>, Florence. </a:t>
            </a:r>
          </a:p>
        </p:txBody>
      </p:sp>
      <p:pic>
        <p:nvPicPr>
          <p:cNvPr id="2" name="Picture 1" descr="Christ’s thin ring of halo fades into the wide beam of sunlight that falls through the window behind him. The men seated at the table wear anachronistically modern clothing.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p:txBody>
          <a:bodyPr/>
          <a:lstStyle/>
          <a:p>
            <a:r>
              <a:rPr lang="en-US"/>
              <a:t>Painting (6 of 9)</a:t>
            </a:r>
          </a:p>
        </p:txBody>
      </p:sp>
      <p:sp>
        <p:nvSpPr>
          <p:cNvPr id="55298" name="Content Placeholder 2"/>
          <p:cNvSpPr>
            <a:spLocks noGrp="1"/>
          </p:cNvSpPr>
          <p:nvPr>
            <p:ph idx="1"/>
          </p:nvPr>
        </p:nvSpPr>
        <p:spPr/>
        <p:txBody>
          <a:bodyPr/>
          <a:lstStyle/>
          <a:p>
            <a:r>
              <a:rPr lang="en-US"/>
              <a:t>Caravaggio</a:t>
            </a:r>
          </a:p>
          <a:p>
            <a:pPr lvl="1"/>
            <a:r>
              <a:rPr lang="en-US" i="1"/>
              <a:t>The Conversion of St. Paul </a:t>
            </a:r>
            <a:r>
              <a:rPr lang="en-US"/>
              <a:t>is a painting with no physical setting that focuses on Paul</a:t>
            </a:r>
            <a:r>
              <a:rPr lang="uk-UA"/>
              <a:t>'</a:t>
            </a:r>
            <a:r>
              <a:rPr lang="en-US"/>
              <a:t>s internal movement.</a:t>
            </a:r>
          </a:p>
          <a:p>
            <a:pPr lvl="2"/>
            <a:r>
              <a:rPr lang="en-US"/>
              <a:t>The horse takes up more space than the saint, causing more tension.</a:t>
            </a:r>
          </a:p>
          <a:p>
            <a:pPr lvl="1"/>
            <a:r>
              <a:rPr lang="en-US"/>
              <a:t>The artist</a:t>
            </a:r>
            <a:r>
              <a:rPr lang="uk-UA"/>
              <a:t>'</a:t>
            </a:r>
            <a:r>
              <a:rPr lang="en-US"/>
              <a:t>s temper got him into trouble, eventually leading to his killing a man over a disputed tennis match.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3"/>
          <p:cNvSpPr>
            <a:spLocks noGrp="1"/>
          </p:cNvSpPr>
          <p:nvPr>
            <p:ph type="title"/>
          </p:nvPr>
        </p:nvSpPr>
        <p:spPr/>
        <p:txBody>
          <a:bodyPr>
            <a:normAutofit fontScale="90000"/>
          </a:bodyPr>
          <a:lstStyle/>
          <a:p>
            <a:r>
              <a:rPr lang="en-US" dirty="0"/>
              <a:t>Caravaggio THE CONVERSION OF ST. PAUL</a:t>
            </a:r>
            <a:br>
              <a:rPr lang="en-US" dirty="0"/>
            </a:br>
            <a:r>
              <a:rPr lang="en-US" dirty="0" err="1"/>
              <a:t>Cerasi</a:t>
            </a:r>
            <a:r>
              <a:rPr lang="en-US" dirty="0"/>
              <a:t> Chapel, Santa Maria del </a:t>
            </a:r>
            <a:r>
              <a:rPr lang="en-US" dirty="0" err="1"/>
              <a:t>Popolo</a:t>
            </a:r>
            <a:r>
              <a:rPr lang="en-US" dirty="0"/>
              <a:t>, Rome. c. 1601.</a:t>
            </a:r>
            <a:br>
              <a:rPr lang="en-US" dirty="0"/>
            </a:br>
            <a:r>
              <a:rPr lang="en-US" dirty="0"/>
              <a:t>Oil on canvas, 7</a:t>
            </a:r>
            <a:r>
              <a:rPr lang="uk-UA" dirty="0"/>
              <a:t>'</a:t>
            </a:r>
            <a:r>
              <a:rPr lang="en-US" dirty="0"/>
              <a:t>6</a:t>
            </a:r>
            <a:r>
              <a:rPr lang="ru-RU" dirty="0"/>
              <a:t>"</a:t>
            </a:r>
            <a:r>
              <a:rPr lang="en-US" dirty="0"/>
              <a:t> × 5</a:t>
            </a:r>
            <a:r>
              <a:rPr lang="uk-UA" dirty="0"/>
              <a:t>'</a:t>
            </a:r>
            <a:r>
              <a:rPr lang="en-US" dirty="0"/>
              <a:t>8</a:t>
            </a:r>
            <a:r>
              <a:rPr lang="ru-RU" dirty="0"/>
              <a:t>"</a:t>
            </a:r>
            <a:r>
              <a:rPr lang="en-US" dirty="0"/>
              <a:t> (2.3 × 1.75 m).</a:t>
            </a:r>
            <a:br>
              <a:rPr lang="en-US" dirty="0"/>
            </a:br>
            <a:r>
              <a:rPr lang="en-US" dirty="0"/>
              <a:t>© Vincenzo </a:t>
            </a:r>
            <a:r>
              <a:rPr lang="en-US" dirty="0" err="1"/>
              <a:t>Pirozzi</a:t>
            </a:r>
            <a:r>
              <a:rPr lang="en-US" dirty="0"/>
              <a:t>, Rome. </a:t>
            </a:r>
          </a:p>
        </p:txBody>
      </p:sp>
      <p:pic>
        <p:nvPicPr>
          <p:cNvPr id="2" name="Picture 1" descr="A man in a Roman soldier’s uniform lies on the ground, reaching upward with his hands spread widely. A horse stands next to him, tended by a second man in humble clothes, with no shoes, who makes no move to help the fallen soldi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r>
              <a:rPr lang="en-US"/>
              <a:t>Painting (7 of 9)</a:t>
            </a:r>
          </a:p>
        </p:txBody>
      </p:sp>
      <p:sp>
        <p:nvSpPr>
          <p:cNvPr id="58370" name="Content Placeholder 2"/>
          <p:cNvSpPr>
            <a:spLocks noGrp="1"/>
          </p:cNvSpPr>
          <p:nvPr>
            <p:ph idx="1"/>
          </p:nvPr>
        </p:nvSpPr>
        <p:spPr/>
        <p:txBody>
          <a:bodyPr/>
          <a:lstStyle/>
          <a:p>
            <a:r>
              <a:rPr lang="en-US"/>
              <a:t>Artemisia Gentileschi</a:t>
            </a:r>
          </a:p>
          <a:p>
            <a:pPr lvl="1"/>
            <a:r>
              <a:rPr lang="en-US"/>
              <a:t>She helped spread the Caravaggesque style beyond Rome, first studying under her father.</a:t>
            </a:r>
          </a:p>
          <a:p>
            <a:pPr lvl="1"/>
            <a:r>
              <a:rPr lang="en-US" i="1"/>
              <a:t>Judith Beheading Holofernes </a:t>
            </a:r>
            <a:r>
              <a:rPr lang="en-US"/>
              <a:t>draws its subject from the book of Judith.</a:t>
            </a:r>
          </a:p>
          <a:p>
            <a:pPr lvl="2"/>
            <a:r>
              <a:rPr lang="en-US"/>
              <a:t>The heroic act is emphasized by gory details such as blood spurting wildly from the victim</a:t>
            </a:r>
            <a:r>
              <a:rPr lang="uk-UA"/>
              <a:t>'</a:t>
            </a:r>
            <a:r>
              <a:rPr lang="en-US"/>
              <a:t>s neck.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3"/>
          <p:cNvSpPr>
            <a:spLocks noGrp="1"/>
          </p:cNvSpPr>
          <p:nvPr>
            <p:ph type="title"/>
          </p:nvPr>
        </p:nvSpPr>
        <p:spPr/>
        <p:txBody>
          <a:bodyPr>
            <a:normAutofit fontScale="90000"/>
          </a:bodyPr>
          <a:lstStyle/>
          <a:p>
            <a:r>
              <a:rPr lang="en-US" dirty="0"/>
              <a:t>Artemisia Gentileschi JUDITH BEHEADING HOLOFERNES</a:t>
            </a:r>
            <a:br>
              <a:rPr lang="en-US" dirty="0"/>
            </a:br>
            <a:r>
              <a:rPr lang="en-US" dirty="0"/>
              <a:t>c. 1619–20. Oil on canvas, 6</a:t>
            </a:r>
            <a:r>
              <a:rPr lang="uk-UA" dirty="0"/>
              <a:t>'</a:t>
            </a:r>
            <a:r>
              <a:rPr lang="en-US" dirty="0"/>
              <a:t>6-3/8</a:t>
            </a:r>
            <a:r>
              <a:rPr lang="ru-RU" dirty="0"/>
              <a:t>"</a:t>
            </a:r>
            <a:r>
              <a:rPr lang="en-US" dirty="0"/>
              <a:t> × 5</a:t>
            </a:r>
            <a:r>
              <a:rPr lang="uk-UA" dirty="0"/>
              <a:t>'</a:t>
            </a:r>
            <a:r>
              <a:rPr lang="en-US" dirty="0"/>
              <a:t>4</a:t>
            </a:r>
            <a:r>
              <a:rPr lang="ru-RU" dirty="0"/>
              <a:t>"</a:t>
            </a:r>
            <a:r>
              <a:rPr lang="en-US" dirty="0"/>
              <a:t> (1.99 × 1.63 m).</a:t>
            </a:r>
            <a:br>
              <a:rPr lang="en-US" dirty="0"/>
            </a:br>
            <a:r>
              <a:rPr lang="en-US" dirty="0"/>
              <a:t>Galleria </a:t>
            </a:r>
            <a:r>
              <a:rPr lang="en-US" dirty="0" err="1"/>
              <a:t>degli</a:t>
            </a:r>
            <a:r>
              <a:rPr lang="en-US" dirty="0"/>
              <a:t> Uffizi, Florence. © </a:t>
            </a:r>
            <a:r>
              <a:rPr lang="en-US" dirty="0" err="1"/>
              <a:t>Quattrone</a:t>
            </a:r>
            <a:r>
              <a:rPr lang="en-US" dirty="0"/>
              <a:t>, Florence - courtesy of the </a:t>
            </a:r>
            <a:r>
              <a:rPr lang="en-US" dirty="0" err="1"/>
              <a:t>Ministero</a:t>
            </a:r>
            <a:r>
              <a:rPr lang="en-US" dirty="0"/>
              <a:t> Beni e Att. </a:t>
            </a:r>
            <a:r>
              <a:rPr lang="en-US" dirty="0" err="1"/>
              <a:t>Culturali</a:t>
            </a:r>
            <a:r>
              <a:rPr lang="en-US" dirty="0"/>
              <a:t>. </a:t>
            </a:r>
          </a:p>
        </p:txBody>
      </p:sp>
      <p:pic>
        <p:nvPicPr>
          <p:cNvPr id="2" name="Picture 1" descr="Judith is depicted as brutally efficient. While her maidservant controls the general’s arms, she grabs his hair and beard, pushes his face to one side, and draws the sword across his neck. Streams of blood pour across his sheet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p:nvPr>
        </p:nvSpPr>
        <p:spPr/>
        <p:txBody>
          <a:bodyPr/>
          <a:lstStyle/>
          <a:p>
            <a:r>
              <a:rPr lang="en-US"/>
              <a:t>Painting (8 of 9)</a:t>
            </a:r>
          </a:p>
        </p:txBody>
      </p:sp>
      <p:sp>
        <p:nvSpPr>
          <p:cNvPr id="61442" name="Content Placeholder 2"/>
          <p:cNvSpPr>
            <a:spLocks noGrp="1"/>
          </p:cNvSpPr>
          <p:nvPr>
            <p:ph idx="1"/>
          </p:nvPr>
        </p:nvSpPr>
        <p:spPr/>
        <p:txBody>
          <a:bodyPr/>
          <a:lstStyle/>
          <a:p>
            <a:r>
              <a:rPr lang="en-US"/>
              <a:t>Cortona and Gaulli: Baroque Ceilings</a:t>
            </a:r>
          </a:p>
          <a:p>
            <a:pPr lvl="1"/>
            <a:r>
              <a:rPr lang="en-US"/>
              <a:t>Painters sought to portray an immeasurable heaven through using the viewpoint called </a:t>
            </a:r>
            <a:r>
              <a:rPr lang="en-US" i="1"/>
              <a:t>di sotto in sù</a:t>
            </a:r>
            <a:r>
              <a:rPr lang="en-US"/>
              <a:t>. </a:t>
            </a:r>
          </a:p>
          <a:p>
            <a:pPr lvl="1"/>
            <a:r>
              <a:rPr lang="en-US"/>
              <a:t>Pietro da Cortona</a:t>
            </a:r>
            <a:r>
              <a:rPr lang="uk-UA"/>
              <a:t>'</a:t>
            </a:r>
            <a:r>
              <a:rPr lang="en-US"/>
              <a:t>s </a:t>
            </a:r>
            <a:r>
              <a:rPr lang="en-US" i="1"/>
              <a:t>The Glorification of the Papacy of Urban VIII </a:t>
            </a:r>
            <a:r>
              <a:rPr lang="en-US"/>
              <a:t>was structured around framing and mythological scenes.</a:t>
            </a:r>
          </a:p>
          <a:p>
            <a:pPr lvl="2"/>
            <a:r>
              <a:rPr lang="en-US"/>
              <a:t>The subject is an allegory of the virtues of the pope.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3"/>
          <p:cNvSpPr>
            <a:spLocks noGrp="1"/>
          </p:cNvSpPr>
          <p:nvPr>
            <p:ph type="title"/>
          </p:nvPr>
        </p:nvSpPr>
        <p:spPr/>
        <p:txBody>
          <a:bodyPr>
            <a:normAutofit fontScale="90000"/>
          </a:bodyPr>
          <a:lstStyle/>
          <a:p>
            <a:r>
              <a:rPr lang="en-US" dirty="0"/>
              <a:t>Pietro da Cortona THE GLORIFICATION OF THE PAPACY OF URBAN VIII</a:t>
            </a:r>
            <a:br>
              <a:rPr lang="en-US" dirty="0"/>
            </a:br>
            <a:r>
              <a:rPr lang="en-US" dirty="0"/>
              <a:t>Ceiling in the Gran Salone, Palazzo </a:t>
            </a:r>
            <a:r>
              <a:rPr lang="en-US" dirty="0" err="1"/>
              <a:t>Barberini</a:t>
            </a:r>
            <a:r>
              <a:rPr lang="en-US" dirty="0"/>
              <a:t>, Rome. 1632–1639.</a:t>
            </a:r>
            <a:br>
              <a:rPr lang="en-US" dirty="0"/>
            </a:br>
            <a:r>
              <a:rPr lang="en-US" dirty="0"/>
              <a:t>Fresco. Palazzo </a:t>
            </a:r>
            <a:r>
              <a:rPr lang="en-US" dirty="0" err="1"/>
              <a:t>Barberini</a:t>
            </a:r>
            <a:r>
              <a:rPr lang="en-US" dirty="0"/>
              <a:t>, Italy/</a:t>
            </a:r>
            <a:r>
              <a:rPr lang="en-US" dirty="0" err="1"/>
              <a:t>Canali</a:t>
            </a:r>
            <a:r>
              <a:rPr lang="en-US" dirty="0"/>
              <a:t> Photobank, Milan, Italy. </a:t>
            </a:r>
          </a:p>
        </p:txBody>
      </p:sp>
      <p:pic>
        <p:nvPicPr>
          <p:cNvPr id="2" name="Picture 1" descr="A vaulted ceiling, painted with mythological figures against an open sky, as if sitting on clouds or simply floating, drawn toward the center of the image as if toward heave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r>
              <a:rPr lang="en-US"/>
              <a:t>Painting (9 of 9)</a:t>
            </a:r>
          </a:p>
        </p:txBody>
      </p:sp>
      <p:sp>
        <p:nvSpPr>
          <p:cNvPr id="64514" name="Content Placeholder 2"/>
          <p:cNvSpPr>
            <a:spLocks noGrp="1"/>
          </p:cNvSpPr>
          <p:nvPr>
            <p:ph idx="1"/>
          </p:nvPr>
        </p:nvSpPr>
        <p:spPr/>
        <p:txBody>
          <a:bodyPr/>
          <a:lstStyle/>
          <a:p>
            <a:r>
              <a:rPr lang="en-US"/>
              <a:t>Cortona and Gaulli: Baroque Ceilings</a:t>
            </a:r>
          </a:p>
          <a:p>
            <a:pPr lvl="1"/>
            <a:r>
              <a:rPr lang="en-US"/>
              <a:t>Giovanni Battista Gaulli</a:t>
            </a:r>
            <a:r>
              <a:rPr lang="uk-UA"/>
              <a:t>'</a:t>
            </a:r>
            <a:r>
              <a:rPr lang="en-US"/>
              <a:t>s </a:t>
            </a:r>
            <a:r>
              <a:rPr lang="en-US" i="1"/>
              <a:t>The Triumph of the Name of Jesus and the Fall of the Damned</a:t>
            </a:r>
            <a:r>
              <a:rPr lang="en-US"/>
              <a:t> fused sculpture and painting to eliminate any appearance of architectural division.</a:t>
            </a:r>
          </a:p>
          <a:p>
            <a:pPr lvl="2"/>
            <a:r>
              <a:rPr lang="en-US"/>
              <a:t>Every element builds the illusion that clouds and angels have descended into the top of the church during the Last Judgment.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3"/>
          <p:cNvSpPr>
            <a:spLocks noGrp="1"/>
          </p:cNvSpPr>
          <p:nvPr>
            <p:ph type="title"/>
          </p:nvPr>
        </p:nvSpPr>
        <p:spPr/>
        <p:txBody>
          <a:bodyPr>
            <a:normAutofit fontScale="90000"/>
          </a:bodyPr>
          <a:lstStyle/>
          <a:p>
            <a:r>
              <a:rPr lang="en-US" dirty="0"/>
              <a:t>Giovanni Battista </a:t>
            </a:r>
            <a:r>
              <a:rPr lang="en-US" dirty="0" err="1"/>
              <a:t>Gaulli</a:t>
            </a:r>
            <a:r>
              <a:rPr lang="en-US" dirty="0"/>
              <a:t> THE TRIUMPH OF THE NAME OF JESUS AND</a:t>
            </a:r>
            <a:br>
              <a:rPr lang="en-US" dirty="0"/>
            </a:br>
            <a:r>
              <a:rPr lang="en-US" dirty="0"/>
              <a:t>FALL OF THE DAMNED</a:t>
            </a:r>
            <a:br>
              <a:rPr lang="en-US" dirty="0"/>
            </a:br>
            <a:r>
              <a:rPr lang="en-US" dirty="0"/>
              <a:t>Vault of the church of Il </a:t>
            </a:r>
            <a:r>
              <a:rPr lang="en-US" dirty="0" err="1"/>
              <a:t>Gesù</a:t>
            </a:r>
            <a:r>
              <a:rPr lang="en-US" dirty="0"/>
              <a:t>, Rome. 1672–1685.</a:t>
            </a:r>
            <a:br>
              <a:rPr lang="en-US" dirty="0"/>
            </a:br>
            <a:r>
              <a:rPr lang="en-US" dirty="0"/>
              <a:t>Fresco with stucco figures.</a:t>
            </a:r>
            <a:br>
              <a:rPr lang="en-US" dirty="0"/>
            </a:br>
            <a:r>
              <a:rPr lang="en-US" dirty="0"/>
              <a:t>© Vincenzo </a:t>
            </a:r>
            <a:r>
              <a:rPr lang="en-US" dirty="0" err="1"/>
              <a:t>Pirozzi</a:t>
            </a:r>
            <a:r>
              <a:rPr lang="en-US" dirty="0"/>
              <a:t>, Rome.</a:t>
            </a:r>
          </a:p>
        </p:txBody>
      </p:sp>
      <p:pic>
        <p:nvPicPr>
          <p:cNvPr id="2" name="Picture 1" descr="A vaulted ceiling, painted with figures rising toward the golden light of the letters, I H S, and other figures falling toward the viewe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p:cNvSpPr>
            <a:spLocks noGrp="1"/>
          </p:cNvSpPr>
          <p:nvPr>
            <p:ph type="title"/>
          </p:nvPr>
        </p:nvSpPr>
        <p:spPr/>
        <p:txBody>
          <a:bodyPr/>
          <a:lstStyle/>
          <a:p>
            <a:r>
              <a:rPr lang="en-US"/>
              <a:t>Spain</a:t>
            </a:r>
          </a:p>
        </p:txBody>
      </p:sp>
      <p:sp>
        <p:nvSpPr>
          <p:cNvPr id="67586" name="Content Placeholder 2"/>
          <p:cNvSpPr>
            <a:spLocks noGrp="1"/>
          </p:cNvSpPr>
          <p:nvPr>
            <p:ph idx="1"/>
          </p:nvPr>
        </p:nvSpPr>
        <p:spPr/>
        <p:txBody>
          <a:bodyPr/>
          <a:lstStyle/>
          <a:p>
            <a:r>
              <a:rPr lang="en-US"/>
              <a:t>Spanish Habsburg kings Philip III, Philip IV, and Charles II reigned over a weakening empire.</a:t>
            </a:r>
          </a:p>
          <a:p>
            <a:pPr lvl="1"/>
            <a:r>
              <a:rPr lang="en-US"/>
              <a:t>Naples was in a constant state of unrest and the Netherlands gained independence in 1648.</a:t>
            </a:r>
          </a:p>
          <a:p>
            <a:pPr lvl="1"/>
            <a:r>
              <a:rPr lang="en-US"/>
              <a:t>Writers and artists produced great works despite the suffering of agriculture, industry, and trade.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p:txBody>
          <a:bodyPr/>
          <a:lstStyle/>
          <a:p>
            <a:r>
              <a:rPr lang="en-US"/>
              <a:t>Painting in Spain</a:t>
            </a:r>
            <a:r>
              <a:rPr lang="uk-UA"/>
              <a:t>'</a:t>
            </a:r>
            <a:r>
              <a:rPr lang="en-US"/>
              <a:t>s Golden Age (1 of 8)</a:t>
            </a:r>
          </a:p>
        </p:txBody>
      </p:sp>
      <p:sp>
        <p:nvSpPr>
          <p:cNvPr id="68610" name="Content Placeholder 2"/>
          <p:cNvSpPr>
            <a:spLocks noGrp="1"/>
          </p:cNvSpPr>
          <p:nvPr>
            <p:ph idx="1"/>
          </p:nvPr>
        </p:nvSpPr>
        <p:spPr/>
        <p:txBody>
          <a:bodyPr/>
          <a:lstStyle/>
          <a:p>
            <a:r>
              <a:rPr lang="en-US"/>
              <a:t>The primary influence on Spanish painting was Flanders in the fifteenth century, and Florence and Rome in the sixteenth century. </a:t>
            </a:r>
          </a:p>
          <a:p>
            <a:r>
              <a:rPr lang="en-US"/>
              <a:t>Seventeenth-century painting was influenced by the drama of Caravaggio.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p:cNvSpPr>
            <a:spLocks noGrp="1"/>
          </p:cNvSpPr>
          <p:nvPr>
            <p:ph type="title"/>
          </p:nvPr>
        </p:nvSpPr>
        <p:spPr/>
        <p:txBody>
          <a:bodyPr/>
          <a:lstStyle/>
          <a:p>
            <a:r>
              <a:rPr lang="en-US"/>
              <a:t>Painting in Spain</a:t>
            </a:r>
            <a:r>
              <a:rPr lang="uk-UA"/>
              <a:t>'</a:t>
            </a:r>
            <a:r>
              <a:rPr lang="en-US"/>
              <a:t>s Golden Age (2 of 8)</a:t>
            </a:r>
          </a:p>
        </p:txBody>
      </p:sp>
      <p:sp>
        <p:nvSpPr>
          <p:cNvPr id="69634" name="Content Placeholder 2"/>
          <p:cNvSpPr>
            <a:spLocks noGrp="1"/>
          </p:cNvSpPr>
          <p:nvPr>
            <p:ph idx="1"/>
          </p:nvPr>
        </p:nvSpPr>
        <p:spPr/>
        <p:txBody>
          <a:bodyPr/>
          <a:lstStyle/>
          <a:p>
            <a:r>
              <a:rPr lang="en-US"/>
              <a:t>Juan Sánchez Cotán</a:t>
            </a:r>
          </a:p>
          <a:p>
            <a:pPr lvl="1"/>
            <a:r>
              <a:rPr lang="en-US" i="1"/>
              <a:t>Still Life with Quince, Cabbage, Melon, and Cucumber </a:t>
            </a:r>
            <a:r>
              <a:rPr lang="en-US"/>
              <a:t>contrasts curved shapes of the fruits and vegetables with angular geometry of the </a:t>
            </a:r>
            <a:r>
              <a:rPr lang="en-US" i="1"/>
              <a:t>cantarero</a:t>
            </a:r>
            <a:r>
              <a:rPr lang="en-US"/>
              <a:t>.</a:t>
            </a:r>
          </a:p>
          <a:p>
            <a:pPr lvl="1"/>
            <a:r>
              <a:rPr lang="en-US"/>
              <a:t>He was fascinated with spatial ambiguity and contemplative sensibility.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3"/>
          <p:cNvSpPr>
            <a:spLocks noGrp="1"/>
          </p:cNvSpPr>
          <p:nvPr>
            <p:ph type="title"/>
          </p:nvPr>
        </p:nvSpPr>
        <p:spPr/>
        <p:txBody>
          <a:bodyPr>
            <a:normAutofit fontScale="90000"/>
          </a:bodyPr>
          <a:lstStyle/>
          <a:p>
            <a:r>
              <a:rPr lang="en-US" dirty="0"/>
              <a:t>Juan Sánchez </a:t>
            </a:r>
            <a:r>
              <a:rPr lang="en-US" dirty="0" err="1"/>
              <a:t>Cotán</a:t>
            </a:r>
            <a:r>
              <a:rPr lang="en-US" dirty="0"/>
              <a:t> STILL LIFE WITH QUINCE, CABBAGE, MELON, AND CUCUMBER</a:t>
            </a:r>
            <a:br>
              <a:rPr lang="en-US" dirty="0"/>
            </a:br>
            <a:r>
              <a:rPr lang="en-US" dirty="0"/>
              <a:t>c. 1602. Oil on canvas, 27-1/8</a:t>
            </a:r>
            <a:r>
              <a:rPr lang="ru-RU" dirty="0"/>
              <a:t>"</a:t>
            </a:r>
            <a:r>
              <a:rPr lang="en-US" dirty="0"/>
              <a:t> × 33-1/4</a:t>
            </a:r>
            <a:r>
              <a:rPr lang="ru-RU" dirty="0"/>
              <a:t>"</a:t>
            </a:r>
            <a:r>
              <a:rPr lang="en-US" dirty="0"/>
              <a:t> (68.8 × 84.4 cm).</a:t>
            </a:r>
            <a:br>
              <a:rPr lang="en-US" dirty="0"/>
            </a:br>
            <a:r>
              <a:rPr lang="en-US" dirty="0"/>
              <a:t>San Diego Museum of Art. Gift of Anne R. and Amy Putnam. © </a:t>
            </a:r>
            <a:r>
              <a:rPr lang="en-US" dirty="0" err="1"/>
              <a:t>akg</a:t>
            </a:r>
            <a:r>
              <a:rPr lang="en-US" dirty="0"/>
              <a:t>-images/De Agostini Picture Lib.</a:t>
            </a:r>
          </a:p>
        </p:txBody>
      </p:sp>
      <p:pic>
        <p:nvPicPr>
          <p:cNvPr id="2" name="Picture 1" descr="A slice of melon sits next to the cucumber on the pantry shelf. Both these objects present oblong shapes rather than round ones, and hang slightly off the shelf, casting shadows on the wall below them.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152400"/>
            <a:ext cx="8107680" cy="5031232"/>
          </a:xfrm>
          <a:prstGeom prst="rect">
            <a:avLst/>
          </a:prstGeom>
        </p:spPr>
      </p:pic>
    </p:spTree>
  </p:cSld>
  <p:clrMapOvr>
    <a:masterClrMapping/>
  </p:clrMapOvr>
  <p:transition spd="slow" advTm="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p:txBody>
          <a:bodyPr/>
          <a:lstStyle/>
          <a:p>
            <a:r>
              <a:rPr lang="en-US"/>
              <a:t>Painting in Spain</a:t>
            </a:r>
            <a:r>
              <a:rPr lang="uk-UA"/>
              <a:t>'</a:t>
            </a:r>
            <a:r>
              <a:rPr lang="en-US"/>
              <a:t>s Golden Age (3 of 8)</a:t>
            </a:r>
          </a:p>
        </p:txBody>
      </p:sp>
      <p:sp>
        <p:nvSpPr>
          <p:cNvPr id="72706" name="Content Placeholder 2"/>
          <p:cNvSpPr>
            <a:spLocks noGrp="1"/>
          </p:cNvSpPr>
          <p:nvPr>
            <p:ph idx="1"/>
          </p:nvPr>
        </p:nvSpPr>
        <p:spPr/>
        <p:txBody>
          <a:bodyPr/>
          <a:lstStyle/>
          <a:p>
            <a:r>
              <a:rPr lang="en-US"/>
              <a:t>Jusepe de Ribera</a:t>
            </a:r>
          </a:p>
          <a:p>
            <a:pPr lvl="1"/>
            <a:r>
              <a:rPr lang="en-US"/>
              <a:t>Nicknamed </a:t>
            </a:r>
            <a:r>
              <a:rPr lang="ru-RU"/>
              <a:t>"</a:t>
            </a:r>
            <a:r>
              <a:rPr lang="en-US"/>
              <a:t>Lo Spagnoletto,</a:t>
            </a:r>
            <a:r>
              <a:rPr lang="ru-RU"/>
              <a:t>"</a:t>
            </a:r>
            <a:r>
              <a:rPr lang="en-US"/>
              <a:t> he combined styles to create a new Neapolitan style.</a:t>
            </a:r>
          </a:p>
          <a:p>
            <a:pPr lvl="1"/>
            <a:r>
              <a:rPr lang="en-US"/>
              <a:t>The </a:t>
            </a:r>
            <a:r>
              <a:rPr lang="en-US" i="1"/>
              <a:t>Martyrdom of St. Bartholomew </a:t>
            </a:r>
            <a:r>
              <a:rPr lang="en-US"/>
              <a:t>captures the horror of the impending violence of being skinned alive.</a:t>
            </a:r>
          </a:p>
          <a:p>
            <a:pPr lvl="2"/>
            <a:r>
              <a:rPr lang="en-US"/>
              <a:t>Compression of figures into the foreground heightens the viewer</a:t>
            </a:r>
            <a:r>
              <a:rPr lang="uk-UA"/>
              <a:t>'</a:t>
            </a:r>
            <a:r>
              <a:rPr lang="en-US"/>
              <a:t>s sense of witness to the scene.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3"/>
          <p:cNvSpPr>
            <a:spLocks noGrp="1"/>
          </p:cNvSpPr>
          <p:nvPr>
            <p:ph type="title"/>
          </p:nvPr>
        </p:nvSpPr>
        <p:spPr/>
        <p:txBody>
          <a:bodyPr>
            <a:normAutofit fontScale="90000"/>
          </a:bodyPr>
          <a:lstStyle/>
          <a:p>
            <a:r>
              <a:rPr lang="en-US" dirty="0" err="1"/>
              <a:t>Jusepe</a:t>
            </a:r>
            <a:r>
              <a:rPr lang="en-US" dirty="0"/>
              <a:t> de Ribera MARTYRDOM OF ST. BARTHOLOMEW</a:t>
            </a:r>
            <a:br>
              <a:rPr lang="en-US" dirty="0"/>
            </a:br>
            <a:r>
              <a:rPr lang="en-US" dirty="0"/>
              <a:t>1634. Oil on canvas, 41-1/4</a:t>
            </a:r>
            <a:r>
              <a:rPr lang="ru-RU" dirty="0"/>
              <a:t>"</a:t>
            </a:r>
            <a:r>
              <a:rPr lang="en-US" dirty="0"/>
              <a:t> × 44-7/8</a:t>
            </a:r>
            <a:r>
              <a:rPr lang="ru-RU" dirty="0"/>
              <a:t>"</a:t>
            </a:r>
            <a:r>
              <a:rPr lang="en-US" dirty="0"/>
              <a:t> (1.05 × 1.14 m).</a:t>
            </a:r>
            <a:br>
              <a:rPr lang="en-US" dirty="0"/>
            </a:br>
            <a:r>
              <a:rPr lang="en-US" dirty="0"/>
              <a:t>National Gallery of Art, Washington, DC. Rosenwald Collection (1950.14.744). Image courtesy the National Gallery of Art, Washington. </a:t>
            </a:r>
          </a:p>
        </p:txBody>
      </p:sp>
      <p:pic>
        <p:nvPicPr>
          <p:cNvPr id="2" name="Picture 1" descr="An elderly man slumps in the foreground, forced to remain standing by a rope tying his right wrist to posts. His left wrist has been slit from left to right; a man stands nearby, raising a pair of tong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p:cNvSpPr>
          <p:nvPr>
            <p:ph type="title"/>
          </p:nvPr>
        </p:nvSpPr>
        <p:spPr/>
        <p:txBody>
          <a:bodyPr/>
          <a:lstStyle/>
          <a:p>
            <a:r>
              <a:rPr lang="en-US"/>
              <a:t>Painting in Spain</a:t>
            </a:r>
            <a:r>
              <a:rPr lang="uk-UA"/>
              <a:t>'</a:t>
            </a:r>
            <a:r>
              <a:rPr lang="en-US"/>
              <a:t>s Golden Age (4 of 8)</a:t>
            </a:r>
          </a:p>
        </p:txBody>
      </p:sp>
      <p:sp>
        <p:nvSpPr>
          <p:cNvPr id="75778" name="Content Placeholder 2"/>
          <p:cNvSpPr>
            <a:spLocks noGrp="1"/>
          </p:cNvSpPr>
          <p:nvPr>
            <p:ph idx="1"/>
          </p:nvPr>
        </p:nvSpPr>
        <p:spPr/>
        <p:txBody>
          <a:bodyPr/>
          <a:lstStyle/>
          <a:p>
            <a:r>
              <a:rPr lang="en-US"/>
              <a:t>Francisco de Zurbarán</a:t>
            </a:r>
          </a:p>
          <a:p>
            <a:pPr lvl="1"/>
            <a:r>
              <a:rPr lang="en-US"/>
              <a:t>This artist emerged from the same Caravaggesque school of Seville as Velásquez.</a:t>
            </a:r>
          </a:p>
          <a:p>
            <a:pPr lvl="1"/>
            <a:r>
              <a:rPr lang="en-US" i="1"/>
              <a:t>St. Serapion </a:t>
            </a:r>
            <a:r>
              <a:rPr lang="en-US"/>
              <a:t>is an arresting portrayal of a dead saint who sacrificed himself for the rescue of Christian captives.</a:t>
            </a:r>
          </a:p>
          <a:p>
            <a:pPr lvl="2"/>
            <a:r>
              <a:rPr lang="en-US"/>
              <a:t>The only colors are the red and gold of the insignia, making the portrait a tragic still life study of fabric and flesh.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3"/>
          <p:cNvSpPr>
            <a:spLocks noGrp="1"/>
          </p:cNvSpPr>
          <p:nvPr>
            <p:ph type="title"/>
          </p:nvPr>
        </p:nvSpPr>
        <p:spPr/>
        <p:txBody>
          <a:bodyPr>
            <a:normAutofit fontScale="90000"/>
          </a:bodyPr>
          <a:lstStyle/>
          <a:p>
            <a:r>
              <a:rPr lang="en-US" dirty="0"/>
              <a:t>Francisco de </a:t>
            </a:r>
            <a:r>
              <a:rPr lang="en-US" dirty="0" err="1"/>
              <a:t>Zurbarán</a:t>
            </a:r>
            <a:r>
              <a:rPr lang="en-US" dirty="0"/>
              <a:t> ST. SERAPION</a:t>
            </a:r>
            <a:br>
              <a:rPr lang="en-US" dirty="0"/>
            </a:br>
            <a:r>
              <a:rPr lang="en-US" dirty="0"/>
              <a:t>1628. Oil on canvas, 47-1/2 × 40-3/4</a:t>
            </a:r>
            <a:r>
              <a:rPr lang="ru-RU" dirty="0"/>
              <a:t>"</a:t>
            </a:r>
            <a:r>
              <a:rPr lang="en-US" dirty="0"/>
              <a:t> (120.7 × 103.5 cm).</a:t>
            </a:r>
            <a:br>
              <a:rPr lang="en-US" dirty="0"/>
            </a:br>
            <a:r>
              <a:rPr lang="en-US" dirty="0"/>
              <a:t>Wadsworth </a:t>
            </a:r>
            <a:r>
              <a:rPr lang="en-US" dirty="0" err="1"/>
              <a:t>Atheneum</a:t>
            </a:r>
            <a:r>
              <a:rPr lang="en-US" dirty="0"/>
              <a:t>, Hartford, Connecticut. Ella Gallup Sumner and Mary Catlin Sumner Collection Fund. Wadsworth </a:t>
            </a:r>
            <a:r>
              <a:rPr lang="en-US" dirty="0" err="1"/>
              <a:t>Atheneum</a:t>
            </a:r>
            <a:r>
              <a:rPr lang="en-US" dirty="0"/>
              <a:t>, Photo: Allen Phillips.</a:t>
            </a:r>
          </a:p>
        </p:txBody>
      </p:sp>
      <p:pic>
        <p:nvPicPr>
          <p:cNvPr id="2" name="Picture 1" descr="The saint’s head lolls to the side, lying flat on his shoulder. Though he is depicted already dead, his wrists are bound separately and above his head, so the body remains standing.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p:cNvSpPr>
            <a:spLocks noGrp="1"/>
          </p:cNvSpPr>
          <p:nvPr>
            <p:ph type="title"/>
          </p:nvPr>
        </p:nvSpPr>
        <p:spPr/>
        <p:txBody>
          <a:bodyPr/>
          <a:lstStyle/>
          <a:p>
            <a:r>
              <a:rPr lang="en-US"/>
              <a:t>Painting in Spain</a:t>
            </a:r>
            <a:r>
              <a:rPr lang="uk-UA"/>
              <a:t>'</a:t>
            </a:r>
            <a:r>
              <a:rPr lang="en-US"/>
              <a:t>s Golden Age (5 of 8)</a:t>
            </a:r>
          </a:p>
        </p:txBody>
      </p:sp>
      <p:sp>
        <p:nvSpPr>
          <p:cNvPr id="78850" name="Content Placeholder 2"/>
          <p:cNvSpPr>
            <a:spLocks noGrp="1"/>
          </p:cNvSpPr>
          <p:nvPr>
            <p:ph idx="1"/>
          </p:nvPr>
        </p:nvSpPr>
        <p:spPr/>
        <p:txBody>
          <a:bodyPr/>
          <a:lstStyle/>
          <a:p>
            <a:r>
              <a:rPr lang="en-US"/>
              <a:t>Velázquez and Murillo</a:t>
            </a:r>
          </a:p>
          <a:p>
            <a:pPr lvl="1"/>
            <a:r>
              <a:rPr lang="en-US"/>
              <a:t>Diego Velázquez was one of the most brilliant painters of the age.</a:t>
            </a:r>
          </a:p>
          <a:p>
            <a:pPr lvl="2"/>
            <a:r>
              <a:rPr lang="en-US"/>
              <a:t>The model for </a:t>
            </a:r>
            <a:r>
              <a:rPr lang="en-US" i="1"/>
              <a:t>Water Carrier of Seville </a:t>
            </a:r>
            <a:r>
              <a:rPr lang="en-US"/>
              <a:t>was a well-known character in the city, symbolizing Velázquez</a:t>
            </a:r>
            <a:r>
              <a:rPr lang="uk-UA"/>
              <a:t>'</a:t>
            </a:r>
            <a:r>
              <a:rPr lang="en-US"/>
              <a:t>s working from life and ordinary people.</a:t>
            </a:r>
          </a:p>
          <a:p>
            <a:pPr lvl="2"/>
            <a:r>
              <a:rPr lang="en-US"/>
              <a:t>He became official court painter to Philip IV until his death in 1660.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3"/>
          <p:cNvSpPr>
            <a:spLocks noGrp="1"/>
          </p:cNvSpPr>
          <p:nvPr>
            <p:ph type="title"/>
          </p:nvPr>
        </p:nvSpPr>
        <p:spPr/>
        <p:txBody>
          <a:bodyPr>
            <a:normAutofit fontScale="90000"/>
          </a:bodyPr>
          <a:lstStyle/>
          <a:p>
            <a:r>
              <a:rPr lang="en-US" dirty="0"/>
              <a:t>Diego Velázquez WATER CARRIER OF SEVILLE</a:t>
            </a:r>
            <a:br>
              <a:rPr lang="en-US" dirty="0"/>
            </a:br>
            <a:r>
              <a:rPr lang="en-US" dirty="0"/>
              <a:t>c. 1619. Oil on canvas, 41-1/2</a:t>
            </a:r>
            <a:r>
              <a:rPr lang="ru-RU" dirty="0"/>
              <a:t>"</a:t>
            </a:r>
            <a:r>
              <a:rPr lang="en-US" dirty="0"/>
              <a:t> × 31-1/2</a:t>
            </a:r>
            <a:r>
              <a:rPr lang="ru-RU" dirty="0"/>
              <a:t>"</a:t>
            </a:r>
            <a:r>
              <a:rPr lang="en-US" dirty="0"/>
              <a:t> (105.3 × 80 cm).</a:t>
            </a:r>
            <a:br>
              <a:rPr lang="en-US" dirty="0"/>
            </a:br>
            <a:r>
              <a:rPr lang="en-US" dirty="0"/>
              <a:t>Victoria &amp; Albert Museum, London. V&amp;A Images/Victoria and Albert Museum. </a:t>
            </a:r>
          </a:p>
        </p:txBody>
      </p:sp>
      <p:pic>
        <p:nvPicPr>
          <p:cNvPr id="2" name="Picture 1" descr="A man in a heavy wool tunic stands at a table, with one hand on a water jug and the other hand receiving a tall, clear glass from a boy in a dark coat and white-collared shir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p:cNvSpPr>
            <a:spLocks noGrp="1"/>
          </p:cNvSpPr>
          <p:nvPr>
            <p:ph type="title"/>
          </p:nvPr>
        </p:nvSpPr>
        <p:spPr/>
        <p:txBody>
          <a:bodyPr/>
          <a:lstStyle/>
          <a:p>
            <a:r>
              <a:rPr lang="en-US"/>
              <a:t>Painting in Spain</a:t>
            </a:r>
            <a:r>
              <a:rPr lang="uk-UA"/>
              <a:t>'</a:t>
            </a:r>
            <a:r>
              <a:rPr lang="en-US"/>
              <a:t>s Golden Age (6 of 8)</a:t>
            </a:r>
          </a:p>
        </p:txBody>
      </p:sp>
      <p:sp>
        <p:nvSpPr>
          <p:cNvPr id="81922" name="Content Placeholder 2"/>
          <p:cNvSpPr>
            <a:spLocks noGrp="1"/>
          </p:cNvSpPr>
          <p:nvPr>
            <p:ph idx="1"/>
          </p:nvPr>
        </p:nvSpPr>
        <p:spPr/>
        <p:txBody>
          <a:bodyPr/>
          <a:lstStyle/>
          <a:p>
            <a:r>
              <a:rPr lang="en-US"/>
              <a:t>Velázquez and Murillo</a:t>
            </a:r>
          </a:p>
          <a:p>
            <a:pPr lvl="1"/>
            <a:r>
              <a:rPr lang="en-US" i="1"/>
              <a:t>The Surrender at Breda</a:t>
            </a:r>
            <a:r>
              <a:rPr lang="en-US"/>
              <a:t> was borne of Velázquez</a:t>
            </a:r>
            <a:r>
              <a:rPr lang="uk-UA"/>
              <a:t>'</a:t>
            </a:r>
            <a:r>
              <a:rPr lang="en-US"/>
              <a:t>s studies in Italy.</a:t>
            </a:r>
          </a:p>
          <a:p>
            <a:pPr lvl="2"/>
            <a:r>
              <a:rPr lang="en-US"/>
              <a:t>The theme of triumph and conquest is removed from military propaganda.</a:t>
            </a:r>
          </a:p>
          <a:p>
            <a:pPr lvl="2"/>
            <a:r>
              <a:rPr lang="en-US"/>
              <a:t>The exchange seems gracious, resembling a courtly ideal.</a:t>
            </a:r>
          </a:p>
          <a:p>
            <a:pPr lvl="2"/>
            <a:r>
              <a:rPr lang="en-US"/>
              <a:t>Compositional virtuosity comes to the fore with controlled color and texture.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3"/>
          <p:cNvSpPr>
            <a:spLocks noGrp="1"/>
          </p:cNvSpPr>
          <p:nvPr>
            <p:ph type="title"/>
          </p:nvPr>
        </p:nvSpPr>
        <p:spPr/>
        <p:txBody>
          <a:bodyPr>
            <a:normAutofit fontScale="90000"/>
          </a:bodyPr>
          <a:lstStyle/>
          <a:p>
            <a:r>
              <a:rPr lang="en-US" dirty="0"/>
              <a:t>Diego Velázquez THE SURRENDER AT BREDA (THE LANCES)</a:t>
            </a:r>
            <a:br>
              <a:rPr lang="en-US" dirty="0"/>
            </a:br>
            <a:r>
              <a:rPr lang="en-US" dirty="0"/>
              <a:t>1634–1635. Oil on canvas, 10</a:t>
            </a:r>
            <a:r>
              <a:rPr lang="uk-UA" dirty="0"/>
              <a:t>'</a:t>
            </a:r>
            <a:r>
              <a:rPr lang="en-US" dirty="0"/>
              <a:t>-7/8</a:t>
            </a:r>
            <a:r>
              <a:rPr lang="ru-RU" dirty="0"/>
              <a:t>"</a:t>
            </a:r>
            <a:r>
              <a:rPr lang="en-US" dirty="0"/>
              <a:t> × 12</a:t>
            </a:r>
            <a:r>
              <a:rPr lang="uk-UA" dirty="0"/>
              <a:t>’</a:t>
            </a:r>
            <a:r>
              <a:rPr lang="en-US" dirty="0"/>
              <a:t>-1/2</a:t>
            </a:r>
            <a:r>
              <a:rPr lang="ru-RU" dirty="0"/>
              <a:t>"</a:t>
            </a:r>
            <a:r>
              <a:rPr lang="en-US" dirty="0"/>
              <a:t> (3.07 × 3.67 m).</a:t>
            </a:r>
            <a:br>
              <a:rPr lang="en-US" dirty="0"/>
            </a:br>
            <a:r>
              <a:rPr lang="en-US" dirty="0"/>
              <a:t>Museo del Prado, Madrid. © 2016. Image Copyright Museo Nacional del Prado. © Photo MNP/Scala, Florence. </a:t>
            </a:r>
          </a:p>
        </p:txBody>
      </p:sp>
      <p:pic>
        <p:nvPicPr>
          <p:cNvPr id="2" name="Picture 1" descr="Two opposing forces stand on a hill above a burning town. The victorious commander lays a friendly hand on the defeated leader’s shoulder as he accepts the surrend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p:cNvSpPr>
            <a:spLocks noGrp="1"/>
          </p:cNvSpPr>
          <p:nvPr>
            <p:ph type="title"/>
          </p:nvPr>
        </p:nvSpPr>
        <p:spPr/>
        <p:txBody>
          <a:bodyPr/>
          <a:lstStyle/>
          <a:p>
            <a:r>
              <a:rPr lang="en-US"/>
              <a:t>Painting in Spain</a:t>
            </a:r>
            <a:r>
              <a:rPr lang="uk-UA"/>
              <a:t>'</a:t>
            </a:r>
            <a:r>
              <a:rPr lang="en-US"/>
              <a:t>s Golden Age (7 of 8)</a:t>
            </a:r>
          </a:p>
        </p:txBody>
      </p:sp>
      <p:sp>
        <p:nvSpPr>
          <p:cNvPr id="84994" name="Content Placeholder 2"/>
          <p:cNvSpPr>
            <a:spLocks noGrp="1"/>
          </p:cNvSpPr>
          <p:nvPr>
            <p:ph idx="1"/>
          </p:nvPr>
        </p:nvSpPr>
        <p:spPr/>
        <p:txBody>
          <a:bodyPr/>
          <a:lstStyle/>
          <a:p>
            <a:r>
              <a:rPr lang="en-US"/>
              <a:t>Velázquez and Murillo</a:t>
            </a:r>
          </a:p>
          <a:p>
            <a:pPr lvl="1"/>
            <a:r>
              <a:rPr lang="en-US" i="1"/>
              <a:t>Las Meninas </a:t>
            </a:r>
            <a:r>
              <a:rPr lang="en-US"/>
              <a:t>is an enormous multiple portrait featuring the king, queen, Infanta Margarita, maids of honor, and even the painter himself.</a:t>
            </a:r>
          </a:p>
          <a:p>
            <a:pPr lvl="2"/>
            <a:r>
              <a:rPr lang="en-US"/>
              <a:t>No consensus exists on the precise meaning of this painting other than royal portraiture; fundamentally, it is a personal artistic statement.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le 3"/>
          <p:cNvSpPr>
            <a:spLocks noGrp="1"/>
          </p:cNvSpPr>
          <p:nvPr>
            <p:ph type="title"/>
          </p:nvPr>
        </p:nvSpPr>
        <p:spPr/>
        <p:txBody>
          <a:bodyPr>
            <a:normAutofit fontScale="90000"/>
          </a:bodyPr>
          <a:lstStyle/>
          <a:p>
            <a:r>
              <a:rPr lang="en-US" dirty="0"/>
              <a:t>Diego Velázquez LAS MENINAS (THE MAIDS OF HONOR)</a:t>
            </a:r>
            <a:br>
              <a:rPr lang="en-US" dirty="0"/>
            </a:br>
            <a:r>
              <a:rPr lang="en-US" dirty="0"/>
              <a:t>1656. Oil on canvas, 10</a:t>
            </a:r>
            <a:r>
              <a:rPr lang="uk-UA" dirty="0"/>
              <a:t>'</a:t>
            </a:r>
            <a:r>
              <a:rPr lang="en-US" dirty="0"/>
              <a:t>5</a:t>
            </a:r>
            <a:r>
              <a:rPr lang="ru-RU" dirty="0"/>
              <a:t>"</a:t>
            </a:r>
            <a:r>
              <a:rPr lang="en-US" dirty="0"/>
              <a:t> × 9</a:t>
            </a:r>
            <a:r>
              <a:rPr lang="uk-UA" dirty="0"/>
              <a:t>’</a:t>
            </a:r>
            <a:r>
              <a:rPr lang="en-US" dirty="0"/>
              <a:t>-1/2</a:t>
            </a:r>
            <a:r>
              <a:rPr lang="ru-RU" dirty="0"/>
              <a:t>"</a:t>
            </a:r>
            <a:r>
              <a:rPr lang="en-US" dirty="0"/>
              <a:t> (3.18 × 2.76 m).</a:t>
            </a:r>
            <a:br>
              <a:rPr lang="en-US" dirty="0"/>
            </a:br>
            <a:r>
              <a:rPr lang="en-US" dirty="0"/>
              <a:t>Museo del Prado, Madrid. © 2016. Photo Scala, Florence. </a:t>
            </a:r>
          </a:p>
        </p:txBody>
      </p:sp>
      <p:pic>
        <p:nvPicPr>
          <p:cNvPr id="2" name="Picture 1" descr="In addition to the nine people the painting directly depicts, and the household’s dog, the setting is a vast room decorated by numerous paintings on each wall.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1"/>
          <p:cNvSpPr>
            <a:spLocks noGrp="1"/>
          </p:cNvSpPr>
          <p:nvPr>
            <p:ph type="title"/>
          </p:nvPr>
        </p:nvSpPr>
        <p:spPr/>
        <p:txBody>
          <a:bodyPr/>
          <a:lstStyle/>
          <a:p>
            <a:r>
              <a:rPr lang="en-US"/>
              <a:t>Painting in Spain</a:t>
            </a:r>
            <a:r>
              <a:rPr lang="uk-UA"/>
              <a:t>'</a:t>
            </a:r>
            <a:r>
              <a:rPr lang="en-US"/>
              <a:t>s Golden Age (8 of 8)</a:t>
            </a:r>
          </a:p>
        </p:txBody>
      </p:sp>
      <p:sp>
        <p:nvSpPr>
          <p:cNvPr id="88066" name="Content Placeholder 2"/>
          <p:cNvSpPr>
            <a:spLocks noGrp="1"/>
          </p:cNvSpPr>
          <p:nvPr>
            <p:ph idx="1"/>
          </p:nvPr>
        </p:nvSpPr>
        <p:spPr/>
        <p:txBody>
          <a:bodyPr/>
          <a:lstStyle/>
          <a:p>
            <a:r>
              <a:rPr lang="en-US"/>
              <a:t>Velázquez and Murillo</a:t>
            </a:r>
          </a:p>
          <a:p>
            <a:pPr lvl="1"/>
            <a:r>
              <a:rPr lang="en-US"/>
              <a:t>Seville declined after an outbreak of the plague in 1649, but art was still influenced by the work of Bartolomé Estebán Murillo, who focused on religious iconography.</a:t>
            </a:r>
          </a:p>
          <a:p>
            <a:pPr lvl="1"/>
            <a:r>
              <a:rPr lang="en-US" i="1"/>
              <a:t>The Immaculate Conception </a:t>
            </a:r>
            <a:r>
              <a:rPr lang="en-US"/>
              <a:t>shows Mary dressed in blue and white according to Counter-Reformation instructions.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3"/>
          <p:cNvSpPr>
            <a:spLocks noGrp="1"/>
          </p:cNvSpPr>
          <p:nvPr>
            <p:ph type="title"/>
          </p:nvPr>
        </p:nvSpPr>
        <p:spPr/>
        <p:txBody>
          <a:bodyPr>
            <a:normAutofit fontScale="90000"/>
          </a:bodyPr>
          <a:lstStyle/>
          <a:p>
            <a:r>
              <a:rPr lang="en-US" dirty="0"/>
              <a:t>Bartolomé Esteban Murillo THE IMMACULATE CONCEPTION</a:t>
            </a:r>
            <a:br>
              <a:rPr lang="en-US" dirty="0"/>
            </a:br>
            <a:r>
              <a:rPr lang="en-US" dirty="0"/>
              <a:t>c. 1660–1665. Oil on canvas, 81-1/8</a:t>
            </a:r>
            <a:r>
              <a:rPr lang="ru-RU" dirty="0"/>
              <a:t>"</a:t>
            </a:r>
            <a:r>
              <a:rPr lang="en-US" dirty="0"/>
              <a:t> × 56-5/8</a:t>
            </a:r>
            <a:r>
              <a:rPr lang="ru-RU" dirty="0"/>
              <a:t>"</a:t>
            </a:r>
            <a:r>
              <a:rPr lang="en-US" dirty="0"/>
              <a:t> (2.06 × 1.44 m).</a:t>
            </a:r>
            <a:br>
              <a:rPr lang="en-US" dirty="0"/>
            </a:br>
            <a:r>
              <a:rPr lang="en-US" dirty="0"/>
              <a:t>Museo del Prado, Madrid. © 2016. Image Copyright Museo Nacional del Prado. © Photo MNP/Scala, Florence. </a:t>
            </a:r>
          </a:p>
        </p:txBody>
      </p:sp>
      <p:pic>
        <p:nvPicPr>
          <p:cNvPr id="2" name="Picture 1" descr="Mary’s white and blue drapery obscures the lower portion of the thin, crescent moon she stands upon; its upper curve points to her slightly bent knee. Chubby, infantile angels watch from above and below.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p:cNvSpPr>
            <a:spLocks noGrp="1"/>
          </p:cNvSpPr>
          <p:nvPr>
            <p:ph type="title"/>
          </p:nvPr>
        </p:nvSpPr>
        <p:spPr/>
        <p:txBody>
          <a:bodyPr/>
          <a:lstStyle/>
          <a:p>
            <a:r>
              <a:rPr lang="en-US"/>
              <a:t>Architecture (1 of 2)</a:t>
            </a:r>
          </a:p>
        </p:txBody>
      </p:sp>
      <p:sp>
        <p:nvSpPr>
          <p:cNvPr id="91138" name="Content Placeholder 2"/>
          <p:cNvSpPr>
            <a:spLocks noGrp="1"/>
          </p:cNvSpPr>
          <p:nvPr>
            <p:ph idx="1"/>
          </p:nvPr>
        </p:nvSpPr>
        <p:spPr/>
        <p:txBody>
          <a:bodyPr/>
          <a:lstStyle/>
          <a:p>
            <a:r>
              <a:rPr lang="en-US"/>
              <a:t>Lavish decoration was once again embraced, opposing the sixteenth-century style of El Escorial.</a:t>
            </a:r>
          </a:p>
          <a:p>
            <a:r>
              <a:rPr lang="en-US"/>
              <a:t>Ornamentation began to flood back into </a:t>
            </a:r>
            <a:r>
              <a:rPr lang="en-US" i="1"/>
              <a:t>retablos</a:t>
            </a:r>
            <a:r>
              <a:rPr lang="en-US"/>
              <a:t>, then portals, then finally entire buildings.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p:txBody>
          <a:bodyPr/>
          <a:lstStyle/>
          <a:p>
            <a:r>
              <a:rPr lang="en-US"/>
              <a:t>Architecture (2 of 2)</a:t>
            </a:r>
          </a:p>
        </p:txBody>
      </p:sp>
      <p:sp>
        <p:nvSpPr>
          <p:cNvPr id="94210" name="Content Placeholder 2"/>
          <p:cNvSpPr>
            <a:spLocks noGrp="1"/>
          </p:cNvSpPr>
          <p:nvPr>
            <p:ph idx="1"/>
          </p:nvPr>
        </p:nvSpPr>
        <p:spPr/>
        <p:txBody>
          <a:bodyPr/>
          <a:lstStyle/>
          <a:p>
            <a:r>
              <a:rPr lang="en-US"/>
              <a:t>The Cathedral of Santiago de Compostela</a:t>
            </a:r>
          </a:p>
          <a:p>
            <a:pPr lvl="1"/>
            <a:r>
              <a:rPr lang="en-US"/>
              <a:t>Popular saints challenged the role of St. James as patron saint of Spain.</a:t>
            </a:r>
          </a:p>
          <a:p>
            <a:pPr lvl="1"/>
            <a:r>
              <a:rPr lang="en-US"/>
              <a:t>Renewed interest in pilgrimages called for an elaborate façade to be added to the front of the Cathedral of St. James.</a:t>
            </a:r>
          </a:p>
          <a:p>
            <a:pPr lvl="2"/>
            <a:r>
              <a:rPr lang="en-US"/>
              <a:t>Its redesign focused on a wall of class nicknamed </a:t>
            </a:r>
            <a:r>
              <a:rPr lang="ru-RU"/>
              <a:t>"</a:t>
            </a:r>
            <a:r>
              <a:rPr lang="en-US"/>
              <a:t>The Mirror.</a:t>
            </a:r>
            <a:r>
              <a:rPr lang="ru-RU"/>
              <a:t>"</a:t>
            </a: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3"/>
          <p:cNvSpPr>
            <a:spLocks noGrp="1"/>
          </p:cNvSpPr>
          <p:nvPr>
            <p:ph type="title"/>
          </p:nvPr>
        </p:nvSpPr>
        <p:spPr/>
        <p:txBody>
          <a:bodyPr>
            <a:normAutofit fontScale="90000"/>
          </a:bodyPr>
          <a:lstStyle/>
          <a:p>
            <a:r>
              <a:rPr lang="en-US" dirty="0"/>
              <a:t>WEST FAÇADE, CATHEDRAL OF ST. JAMES, SANTIAGO DE COMPOSTELA, SPAIN</a:t>
            </a:r>
            <a:br>
              <a:rPr lang="en-US" dirty="0"/>
            </a:br>
            <a:r>
              <a:rPr lang="en-US" dirty="0"/>
              <a:t>South tower 1667–1680; north tower and central block finished mid 18th century by Fernando de Casas y </a:t>
            </a:r>
            <a:r>
              <a:rPr lang="en-US" dirty="0" err="1"/>
              <a:t>Nóvoas</a:t>
            </a:r>
            <a:r>
              <a:rPr lang="en-US" dirty="0"/>
              <a:t>. © Bartosz </a:t>
            </a:r>
            <a:r>
              <a:rPr lang="en-US" dirty="0" err="1"/>
              <a:t>Turek</a:t>
            </a:r>
            <a:r>
              <a:rPr lang="en-US" dirty="0"/>
              <a:t>/Shutterstock. </a:t>
            </a:r>
          </a:p>
        </p:txBody>
      </p:sp>
      <p:pic>
        <p:nvPicPr>
          <p:cNvPr id="2" name="Picture 1" descr="Two staircases separate, rise to landings, then meet again in front of Saint James’s façade. A cross stands in the arched main portal, creating four separate fields, with the two at the bottom serving as door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1739</TotalTime>
  <Words>3860</Words>
  <Application>Microsoft Office PowerPoint</Application>
  <PresentationFormat>On-screen Show (4:3)</PresentationFormat>
  <Paragraphs>204</Paragraphs>
  <Slides>57</Slides>
  <Notes>25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57</vt:i4>
      </vt:variant>
    </vt:vector>
  </HeadingPairs>
  <TitlesOfParts>
    <vt:vector size="62" baseType="lpstr">
      <vt:lpstr>Arial</vt:lpstr>
      <vt:lpstr>Verdana</vt:lpstr>
      <vt:lpstr>Wingdings</vt:lpstr>
      <vt:lpstr>508 Lecture</vt:lpstr>
      <vt:lpstr>Custom Design</vt:lpstr>
      <vt:lpstr>Chapter 19</vt:lpstr>
      <vt:lpstr>Learning Objectives</vt:lpstr>
      <vt:lpstr>Gianlorenzo Bernini ST. TERESA OF ÁVILA IN ECSTASY Cornaro Chapel, church of Santa Maria della Vittoria, Rome. 1645–1652. Marble, height of the group 11'6" (3.5 m). © 2016. Photo Scala, Florence/Fondo Edifici di Culto – Min. dell'Interno. </vt:lpstr>
      <vt:lpstr>"Baroque" (1 of 2)</vt:lpstr>
      <vt:lpstr>"Baroque" (2 of 2)</vt:lpstr>
      <vt:lpstr>SEVENTEENTH-CENTURY EUROPE Protestantism still dominated northern Europe, while in the south Roman Catholicism remained strong after the Counter-Reformation. The Habsburg empire was now divided into two parts, under separate rulers.</vt:lpstr>
      <vt:lpstr>Italy</vt:lpstr>
      <vt:lpstr>Maderno and Bernini at St. Peter's  (1 of 3)</vt:lpstr>
      <vt:lpstr>Maderno and Bernini at St. Peter's (2 of 3)</vt:lpstr>
      <vt:lpstr>Carlo Maderno and Gianlorenzo Bernini ST. PETER'S BASILICA AND PIAZZA, VATICAN, ROME Maderno, façade, 1607–1626; Bernini, piazza design, c. 1656–1657. © Alinari Archives/Corbis. </vt:lpstr>
      <vt:lpstr>Maderno and Bernini at St. Peter's (3 of 3)</vt:lpstr>
      <vt:lpstr>Gianlorenzo Bernini BALDACCHINO St. Peter's Basilica, Vatican, Rome. 1624–1633. Gilt bronze, height approx. 100' (30.48 m). Chair of Peter shrine, 1657–1666; gilt bronze, marble, stucco, and glass. Pier decorations, 1627–1641; gilt bronze and marble. © akg-images/Bildarchiv Monheim.</vt:lpstr>
      <vt:lpstr>Bernini as Sculptor (1 of 2)</vt:lpstr>
      <vt:lpstr>Gianlorenzo Bernini DAVID 1623. Marble, height 5'7" (1.7 m). Galleria Borghese, Rome. © Per concessione del Ministero per i Beni e le Attività Culturali/Archivi Alinari, Firenze. </vt:lpstr>
      <vt:lpstr>Bernini as Sculptor (2 of 2)</vt:lpstr>
      <vt:lpstr>Gianlorenzo Bernini CORNARO CHAPEL, CHURCH OF SANTA MARIA DELLA VITTORIA, ROME 1642–1652. © Vincenzo Pirozzi, Rome. </vt:lpstr>
      <vt:lpstr>Borromini (1 of 2)</vt:lpstr>
      <vt:lpstr>Borromini (2 of 2)</vt:lpstr>
      <vt:lpstr>Francesco Borromini FAÇADE OF THE CHURCH OF SAN CARLO ALLE QUATTRO FONTANE Rome. 1638–1667.  © 2016. Photo Scala, Florence. </vt:lpstr>
      <vt:lpstr>Francesco Borromini PLAN OF THE CHURCH OF SAN CARLO ALLE QUATTRO FONTANE Rome. 1638–1667. </vt:lpstr>
      <vt:lpstr>Francesco Borromini VIEW INTO THE DOME OF THE CHURCH OF SAN CARLO ALLE QUATTRO FONTANE Rome. 1638–1667. © View Pictures Ltd/Alamy Stock Photo. </vt:lpstr>
      <vt:lpstr>Painting (1 of 9)</vt:lpstr>
      <vt:lpstr>Painting (2 of 9)</vt:lpstr>
      <vt:lpstr>Annibale Carracci CEILING OF GALLERY, PALAZZO FARNESE Rome. 1597–1601. Fresco, approx. 68' × 21' (20.7 × 6.4 m). Canali Photobank, Milan, Italy. </vt:lpstr>
      <vt:lpstr>Painting (3 of 9)</vt:lpstr>
      <vt:lpstr>Caravaggio BACCHUS 1595–1596. Oil on canvas, 37 × 33-1/2" (94 × 85.1 cm). Galleria degli Uffizi, Florence. © Quattrone, Florence. </vt:lpstr>
      <vt:lpstr>Painting (4 of 9)</vt:lpstr>
      <vt:lpstr>Painting (5 of 9)</vt:lpstr>
      <vt:lpstr>CONTARELLI CHAPEL, SAN LUIGI DEI FRANCESI Rome. Paintings by Caravaggio 1599–1600.  © 2016. Photo Scala, Florence. </vt:lpstr>
      <vt:lpstr>Caravaggio THE CALLING OF ST. MATTHEW Contarelli Chapel, church of San Luigi dei Francesi, Rome. 1599–1600. Oil on canvas, 10'7-1/2" × 11'2" (3.24 × 3.4 m). © Quattrone, Florence. </vt:lpstr>
      <vt:lpstr>Painting (6 of 9)</vt:lpstr>
      <vt:lpstr>Caravaggio THE CONVERSION OF ST. PAUL Cerasi Chapel, Santa Maria del Popolo, Rome. c. 1601. Oil on canvas, 7'6" × 5'8" (2.3 × 1.75 m). © Vincenzo Pirozzi, Rome. </vt:lpstr>
      <vt:lpstr>Painting (7 of 9)</vt:lpstr>
      <vt:lpstr>Artemisia Gentileschi JUDITH BEHEADING HOLOFERNES c. 1619–20. Oil on canvas, 6'6-3/8" × 5'4" (1.99 × 1.63 m). Galleria degli Uffizi, Florence. © Quattrone, Florence - courtesy of the Ministero Beni e Att. Culturali. </vt:lpstr>
      <vt:lpstr>Painting (8 of 9)</vt:lpstr>
      <vt:lpstr>Pietro da Cortona THE GLORIFICATION OF THE PAPACY OF URBAN VIII Ceiling in the Gran Salone, Palazzo Barberini, Rome. 1632–1639. Fresco. Palazzo Barberini, Italy/Canali Photobank, Milan, Italy. </vt:lpstr>
      <vt:lpstr>Painting (9 of 9)</vt:lpstr>
      <vt:lpstr>Giovanni Battista Gaulli THE TRIUMPH OF THE NAME OF JESUS AND FALL OF THE DAMNED Vault of the church of Il Gesù, Rome. 1672–1685. Fresco with stucco figures. © Vincenzo Pirozzi, Rome.</vt:lpstr>
      <vt:lpstr>Spain</vt:lpstr>
      <vt:lpstr>Painting in Spain's Golden Age (1 of 8)</vt:lpstr>
      <vt:lpstr>Painting in Spain's Golden Age (2 of 8)</vt:lpstr>
      <vt:lpstr>Juan Sánchez Cotán STILL LIFE WITH QUINCE, CABBAGE, MELON, AND CUCUMBER c. 1602. Oil on canvas, 27-1/8" × 33-1/4" (68.8 × 84.4 cm). San Diego Museum of Art. Gift of Anne R. and Amy Putnam. © akg-images/De Agostini Picture Lib.</vt:lpstr>
      <vt:lpstr>Painting in Spain's Golden Age (3 of 8)</vt:lpstr>
      <vt:lpstr>Jusepe de Ribera MARTYRDOM OF ST. BARTHOLOMEW 1634. Oil on canvas, 41-1/4" × 44-7/8" (1.05 × 1.14 m). National Gallery of Art, Washington, DC. Rosenwald Collection (1950.14.744). Image courtesy the National Gallery of Art, Washington. </vt:lpstr>
      <vt:lpstr>Painting in Spain's Golden Age (4 of 8)</vt:lpstr>
      <vt:lpstr>Francisco de Zurbarán ST. SERAPION 1628. Oil on canvas, 47-1/2 × 40-3/4" (120.7 × 103.5 cm). Wadsworth Atheneum, Hartford, Connecticut. Ella Gallup Sumner and Mary Catlin Sumner Collection Fund. Wadsworth Atheneum, Photo: Allen Phillips.</vt:lpstr>
      <vt:lpstr>Painting in Spain's Golden Age (5 of 8)</vt:lpstr>
      <vt:lpstr>Diego Velázquez WATER CARRIER OF SEVILLE c. 1619. Oil on canvas, 41-1/2" × 31-1/2" (105.3 × 80 cm). Victoria &amp; Albert Museum, London. V&amp;A Images/Victoria and Albert Museum. </vt:lpstr>
      <vt:lpstr>Painting in Spain's Golden Age (6 of 8)</vt:lpstr>
      <vt:lpstr>Diego Velázquez THE SURRENDER AT BREDA (THE LANCES) 1634–1635. Oil on canvas, 10'-7/8" × 12’-1/2" (3.07 × 3.67 m). Museo del Prado, Madrid. © 2016. Image Copyright Museo Nacional del Prado. © Photo MNP/Scala, Florence. </vt:lpstr>
      <vt:lpstr>Painting in Spain's Golden Age (7 of 8)</vt:lpstr>
      <vt:lpstr>Diego Velázquez LAS MENINAS (THE MAIDS OF HONOR) 1656. Oil on canvas, 10'5" × 9’-1/2" (3.18 × 2.76 m). Museo del Prado, Madrid. © 2016. Photo Scala, Florence. </vt:lpstr>
      <vt:lpstr>Painting in Spain's Golden Age (8 of 8)</vt:lpstr>
      <vt:lpstr>Bartolomé Esteban Murillo THE IMMACULATE CONCEPTION c. 1660–1665. Oil on canvas, 81-1/8" × 56-5/8" (2.06 × 1.44 m). Museo del Prado, Madrid. © 2016. Image Copyright Museo Nacional del Prado. © Photo MNP/Scala, Florence. </vt:lpstr>
      <vt:lpstr>Architecture (1 of 2)</vt:lpstr>
      <vt:lpstr>Architecture (2 of 2)</vt:lpstr>
      <vt:lpstr>WEST FAÇADE, CATHEDRAL OF ST. JAMES, SANTIAGO DE COMPOSTELA, SPAIN South tower 1667–1680; north tower and central block finished mid 18th century by Fernando de Casas y Nóvoas. © Bartosz Turek/Shutterstock. </vt:lpstr>
    </vt:vector>
  </TitlesOfParts>
  <Company>echosvoice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Beverly Murphy</cp:lastModifiedBy>
  <cp:revision>207</cp:revision>
  <dcterms:created xsi:type="dcterms:W3CDTF">2016-12-02T18:28:54Z</dcterms:created>
  <dcterms:modified xsi:type="dcterms:W3CDTF">2020-06-19T21:07:29Z</dcterms:modified>
</cp:coreProperties>
</file>